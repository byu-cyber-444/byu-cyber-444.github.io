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8" d="100"/>
          <a:sy n="138" d="100"/>
        </p:scale>
        <p:origin x="138" y="49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907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CYBER 444 — Advanced System Administration and Hardening. This course is the practitioner-focused follow-on to introductory networking and OS courses.</a:t>
            </a:r>
          </a:p>
          <a:p>
            <a:r>
              <a:rPr lang="en-US" dirty="0"/>
              <a:t>Over the next 15 weeks, students will build, harden, audit, and automate two Linux servers from scratch. Every concept is grounded in a real lab.</a:t>
            </a:r>
          </a:p>
          <a:p>
            <a:r>
              <a:rPr lang="en-US" dirty="0"/>
              <a:t>Introduce yourself briefly. Ask students what brought them to this course — most will be interested in security operations, cloud, or DoD career tracks.</a:t>
            </a:r>
          </a:p>
          <a:p>
            <a:r>
              <a:rPr lang="en-US" dirty="0"/>
              <a:t>Key point: this course treats security as inseparable from administration. A sysadmin who ignores hardening is a liability. We fix that here.</a:t>
            </a:r>
          </a:p>
          <a:p>
            <a:r>
              <a:rPr lang="en-US" dirty="0"/>
              <a:t>Logistics: Canvas is the source of truth for due dates. Lab instructions are posted by Friday before class. Late work loses 10% per day.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today's six agenda items at a high level. Tell students not to write notes yet — the slides are on Canvas.</a:t>
            </a:r>
          </a:p>
          <a:p>
            <a:r>
              <a:rPr lang="en-US" dirty="0"/>
              <a:t>The first half covers the 'why': what a sysadmin actually does, how we map to NICE work roles, and what frameworks (CIS/STIGs) we use.</a:t>
            </a:r>
          </a:p>
          <a:p>
            <a:r>
              <a:rPr lang="en-US" dirty="0"/>
              <a:t>The second half is practical: lab environment specs, the toolchain we'll use all semester, and the Week 1 lab walkthrough.</a:t>
            </a:r>
          </a:p>
          <a:p>
            <a:r>
              <a:rPr lang="en-US" dirty="0"/>
              <a:t>Time check: plan roughly 10 minutes per agenda block. Leave 15 minutes at the end for questions and lab troubleshooting.</a:t>
            </a:r>
          </a:p>
          <a:p>
            <a:r>
              <a:rPr lang="en-US" dirty="0"/>
              <a:t>Remind students: the Canvas quiz for HW 1 is based on today's slides and the syllabus. It's open-note and due before Week 2.</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of the course modules. Emphasize the progression: Weeks 1-3 build the foundation (VMs, baseline scans). Weeks 4-6 add vulnerability management. Weeks 7-9 focus on visibility. Weeks 10-12 automate everything. Weeks 13-15 prove it with a capstone.</a:t>
            </a:r>
          </a:p>
          <a:p>
            <a:r>
              <a:rPr lang="en-US" dirty="0"/>
              <a:t>Assessment breakdown: labs are worth the most (35%) because competency is demonstrated through doing, not memorizing. Stress that partial credit is given on labs — a documented attempt with reasonable output earns most of the points.</a:t>
            </a:r>
          </a:p>
          <a:p>
            <a:r>
              <a:rPr lang="en-US" dirty="0"/>
              <a:t>The 14 labs are designed to build on each other. Falling behind on Lab 3 makes Lab 4 harder. Keep up weekly.</a:t>
            </a:r>
          </a:p>
          <a:p>
            <a:r>
              <a:rPr lang="en-US" dirty="0"/>
              <a:t>The capstone (Weeks 13-15) is a hardened server deployment evaluated against a real STIG checklist. Students often cite it as the most resume-relevant project they've done.</a:t>
            </a:r>
          </a:p>
          <a:p>
            <a:r>
              <a:rPr lang="en-US" dirty="0"/>
              <a:t>Ask: 'Who has taken a compliance or security audit course before?' — this helps gauge background. Adjust pacing of the frameworks slides accordingly.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SysAdmins are generalists who own everything below the application layer: OS, networking, storage, identity, and increasingly security.</a:t>
            </a:r>
          </a:p>
          <a:p>
            <a:r>
              <a:rPr lang="en-US" dirty="0"/>
              <a:t>The three scales on this slide matter because job descriptions differ significantly. Enterprise shops have dedicated security teams and ticketing workflows. SMBs often have one person doing everything.</a:t>
            </a:r>
          </a:p>
          <a:p>
            <a:r>
              <a:rPr lang="en-US" dirty="0"/>
              <a:t>At all three scales, the security hardening column is now non-negotiable. Cloud providers and compliance frameworks have made baseline security a minimum requirement, not an optional add-on.</a:t>
            </a:r>
          </a:p>
          <a:p>
            <a:r>
              <a:rPr lang="en-US" dirty="0"/>
              <a:t>Key insight: the automation column is what separates junior from senior admins. Manually configuring 10 servers is feasible. Manually configuring 1,000 is not. We'll be automating by Week 10.</a:t>
            </a:r>
          </a:p>
          <a:p>
            <a:r>
              <a:rPr lang="en-US" dirty="0"/>
              <a:t>Compliance is often where students are surprised — audit trails, scan reports, and evidence packages are a real and large part of the job, especially in government/defense adjacent environments.</a:t>
            </a:r>
          </a:p>
          <a:p>
            <a:r>
              <a:rPr lang="en-US" dirty="0"/>
              <a:t>Ask students: 'What kind of environment do you expect to work in after this course?' This surfaces career goals and helps tailor examples throughout the semester.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SP 800-181, the NICE Cybersecurity Workforce Framework, is the standard that employers and DoD agencies use to define cybersecurity job roles. Knowing your work role by its NICE code can help on federal applications.</a:t>
            </a:r>
          </a:p>
          <a:p>
            <a:r>
              <a:rPr lang="en-US" dirty="0"/>
              <a:t>IO-WRL-005 (System Administrator) maps almost exactly to the first 10 weeks of this course: provisioning, hardening, patch management, access controls.</a:t>
            </a:r>
          </a:p>
          <a:p>
            <a:r>
              <a:rPr lang="en-US" dirty="0"/>
              <a:t>IO-WRL-007 (Network Operations Specialist) covers Weeks 8-12: firewall rules, DNS/DHCP management, VPN, monitoring network services.</a:t>
            </a:r>
          </a:p>
          <a:p>
            <a:r>
              <a:rPr lang="en-US" dirty="0"/>
              <a:t>These codes matter for students pursuing government positions, clearances, or DoD contracts — many job postings reference NICE work roles directly.</a:t>
            </a:r>
          </a:p>
          <a:p>
            <a:r>
              <a:rPr lang="en-US" dirty="0"/>
              <a:t>Point out the overlap between the two work roles. Modern environments don't have clean boundaries — network and system administration converge in cloud and containerized environments.</a:t>
            </a:r>
          </a:p>
          <a:p>
            <a:r>
              <a:rPr lang="en-US" dirty="0"/>
              <a:t>Students can look up their target job roles at niccs.cisa.gov. Encourage them to map their own career goals to specific NICE work roles as a semester exercise.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environment is the foundation of everything we do. If students don't get this working in Week 1, they fall behind immediately. Budget extra time here.</a:t>
            </a:r>
          </a:p>
          <a:p>
            <a:r>
              <a:rPr lang="en-US" dirty="0"/>
              <a:t>Host machine requirements: 16 GB RAM is the real minimum. Students with only 8 GB will struggle. If any student has hardware limitations, discuss options: lab access on campus, cloud alternatives (AWS/Azure free tiers), or borrowing equipment.</a:t>
            </a:r>
          </a:p>
          <a:p>
            <a:r>
              <a:rPr lang="en-US" dirty="0"/>
              <a:t>Why two VMs? Server-to-server interactions require a second node. Later labs involve SSH key distribution, Ansible push configurations, syslog forwarding, and firewall rule testing between VM-1 and VM-2. A single VM can't demonstrate network-layer controls.</a:t>
            </a:r>
          </a:p>
          <a:p>
            <a:r>
              <a:rPr lang="en-US" dirty="0"/>
              <a:t>The Host-Only network (192.168.56.0/24) is isolated from the internet. NAT is for internet access. Students commonly misconfigure this — draw the network topology on the board.</a:t>
            </a:r>
          </a:p>
          <a:p>
            <a:r>
              <a:rPr lang="en-US" dirty="0"/>
              <a:t>Rocky Linux 9 is our primary platform because it mirrors RHEL 9, which is the most common enterprise Linux in DoD and government environments. Ubuntu 22.04 is our secondary because it's the dominant cloud and DevOps platform.</a:t>
            </a:r>
          </a:p>
          <a:p>
            <a:r>
              <a:rPr lang="en-US" dirty="0"/>
              <a:t>No GUI on either VM. Everything is CLI. This is intentional — real hardening is done at the command line and via configuration files, not GUI wizards.</a:t>
            </a:r>
          </a:p>
          <a:p>
            <a:r>
              <a:rPr lang="en-US" dirty="0"/>
              <a:t>Common Week 1 issues: VirtualBox Extension Pack missing, ISO hash mismatch, network adapter not set to Host-Only. Walk through each at the board or share a troubleshooting guide link.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CIS Controls are the practical entry point into hardening. Unlike STIGs, they're platform-agnostic at the control level — Control 4 (Secure Configuration) applies whether you're running Linux, Windows, or a router.</a:t>
            </a:r>
          </a:p>
          <a:p>
            <a:r>
              <a:rPr lang="en-US" dirty="0"/>
              <a:t>The 18 controls are ordered by impact. Controls 1-6 (IG1) address the attacks that cause 85% of breaches according to CIS research. Start there.</a:t>
            </a:r>
          </a:p>
          <a:p>
            <a:r>
              <a:rPr lang="en-US" dirty="0"/>
              <a:t>Implementation Groups: IG1 is 56 safeguards — minimum viable security for any org. IG2 adds 74 more for orgs with security staff. IG3 adds 23 more for mature, risk-conscious enterprises. This course covers IG1 and IG2 controls in depth.</a:t>
            </a:r>
          </a:p>
          <a:p>
            <a:r>
              <a:rPr lang="en-US" dirty="0"/>
              <a:t>CIS Benchmarks are the technical implementation of the Controls for specific platforms. The CIS Rocky Linux 9 Benchmark, for example, maps specific kernel parameters, PAM settings, and service configurations to the 18 high-level controls.</a:t>
            </a:r>
          </a:p>
          <a:p>
            <a:r>
              <a:rPr lang="en-US" dirty="0"/>
              <a:t>Level 1 benchmarks are non-disruptive. Level 2 benchmarks can break applications — always test before applying Level 2 in production.</a:t>
            </a:r>
          </a:p>
          <a:p>
            <a:r>
              <a:rPr lang="en-US" dirty="0"/>
              <a:t>Ask: 'Why would an organization choose CIS over DISA STIGs?' Answer: CIS is vendor-neutral, more accessible, and used broadly in industry. STIGs are required for DoD. Many shops apply both.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 STIGs are the gold standard for DoD-connected systems. If a student plans to work in defense, government, or as a contractor, STIGs are unavoidable. This makes the STIG module one of the most career-relevant parts of the course.</a:t>
            </a:r>
          </a:p>
          <a:p>
            <a:r>
              <a:rPr lang="en-US" dirty="0"/>
              <a:t>STIGs are written in XCCDF — Extensible Configuration Checklist Description Format. It's XML-based and machine-readable. STIG Viewer (free from public.cyber.mil) parses these files and presents them in a human-readable checklist.</a:t>
            </a:r>
          </a:p>
          <a:p>
            <a:r>
              <a:rPr lang="en-US" dirty="0"/>
              <a:t>CAT I findings are the non-negotiables. No system with an open CAT I goes into production without an approved exception — a formal Risk Acceptance signed by the Authorizing Official. In practice, CAT I findings must be fixed before ATO.</a:t>
            </a:r>
          </a:p>
          <a:p>
            <a:r>
              <a:rPr lang="en-US" dirty="0"/>
              <a:t>CAT II findings are common — most systems have 30-50 open CAT IIs fresh from a standard install. We'll work through a real RHEL 9 STIG in Lab 5.</a:t>
            </a:r>
          </a:p>
          <a:p>
            <a:r>
              <a:rPr lang="en-US" dirty="0"/>
              <a:t>CAT III findings are best-practice hardening. Many organizations choose not to close all CAT IIIs due to operational impact — but they must be documented in a Plan of Action and Milestones (POA&amp;M).</a:t>
            </a:r>
          </a:p>
          <a:p>
            <a:r>
              <a:rPr lang="en-US" dirty="0"/>
              <a:t>Key difference between CIS and STIGs: CIS is scored as a percentage (you get a compliance score). STIGs are pass/fail per finding with severity weight. Both approaches are valid; the course teaches both.</a:t>
            </a:r>
          </a:p>
          <a:p>
            <a:r>
              <a:rPr lang="en-US" dirty="0"/>
              <a:t>The DISA STIG quarterly release cycle matters. A finding that passes today might fail next quarter if DISA tightens the requirement. ConMon (continuous monitoring) exists to catch this drift.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tool briefly. Reassure students that we'll learn each one hands-on — today is just orientation.</a:t>
            </a:r>
          </a:p>
          <a:p>
            <a:r>
              <a:rPr lang="en-US" dirty="0"/>
              <a:t>Ansible: agentless means no daemon running on managed nodes. It uses SSH with key-based auth. We'll write our first playbook in Week 10. Key concept: idempotency — running the same playbook twice produces the same result.</a:t>
            </a:r>
          </a:p>
          <a:p>
            <a:r>
              <a:rPr lang="en-US" dirty="0"/>
              <a:t>Nessus Essentials: free for up to 16 IPs. Students register for a free activation code at tenable.com. It's the industry-standard vulnerability scanner. We use it in Labs 4 and 5.</a:t>
            </a:r>
          </a:p>
          <a:p>
            <a:r>
              <a:rPr lang="en-US" dirty="0"/>
              <a:t>STIG Viewer 3.x: download from public.cyber.mil. It reads STIG XCCDF files and lets you mark findings as Open, Not Applicable, or Not a Finding — exactly what an auditor does. No install required (it's a JAR file).</a:t>
            </a:r>
          </a:p>
          <a:p>
            <a:r>
              <a:rPr lang="en-US" dirty="0"/>
              <a:t>CIS-CAT Lite: free tier of the CIS benchmark automation tool. It scans a system and outputs an HTML compliance report with a score. This is what students use in Lab 1.</a:t>
            </a:r>
          </a:p>
          <a:p>
            <a:r>
              <a:rPr lang="en-US" dirty="0"/>
              <a:t>OpenSCAP/oscap: the Linux-native SCAP scanner. Pre-installed on RHEL/Rocky via openscap-scanner package. Used in Labs 3, 8, and 14. Critical for automation workflows.</a:t>
            </a:r>
          </a:p>
          <a:p>
            <a:r>
              <a:rPr lang="en-US" dirty="0"/>
              <a:t>Graylog: we introduce it in Week 9. It's a log aggregation platform — think of it as a lightweight SIEM. Both VMs will ship logs to Graylog for alerting and dashboarding.</a:t>
            </a:r>
          </a:p>
          <a:p>
            <a:r>
              <a:rPr lang="en-US" dirty="0"/>
              <a:t>Ask if anyone has used any of these tools professionally. This anchors the toolchain to real experience in the room.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is the most important lab of the semester because everything else depends on it. Students who don't complete Lab 1 successfully cannot do Labs 2-14.</a:t>
            </a:r>
          </a:p>
          <a:p>
            <a:r>
              <a:rPr lang="en-US" dirty="0"/>
              <a:t>Walk through each step on the board or share your screen. Steps 1-3 are the environment setup — most of class time for Week 1 should be reserved for getting VMs running.</a:t>
            </a:r>
          </a:p>
          <a:p>
            <a:r>
              <a:rPr lang="en-US" dirty="0"/>
              <a:t>Step 4 (CIS-CAT Lite): students download it from cisecurity.org — requires a free registration. The Lite version is a .zip with a shell script. Run it as root or with sudo.</a:t>
            </a:r>
          </a:p>
          <a:p>
            <a:r>
              <a:rPr lang="en-US" dirty="0"/>
              <a:t>Step 5 output: a fresh Rocky Linux 9 minimal install will typically score 20-30% on CIS Level 1 out of the box. This is expected. The low score is the starting point, not a failure.</a:t>
            </a:r>
          </a:p>
          <a:p>
            <a:r>
              <a:rPr lang="en-US" dirty="0"/>
              <a:t>Step 7 (screenshot): students commonly forget this. The lowest-scoring control section shows where the most hardening work is needed. This establishes a before/after baseline.</a:t>
            </a:r>
          </a:p>
          <a:p>
            <a:r>
              <a:rPr lang="en-US" dirty="0"/>
              <a:t>HW 1 (Syllabus Quiz): 10 points, unlimited attempts, open-note. It tests whether students read the syllabus. Review the late policy one more time — it's the most common source of grade disputes.</a:t>
            </a:r>
          </a:p>
          <a:p>
            <a:r>
              <a:rPr lang="en-US" dirty="0"/>
              <a:t>Before Next Class: the three downloads (Rocky Linux, Ubuntu, STIG Viewer bookmark) should be done before students leave or over the next 24 hours. ISOs are large — don't leave downloads for the night before Week 2.</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key takeaways. Ask students to close their laptops and recall one thing from each bullet — this is a quick knowledge check without feeling like a quiz.</a:t>
            </a:r>
          </a:p>
          <a:p>
            <a:r>
              <a:rPr lang="en-US" dirty="0"/>
              <a:t>Week 2 preview: OS Hardening Fundamentals is where the real work starts. Students will apply CIS Level 1 controls to Rocky Linux, touching PAM, systemd, and kernel parameters. It's a dense week — encourage them to look at the slides in advance.</a:t>
            </a:r>
          </a:p>
          <a:p>
            <a:r>
              <a:rPr lang="en-US" dirty="0"/>
              <a:t>The Lab 2 target of ≥ 80% CIS compliance is achievable with a systematic approach. Students who understand WHY each control exists find remediation much faster than those who apply settings blindly.</a:t>
            </a:r>
          </a:p>
          <a:p>
            <a:r>
              <a:rPr lang="en-US" dirty="0"/>
              <a:t>Final housekeeping: remind students that office hours are posted in Canvas, the course Slack/Teams channel is active for peer help, and lab VMs should be snapshotted before each major change.</a:t>
            </a:r>
          </a:p>
          <a:p>
            <a:r>
              <a:rPr lang="en-US" dirty="0"/>
              <a:t>Take questions. Common questions at this point: 'Can I use a cloud VM instead of local?' (Yes, with limitations). 'Is the capstone a team project?' (Individual by default, optional pairs). 'What if my computer is too slow?' (See the instructor — campus lab access is available).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11.png"/></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75B6"/>
          </a:solidFill>
          <a:ln/>
        </p:spPr>
        <p:txBody>
          <a:bodyPr/>
          <a:lstStyle/>
          <a:p>
            <a:endParaRPr lang="en-US"/>
          </a:p>
        </p:txBody>
      </p:sp>
      <p:sp>
        <p:nvSpPr>
          <p:cNvPr id="3" name="Shape 1"/>
          <p:cNvSpPr/>
          <p:nvPr/>
        </p:nvSpPr>
        <p:spPr>
          <a:xfrm>
            <a:off x="7132320" y="-548640"/>
            <a:ext cx="2926080" cy="2926080"/>
          </a:xfrm>
          <a:prstGeom prst="ellipse">
            <a:avLst/>
          </a:prstGeom>
          <a:solidFill>
            <a:srgbClr val="263E6F"/>
          </a:solidFill>
          <a:ln/>
        </p:spPr>
        <p:txBody>
          <a:bodyPr/>
          <a:lstStyle/>
          <a:p>
            <a:endParaRPr lang="en-US"/>
          </a:p>
        </p:txBody>
      </p:sp>
      <p:sp>
        <p:nvSpPr>
          <p:cNvPr id="4" name="Shape 2"/>
          <p:cNvSpPr/>
          <p:nvPr/>
        </p:nvSpPr>
        <p:spPr>
          <a:xfrm>
            <a:off x="7680960" y="2560320"/>
            <a:ext cx="1828800" cy="1828800"/>
          </a:xfrm>
          <a:prstGeom prst="ellipse">
            <a:avLst/>
          </a:prstGeom>
          <a:solidFill>
            <a:srgbClr val="24376A"/>
          </a:solidFill>
          <a:ln/>
        </p:spPr>
        <p:txBody>
          <a:bodyPr/>
          <a:lstStyle/>
          <a:p>
            <a:endParaRPr lang="en-US"/>
          </a:p>
        </p:txBody>
      </p:sp>
      <p:sp>
        <p:nvSpPr>
          <p:cNvPr id="5" name="Shape 3"/>
          <p:cNvSpPr/>
          <p:nvPr/>
        </p:nvSpPr>
        <p:spPr>
          <a:xfrm>
            <a:off x="6217920" y="3108960"/>
            <a:ext cx="1097280" cy="1097280"/>
          </a:xfrm>
          <a:prstGeom prst="ellipse">
            <a:avLst/>
          </a:prstGeom>
          <a:solidFill>
            <a:srgbClr val="2A4578"/>
          </a:solidFill>
          <a:ln/>
        </p:spPr>
        <p:txBody>
          <a:bodyPr/>
          <a:lstStyle/>
          <a:p>
            <a:endParaRPr lang="en-US"/>
          </a:p>
        </p:txBody>
      </p:sp>
      <p:sp>
        <p:nvSpPr>
          <p:cNvPr id="6" name="Text 4"/>
          <p:cNvSpPr/>
          <p:nvPr/>
        </p:nvSpPr>
        <p:spPr>
          <a:xfrm>
            <a:off x="502920" y="731520"/>
            <a:ext cx="6583680" cy="347472"/>
          </a:xfrm>
          <a:prstGeom prst="rect">
            <a:avLst/>
          </a:prstGeom>
          <a:noFill/>
          <a:ln/>
        </p:spPr>
        <p:txBody>
          <a:bodyPr wrap="square" lIns="0" tIns="0" rIns="0" bIns="0" rtlCol="0" anchor="ctr"/>
          <a:lstStyle/>
          <a:p>
            <a:pPr marL="0" indent="0">
              <a:buNone/>
            </a:pPr>
            <a:r>
              <a:rPr lang="en-US" sz="1200" kern="0" spc="150" dirty="0">
                <a:solidFill>
                  <a:srgbClr val="BDD7EE"/>
                </a:solidFill>
                <a:latin typeface="Calibri" pitchFamily="34" charset="0"/>
                <a:ea typeface="Calibri" pitchFamily="34" charset="-122"/>
                <a:cs typeface="Calibri" pitchFamily="34" charset="-120"/>
              </a:rPr>
              <a:t>CYBER 444  ·  Advanced System Administration &amp; Hardening</a:t>
            </a:r>
            <a:endParaRPr lang="en-US" sz="1200" dirty="0"/>
          </a:p>
        </p:txBody>
      </p:sp>
      <p:sp>
        <p:nvSpPr>
          <p:cNvPr id="7" name="Text 5"/>
          <p:cNvSpPr/>
          <p:nvPr/>
        </p:nvSpPr>
        <p:spPr>
          <a:xfrm>
            <a:off x="502920" y="1143000"/>
            <a:ext cx="6766560" cy="192024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Week 1: Introduction &amp;</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Environment Setup</a:t>
            </a:r>
            <a:endParaRPr lang="en-US" sz="3800" dirty="0"/>
          </a:p>
        </p:txBody>
      </p:sp>
      <p:sp>
        <p:nvSpPr>
          <p:cNvPr id="8" name="Shape 6"/>
          <p:cNvSpPr/>
          <p:nvPr/>
        </p:nvSpPr>
        <p:spPr>
          <a:xfrm>
            <a:off x="502920" y="3127248"/>
            <a:ext cx="1645920" cy="36576"/>
          </a:xfrm>
          <a:prstGeom prst="rect">
            <a:avLst/>
          </a:prstGeom>
          <a:solidFill>
            <a:srgbClr val="2E75B6"/>
          </a:solidFill>
          <a:ln/>
        </p:spPr>
        <p:txBody>
          <a:bodyPr/>
          <a:lstStyle/>
          <a:p>
            <a:endParaRPr lang="en-US"/>
          </a:p>
        </p:txBody>
      </p:sp>
      <p:sp>
        <p:nvSpPr>
          <p:cNvPr id="9" name="Text 7"/>
          <p:cNvSpPr/>
          <p:nvPr/>
        </p:nvSpPr>
        <p:spPr>
          <a:xfrm>
            <a:off x="502920" y="3255264"/>
            <a:ext cx="6583680" cy="310896"/>
          </a:xfrm>
          <a:prstGeom prst="rect">
            <a:avLst/>
          </a:prstGeom>
          <a:noFill/>
          <a:ln/>
        </p:spPr>
        <p:txBody>
          <a:bodyPr wrap="square" lIns="0" tIns="0" rIns="0" bIns="0" rtlCol="0" anchor="ctr"/>
          <a:lstStyle/>
          <a:p>
            <a:pPr marL="0" indent="0">
              <a:buNone/>
            </a:pPr>
            <a:endParaRPr lang="en-US" sz="1200" dirty="0"/>
          </a:p>
        </p:txBody>
      </p:sp>
      <p:pic>
        <p:nvPicPr>
          <p:cNvPr id="10" name="Image 0" descr="preencoded.png"/>
          <p:cNvPicPr>
            <a:picLocks noChangeAspect="1"/>
          </p:cNvPicPr>
          <p:nvPr/>
        </p:nvPicPr>
        <p:blipFill>
          <a:blip r:embed="rId3">
            <a:alphaModFix amt="75000"/>
          </a:blip>
          <a:stretch>
            <a:fillRect/>
          </a:stretch>
        </p:blipFill>
        <p:spPr>
          <a:xfrm>
            <a:off x="7360920" y="548640"/>
            <a:ext cx="1371600" cy="1371600"/>
          </a:xfrm>
          <a:prstGeom prst="rect">
            <a:avLst/>
          </a:prstGeom>
        </p:spPr>
      </p:pic>
      <p:sp>
        <p:nvSpPr>
          <p:cNvPr id="11" name="Text 8"/>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Today's Agenda</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Shape 3"/>
          <p:cNvSpPr/>
          <p:nvPr/>
        </p:nvSpPr>
        <p:spPr>
          <a:xfrm>
            <a:off x="365760" y="841248"/>
            <a:ext cx="4069080" cy="603504"/>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365760" y="841248"/>
            <a:ext cx="347472" cy="603504"/>
          </a:xfrm>
          <a:prstGeom prst="rect">
            <a:avLst/>
          </a:prstGeom>
          <a:solidFill>
            <a:srgbClr val="2E75B6"/>
          </a:solidFill>
          <a:ln/>
        </p:spPr>
        <p:txBody>
          <a:bodyPr/>
          <a:lstStyle/>
          <a:p>
            <a:endParaRPr lang="en-US"/>
          </a:p>
        </p:txBody>
      </p:sp>
      <p:sp>
        <p:nvSpPr>
          <p:cNvPr id="7" name="Text 5"/>
          <p:cNvSpPr/>
          <p:nvPr/>
        </p:nvSpPr>
        <p:spPr>
          <a:xfrm>
            <a:off x="365760" y="841248"/>
            <a:ext cx="347472" cy="60350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pic>
        <p:nvPicPr>
          <p:cNvPr id="8" name="Image 0" descr="preencoded.png"/>
          <p:cNvPicPr>
            <a:picLocks noChangeAspect="1"/>
          </p:cNvPicPr>
          <p:nvPr/>
        </p:nvPicPr>
        <p:blipFill>
          <a:blip r:embed="rId3"/>
          <a:stretch>
            <a:fillRect/>
          </a:stretch>
        </p:blipFill>
        <p:spPr>
          <a:xfrm>
            <a:off x="822960" y="1005840"/>
            <a:ext cx="274320" cy="274320"/>
          </a:xfrm>
          <a:prstGeom prst="rect">
            <a:avLst/>
          </a:prstGeom>
        </p:spPr>
      </p:pic>
      <p:sp>
        <p:nvSpPr>
          <p:cNvPr id="9" name="Text 6"/>
          <p:cNvSpPr/>
          <p:nvPr/>
        </p:nvSpPr>
        <p:spPr>
          <a:xfrm>
            <a:off x="1188720" y="896112"/>
            <a:ext cx="3172968" cy="50292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Course Overview</a:t>
            </a:r>
            <a:endParaRPr lang="en-US" sz="1300" dirty="0"/>
          </a:p>
          <a:p>
            <a:pPr marL="0" indent="0">
              <a:buNone/>
            </a:pPr>
            <a:r>
              <a:rPr lang="en-US" sz="1000" dirty="0">
                <a:solidFill>
                  <a:srgbClr val="64748B"/>
                </a:solidFill>
                <a:latin typeface="Calibri" pitchFamily="34" charset="0"/>
                <a:ea typeface="Calibri" pitchFamily="34" charset="-122"/>
                <a:cs typeface="Calibri" pitchFamily="34" charset="-120"/>
              </a:rPr>
              <a:t>Structure, modules &amp; grading</a:t>
            </a:r>
            <a:endParaRPr lang="en-US" sz="1300" dirty="0"/>
          </a:p>
        </p:txBody>
      </p:sp>
      <p:sp>
        <p:nvSpPr>
          <p:cNvPr id="10" name="Shape 7"/>
          <p:cNvSpPr/>
          <p:nvPr/>
        </p:nvSpPr>
        <p:spPr>
          <a:xfrm>
            <a:off x="365760" y="1554480"/>
            <a:ext cx="4069080" cy="603504"/>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8"/>
          <p:cNvSpPr/>
          <p:nvPr/>
        </p:nvSpPr>
        <p:spPr>
          <a:xfrm>
            <a:off x="365760" y="1554480"/>
            <a:ext cx="347472" cy="603504"/>
          </a:xfrm>
          <a:prstGeom prst="rect">
            <a:avLst/>
          </a:prstGeom>
          <a:solidFill>
            <a:srgbClr val="2E75B6"/>
          </a:solidFill>
          <a:ln/>
        </p:spPr>
        <p:txBody>
          <a:bodyPr/>
          <a:lstStyle/>
          <a:p>
            <a:endParaRPr lang="en-US"/>
          </a:p>
        </p:txBody>
      </p:sp>
      <p:sp>
        <p:nvSpPr>
          <p:cNvPr id="12" name="Text 9"/>
          <p:cNvSpPr/>
          <p:nvPr/>
        </p:nvSpPr>
        <p:spPr>
          <a:xfrm>
            <a:off x="365760" y="1554480"/>
            <a:ext cx="347472" cy="60350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pic>
        <p:nvPicPr>
          <p:cNvPr id="13" name="Image 1" descr="preencoded.png"/>
          <p:cNvPicPr>
            <a:picLocks noChangeAspect="1"/>
          </p:cNvPicPr>
          <p:nvPr/>
        </p:nvPicPr>
        <p:blipFill>
          <a:blip r:embed="rId4"/>
          <a:stretch>
            <a:fillRect/>
          </a:stretch>
        </p:blipFill>
        <p:spPr>
          <a:xfrm>
            <a:off x="822960" y="1719072"/>
            <a:ext cx="274320" cy="274320"/>
          </a:xfrm>
          <a:prstGeom prst="rect">
            <a:avLst/>
          </a:prstGeom>
        </p:spPr>
      </p:pic>
      <p:sp>
        <p:nvSpPr>
          <p:cNvPr id="14" name="Text 10"/>
          <p:cNvSpPr/>
          <p:nvPr/>
        </p:nvSpPr>
        <p:spPr>
          <a:xfrm>
            <a:off x="1188720" y="1609344"/>
            <a:ext cx="3172968" cy="50292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What Is a SysAdmin?</a:t>
            </a:r>
            <a:endParaRPr lang="en-US" sz="1300" dirty="0"/>
          </a:p>
          <a:p>
            <a:pPr marL="0" indent="0">
              <a:buNone/>
            </a:pPr>
            <a:r>
              <a:rPr lang="en-US" sz="1000" dirty="0">
                <a:solidFill>
                  <a:srgbClr val="64748B"/>
                </a:solidFill>
                <a:latin typeface="Calibri" pitchFamily="34" charset="0"/>
                <a:ea typeface="Calibri" pitchFamily="34" charset="-122"/>
                <a:cs typeface="Calibri" pitchFamily="34" charset="-120"/>
              </a:rPr>
              <a:t>Roles, responsibilities &amp; scope</a:t>
            </a:r>
            <a:endParaRPr lang="en-US" sz="1300" dirty="0"/>
          </a:p>
        </p:txBody>
      </p:sp>
      <p:sp>
        <p:nvSpPr>
          <p:cNvPr id="15" name="Shape 11"/>
          <p:cNvSpPr/>
          <p:nvPr/>
        </p:nvSpPr>
        <p:spPr>
          <a:xfrm>
            <a:off x="365760" y="2267712"/>
            <a:ext cx="4069080" cy="603504"/>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6" name="Shape 12"/>
          <p:cNvSpPr/>
          <p:nvPr/>
        </p:nvSpPr>
        <p:spPr>
          <a:xfrm>
            <a:off x="365760" y="2267712"/>
            <a:ext cx="347472" cy="603504"/>
          </a:xfrm>
          <a:prstGeom prst="rect">
            <a:avLst/>
          </a:prstGeom>
          <a:solidFill>
            <a:srgbClr val="1F6B75"/>
          </a:solidFill>
          <a:ln/>
        </p:spPr>
        <p:txBody>
          <a:bodyPr/>
          <a:lstStyle/>
          <a:p>
            <a:endParaRPr lang="en-US"/>
          </a:p>
        </p:txBody>
      </p:sp>
      <p:sp>
        <p:nvSpPr>
          <p:cNvPr id="17" name="Text 13"/>
          <p:cNvSpPr/>
          <p:nvPr/>
        </p:nvSpPr>
        <p:spPr>
          <a:xfrm>
            <a:off x="365760" y="2267712"/>
            <a:ext cx="347472" cy="60350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pic>
        <p:nvPicPr>
          <p:cNvPr id="18" name="Image 2" descr="preencoded.png"/>
          <p:cNvPicPr>
            <a:picLocks noChangeAspect="1"/>
          </p:cNvPicPr>
          <p:nvPr/>
        </p:nvPicPr>
        <p:blipFill>
          <a:blip r:embed="rId5"/>
          <a:stretch>
            <a:fillRect/>
          </a:stretch>
        </p:blipFill>
        <p:spPr>
          <a:xfrm>
            <a:off x="822960" y="2432304"/>
            <a:ext cx="274320" cy="274320"/>
          </a:xfrm>
          <a:prstGeom prst="rect">
            <a:avLst/>
          </a:prstGeom>
        </p:spPr>
      </p:pic>
      <p:sp>
        <p:nvSpPr>
          <p:cNvPr id="19" name="Text 14"/>
          <p:cNvSpPr/>
          <p:nvPr/>
        </p:nvSpPr>
        <p:spPr>
          <a:xfrm>
            <a:off x="1188720" y="2322576"/>
            <a:ext cx="3172968" cy="50292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NICE Framework IO Work Roles</a:t>
            </a:r>
            <a:endParaRPr lang="en-US" sz="1300" dirty="0"/>
          </a:p>
          <a:p>
            <a:pPr marL="0" indent="0">
              <a:buNone/>
            </a:pPr>
            <a:r>
              <a:rPr lang="en-US" sz="1000" dirty="0">
                <a:solidFill>
                  <a:srgbClr val="64748B"/>
                </a:solidFill>
                <a:latin typeface="Calibri" pitchFamily="34" charset="0"/>
                <a:ea typeface="Calibri" pitchFamily="34" charset="-122"/>
                <a:cs typeface="Calibri" pitchFamily="34" charset="-120"/>
              </a:rPr>
              <a:t>IO-WRL-005 &amp; IO-WRL-007</a:t>
            </a:r>
            <a:endParaRPr lang="en-US" sz="1300" dirty="0"/>
          </a:p>
        </p:txBody>
      </p:sp>
      <p:sp>
        <p:nvSpPr>
          <p:cNvPr id="20" name="Shape 15"/>
          <p:cNvSpPr/>
          <p:nvPr/>
        </p:nvSpPr>
        <p:spPr>
          <a:xfrm>
            <a:off x="4754880" y="841248"/>
            <a:ext cx="4069080" cy="603504"/>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1" name="Shape 16"/>
          <p:cNvSpPr/>
          <p:nvPr/>
        </p:nvSpPr>
        <p:spPr>
          <a:xfrm>
            <a:off x="4754880" y="841248"/>
            <a:ext cx="347472" cy="603504"/>
          </a:xfrm>
          <a:prstGeom prst="rect">
            <a:avLst/>
          </a:prstGeom>
          <a:solidFill>
            <a:srgbClr val="1F6B75"/>
          </a:solidFill>
          <a:ln/>
        </p:spPr>
        <p:txBody>
          <a:bodyPr/>
          <a:lstStyle/>
          <a:p>
            <a:endParaRPr lang="en-US"/>
          </a:p>
        </p:txBody>
      </p:sp>
      <p:sp>
        <p:nvSpPr>
          <p:cNvPr id="22" name="Text 17"/>
          <p:cNvSpPr/>
          <p:nvPr/>
        </p:nvSpPr>
        <p:spPr>
          <a:xfrm>
            <a:off x="4754880" y="841248"/>
            <a:ext cx="347472" cy="60350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pic>
        <p:nvPicPr>
          <p:cNvPr id="23" name="Image 3" descr="preencoded.png"/>
          <p:cNvPicPr>
            <a:picLocks noChangeAspect="1"/>
          </p:cNvPicPr>
          <p:nvPr/>
        </p:nvPicPr>
        <p:blipFill>
          <a:blip r:embed="rId6"/>
          <a:stretch>
            <a:fillRect/>
          </a:stretch>
        </p:blipFill>
        <p:spPr>
          <a:xfrm>
            <a:off x="5212080" y="1005840"/>
            <a:ext cx="274320" cy="274320"/>
          </a:xfrm>
          <a:prstGeom prst="rect">
            <a:avLst/>
          </a:prstGeom>
        </p:spPr>
      </p:pic>
      <p:sp>
        <p:nvSpPr>
          <p:cNvPr id="24" name="Text 18"/>
          <p:cNvSpPr/>
          <p:nvPr/>
        </p:nvSpPr>
        <p:spPr>
          <a:xfrm>
            <a:off x="5577840" y="896112"/>
            <a:ext cx="3172968" cy="50292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Lab Environment Overview</a:t>
            </a:r>
            <a:endParaRPr lang="en-US" sz="1300" dirty="0"/>
          </a:p>
          <a:p>
            <a:pPr marL="0" indent="0">
              <a:buNone/>
            </a:pPr>
            <a:r>
              <a:rPr lang="en-US" sz="1000" dirty="0">
                <a:solidFill>
                  <a:srgbClr val="64748B"/>
                </a:solidFill>
                <a:latin typeface="Calibri" pitchFamily="34" charset="0"/>
                <a:ea typeface="Calibri" pitchFamily="34" charset="-122"/>
                <a:cs typeface="Calibri" pitchFamily="34" charset="-120"/>
              </a:rPr>
              <a:t>VMware/VirtualBox, VM specs</a:t>
            </a:r>
            <a:endParaRPr lang="en-US" sz="1300" dirty="0"/>
          </a:p>
        </p:txBody>
      </p:sp>
      <p:sp>
        <p:nvSpPr>
          <p:cNvPr id="25" name="Shape 19"/>
          <p:cNvSpPr/>
          <p:nvPr/>
        </p:nvSpPr>
        <p:spPr>
          <a:xfrm>
            <a:off x="4754880" y="1554480"/>
            <a:ext cx="4069080" cy="603504"/>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6" name="Shape 20"/>
          <p:cNvSpPr/>
          <p:nvPr/>
        </p:nvSpPr>
        <p:spPr>
          <a:xfrm>
            <a:off x="4754880" y="1554480"/>
            <a:ext cx="347472" cy="603504"/>
          </a:xfrm>
          <a:prstGeom prst="rect">
            <a:avLst/>
          </a:prstGeom>
          <a:solidFill>
            <a:srgbClr val="1F3864"/>
          </a:solidFill>
          <a:ln/>
        </p:spPr>
        <p:txBody>
          <a:bodyPr/>
          <a:lstStyle/>
          <a:p>
            <a:endParaRPr lang="en-US"/>
          </a:p>
        </p:txBody>
      </p:sp>
      <p:sp>
        <p:nvSpPr>
          <p:cNvPr id="27" name="Text 21"/>
          <p:cNvSpPr/>
          <p:nvPr/>
        </p:nvSpPr>
        <p:spPr>
          <a:xfrm>
            <a:off x="4754880" y="1554480"/>
            <a:ext cx="347472" cy="60350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pic>
        <p:nvPicPr>
          <p:cNvPr id="28" name="Image 4" descr="preencoded.png"/>
          <p:cNvPicPr>
            <a:picLocks noChangeAspect="1"/>
          </p:cNvPicPr>
          <p:nvPr/>
        </p:nvPicPr>
        <p:blipFill>
          <a:blip r:embed="rId7"/>
          <a:stretch>
            <a:fillRect/>
          </a:stretch>
        </p:blipFill>
        <p:spPr>
          <a:xfrm>
            <a:off x="5212080" y="1719072"/>
            <a:ext cx="274320" cy="274320"/>
          </a:xfrm>
          <a:prstGeom prst="rect">
            <a:avLst/>
          </a:prstGeom>
        </p:spPr>
      </p:pic>
      <p:sp>
        <p:nvSpPr>
          <p:cNvPr id="29" name="Text 22"/>
          <p:cNvSpPr/>
          <p:nvPr/>
        </p:nvSpPr>
        <p:spPr>
          <a:xfrm>
            <a:off x="5577840" y="1609344"/>
            <a:ext cx="3172968" cy="50292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CIS Controls v8 &amp; DISA STIGs</a:t>
            </a:r>
            <a:endParaRPr lang="en-US" sz="1300" dirty="0"/>
          </a:p>
          <a:p>
            <a:pPr marL="0" indent="0">
              <a:buNone/>
            </a:pPr>
            <a:r>
              <a:rPr lang="en-US" sz="1000" dirty="0">
                <a:solidFill>
                  <a:srgbClr val="64748B"/>
                </a:solidFill>
                <a:latin typeface="Calibri" pitchFamily="34" charset="0"/>
                <a:ea typeface="Calibri" pitchFamily="34" charset="-122"/>
                <a:cs typeface="Calibri" pitchFamily="34" charset="-120"/>
              </a:rPr>
              <a:t>Baseline frameworks</a:t>
            </a:r>
            <a:endParaRPr lang="en-US" sz="1300" dirty="0"/>
          </a:p>
        </p:txBody>
      </p:sp>
      <p:sp>
        <p:nvSpPr>
          <p:cNvPr id="30" name="Shape 23"/>
          <p:cNvSpPr/>
          <p:nvPr/>
        </p:nvSpPr>
        <p:spPr>
          <a:xfrm>
            <a:off x="4754880" y="2267712"/>
            <a:ext cx="4069080" cy="603504"/>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31" name="Shape 24"/>
          <p:cNvSpPr/>
          <p:nvPr/>
        </p:nvSpPr>
        <p:spPr>
          <a:xfrm>
            <a:off x="4754880" y="2267712"/>
            <a:ext cx="347472" cy="603504"/>
          </a:xfrm>
          <a:prstGeom prst="rect">
            <a:avLst/>
          </a:prstGeom>
          <a:solidFill>
            <a:srgbClr val="1F3864"/>
          </a:solidFill>
          <a:ln/>
        </p:spPr>
        <p:txBody>
          <a:bodyPr/>
          <a:lstStyle/>
          <a:p>
            <a:endParaRPr lang="en-US"/>
          </a:p>
        </p:txBody>
      </p:sp>
      <p:sp>
        <p:nvSpPr>
          <p:cNvPr id="32" name="Text 25"/>
          <p:cNvSpPr/>
          <p:nvPr/>
        </p:nvSpPr>
        <p:spPr>
          <a:xfrm>
            <a:off x="4754880" y="2267712"/>
            <a:ext cx="347472" cy="60350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pic>
        <p:nvPicPr>
          <p:cNvPr id="33" name="Image 5" descr="preencoded.png"/>
          <p:cNvPicPr>
            <a:picLocks noChangeAspect="1"/>
          </p:cNvPicPr>
          <p:nvPr/>
        </p:nvPicPr>
        <p:blipFill>
          <a:blip r:embed="rId8"/>
          <a:stretch>
            <a:fillRect/>
          </a:stretch>
        </p:blipFill>
        <p:spPr>
          <a:xfrm>
            <a:off x="5212080" y="2432304"/>
            <a:ext cx="274320" cy="274320"/>
          </a:xfrm>
          <a:prstGeom prst="rect">
            <a:avLst/>
          </a:prstGeom>
        </p:spPr>
      </p:pic>
      <p:sp>
        <p:nvSpPr>
          <p:cNvPr id="34" name="Text 26"/>
          <p:cNvSpPr/>
          <p:nvPr/>
        </p:nvSpPr>
        <p:spPr>
          <a:xfrm>
            <a:off x="5577840" y="2322576"/>
            <a:ext cx="3172968" cy="50292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Toolchain Overview</a:t>
            </a:r>
            <a:endParaRPr lang="en-US" sz="1300" dirty="0"/>
          </a:p>
          <a:p>
            <a:pPr marL="0" indent="0">
              <a:buNone/>
            </a:pPr>
            <a:r>
              <a:rPr lang="en-US" sz="1000" dirty="0">
                <a:solidFill>
                  <a:srgbClr val="64748B"/>
                </a:solidFill>
                <a:latin typeface="Calibri" pitchFamily="34" charset="0"/>
                <a:ea typeface="Calibri" pitchFamily="34" charset="-122"/>
                <a:cs typeface="Calibri" pitchFamily="34" charset="-120"/>
              </a:rPr>
              <a:t>Ansible · Nessus · STIG Viewer · CIS-CAT</a:t>
            </a:r>
            <a:endParaRPr lang="en-US" sz="1300" dirty="0"/>
          </a:p>
        </p:txBody>
      </p:sp>
      <p:sp>
        <p:nvSpPr>
          <p:cNvPr id="35" name="Text 27"/>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Course Overview</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Shape 3"/>
          <p:cNvSpPr/>
          <p:nvPr/>
        </p:nvSpPr>
        <p:spPr>
          <a:xfrm>
            <a:off x="384048" y="822960"/>
            <a:ext cx="2542032" cy="960120"/>
          </a:xfrm>
          <a:prstGeom prst="rect">
            <a:avLst/>
          </a:prstGeom>
          <a:solidFill>
            <a:srgbClr val="EBF3FB"/>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384048" y="822960"/>
            <a:ext cx="2542032" cy="64008"/>
          </a:xfrm>
          <a:prstGeom prst="rect">
            <a:avLst/>
          </a:prstGeom>
          <a:solidFill>
            <a:srgbClr val="2E75B6"/>
          </a:solidFill>
          <a:ln/>
        </p:spPr>
        <p:txBody>
          <a:bodyPr/>
          <a:lstStyle/>
          <a:p>
            <a:endParaRPr lang="en-US"/>
          </a:p>
        </p:txBody>
      </p:sp>
      <p:sp>
        <p:nvSpPr>
          <p:cNvPr id="7" name="Text 5"/>
          <p:cNvSpPr/>
          <p:nvPr/>
        </p:nvSpPr>
        <p:spPr>
          <a:xfrm>
            <a:off x="384048" y="886968"/>
            <a:ext cx="2542032" cy="530352"/>
          </a:xfrm>
          <a:prstGeom prst="rect">
            <a:avLst/>
          </a:prstGeom>
          <a:noFill/>
          <a:ln/>
        </p:spPr>
        <p:txBody>
          <a:bodyPr wrap="square" lIns="0" tIns="0" rIns="0" bIns="0" rtlCol="0" anchor="ctr"/>
          <a:lstStyle/>
          <a:p>
            <a:pPr marL="0" indent="0" algn="ctr">
              <a:buNone/>
            </a:pPr>
            <a:r>
              <a:rPr lang="en-US" sz="3600" b="1" dirty="0">
                <a:solidFill>
                  <a:srgbClr val="1F3864"/>
                </a:solidFill>
                <a:latin typeface="Calibri" pitchFamily="34" charset="0"/>
                <a:ea typeface="Calibri" pitchFamily="34" charset="-122"/>
                <a:cs typeface="Calibri" pitchFamily="34" charset="-120"/>
              </a:rPr>
              <a:t>15</a:t>
            </a:r>
            <a:endParaRPr lang="en-US" sz="3600" dirty="0"/>
          </a:p>
        </p:txBody>
      </p:sp>
      <p:sp>
        <p:nvSpPr>
          <p:cNvPr id="8" name="Text 6"/>
          <p:cNvSpPr/>
          <p:nvPr/>
        </p:nvSpPr>
        <p:spPr>
          <a:xfrm>
            <a:off x="384048" y="1417320"/>
            <a:ext cx="2542032" cy="237744"/>
          </a:xfrm>
          <a:prstGeom prst="rect">
            <a:avLst/>
          </a:prstGeom>
          <a:noFill/>
          <a:ln/>
        </p:spPr>
        <p:txBody>
          <a:bodyPr wrap="square" lIns="0" tIns="0" rIns="0" bIns="0" rtlCol="0" anchor="ctr"/>
          <a:lstStyle/>
          <a:p>
            <a:pPr marL="0" indent="0" algn="ctr">
              <a:buNone/>
            </a:pPr>
            <a:r>
              <a:rPr lang="en-US" sz="1100" b="1" dirty="0">
                <a:solidFill>
                  <a:srgbClr val="2E75B6"/>
                </a:solidFill>
                <a:latin typeface="Calibri" pitchFamily="34" charset="0"/>
                <a:ea typeface="Calibri" pitchFamily="34" charset="-122"/>
                <a:cs typeface="Calibri" pitchFamily="34" charset="-120"/>
              </a:rPr>
              <a:t>Weeks</a:t>
            </a:r>
            <a:endParaRPr lang="en-US" sz="1100" dirty="0"/>
          </a:p>
        </p:txBody>
      </p:sp>
      <p:sp>
        <p:nvSpPr>
          <p:cNvPr id="9" name="Shape 7"/>
          <p:cNvSpPr/>
          <p:nvPr/>
        </p:nvSpPr>
        <p:spPr>
          <a:xfrm>
            <a:off x="3182112" y="822960"/>
            <a:ext cx="2542032" cy="960120"/>
          </a:xfrm>
          <a:prstGeom prst="rect">
            <a:avLst/>
          </a:prstGeom>
          <a:solidFill>
            <a:srgbClr val="EBF3FB"/>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0" name="Shape 8"/>
          <p:cNvSpPr/>
          <p:nvPr/>
        </p:nvSpPr>
        <p:spPr>
          <a:xfrm>
            <a:off x="3182112" y="822960"/>
            <a:ext cx="2542032" cy="64008"/>
          </a:xfrm>
          <a:prstGeom prst="rect">
            <a:avLst/>
          </a:prstGeom>
          <a:solidFill>
            <a:srgbClr val="2E75B6"/>
          </a:solidFill>
          <a:ln/>
        </p:spPr>
        <p:txBody>
          <a:bodyPr/>
          <a:lstStyle/>
          <a:p>
            <a:endParaRPr lang="en-US"/>
          </a:p>
        </p:txBody>
      </p:sp>
      <p:sp>
        <p:nvSpPr>
          <p:cNvPr id="11" name="Text 9"/>
          <p:cNvSpPr/>
          <p:nvPr/>
        </p:nvSpPr>
        <p:spPr>
          <a:xfrm>
            <a:off x="3182112" y="886968"/>
            <a:ext cx="2542032" cy="530352"/>
          </a:xfrm>
          <a:prstGeom prst="rect">
            <a:avLst/>
          </a:prstGeom>
          <a:noFill/>
          <a:ln/>
        </p:spPr>
        <p:txBody>
          <a:bodyPr wrap="square" lIns="0" tIns="0" rIns="0" bIns="0" rtlCol="0" anchor="ctr"/>
          <a:lstStyle/>
          <a:p>
            <a:pPr marL="0" indent="0" algn="ctr">
              <a:buNone/>
            </a:pPr>
            <a:r>
              <a:rPr lang="en-US" sz="3600" b="1" dirty="0">
                <a:solidFill>
                  <a:srgbClr val="1F3864"/>
                </a:solidFill>
                <a:latin typeface="Calibri" pitchFamily="34" charset="0"/>
                <a:ea typeface="Calibri" pitchFamily="34" charset="-122"/>
                <a:cs typeface="Calibri" pitchFamily="34" charset="-120"/>
              </a:rPr>
              <a:t>14</a:t>
            </a:r>
            <a:endParaRPr lang="en-US" sz="3600" dirty="0"/>
          </a:p>
        </p:txBody>
      </p:sp>
      <p:sp>
        <p:nvSpPr>
          <p:cNvPr id="12" name="Text 10"/>
          <p:cNvSpPr/>
          <p:nvPr/>
        </p:nvSpPr>
        <p:spPr>
          <a:xfrm>
            <a:off x="3182112" y="1417320"/>
            <a:ext cx="2542032" cy="237744"/>
          </a:xfrm>
          <a:prstGeom prst="rect">
            <a:avLst/>
          </a:prstGeom>
          <a:noFill/>
          <a:ln/>
        </p:spPr>
        <p:txBody>
          <a:bodyPr wrap="square" lIns="0" tIns="0" rIns="0" bIns="0" rtlCol="0" anchor="ctr"/>
          <a:lstStyle/>
          <a:p>
            <a:pPr marL="0" indent="0" algn="ctr">
              <a:buNone/>
            </a:pPr>
            <a:r>
              <a:rPr lang="en-US" sz="1100" b="1" dirty="0">
                <a:solidFill>
                  <a:srgbClr val="2E75B6"/>
                </a:solidFill>
                <a:latin typeface="Calibri" pitchFamily="34" charset="0"/>
                <a:ea typeface="Calibri" pitchFamily="34" charset="-122"/>
                <a:cs typeface="Calibri" pitchFamily="34" charset="-120"/>
              </a:rPr>
              <a:t>Labs</a:t>
            </a:r>
            <a:endParaRPr lang="en-US" sz="1100" dirty="0"/>
          </a:p>
        </p:txBody>
      </p:sp>
      <p:sp>
        <p:nvSpPr>
          <p:cNvPr id="13" name="Shape 11"/>
          <p:cNvSpPr/>
          <p:nvPr/>
        </p:nvSpPr>
        <p:spPr>
          <a:xfrm>
            <a:off x="5980176" y="822960"/>
            <a:ext cx="2542032" cy="960120"/>
          </a:xfrm>
          <a:prstGeom prst="rect">
            <a:avLst/>
          </a:prstGeom>
          <a:solidFill>
            <a:srgbClr val="EBF3FB"/>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4" name="Shape 12"/>
          <p:cNvSpPr/>
          <p:nvPr/>
        </p:nvSpPr>
        <p:spPr>
          <a:xfrm>
            <a:off x="5980176" y="822960"/>
            <a:ext cx="2542032" cy="64008"/>
          </a:xfrm>
          <a:prstGeom prst="rect">
            <a:avLst/>
          </a:prstGeom>
          <a:solidFill>
            <a:srgbClr val="2E75B6"/>
          </a:solidFill>
          <a:ln/>
        </p:spPr>
        <p:txBody>
          <a:bodyPr/>
          <a:lstStyle/>
          <a:p>
            <a:endParaRPr lang="en-US"/>
          </a:p>
        </p:txBody>
      </p:sp>
      <p:sp>
        <p:nvSpPr>
          <p:cNvPr id="15" name="Text 13"/>
          <p:cNvSpPr/>
          <p:nvPr/>
        </p:nvSpPr>
        <p:spPr>
          <a:xfrm>
            <a:off x="5980176" y="886968"/>
            <a:ext cx="2542032" cy="530352"/>
          </a:xfrm>
          <a:prstGeom prst="rect">
            <a:avLst/>
          </a:prstGeom>
          <a:noFill/>
          <a:ln/>
        </p:spPr>
        <p:txBody>
          <a:bodyPr wrap="square" lIns="0" tIns="0" rIns="0" bIns="0" rtlCol="0" anchor="ctr"/>
          <a:lstStyle/>
          <a:p>
            <a:pPr marL="0" indent="0" algn="ctr">
              <a:buNone/>
            </a:pPr>
            <a:r>
              <a:rPr lang="en-US" sz="3600" b="1" dirty="0">
                <a:solidFill>
                  <a:srgbClr val="1F3864"/>
                </a:solidFill>
                <a:latin typeface="Calibri" pitchFamily="34" charset="0"/>
                <a:ea typeface="Calibri" pitchFamily="34" charset="-122"/>
                <a:cs typeface="Calibri" pitchFamily="34" charset="-120"/>
              </a:rPr>
              <a:t>14</a:t>
            </a:r>
            <a:endParaRPr lang="en-US" sz="3600" dirty="0"/>
          </a:p>
        </p:txBody>
      </p:sp>
      <p:sp>
        <p:nvSpPr>
          <p:cNvPr id="16" name="Text 14"/>
          <p:cNvSpPr/>
          <p:nvPr/>
        </p:nvSpPr>
        <p:spPr>
          <a:xfrm>
            <a:off x="5980176" y="1417320"/>
            <a:ext cx="2542032" cy="237744"/>
          </a:xfrm>
          <a:prstGeom prst="rect">
            <a:avLst/>
          </a:prstGeom>
          <a:noFill/>
          <a:ln/>
        </p:spPr>
        <p:txBody>
          <a:bodyPr wrap="square" lIns="0" tIns="0" rIns="0" bIns="0" rtlCol="0" anchor="ctr"/>
          <a:lstStyle/>
          <a:p>
            <a:pPr marL="0" indent="0" algn="ctr">
              <a:buNone/>
            </a:pPr>
            <a:r>
              <a:rPr lang="en-US" sz="1100" b="1" dirty="0">
                <a:solidFill>
                  <a:srgbClr val="2E75B6"/>
                </a:solidFill>
                <a:latin typeface="Calibri" pitchFamily="34" charset="0"/>
                <a:ea typeface="Calibri" pitchFamily="34" charset="-122"/>
                <a:cs typeface="Calibri" pitchFamily="34" charset="-120"/>
              </a:rPr>
              <a:t>HW + Quizzes</a:t>
            </a:r>
            <a:endParaRPr lang="en-US" sz="1100" dirty="0"/>
          </a:p>
        </p:txBody>
      </p:sp>
      <p:sp>
        <p:nvSpPr>
          <p:cNvPr id="17" name="Text 15"/>
          <p:cNvSpPr/>
          <p:nvPr/>
        </p:nvSpPr>
        <p:spPr>
          <a:xfrm>
            <a:off x="384048" y="1993392"/>
            <a:ext cx="502920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Course Modules</a:t>
            </a:r>
            <a:endParaRPr lang="en-US" sz="1400" dirty="0"/>
          </a:p>
        </p:txBody>
      </p:sp>
      <p:sp>
        <p:nvSpPr>
          <p:cNvPr id="18" name="Shape 16"/>
          <p:cNvSpPr/>
          <p:nvPr/>
        </p:nvSpPr>
        <p:spPr>
          <a:xfrm>
            <a:off x="384048" y="2359152"/>
            <a:ext cx="45720" cy="347472"/>
          </a:xfrm>
          <a:prstGeom prst="rect">
            <a:avLst/>
          </a:prstGeom>
          <a:solidFill>
            <a:srgbClr val="2E75B6"/>
          </a:solidFill>
          <a:ln/>
        </p:spPr>
        <p:txBody>
          <a:bodyPr/>
          <a:lstStyle/>
          <a:p>
            <a:endParaRPr lang="en-US"/>
          </a:p>
        </p:txBody>
      </p:sp>
      <p:sp>
        <p:nvSpPr>
          <p:cNvPr id="19" name="Text 17"/>
          <p:cNvSpPr/>
          <p:nvPr/>
        </p:nvSpPr>
        <p:spPr>
          <a:xfrm>
            <a:off x="530352" y="2386584"/>
            <a:ext cx="4754880" cy="292608"/>
          </a:xfrm>
          <a:prstGeom prst="rect">
            <a:avLst/>
          </a:prstGeom>
          <a:noFill/>
          <a:ln/>
        </p:spPr>
        <p:txBody>
          <a:bodyPr wrap="square" lIns="0" tIns="0" rIns="0" bIns="0"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Weeks 1–3  </a:t>
            </a:r>
            <a:r>
              <a:rPr lang="en-US" sz="1200" dirty="0">
                <a:solidFill>
                  <a:srgbClr val="1A2744"/>
                </a:solidFill>
                <a:latin typeface="Calibri" pitchFamily="34" charset="0"/>
                <a:ea typeface="Calibri" pitchFamily="34" charset="-122"/>
                <a:cs typeface="Calibri" pitchFamily="34" charset="-120"/>
              </a:rPr>
              <a:t>Environment Setup &amp; Baseline Hardening</a:t>
            </a:r>
            <a:endParaRPr lang="en-US" sz="1200" dirty="0"/>
          </a:p>
        </p:txBody>
      </p:sp>
      <p:sp>
        <p:nvSpPr>
          <p:cNvPr id="20" name="Shape 18"/>
          <p:cNvSpPr/>
          <p:nvPr/>
        </p:nvSpPr>
        <p:spPr>
          <a:xfrm>
            <a:off x="384048" y="2834640"/>
            <a:ext cx="45720" cy="347472"/>
          </a:xfrm>
          <a:prstGeom prst="rect">
            <a:avLst/>
          </a:prstGeom>
          <a:solidFill>
            <a:srgbClr val="2E75B6"/>
          </a:solidFill>
          <a:ln/>
        </p:spPr>
        <p:txBody>
          <a:bodyPr/>
          <a:lstStyle/>
          <a:p>
            <a:endParaRPr lang="en-US"/>
          </a:p>
        </p:txBody>
      </p:sp>
      <p:sp>
        <p:nvSpPr>
          <p:cNvPr id="21" name="Text 19"/>
          <p:cNvSpPr/>
          <p:nvPr/>
        </p:nvSpPr>
        <p:spPr>
          <a:xfrm>
            <a:off x="530352" y="2862072"/>
            <a:ext cx="4754880" cy="292608"/>
          </a:xfrm>
          <a:prstGeom prst="rect">
            <a:avLst/>
          </a:prstGeom>
          <a:noFill/>
          <a:ln/>
        </p:spPr>
        <p:txBody>
          <a:bodyPr wrap="square" lIns="0" tIns="0" rIns="0" bIns="0"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Weeks 4–6  </a:t>
            </a:r>
            <a:r>
              <a:rPr lang="en-US" sz="1200" dirty="0">
                <a:solidFill>
                  <a:srgbClr val="1A2744"/>
                </a:solidFill>
                <a:latin typeface="Calibri" pitchFamily="34" charset="0"/>
                <a:ea typeface="Calibri" pitchFamily="34" charset="-122"/>
                <a:cs typeface="Calibri" pitchFamily="34" charset="-120"/>
              </a:rPr>
              <a:t>Patch Management &amp; Vulnerability Scanning</a:t>
            </a:r>
            <a:endParaRPr lang="en-US" sz="1200" dirty="0"/>
          </a:p>
        </p:txBody>
      </p:sp>
      <p:sp>
        <p:nvSpPr>
          <p:cNvPr id="22" name="Shape 20"/>
          <p:cNvSpPr/>
          <p:nvPr/>
        </p:nvSpPr>
        <p:spPr>
          <a:xfrm>
            <a:off x="384048" y="3310128"/>
            <a:ext cx="45720" cy="347472"/>
          </a:xfrm>
          <a:prstGeom prst="rect">
            <a:avLst/>
          </a:prstGeom>
          <a:solidFill>
            <a:srgbClr val="2E75B6"/>
          </a:solidFill>
          <a:ln/>
        </p:spPr>
        <p:txBody>
          <a:bodyPr/>
          <a:lstStyle/>
          <a:p>
            <a:endParaRPr lang="en-US"/>
          </a:p>
        </p:txBody>
      </p:sp>
      <p:sp>
        <p:nvSpPr>
          <p:cNvPr id="23" name="Text 21"/>
          <p:cNvSpPr/>
          <p:nvPr/>
        </p:nvSpPr>
        <p:spPr>
          <a:xfrm>
            <a:off x="530352" y="3337560"/>
            <a:ext cx="4754880" cy="292608"/>
          </a:xfrm>
          <a:prstGeom prst="rect">
            <a:avLst/>
          </a:prstGeom>
          <a:noFill/>
          <a:ln/>
        </p:spPr>
        <p:txBody>
          <a:bodyPr wrap="square" lIns="0" tIns="0" rIns="0" bIns="0"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Weeks 7–9  </a:t>
            </a:r>
            <a:r>
              <a:rPr lang="en-US" sz="1200" dirty="0">
                <a:solidFill>
                  <a:srgbClr val="1A2744"/>
                </a:solidFill>
                <a:latin typeface="Calibri" pitchFamily="34" charset="0"/>
                <a:ea typeface="Calibri" pitchFamily="34" charset="-122"/>
                <a:cs typeface="Calibri" pitchFamily="34" charset="-120"/>
              </a:rPr>
              <a:t>Logging, Monitoring &amp; Auditing</a:t>
            </a:r>
            <a:endParaRPr lang="en-US" sz="1200" dirty="0"/>
          </a:p>
        </p:txBody>
      </p:sp>
      <p:sp>
        <p:nvSpPr>
          <p:cNvPr id="24" name="Shape 22"/>
          <p:cNvSpPr/>
          <p:nvPr/>
        </p:nvSpPr>
        <p:spPr>
          <a:xfrm>
            <a:off x="384048" y="3785616"/>
            <a:ext cx="45720" cy="347472"/>
          </a:xfrm>
          <a:prstGeom prst="rect">
            <a:avLst/>
          </a:prstGeom>
          <a:solidFill>
            <a:srgbClr val="2E75B6"/>
          </a:solidFill>
          <a:ln/>
        </p:spPr>
        <p:txBody>
          <a:bodyPr/>
          <a:lstStyle/>
          <a:p>
            <a:endParaRPr lang="en-US"/>
          </a:p>
        </p:txBody>
      </p:sp>
      <p:sp>
        <p:nvSpPr>
          <p:cNvPr id="25" name="Text 23"/>
          <p:cNvSpPr/>
          <p:nvPr/>
        </p:nvSpPr>
        <p:spPr>
          <a:xfrm>
            <a:off x="530352" y="3813048"/>
            <a:ext cx="4754880" cy="292608"/>
          </a:xfrm>
          <a:prstGeom prst="rect">
            <a:avLst/>
          </a:prstGeom>
          <a:noFill/>
          <a:ln/>
        </p:spPr>
        <p:txBody>
          <a:bodyPr wrap="square" lIns="0" tIns="0" rIns="0" bIns="0"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Weeks 10–12  </a:t>
            </a:r>
            <a:r>
              <a:rPr lang="en-US" sz="1200" dirty="0">
                <a:solidFill>
                  <a:srgbClr val="1A2744"/>
                </a:solidFill>
                <a:latin typeface="Calibri" pitchFamily="34" charset="0"/>
                <a:ea typeface="Calibri" pitchFamily="34" charset="-122"/>
                <a:cs typeface="Calibri" pitchFamily="34" charset="-120"/>
              </a:rPr>
              <a:t>Automation &amp; Compliance-as-Code</a:t>
            </a:r>
            <a:endParaRPr lang="en-US" sz="1200" dirty="0"/>
          </a:p>
        </p:txBody>
      </p:sp>
      <p:sp>
        <p:nvSpPr>
          <p:cNvPr id="26" name="Shape 24"/>
          <p:cNvSpPr/>
          <p:nvPr/>
        </p:nvSpPr>
        <p:spPr>
          <a:xfrm>
            <a:off x="384048" y="4261104"/>
            <a:ext cx="45720" cy="347472"/>
          </a:xfrm>
          <a:prstGeom prst="rect">
            <a:avLst/>
          </a:prstGeom>
          <a:solidFill>
            <a:srgbClr val="2E75B6"/>
          </a:solidFill>
          <a:ln/>
        </p:spPr>
        <p:txBody>
          <a:bodyPr/>
          <a:lstStyle/>
          <a:p>
            <a:endParaRPr lang="en-US"/>
          </a:p>
        </p:txBody>
      </p:sp>
      <p:sp>
        <p:nvSpPr>
          <p:cNvPr id="27" name="Text 25"/>
          <p:cNvSpPr/>
          <p:nvPr/>
        </p:nvSpPr>
        <p:spPr>
          <a:xfrm>
            <a:off x="530352" y="4288536"/>
            <a:ext cx="4754880" cy="292608"/>
          </a:xfrm>
          <a:prstGeom prst="rect">
            <a:avLst/>
          </a:prstGeom>
          <a:noFill/>
          <a:ln/>
        </p:spPr>
        <p:txBody>
          <a:bodyPr wrap="square" lIns="0" tIns="0" rIns="0" bIns="0"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Weeks 13–15  </a:t>
            </a:r>
            <a:r>
              <a:rPr lang="en-US" sz="1200" dirty="0">
                <a:solidFill>
                  <a:srgbClr val="1A2744"/>
                </a:solidFill>
                <a:latin typeface="Calibri" pitchFamily="34" charset="0"/>
                <a:ea typeface="Calibri" pitchFamily="34" charset="-122"/>
                <a:cs typeface="Calibri" pitchFamily="34" charset="-120"/>
              </a:rPr>
              <a:t>Capstone — Hardened Server Deployment</a:t>
            </a:r>
            <a:endParaRPr lang="en-US" sz="1200" dirty="0"/>
          </a:p>
        </p:txBody>
      </p:sp>
      <p:sp>
        <p:nvSpPr>
          <p:cNvPr id="28" name="Text 26"/>
          <p:cNvSpPr/>
          <p:nvPr/>
        </p:nvSpPr>
        <p:spPr>
          <a:xfrm>
            <a:off x="5394960" y="1993392"/>
            <a:ext cx="33832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Assessment Breakdown</a:t>
            </a:r>
            <a:endParaRPr lang="en-US" sz="1400" dirty="0"/>
          </a:p>
        </p:txBody>
      </p:sp>
      <p:sp>
        <p:nvSpPr>
          <p:cNvPr id="29" name="Shape 27"/>
          <p:cNvSpPr/>
          <p:nvPr/>
        </p:nvSpPr>
        <p:spPr>
          <a:xfrm>
            <a:off x="5394960" y="2359152"/>
            <a:ext cx="3364992" cy="365760"/>
          </a:xfrm>
          <a:prstGeom prst="rect">
            <a:avLst/>
          </a:prstGeom>
          <a:solidFill>
            <a:srgbClr val="EBF3FB"/>
          </a:solidFill>
          <a:ln w="6350">
            <a:solidFill>
              <a:srgbClr val="D0DFF0"/>
            </a:solidFill>
            <a:prstDash val="solid"/>
          </a:ln>
        </p:spPr>
        <p:txBody>
          <a:bodyPr/>
          <a:lstStyle/>
          <a:p>
            <a:endParaRPr lang="en-US"/>
          </a:p>
        </p:txBody>
      </p:sp>
      <p:sp>
        <p:nvSpPr>
          <p:cNvPr id="30" name="Shape 28"/>
          <p:cNvSpPr/>
          <p:nvPr/>
        </p:nvSpPr>
        <p:spPr>
          <a:xfrm>
            <a:off x="5394960" y="2359152"/>
            <a:ext cx="1179576" cy="365760"/>
          </a:xfrm>
          <a:prstGeom prst="rect">
            <a:avLst/>
          </a:prstGeom>
          <a:solidFill>
            <a:srgbClr val="2E75B6">
              <a:alpha val="80000"/>
            </a:srgbClr>
          </a:solidFill>
          <a:ln/>
        </p:spPr>
        <p:txBody>
          <a:bodyPr/>
          <a:lstStyle/>
          <a:p>
            <a:endParaRPr lang="en-US"/>
          </a:p>
        </p:txBody>
      </p:sp>
      <p:sp>
        <p:nvSpPr>
          <p:cNvPr id="31" name="Text 29"/>
          <p:cNvSpPr/>
          <p:nvPr/>
        </p:nvSpPr>
        <p:spPr>
          <a:xfrm>
            <a:off x="5486400" y="2404872"/>
            <a:ext cx="3182112"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Labs (14)</a:t>
            </a:r>
            <a:r>
              <a:rPr lang="en-US" sz="1100" b="1" dirty="0">
                <a:solidFill>
                  <a:srgbClr val="2E75B6"/>
                </a:solidFill>
                <a:latin typeface="Calibri" pitchFamily="34" charset="0"/>
                <a:ea typeface="Calibri" pitchFamily="34" charset="-122"/>
                <a:cs typeface="Calibri" pitchFamily="34" charset="-120"/>
              </a:rPr>
              <a:t>  35%</a:t>
            </a:r>
            <a:endParaRPr lang="en-US" sz="1100" dirty="0"/>
          </a:p>
        </p:txBody>
      </p:sp>
      <p:sp>
        <p:nvSpPr>
          <p:cNvPr id="32" name="Shape 30"/>
          <p:cNvSpPr/>
          <p:nvPr/>
        </p:nvSpPr>
        <p:spPr>
          <a:xfrm>
            <a:off x="5394960" y="2834640"/>
            <a:ext cx="3364992" cy="365760"/>
          </a:xfrm>
          <a:prstGeom prst="rect">
            <a:avLst/>
          </a:prstGeom>
          <a:solidFill>
            <a:srgbClr val="EBF3FB"/>
          </a:solidFill>
          <a:ln w="6350">
            <a:solidFill>
              <a:srgbClr val="D0DFF0"/>
            </a:solidFill>
            <a:prstDash val="solid"/>
          </a:ln>
        </p:spPr>
        <p:txBody>
          <a:bodyPr/>
          <a:lstStyle/>
          <a:p>
            <a:endParaRPr lang="en-US"/>
          </a:p>
        </p:txBody>
      </p:sp>
      <p:sp>
        <p:nvSpPr>
          <p:cNvPr id="33" name="Shape 31"/>
          <p:cNvSpPr/>
          <p:nvPr/>
        </p:nvSpPr>
        <p:spPr>
          <a:xfrm>
            <a:off x="5394960" y="2834640"/>
            <a:ext cx="841248" cy="365760"/>
          </a:xfrm>
          <a:prstGeom prst="rect">
            <a:avLst/>
          </a:prstGeom>
          <a:solidFill>
            <a:srgbClr val="1F6B75">
              <a:alpha val="80000"/>
            </a:srgbClr>
          </a:solidFill>
          <a:ln/>
        </p:spPr>
        <p:txBody>
          <a:bodyPr/>
          <a:lstStyle/>
          <a:p>
            <a:endParaRPr lang="en-US"/>
          </a:p>
        </p:txBody>
      </p:sp>
      <p:sp>
        <p:nvSpPr>
          <p:cNvPr id="34" name="Text 32"/>
          <p:cNvSpPr/>
          <p:nvPr/>
        </p:nvSpPr>
        <p:spPr>
          <a:xfrm>
            <a:off x="5486400" y="2880360"/>
            <a:ext cx="3182112"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Homework (12)</a:t>
            </a:r>
            <a:r>
              <a:rPr lang="en-US" sz="1100" b="1" dirty="0">
                <a:solidFill>
                  <a:srgbClr val="1F6B75"/>
                </a:solidFill>
                <a:latin typeface="Calibri" pitchFamily="34" charset="0"/>
                <a:ea typeface="Calibri" pitchFamily="34" charset="-122"/>
                <a:cs typeface="Calibri" pitchFamily="34" charset="-120"/>
              </a:rPr>
              <a:t>  25%</a:t>
            </a:r>
            <a:endParaRPr lang="en-US" sz="1100" dirty="0"/>
          </a:p>
        </p:txBody>
      </p:sp>
      <p:sp>
        <p:nvSpPr>
          <p:cNvPr id="35" name="Shape 33"/>
          <p:cNvSpPr/>
          <p:nvPr/>
        </p:nvSpPr>
        <p:spPr>
          <a:xfrm>
            <a:off x="5394960" y="3310128"/>
            <a:ext cx="3364992" cy="365760"/>
          </a:xfrm>
          <a:prstGeom prst="rect">
            <a:avLst/>
          </a:prstGeom>
          <a:solidFill>
            <a:srgbClr val="EBF3FB"/>
          </a:solidFill>
          <a:ln w="6350">
            <a:solidFill>
              <a:srgbClr val="D0DFF0"/>
            </a:solidFill>
            <a:prstDash val="solid"/>
          </a:ln>
        </p:spPr>
        <p:txBody>
          <a:bodyPr/>
          <a:lstStyle/>
          <a:p>
            <a:endParaRPr lang="en-US"/>
          </a:p>
        </p:txBody>
      </p:sp>
      <p:sp>
        <p:nvSpPr>
          <p:cNvPr id="36" name="Shape 34"/>
          <p:cNvSpPr/>
          <p:nvPr/>
        </p:nvSpPr>
        <p:spPr>
          <a:xfrm>
            <a:off x="5394960" y="3310128"/>
            <a:ext cx="676656" cy="365760"/>
          </a:xfrm>
          <a:prstGeom prst="rect">
            <a:avLst/>
          </a:prstGeom>
          <a:solidFill>
            <a:srgbClr val="C55A11">
              <a:alpha val="80000"/>
            </a:srgbClr>
          </a:solidFill>
          <a:ln/>
        </p:spPr>
        <p:txBody>
          <a:bodyPr/>
          <a:lstStyle/>
          <a:p>
            <a:endParaRPr lang="en-US"/>
          </a:p>
        </p:txBody>
      </p:sp>
      <p:sp>
        <p:nvSpPr>
          <p:cNvPr id="37" name="Text 35"/>
          <p:cNvSpPr/>
          <p:nvPr/>
        </p:nvSpPr>
        <p:spPr>
          <a:xfrm>
            <a:off x="5486400" y="3355848"/>
            <a:ext cx="3182112"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Quizzes (8)</a:t>
            </a:r>
            <a:r>
              <a:rPr lang="en-US" sz="1100" b="1" dirty="0">
                <a:solidFill>
                  <a:srgbClr val="C55A11"/>
                </a:solidFill>
                <a:latin typeface="Calibri" pitchFamily="34" charset="0"/>
                <a:ea typeface="Calibri" pitchFamily="34" charset="-122"/>
                <a:cs typeface="Calibri" pitchFamily="34" charset="-120"/>
              </a:rPr>
              <a:t>  20%</a:t>
            </a:r>
            <a:endParaRPr lang="en-US" sz="1100" dirty="0"/>
          </a:p>
        </p:txBody>
      </p:sp>
      <p:sp>
        <p:nvSpPr>
          <p:cNvPr id="38" name="Shape 36"/>
          <p:cNvSpPr/>
          <p:nvPr/>
        </p:nvSpPr>
        <p:spPr>
          <a:xfrm>
            <a:off x="5394960" y="3785616"/>
            <a:ext cx="3364992" cy="365760"/>
          </a:xfrm>
          <a:prstGeom prst="rect">
            <a:avLst/>
          </a:prstGeom>
          <a:solidFill>
            <a:srgbClr val="EBF3FB"/>
          </a:solidFill>
          <a:ln w="6350">
            <a:solidFill>
              <a:srgbClr val="D0DFF0"/>
            </a:solidFill>
            <a:prstDash val="solid"/>
          </a:ln>
        </p:spPr>
        <p:txBody>
          <a:bodyPr/>
          <a:lstStyle/>
          <a:p>
            <a:endParaRPr lang="en-US"/>
          </a:p>
        </p:txBody>
      </p:sp>
      <p:sp>
        <p:nvSpPr>
          <p:cNvPr id="39" name="Shape 37"/>
          <p:cNvSpPr/>
          <p:nvPr/>
        </p:nvSpPr>
        <p:spPr>
          <a:xfrm>
            <a:off x="5394960" y="3785616"/>
            <a:ext cx="338328" cy="365760"/>
          </a:xfrm>
          <a:prstGeom prst="rect">
            <a:avLst/>
          </a:prstGeom>
          <a:solidFill>
            <a:srgbClr val="1F3864">
              <a:alpha val="80000"/>
            </a:srgbClr>
          </a:solidFill>
          <a:ln/>
        </p:spPr>
        <p:txBody>
          <a:bodyPr/>
          <a:lstStyle/>
          <a:p>
            <a:endParaRPr lang="en-US"/>
          </a:p>
        </p:txBody>
      </p:sp>
      <p:sp>
        <p:nvSpPr>
          <p:cNvPr id="40" name="Text 38"/>
          <p:cNvSpPr/>
          <p:nvPr/>
        </p:nvSpPr>
        <p:spPr>
          <a:xfrm>
            <a:off x="5486400" y="3831336"/>
            <a:ext cx="3182112"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Midterm Exam</a:t>
            </a:r>
            <a:r>
              <a:rPr lang="en-US" sz="1100" b="1" dirty="0">
                <a:solidFill>
                  <a:srgbClr val="1F3864"/>
                </a:solidFill>
                <a:latin typeface="Calibri" pitchFamily="34" charset="0"/>
                <a:ea typeface="Calibri" pitchFamily="34" charset="-122"/>
                <a:cs typeface="Calibri" pitchFamily="34" charset="-120"/>
              </a:rPr>
              <a:t>  10%</a:t>
            </a:r>
            <a:endParaRPr lang="en-US" sz="1100" dirty="0"/>
          </a:p>
        </p:txBody>
      </p:sp>
      <p:sp>
        <p:nvSpPr>
          <p:cNvPr id="41" name="Shape 39"/>
          <p:cNvSpPr/>
          <p:nvPr/>
        </p:nvSpPr>
        <p:spPr>
          <a:xfrm>
            <a:off x="5394960" y="4261104"/>
            <a:ext cx="3364992" cy="365760"/>
          </a:xfrm>
          <a:prstGeom prst="rect">
            <a:avLst/>
          </a:prstGeom>
          <a:solidFill>
            <a:srgbClr val="EBF3FB"/>
          </a:solidFill>
          <a:ln w="6350">
            <a:solidFill>
              <a:srgbClr val="D0DFF0"/>
            </a:solidFill>
            <a:prstDash val="solid"/>
          </a:ln>
        </p:spPr>
        <p:txBody>
          <a:bodyPr/>
          <a:lstStyle/>
          <a:p>
            <a:endParaRPr lang="en-US"/>
          </a:p>
        </p:txBody>
      </p:sp>
      <p:sp>
        <p:nvSpPr>
          <p:cNvPr id="42" name="Shape 40"/>
          <p:cNvSpPr/>
          <p:nvPr/>
        </p:nvSpPr>
        <p:spPr>
          <a:xfrm>
            <a:off x="5394960" y="4261104"/>
            <a:ext cx="338328" cy="365760"/>
          </a:xfrm>
          <a:prstGeom prst="rect">
            <a:avLst/>
          </a:prstGeom>
          <a:solidFill>
            <a:srgbClr val="7B2C2C">
              <a:alpha val="80000"/>
            </a:srgbClr>
          </a:solidFill>
          <a:ln/>
        </p:spPr>
        <p:txBody>
          <a:bodyPr/>
          <a:lstStyle/>
          <a:p>
            <a:endParaRPr lang="en-US"/>
          </a:p>
        </p:txBody>
      </p:sp>
      <p:sp>
        <p:nvSpPr>
          <p:cNvPr id="43" name="Text 41"/>
          <p:cNvSpPr/>
          <p:nvPr/>
        </p:nvSpPr>
        <p:spPr>
          <a:xfrm>
            <a:off x="5486400" y="4306824"/>
            <a:ext cx="3182112"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Capstone Project</a:t>
            </a:r>
            <a:r>
              <a:rPr lang="en-US" sz="1100" b="1" dirty="0">
                <a:solidFill>
                  <a:srgbClr val="7B2C2C"/>
                </a:solidFill>
                <a:latin typeface="Calibri" pitchFamily="34" charset="0"/>
                <a:ea typeface="Calibri" pitchFamily="34" charset="-122"/>
                <a:cs typeface="Calibri" pitchFamily="34" charset="-120"/>
              </a:rPr>
              <a:t>  10%</a:t>
            </a:r>
            <a:endParaRPr lang="en-US" sz="1100" dirty="0"/>
          </a:p>
        </p:txBody>
      </p:sp>
      <p:sp>
        <p:nvSpPr>
          <p:cNvPr id="44" name="Text 42"/>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a Systems Administrator?</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Text 3"/>
          <p:cNvSpPr/>
          <p:nvPr/>
        </p:nvSpPr>
        <p:spPr>
          <a:xfrm>
            <a:off x="384048" y="804672"/>
            <a:ext cx="4937760" cy="457200"/>
          </a:xfrm>
          <a:prstGeom prst="rect">
            <a:avLst/>
          </a:prstGeom>
          <a:noFill/>
          <a:ln/>
        </p:spPr>
        <p:txBody>
          <a:bodyPr wrap="square" lIns="0" tIns="0" rIns="0" bIns="0" rtlCol="0" anchor="ctr"/>
          <a:lstStyle/>
          <a:p>
            <a:pPr marL="0" indent="0">
              <a:buNone/>
            </a:pPr>
            <a:r>
              <a:rPr lang="en-US" sz="1300" i="1" dirty="0">
                <a:solidFill>
                  <a:srgbClr val="2E75B6"/>
                </a:solidFill>
                <a:latin typeface="Calibri" pitchFamily="34" charset="0"/>
                <a:ea typeface="Calibri" pitchFamily="34" charset="-122"/>
                <a:cs typeface="Calibri" pitchFamily="34" charset="-120"/>
              </a:rPr>
              <a:t>The SysAdmin keeps systems secure, stable, and operational.</a:t>
            </a:r>
            <a:endParaRPr lang="en-US" sz="1300" dirty="0"/>
          </a:p>
        </p:txBody>
      </p:sp>
      <p:sp>
        <p:nvSpPr>
          <p:cNvPr id="6" name="Shape 4"/>
          <p:cNvSpPr/>
          <p:nvPr/>
        </p:nvSpPr>
        <p:spPr>
          <a:xfrm>
            <a:off x="365760" y="1353312"/>
            <a:ext cx="2359152" cy="1207008"/>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7" name="Shape 5"/>
          <p:cNvSpPr/>
          <p:nvPr/>
        </p:nvSpPr>
        <p:spPr>
          <a:xfrm>
            <a:off x="438912" y="1426464"/>
            <a:ext cx="585216" cy="585216"/>
          </a:xfrm>
          <a:prstGeom prst="ellipse">
            <a:avLst/>
          </a:prstGeom>
          <a:solidFill>
            <a:srgbClr val="2E75B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570586" y="1558138"/>
            <a:ext cx="321869" cy="321869"/>
          </a:xfrm>
          <a:prstGeom prst="rect">
            <a:avLst/>
          </a:prstGeom>
        </p:spPr>
      </p:pic>
      <p:sp>
        <p:nvSpPr>
          <p:cNvPr id="9" name="Text 6"/>
          <p:cNvSpPr/>
          <p:nvPr/>
        </p:nvSpPr>
        <p:spPr>
          <a:xfrm>
            <a:off x="1133856" y="1499616"/>
            <a:ext cx="1499616" cy="914400"/>
          </a:xfrm>
          <a:prstGeom prst="rect">
            <a:avLst/>
          </a:prstGeom>
          <a:noFill/>
          <a:ln/>
        </p:spPr>
        <p:txBody>
          <a:bodyPr wrap="square" lIns="0" tIns="0" rIns="0" bIns="0"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Infrastructure</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Deploy, configure &amp; maintain servers, VMs, and cloud instances</a:t>
            </a:r>
            <a:endParaRPr lang="en-US" sz="1200" dirty="0"/>
          </a:p>
        </p:txBody>
      </p:sp>
      <p:sp>
        <p:nvSpPr>
          <p:cNvPr id="10" name="Shape 7"/>
          <p:cNvSpPr/>
          <p:nvPr/>
        </p:nvSpPr>
        <p:spPr>
          <a:xfrm>
            <a:off x="2907792" y="1353312"/>
            <a:ext cx="2359152" cy="1207008"/>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8"/>
          <p:cNvSpPr/>
          <p:nvPr/>
        </p:nvSpPr>
        <p:spPr>
          <a:xfrm>
            <a:off x="2980944" y="1426464"/>
            <a:ext cx="585216" cy="585216"/>
          </a:xfrm>
          <a:prstGeom prst="ellipse">
            <a:avLst/>
          </a:prstGeom>
          <a:solidFill>
            <a:srgbClr val="2E75B6"/>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112618" y="1558138"/>
            <a:ext cx="321869" cy="321869"/>
          </a:xfrm>
          <a:prstGeom prst="rect">
            <a:avLst/>
          </a:prstGeom>
        </p:spPr>
      </p:pic>
      <p:sp>
        <p:nvSpPr>
          <p:cNvPr id="13" name="Text 9"/>
          <p:cNvSpPr/>
          <p:nvPr/>
        </p:nvSpPr>
        <p:spPr>
          <a:xfrm>
            <a:off x="3675888" y="1499616"/>
            <a:ext cx="1499616" cy="914400"/>
          </a:xfrm>
          <a:prstGeom prst="rect">
            <a:avLst/>
          </a:prstGeom>
          <a:noFill/>
          <a:ln/>
        </p:spPr>
        <p:txBody>
          <a:bodyPr wrap="square" lIns="0" tIns="0" rIns="0" bIns="0"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Security Hardening</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Apply CIS Benchmarks, STIGs, and patch cadences</a:t>
            </a:r>
            <a:endParaRPr lang="en-US" sz="1200" dirty="0"/>
          </a:p>
        </p:txBody>
      </p:sp>
      <p:sp>
        <p:nvSpPr>
          <p:cNvPr id="14" name="Shape 10"/>
          <p:cNvSpPr/>
          <p:nvPr/>
        </p:nvSpPr>
        <p:spPr>
          <a:xfrm>
            <a:off x="365760" y="2770632"/>
            <a:ext cx="2359152" cy="1207008"/>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5" name="Shape 11"/>
          <p:cNvSpPr/>
          <p:nvPr/>
        </p:nvSpPr>
        <p:spPr>
          <a:xfrm>
            <a:off x="438912" y="2843784"/>
            <a:ext cx="585216" cy="585216"/>
          </a:xfrm>
          <a:prstGeom prst="ellipse">
            <a:avLst/>
          </a:prstGeom>
          <a:solidFill>
            <a:srgbClr val="2E75B6"/>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570586" y="2975458"/>
            <a:ext cx="321869" cy="321869"/>
          </a:xfrm>
          <a:prstGeom prst="rect">
            <a:avLst/>
          </a:prstGeom>
        </p:spPr>
      </p:pic>
      <p:sp>
        <p:nvSpPr>
          <p:cNvPr id="17" name="Text 12"/>
          <p:cNvSpPr/>
          <p:nvPr/>
        </p:nvSpPr>
        <p:spPr>
          <a:xfrm>
            <a:off x="1133856" y="2916936"/>
            <a:ext cx="1499616" cy="914400"/>
          </a:xfrm>
          <a:prstGeom prst="rect">
            <a:avLst/>
          </a:prstGeom>
          <a:noFill/>
          <a:ln/>
        </p:spPr>
        <p:txBody>
          <a:bodyPr wrap="square" lIns="0" tIns="0" rIns="0" bIns="0"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Automation</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Use Ansible/Terraform to enforce consistent state</a:t>
            </a:r>
            <a:endParaRPr lang="en-US" sz="1200" dirty="0"/>
          </a:p>
        </p:txBody>
      </p:sp>
      <p:sp>
        <p:nvSpPr>
          <p:cNvPr id="18" name="Shape 13"/>
          <p:cNvSpPr/>
          <p:nvPr/>
        </p:nvSpPr>
        <p:spPr>
          <a:xfrm>
            <a:off x="2907792" y="2770632"/>
            <a:ext cx="2359152" cy="1207008"/>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9" name="Shape 14"/>
          <p:cNvSpPr/>
          <p:nvPr/>
        </p:nvSpPr>
        <p:spPr>
          <a:xfrm>
            <a:off x="2980944" y="2843784"/>
            <a:ext cx="585216" cy="585216"/>
          </a:xfrm>
          <a:prstGeom prst="ellipse">
            <a:avLst/>
          </a:prstGeom>
          <a:solidFill>
            <a:srgbClr val="2E75B6"/>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3112618" y="2975458"/>
            <a:ext cx="321869" cy="321869"/>
          </a:xfrm>
          <a:prstGeom prst="rect">
            <a:avLst/>
          </a:prstGeom>
        </p:spPr>
      </p:pic>
      <p:sp>
        <p:nvSpPr>
          <p:cNvPr id="21" name="Text 15"/>
          <p:cNvSpPr/>
          <p:nvPr/>
        </p:nvSpPr>
        <p:spPr>
          <a:xfrm>
            <a:off x="3675888" y="2916936"/>
            <a:ext cx="1499616" cy="914400"/>
          </a:xfrm>
          <a:prstGeom prst="rect">
            <a:avLst/>
          </a:prstGeom>
          <a:noFill/>
          <a:ln/>
        </p:spPr>
        <p:txBody>
          <a:bodyPr wrap="square" lIns="0" tIns="0" rIns="0" bIns="0"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Compliance</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Generate scan reports, remediate findings, maintain audit trails</a:t>
            </a:r>
            <a:endParaRPr lang="en-US" sz="1200" dirty="0"/>
          </a:p>
        </p:txBody>
      </p:sp>
      <p:sp>
        <p:nvSpPr>
          <p:cNvPr id="22" name="Shape 16"/>
          <p:cNvSpPr/>
          <p:nvPr/>
        </p:nvSpPr>
        <p:spPr>
          <a:xfrm>
            <a:off x="5376672" y="804672"/>
            <a:ext cx="3401568" cy="3621024"/>
          </a:xfrm>
          <a:prstGeom prst="rect">
            <a:avLst/>
          </a:prstGeom>
          <a:solidFill>
            <a:srgbClr val="1F3864"/>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3" name="Text 17"/>
          <p:cNvSpPr/>
          <p:nvPr/>
        </p:nvSpPr>
        <p:spPr>
          <a:xfrm>
            <a:off x="5376672" y="841248"/>
            <a:ext cx="3401568" cy="347472"/>
          </a:xfrm>
          <a:prstGeom prst="rect">
            <a:avLst/>
          </a:prstGeom>
          <a:noFill/>
          <a:ln/>
        </p:spPr>
        <p:txBody>
          <a:bodyPr wrap="square" lIns="0" tIns="0" rIns="0" bIns="0" rtlCol="0" anchor="ctr"/>
          <a:lstStyle/>
          <a:p>
            <a:pPr marL="0" indent="0" algn="ctr">
              <a:buNone/>
            </a:pPr>
            <a:r>
              <a:rPr lang="en-US" sz="1100" b="1" kern="0" spc="200" dirty="0">
                <a:solidFill>
                  <a:srgbClr val="BDD7EE"/>
                </a:solidFill>
                <a:latin typeface="Calibri" pitchFamily="34" charset="0"/>
                <a:ea typeface="Calibri" pitchFamily="34" charset="-122"/>
                <a:cs typeface="Calibri" pitchFamily="34" charset="-120"/>
              </a:rPr>
              <a:t>SCOPE OF PRACTICE</a:t>
            </a:r>
            <a:endParaRPr lang="en-US" sz="1100" dirty="0"/>
          </a:p>
        </p:txBody>
      </p:sp>
      <p:sp>
        <p:nvSpPr>
          <p:cNvPr id="24" name="Shape 18"/>
          <p:cNvSpPr/>
          <p:nvPr/>
        </p:nvSpPr>
        <p:spPr>
          <a:xfrm>
            <a:off x="5559552" y="1298448"/>
            <a:ext cx="2999232" cy="877824"/>
          </a:xfrm>
          <a:prstGeom prst="rect">
            <a:avLst/>
          </a:prstGeom>
          <a:solidFill>
            <a:srgbClr val="243F6A"/>
          </a:solidFill>
          <a:ln/>
        </p:spPr>
        <p:txBody>
          <a:bodyPr/>
          <a:lstStyle/>
          <a:p>
            <a:endParaRPr lang="en-US"/>
          </a:p>
        </p:txBody>
      </p:sp>
      <p:sp>
        <p:nvSpPr>
          <p:cNvPr id="25" name="Text 19"/>
          <p:cNvSpPr/>
          <p:nvPr/>
        </p:nvSpPr>
        <p:spPr>
          <a:xfrm>
            <a:off x="5669280" y="1371600"/>
            <a:ext cx="2834640" cy="7498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p>
          <a:p>
            <a:pPr marL="0" indent="0">
              <a:buNone/>
            </a:pPr>
            <a:r>
              <a:rPr lang="en-US" sz="1000" dirty="0">
                <a:solidFill>
                  <a:srgbClr val="8BACD4"/>
                </a:solidFill>
                <a:latin typeface="Calibri" pitchFamily="34" charset="0"/>
                <a:ea typeface="Calibri" pitchFamily="34" charset="-122"/>
                <a:cs typeface="Calibri" pitchFamily="34" charset="-120"/>
              </a:rPr>
              <a:t>1,000+ node environments</a:t>
            </a:r>
            <a:endParaRPr lang="en-US" sz="1300" dirty="0"/>
          </a:p>
          <a:p>
            <a:pPr marL="0" indent="0">
              <a:buNone/>
            </a:pPr>
            <a:r>
              <a:rPr lang="en-US" sz="1000" dirty="0">
                <a:solidFill>
                  <a:srgbClr val="8BACD4"/>
                </a:solidFill>
                <a:latin typeface="Calibri" pitchFamily="34" charset="0"/>
                <a:ea typeface="Calibri" pitchFamily="34" charset="-122"/>
                <a:cs typeface="Calibri" pitchFamily="34" charset="-120"/>
              </a:rPr>
              <a:t>Multi-site, HA clusters</a:t>
            </a:r>
            <a:endParaRPr lang="en-US" sz="1300" dirty="0"/>
          </a:p>
        </p:txBody>
      </p:sp>
      <p:sp>
        <p:nvSpPr>
          <p:cNvPr id="26" name="Shape 20"/>
          <p:cNvSpPr/>
          <p:nvPr/>
        </p:nvSpPr>
        <p:spPr>
          <a:xfrm>
            <a:off x="5559552" y="2340864"/>
            <a:ext cx="2999232" cy="877824"/>
          </a:xfrm>
          <a:prstGeom prst="rect">
            <a:avLst/>
          </a:prstGeom>
          <a:solidFill>
            <a:srgbClr val="243F6A"/>
          </a:solidFill>
          <a:ln/>
        </p:spPr>
        <p:txBody>
          <a:bodyPr/>
          <a:lstStyle/>
          <a:p>
            <a:endParaRPr lang="en-US"/>
          </a:p>
        </p:txBody>
      </p:sp>
      <p:sp>
        <p:nvSpPr>
          <p:cNvPr id="27" name="Text 21"/>
          <p:cNvSpPr/>
          <p:nvPr/>
        </p:nvSpPr>
        <p:spPr>
          <a:xfrm>
            <a:off x="5669280" y="2414016"/>
            <a:ext cx="2834640" cy="7498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Mid-size</a:t>
            </a:r>
            <a:endParaRPr lang="en-US" sz="1300" dirty="0"/>
          </a:p>
          <a:p>
            <a:pPr marL="0" indent="0">
              <a:buNone/>
            </a:pPr>
            <a:r>
              <a:rPr lang="en-US" sz="1000" dirty="0">
                <a:solidFill>
                  <a:srgbClr val="8BACD4"/>
                </a:solidFill>
                <a:latin typeface="Calibri" pitchFamily="34" charset="0"/>
                <a:ea typeface="Calibri" pitchFamily="34" charset="-122"/>
                <a:cs typeface="Calibri" pitchFamily="34" charset="-120"/>
              </a:rPr>
              <a:t>100–999 nodes</a:t>
            </a:r>
            <a:endParaRPr lang="en-US" sz="1300" dirty="0"/>
          </a:p>
          <a:p>
            <a:pPr marL="0" indent="0">
              <a:buNone/>
            </a:pPr>
            <a:r>
              <a:rPr lang="en-US" sz="1000" dirty="0">
                <a:solidFill>
                  <a:srgbClr val="8BACD4"/>
                </a:solidFill>
                <a:latin typeface="Calibri" pitchFamily="34" charset="0"/>
                <a:ea typeface="Calibri" pitchFamily="34" charset="-122"/>
                <a:cs typeface="Calibri" pitchFamily="34" charset="-120"/>
              </a:rPr>
              <a:t>Mixed on-prem + cloud</a:t>
            </a:r>
            <a:endParaRPr lang="en-US" sz="1300" dirty="0"/>
          </a:p>
        </p:txBody>
      </p:sp>
      <p:sp>
        <p:nvSpPr>
          <p:cNvPr id="28" name="Shape 22"/>
          <p:cNvSpPr/>
          <p:nvPr/>
        </p:nvSpPr>
        <p:spPr>
          <a:xfrm>
            <a:off x="5559552" y="3383280"/>
            <a:ext cx="2999232" cy="877824"/>
          </a:xfrm>
          <a:prstGeom prst="rect">
            <a:avLst/>
          </a:prstGeom>
          <a:solidFill>
            <a:srgbClr val="243F6A"/>
          </a:solidFill>
          <a:ln/>
        </p:spPr>
        <p:txBody>
          <a:bodyPr/>
          <a:lstStyle/>
          <a:p>
            <a:endParaRPr lang="en-US"/>
          </a:p>
        </p:txBody>
      </p:sp>
      <p:sp>
        <p:nvSpPr>
          <p:cNvPr id="29" name="Text 23"/>
          <p:cNvSpPr/>
          <p:nvPr/>
        </p:nvSpPr>
        <p:spPr>
          <a:xfrm>
            <a:off x="5669280" y="3456432"/>
            <a:ext cx="2834640" cy="7498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SMB / Lab</a:t>
            </a:r>
            <a:endParaRPr lang="en-US" sz="1300" dirty="0"/>
          </a:p>
          <a:p>
            <a:pPr marL="0" indent="0">
              <a:buNone/>
            </a:pPr>
            <a:r>
              <a:rPr lang="en-US" sz="1000" dirty="0">
                <a:solidFill>
                  <a:srgbClr val="8BACD4"/>
                </a:solidFill>
                <a:latin typeface="Calibri" pitchFamily="34" charset="0"/>
                <a:ea typeface="Calibri" pitchFamily="34" charset="-122"/>
                <a:cs typeface="Calibri" pitchFamily="34" charset="-120"/>
              </a:rPr>
              <a:t>&lt; 100 nodes</a:t>
            </a:r>
            <a:endParaRPr lang="en-US" sz="1300" dirty="0"/>
          </a:p>
          <a:p>
            <a:pPr marL="0" indent="0">
              <a:buNone/>
            </a:pPr>
            <a:r>
              <a:rPr lang="en-US" sz="1000" dirty="0">
                <a:solidFill>
                  <a:srgbClr val="8BACD4"/>
                </a:solidFill>
                <a:latin typeface="Calibri" pitchFamily="34" charset="0"/>
                <a:ea typeface="Calibri" pitchFamily="34" charset="-122"/>
                <a:cs typeface="Calibri" pitchFamily="34" charset="-120"/>
              </a:rPr>
              <a:t>Full-stack generalist</a:t>
            </a:r>
            <a:endParaRPr lang="en-US" sz="1300" dirty="0"/>
          </a:p>
        </p:txBody>
      </p:sp>
      <p:sp>
        <p:nvSpPr>
          <p:cNvPr id="30" name="Text 24"/>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NICE Workforce Framework — IO Work Roles</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Text 3"/>
          <p:cNvSpPr/>
          <p:nvPr/>
        </p:nvSpPr>
        <p:spPr>
          <a:xfrm>
            <a:off x="384048" y="777240"/>
            <a:ext cx="8412480" cy="310896"/>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This course maps to two Infrastructure &amp; Operations work roles:</a:t>
            </a:r>
            <a:endParaRPr lang="en-US" sz="1200" dirty="0"/>
          </a:p>
        </p:txBody>
      </p:sp>
      <p:sp>
        <p:nvSpPr>
          <p:cNvPr id="6" name="Shape 4"/>
          <p:cNvSpPr/>
          <p:nvPr/>
        </p:nvSpPr>
        <p:spPr>
          <a:xfrm>
            <a:off x="384048" y="1188720"/>
            <a:ext cx="4160520" cy="3474720"/>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7" name="Shape 5"/>
          <p:cNvSpPr/>
          <p:nvPr/>
        </p:nvSpPr>
        <p:spPr>
          <a:xfrm>
            <a:off x="384048" y="1188720"/>
            <a:ext cx="4160520" cy="640080"/>
          </a:xfrm>
          <a:prstGeom prst="rect">
            <a:avLst/>
          </a:prstGeom>
          <a:solidFill>
            <a:srgbClr val="2E75B6"/>
          </a:solidFill>
          <a:ln/>
        </p:spPr>
        <p:txBody>
          <a:bodyPr/>
          <a:lstStyle/>
          <a:p>
            <a:endParaRPr lang="en-US"/>
          </a:p>
        </p:txBody>
      </p:sp>
      <p:sp>
        <p:nvSpPr>
          <p:cNvPr id="8" name="Text 6"/>
          <p:cNvSpPr/>
          <p:nvPr/>
        </p:nvSpPr>
        <p:spPr>
          <a:xfrm>
            <a:off x="521208" y="1225296"/>
            <a:ext cx="3886200" cy="237744"/>
          </a:xfrm>
          <a:prstGeom prst="rect">
            <a:avLst/>
          </a:prstGeom>
          <a:noFill/>
          <a:ln/>
        </p:spPr>
        <p:txBody>
          <a:bodyPr wrap="square" lIns="0" tIns="0" rIns="0" bIns="0" rtlCol="0" anchor="ctr"/>
          <a:lstStyle/>
          <a:p>
            <a:pPr marL="0" indent="0">
              <a:buNone/>
            </a:pPr>
            <a:r>
              <a:rPr lang="en-US" sz="1000" b="1" kern="0" spc="150" dirty="0">
                <a:solidFill>
                  <a:srgbClr val="AADDFF"/>
                </a:solidFill>
                <a:latin typeface="Calibri" pitchFamily="34" charset="0"/>
                <a:ea typeface="Calibri" pitchFamily="34" charset="-122"/>
                <a:cs typeface="Calibri" pitchFamily="34" charset="-120"/>
              </a:rPr>
              <a:t>IO-WRL-005</a:t>
            </a:r>
            <a:endParaRPr lang="en-US" sz="1000" dirty="0"/>
          </a:p>
        </p:txBody>
      </p:sp>
      <p:sp>
        <p:nvSpPr>
          <p:cNvPr id="9" name="Text 7"/>
          <p:cNvSpPr/>
          <p:nvPr/>
        </p:nvSpPr>
        <p:spPr>
          <a:xfrm>
            <a:off x="521208" y="1444752"/>
            <a:ext cx="388620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System Administrator</a:t>
            </a:r>
            <a:endParaRPr lang="en-US" sz="1600" dirty="0"/>
          </a:p>
        </p:txBody>
      </p:sp>
      <p:sp>
        <p:nvSpPr>
          <p:cNvPr id="10" name="Text 8"/>
          <p:cNvSpPr/>
          <p:nvPr/>
        </p:nvSpPr>
        <p:spPr>
          <a:xfrm>
            <a:off x="585216" y="1938528"/>
            <a:ext cx="3758184" cy="25603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Key Tasks</a:t>
            </a:r>
            <a:endParaRPr lang="en-US" sz="1100" dirty="0"/>
          </a:p>
        </p:txBody>
      </p:sp>
      <p:sp>
        <p:nvSpPr>
          <p:cNvPr id="11" name="Text 9"/>
          <p:cNvSpPr/>
          <p:nvPr/>
        </p:nvSpPr>
        <p:spPr>
          <a:xfrm>
            <a:off x="585216" y="2231136"/>
            <a:ext cx="3758184" cy="21945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Install, configure &amp; maintain servers</a:t>
            </a:r>
            <a:endParaRPr lang="en-US" sz="1100" dirty="0"/>
          </a:p>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Apply OS-level hardening (CIS/STIG)</a:t>
            </a:r>
            <a:endParaRPr lang="en-US" sz="1100" dirty="0"/>
          </a:p>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Manage user accounts &amp; access controls</a:t>
            </a:r>
            <a:endParaRPr lang="en-US" sz="1100" dirty="0"/>
          </a:p>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Monitor system health &amp; performance</a:t>
            </a:r>
            <a:endParaRPr lang="en-US" sz="1100" dirty="0"/>
          </a:p>
        </p:txBody>
      </p:sp>
      <p:sp>
        <p:nvSpPr>
          <p:cNvPr id="12" name="Shape 10"/>
          <p:cNvSpPr/>
          <p:nvPr/>
        </p:nvSpPr>
        <p:spPr>
          <a:xfrm>
            <a:off x="4818888" y="1188720"/>
            <a:ext cx="4160520" cy="3474720"/>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1"/>
          <p:cNvSpPr/>
          <p:nvPr/>
        </p:nvSpPr>
        <p:spPr>
          <a:xfrm>
            <a:off x="4818888" y="1188720"/>
            <a:ext cx="4160520" cy="640080"/>
          </a:xfrm>
          <a:prstGeom prst="rect">
            <a:avLst/>
          </a:prstGeom>
          <a:solidFill>
            <a:srgbClr val="1F6B75"/>
          </a:solidFill>
          <a:ln/>
        </p:spPr>
        <p:txBody>
          <a:bodyPr/>
          <a:lstStyle/>
          <a:p>
            <a:endParaRPr lang="en-US"/>
          </a:p>
        </p:txBody>
      </p:sp>
      <p:sp>
        <p:nvSpPr>
          <p:cNvPr id="14" name="Text 12"/>
          <p:cNvSpPr/>
          <p:nvPr/>
        </p:nvSpPr>
        <p:spPr>
          <a:xfrm>
            <a:off x="4956048" y="1225296"/>
            <a:ext cx="3886200" cy="237744"/>
          </a:xfrm>
          <a:prstGeom prst="rect">
            <a:avLst/>
          </a:prstGeom>
          <a:noFill/>
          <a:ln/>
        </p:spPr>
        <p:txBody>
          <a:bodyPr wrap="square" lIns="0" tIns="0" rIns="0" bIns="0" rtlCol="0" anchor="ctr"/>
          <a:lstStyle/>
          <a:p>
            <a:pPr marL="0" indent="0">
              <a:buNone/>
            </a:pPr>
            <a:r>
              <a:rPr lang="en-US" sz="1000" b="1" kern="0" spc="150" dirty="0">
                <a:solidFill>
                  <a:srgbClr val="AADDFF"/>
                </a:solidFill>
                <a:latin typeface="Calibri" pitchFamily="34" charset="0"/>
                <a:ea typeface="Calibri" pitchFamily="34" charset="-122"/>
                <a:cs typeface="Calibri" pitchFamily="34" charset="-120"/>
              </a:rPr>
              <a:t>IO-WRL-007</a:t>
            </a:r>
            <a:endParaRPr lang="en-US" sz="1000" dirty="0"/>
          </a:p>
        </p:txBody>
      </p:sp>
      <p:sp>
        <p:nvSpPr>
          <p:cNvPr id="15" name="Text 13"/>
          <p:cNvSpPr/>
          <p:nvPr/>
        </p:nvSpPr>
        <p:spPr>
          <a:xfrm>
            <a:off x="4956048" y="1444752"/>
            <a:ext cx="388620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Network Operations Specialist</a:t>
            </a:r>
            <a:endParaRPr lang="en-US" sz="1600" dirty="0"/>
          </a:p>
        </p:txBody>
      </p:sp>
      <p:sp>
        <p:nvSpPr>
          <p:cNvPr id="16" name="Text 14"/>
          <p:cNvSpPr/>
          <p:nvPr/>
        </p:nvSpPr>
        <p:spPr>
          <a:xfrm>
            <a:off x="5020056" y="1938528"/>
            <a:ext cx="3758184" cy="256032"/>
          </a:xfrm>
          <a:prstGeom prst="rect">
            <a:avLst/>
          </a:prstGeom>
          <a:noFill/>
          <a:ln/>
        </p:spPr>
        <p:txBody>
          <a:bodyPr wrap="square" lIns="0" tIns="0" rIns="0" bIns="0" rtlCol="0" anchor="ctr"/>
          <a:lstStyle/>
          <a:p>
            <a:pPr marL="0" indent="0">
              <a:buNone/>
            </a:pPr>
            <a:r>
              <a:rPr lang="en-US" sz="1100" b="1" dirty="0">
                <a:solidFill>
                  <a:srgbClr val="1F6B75"/>
                </a:solidFill>
                <a:latin typeface="Calibri" pitchFamily="34" charset="0"/>
                <a:ea typeface="Calibri" pitchFamily="34" charset="-122"/>
                <a:cs typeface="Calibri" pitchFamily="34" charset="-120"/>
              </a:rPr>
              <a:t>Key Tasks</a:t>
            </a:r>
            <a:endParaRPr lang="en-US" sz="1100" dirty="0"/>
          </a:p>
        </p:txBody>
      </p:sp>
      <p:sp>
        <p:nvSpPr>
          <p:cNvPr id="17" name="Text 15"/>
          <p:cNvSpPr/>
          <p:nvPr/>
        </p:nvSpPr>
        <p:spPr>
          <a:xfrm>
            <a:off x="5020056" y="2231136"/>
            <a:ext cx="3758184" cy="21945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Configure &amp; maintain network services</a:t>
            </a:r>
            <a:endParaRPr lang="en-US" sz="1100" dirty="0"/>
          </a:p>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Implement firewall rules &amp; ACLs</a:t>
            </a:r>
            <a:endParaRPr lang="en-US" sz="1100" dirty="0"/>
          </a:p>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Manage DNS, DHCP &amp; VPN services</a:t>
            </a:r>
            <a:endParaRPr lang="en-US" sz="1100" dirty="0"/>
          </a:p>
          <a:p>
            <a:pPr marL="342900" indent="-342900">
              <a:spcAft>
                <a:spcPts val="600"/>
              </a:spcAft>
              <a:buSzPct val="100000"/>
              <a:buChar char="•"/>
            </a:pPr>
            <a:r>
              <a:rPr lang="en-US" sz="1100" dirty="0">
                <a:solidFill>
                  <a:srgbClr val="1A2744"/>
                </a:solidFill>
                <a:latin typeface="Calibri" pitchFamily="34" charset="0"/>
                <a:ea typeface="Calibri" pitchFamily="34" charset="-122"/>
                <a:cs typeface="Calibri" pitchFamily="34" charset="-120"/>
              </a:rPr>
              <a:t>Respond to connectivity incidents</a:t>
            </a:r>
            <a:endParaRPr lang="en-US" sz="1100" dirty="0"/>
          </a:p>
        </p:txBody>
      </p:sp>
      <p:sp>
        <p:nvSpPr>
          <p:cNvPr id="18" name="Text 16"/>
          <p:cNvSpPr/>
          <p:nvPr/>
        </p:nvSpPr>
        <p:spPr>
          <a:xfrm>
            <a:off x="384048" y="4828032"/>
            <a:ext cx="8412480" cy="219456"/>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NICE Cybersecurity Workforce Framework  ·  NIST SP 800-181</a:t>
            </a:r>
            <a:endParaRPr lang="en-US" sz="900" dirty="0"/>
          </a:p>
        </p:txBody>
      </p:sp>
      <p:sp>
        <p:nvSpPr>
          <p:cNvPr id="19" name="Text 17"/>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Lab Environment Overview</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Text 3"/>
          <p:cNvSpPr/>
          <p:nvPr/>
        </p:nvSpPr>
        <p:spPr>
          <a:xfrm>
            <a:off x="384048" y="804672"/>
            <a:ext cx="411480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Host Machine Requirements</a:t>
            </a:r>
            <a:endParaRPr lang="en-US" sz="1400" dirty="0"/>
          </a:p>
        </p:txBody>
      </p:sp>
      <p:sp>
        <p:nvSpPr>
          <p:cNvPr id="6" name="Shape 4"/>
          <p:cNvSpPr/>
          <p:nvPr/>
        </p:nvSpPr>
        <p:spPr>
          <a:xfrm>
            <a:off x="384048" y="1170432"/>
            <a:ext cx="4160520" cy="384048"/>
          </a:xfrm>
          <a:prstGeom prst="rect">
            <a:avLst/>
          </a:prstGeom>
          <a:solidFill>
            <a:srgbClr val="FFFFFF"/>
          </a:solidFill>
          <a:ln w="6350">
            <a:solidFill>
              <a:srgbClr val="D0DFF0"/>
            </a:solidFill>
            <a:prstDash val="solid"/>
          </a:ln>
        </p:spPr>
        <p:txBody>
          <a:bodyPr/>
          <a:lstStyle/>
          <a:p>
            <a:endParaRPr lang="en-US"/>
          </a:p>
        </p:txBody>
      </p:sp>
      <p:sp>
        <p:nvSpPr>
          <p:cNvPr id="7" name="Text 5"/>
          <p:cNvSpPr/>
          <p:nvPr/>
        </p:nvSpPr>
        <p:spPr>
          <a:xfrm>
            <a:off x="512064" y="1234440"/>
            <a:ext cx="1005840" cy="25603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CPU:</a:t>
            </a:r>
            <a:endParaRPr lang="en-US" sz="1100" dirty="0"/>
          </a:p>
        </p:txBody>
      </p:sp>
      <p:sp>
        <p:nvSpPr>
          <p:cNvPr id="8" name="Text 6"/>
          <p:cNvSpPr/>
          <p:nvPr/>
        </p:nvSpPr>
        <p:spPr>
          <a:xfrm>
            <a:off x="1572768" y="1234440"/>
            <a:ext cx="2834640" cy="256032"/>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4+ cores (8 recommended)</a:t>
            </a:r>
            <a:endParaRPr lang="en-US" sz="1100" dirty="0"/>
          </a:p>
        </p:txBody>
      </p:sp>
      <p:sp>
        <p:nvSpPr>
          <p:cNvPr id="9" name="Shape 7"/>
          <p:cNvSpPr/>
          <p:nvPr/>
        </p:nvSpPr>
        <p:spPr>
          <a:xfrm>
            <a:off x="384048" y="1645920"/>
            <a:ext cx="4160520" cy="384048"/>
          </a:xfrm>
          <a:prstGeom prst="rect">
            <a:avLst/>
          </a:prstGeom>
          <a:solidFill>
            <a:srgbClr val="FFFFFF"/>
          </a:solidFill>
          <a:ln w="6350">
            <a:solidFill>
              <a:srgbClr val="D0DFF0"/>
            </a:solidFill>
            <a:prstDash val="solid"/>
          </a:ln>
        </p:spPr>
        <p:txBody>
          <a:bodyPr/>
          <a:lstStyle/>
          <a:p>
            <a:endParaRPr lang="en-US"/>
          </a:p>
        </p:txBody>
      </p:sp>
      <p:sp>
        <p:nvSpPr>
          <p:cNvPr id="10" name="Text 8"/>
          <p:cNvSpPr/>
          <p:nvPr/>
        </p:nvSpPr>
        <p:spPr>
          <a:xfrm>
            <a:off x="512064" y="1709928"/>
            <a:ext cx="1005840" cy="25603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RAM:</a:t>
            </a:r>
            <a:endParaRPr lang="en-US" sz="1100" dirty="0"/>
          </a:p>
        </p:txBody>
      </p:sp>
      <p:sp>
        <p:nvSpPr>
          <p:cNvPr id="11" name="Text 9"/>
          <p:cNvSpPr/>
          <p:nvPr/>
        </p:nvSpPr>
        <p:spPr>
          <a:xfrm>
            <a:off x="1572768" y="1709928"/>
            <a:ext cx="2834640" cy="256032"/>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16 GB minimum (32 GB ideal)</a:t>
            </a:r>
            <a:endParaRPr lang="en-US" sz="1100" dirty="0"/>
          </a:p>
        </p:txBody>
      </p:sp>
      <p:sp>
        <p:nvSpPr>
          <p:cNvPr id="12" name="Shape 10"/>
          <p:cNvSpPr/>
          <p:nvPr/>
        </p:nvSpPr>
        <p:spPr>
          <a:xfrm>
            <a:off x="384048" y="2121408"/>
            <a:ext cx="4160520" cy="384048"/>
          </a:xfrm>
          <a:prstGeom prst="rect">
            <a:avLst/>
          </a:prstGeom>
          <a:solidFill>
            <a:srgbClr val="FFFFFF"/>
          </a:solidFill>
          <a:ln w="6350">
            <a:solidFill>
              <a:srgbClr val="D0DFF0"/>
            </a:solidFill>
            <a:prstDash val="solid"/>
          </a:ln>
        </p:spPr>
        <p:txBody>
          <a:bodyPr/>
          <a:lstStyle/>
          <a:p>
            <a:endParaRPr lang="en-US"/>
          </a:p>
        </p:txBody>
      </p:sp>
      <p:sp>
        <p:nvSpPr>
          <p:cNvPr id="13" name="Text 11"/>
          <p:cNvSpPr/>
          <p:nvPr/>
        </p:nvSpPr>
        <p:spPr>
          <a:xfrm>
            <a:off x="512064" y="2185416"/>
            <a:ext cx="1005840" cy="25603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Disk:</a:t>
            </a:r>
            <a:endParaRPr lang="en-US" sz="1100" dirty="0"/>
          </a:p>
        </p:txBody>
      </p:sp>
      <p:sp>
        <p:nvSpPr>
          <p:cNvPr id="14" name="Text 12"/>
          <p:cNvSpPr/>
          <p:nvPr/>
        </p:nvSpPr>
        <p:spPr>
          <a:xfrm>
            <a:off x="1572768" y="2185416"/>
            <a:ext cx="2834640" cy="256032"/>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100 GB free (SSD preferred)</a:t>
            </a:r>
            <a:endParaRPr lang="en-US" sz="1100" dirty="0"/>
          </a:p>
        </p:txBody>
      </p:sp>
      <p:sp>
        <p:nvSpPr>
          <p:cNvPr id="15" name="Shape 13"/>
          <p:cNvSpPr/>
          <p:nvPr/>
        </p:nvSpPr>
        <p:spPr>
          <a:xfrm>
            <a:off x="384048" y="2596896"/>
            <a:ext cx="4160520" cy="384048"/>
          </a:xfrm>
          <a:prstGeom prst="rect">
            <a:avLst/>
          </a:prstGeom>
          <a:solidFill>
            <a:srgbClr val="FFFFFF"/>
          </a:solidFill>
          <a:ln w="6350">
            <a:solidFill>
              <a:srgbClr val="D0DFF0"/>
            </a:solidFill>
            <a:prstDash val="solid"/>
          </a:ln>
        </p:spPr>
        <p:txBody>
          <a:bodyPr/>
          <a:lstStyle/>
          <a:p>
            <a:endParaRPr lang="en-US"/>
          </a:p>
        </p:txBody>
      </p:sp>
      <p:sp>
        <p:nvSpPr>
          <p:cNvPr id="16" name="Text 14"/>
          <p:cNvSpPr/>
          <p:nvPr/>
        </p:nvSpPr>
        <p:spPr>
          <a:xfrm>
            <a:off x="512064" y="2660904"/>
            <a:ext cx="1005840" cy="25603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OS:</a:t>
            </a:r>
            <a:endParaRPr lang="en-US" sz="1100" dirty="0"/>
          </a:p>
        </p:txBody>
      </p:sp>
      <p:sp>
        <p:nvSpPr>
          <p:cNvPr id="17" name="Text 15"/>
          <p:cNvSpPr/>
          <p:nvPr/>
        </p:nvSpPr>
        <p:spPr>
          <a:xfrm>
            <a:off x="1572768" y="2660904"/>
            <a:ext cx="2834640" cy="256032"/>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Windows 10/11, macOS, or Linux</a:t>
            </a:r>
            <a:endParaRPr lang="en-US" sz="1100" dirty="0"/>
          </a:p>
        </p:txBody>
      </p:sp>
      <p:sp>
        <p:nvSpPr>
          <p:cNvPr id="18" name="Shape 16"/>
          <p:cNvSpPr/>
          <p:nvPr/>
        </p:nvSpPr>
        <p:spPr>
          <a:xfrm>
            <a:off x="384048" y="3072384"/>
            <a:ext cx="4160520" cy="384048"/>
          </a:xfrm>
          <a:prstGeom prst="rect">
            <a:avLst/>
          </a:prstGeom>
          <a:solidFill>
            <a:srgbClr val="FFFFFF"/>
          </a:solidFill>
          <a:ln w="6350">
            <a:solidFill>
              <a:srgbClr val="D0DFF0"/>
            </a:solidFill>
            <a:prstDash val="solid"/>
          </a:ln>
        </p:spPr>
        <p:txBody>
          <a:bodyPr/>
          <a:lstStyle/>
          <a:p>
            <a:endParaRPr lang="en-US"/>
          </a:p>
        </p:txBody>
      </p:sp>
      <p:sp>
        <p:nvSpPr>
          <p:cNvPr id="19" name="Text 17"/>
          <p:cNvSpPr/>
          <p:nvPr/>
        </p:nvSpPr>
        <p:spPr>
          <a:xfrm>
            <a:off x="512064" y="3136392"/>
            <a:ext cx="1005840" cy="25603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Hypervisor:</a:t>
            </a:r>
            <a:endParaRPr lang="en-US" sz="1100" dirty="0"/>
          </a:p>
        </p:txBody>
      </p:sp>
      <p:sp>
        <p:nvSpPr>
          <p:cNvPr id="20" name="Text 18"/>
          <p:cNvSpPr/>
          <p:nvPr/>
        </p:nvSpPr>
        <p:spPr>
          <a:xfrm>
            <a:off x="1572768" y="3136392"/>
            <a:ext cx="2834640" cy="256032"/>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VMware Workstation/Fusion or VirtualBox 7+</a:t>
            </a:r>
            <a:endParaRPr lang="en-US" sz="1100" dirty="0"/>
          </a:p>
        </p:txBody>
      </p:sp>
      <p:sp>
        <p:nvSpPr>
          <p:cNvPr id="21" name="Text 19"/>
          <p:cNvSpPr/>
          <p:nvPr/>
        </p:nvSpPr>
        <p:spPr>
          <a:xfrm>
            <a:off x="4956048" y="804672"/>
            <a:ext cx="38404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Two VMs You Will Build</a:t>
            </a:r>
            <a:endParaRPr lang="en-US" sz="1400" dirty="0"/>
          </a:p>
        </p:txBody>
      </p:sp>
      <p:sp>
        <p:nvSpPr>
          <p:cNvPr id="22" name="Shape 20"/>
          <p:cNvSpPr/>
          <p:nvPr/>
        </p:nvSpPr>
        <p:spPr>
          <a:xfrm>
            <a:off x="4956048" y="1170432"/>
            <a:ext cx="3840480" cy="1572768"/>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21"/>
          <p:cNvSpPr/>
          <p:nvPr/>
        </p:nvSpPr>
        <p:spPr>
          <a:xfrm>
            <a:off x="4956048" y="1170432"/>
            <a:ext cx="3840480" cy="457200"/>
          </a:xfrm>
          <a:prstGeom prst="rect">
            <a:avLst/>
          </a:prstGeom>
          <a:solidFill>
            <a:srgbClr val="2E75B6"/>
          </a:solidFill>
          <a:ln/>
        </p:spPr>
        <p:txBody>
          <a:bodyPr/>
          <a:lstStyle/>
          <a:p>
            <a:endParaRPr lang="en-US"/>
          </a:p>
        </p:txBody>
      </p:sp>
      <p:sp>
        <p:nvSpPr>
          <p:cNvPr id="24" name="Text 22"/>
          <p:cNvSpPr/>
          <p:nvPr/>
        </p:nvSpPr>
        <p:spPr>
          <a:xfrm>
            <a:off x="5102352" y="1207008"/>
            <a:ext cx="3566160" cy="402336"/>
          </a:xfrm>
          <a:prstGeom prst="rect">
            <a:avLst/>
          </a:prstGeom>
          <a:noFill/>
          <a:ln/>
        </p:spPr>
        <p:txBody>
          <a:bodyPr wrap="square" lIns="0" tIns="0" rIns="0" bIns="0" rtlCol="0" anchor="ctr"/>
          <a:lstStyle/>
          <a:p>
            <a:pPr marL="0" indent="0">
              <a:buNone/>
            </a:pPr>
            <a:r>
              <a:rPr lang="en-US" sz="900" kern="0" spc="100" dirty="0">
                <a:solidFill>
                  <a:srgbClr val="AADDFF"/>
                </a:solidFill>
                <a:latin typeface="Calibri" pitchFamily="34" charset="0"/>
                <a:ea typeface="Calibri" pitchFamily="34" charset="-122"/>
                <a:cs typeface="Calibri" pitchFamily="34" charset="-120"/>
              </a:rPr>
              <a:t>Primary Server  </a:t>
            </a:r>
            <a:endParaRPr lang="en-US" sz="900" dirty="0"/>
          </a:p>
          <a:p>
            <a:pPr marL="0" indent="0">
              <a:buNone/>
            </a:pPr>
            <a:r>
              <a:rPr lang="en-US" sz="1400" b="1" dirty="0">
                <a:solidFill>
                  <a:srgbClr val="FFFFFF"/>
                </a:solidFill>
                <a:latin typeface="Calibri" pitchFamily="34" charset="0"/>
                <a:ea typeface="Calibri" pitchFamily="34" charset="-122"/>
                <a:cs typeface="Calibri" pitchFamily="34" charset="-120"/>
              </a:rPr>
              <a:t>VM-1: Rocky Linux 9</a:t>
            </a:r>
            <a:endParaRPr lang="en-US" sz="900" dirty="0"/>
          </a:p>
        </p:txBody>
      </p:sp>
      <p:sp>
        <p:nvSpPr>
          <p:cNvPr id="25" name="Text 23"/>
          <p:cNvSpPr/>
          <p:nvPr/>
        </p:nvSpPr>
        <p:spPr>
          <a:xfrm>
            <a:off x="5102352" y="1719072"/>
            <a:ext cx="3566160"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  2 vCPU  ·  4 GB RAM  ·  40 GB disk</a:t>
            </a:r>
            <a:endParaRPr lang="en-US" sz="1100" dirty="0"/>
          </a:p>
        </p:txBody>
      </p:sp>
      <p:sp>
        <p:nvSpPr>
          <p:cNvPr id="26" name="Text 24"/>
          <p:cNvSpPr/>
          <p:nvPr/>
        </p:nvSpPr>
        <p:spPr>
          <a:xfrm>
            <a:off x="5102352" y="2039112"/>
            <a:ext cx="3566160"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  NAT + Host-Only NICs</a:t>
            </a:r>
            <a:endParaRPr lang="en-US" sz="1100" dirty="0"/>
          </a:p>
        </p:txBody>
      </p:sp>
      <p:sp>
        <p:nvSpPr>
          <p:cNvPr id="27" name="Text 25"/>
          <p:cNvSpPr/>
          <p:nvPr/>
        </p:nvSpPr>
        <p:spPr>
          <a:xfrm>
            <a:off x="5102352" y="2359152"/>
            <a:ext cx="3566160"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  SSH enabled, no GUI</a:t>
            </a:r>
            <a:endParaRPr lang="en-US" sz="1100" dirty="0"/>
          </a:p>
        </p:txBody>
      </p:sp>
      <p:sp>
        <p:nvSpPr>
          <p:cNvPr id="28" name="Shape 26"/>
          <p:cNvSpPr/>
          <p:nvPr/>
        </p:nvSpPr>
        <p:spPr>
          <a:xfrm>
            <a:off x="4956048" y="2999232"/>
            <a:ext cx="3840480" cy="1572768"/>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9" name="Shape 27"/>
          <p:cNvSpPr/>
          <p:nvPr/>
        </p:nvSpPr>
        <p:spPr>
          <a:xfrm>
            <a:off x="4956048" y="2999232"/>
            <a:ext cx="3840480" cy="457200"/>
          </a:xfrm>
          <a:prstGeom prst="rect">
            <a:avLst/>
          </a:prstGeom>
          <a:solidFill>
            <a:srgbClr val="1F6B75"/>
          </a:solidFill>
          <a:ln/>
        </p:spPr>
        <p:txBody>
          <a:bodyPr/>
          <a:lstStyle/>
          <a:p>
            <a:endParaRPr lang="en-US"/>
          </a:p>
        </p:txBody>
      </p:sp>
      <p:sp>
        <p:nvSpPr>
          <p:cNvPr id="30" name="Text 28"/>
          <p:cNvSpPr/>
          <p:nvPr/>
        </p:nvSpPr>
        <p:spPr>
          <a:xfrm>
            <a:off x="5102352" y="3035808"/>
            <a:ext cx="3566160" cy="402336"/>
          </a:xfrm>
          <a:prstGeom prst="rect">
            <a:avLst/>
          </a:prstGeom>
          <a:noFill/>
          <a:ln/>
        </p:spPr>
        <p:txBody>
          <a:bodyPr wrap="square" lIns="0" tIns="0" rIns="0" bIns="0" rtlCol="0" anchor="ctr"/>
          <a:lstStyle/>
          <a:p>
            <a:pPr marL="0" indent="0">
              <a:buNone/>
            </a:pPr>
            <a:r>
              <a:rPr lang="en-US" sz="900" kern="0" spc="100" dirty="0">
                <a:solidFill>
                  <a:srgbClr val="AADDFF"/>
                </a:solidFill>
                <a:latin typeface="Calibri" pitchFamily="34" charset="0"/>
                <a:ea typeface="Calibri" pitchFamily="34" charset="-122"/>
                <a:cs typeface="Calibri" pitchFamily="34" charset="-120"/>
              </a:rPr>
              <a:t>Secondary Server  </a:t>
            </a:r>
            <a:endParaRPr lang="en-US" sz="900" dirty="0"/>
          </a:p>
          <a:p>
            <a:pPr marL="0" indent="0">
              <a:buNone/>
            </a:pPr>
            <a:r>
              <a:rPr lang="en-US" sz="1400" b="1" dirty="0">
                <a:solidFill>
                  <a:srgbClr val="FFFFFF"/>
                </a:solidFill>
                <a:latin typeface="Calibri" pitchFamily="34" charset="0"/>
                <a:ea typeface="Calibri" pitchFamily="34" charset="-122"/>
                <a:cs typeface="Calibri" pitchFamily="34" charset="-120"/>
              </a:rPr>
              <a:t>VM-2: Ubuntu Server 22.04</a:t>
            </a:r>
            <a:endParaRPr lang="en-US" sz="900" dirty="0"/>
          </a:p>
        </p:txBody>
      </p:sp>
      <p:sp>
        <p:nvSpPr>
          <p:cNvPr id="31" name="Text 29"/>
          <p:cNvSpPr/>
          <p:nvPr/>
        </p:nvSpPr>
        <p:spPr>
          <a:xfrm>
            <a:off x="5102352" y="3547872"/>
            <a:ext cx="3566160"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  2 vCPU  ·  4 GB RAM  ·  40 GB disk</a:t>
            </a:r>
            <a:endParaRPr lang="en-US" sz="1100" dirty="0"/>
          </a:p>
        </p:txBody>
      </p:sp>
      <p:sp>
        <p:nvSpPr>
          <p:cNvPr id="32" name="Text 30"/>
          <p:cNvSpPr/>
          <p:nvPr/>
        </p:nvSpPr>
        <p:spPr>
          <a:xfrm>
            <a:off x="5102352" y="3867912"/>
            <a:ext cx="3566160"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  NAT + Host-Only NICs</a:t>
            </a:r>
            <a:endParaRPr lang="en-US" sz="1100" dirty="0"/>
          </a:p>
        </p:txBody>
      </p:sp>
      <p:sp>
        <p:nvSpPr>
          <p:cNvPr id="33" name="Text 31"/>
          <p:cNvSpPr/>
          <p:nvPr/>
        </p:nvSpPr>
        <p:spPr>
          <a:xfrm>
            <a:off x="5102352" y="4187952"/>
            <a:ext cx="3566160" cy="2743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  Minimal install, OpenSSH</a:t>
            </a:r>
            <a:endParaRPr lang="en-US" sz="1100" dirty="0"/>
          </a:p>
        </p:txBody>
      </p:sp>
      <p:sp>
        <p:nvSpPr>
          <p:cNvPr id="34" name="Text 32"/>
          <p:cNvSpPr/>
          <p:nvPr/>
        </p:nvSpPr>
        <p:spPr>
          <a:xfrm>
            <a:off x="384048" y="4754880"/>
            <a:ext cx="841248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Both VMs share a Host-Only network (192.168.56.0/24) for inter-VM communication</a:t>
            </a:r>
            <a:endParaRPr lang="en-US" sz="1000" dirty="0"/>
          </a:p>
        </p:txBody>
      </p:sp>
      <p:sp>
        <p:nvSpPr>
          <p:cNvPr id="35" name="Text 33"/>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CIS Controls v8 — Introduction</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Text 3"/>
          <p:cNvSpPr/>
          <p:nvPr/>
        </p:nvSpPr>
        <p:spPr>
          <a:xfrm>
            <a:off x="384048" y="804672"/>
            <a:ext cx="512064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What are the CIS Controls?</a:t>
            </a:r>
            <a:endParaRPr lang="en-US" sz="1400" dirty="0"/>
          </a:p>
        </p:txBody>
      </p:sp>
      <p:sp>
        <p:nvSpPr>
          <p:cNvPr id="6" name="Text 4"/>
          <p:cNvSpPr/>
          <p:nvPr/>
        </p:nvSpPr>
        <p:spPr>
          <a:xfrm>
            <a:off x="384048" y="1133856"/>
            <a:ext cx="5120640" cy="91440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A prioritized set of 18 safeguards developed by the Center for Internet Security (CIS) to defend against the most common cyber attacks. Used as a practical starting point for hardening before vendor-specific STIGs are applied.</a:t>
            </a:r>
            <a:endParaRPr lang="en-US" sz="1100" dirty="0"/>
          </a:p>
        </p:txBody>
      </p:sp>
      <p:sp>
        <p:nvSpPr>
          <p:cNvPr id="7" name="Text 5"/>
          <p:cNvSpPr/>
          <p:nvPr/>
        </p:nvSpPr>
        <p:spPr>
          <a:xfrm>
            <a:off x="384048" y="2157984"/>
            <a:ext cx="512064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CIS Benchmark Levels</a:t>
            </a:r>
            <a:endParaRPr lang="en-US" sz="1400" dirty="0"/>
          </a:p>
        </p:txBody>
      </p:sp>
      <p:sp>
        <p:nvSpPr>
          <p:cNvPr id="8" name="Shape 6"/>
          <p:cNvSpPr/>
          <p:nvPr/>
        </p:nvSpPr>
        <p:spPr>
          <a:xfrm>
            <a:off x="384048" y="2542032"/>
            <a:ext cx="5120640" cy="950976"/>
          </a:xfrm>
          <a:prstGeom prst="rect">
            <a:avLst/>
          </a:prstGeom>
          <a:solidFill>
            <a:srgbClr val="EBF3FB"/>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9" name="Shape 7"/>
          <p:cNvSpPr/>
          <p:nvPr/>
        </p:nvSpPr>
        <p:spPr>
          <a:xfrm>
            <a:off x="384048" y="2542032"/>
            <a:ext cx="822960" cy="950976"/>
          </a:xfrm>
          <a:prstGeom prst="rect">
            <a:avLst/>
          </a:prstGeom>
          <a:solidFill>
            <a:srgbClr val="2E75B6"/>
          </a:solidFill>
          <a:ln/>
        </p:spPr>
        <p:txBody>
          <a:bodyPr/>
          <a:lstStyle/>
          <a:p>
            <a:endParaRPr lang="en-US"/>
          </a:p>
        </p:txBody>
      </p:sp>
      <p:sp>
        <p:nvSpPr>
          <p:cNvPr id="10" name="Text 8"/>
          <p:cNvSpPr/>
          <p:nvPr/>
        </p:nvSpPr>
        <p:spPr>
          <a:xfrm>
            <a:off x="384048" y="2542032"/>
            <a:ext cx="822960" cy="9509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Level 1</a:t>
            </a:r>
            <a:endParaRPr lang="en-US" sz="1200" dirty="0"/>
          </a:p>
        </p:txBody>
      </p:sp>
      <p:sp>
        <p:nvSpPr>
          <p:cNvPr id="11" name="Text 9"/>
          <p:cNvSpPr/>
          <p:nvPr/>
        </p:nvSpPr>
        <p:spPr>
          <a:xfrm>
            <a:off x="1316736" y="2706624"/>
            <a:ext cx="4059936" cy="64008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Essential security settings — minimal performance impact. Recommended for all systems.</a:t>
            </a:r>
            <a:endParaRPr lang="en-US" sz="1100" dirty="0"/>
          </a:p>
        </p:txBody>
      </p:sp>
      <p:sp>
        <p:nvSpPr>
          <p:cNvPr id="12" name="Shape 10"/>
          <p:cNvSpPr/>
          <p:nvPr/>
        </p:nvSpPr>
        <p:spPr>
          <a:xfrm>
            <a:off x="384048" y="3621024"/>
            <a:ext cx="5120640" cy="950976"/>
          </a:xfrm>
          <a:prstGeom prst="rect">
            <a:avLst/>
          </a:prstGeom>
          <a:solidFill>
            <a:srgbClr val="EBF3FB"/>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1"/>
          <p:cNvSpPr/>
          <p:nvPr/>
        </p:nvSpPr>
        <p:spPr>
          <a:xfrm>
            <a:off x="384048" y="3621024"/>
            <a:ext cx="822960" cy="950976"/>
          </a:xfrm>
          <a:prstGeom prst="rect">
            <a:avLst/>
          </a:prstGeom>
          <a:solidFill>
            <a:srgbClr val="1F3864"/>
          </a:solidFill>
          <a:ln/>
        </p:spPr>
        <p:txBody>
          <a:bodyPr/>
          <a:lstStyle/>
          <a:p>
            <a:endParaRPr lang="en-US"/>
          </a:p>
        </p:txBody>
      </p:sp>
      <p:sp>
        <p:nvSpPr>
          <p:cNvPr id="14" name="Text 12"/>
          <p:cNvSpPr/>
          <p:nvPr/>
        </p:nvSpPr>
        <p:spPr>
          <a:xfrm>
            <a:off x="384048" y="3621024"/>
            <a:ext cx="822960" cy="9509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Level 2</a:t>
            </a:r>
            <a:endParaRPr lang="en-US" sz="1200" dirty="0"/>
          </a:p>
        </p:txBody>
      </p:sp>
      <p:sp>
        <p:nvSpPr>
          <p:cNvPr id="15" name="Text 13"/>
          <p:cNvSpPr/>
          <p:nvPr/>
        </p:nvSpPr>
        <p:spPr>
          <a:xfrm>
            <a:off x="1316736" y="3785616"/>
            <a:ext cx="4059936" cy="64008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Defense-in-depth settings — may impact usability. Recommended for high-security environments.</a:t>
            </a:r>
            <a:endParaRPr lang="en-US" sz="1100" dirty="0"/>
          </a:p>
        </p:txBody>
      </p:sp>
      <p:sp>
        <p:nvSpPr>
          <p:cNvPr id="16" name="Shape 14"/>
          <p:cNvSpPr/>
          <p:nvPr/>
        </p:nvSpPr>
        <p:spPr>
          <a:xfrm>
            <a:off x="5650992" y="804672"/>
            <a:ext cx="3145536" cy="4206240"/>
          </a:xfrm>
          <a:prstGeom prst="rect">
            <a:avLst/>
          </a:prstGeom>
          <a:solidFill>
            <a:srgbClr val="1F3864"/>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7" name="Text 15"/>
          <p:cNvSpPr/>
          <p:nvPr/>
        </p:nvSpPr>
        <p:spPr>
          <a:xfrm>
            <a:off x="5650992" y="841248"/>
            <a:ext cx="3145536" cy="292608"/>
          </a:xfrm>
          <a:prstGeom prst="rect">
            <a:avLst/>
          </a:prstGeom>
          <a:noFill/>
          <a:ln/>
        </p:spPr>
        <p:txBody>
          <a:bodyPr wrap="square" lIns="0" tIns="0" rIns="0" bIns="0" rtlCol="0" anchor="ctr"/>
          <a:lstStyle/>
          <a:p>
            <a:pPr marL="0" indent="0" algn="ctr">
              <a:buNone/>
            </a:pPr>
            <a:r>
              <a:rPr lang="en-US" sz="900" b="1" kern="0" spc="150" dirty="0">
                <a:solidFill>
                  <a:srgbClr val="BDD7EE"/>
                </a:solidFill>
                <a:latin typeface="Calibri" pitchFamily="34" charset="0"/>
                <a:ea typeface="Calibri" pitchFamily="34" charset="-122"/>
                <a:cs typeface="Calibri" pitchFamily="34" charset="-120"/>
              </a:rPr>
              <a:t>18 CIS SAFEGUARD GROUPS</a:t>
            </a:r>
            <a:endParaRPr lang="en-US" sz="900" dirty="0"/>
          </a:p>
        </p:txBody>
      </p:sp>
      <p:sp>
        <p:nvSpPr>
          <p:cNvPr id="18" name="Text 16"/>
          <p:cNvSpPr/>
          <p:nvPr/>
        </p:nvSpPr>
        <p:spPr>
          <a:xfrm>
            <a:off x="5760720" y="1188720"/>
            <a:ext cx="2926080" cy="3749040"/>
          </a:xfrm>
          <a:prstGeom prst="rect">
            <a:avLst/>
          </a:prstGeom>
          <a:noFill/>
          <a:ln/>
        </p:spPr>
        <p:txBody>
          <a:bodyPr wrap="square" lIns="0" tIns="0" rIns="0" bIns="0" rtlCol="0" anchor="t"/>
          <a:lstStyle/>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1  Inventory of Enterprise Assets</a:t>
            </a:r>
            <a:endParaRPr lang="en-US" sz="900" dirty="0"/>
          </a:p>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2  Inventory of Software Assets</a:t>
            </a:r>
            <a:endParaRPr lang="en-US" sz="900" dirty="0"/>
          </a:p>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3  Data Protection</a:t>
            </a:r>
            <a:endParaRPr lang="en-US" sz="900" dirty="0"/>
          </a:p>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4  Secure Configuration</a:t>
            </a:r>
            <a:endParaRPr lang="en-US" sz="900" dirty="0"/>
          </a:p>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5  Account Management</a:t>
            </a:r>
            <a:endParaRPr lang="en-US" sz="900" dirty="0"/>
          </a:p>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6  Access Control Management</a:t>
            </a:r>
            <a:endParaRPr lang="en-US" sz="900" dirty="0"/>
          </a:p>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7  Continuous Vulnerability Mgmt</a:t>
            </a:r>
            <a:endParaRPr lang="en-US" sz="900" dirty="0"/>
          </a:p>
          <a:p>
            <a:pPr marL="0" indent="0">
              <a:spcAft>
                <a:spcPts val="100"/>
              </a:spcAft>
              <a:buNone/>
            </a:pPr>
            <a:r>
              <a:rPr lang="en-US" sz="900" dirty="0">
                <a:solidFill>
                  <a:srgbClr val="BDD7EE"/>
                </a:solidFill>
                <a:latin typeface="Calibri" pitchFamily="34" charset="0"/>
                <a:ea typeface="Calibri" pitchFamily="34" charset="-122"/>
                <a:cs typeface="Calibri" pitchFamily="34" charset="-120"/>
              </a:rPr>
              <a:t>8  Audit Log Management</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9  Email &amp; Web Browser Protection</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10 Malware Defenses</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11 Data Recovery</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12 Network Infrastructure Mgmt</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13 Network Monitoring &amp; Defense</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14 Security Awareness Training</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15 Service Provider Management</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16 Application Software Security</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17 Incident Response Management</a:t>
            </a:r>
            <a:endParaRPr lang="en-US" sz="900" dirty="0"/>
          </a:p>
          <a:p>
            <a:pPr marL="0" indent="0">
              <a:spcAft>
                <a:spcPts val="100"/>
              </a:spcAft>
              <a:buNone/>
            </a:pPr>
            <a:r>
              <a:rPr lang="en-US" sz="900" dirty="0">
                <a:solidFill>
                  <a:srgbClr val="8BACD4"/>
                </a:solidFill>
                <a:latin typeface="Calibri" pitchFamily="34" charset="0"/>
                <a:ea typeface="Calibri" pitchFamily="34" charset="-122"/>
                <a:cs typeface="Calibri" pitchFamily="34" charset="-120"/>
              </a:rPr>
              <a:t>18 Penetration Testing</a:t>
            </a:r>
            <a:endParaRPr lang="en-US" sz="900" dirty="0"/>
          </a:p>
        </p:txBody>
      </p:sp>
      <p:sp>
        <p:nvSpPr>
          <p:cNvPr id="19" name="Text 17"/>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DISA STIGs — Security Technical Implementation Guides</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Text 3"/>
          <p:cNvSpPr/>
          <p:nvPr/>
        </p:nvSpPr>
        <p:spPr>
          <a:xfrm>
            <a:off x="384048" y="804672"/>
            <a:ext cx="512064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What is a STIG?</a:t>
            </a:r>
            <a:endParaRPr lang="en-US" sz="1400" dirty="0"/>
          </a:p>
        </p:txBody>
      </p:sp>
      <p:sp>
        <p:nvSpPr>
          <p:cNvPr id="6" name="Text 4"/>
          <p:cNvSpPr/>
          <p:nvPr/>
        </p:nvSpPr>
        <p:spPr>
          <a:xfrm>
            <a:off x="384048" y="1133856"/>
            <a:ext cx="5120640" cy="731520"/>
          </a:xfrm>
          <a:prstGeom prst="rect">
            <a:avLst/>
          </a:prstGeom>
          <a:noFill/>
          <a:ln/>
        </p:spPr>
        <p:txBody>
          <a:bodyPr wrap="square" lIns="0" tIns="0" rIns="0" bIns="0" rtlCol="0" anchor="ctr"/>
          <a:lstStyle/>
          <a:p>
            <a:pPr marL="0" indent="0">
              <a:buNone/>
            </a:pPr>
            <a:r>
              <a:rPr lang="en-US" sz="1100" dirty="0">
                <a:solidFill>
                  <a:srgbClr val="1A2744"/>
                </a:solidFill>
                <a:latin typeface="Calibri" pitchFamily="34" charset="0"/>
                <a:ea typeface="Calibri" pitchFamily="34" charset="-122"/>
                <a:cs typeface="Calibri" pitchFamily="34" charset="-120"/>
              </a:rPr>
              <a:t>STIGs are configuration standards published by the Defense Information Systems Agency (DISA). They specify precise settings for DoD-approved secure configurations of operating systems, applications, and network devices.</a:t>
            </a:r>
            <a:endParaRPr lang="en-US" sz="1100" dirty="0"/>
          </a:p>
        </p:txBody>
      </p:sp>
      <p:sp>
        <p:nvSpPr>
          <p:cNvPr id="7" name="Shape 5"/>
          <p:cNvSpPr/>
          <p:nvPr/>
        </p:nvSpPr>
        <p:spPr>
          <a:xfrm>
            <a:off x="384048" y="1975104"/>
            <a:ext cx="45720" cy="402336"/>
          </a:xfrm>
          <a:prstGeom prst="rect">
            <a:avLst/>
          </a:prstGeom>
          <a:solidFill>
            <a:srgbClr val="2E75B6"/>
          </a:solidFill>
          <a:ln/>
        </p:spPr>
        <p:txBody>
          <a:bodyPr/>
          <a:lstStyle/>
          <a:p>
            <a:endParaRPr lang="en-US"/>
          </a:p>
        </p:txBody>
      </p:sp>
      <p:sp>
        <p:nvSpPr>
          <p:cNvPr id="8" name="Text 6"/>
          <p:cNvSpPr/>
          <p:nvPr/>
        </p:nvSpPr>
        <p:spPr>
          <a:xfrm>
            <a:off x="530352" y="2011680"/>
            <a:ext cx="4892040" cy="34747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Format: </a:t>
            </a:r>
            <a:r>
              <a:rPr lang="en-US" sz="1100" dirty="0">
                <a:solidFill>
                  <a:srgbClr val="1A2744"/>
                </a:solidFill>
                <a:latin typeface="Calibri" pitchFamily="34" charset="0"/>
                <a:ea typeface="Calibri" pitchFamily="34" charset="-122"/>
                <a:cs typeface="Calibri" pitchFamily="34" charset="-120"/>
              </a:rPr>
              <a:t>XCCDF (XML) — machine-parseable; viewed with STIG Viewer</a:t>
            </a:r>
            <a:endParaRPr lang="en-US" sz="1100" dirty="0"/>
          </a:p>
        </p:txBody>
      </p:sp>
      <p:sp>
        <p:nvSpPr>
          <p:cNvPr id="9" name="Shape 7"/>
          <p:cNvSpPr/>
          <p:nvPr/>
        </p:nvSpPr>
        <p:spPr>
          <a:xfrm>
            <a:off x="384048" y="2505456"/>
            <a:ext cx="45720" cy="402336"/>
          </a:xfrm>
          <a:prstGeom prst="rect">
            <a:avLst/>
          </a:prstGeom>
          <a:solidFill>
            <a:srgbClr val="2E75B6"/>
          </a:solidFill>
          <a:ln/>
        </p:spPr>
        <p:txBody>
          <a:bodyPr/>
          <a:lstStyle/>
          <a:p>
            <a:endParaRPr lang="en-US"/>
          </a:p>
        </p:txBody>
      </p:sp>
      <p:sp>
        <p:nvSpPr>
          <p:cNvPr id="10" name="Text 8"/>
          <p:cNvSpPr/>
          <p:nvPr/>
        </p:nvSpPr>
        <p:spPr>
          <a:xfrm>
            <a:off x="530352" y="2542032"/>
            <a:ext cx="4892040" cy="34747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Coverage: </a:t>
            </a:r>
            <a:r>
              <a:rPr lang="en-US" sz="1100" dirty="0">
                <a:solidFill>
                  <a:srgbClr val="1A2744"/>
                </a:solidFill>
                <a:latin typeface="Calibri" pitchFamily="34" charset="0"/>
                <a:ea typeface="Calibri" pitchFamily="34" charset="-122"/>
                <a:cs typeface="Calibri" pitchFamily="34" charset="-120"/>
              </a:rPr>
              <a:t>OS, applications, databases, network devices</a:t>
            </a:r>
            <a:endParaRPr lang="en-US" sz="1100" dirty="0"/>
          </a:p>
        </p:txBody>
      </p:sp>
      <p:sp>
        <p:nvSpPr>
          <p:cNvPr id="11" name="Shape 9"/>
          <p:cNvSpPr/>
          <p:nvPr/>
        </p:nvSpPr>
        <p:spPr>
          <a:xfrm>
            <a:off x="384048" y="3035808"/>
            <a:ext cx="45720" cy="402336"/>
          </a:xfrm>
          <a:prstGeom prst="rect">
            <a:avLst/>
          </a:prstGeom>
          <a:solidFill>
            <a:srgbClr val="2E75B6"/>
          </a:solidFill>
          <a:ln/>
        </p:spPr>
        <p:txBody>
          <a:bodyPr/>
          <a:lstStyle/>
          <a:p>
            <a:endParaRPr lang="en-US"/>
          </a:p>
        </p:txBody>
      </p:sp>
      <p:sp>
        <p:nvSpPr>
          <p:cNvPr id="12" name="Text 10"/>
          <p:cNvSpPr/>
          <p:nvPr/>
        </p:nvSpPr>
        <p:spPr>
          <a:xfrm>
            <a:off x="530352" y="3072384"/>
            <a:ext cx="4892040" cy="34747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Update cadence: </a:t>
            </a:r>
            <a:r>
              <a:rPr lang="en-US" sz="1100" dirty="0">
                <a:solidFill>
                  <a:srgbClr val="1A2744"/>
                </a:solidFill>
                <a:latin typeface="Calibri" pitchFamily="34" charset="0"/>
                <a:ea typeface="Calibri" pitchFamily="34" charset="-122"/>
                <a:cs typeface="Calibri" pitchFamily="34" charset="-120"/>
              </a:rPr>
              <a:t>Quarterly releases; track via DISA Tracker</a:t>
            </a:r>
            <a:endParaRPr lang="en-US" sz="1100" dirty="0"/>
          </a:p>
        </p:txBody>
      </p:sp>
      <p:sp>
        <p:nvSpPr>
          <p:cNvPr id="13" name="Shape 11"/>
          <p:cNvSpPr/>
          <p:nvPr/>
        </p:nvSpPr>
        <p:spPr>
          <a:xfrm>
            <a:off x="384048" y="3566160"/>
            <a:ext cx="45720" cy="402336"/>
          </a:xfrm>
          <a:prstGeom prst="rect">
            <a:avLst/>
          </a:prstGeom>
          <a:solidFill>
            <a:srgbClr val="2E75B6"/>
          </a:solidFill>
          <a:ln/>
        </p:spPr>
        <p:txBody>
          <a:bodyPr/>
          <a:lstStyle/>
          <a:p>
            <a:endParaRPr lang="en-US"/>
          </a:p>
        </p:txBody>
      </p:sp>
      <p:sp>
        <p:nvSpPr>
          <p:cNvPr id="14" name="Text 12"/>
          <p:cNvSpPr/>
          <p:nvPr/>
        </p:nvSpPr>
        <p:spPr>
          <a:xfrm>
            <a:off x="530352" y="3602736"/>
            <a:ext cx="4892040" cy="347472"/>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Tool: </a:t>
            </a:r>
            <a:r>
              <a:rPr lang="en-US" sz="1100" dirty="0">
                <a:solidFill>
                  <a:srgbClr val="1A2744"/>
                </a:solidFill>
                <a:latin typeface="Calibri" pitchFamily="34" charset="0"/>
                <a:ea typeface="Calibri" pitchFamily="34" charset="-122"/>
                <a:cs typeface="Calibri" pitchFamily="34" charset="-120"/>
              </a:rPr>
              <a:t>STIG Viewer 3.x (free from public.cyber.mil)</a:t>
            </a:r>
            <a:endParaRPr lang="en-US" sz="1100" dirty="0"/>
          </a:p>
        </p:txBody>
      </p:sp>
      <p:sp>
        <p:nvSpPr>
          <p:cNvPr id="15" name="Text 13"/>
          <p:cNvSpPr/>
          <p:nvPr/>
        </p:nvSpPr>
        <p:spPr>
          <a:xfrm>
            <a:off x="5650992" y="804672"/>
            <a:ext cx="3145536"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Severity Categories (CAT)</a:t>
            </a:r>
            <a:endParaRPr lang="en-US" sz="1400" dirty="0"/>
          </a:p>
        </p:txBody>
      </p:sp>
      <p:sp>
        <p:nvSpPr>
          <p:cNvPr id="16" name="Shape 14"/>
          <p:cNvSpPr/>
          <p:nvPr/>
        </p:nvSpPr>
        <p:spPr>
          <a:xfrm>
            <a:off x="5650992" y="1207008"/>
            <a:ext cx="3145536" cy="1133856"/>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5"/>
          <p:cNvSpPr/>
          <p:nvPr/>
        </p:nvSpPr>
        <p:spPr>
          <a:xfrm>
            <a:off x="5650992" y="1207008"/>
            <a:ext cx="3145536" cy="347472"/>
          </a:xfrm>
          <a:prstGeom prst="rect">
            <a:avLst/>
          </a:prstGeom>
          <a:solidFill>
            <a:srgbClr val="7B2C2C"/>
          </a:solidFill>
          <a:ln/>
        </p:spPr>
        <p:txBody>
          <a:bodyPr/>
          <a:lstStyle/>
          <a:p>
            <a:endParaRPr lang="en-US"/>
          </a:p>
        </p:txBody>
      </p:sp>
      <p:sp>
        <p:nvSpPr>
          <p:cNvPr id="18" name="Text 16"/>
          <p:cNvSpPr/>
          <p:nvPr/>
        </p:nvSpPr>
        <p:spPr>
          <a:xfrm>
            <a:off x="5760720" y="1261872"/>
            <a:ext cx="2926080" cy="23774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 I  (HIGH)</a:t>
            </a:r>
            <a:endParaRPr lang="en-US" sz="1300" dirty="0"/>
          </a:p>
        </p:txBody>
      </p:sp>
      <p:sp>
        <p:nvSpPr>
          <p:cNvPr id="19" name="Text 17"/>
          <p:cNvSpPr/>
          <p:nvPr/>
        </p:nvSpPr>
        <p:spPr>
          <a:xfrm>
            <a:off x="5760720" y="1627632"/>
            <a:ext cx="2926080" cy="658368"/>
          </a:xfrm>
          <a:prstGeom prst="rect">
            <a:avLst/>
          </a:prstGeom>
          <a:noFill/>
          <a:ln/>
        </p:spPr>
        <p:txBody>
          <a:bodyPr wrap="square" lIns="0" tIns="0" rIns="0" bIns="0" rtlCol="0" anchor="t"/>
          <a:lstStyle/>
          <a:p>
            <a:pPr marL="0" indent="0">
              <a:buNone/>
            </a:pPr>
            <a:r>
              <a:rPr lang="en-US" sz="1000" dirty="0">
                <a:solidFill>
                  <a:srgbClr val="1A2744"/>
                </a:solidFill>
                <a:latin typeface="Calibri" pitchFamily="34" charset="0"/>
                <a:ea typeface="Calibri" pitchFamily="34" charset="-122"/>
                <a:cs typeface="Calibri" pitchFamily="34" charset="-120"/>
              </a:rPr>
              <a:t>High severity — immediate risk if not mitigated. Must fix first.</a:t>
            </a:r>
            <a:endParaRPr lang="en-US" sz="1000" dirty="0"/>
          </a:p>
        </p:txBody>
      </p:sp>
      <p:sp>
        <p:nvSpPr>
          <p:cNvPr id="20" name="Shape 18"/>
          <p:cNvSpPr/>
          <p:nvPr/>
        </p:nvSpPr>
        <p:spPr>
          <a:xfrm>
            <a:off x="5650992" y="2487168"/>
            <a:ext cx="3145536" cy="1133856"/>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1" name="Shape 19"/>
          <p:cNvSpPr/>
          <p:nvPr/>
        </p:nvSpPr>
        <p:spPr>
          <a:xfrm>
            <a:off x="5650992" y="2487168"/>
            <a:ext cx="3145536" cy="347472"/>
          </a:xfrm>
          <a:prstGeom prst="rect">
            <a:avLst/>
          </a:prstGeom>
          <a:solidFill>
            <a:srgbClr val="C55A11"/>
          </a:solidFill>
          <a:ln/>
        </p:spPr>
        <p:txBody>
          <a:bodyPr/>
          <a:lstStyle/>
          <a:p>
            <a:endParaRPr lang="en-US"/>
          </a:p>
        </p:txBody>
      </p:sp>
      <p:sp>
        <p:nvSpPr>
          <p:cNvPr id="22" name="Text 20"/>
          <p:cNvSpPr/>
          <p:nvPr/>
        </p:nvSpPr>
        <p:spPr>
          <a:xfrm>
            <a:off x="5760720" y="2542032"/>
            <a:ext cx="2926080" cy="23774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 II  (MEDIUM)</a:t>
            </a:r>
            <a:endParaRPr lang="en-US" sz="1300" dirty="0"/>
          </a:p>
        </p:txBody>
      </p:sp>
      <p:sp>
        <p:nvSpPr>
          <p:cNvPr id="23" name="Text 21"/>
          <p:cNvSpPr/>
          <p:nvPr/>
        </p:nvSpPr>
        <p:spPr>
          <a:xfrm>
            <a:off x="5760720" y="2907792"/>
            <a:ext cx="2926080" cy="658368"/>
          </a:xfrm>
          <a:prstGeom prst="rect">
            <a:avLst/>
          </a:prstGeom>
          <a:noFill/>
          <a:ln/>
        </p:spPr>
        <p:txBody>
          <a:bodyPr wrap="square" lIns="0" tIns="0" rIns="0" bIns="0" rtlCol="0" anchor="t"/>
          <a:lstStyle/>
          <a:p>
            <a:pPr marL="0" indent="0">
              <a:buNone/>
            </a:pPr>
            <a:r>
              <a:rPr lang="en-US" sz="1000" dirty="0">
                <a:solidFill>
                  <a:srgbClr val="1A2744"/>
                </a:solidFill>
                <a:latin typeface="Calibri" pitchFamily="34" charset="0"/>
                <a:ea typeface="Calibri" pitchFamily="34" charset="-122"/>
                <a:cs typeface="Calibri" pitchFamily="34" charset="-120"/>
              </a:rPr>
              <a:t>Medium severity — exploitable vulnerability that may impact operations.</a:t>
            </a:r>
            <a:endParaRPr lang="en-US" sz="1000" dirty="0"/>
          </a:p>
        </p:txBody>
      </p:sp>
      <p:sp>
        <p:nvSpPr>
          <p:cNvPr id="24" name="Shape 22"/>
          <p:cNvSpPr/>
          <p:nvPr/>
        </p:nvSpPr>
        <p:spPr>
          <a:xfrm>
            <a:off x="5650992" y="3767328"/>
            <a:ext cx="3145536" cy="1133856"/>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5" name="Shape 23"/>
          <p:cNvSpPr/>
          <p:nvPr/>
        </p:nvSpPr>
        <p:spPr>
          <a:xfrm>
            <a:off x="5650992" y="3767328"/>
            <a:ext cx="3145536" cy="347472"/>
          </a:xfrm>
          <a:prstGeom prst="rect">
            <a:avLst/>
          </a:prstGeom>
          <a:solidFill>
            <a:srgbClr val="2E75B6"/>
          </a:solidFill>
          <a:ln/>
        </p:spPr>
        <p:txBody>
          <a:bodyPr/>
          <a:lstStyle/>
          <a:p>
            <a:endParaRPr lang="en-US"/>
          </a:p>
        </p:txBody>
      </p:sp>
      <p:sp>
        <p:nvSpPr>
          <p:cNvPr id="26" name="Text 24"/>
          <p:cNvSpPr/>
          <p:nvPr/>
        </p:nvSpPr>
        <p:spPr>
          <a:xfrm>
            <a:off x="5760720" y="3822192"/>
            <a:ext cx="2926080" cy="23774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 III  (LOW)</a:t>
            </a:r>
            <a:endParaRPr lang="en-US" sz="1300" dirty="0"/>
          </a:p>
        </p:txBody>
      </p:sp>
      <p:sp>
        <p:nvSpPr>
          <p:cNvPr id="27" name="Text 25"/>
          <p:cNvSpPr/>
          <p:nvPr/>
        </p:nvSpPr>
        <p:spPr>
          <a:xfrm>
            <a:off x="5760720" y="4187952"/>
            <a:ext cx="2926080" cy="658368"/>
          </a:xfrm>
          <a:prstGeom prst="rect">
            <a:avLst/>
          </a:prstGeom>
          <a:noFill/>
          <a:ln/>
        </p:spPr>
        <p:txBody>
          <a:bodyPr wrap="square" lIns="0" tIns="0" rIns="0" bIns="0" rtlCol="0" anchor="t"/>
          <a:lstStyle/>
          <a:p>
            <a:pPr marL="0" indent="0">
              <a:buNone/>
            </a:pPr>
            <a:r>
              <a:rPr lang="en-US" sz="1000" dirty="0">
                <a:solidFill>
                  <a:srgbClr val="1A2744"/>
                </a:solidFill>
                <a:latin typeface="Calibri" pitchFamily="34" charset="0"/>
                <a:ea typeface="Calibri" pitchFamily="34" charset="-122"/>
                <a:cs typeface="Calibri" pitchFamily="34" charset="-120"/>
              </a:rPr>
              <a:t>Low severity — configuration weakness; fix to reduce attack surface.</a:t>
            </a:r>
            <a:endParaRPr lang="en-US" sz="1000" dirty="0"/>
          </a:p>
        </p:txBody>
      </p:sp>
      <p:sp>
        <p:nvSpPr>
          <p:cNvPr id="28" name="Text 26"/>
          <p:cNvSpPr/>
          <p:nvPr/>
        </p:nvSpPr>
        <p:spPr>
          <a:xfrm>
            <a:off x="384048" y="4754880"/>
            <a:ext cx="841248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This course uses both CIS Benchmarks (Level 1 &amp; 2) and DISA STIGs for hardening requirements.</a:t>
            </a:r>
            <a:endParaRPr lang="en-US" sz="1000" dirty="0"/>
          </a:p>
        </p:txBody>
      </p:sp>
      <p:sp>
        <p:nvSpPr>
          <p:cNvPr id="29" name="Text 27"/>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Course Toolchain Overview</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Shape 3"/>
          <p:cNvSpPr/>
          <p:nvPr/>
        </p:nvSpPr>
        <p:spPr>
          <a:xfrm>
            <a:off x="256032" y="786384"/>
            <a:ext cx="2706624" cy="1755648"/>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256032" y="786384"/>
            <a:ext cx="2706624" cy="54864"/>
          </a:xfrm>
          <a:prstGeom prst="rect">
            <a:avLst/>
          </a:prstGeom>
          <a:solidFill>
            <a:srgbClr val="2E75B6"/>
          </a:solidFill>
          <a:ln/>
        </p:spPr>
        <p:txBody>
          <a:bodyPr/>
          <a:lstStyle/>
          <a:p>
            <a:endParaRPr lang="en-US"/>
          </a:p>
        </p:txBody>
      </p:sp>
      <p:sp>
        <p:nvSpPr>
          <p:cNvPr id="7" name="Shape 5"/>
          <p:cNvSpPr/>
          <p:nvPr/>
        </p:nvSpPr>
        <p:spPr>
          <a:xfrm>
            <a:off x="393192" y="960120"/>
            <a:ext cx="603504" cy="603504"/>
          </a:xfrm>
          <a:prstGeom prst="ellipse">
            <a:avLst/>
          </a:prstGeom>
          <a:solidFill>
            <a:srgbClr val="2E75B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528980" y="1095908"/>
            <a:ext cx="331927" cy="331927"/>
          </a:xfrm>
          <a:prstGeom prst="rect">
            <a:avLst/>
          </a:prstGeom>
        </p:spPr>
      </p:pic>
      <p:sp>
        <p:nvSpPr>
          <p:cNvPr id="9" name="Text 6"/>
          <p:cNvSpPr/>
          <p:nvPr/>
        </p:nvSpPr>
        <p:spPr>
          <a:xfrm>
            <a:off x="1170432" y="987552"/>
            <a:ext cx="1682496" cy="64008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Ansible</a:t>
            </a:r>
            <a:endParaRPr lang="en-US" sz="1300" dirty="0"/>
          </a:p>
          <a:p>
            <a:pPr marL="0" indent="0">
              <a:buNone/>
            </a:pPr>
            <a:r>
              <a:rPr lang="en-US" sz="900" b="1" dirty="0">
                <a:solidFill>
                  <a:srgbClr val="2E75B6"/>
                </a:solidFill>
                <a:latin typeface="Calibri" pitchFamily="34" charset="0"/>
                <a:ea typeface="Calibri" pitchFamily="34" charset="-122"/>
                <a:cs typeface="Calibri" pitchFamily="34" charset="-120"/>
              </a:rPr>
              <a:t>Automation</a:t>
            </a:r>
            <a:endParaRPr lang="en-US" sz="1300" dirty="0"/>
          </a:p>
        </p:txBody>
      </p:sp>
      <p:sp>
        <p:nvSpPr>
          <p:cNvPr id="10" name="Text 7"/>
          <p:cNvSpPr/>
          <p:nvPr/>
        </p:nvSpPr>
        <p:spPr>
          <a:xfrm>
            <a:off x="402336" y="1755648"/>
            <a:ext cx="2432304" cy="73152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Agentless configuration management via YAML playbooks. Used to enforce hardened OS state at scale.</a:t>
            </a:r>
            <a:endParaRPr lang="en-US" sz="1000" dirty="0"/>
          </a:p>
        </p:txBody>
      </p:sp>
      <p:sp>
        <p:nvSpPr>
          <p:cNvPr id="11" name="Shape 8"/>
          <p:cNvSpPr/>
          <p:nvPr/>
        </p:nvSpPr>
        <p:spPr>
          <a:xfrm>
            <a:off x="3200400" y="786384"/>
            <a:ext cx="2706624" cy="1755648"/>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9"/>
          <p:cNvSpPr/>
          <p:nvPr/>
        </p:nvSpPr>
        <p:spPr>
          <a:xfrm>
            <a:off x="3200400" y="786384"/>
            <a:ext cx="2706624" cy="54864"/>
          </a:xfrm>
          <a:prstGeom prst="rect">
            <a:avLst/>
          </a:prstGeom>
          <a:solidFill>
            <a:srgbClr val="C55A11"/>
          </a:solidFill>
          <a:ln/>
        </p:spPr>
        <p:txBody>
          <a:bodyPr/>
          <a:lstStyle/>
          <a:p>
            <a:endParaRPr lang="en-US"/>
          </a:p>
        </p:txBody>
      </p:sp>
      <p:sp>
        <p:nvSpPr>
          <p:cNvPr id="13" name="Shape 10"/>
          <p:cNvSpPr/>
          <p:nvPr/>
        </p:nvSpPr>
        <p:spPr>
          <a:xfrm>
            <a:off x="3337560" y="960120"/>
            <a:ext cx="603504" cy="603504"/>
          </a:xfrm>
          <a:prstGeom prst="ellipse">
            <a:avLst/>
          </a:prstGeom>
          <a:solidFill>
            <a:srgbClr val="C55A1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473348" y="1095908"/>
            <a:ext cx="331927" cy="331927"/>
          </a:xfrm>
          <a:prstGeom prst="rect">
            <a:avLst/>
          </a:prstGeom>
        </p:spPr>
      </p:pic>
      <p:sp>
        <p:nvSpPr>
          <p:cNvPr id="15" name="Text 11"/>
          <p:cNvSpPr/>
          <p:nvPr/>
        </p:nvSpPr>
        <p:spPr>
          <a:xfrm>
            <a:off x="4114800" y="987552"/>
            <a:ext cx="1682496" cy="64008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Nessus Essentials</a:t>
            </a:r>
            <a:endParaRPr lang="en-US" sz="1300" dirty="0"/>
          </a:p>
          <a:p>
            <a:pPr marL="0" indent="0">
              <a:buNone/>
            </a:pPr>
            <a:r>
              <a:rPr lang="en-US" sz="900" b="1" dirty="0">
                <a:solidFill>
                  <a:srgbClr val="C55A11"/>
                </a:solidFill>
                <a:latin typeface="Calibri" pitchFamily="34" charset="0"/>
                <a:ea typeface="Calibri" pitchFamily="34" charset="-122"/>
                <a:cs typeface="Calibri" pitchFamily="34" charset="-120"/>
              </a:rPr>
              <a:t>Vulnerability Scanner</a:t>
            </a:r>
            <a:endParaRPr lang="en-US" sz="1300" dirty="0"/>
          </a:p>
        </p:txBody>
      </p:sp>
      <p:sp>
        <p:nvSpPr>
          <p:cNvPr id="16" name="Text 12"/>
          <p:cNvSpPr/>
          <p:nvPr/>
        </p:nvSpPr>
        <p:spPr>
          <a:xfrm>
            <a:off x="3346704" y="1755648"/>
            <a:ext cx="2432304" cy="73152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Plugin-based scanner. Identifies missing patches, misconfigs, and known CVEs across your lab VMs.</a:t>
            </a:r>
            <a:endParaRPr lang="en-US" sz="1000" dirty="0"/>
          </a:p>
        </p:txBody>
      </p:sp>
      <p:sp>
        <p:nvSpPr>
          <p:cNvPr id="17" name="Shape 13"/>
          <p:cNvSpPr/>
          <p:nvPr/>
        </p:nvSpPr>
        <p:spPr>
          <a:xfrm>
            <a:off x="6144768" y="786384"/>
            <a:ext cx="2706624" cy="1755648"/>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4"/>
          <p:cNvSpPr/>
          <p:nvPr/>
        </p:nvSpPr>
        <p:spPr>
          <a:xfrm>
            <a:off x="6144768" y="786384"/>
            <a:ext cx="2706624" cy="54864"/>
          </a:xfrm>
          <a:prstGeom prst="rect">
            <a:avLst/>
          </a:prstGeom>
          <a:solidFill>
            <a:srgbClr val="1F3864"/>
          </a:solidFill>
          <a:ln/>
        </p:spPr>
        <p:txBody>
          <a:bodyPr/>
          <a:lstStyle/>
          <a:p>
            <a:endParaRPr lang="en-US"/>
          </a:p>
        </p:txBody>
      </p:sp>
      <p:sp>
        <p:nvSpPr>
          <p:cNvPr id="19" name="Shape 15"/>
          <p:cNvSpPr/>
          <p:nvPr/>
        </p:nvSpPr>
        <p:spPr>
          <a:xfrm>
            <a:off x="6281928" y="960120"/>
            <a:ext cx="603504" cy="603504"/>
          </a:xfrm>
          <a:prstGeom prst="ellipse">
            <a:avLst/>
          </a:prstGeom>
          <a:solidFill>
            <a:srgbClr val="1F386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417716" y="1095908"/>
            <a:ext cx="331927" cy="331927"/>
          </a:xfrm>
          <a:prstGeom prst="rect">
            <a:avLst/>
          </a:prstGeom>
        </p:spPr>
      </p:pic>
      <p:sp>
        <p:nvSpPr>
          <p:cNvPr id="21" name="Text 16"/>
          <p:cNvSpPr/>
          <p:nvPr/>
        </p:nvSpPr>
        <p:spPr>
          <a:xfrm>
            <a:off x="7059168" y="987552"/>
            <a:ext cx="1682496" cy="64008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STIG Viewer 3.x</a:t>
            </a:r>
            <a:endParaRPr lang="en-US" sz="1300" dirty="0"/>
          </a:p>
          <a:p>
            <a:pPr marL="0" indent="0">
              <a:buNone/>
            </a:pPr>
            <a:r>
              <a:rPr lang="en-US" sz="900" b="1" dirty="0">
                <a:solidFill>
                  <a:srgbClr val="1F3864"/>
                </a:solidFill>
                <a:latin typeface="Calibri" pitchFamily="34" charset="0"/>
                <a:ea typeface="Calibri" pitchFamily="34" charset="-122"/>
                <a:cs typeface="Calibri" pitchFamily="34" charset="-120"/>
              </a:rPr>
              <a:t>STIG Checker</a:t>
            </a:r>
            <a:endParaRPr lang="en-US" sz="1300" dirty="0"/>
          </a:p>
        </p:txBody>
      </p:sp>
      <p:sp>
        <p:nvSpPr>
          <p:cNvPr id="22" name="Text 17"/>
          <p:cNvSpPr/>
          <p:nvPr/>
        </p:nvSpPr>
        <p:spPr>
          <a:xfrm>
            <a:off x="6291072" y="1755648"/>
            <a:ext cx="2432304" cy="73152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DISA-published desktop tool. Opens XCCDF checklists, tracks CAT I/II/III findings per host.</a:t>
            </a:r>
            <a:endParaRPr lang="en-US" sz="1000" dirty="0"/>
          </a:p>
        </p:txBody>
      </p:sp>
      <p:sp>
        <p:nvSpPr>
          <p:cNvPr id="23" name="Shape 18"/>
          <p:cNvSpPr/>
          <p:nvPr/>
        </p:nvSpPr>
        <p:spPr>
          <a:xfrm>
            <a:off x="256032" y="2724912"/>
            <a:ext cx="2706624" cy="1755648"/>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24" name="Shape 19"/>
          <p:cNvSpPr/>
          <p:nvPr/>
        </p:nvSpPr>
        <p:spPr>
          <a:xfrm>
            <a:off x="256032" y="2724912"/>
            <a:ext cx="2706624" cy="54864"/>
          </a:xfrm>
          <a:prstGeom prst="rect">
            <a:avLst/>
          </a:prstGeom>
          <a:solidFill>
            <a:srgbClr val="1F6B75"/>
          </a:solidFill>
          <a:ln/>
        </p:spPr>
        <p:txBody>
          <a:bodyPr/>
          <a:lstStyle/>
          <a:p>
            <a:endParaRPr lang="en-US"/>
          </a:p>
        </p:txBody>
      </p:sp>
      <p:sp>
        <p:nvSpPr>
          <p:cNvPr id="25" name="Shape 20"/>
          <p:cNvSpPr/>
          <p:nvPr/>
        </p:nvSpPr>
        <p:spPr>
          <a:xfrm>
            <a:off x="393192" y="2898648"/>
            <a:ext cx="603504" cy="603504"/>
          </a:xfrm>
          <a:prstGeom prst="ellipse">
            <a:avLst/>
          </a:prstGeom>
          <a:solidFill>
            <a:srgbClr val="1F6B75"/>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528980" y="3034436"/>
            <a:ext cx="331927" cy="331927"/>
          </a:xfrm>
          <a:prstGeom prst="rect">
            <a:avLst/>
          </a:prstGeom>
        </p:spPr>
      </p:pic>
      <p:sp>
        <p:nvSpPr>
          <p:cNvPr id="27" name="Text 21"/>
          <p:cNvSpPr/>
          <p:nvPr/>
        </p:nvSpPr>
        <p:spPr>
          <a:xfrm>
            <a:off x="1170432" y="2926080"/>
            <a:ext cx="1682496" cy="64008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CIS-CAT Lite</a:t>
            </a:r>
            <a:endParaRPr lang="en-US" sz="1300" dirty="0"/>
          </a:p>
          <a:p>
            <a:pPr marL="0" indent="0">
              <a:buNone/>
            </a:pPr>
            <a:r>
              <a:rPr lang="en-US" sz="900" b="1" dirty="0">
                <a:solidFill>
                  <a:srgbClr val="1F6B75"/>
                </a:solidFill>
                <a:latin typeface="Calibri" pitchFamily="34" charset="0"/>
                <a:ea typeface="Calibri" pitchFamily="34" charset="-122"/>
                <a:cs typeface="Calibri" pitchFamily="34" charset="-120"/>
              </a:rPr>
              <a:t>Compliance Scanner</a:t>
            </a:r>
            <a:endParaRPr lang="en-US" sz="1300" dirty="0"/>
          </a:p>
        </p:txBody>
      </p:sp>
      <p:sp>
        <p:nvSpPr>
          <p:cNvPr id="28" name="Text 22"/>
          <p:cNvSpPr/>
          <p:nvPr/>
        </p:nvSpPr>
        <p:spPr>
          <a:xfrm>
            <a:off x="402336" y="3694176"/>
            <a:ext cx="2432304" cy="73152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Free CIS tool that scores a system against CIS Benchmark profiles. Used in every lab assessment.</a:t>
            </a:r>
            <a:endParaRPr lang="en-US" sz="1000" dirty="0"/>
          </a:p>
        </p:txBody>
      </p:sp>
      <p:sp>
        <p:nvSpPr>
          <p:cNvPr id="29" name="Shape 23"/>
          <p:cNvSpPr/>
          <p:nvPr/>
        </p:nvSpPr>
        <p:spPr>
          <a:xfrm>
            <a:off x="3200400" y="2724912"/>
            <a:ext cx="2706624" cy="1755648"/>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30" name="Shape 24"/>
          <p:cNvSpPr/>
          <p:nvPr/>
        </p:nvSpPr>
        <p:spPr>
          <a:xfrm>
            <a:off x="3200400" y="2724912"/>
            <a:ext cx="2706624" cy="54864"/>
          </a:xfrm>
          <a:prstGeom prst="rect">
            <a:avLst/>
          </a:prstGeom>
          <a:solidFill>
            <a:srgbClr val="4A4A8A"/>
          </a:solidFill>
          <a:ln/>
        </p:spPr>
        <p:txBody>
          <a:bodyPr/>
          <a:lstStyle/>
          <a:p>
            <a:endParaRPr lang="en-US"/>
          </a:p>
        </p:txBody>
      </p:sp>
      <p:sp>
        <p:nvSpPr>
          <p:cNvPr id="31" name="Shape 25"/>
          <p:cNvSpPr/>
          <p:nvPr/>
        </p:nvSpPr>
        <p:spPr>
          <a:xfrm>
            <a:off x="3337560" y="2898648"/>
            <a:ext cx="603504" cy="603504"/>
          </a:xfrm>
          <a:prstGeom prst="ellipse">
            <a:avLst/>
          </a:prstGeom>
          <a:solidFill>
            <a:srgbClr val="4A4A8A"/>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3473348" y="3034436"/>
            <a:ext cx="331927" cy="331927"/>
          </a:xfrm>
          <a:prstGeom prst="rect">
            <a:avLst/>
          </a:prstGeom>
        </p:spPr>
      </p:pic>
      <p:sp>
        <p:nvSpPr>
          <p:cNvPr id="33" name="Text 26"/>
          <p:cNvSpPr/>
          <p:nvPr/>
        </p:nvSpPr>
        <p:spPr>
          <a:xfrm>
            <a:off x="4114800" y="2926080"/>
            <a:ext cx="1682496" cy="64008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OpenSCAP / oscap</a:t>
            </a:r>
            <a:endParaRPr lang="en-US" sz="1300" dirty="0"/>
          </a:p>
          <a:p>
            <a:pPr marL="0" indent="0">
              <a:buNone/>
            </a:pPr>
            <a:r>
              <a:rPr lang="en-US" sz="900" b="1" dirty="0">
                <a:solidFill>
                  <a:srgbClr val="4A4A8A"/>
                </a:solidFill>
                <a:latin typeface="Calibri" pitchFamily="34" charset="0"/>
                <a:ea typeface="Calibri" pitchFamily="34" charset="-122"/>
                <a:cs typeface="Calibri" pitchFamily="34" charset="-120"/>
              </a:rPr>
              <a:t>SCAP Scanner</a:t>
            </a:r>
            <a:endParaRPr lang="en-US" sz="1300" dirty="0"/>
          </a:p>
        </p:txBody>
      </p:sp>
      <p:sp>
        <p:nvSpPr>
          <p:cNvPr id="34" name="Text 27"/>
          <p:cNvSpPr/>
          <p:nvPr/>
        </p:nvSpPr>
        <p:spPr>
          <a:xfrm>
            <a:off x="3346704" y="3694176"/>
            <a:ext cx="2432304" cy="73152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Open-source SCAP engine. Generates XCCDF/ARF reports consumable by STIG Viewer and SIEM tools.</a:t>
            </a:r>
            <a:endParaRPr lang="en-US" sz="1000" dirty="0"/>
          </a:p>
        </p:txBody>
      </p:sp>
      <p:sp>
        <p:nvSpPr>
          <p:cNvPr id="35" name="Shape 28"/>
          <p:cNvSpPr/>
          <p:nvPr/>
        </p:nvSpPr>
        <p:spPr>
          <a:xfrm>
            <a:off x="6144768" y="2724912"/>
            <a:ext cx="2706624" cy="1755648"/>
          </a:xfrm>
          <a:prstGeom prst="rect">
            <a:avLst/>
          </a:prstGeom>
          <a:solidFill>
            <a:srgbClr val="F5F8FC"/>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36" name="Shape 29"/>
          <p:cNvSpPr/>
          <p:nvPr/>
        </p:nvSpPr>
        <p:spPr>
          <a:xfrm>
            <a:off x="6144768" y="2724912"/>
            <a:ext cx="2706624" cy="54864"/>
          </a:xfrm>
          <a:prstGeom prst="rect">
            <a:avLst/>
          </a:prstGeom>
          <a:solidFill>
            <a:srgbClr val="1F6B75"/>
          </a:solidFill>
          <a:ln/>
        </p:spPr>
        <p:txBody>
          <a:bodyPr/>
          <a:lstStyle/>
          <a:p>
            <a:endParaRPr lang="en-US"/>
          </a:p>
        </p:txBody>
      </p:sp>
      <p:sp>
        <p:nvSpPr>
          <p:cNvPr id="37" name="Shape 30"/>
          <p:cNvSpPr/>
          <p:nvPr/>
        </p:nvSpPr>
        <p:spPr>
          <a:xfrm>
            <a:off x="6281928" y="2898648"/>
            <a:ext cx="603504" cy="603504"/>
          </a:xfrm>
          <a:prstGeom prst="ellipse">
            <a:avLst/>
          </a:prstGeom>
          <a:solidFill>
            <a:srgbClr val="1F6B75"/>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6417716" y="3034436"/>
            <a:ext cx="331927" cy="331927"/>
          </a:xfrm>
          <a:prstGeom prst="rect">
            <a:avLst/>
          </a:prstGeom>
        </p:spPr>
      </p:pic>
      <p:sp>
        <p:nvSpPr>
          <p:cNvPr id="39" name="Text 31"/>
          <p:cNvSpPr/>
          <p:nvPr/>
        </p:nvSpPr>
        <p:spPr>
          <a:xfrm>
            <a:off x="7059168" y="2926080"/>
            <a:ext cx="1682496" cy="64008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Graylog (Week 9)</a:t>
            </a:r>
            <a:endParaRPr lang="en-US" sz="1300" dirty="0"/>
          </a:p>
          <a:p>
            <a:pPr marL="0" indent="0">
              <a:buNone/>
            </a:pPr>
            <a:r>
              <a:rPr lang="en-US" sz="900" b="1" dirty="0">
                <a:solidFill>
                  <a:srgbClr val="1F6B75"/>
                </a:solidFill>
                <a:latin typeface="Calibri" pitchFamily="34" charset="0"/>
                <a:ea typeface="Calibri" pitchFamily="34" charset="-122"/>
                <a:cs typeface="Calibri" pitchFamily="34" charset="-120"/>
              </a:rPr>
              <a:t>Log Management</a:t>
            </a:r>
            <a:endParaRPr lang="en-US" sz="1300" dirty="0"/>
          </a:p>
        </p:txBody>
      </p:sp>
      <p:sp>
        <p:nvSpPr>
          <p:cNvPr id="40" name="Text 32"/>
          <p:cNvSpPr/>
          <p:nvPr/>
        </p:nvSpPr>
        <p:spPr>
          <a:xfrm>
            <a:off x="6291072" y="3694176"/>
            <a:ext cx="2432304" cy="73152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Centralized syslog platform. Ships logs from both VMs; creates dashboards and alerts for anomaly detection.</a:t>
            </a:r>
            <a:endParaRPr lang="en-US" sz="1000" dirty="0"/>
          </a:p>
        </p:txBody>
      </p:sp>
      <p:sp>
        <p:nvSpPr>
          <p:cNvPr id="41" name="Text 33"/>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411480" y="82296"/>
            <a:ext cx="8321040" cy="49377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This Week: Lab 1 &amp; Assignment</a:t>
            </a:r>
            <a:endParaRPr lang="en-US" sz="2200" dirty="0"/>
          </a:p>
        </p:txBody>
      </p:sp>
      <p:sp>
        <p:nvSpPr>
          <p:cNvPr id="4" name="Shape 2"/>
          <p:cNvSpPr/>
          <p:nvPr/>
        </p:nvSpPr>
        <p:spPr>
          <a:xfrm>
            <a:off x="0" y="658368"/>
            <a:ext cx="9144000" cy="45720"/>
          </a:xfrm>
          <a:prstGeom prst="rect">
            <a:avLst/>
          </a:prstGeom>
          <a:solidFill>
            <a:srgbClr val="2E75B6"/>
          </a:solidFill>
          <a:ln w="12700">
            <a:solidFill>
              <a:srgbClr val="2E75B6"/>
            </a:solidFill>
            <a:prstDash val="solid"/>
          </a:ln>
        </p:spPr>
        <p:txBody>
          <a:bodyPr/>
          <a:lstStyle/>
          <a:p>
            <a:endParaRPr lang="en-US"/>
          </a:p>
        </p:txBody>
      </p:sp>
      <p:sp>
        <p:nvSpPr>
          <p:cNvPr id="5" name="Shape 3"/>
          <p:cNvSpPr/>
          <p:nvPr/>
        </p:nvSpPr>
        <p:spPr>
          <a:xfrm>
            <a:off x="384048" y="804672"/>
            <a:ext cx="4206240" cy="4169664"/>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384048" y="804672"/>
            <a:ext cx="4206240" cy="475488"/>
          </a:xfrm>
          <a:prstGeom prst="rect">
            <a:avLst/>
          </a:prstGeom>
          <a:solidFill>
            <a:srgbClr val="2E75B6"/>
          </a:solidFill>
          <a:ln/>
        </p:spPr>
        <p:txBody>
          <a:bodyPr/>
          <a:lstStyle/>
          <a:p>
            <a:endParaRPr lang="en-US"/>
          </a:p>
        </p:txBody>
      </p:sp>
      <p:sp>
        <p:nvSpPr>
          <p:cNvPr id="7" name="Text 5"/>
          <p:cNvSpPr/>
          <p:nvPr/>
        </p:nvSpPr>
        <p:spPr>
          <a:xfrm>
            <a:off x="530352" y="832104"/>
            <a:ext cx="3913632"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LAB 1  ·  Environment Setup &amp; Baseline Scanning</a:t>
            </a:r>
            <a:endParaRPr lang="en-US" sz="1200" dirty="0"/>
          </a:p>
        </p:txBody>
      </p:sp>
      <p:sp>
        <p:nvSpPr>
          <p:cNvPr id="8" name="Text 6"/>
          <p:cNvSpPr/>
          <p:nvPr/>
        </p:nvSpPr>
        <p:spPr>
          <a:xfrm>
            <a:off x="530352" y="1371600"/>
            <a:ext cx="3895344" cy="3401568"/>
          </a:xfrm>
          <a:prstGeom prst="rect">
            <a:avLst/>
          </a:prstGeom>
          <a:noFill/>
          <a:ln/>
        </p:spPr>
        <p:txBody>
          <a:bodyPr wrap="square" lIns="0" tIns="0" rIns="0" bIns="0" rtlCol="0" anchor="t"/>
          <a:lstStyle/>
          <a:p>
            <a:pPr marL="0" indent="0">
              <a:spcAft>
                <a:spcPts val="800"/>
              </a:spcAft>
              <a:buNone/>
            </a:pPr>
            <a:r>
              <a:rPr lang="en-US" sz="1100" dirty="0">
                <a:solidFill>
                  <a:srgbClr val="1A2744"/>
                </a:solidFill>
                <a:latin typeface="Calibri" pitchFamily="34" charset="0"/>
                <a:ea typeface="Calibri" pitchFamily="34" charset="-122"/>
                <a:cs typeface="Calibri" pitchFamily="34" charset="-120"/>
              </a:rPr>
              <a:t>Step 1: Provision VM-1 (Rocky Linux 9) and VM-2 (Ubuntu 22.04)</a:t>
            </a:r>
            <a:endParaRPr lang="en-US" sz="1100" dirty="0"/>
          </a:p>
          <a:p>
            <a:pPr marL="0" indent="0">
              <a:spcAft>
                <a:spcPts val="800"/>
              </a:spcAft>
              <a:buNone/>
            </a:pPr>
            <a:r>
              <a:rPr lang="en-US" sz="1100" dirty="0">
                <a:solidFill>
                  <a:srgbClr val="1A2744"/>
                </a:solidFill>
                <a:latin typeface="Calibri" pitchFamily="34" charset="0"/>
                <a:ea typeface="Calibri" pitchFamily="34" charset="-122"/>
                <a:cs typeface="Calibri" pitchFamily="34" charset="-120"/>
              </a:rPr>
              <a:t>Step 2: Configure networking: NAT + Host-Only adapter on each VM</a:t>
            </a:r>
            <a:endParaRPr lang="en-US" sz="1100" dirty="0"/>
          </a:p>
          <a:p>
            <a:pPr marL="0" indent="0">
              <a:spcAft>
                <a:spcPts val="800"/>
              </a:spcAft>
              <a:buNone/>
            </a:pPr>
            <a:r>
              <a:rPr lang="en-US" sz="1100" dirty="0">
                <a:solidFill>
                  <a:srgbClr val="1A2744"/>
                </a:solidFill>
                <a:latin typeface="Calibri" pitchFamily="34" charset="0"/>
                <a:ea typeface="Calibri" pitchFamily="34" charset="-122"/>
                <a:cs typeface="Calibri" pitchFamily="34" charset="-120"/>
              </a:rPr>
              <a:t>Step 3: Confirm SSH access from host to both VMs</a:t>
            </a:r>
            <a:endParaRPr lang="en-US" sz="1100" dirty="0"/>
          </a:p>
          <a:p>
            <a:pPr marL="0" indent="0">
              <a:spcAft>
                <a:spcPts val="800"/>
              </a:spcAft>
              <a:buNone/>
            </a:pPr>
            <a:r>
              <a:rPr lang="en-US" sz="1100" dirty="0">
                <a:solidFill>
                  <a:srgbClr val="1A2744"/>
                </a:solidFill>
                <a:latin typeface="Calibri" pitchFamily="34" charset="0"/>
                <a:ea typeface="Calibri" pitchFamily="34" charset="-122"/>
                <a:cs typeface="Calibri" pitchFamily="34" charset="-120"/>
              </a:rPr>
              <a:t>Step 4: Download and install CIS-CAT Lite on VM-1</a:t>
            </a:r>
            <a:endParaRPr lang="en-US" sz="1100" dirty="0"/>
          </a:p>
          <a:p>
            <a:pPr marL="0" indent="0">
              <a:spcAft>
                <a:spcPts val="800"/>
              </a:spcAft>
              <a:buNone/>
            </a:pPr>
            <a:r>
              <a:rPr lang="en-US" sz="1100" dirty="0">
                <a:solidFill>
                  <a:srgbClr val="1A2744"/>
                </a:solidFill>
                <a:latin typeface="Calibri" pitchFamily="34" charset="0"/>
                <a:ea typeface="Calibri" pitchFamily="34" charset="-122"/>
                <a:cs typeface="Calibri" pitchFamily="34" charset="-120"/>
              </a:rPr>
              <a:t>Step 5: Run a CIS Benchmark Level 1 scan against Rocky Linux</a:t>
            </a:r>
            <a:endParaRPr lang="en-US" sz="1100" dirty="0"/>
          </a:p>
          <a:p>
            <a:pPr marL="0" indent="0">
              <a:spcAft>
                <a:spcPts val="800"/>
              </a:spcAft>
              <a:buNone/>
            </a:pPr>
            <a:r>
              <a:rPr lang="en-US" sz="1100" dirty="0">
                <a:solidFill>
                  <a:srgbClr val="1A2744"/>
                </a:solidFill>
                <a:latin typeface="Calibri" pitchFamily="34" charset="0"/>
                <a:ea typeface="Calibri" pitchFamily="34" charset="-122"/>
                <a:cs typeface="Calibri" pitchFamily="34" charset="-120"/>
              </a:rPr>
              <a:t>Step 6: Export the HTML scan report</a:t>
            </a:r>
            <a:endParaRPr lang="en-US" sz="1100" dirty="0"/>
          </a:p>
          <a:p>
            <a:pPr marL="0" indent="0">
              <a:spcAft>
                <a:spcPts val="800"/>
              </a:spcAft>
              <a:buNone/>
            </a:pPr>
            <a:r>
              <a:rPr lang="en-US" sz="1100" dirty="0">
                <a:solidFill>
                  <a:srgbClr val="1A2744"/>
                </a:solidFill>
                <a:latin typeface="Calibri" pitchFamily="34" charset="0"/>
                <a:ea typeface="Calibri" pitchFamily="34" charset="-122"/>
                <a:cs typeface="Calibri" pitchFamily="34" charset="-120"/>
              </a:rPr>
              <a:t>Step 7: Screenshot your lowest-scoring control for the lab report</a:t>
            </a:r>
            <a:endParaRPr lang="en-US" sz="1100" dirty="0"/>
          </a:p>
        </p:txBody>
      </p:sp>
      <p:sp>
        <p:nvSpPr>
          <p:cNvPr id="9" name="Shape 7"/>
          <p:cNvSpPr/>
          <p:nvPr/>
        </p:nvSpPr>
        <p:spPr>
          <a:xfrm>
            <a:off x="4919472" y="804672"/>
            <a:ext cx="3877056" cy="1865376"/>
          </a:xfrm>
          <a:prstGeom prst="rect">
            <a:avLst/>
          </a:prstGeom>
          <a:solidFill>
            <a:srgbClr val="FFFFFF"/>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0" name="Shape 8"/>
          <p:cNvSpPr/>
          <p:nvPr/>
        </p:nvSpPr>
        <p:spPr>
          <a:xfrm>
            <a:off x="4919472" y="804672"/>
            <a:ext cx="3877056" cy="475488"/>
          </a:xfrm>
          <a:prstGeom prst="rect">
            <a:avLst/>
          </a:prstGeom>
          <a:solidFill>
            <a:srgbClr val="1F6B75"/>
          </a:solidFill>
          <a:ln/>
        </p:spPr>
        <p:txBody>
          <a:bodyPr/>
          <a:lstStyle/>
          <a:p>
            <a:endParaRPr lang="en-US"/>
          </a:p>
        </p:txBody>
      </p:sp>
      <p:sp>
        <p:nvSpPr>
          <p:cNvPr id="11" name="Text 9"/>
          <p:cNvSpPr/>
          <p:nvPr/>
        </p:nvSpPr>
        <p:spPr>
          <a:xfrm>
            <a:off x="5065776" y="832104"/>
            <a:ext cx="3566160" cy="40233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HW 1  ·  Syllabus Quiz</a:t>
            </a:r>
            <a:endParaRPr lang="en-US" sz="1200" dirty="0"/>
          </a:p>
        </p:txBody>
      </p:sp>
      <p:sp>
        <p:nvSpPr>
          <p:cNvPr id="12" name="Text 10"/>
          <p:cNvSpPr/>
          <p:nvPr/>
        </p:nvSpPr>
        <p:spPr>
          <a:xfrm>
            <a:off x="5065776" y="1371600"/>
            <a:ext cx="3566160" cy="1188720"/>
          </a:xfrm>
          <a:prstGeom prst="rect">
            <a:avLst/>
          </a:prstGeom>
          <a:noFill/>
          <a:ln/>
        </p:spPr>
        <p:txBody>
          <a:bodyPr wrap="square" lIns="0" tIns="0" rIns="0" bIns="0" rtlCol="0" anchor="ctr"/>
          <a:lstStyle/>
          <a:p>
            <a:pPr marL="0" indent="0">
              <a:spcAft>
                <a:spcPts val="400"/>
              </a:spcAft>
              <a:buNone/>
            </a:pPr>
            <a:r>
              <a:rPr lang="en-US" sz="1100" b="1" dirty="0">
                <a:solidFill>
                  <a:srgbClr val="1F6B75"/>
                </a:solidFill>
                <a:latin typeface="Calibri" pitchFamily="34" charset="0"/>
                <a:ea typeface="Calibri" pitchFamily="34" charset="-122"/>
                <a:cs typeface="Calibri" pitchFamily="34" charset="-120"/>
              </a:rPr>
              <a:t>Due: </a:t>
            </a:r>
            <a:r>
              <a:rPr lang="en-US" sz="1100" dirty="0">
                <a:solidFill>
                  <a:srgbClr val="1A2744"/>
                </a:solidFill>
                <a:latin typeface="Calibri" pitchFamily="34" charset="0"/>
                <a:ea typeface="Calibri" pitchFamily="34" charset="-122"/>
                <a:cs typeface="Calibri" pitchFamily="34" charset="-120"/>
              </a:rPr>
              <a:t>Beginning of Week 2
</a:t>
            </a:r>
            <a:r>
              <a:rPr lang="en-US" sz="1100" b="1" dirty="0">
                <a:solidFill>
                  <a:srgbClr val="1F6B75"/>
                </a:solidFill>
                <a:latin typeface="Calibri" pitchFamily="34" charset="0"/>
                <a:ea typeface="Calibri" pitchFamily="34" charset="-122"/>
                <a:cs typeface="Calibri" pitchFamily="34" charset="-120"/>
              </a:rPr>
              <a:t>Where: </a:t>
            </a:r>
            <a:r>
              <a:rPr lang="en-US" sz="1100" dirty="0">
                <a:solidFill>
                  <a:srgbClr val="1A2744"/>
                </a:solidFill>
                <a:latin typeface="Calibri" pitchFamily="34" charset="0"/>
                <a:ea typeface="Calibri" pitchFamily="34" charset="-122"/>
                <a:cs typeface="Calibri" pitchFamily="34" charset="-120"/>
              </a:rPr>
              <a:t>Learning Management System (Canvas)
</a:t>
            </a:r>
            <a:r>
              <a:rPr lang="en-US" sz="1100" b="1" dirty="0">
                <a:solidFill>
                  <a:srgbClr val="1F6B75"/>
                </a:solidFill>
                <a:latin typeface="Calibri" pitchFamily="34" charset="0"/>
                <a:ea typeface="Calibri" pitchFamily="34" charset="-122"/>
                <a:cs typeface="Calibri" pitchFamily="34" charset="-120"/>
              </a:rPr>
              <a:t>Points: </a:t>
            </a:r>
            <a:r>
              <a:rPr lang="en-US" sz="1100" dirty="0">
                <a:solidFill>
                  <a:srgbClr val="1A2744"/>
                </a:solidFill>
                <a:latin typeface="Calibri" pitchFamily="34" charset="0"/>
                <a:ea typeface="Calibri" pitchFamily="34" charset="-122"/>
                <a:cs typeface="Calibri" pitchFamily="34" charset="-120"/>
              </a:rPr>
              <a:t>10 pts  ·  Unlimited attempts</a:t>
            </a:r>
            <a:endParaRPr lang="en-US" sz="1100" dirty="0"/>
          </a:p>
        </p:txBody>
      </p:sp>
      <p:sp>
        <p:nvSpPr>
          <p:cNvPr id="13" name="Shape 11"/>
          <p:cNvSpPr/>
          <p:nvPr/>
        </p:nvSpPr>
        <p:spPr>
          <a:xfrm>
            <a:off x="4919472" y="2798064"/>
            <a:ext cx="3877056" cy="2176272"/>
          </a:xfrm>
          <a:prstGeom prst="rect">
            <a:avLst/>
          </a:prstGeom>
          <a:solidFill>
            <a:srgbClr val="EBF3FB"/>
          </a:solidFill>
          <a:ln w="6350">
            <a:solidFill>
              <a:srgbClr val="D0DFF0"/>
            </a:solidFill>
            <a:prstDash val="solid"/>
          </a:ln>
          <a:effectLst>
            <a:outerShdw blurRad="101600" dist="25400" dir="8100000" algn="bl" rotWithShape="0">
              <a:srgbClr val="000000">
                <a:alpha val="12000"/>
              </a:srgbClr>
            </a:outerShdw>
          </a:effectLst>
        </p:spPr>
        <p:txBody>
          <a:bodyPr/>
          <a:lstStyle/>
          <a:p>
            <a:endParaRPr lang="en-US"/>
          </a:p>
        </p:txBody>
      </p:sp>
      <p:sp>
        <p:nvSpPr>
          <p:cNvPr id="14" name="Shape 12"/>
          <p:cNvSpPr/>
          <p:nvPr/>
        </p:nvSpPr>
        <p:spPr>
          <a:xfrm>
            <a:off x="4919472" y="2798064"/>
            <a:ext cx="3877056" cy="329184"/>
          </a:xfrm>
          <a:prstGeom prst="rect">
            <a:avLst/>
          </a:prstGeom>
          <a:solidFill>
            <a:srgbClr val="1F3864"/>
          </a:solidFill>
          <a:ln/>
        </p:spPr>
        <p:txBody>
          <a:bodyPr/>
          <a:lstStyle/>
          <a:p>
            <a:endParaRPr lang="en-US"/>
          </a:p>
        </p:txBody>
      </p:sp>
      <p:sp>
        <p:nvSpPr>
          <p:cNvPr id="15" name="Text 13"/>
          <p:cNvSpPr/>
          <p:nvPr/>
        </p:nvSpPr>
        <p:spPr>
          <a:xfrm>
            <a:off x="5065776" y="2834640"/>
            <a:ext cx="3566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Before Next Class</a:t>
            </a:r>
            <a:endParaRPr lang="en-US" sz="1100" dirty="0"/>
          </a:p>
        </p:txBody>
      </p:sp>
      <p:sp>
        <p:nvSpPr>
          <p:cNvPr id="16" name="Text 14"/>
          <p:cNvSpPr/>
          <p:nvPr/>
        </p:nvSpPr>
        <p:spPr>
          <a:xfrm>
            <a:off x="5065776" y="320040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2744"/>
                </a:solidFill>
                <a:latin typeface="Calibri" pitchFamily="34" charset="0"/>
                <a:ea typeface="Calibri" pitchFamily="34" charset="-122"/>
                <a:cs typeface="Calibri" pitchFamily="34" charset="-120"/>
              </a:rPr>
              <a:t>Install VMware Workstation / VirtualBox on your host</a:t>
            </a:r>
            <a:endParaRPr lang="en-US" sz="1000" dirty="0"/>
          </a:p>
          <a:p>
            <a:pPr marL="342900" indent="-342900">
              <a:spcAft>
                <a:spcPts val="600"/>
              </a:spcAft>
              <a:buSzPct val="100000"/>
              <a:buChar char="•"/>
            </a:pPr>
            <a:r>
              <a:rPr lang="en-US" sz="1000" dirty="0">
                <a:solidFill>
                  <a:srgbClr val="1A2744"/>
                </a:solidFill>
                <a:latin typeface="Calibri" pitchFamily="34" charset="0"/>
                <a:ea typeface="Calibri" pitchFamily="34" charset="-122"/>
                <a:cs typeface="Calibri" pitchFamily="34" charset="-120"/>
              </a:rPr>
              <a:t>Download Rocky Linux 9 minimal ISO</a:t>
            </a:r>
            <a:endParaRPr lang="en-US" sz="1000" dirty="0"/>
          </a:p>
          <a:p>
            <a:pPr marL="342900" indent="-342900">
              <a:spcAft>
                <a:spcPts val="600"/>
              </a:spcAft>
              <a:buSzPct val="100000"/>
              <a:buChar char="•"/>
            </a:pPr>
            <a:r>
              <a:rPr lang="en-US" sz="1000" dirty="0">
                <a:solidFill>
                  <a:srgbClr val="1A2744"/>
                </a:solidFill>
                <a:latin typeface="Calibri" pitchFamily="34" charset="0"/>
                <a:ea typeface="Calibri" pitchFamily="34" charset="-122"/>
                <a:cs typeface="Calibri" pitchFamily="34" charset="-120"/>
              </a:rPr>
              <a:t>Download Ubuntu Server 22.04 LTS ISO</a:t>
            </a:r>
            <a:endParaRPr lang="en-US" sz="1000" dirty="0"/>
          </a:p>
          <a:p>
            <a:pPr marL="342900" indent="-342900">
              <a:spcAft>
                <a:spcPts val="600"/>
              </a:spcAft>
              <a:buSzPct val="100000"/>
              <a:buChar char="•"/>
            </a:pPr>
            <a:r>
              <a:rPr lang="en-US" sz="1000" dirty="0">
                <a:solidFill>
                  <a:srgbClr val="1A2744"/>
                </a:solidFill>
                <a:latin typeface="Calibri" pitchFamily="34" charset="0"/>
                <a:ea typeface="Calibri" pitchFamily="34" charset="-122"/>
                <a:cs typeface="Calibri" pitchFamily="34" charset="-120"/>
              </a:rPr>
              <a:t>Bookmark: public.cyber.mil (STIG Viewer download)</a:t>
            </a:r>
            <a:endParaRPr lang="en-US" sz="1000" dirty="0"/>
          </a:p>
        </p:txBody>
      </p:sp>
      <p:sp>
        <p:nvSpPr>
          <p:cNvPr id="17" name="Text 15"/>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457200" y="-457200"/>
            <a:ext cx="3200400" cy="3200400"/>
          </a:xfrm>
          <a:prstGeom prst="ellipse">
            <a:avLst/>
          </a:prstGeom>
          <a:solidFill>
            <a:srgbClr val="243A68"/>
          </a:solidFill>
          <a:ln/>
        </p:spPr>
        <p:txBody>
          <a:bodyPr/>
          <a:lstStyle/>
          <a:p>
            <a:endParaRPr lang="en-US"/>
          </a:p>
        </p:txBody>
      </p:sp>
      <p:sp>
        <p:nvSpPr>
          <p:cNvPr id="3" name="Shape 1"/>
          <p:cNvSpPr/>
          <p:nvPr/>
        </p:nvSpPr>
        <p:spPr>
          <a:xfrm>
            <a:off x="7498080" y="3474720"/>
            <a:ext cx="2560320" cy="2560320"/>
          </a:xfrm>
          <a:prstGeom prst="ellipse">
            <a:avLst/>
          </a:prstGeom>
          <a:solidFill>
            <a:srgbClr val="243A68"/>
          </a:solidFill>
          <a:ln/>
        </p:spPr>
        <p:txBody>
          <a:bodyPr/>
          <a:lstStyle/>
          <a:p>
            <a:endParaRPr lang="en-US"/>
          </a:p>
        </p:txBody>
      </p:sp>
      <p:sp>
        <p:nvSpPr>
          <p:cNvPr id="4" name="Shape 2"/>
          <p:cNvSpPr/>
          <p:nvPr/>
        </p:nvSpPr>
        <p:spPr>
          <a:xfrm>
            <a:off x="9034272" y="0"/>
            <a:ext cx="109728" cy="5143500"/>
          </a:xfrm>
          <a:prstGeom prst="rect">
            <a:avLst/>
          </a:prstGeom>
          <a:solidFill>
            <a:srgbClr val="2E75B6"/>
          </a:solidFill>
          <a:ln/>
        </p:spPr>
        <p:txBody>
          <a:bodyPr/>
          <a:lstStyle/>
          <a:p>
            <a:endParaRPr lang="en-US"/>
          </a:p>
        </p:txBody>
      </p:sp>
      <p:sp>
        <p:nvSpPr>
          <p:cNvPr id="5" name="Text 3"/>
          <p:cNvSpPr/>
          <p:nvPr/>
        </p:nvSpPr>
        <p:spPr>
          <a:xfrm>
            <a:off x="502920" y="475488"/>
            <a:ext cx="6400800" cy="310896"/>
          </a:xfrm>
          <a:prstGeom prst="rect">
            <a:avLst/>
          </a:prstGeom>
          <a:noFill/>
          <a:ln/>
        </p:spPr>
        <p:txBody>
          <a:bodyPr wrap="square" lIns="0" tIns="0" rIns="0" bIns="0" rtlCol="0" anchor="ctr"/>
          <a:lstStyle/>
          <a:p>
            <a:pPr marL="0" indent="0">
              <a:buNone/>
            </a:pPr>
            <a:r>
              <a:rPr lang="en-US" sz="1100" kern="0" spc="300" dirty="0">
                <a:solidFill>
                  <a:srgbClr val="BDD7EE"/>
                </a:solidFill>
                <a:latin typeface="Calibri" pitchFamily="34" charset="0"/>
                <a:ea typeface="Calibri" pitchFamily="34" charset="-122"/>
                <a:cs typeface="Calibri" pitchFamily="34" charset="-120"/>
              </a:rPr>
              <a:t>WEEK 1 SUMMARY</a:t>
            </a:r>
            <a:endParaRPr lang="en-US" sz="1100" dirty="0"/>
          </a:p>
        </p:txBody>
      </p:sp>
      <p:sp>
        <p:nvSpPr>
          <p:cNvPr id="6" name="Text 4"/>
          <p:cNvSpPr/>
          <p:nvPr/>
        </p:nvSpPr>
        <p:spPr>
          <a:xfrm>
            <a:off x="502920" y="822960"/>
            <a:ext cx="6400800" cy="47548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7" name="Text 5"/>
          <p:cNvSpPr/>
          <p:nvPr/>
        </p:nvSpPr>
        <p:spPr>
          <a:xfrm>
            <a:off x="502920" y="1408176"/>
            <a:ext cx="5303520" cy="21031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DDEEFF"/>
                </a:solidFill>
                <a:latin typeface="Calibri" pitchFamily="34" charset="0"/>
                <a:ea typeface="Calibri" pitchFamily="34" charset="-122"/>
                <a:cs typeface="Calibri" pitchFamily="34" charset="-120"/>
              </a:rPr>
              <a:t>SysAdmins own security, stability, and compliance across the infrastructure</a:t>
            </a:r>
            <a:endParaRPr lang="en-US" sz="1200" dirty="0"/>
          </a:p>
          <a:p>
            <a:pPr marL="342900" indent="-342900">
              <a:spcAft>
                <a:spcPts val="800"/>
              </a:spcAft>
              <a:buSzPct val="100000"/>
              <a:buChar char="•"/>
            </a:pPr>
            <a:r>
              <a:rPr lang="en-US" sz="1200" dirty="0">
                <a:solidFill>
                  <a:srgbClr val="DDEEFF"/>
                </a:solidFill>
                <a:latin typeface="Calibri" pitchFamily="34" charset="0"/>
                <a:ea typeface="Calibri" pitchFamily="34" charset="-122"/>
                <a:cs typeface="Calibri" pitchFamily="34" charset="-120"/>
              </a:rPr>
              <a:t>NICE Framework maps our skills to IO-WRL-005 and IO-WRL-007 job roles</a:t>
            </a:r>
            <a:endParaRPr lang="en-US" sz="1200" dirty="0"/>
          </a:p>
          <a:p>
            <a:pPr marL="342900" indent="-342900">
              <a:spcAft>
                <a:spcPts val="800"/>
              </a:spcAft>
              <a:buSzPct val="100000"/>
              <a:buChar char="•"/>
            </a:pPr>
            <a:r>
              <a:rPr lang="en-US" sz="1200" dirty="0">
                <a:solidFill>
                  <a:srgbClr val="DDEEFF"/>
                </a:solidFill>
                <a:latin typeface="Calibri" pitchFamily="34" charset="0"/>
                <a:ea typeface="Calibri" pitchFamily="34" charset="-122"/>
                <a:cs typeface="Calibri" pitchFamily="34" charset="-120"/>
              </a:rPr>
              <a:t>CIS Controls v8 provides 18 prioritized safeguards (Level 1 &amp; Level 2)</a:t>
            </a:r>
            <a:endParaRPr lang="en-US" sz="1200" dirty="0"/>
          </a:p>
          <a:p>
            <a:pPr marL="342900" indent="-342900">
              <a:spcAft>
                <a:spcPts val="800"/>
              </a:spcAft>
              <a:buSzPct val="100000"/>
              <a:buChar char="•"/>
            </a:pPr>
            <a:r>
              <a:rPr lang="en-US" sz="1200" dirty="0">
                <a:solidFill>
                  <a:srgbClr val="DDEEFF"/>
                </a:solidFill>
                <a:latin typeface="Calibri" pitchFamily="34" charset="0"/>
                <a:ea typeface="Calibri" pitchFamily="34" charset="-122"/>
                <a:cs typeface="Calibri" pitchFamily="34" charset="-120"/>
              </a:rPr>
              <a:t>DISA STIGs give precise CAT I/II/III hardening requirements per platform</a:t>
            </a:r>
            <a:endParaRPr lang="en-US" sz="1200" dirty="0"/>
          </a:p>
          <a:p>
            <a:pPr marL="342900" indent="-342900">
              <a:spcAft>
                <a:spcPts val="800"/>
              </a:spcAft>
              <a:buSzPct val="100000"/>
              <a:buChar char="•"/>
            </a:pPr>
            <a:r>
              <a:rPr lang="en-US" sz="1200" dirty="0">
                <a:solidFill>
                  <a:srgbClr val="DDEEFF"/>
                </a:solidFill>
                <a:latin typeface="Calibri" pitchFamily="34" charset="0"/>
                <a:ea typeface="Calibri" pitchFamily="34" charset="-122"/>
                <a:cs typeface="Calibri" pitchFamily="34" charset="-120"/>
              </a:rPr>
              <a:t>Our toolchain: Ansible · Nessus · STIG Viewer · CIS-CAT · OpenSCAP</a:t>
            </a:r>
            <a:endParaRPr lang="en-US" sz="1200" dirty="0"/>
          </a:p>
        </p:txBody>
      </p:sp>
      <p:sp>
        <p:nvSpPr>
          <p:cNvPr id="8" name="Shape 6"/>
          <p:cNvSpPr/>
          <p:nvPr/>
        </p:nvSpPr>
        <p:spPr>
          <a:xfrm>
            <a:off x="502920" y="3611880"/>
            <a:ext cx="5303520" cy="1280160"/>
          </a:xfrm>
          <a:prstGeom prst="rect">
            <a:avLst/>
          </a:prstGeom>
          <a:solidFill>
            <a:srgbClr val="243A68"/>
          </a:solidFill>
          <a:ln w="6350">
            <a:solidFill>
              <a:srgbClr val="D0DFF0"/>
            </a:solidFill>
            <a:prstDash val="solid"/>
          </a:ln>
        </p:spPr>
        <p:txBody>
          <a:bodyPr/>
          <a:lstStyle/>
          <a:p>
            <a:endParaRPr lang="en-US"/>
          </a:p>
        </p:txBody>
      </p:sp>
      <p:sp>
        <p:nvSpPr>
          <p:cNvPr id="9" name="Text 7"/>
          <p:cNvSpPr/>
          <p:nvPr/>
        </p:nvSpPr>
        <p:spPr>
          <a:xfrm>
            <a:off x="658368" y="3657600"/>
            <a:ext cx="4956048" cy="274320"/>
          </a:xfrm>
          <a:prstGeom prst="rect">
            <a:avLst/>
          </a:prstGeom>
          <a:noFill/>
          <a:ln/>
        </p:spPr>
        <p:txBody>
          <a:bodyPr wrap="square" lIns="0" tIns="0" rIns="0" bIns="0" rtlCol="0" anchor="ctr"/>
          <a:lstStyle/>
          <a:p>
            <a:pPr marL="0" indent="0">
              <a:buNone/>
            </a:pPr>
            <a:r>
              <a:rPr lang="en-US" sz="1200" b="1" dirty="0">
                <a:solidFill>
                  <a:srgbClr val="BDD7EE"/>
                </a:solidFill>
                <a:latin typeface="Calibri" pitchFamily="34" charset="0"/>
                <a:ea typeface="Calibri" pitchFamily="34" charset="-122"/>
                <a:cs typeface="Calibri" pitchFamily="34" charset="-120"/>
              </a:rPr>
              <a:t>Next Week (Week 2): OS Hardening Fundamentals</a:t>
            </a:r>
            <a:endParaRPr lang="en-US" sz="1200" dirty="0"/>
          </a:p>
        </p:txBody>
      </p:sp>
      <p:sp>
        <p:nvSpPr>
          <p:cNvPr id="10" name="Text 8"/>
          <p:cNvSpPr/>
          <p:nvPr/>
        </p:nvSpPr>
        <p:spPr>
          <a:xfrm>
            <a:off x="658368" y="3977640"/>
            <a:ext cx="4956048" cy="365760"/>
          </a:xfrm>
          <a:prstGeom prst="rect">
            <a:avLst/>
          </a:prstGeom>
          <a:noFill/>
          <a:ln/>
        </p:spPr>
        <p:txBody>
          <a:bodyPr wrap="square" lIns="0" tIns="0" rIns="0" bIns="0" rtlCol="0" anchor="ctr"/>
          <a:lstStyle/>
          <a:p>
            <a:pPr marL="0" indent="0">
              <a:buNone/>
            </a:pPr>
            <a:r>
              <a:rPr lang="en-US" sz="1000" dirty="0">
                <a:solidFill>
                  <a:srgbClr val="8BACD4"/>
                </a:solidFill>
                <a:latin typeface="Calibri" pitchFamily="34" charset="0"/>
                <a:ea typeface="Calibri" pitchFamily="34" charset="-122"/>
                <a:cs typeface="Calibri" pitchFamily="34" charset="-120"/>
              </a:rPr>
              <a:t>CIS Level 1 remediation on Rocky Linux · systemd service hardening · PAM configuration</a:t>
            </a:r>
            <a:endParaRPr lang="en-US" sz="1000" dirty="0"/>
          </a:p>
        </p:txBody>
      </p:sp>
      <p:sp>
        <p:nvSpPr>
          <p:cNvPr id="11" name="Text 9"/>
          <p:cNvSpPr/>
          <p:nvPr/>
        </p:nvSpPr>
        <p:spPr>
          <a:xfrm>
            <a:off x="658368" y="4370832"/>
            <a:ext cx="4956048" cy="365760"/>
          </a:xfrm>
          <a:prstGeom prst="rect">
            <a:avLst/>
          </a:prstGeom>
          <a:noFill/>
          <a:ln/>
        </p:spPr>
        <p:txBody>
          <a:bodyPr wrap="square" lIns="0" tIns="0" rIns="0" bIns="0" rtlCol="0" anchor="ctr"/>
          <a:lstStyle/>
          <a:p>
            <a:pPr marL="0" indent="0">
              <a:buNone/>
            </a:pPr>
            <a:r>
              <a:rPr lang="en-US" sz="1000" i="1" dirty="0">
                <a:solidFill>
                  <a:srgbClr val="8BACD4"/>
                </a:solidFill>
                <a:latin typeface="Calibri" pitchFamily="34" charset="0"/>
                <a:ea typeface="Calibri" pitchFamily="34" charset="-122"/>
                <a:cs typeface="Calibri" pitchFamily="34" charset="-120"/>
              </a:rPr>
              <a:t>Lab 2: Harden your Rocky Linux VM to CIS Level 1 · target ≥ 80% compliance score</a:t>
            </a:r>
            <a:endParaRPr lang="en-US" sz="1000" dirty="0"/>
          </a:p>
        </p:txBody>
      </p:sp>
      <p:pic>
        <p:nvPicPr>
          <p:cNvPr id="12" name="Image 0" descr="preencoded.png"/>
          <p:cNvPicPr>
            <a:picLocks noChangeAspect="1"/>
          </p:cNvPicPr>
          <p:nvPr/>
        </p:nvPicPr>
        <p:blipFill>
          <a:blip r:embed="rId3">
            <a:alphaModFix amt="60000"/>
          </a:blip>
          <a:stretch>
            <a:fillRect/>
          </a:stretch>
        </p:blipFill>
        <p:spPr>
          <a:xfrm>
            <a:off x="6400800" y="1005840"/>
            <a:ext cx="2286000" cy="2286000"/>
          </a:xfrm>
          <a:prstGeom prst="rect">
            <a:avLst/>
          </a:prstGeom>
        </p:spPr>
      </p:pic>
      <p:sp>
        <p:nvSpPr>
          <p:cNvPr id="13" name="Text 10"/>
          <p:cNvSpPr/>
          <p:nvPr/>
        </p:nvSpPr>
        <p:spPr>
          <a:xfrm>
            <a:off x="6035040" y="3657600"/>
            <a:ext cx="2743200"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Questions?</a:t>
            </a:r>
            <a:endParaRPr lang="en-US" sz="2000" dirty="0"/>
          </a:p>
        </p:txBody>
      </p:sp>
      <p:sp>
        <p:nvSpPr>
          <p:cNvPr id="14" name="Text 11"/>
          <p:cNvSpPr/>
          <p:nvPr/>
        </p:nvSpPr>
        <p:spPr>
          <a:xfrm>
            <a:off x="6035040" y="4114800"/>
            <a:ext cx="2743200" cy="274320"/>
          </a:xfrm>
          <a:prstGeom prst="rect">
            <a:avLst/>
          </a:prstGeom>
          <a:noFill/>
          <a:ln/>
        </p:spPr>
        <p:txBody>
          <a:bodyPr wrap="square" lIns="0" tIns="0" rIns="0" bIns="0" rtlCol="0" anchor="ctr"/>
          <a:lstStyle/>
          <a:p>
            <a:pPr marL="0" indent="0" algn="ctr">
              <a:buNone/>
            </a:pPr>
            <a:endParaRPr lang="en-US" sz="1000" dirty="0"/>
          </a:p>
        </p:txBody>
      </p:sp>
      <p:sp>
        <p:nvSpPr>
          <p:cNvPr id="15" name="Text 12"/>
          <p:cNvSpPr/>
          <p:nvPr/>
        </p:nvSpPr>
        <p:spPr>
          <a:xfrm>
            <a:off x="8778240" y="4850892"/>
            <a:ext cx="292608" cy="21945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1201</Words>
  <Application>Microsoft Office PowerPoint</Application>
  <PresentationFormat>On-screen Show (16:9)</PresentationFormat>
  <Paragraphs>212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IT&amp;C 444 – Week 1: Introduction &amp; Environment Setup</dc:title>
  <dc:subject>PptxGenJS Presentation</dc:subject>
  <dc:creator>IT&amp;C 444 Instructor</dc:creator>
  <cp:lastModifiedBy>Sebastian Hayes</cp:lastModifiedBy>
  <cp:revision>2</cp:revision>
  <dcterms:created xsi:type="dcterms:W3CDTF">2026-04-22T06:08:27Z</dcterms:created>
  <dcterms:modified xsi:type="dcterms:W3CDTF">2026-04-23T01:02:43Z</dcterms:modified>
</cp:coreProperties>
</file>