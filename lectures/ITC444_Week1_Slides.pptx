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-548640"/>
            <a:ext cx="2926080" cy="2926080"/>
          </a:xfrm>
          <a:prstGeom prst="ellipse">
            <a:avLst/>
          </a:prstGeom>
          <a:solidFill>
            <a:srgbClr val="263E6F"/>
          </a:solidFill>
          <a:ln/>
        </p:spPr>
      </p:sp>
      <p:sp>
        <p:nvSpPr>
          <p:cNvPr id="4" name="Shape 2"/>
          <p:cNvSpPr/>
          <p:nvPr/>
        </p:nvSpPr>
        <p:spPr>
          <a:xfrm>
            <a:off x="7680960" y="2560320"/>
            <a:ext cx="1828800" cy="1828800"/>
          </a:xfrm>
          <a:prstGeom prst="ellipse">
            <a:avLst/>
          </a:prstGeom>
          <a:solidFill>
            <a:srgbClr val="24376A"/>
          </a:solidFill>
          <a:ln/>
        </p:spPr>
      </p:sp>
      <p:sp>
        <p:nvSpPr>
          <p:cNvPr id="5" name="Shape 3"/>
          <p:cNvSpPr/>
          <p:nvPr/>
        </p:nvSpPr>
        <p:spPr>
          <a:xfrm>
            <a:off x="6217920" y="3108960"/>
            <a:ext cx="1097280" cy="1097280"/>
          </a:xfrm>
          <a:prstGeom prst="ellipse">
            <a:avLst/>
          </a:prstGeom>
          <a:solidFill>
            <a:srgbClr val="2A4578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731520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IT&amp;C 444  ·  Advanced System Administration &amp; Hardening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676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1: Introduction &amp;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</a:t>
            </a:r>
            <a:endParaRPr lang="en-US" sz="3800" dirty="0"/>
          </a:p>
        </p:txBody>
      </p:sp>
      <p:sp>
        <p:nvSpPr>
          <p:cNvPr id="8" name="Shape 6"/>
          <p:cNvSpPr/>
          <p:nvPr/>
        </p:nvSpPr>
        <p:spPr>
          <a:xfrm>
            <a:off x="502920" y="3127248"/>
            <a:ext cx="16459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325526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Semester  ·  3 Credit Hours  ·  Infrastructure Track</a:t>
            </a:r>
            <a:endParaRPr lang="en-US" sz="12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360920" y="548640"/>
            <a:ext cx="1371600" cy="13716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841248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841248"/>
            <a:ext cx="347472" cy="60350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41248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05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88720" y="896112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Overview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modules &amp; grading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5760" y="1554480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" y="1554480"/>
            <a:ext cx="347472" cy="60350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9"/>
          <p:cNvSpPr/>
          <p:nvPr/>
        </p:nvSpPr>
        <p:spPr>
          <a:xfrm>
            <a:off x="365760" y="15544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19072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188720" y="160934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SysAdmin?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responsibilities &amp; scope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365760" y="2267712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65760" y="2267712"/>
            <a:ext cx="347472" cy="603504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17" name="Text 13"/>
          <p:cNvSpPr/>
          <p:nvPr/>
        </p:nvSpPr>
        <p:spPr>
          <a:xfrm>
            <a:off x="365760" y="2267712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432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88720" y="23225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Framework IO Work Roles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IO-WRL-005 &amp; IO-WRL-007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754880" y="841248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754880" y="841248"/>
            <a:ext cx="347472" cy="603504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22" name="Text 17"/>
          <p:cNvSpPr/>
          <p:nvPr/>
        </p:nvSpPr>
        <p:spPr>
          <a:xfrm>
            <a:off x="4754880" y="841248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1005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577840" y="896112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Environment Overview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VMware/VirtualBox, VM specs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4754880" y="1554480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754880" y="1554480"/>
            <a:ext cx="347472" cy="60350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27" name="Text 21"/>
          <p:cNvSpPr/>
          <p:nvPr/>
        </p:nvSpPr>
        <p:spPr>
          <a:xfrm>
            <a:off x="4754880" y="1554480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080" y="171907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577840" y="1609344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Controls v8 &amp; DISA STIGs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frameworks</a:t>
            </a:r>
            <a:endParaRPr lang="en-US" sz="1300" dirty="0"/>
          </a:p>
        </p:txBody>
      </p:sp>
      <p:sp>
        <p:nvSpPr>
          <p:cNvPr id="30" name="Shape 23"/>
          <p:cNvSpPr/>
          <p:nvPr/>
        </p:nvSpPr>
        <p:spPr>
          <a:xfrm>
            <a:off x="4754880" y="2267712"/>
            <a:ext cx="4069080" cy="60350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4754880" y="2267712"/>
            <a:ext cx="347472" cy="60350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2" name="Text 25"/>
          <p:cNvSpPr/>
          <p:nvPr/>
        </p:nvSpPr>
        <p:spPr>
          <a:xfrm>
            <a:off x="4754880" y="2267712"/>
            <a:ext cx="3474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2432304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5577840" y="2322576"/>
            <a:ext cx="3172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Overview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 · Nessus · STIG Viewer · CIS-CAT</a:t>
            </a:r>
            <a:endParaRPr lang="en-US" sz="1300" dirty="0"/>
          </a:p>
        </p:txBody>
      </p:sp>
      <p:sp>
        <p:nvSpPr>
          <p:cNvPr id="35" name="Text 27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822960"/>
            <a:ext cx="2542032" cy="96012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822960"/>
            <a:ext cx="2542032" cy="640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886968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84048" y="1417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82112" y="822960"/>
            <a:ext cx="2542032" cy="96012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82112" y="822960"/>
            <a:ext cx="2542032" cy="640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3182112" y="886968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182112" y="1417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80176" y="822960"/>
            <a:ext cx="2542032" cy="96012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0176" y="822960"/>
            <a:ext cx="2542032" cy="640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80176" y="886968"/>
            <a:ext cx="2542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5980176" y="1417320"/>
            <a:ext cx="2542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 + Quizzes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" y="19933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Modules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" y="2359152"/>
            <a:ext cx="457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3865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1–3  </a:t>
            </a:r>
            <a:pPr indent="0" marL="0">
              <a:buNone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&amp; Baseline Hardening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84048" y="2834640"/>
            <a:ext cx="457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" y="28620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4–6  </a:t>
            </a:r>
            <a:pPr indent="0" marL="0">
              <a:buNone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Management &amp; Vulnerability Scanning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84048" y="3310128"/>
            <a:ext cx="457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33375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7–9  </a:t>
            </a:r>
            <a:pPr indent="0" marL="0">
              <a:buNone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Logging, Monitoring &amp; Auditing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4048" y="3785616"/>
            <a:ext cx="457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5" name="Text 23"/>
          <p:cNvSpPr/>
          <p:nvPr/>
        </p:nvSpPr>
        <p:spPr>
          <a:xfrm>
            <a:off x="530352" y="381304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  </a:t>
            </a:r>
            <a:pPr indent="0" marL="0">
              <a:buNone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&amp; Compliance-as-Code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84048" y="4261104"/>
            <a:ext cx="457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" y="42885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13–15  </a:t>
            </a:r>
            <a:pPr indent="0" marL="0">
              <a:buNone/>
            </a:pPr>
            <a:r>
              <a:rPr lang="en-US" sz="1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— Hardened Server Deployment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394960" y="19933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Breakdown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394960" y="2359152"/>
            <a:ext cx="3364992" cy="36576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94960" y="2359152"/>
            <a:ext cx="1179576" cy="365760"/>
          </a:xfrm>
          <a:prstGeom prst="rect">
            <a:avLst/>
          </a:prstGeom>
          <a:solidFill>
            <a:srgbClr val="2E75B6">
              <a:alpha val="8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0" y="240487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 (14)</a:t>
            </a:r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35%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94960" y="2834640"/>
            <a:ext cx="3364992" cy="36576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94960" y="2834640"/>
            <a:ext cx="841248" cy="365760"/>
          </a:xfrm>
          <a:prstGeom prst="rect">
            <a:avLst/>
          </a:prstGeom>
          <a:solidFill>
            <a:srgbClr val="1F6B75">
              <a:alpha val="8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0" y="288036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(12)</a:t>
            </a:r>
            <a:pPr indent="0" marL="0"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25%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394960" y="3310128"/>
            <a:ext cx="3364992" cy="36576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394960" y="3310128"/>
            <a:ext cx="676656" cy="365760"/>
          </a:xfrm>
          <a:prstGeom prst="rect">
            <a:avLst/>
          </a:prstGeom>
          <a:solidFill>
            <a:srgbClr val="C55A11">
              <a:alpha val="8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0" y="3355848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Quizzes (8)</a:t>
            </a:r>
            <a:pPr indent="0" marL="0">
              <a:buNone/>
            </a:pPr>
            <a:r>
              <a:rPr lang="en-US" sz="11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20%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394960" y="3785616"/>
            <a:ext cx="3364992" cy="36576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394960" y="3785616"/>
            <a:ext cx="338328" cy="365760"/>
          </a:xfrm>
          <a:prstGeom prst="rect">
            <a:avLst/>
          </a:prstGeom>
          <a:solidFill>
            <a:srgbClr val="1F3864">
              <a:alpha val="8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0" y="3831336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Exam</a:t>
            </a:r>
            <a:pPr indent="0" marL="0">
              <a:buNone/>
            </a:pPr>
            <a:r>
              <a:rPr lang="en-US" sz="11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10%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394960" y="4261104"/>
            <a:ext cx="3364992" cy="365760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394960" y="4261104"/>
            <a:ext cx="338328" cy="365760"/>
          </a:xfrm>
          <a:prstGeom prst="rect">
            <a:avLst/>
          </a:prstGeom>
          <a:solidFill>
            <a:srgbClr val="7B2C2C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0" y="4306824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pPr indent="0" marL="0">
              <a:buNone/>
            </a:pPr>
            <a:r>
              <a:rPr lang="en-US" sz="1100" b="1" dirty="0">
                <a:solidFill>
                  <a:srgbClr val="7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10%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Systems Administrator?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8046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SysAdmin keeps systems secure, stable, and operational.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235915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912" y="1426464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586" y="1558138"/>
            <a:ext cx="321869" cy="32186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33856" y="1499616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Deploy, configure &amp; maintain servers, VMs, and cloud instances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907792" y="1353312"/>
            <a:ext cx="235915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980944" y="1426464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618" y="1558138"/>
            <a:ext cx="321869" cy="3218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75888" y="1499616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Hardening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CIS Benchmarks, STIGs, and patch cadences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365760" y="2770632"/>
            <a:ext cx="235915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38912" y="2843784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586" y="2975458"/>
            <a:ext cx="321869" cy="3218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33856" y="2916936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Ansible/Terraform to enforce consistent state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2907792" y="2770632"/>
            <a:ext cx="2359152" cy="120700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2980944" y="2843784"/>
            <a:ext cx="585216" cy="585216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2618" y="2975458"/>
            <a:ext cx="321869" cy="32186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3675888" y="2916936"/>
            <a:ext cx="1499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scan reports, remediate findings, maintain audit trails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5376672" y="804672"/>
            <a:ext cx="3401568" cy="3621024"/>
          </a:xfrm>
          <a:prstGeom prst="rect">
            <a:avLst/>
          </a:prstGeom>
          <a:solidFill>
            <a:srgbClr val="1F3864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Text 17"/>
          <p:cNvSpPr/>
          <p:nvPr/>
        </p:nvSpPr>
        <p:spPr>
          <a:xfrm>
            <a:off x="5376672" y="841248"/>
            <a:ext cx="34015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PRACTICE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559552" y="1298448"/>
            <a:ext cx="2999232" cy="877824"/>
          </a:xfrm>
          <a:prstGeom prst="rect">
            <a:avLst/>
          </a:prstGeom>
          <a:solidFill>
            <a:srgbClr val="243F6A"/>
          </a:solidFill>
          <a:ln/>
        </p:spPr>
      </p:sp>
      <p:sp>
        <p:nvSpPr>
          <p:cNvPr id="25" name="Text 19"/>
          <p:cNvSpPr/>
          <p:nvPr/>
        </p:nvSpPr>
        <p:spPr>
          <a:xfrm>
            <a:off x="5669280" y="1371600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node environments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Multi-site, HA clusters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559552" y="2340864"/>
            <a:ext cx="2999232" cy="877824"/>
          </a:xfrm>
          <a:prstGeom prst="rect">
            <a:avLst/>
          </a:prstGeom>
          <a:solidFill>
            <a:srgbClr val="243F6A"/>
          </a:solidFill>
          <a:ln/>
        </p:spPr>
      </p:sp>
      <p:sp>
        <p:nvSpPr>
          <p:cNvPr id="27" name="Text 21"/>
          <p:cNvSpPr/>
          <p:nvPr/>
        </p:nvSpPr>
        <p:spPr>
          <a:xfrm>
            <a:off x="5669280" y="2414016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100–999 nodes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on-prem + cloud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559552" y="3383280"/>
            <a:ext cx="2999232" cy="877824"/>
          </a:xfrm>
          <a:prstGeom prst="rect">
            <a:avLst/>
          </a:prstGeom>
          <a:solidFill>
            <a:srgbClr val="243F6A"/>
          </a:solidFill>
          <a:ln/>
        </p:spPr>
      </p:sp>
      <p:sp>
        <p:nvSpPr>
          <p:cNvPr id="29" name="Text 23"/>
          <p:cNvSpPr/>
          <p:nvPr/>
        </p:nvSpPr>
        <p:spPr>
          <a:xfrm>
            <a:off x="5669280" y="3456432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SMB / Lab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100 nodes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generalist</a:t>
            </a:r>
            <a:endParaRPr lang="en-US" sz="1300" dirty="0"/>
          </a:p>
        </p:txBody>
      </p:sp>
      <p:sp>
        <p:nvSpPr>
          <p:cNvPr id="30" name="Text 24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Workforce Framework — IO Work Roles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777240"/>
            <a:ext cx="8412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maps to two Infrastructure &amp; Operations work roles: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84048" y="1188720"/>
            <a:ext cx="4160520" cy="3474720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84048" y="1188720"/>
            <a:ext cx="4160520" cy="6400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12252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A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IO-WRL-005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21208" y="144475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Administrator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85216" y="1938528"/>
            <a:ext cx="3758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Tasks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85216" y="2231136"/>
            <a:ext cx="37581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 &amp; maintain servers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OS-level hardening (CIS/STIG)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user accounts &amp; access controls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system health &amp; performance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18888" y="1188720"/>
            <a:ext cx="4160520" cy="3474720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818888" y="1188720"/>
            <a:ext cx="4160520" cy="640080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14" name="Text 12"/>
          <p:cNvSpPr/>
          <p:nvPr/>
        </p:nvSpPr>
        <p:spPr>
          <a:xfrm>
            <a:off x="4956048" y="1225296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AA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IO-WRL-007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56048" y="1444752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Operations Specialist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0056" y="1938528"/>
            <a:ext cx="3758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Tasks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0056" y="2231136"/>
            <a:ext cx="375818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maintain network services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firewall rules &amp; ACLs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DNS, DHCP &amp; VPN services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 to connectivity incidents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84048" y="482803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Cybersecurity Workforce Framework  ·  NIST SP 800-181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Environment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8046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Machine Requirements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84048" y="1170432"/>
            <a:ext cx="4160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12344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2344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 cores (8 recommended)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1645920"/>
            <a:ext cx="4160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1709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RAM: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572768" y="17099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minimum (32 GB ideal)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2121408"/>
            <a:ext cx="4160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1854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Disk: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1854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GB free (SSD preferred)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" y="2596896"/>
            <a:ext cx="4160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" y="26609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10/11, macOS, or Linux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4048" y="3072384"/>
            <a:ext cx="41605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31363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Hypervisor: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13639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VMware Workstation/Fusion or VirtualBox 7+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956048" y="8046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VMs You Will Build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956048" y="1170432"/>
            <a:ext cx="384048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170432"/>
            <a:ext cx="3840480" cy="4572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5102352" y="12070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A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Server  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VM-1: Rocky Linux 9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02352" y="1719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2 vCPU  ·  4 GB RAM  ·  40 GB disk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02352" y="20391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NAT + Host-Only NICs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02352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SSH enabled, no GUI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56048" y="2999232"/>
            <a:ext cx="3840480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56048" y="2999232"/>
            <a:ext cx="3840480" cy="457200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30" name="Text 28"/>
          <p:cNvSpPr/>
          <p:nvPr/>
        </p:nvSpPr>
        <p:spPr>
          <a:xfrm>
            <a:off x="5102352" y="303580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AADD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Server  </a:t>
            </a:r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VM-2: Ubuntu Server 22.04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102352" y="3547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2 vCPU  ·  4 GB RAM  ·  40 GB disk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102352" y="38679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NAT + Host-Only NICs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102352" y="41879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Minimal install, OpenSSH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4048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VMs share a Host-Only network (192.168.56.0/24) for inter-VM communication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Controls v8 — Introduction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8046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the CIS Controls?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" y="1133856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prioritized set of 18 safeguards developed by the Center for Internet Security (CIS) to defend against the most common cyber attacks. Used as a practical starting point for hardening before vendor-specific STIGs are applied.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215798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Levels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4048" y="2542032"/>
            <a:ext cx="5120640" cy="950976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2542032"/>
            <a:ext cx="822960" cy="9509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384048" y="2542032"/>
            <a:ext cx="8229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316736" y="2706624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security settings — minimal performance impact. Recommended for all systems.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84048" y="3621024"/>
            <a:ext cx="5120640" cy="950976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84048" y="3621024"/>
            <a:ext cx="822960" cy="95097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4" name="Text 12"/>
          <p:cNvSpPr/>
          <p:nvPr/>
        </p:nvSpPr>
        <p:spPr>
          <a:xfrm>
            <a:off x="384048" y="3621024"/>
            <a:ext cx="8229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316736" y="3785616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 settings — may impact usability. Recommended for high-security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50992" y="804672"/>
            <a:ext cx="3145536" cy="4206240"/>
          </a:xfrm>
          <a:prstGeom prst="rect">
            <a:avLst/>
          </a:prstGeom>
          <a:solidFill>
            <a:srgbClr val="1F3864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50992" y="841248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CIS SAFEGUARD GROUPS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760720" y="1188720"/>
            <a:ext cx="29260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Inventory of Enterprise Assets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Inventory of Software Assets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Data Protection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Secure Configuration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Account Management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Access Control Management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Continuous Vulnerability Mgmt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Audit Log Management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Email &amp; Web Browser Protection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Malware Defenses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Data Recovery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Network Infrastructure Mgmt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Network Monitoring &amp; Defense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Security Awareness Training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Service Provider Management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Application Software Security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Incident Response Management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Penetration Testing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 STIGs — Security Technical Implementation Guides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84048" y="8046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STIG?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84048" y="113385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STIGs are configuration standards published by the Defense Information Systems Agency (DISA). They specify precise settings for DoD-approved secure configurations of operating systems, applications, and network devices.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" y="1975104"/>
            <a:ext cx="45720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530352" y="2011680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Format: </a:t>
            </a:r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XCCDF (XML) — machine-parseable; viewed with STIG Viewer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84048" y="2505456"/>
            <a:ext cx="45720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542032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</a:t>
            </a:r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OS, applications, databases, network devices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4048" y="3035808"/>
            <a:ext cx="45720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3072384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cadence: </a:t>
            </a:r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releases; track via DISA Tracker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4048" y="3566160"/>
            <a:ext cx="45720" cy="40233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3602736"/>
            <a:ext cx="4892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</a:t>
            </a:r>
            <a:pPr indent="0" marL="0"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Viewer 3.x (free from public.cyber.mil)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50992" y="804672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Categories (CAT)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50992" y="1207008"/>
            <a:ext cx="3145536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650992" y="1207008"/>
            <a:ext cx="3145536" cy="347472"/>
          </a:xfrm>
          <a:prstGeom prst="rect">
            <a:avLst/>
          </a:prstGeom>
          <a:solidFill>
            <a:srgbClr val="7B2C2C"/>
          </a:solidFill>
          <a:ln/>
        </p:spPr>
      </p:sp>
      <p:sp>
        <p:nvSpPr>
          <p:cNvPr id="18" name="Text 16"/>
          <p:cNvSpPr/>
          <p:nvPr/>
        </p:nvSpPr>
        <p:spPr>
          <a:xfrm>
            <a:off x="5760720" y="126187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I  (HIGH)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162763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severity — immediate risk if not mitigated. Must fix first.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50992" y="2487168"/>
            <a:ext cx="3145536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650992" y="2487168"/>
            <a:ext cx="3145536" cy="347472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0" y="254203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II  (MEDIUM)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60720" y="290779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severity — exploitable vulnerability that may impact operations.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50992" y="3767328"/>
            <a:ext cx="3145536" cy="1133856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650992" y="3767328"/>
            <a:ext cx="3145536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0" y="382219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III  (LOW)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760720" y="4187952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severity — configuration weakness; fix to reduce attack surface.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84048" y="47548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course uses both CIS Benchmarks (Level 1 &amp; 2) and DISA STIGs for hardening requirements.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Toolchain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786384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56032" y="786384"/>
            <a:ext cx="2706624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Shape 5"/>
          <p:cNvSpPr/>
          <p:nvPr/>
        </p:nvSpPr>
        <p:spPr>
          <a:xfrm>
            <a:off x="393192" y="960120"/>
            <a:ext cx="603504" cy="603504"/>
          </a:xfrm>
          <a:prstGeom prst="ellipse">
            <a:avLst/>
          </a:prstGeom>
          <a:solidFill>
            <a:srgbClr val="2E75B6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8980" y="1095908"/>
            <a:ext cx="331927" cy="33192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70432" y="9875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Ansible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02336" y="1755648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Agentless configuration management via YAML playbooks. Used to enforce hardened OS state at scale.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200400" y="786384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786384"/>
            <a:ext cx="2706624" cy="5486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3" name="Shape 10"/>
          <p:cNvSpPr/>
          <p:nvPr/>
        </p:nvSpPr>
        <p:spPr>
          <a:xfrm>
            <a:off x="3337560" y="960120"/>
            <a:ext cx="603504" cy="603504"/>
          </a:xfrm>
          <a:prstGeom prst="ellipse">
            <a:avLst/>
          </a:prstGeom>
          <a:solidFill>
            <a:srgbClr val="C55A1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3348" y="1095908"/>
            <a:ext cx="331927" cy="33192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114800" y="9875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 Essentials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Scanner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46704" y="1755648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Plugin-based scanner. Identifies missing patches, misconfigs, and known CVEs across your lab VMs.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144768" y="786384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144768" y="786384"/>
            <a:ext cx="2706624" cy="5486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9" name="Shape 15"/>
          <p:cNvSpPr/>
          <p:nvPr/>
        </p:nvSpPr>
        <p:spPr>
          <a:xfrm>
            <a:off x="6281928" y="960120"/>
            <a:ext cx="603504" cy="603504"/>
          </a:xfrm>
          <a:prstGeom prst="ellipse">
            <a:avLst/>
          </a:prstGeom>
          <a:solidFill>
            <a:srgbClr val="1F3864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716" y="1095908"/>
            <a:ext cx="331927" cy="33192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7059168" y="9875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Viewer 3.x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STIG Checker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291072" y="1755648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DISA-published desktop tool. Opens XCCDF checklists, tracks CAT I/II/III findings per host.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56032" y="2724912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256032" y="2724912"/>
            <a:ext cx="2706624" cy="54864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25" name="Shape 20"/>
          <p:cNvSpPr/>
          <p:nvPr/>
        </p:nvSpPr>
        <p:spPr>
          <a:xfrm>
            <a:off x="393192" y="2898648"/>
            <a:ext cx="603504" cy="603504"/>
          </a:xfrm>
          <a:prstGeom prst="ellipse">
            <a:avLst/>
          </a:prstGeom>
          <a:solidFill>
            <a:srgbClr val="1F6B75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80" y="3034436"/>
            <a:ext cx="331927" cy="331927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170432" y="29260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CIS-CAT Lite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Scanner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402336" y="3694176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CIS tool that scores a system against CIS Benchmark profiles. Used in every lab assessment.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3200400" y="2724912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3200400" y="2724912"/>
            <a:ext cx="2706624" cy="54864"/>
          </a:xfrm>
          <a:prstGeom prst="rect">
            <a:avLst/>
          </a:prstGeom>
          <a:solidFill>
            <a:srgbClr val="4A4A8A"/>
          </a:solidFill>
          <a:ln/>
        </p:spPr>
      </p:sp>
      <p:sp>
        <p:nvSpPr>
          <p:cNvPr id="31" name="Shape 25"/>
          <p:cNvSpPr/>
          <p:nvPr/>
        </p:nvSpPr>
        <p:spPr>
          <a:xfrm>
            <a:off x="3337560" y="2898648"/>
            <a:ext cx="603504" cy="603504"/>
          </a:xfrm>
          <a:prstGeom prst="ellipse">
            <a:avLst/>
          </a:prstGeom>
          <a:solidFill>
            <a:srgbClr val="4A4A8A"/>
          </a:solidFill>
          <a:ln/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3034436"/>
            <a:ext cx="331927" cy="331927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114800" y="29260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OpenSCAP / oscap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4A4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SCAP Scanner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3346704" y="3694176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SCAP engine. Generates XCCDF/ARF reports consumable by STIG Viewer and SIEM tools.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6144768" y="2724912"/>
            <a:ext cx="2706624" cy="1755648"/>
          </a:xfrm>
          <a:prstGeom prst="rect">
            <a:avLst/>
          </a:prstGeom>
          <a:solidFill>
            <a:srgbClr val="F5F8FC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6144768" y="2724912"/>
            <a:ext cx="2706624" cy="54864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37" name="Shape 30"/>
          <p:cNvSpPr/>
          <p:nvPr/>
        </p:nvSpPr>
        <p:spPr>
          <a:xfrm>
            <a:off x="6281928" y="2898648"/>
            <a:ext cx="603504" cy="603504"/>
          </a:xfrm>
          <a:prstGeom prst="ellipse">
            <a:avLst/>
          </a:prstGeom>
          <a:solidFill>
            <a:srgbClr val="1F6B75"/>
          </a:solidFill>
          <a:ln/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7716" y="3034436"/>
            <a:ext cx="331927" cy="331927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7059168" y="2926080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Graylog (Week 9)</a:t>
            </a:r>
            <a:endParaRPr lang="en-US" sz="1300" dirty="0"/>
          </a:p>
          <a:p>
            <a:pPr indent="0" marL="0">
              <a:buNone/>
            </a:pPr>
            <a:r>
              <a:rPr lang="en-US" sz="9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Management</a:t>
            </a:r>
            <a:endParaRPr lang="en-US" sz="1300" dirty="0"/>
          </a:p>
        </p:txBody>
      </p:sp>
      <p:sp>
        <p:nvSpPr>
          <p:cNvPr id="40" name="Text 32"/>
          <p:cNvSpPr/>
          <p:nvPr/>
        </p:nvSpPr>
        <p:spPr>
          <a:xfrm>
            <a:off x="6291072" y="3694176"/>
            <a:ext cx="2432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syslog platform. Ships logs from both VMs; creates dashboards and alerts for anomaly detection.</a:t>
            </a:r>
            <a:endParaRPr lang="en-US" sz="1000" dirty="0"/>
          </a:p>
        </p:txBody>
      </p:sp>
      <p:sp>
        <p:nvSpPr>
          <p:cNvPr id="41" name="Text 33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82296"/>
            <a:ext cx="8321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Lab 1 &amp; Assignment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658368"/>
            <a:ext cx="9144000" cy="4572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4048" y="804672"/>
            <a:ext cx="4206240" cy="4169664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84048" y="804672"/>
            <a:ext cx="4206240" cy="47548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832104"/>
            <a:ext cx="3913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 ·  Environment Setup &amp; Baseline Scanning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0352" y="1371600"/>
            <a:ext cx="3895344" cy="340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Provision VM-1 (Rocky Linux 9) and VM-2 (Ubuntu 22.04)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Configure networking: NAT + Host-Only adapter on each VM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Confirm SSH access from host to both VMs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Download and install CIS-CAT Lite on VM-1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Run a CIS Benchmark Level 1 scan against Rocky Linux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6: Export the HTML scan report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7: Screenshot your lowest-scoring control for the lab report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19472" y="804672"/>
            <a:ext cx="3877056" cy="1865376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19472" y="804672"/>
            <a:ext cx="3877056" cy="475488"/>
          </a:xfrm>
          <a:prstGeom prst="rect">
            <a:avLst/>
          </a:prstGeom>
          <a:solidFill>
            <a:srgbClr val="1F6B75"/>
          </a:solidFill>
          <a:ln/>
        </p:spPr>
      </p:sp>
      <p:sp>
        <p:nvSpPr>
          <p:cNvPr id="11" name="Text 9"/>
          <p:cNvSpPr/>
          <p:nvPr/>
        </p:nvSpPr>
        <p:spPr>
          <a:xfrm>
            <a:off x="5065776" y="832104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 1  ·  Syllabus Quiz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65776" y="13716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of Week 2
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 (Canvas)
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F6B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  ·  Unlimited attempts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19472" y="2798064"/>
            <a:ext cx="3877056" cy="2176272"/>
          </a:xfrm>
          <a:prstGeom prst="rect">
            <a:avLst/>
          </a:prstGeom>
          <a:solidFill>
            <a:srgbClr val="EBF3FB"/>
          </a:solidFill>
          <a:ln w="6350">
            <a:solidFill>
              <a:srgbClr val="D0DF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919472" y="2798064"/>
            <a:ext cx="3877056" cy="329184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5" name="Text 13"/>
          <p:cNvSpPr/>
          <p:nvPr/>
        </p:nvSpPr>
        <p:spPr>
          <a:xfrm>
            <a:off x="5065776" y="2834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Next Class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65776" y="3200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VMware Workstation / VirtualBox on your host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Rocky Linux 9 minimal ISO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Ubuntu Server 22.04 LTS ISO</a:t>
            </a:r>
            <a:endParaRPr lang="en-US" sz="1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Bookmark: public.cyber.mil (STIG Viewer download)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243A68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3474720"/>
            <a:ext cx="2560320" cy="2560320"/>
          </a:xfrm>
          <a:prstGeom prst="ellipse">
            <a:avLst/>
          </a:prstGeom>
          <a:solidFill>
            <a:srgbClr val="243A68"/>
          </a:solidFill>
          <a:ln/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4754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822960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02920" y="1408176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SysAdmins own security, stability, and compliance across the infrastructure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Framework maps our skills to IO-WRL-005 and IO-WRL-007 job roles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Controls v8 provides 18 prioritized safeguards (Level 1 &amp; Level 2)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 STIGs give precise CAT I/II/III hardening requirements per platform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DDE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toolchain: Ansible · Nessus · STIG Viewer · CIS-CAT · OpenSCAP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3611880"/>
            <a:ext cx="5303520" cy="1280160"/>
          </a:xfrm>
          <a:prstGeom prst="rect">
            <a:avLst/>
          </a:prstGeom>
          <a:solidFill>
            <a:srgbClr val="243A68"/>
          </a:solidFill>
          <a:ln w="6350">
            <a:solidFill>
              <a:srgbClr val="D0DF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657600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DD7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 (Week 2): OS Hardening Fundamentals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3977640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Level 1 remediation on Rocky Linux · systemd service hardening · PAM configuration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4370832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2: Harden your Rocky Linux VM to CIS Level 1 · target ≥ 80% compliance score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6400800" y="1005840"/>
            <a:ext cx="2286000" cy="22860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6035040" y="36576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03504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A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sebastian.hayes@cyberjousting.com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778240" y="4850892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IT&amp;C 444 – Week 1: Introduction &amp; Environment Setup</dc:title>
  <dc:subject>PptxGenJS Presentation</dc:subject>
  <dc:creator>IT&amp;C 444 Instructor</dc:creator>
  <cp:lastModifiedBy>IT&amp;C 444 Instructor</cp:lastModifiedBy>
  <cp:revision>1</cp:revision>
  <dcterms:created xsi:type="dcterms:W3CDTF">2026-04-22T06:08:27Z</dcterms:created>
  <dcterms:modified xsi:type="dcterms:W3CDTF">2026-04-22T06:08:27Z</dcterms:modified>
</cp:coreProperties>
</file>