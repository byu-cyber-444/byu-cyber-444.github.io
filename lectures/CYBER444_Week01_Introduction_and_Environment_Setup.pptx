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6" r:id="rId4"/>
    <p:sldId id="28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82" r:id="rId28"/>
    <p:sldId id="283" r:id="rId29"/>
    <p:sldId id="284" r:id="rId30"/>
    <p:sldId id="285" r:id="rId31"/>
    <p:sldId id="279" r:id="rId32"/>
    <p:sldId id="28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58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7F96-EB29-131F-B18B-59DEE1493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5C889-1CB8-8532-CE03-1EF28C90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163E7-B170-E22D-3B5A-0791A0E6D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6091-3EEC-04BA-0924-DB557CB7A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40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444  ·  Fall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&amp; Thursdays, 4:00–5:50 PM  ·  CTB 350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983AA-0D29-FCDC-BAAD-4D0E472768CC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Prayer sign 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91A17-3EFD-73F4-AF1D-8A720EB62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58B9-3234-48F1-A8FF-3B8A6A50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13EA76-6055-820C-839D-44A5708C69C4}"/>
              </a:ext>
            </a:extLst>
          </p:cNvPr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System Administration?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14B981-CDA7-D139-72BE-96598C01E3BE}"/>
              </a:ext>
            </a:extLst>
          </p:cNvPr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Sysadmins and IT admins keep production systems running: provisioning, patching, hardening, monitoring, and responding when things break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sits at the intersection of two adjacent careers: security-focused sysadmin work and infrastructure/IT operations work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 · 2 hrs lecture + 2 hrs in-person lab per week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&amp; Thursdays, 4:00–5:50 PM, CTB 350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semester: a hardened multi-node Proxmox/Ceph environment you built yourself, Linux and Windows Server administration experience, and a documented GitHub portfolio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5790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System Administration?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Sysadmins and IT admins keep production systems running: provisioning, patching, hardening, monitoring, and responding when things break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sits at the intersection of two adjacent careers: security-focused sysadmin work and infrastructure/IT operations work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 · 2 hrs lecture + 2 hrs in-person lab per week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&amp; Thursdays, 4:00–5:50 PM, CTB 350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semester: a hardened multi-node Proxmox/Ceph environment you built yourself, Linux and Windows Server administration experience, and a documented GitHub portfolio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a hardened Linux and Windows Server lab environment suitable for production-grade work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Active Directory and Group Policy fundamentals to manage a small Windows estate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 basic patch management pipeline and certificate / PKI infrastructure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operations work using a GitHub-based pull request workflow that mirrors industry change management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present a multi-week capstone infrastructure project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You Should Already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27168" cy="3931920"/>
          </a:xfrm>
          <a:prstGeom prst="roundRect">
            <a:avLst>
              <a:gd name="adj" fmla="val 2791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69164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Line &amp; Automation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45870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GitHub: cloning, branching, committing, and opening a pull request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basics: shell navigation, vim or nano, permissions, pipes, and redirection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Bash and other scripting: writing and reading simple automation scripts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SSH: connecting to a remote host with key-based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24448" y="1417320"/>
            <a:ext cx="5227168" cy="3931920"/>
          </a:xfrm>
          <a:prstGeom prst="roundRect">
            <a:avLst>
              <a:gd name="adj" fmla="val 2791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44488" y="169164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Security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4488" y="2286000"/>
            <a:ext cx="45870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provisioning fundamentals: creating a VM, attaching storage and network, and installing an OS from an ISO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basics: IP addressing and subnetting, DNS, and basic routing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Windows Active Directory: users, groups, organizational units, and Group Policy fundamentals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scanning: running a scanner and interpreting basic results</a:t>
            </a:r>
            <a:endParaRPr lang="en-US" sz="1300" dirty="0"/>
          </a:p>
          <a:p>
            <a:pPr marL="228600" indent="-228600" algn="l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writing: documenting findings and procedures in clear, structured technical writing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56235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feel shaky, review them during Week 1. Labs assume this baseline and move quickly from there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Tracks: Cyber vs.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is delivered in two parallel tracks: a Cyber Track and an IT Track</a:t>
            </a:r>
            <a:endParaRPr lang="en-US" sz="1400" dirty="0"/>
          </a:p>
          <a:p>
            <a:pPr marL="279400" indent="-279400" algn="l"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and the midterm are shared across both tracks; most weeks each track has its own lab and homework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Track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458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engineering, SOC, GRC, or compliance-focused sysadmin roles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(CIS/STIG), audit &amp; logging, vulnerability remediation, Ansible, container security, incident response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8" y="251460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44488" y="278892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Track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44488" y="3383280"/>
            <a:ext cx="45870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engineering, IT operations, cloud, or platform roles</a:t>
            </a:r>
            <a:endParaRPr lang="en-US" sz="1400" dirty="0"/>
          </a:p>
          <a:p>
            <a:pPr marL="228600" indent="-228600" algn="l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workflows, networking/DNS, high availability, data center ops, cloud IAM, Prometheus/Grafana monitoring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Tracks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assignments are required for everyone, regardless of track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your track; no formal declaration or registration is needed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assignment per week from your chosen track; you may switch tracks week to week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both the Cyber and IT version in a given week earns no extra credit: only one counts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Track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pick a primary track early and stay mostly consistent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labs build progressively for some assignments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Cyber if aiming at security, GRC, SOC, or compliance careers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if aiming at IT operations, infrastructure, cloud, SRE, or platform careers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Project has both a Cyber and an IT version; pick either, regardless of your weekly track history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Assignments &amp; Grading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Breakdown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872542"/>
              </p:ext>
            </p:extLst>
          </p:nvPr>
        </p:nvGraphicFramePr>
        <p:xfrm>
          <a:off x="640080" y="1554480"/>
          <a:ext cx="10911535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Labs (12)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in lab session; report due within one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 (11)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Written, scripted, and analysis assignments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Midterm Exam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9, individual tabletop exercise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9–15, Cyber or IT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Labs &amp; Homework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are the core of the course, submitted through a GitHub-based workflow that mirrors professional sysadmin documentation practice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branch → write labs/lab-NN.md as a runbook (commands, expected vs. actual output, screenshots, analysis) → commit supporting artifacts → open a PR titled “Grade: lab-NN" → </a:t>
            </a:r>
            <a:r>
              <a:rPr lang="en-US" sz="1600" dirty="0" err="1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Autograder</a:t>
            </a: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your work→ address feedback → merge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due Thursdays 11:59 PM (one week after the lab session); Homework due Tuesdays 11:59 PM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lab and homework score will be dropped.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Submitting Assignments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assignments are due at 11:59 PM on the posted date. Make sure the pull request itself is open before the deadline, not just committed locally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work is not accepted: submissions after the deadline receive a zero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university accommodations: contact the instructor at least 24 hours before the due date; requests made after a deadline are not considered retroactively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(network outages, VM failures, hardware problems) are a routine hazard in a systems administration course and are not grounds for an extension, so keep backups and submit early</a:t>
            </a:r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your GitHub username to create the repo for you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Midterm Exam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5% of grade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tabletop exercise, not a written exam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scenarios for both tracks, covering Weeks 1–8 lecture material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course's Dungeon Master narrates encounters and adjudicates outcomes in place of a live proctor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make-up midterms except university-recognized excused absences arranged in advance</a:t>
            </a:r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new system, so everyone will get a minimum of 60% for just taking the exam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Multi-week capstone, Weeks 9–15 · 10% of grade · serves as the final exam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Track: design, harden, document, and present infrastructure meeting CIS Level 2 / applicable DISA STIG requirements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Track: design, build, document, and present an enterprise infrastructure deliverable (operations, networking, cloud, monitoring, policy)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assignment (Groups of 2): no help from the instructor, TAs, or classmates beyond clarifying grading/scope questions</a:t>
            </a:r>
            <a:endParaRPr lang="en-US" sz="15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 Week 9; final deliverable and live presentation due the last class day (Dec 10)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Policies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at both lecture and lab is expected; notify the instructor in advance if you need to miss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are not recorded as a general practice; exceptions may be made case-by-case for university-excused absences, so contact the instructor before the missed session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graded component, but course material builds week over week and lab work cannot easily be replicated outside scheduled sessions, so frequent absences will likely be reflected in your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work is not accepted: assignments and lab reports after the deadline receive a zero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university accommodation? Contact the instructor at least 24 hours before the due date to arrange alternatives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requests made after a deadline has passed will not be considered retroactively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(network outages, VM failures, hardware problems) are a routine hazard in this course and are not grounds for an extension, so maintain regular backups and submit early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ways to reach the instructor: Discord or email, both monitored equally</a:t>
            </a:r>
          </a:p>
          <a:p>
            <a:pPr marL="279400" indent="-2794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 reply within one business day; weekend/after-5 PM messages are answered the next business day (Hours: M–F, 9 AM–5 PM)</a:t>
            </a:r>
          </a:p>
          <a:p>
            <a:pPr marL="279400" indent="-2794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lab-related questions, grading questions, or troubleshooting, contact the Teaching Assistant first for the fastest turnaround</a:t>
            </a:r>
          </a:p>
          <a:p>
            <a:pPr marL="279400" indent="-2794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questions others might benefit from in the Discord channel rather than a DM; keep personal matters (grade disputes, accommodations) to email or a private message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AI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(ChatGPT, Claude, Copilot, Gemini, and similar) is permitted as a study/reference aid, in roughly the same spirit as a search engine, man page, or Stack Overflow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permitted: using AI to produce the substance of your work. Submitting AI-generated or heavily-rewritten output as your own is an Academic Honesty violation, regardless of how much you edited it afterward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Permitted: explaining a concept, looking up syntax, a short boilerplate snippet you build on and understand, feedback on something you already wrote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permitted: generating a full/majority lab report or homework response, having AI write or restructure your scripts/configs, using AI to answer reflection questions meant to demonstrate your own understanding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test: if you couldn't explain what you submitted line-by-line (script) or paragraph-by-paragraph (writing), you've likely crossed the line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disclose. A brief AI-use note at the end of a submission is never held against you; undisclosed use that surfaces later is an academic honesty violation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Honesty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injunction of the Honor Code is the call to "be honest": complete your own work and be evaluated based on it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academic dishonesty in all its forms: plagiarism, fabrication or falsification, cheating, and other misconduct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 specifically: submitting another student's lab report or scripts as your own, and undisclosed AI-generated substantive work, are both violations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policy: see the Academic Honesty section of the syllabus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103120" y="23774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Setup: Proxmox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Proxmox?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VE: an open-source, type-1 hypervisor plus clustering and storage platform. It's the lab environment for this entire semester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assigned 3 Proxmox nodes and join them into a single cluster using Corosync for cluster communication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enables quorum-based safety, live migration, and high availability: foundational concepts you'll rely on all semester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in Week 1 (cluster, Ceph pool, admin user, VM template) is the foundation every later lab runs on top of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&amp; Ceph Fundamentals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1153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Quorum: a majority of nodes must agree before risky operations run; with 3 nodes, you can lose 1 and stay quorate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Ceph: distributed, replicated storage layer on top of the cluster, with a default replication factor of 3 and min_size of 2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both layers share: tolerate one failure, keep functioning. That's why 3 nodes is the practical minimum, not an arbitrary number</a:t>
            </a:r>
            <a:endParaRPr lang="en-US" sz="1600" dirty="0"/>
          </a:p>
          <a:p>
            <a:pPr marL="279400" indent="-279400" algn="l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interfaces are never exposed to the public internet; access is only through a WireGuard VPN tunnel, mirroring real production practice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How Corosync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Every Proxmox cluster runs Corosync underneath: a token-passing protocol that keeps all nodes in agreement about who is alive and whether the cluster still holds quorum.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7196" y="1810512"/>
            <a:ext cx="2194560" cy="65836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Node 1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(Proxmox 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3108960"/>
            <a:ext cx="2194560" cy="65836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Node 2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(Proxmox 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88552" y="3108960"/>
            <a:ext cx="2194560" cy="65836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Node 3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(Proxmox VE)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560320" y="2468880"/>
            <a:ext cx="3442716" cy="64008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85916" y="2468880"/>
            <a:ext cx="3991356" cy="64008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49040" y="3355848"/>
            <a:ext cx="523951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59152" y="2468880"/>
            <a:ext cx="3442716" cy="640080"/>
          </a:xfrm>
          <a:prstGeom prst="line">
            <a:avLst/>
          </a:prstGeom>
          <a:ln w="17780">
            <a:solidFill>
              <a:srgbClr val="1B2A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87084" y="2468880"/>
            <a:ext cx="3991356" cy="640080"/>
          </a:xfrm>
          <a:prstGeom prst="line">
            <a:avLst/>
          </a:prstGeom>
          <a:ln w="17780">
            <a:solidFill>
              <a:srgbClr val="1B2A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40" y="3538728"/>
            <a:ext cx="5239512" cy="0"/>
          </a:xfrm>
          <a:prstGeom prst="line">
            <a:avLst/>
          </a:prstGeom>
          <a:ln w="17780">
            <a:solidFill>
              <a:srgbClr val="1B2A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0080" y="3950208"/>
            <a:ext cx="146304" cy="14630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8862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5A80"/>
                </a:solidFill>
                <a:latin typeface="Calibri"/>
              </a:rPr>
              <a:t>Ring 0 - primary Corosync link (Lab 1: ens19)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950208"/>
            <a:ext cx="146304" cy="14630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0256" y="38862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3D5A80"/>
                </a:solidFill>
                <a:latin typeface="Calibri"/>
              </a:rPr>
              <a:t>Ring 1 - redundant link if Ring 0 fails (Lab 1: ens20)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4334256"/>
          <a:ext cx="10908792" cy="224942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How nodes agree on membership &amp; quorum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Proxmox 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Corosync UDP token ring (ring0/ring1) + votequorum for majority voting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VMware vSphere HA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FDM agent heartbeats over the mgmt network; datastore heartbeat as backup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Hyper-V Failover Clustering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Cluster Service heartbeats over cluster network(s); witness breaks ties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Nutanix AHV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Zookeeper/Cassandra-style distributed consensus across Controller VMs (CVMs)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XCP-ng (Xen Orchestra HA)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xhad heartbeat daemon; heartbeats written to shared storage, not a network ring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How Ceph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Ceph turns local disks across all 3 nodes into one replicated, self-healing pool that any node's VMs can read and write.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3D5A80"/>
                </a:solidFill>
                <a:latin typeface="Calibri"/>
              </a:rPr>
              <a:t>Monitors (MONs) keep the
cluster map - need their own quorum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6" y="1755648"/>
            <a:ext cx="105156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62956" y="1755648"/>
            <a:ext cx="105156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6" y="1755648"/>
            <a:ext cx="1051560" cy="4572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 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88636" y="1984248"/>
            <a:ext cx="274320" cy="0"/>
          </a:xfrm>
          <a:prstGeom prst="line">
            <a:avLst/>
          </a:prstGeom>
          <a:ln w="1524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14516" y="1984248"/>
            <a:ext cx="274320" cy="0"/>
          </a:xfrm>
          <a:prstGeom prst="line">
            <a:avLst/>
          </a:prstGeom>
          <a:ln w="1524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62456" y="2715768"/>
            <a:ext cx="1554480" cy="731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writes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2715768"/>
            <a:ext cx="2103120" cy="7315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Primary OSD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Node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4456" y="2715768"/>
            <a:ext cx="2103120" cy="7315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Replica OSD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Node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94776" y="2715768"/>
            <a:ext cx="2103120" cy="7315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Replica OSD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Node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16936" y="3081528"/>
            <a:ext cx="457200" cy="0"/>
          </a:xfrm>
          <a:prstGeom prst="line">
            <a:avLst/>
          </a:prstGeom>
          <a:ln w="2540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77256" y="3081528"/>
            <a:ext cx="457200" cy="0"/>
          </a:xfrm>
          <a:prstGeom prst="line">
            <a:avLst/>
          </a:prstGeom>
          <a:ln w="2540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37576" y="3081528"/>
            <a:ext cx="457200" cy="0"/>
          </a:xfrm>
          <a:prstGeom prst="line">
            <a:avLst/>
          </a:prstGeom>
          <a:ln w="2540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25496" y="24231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3D5A80"/>
                </a:solidFill>
                <a:latin typeface="Calibri"/>
              </a:rPr>
              <a:t>CRUSH map picks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4231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1">
                <a:solidFill>
                  <a:srgbClr val="3D5A80"/>
                </a:solidFill>
                <a:latin typeface="Calibri"/>
              </a:rPr>
              <a:t>synchronous replication (size=3, min_size=2)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39896"/>
            <a:ext cx="5317236" cy="2843784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3849624"/>
            <a:ext cx="49149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mbria"/>
              </a:rPr>
              <a:t>Disk Roles: HDD vs SSD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42816"/>
            <a:ext cx="4914900" cy="2249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SSD - low latency; ideal for OSD DB/WAL (metadata) devices and all-flash pools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HDD - high capacity, low $/TB; fine for bulk/cold data behind an SSD-backed DB/WAL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Mixed sizes - CRUSH weights OSDs by capacity, so a 2x bigger disk simply stores ~2x the data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Never mix HDD and SSD OSDs in the same pool/CRUSH rule - use separate device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739896"/>
            <a:ext cx="5317236" cy="2843784"/>
          </a:xfrm>
          <a:prstGeom prst="round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2804" y="3849624"/>
            <a:ext cx="49149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mbria"/>
              </a:rPr>
              <a:t>Other Hypervisors' Storage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242816"/>
            <a:ext cx="4914900" cy="2249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VMware vSAN - object store across disk groups (SSD cache tier + HDD/SSD capacity tier)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Microsoft S2D (Hyper-V) - Storage Spaces Direct: software RAID over local disks, cache+capacity tiers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Nutanix AHV - Distributed Storage Fabric (Stargate); per-VM oplog on SSD, tiers to HDD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oVirt/RHV - hyperconverged GlusterFS, or external Ceph/iSCSI/NFS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3D5A80"/>
                </a:solidFill>
                <a:latin typeface="Calibri"/>
              </a:rPr>
              <a:t>•  XCP-ng - no native distributed FS; relies on a shared NFS/iSCSI SAN or add-ons (e.g. LINSTOR)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General Clustering &amp; High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Every hypervisor cluster answers the same question after a node failure: are we still safe to act, and can we act without risking two copies of the same VM running at once (split-brain)?</a:t>
            </a:r>
          </a:p>
        </p:txBody>
      </p:sp>
      <p:sp>
        <p:nvSpPr>
          <p:cNvPr id="4" name="Oval 3"/>
          <p:cNvSpPr/>
          <p:nvPr/>
        </p:nvSpPr>
        <p:spPr>
          <a:xfrm>
            <a:off x="1429207" y="165506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962302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Node Fails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power / network loss</a:t>
            </a:r>
          </a:p>
        </p:txBody>
      </p:sp>
      <p:sp>
        <p:nvSpPr>
          <p:cNvPr id="6" name="Oval 5"/>
          <p:cNvSpPr/>
          <p:nvPr/>
        </p:nvSpPr>
        <p:spPr>
          <a:xfrm>
            <a:off x="3665829" y="165506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6702" y="2148840"/>
            <a:ext cx="1962302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Heartbeat Missed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past the timeout window</a:t>
            </a:r>
          </a:p>
        </p:txBody>
      </p:sp>
      <p:sp>
        <p:nvSpPr>
          <p:cNvPr id="8" name="Oval 7"/>
          <p:cNvSpPr/>
          <p:nvPr/>
        </p:nvSpPr>
        <p:spPr>
          <a:xfrm>
            <a:off x="5902451" y="165506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3324" y="2148840"/>
            <a:ext cx="1962302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Quorum Check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still hold a majority?</a:t>
            </a:r>
          </a:p>
        </p:txBody>
      </p:sp>
      <p:sp>
        <p:nvSpPr>
          <p:cNvPr id="10" name="Oval 9"/>
          <p:cNvSpPr/>
          <p:nvPr/>
        </p:nvSpPr>
        <p:spPr>
          <a:xfrm>
            <a:off x="8139073" y="165506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9946" y="2148840"/>
            <a:ext cx="1962302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Fencing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isolate the failed node</a:t>
            </a:r>
          </a:p>
        </p:txBody>
      </p:sp>
      <p:sp>
        <p:nvSpPr>
          <p:cNvPr id="12" name="Oval 11"/>
          <p:cNvSpPr/>
          <p:nvPr/>
        </p:nvSpPr>
        <p:spPr>
          <a:xfrm>
            <a:off x="10375695" y="165506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86568" y="2148840"/>
            <a:ext cx="1962302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HA Restarts VM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on a healthy 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5806" y="2628900"/>
            <a:ext cx="34747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2428" y="2628900"/>
            <a:ext cx="34747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39050" y="2628900"/>
            <a:ext cx="34747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75672" y="2628900"/>
            <a:ext cx="347472" cy="0"/>
          </a:xfrm>
          <a:prstGeom prst="line">
            <a:avLst/>
          </a:prstGeom>
          <a:ln w="28575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429000"/>
          <a:ext cx="10908792" cy="3154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HA manager &amp; fencing mechanism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Proxmox 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HA Manager + watchdog-based self-fencing (node resets itself via hardware/softdog watchdog)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VMware vSphere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vSphere HA (FDM) + DRS; admission control reserves failover capacity in advance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Hyper-V Failover Clustering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Cluster Service + Cluster-Aware Updating; a witness (disk/share/cloud) breaks quorum ties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Nutanix AHV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Acropolis HA; CVM-based, VMs automatically restart on a healthy host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oVirt / RHV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Pacemaker-based Manager HA (self-hosted engine) + IPMI/iLO/iDRAC fencing agents for hosts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How Time Drift Breaks All of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3584"/>
            <a:ext cx="10908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Corosync and Ceph are both clock-sensitive (Lab 1, Part 2) - chrony (Lab 2) is what keeps every node's clock close enough that these systems' built-in timeouts stay meaningful.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606040"/>
            <a:ext cx="10424160" cy="0"/>
          </a:xfrm>
          <a:prstGeom prst="line">
            <a:avLst/>
          </a:prstGeom>
          <a:ln w="28575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2715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3D5A80"/>
                </a:solidFill>
                <a:latin typeface="Calibri"/>
              </a:rPr>
              <a:t>clock drift increases --&gt;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27157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3D5A80"/>
                </a:solidFill>
                <a:latin typeface="Calibri"/>
              </a:rPr>
              <a:t>(not to scale)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478024"/>
            <a:ext cx="0" cy="256032"/>
          </a:xfrm>
          <a:prstGeom prst="line">
            <a:avLst/>
          </a:prstGeom>
          <a:ln w="317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1645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~50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4767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3D5A80"/>
                </a:solidFill>
                <a:latin typeface="Calibri"/>
              </a:rPr>
              <a:t>Ceph MON clock skew warning
(HEALTH_WARN)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2478024"/>
            <a:ext cx="0" cy="256032"/>
          </a:xfrm>
          <a:prstGeom prst="line">
            <a:avLst/>
          </a:prstGeom>
          <a:ln w="317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0" y="28986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~1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3D5A80"/>
                </a:solidFill>
                <a:latin typeface="Calibri"/>
              </a:rPr>
              <a:t>Corosync token timeout risk
(spurious node eviction)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478024"/>
            <a:ext cx="0" cy="256032"/>
          </a:xfrm>
          <a:prstGeom prst="line">
            <a:avLst/>
          </a:prstGeom>
          <a:ln w="317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0" y="1645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~5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94767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3D5A80"/>
                </a:solidFill>
                <a:latin typeface="Calibri"/>
              </a:rPr>
              <a:t>Kerberos ticket validation
starts failing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07040" y="2478024"/>
            <a:ext cx="0" cy="256032"/>
          </a:xfrm>
          <a:prstGeom prst="line">
            <a:avLst/>
          </a:prstGeom>
          <a:ln w="31750">
            <a:solidFill>
              <a:srgbClr val="00B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0" y="28986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B2A4A"/>
                </a:solidFill>
                <a:latin typeface="Calibri"/>
              </a:rPr>
              <a:t>minutes+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0040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3D5A80"/>
                </a:solidFill>
                <a:latin typeface="Calibri"/>
              </a:rPr>
              <a:t>TLS cert checks &amp; cross-host
log correlation break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977639"/>
          <a:ext cx="10908792" cy="2606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Subsystem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Typical tolerance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 when it's exceeded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Corosync token timeout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~1 sec default (tunable)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Healthy node presumed dead - spurious fencing, cluster flapping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Ceph monitor clock skew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50 ms warning threshold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HEALTH_WARN clock skew; large skew can stall MON quorum (Paxos)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Kerberos ticket validation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5 min default max skew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Authentication failures across the domain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TLS/PKI certificate checks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absolute time, no tolerance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Certs appear not-yet-valid or already expired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A"/>
                          </a:solidFill>
                          <a:latin typeface="Calibri"/>
                        </a:rPr>
                        <a:t>Cross-host log/audit correlation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none (ordering assumption)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3D5A80"/>
                          </a:solidFill>
                          <a:latin typeface="Calibri"/>
                        </a:rPr>
                        <a:t>Events reorder across hosts; incident forensics unreliable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B2A4A"/>
                </a:solidFill>
                <a:latin typeface="Cambria"/>
              </a:rPr>
              <a:t>Shared Storage: Pros &amp; Cons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61872"/>
            <a:ext cx="109087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3D5A80"/>
                </a:solidFill>
                <a:latin typeface="Calibri"/>
              </a:rPr>
              <a:t>No two clusters use the same storage backend - the right choice trades complexity for resilience differently depending on what you're building.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65960"/>
          <a:ext cx="10908792" cy="46177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354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Storage Type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Live Migration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Fault Tolerance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Best Fit &amp; Trade-off</a:t>
                      </a:r>
                    </a:p>
                  </a:txBody>
                  <a:tcPr marL="82296" marR="82296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Ceph (RBD / CephFS)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Self-healing, no single point of failure (replicated, size=3)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Good; network + replication overhead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Hyperconverged clusters like this course's lab - needs 3+ nodes and is network-sensitive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NFS (external share)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Single server unless clustered - SPOF by default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Fine for ISOs/templates/backups, not latency-critical VM disks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Simple to stand up; best for ISO/template/backup storage, not primary VM storage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iSCSI / SAN (block)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Entirely dependent on the SAN hardware's own redundancy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Strong block performance with multipathing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Good fit where a SAN investment already exists; needs a shared/clustered filesystem on top for migration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3544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B2A4A"/>
                          </a:solidFill>
                          <a:latin typeface="Calibri"/>
                        </a:rPr>
                        <a:t>Local (ZFS / LVM per node)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02A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None - the VM is tied to whichever node holds its disk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Fastest option; zero network overhead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D5A80"/>
                          </a:solidFill>
                          <a:latin typeface="Calibri"/>
                        </a:rPr>
                        <a:t>Single-node labs/dev; no HA or live migration without a separate storage-migration step</a:t>
                      </a:r>
                    </a:p>
                  </a:txBody>
                  <a:tcPr marL="82296" marR="82296" marT="27432" marB="27432" anchor="ctr"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Lab 1 &amp; Homework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27168" cy="233172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67335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· Proxmox Orientation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07568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Tracks, ~3.5 hrs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remote access, 3-node Proxmox cluster, Ceph deployment, non-root admin user, Rocky Linux 9 template, rolling package updates on a live cluster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227168" cy="233172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/>
          <a:effectLst>
            <a:outerShdw blurRad="76200" dist="25400" dir="5400000" algn="bl" rotWithShape="0">
              <a:srgbClr val="1B2A4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44488" y="1673352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 1 · Syllabus Quiz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44488" y="2075688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44488" y="2468880"/>
            <a:ext cx="458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you've read and understood the policies covered today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06908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Lab 1 right now: it's the foundation every future lab this semester depends on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920240"/>
            <a:ext cx="1371600" cy="1371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13248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Hayes  ·  sebastian.hayes@byu.edu  ·  Discord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3012</Words>
  <Application>Microsoft Office PowerPoint</Application>
  <PresentationFormat>Widescreen</PresentationFormat>
  <Paragraphs>312</Paragraphs>
  <Slides>32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Sebastian Hayes</cp:lastModifiedBy>
  <cp:revision>5</cp:revision>
  <dcterms:created xsi:type="dcterms:W3CDTF">2026-08-03T22:07:57Z</dcterms:created>
  <dcterms:modified xsi:type="dcterms:W3CDTF">2026-09-03T05:03:30Z</dcterms:modified>
</cp:coreProperties>
</file>