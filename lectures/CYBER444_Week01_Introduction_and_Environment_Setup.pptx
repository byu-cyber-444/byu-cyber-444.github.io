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86" r:id="rId4"/>
    <p:sldId id="288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80" r:id="rId24"/>
    <p:sldId id="276" r:id="rId25"/>
    <p:sldId id="291" r:id="rId26"/>
    <p:sldId id="289" r:id="rId27"/>
    <p:sldId id="277" r:id="rId28"/>
    <p:sldId id="278" r:id="rId29"/>
    <p:sldId id="281" r:id="rId30"/>
    <p:sldId id="282" r:id="rId31"/>
    <p:sldId id="283" r:id="rId32"/>
    <p:sldId id="284" r:id="rId33"/>
    <p:sldId id="285" r:id="rId34"/>
    <p:sldId id="279" r:id="rId3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2" d="100"/>
          <a:sy n="122" d="100"/>
        </p:scale>
        <p:origin x="114" y="2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85827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D7F96-EB29-131F-B18B-59DEE1493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75C889-1CB8-8532-CE03-1EF28C907A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7163E7-B170-E22D-3B5A-0791A0E6D4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7E6091-3EEC-04BA-0924-DB557CB7A1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19404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BB8F9-DEAB-2829-13DA-6A94AA701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423E26-DFAD-3C46-EA07-EBC04122CB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BBCA60-99C2-B368-3D54-A8A5EB2E8A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2EC74-1DD9-CBBD-E1CC-4CB9E9CBF0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232384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7838B2-5A62-0EE1-217C-F7631B58E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987976-3900-5D38-AF1E-D9E14556CF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DAA3A4-F95F-F52F-6855-69527D3889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F11C59-1569-502D-B629-20E289F6EB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17306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kern="0" spc="2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INTRODUCTION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2860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Administration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6118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 444  ·  Fall 2026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40690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Tuesdays &amp; Thursdays, 4:00–5:50 PM  ·  CTB 350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31720"/>
            <a:ext cx="1005840" cy="1005840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22960" y="23317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2103120" y="2377440"/>
            <a:ext cx="9235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 Overview</a:t>
            </a:r>
            <a:endParaRPr lang="en-US" sz="3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0983AA-0D29-FCDC-BAAD-4D0E472768CC}"/>
              </a:ext>
            </a:extLst>
          </p:cNvPr>
          <p:cNvSpPr txBox="1"/>
          <p:nvPr/>
        </p:nvSpPr>
        <p:spPr>
          <a:xfrm>
            <a:off x="1028700" y="1967266"/>
            <a:ext cx="2628900" cy="2547257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Prayer sign up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C91A17-3EFD-73F4-AF1D-8A720EB62D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3296" y="643466"/>
            <a:ext cx="5568739" cy="5568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2435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9258B9-3234-48F1-A8FF-3B8A6A500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D13EA76-6055-820C-839D-44A5708C69C4}"/>
              </a:ext>
            </a:extLst>
          </p:cNvPr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System Administration?</a:t>
            </a:r>
            <a:endParaRPr lang="en-US" sz="3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114B981-CDA7-D139-72BE-96598C01E3BE}"/>
              </a:ext>
            </a:extLst>
          </p:cNvPr>
          <p:cNvSpPr/>
          <p:nvPr/>
        </p:nvSpPr>
        <p:spPr>
          <a:xfrm>
            <a:off x="640080" y="1417320"/>
            <a:ext cx="10911535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Sysadmins and IT admins keep production systems running: provisioning, patching, hardening, monitoring, and responding when things break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course sits at the intersection of two adjacent careers: security-focused sysadmin work and infrastructure/IT operations work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credits · 2 hrs lecture + 2 hrs in-person lab per week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Tuesdays &amp; Thursdays, 4:00–5:50 PM, CTB 350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semester: a hardened multi-node Proxmox/Ceph environment you built yourself, Linux and Windows Server administration experience, and a documented GitHub portfolio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34579081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System Administration?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911535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Sysadmins and IT admins keep production systems running: provisioning, patching, hardening, monitoring, and responding when things break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course sits at the intersection of two adjacent careers: security-focused sysadmin work and infrastructure/IT operations work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credits · 2 hrs lecture + 2 hrs in-person lab per week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Tuesdays &amp; Thursdays, 4:00–5:50 PM, CTB 350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semester: a hardened multi-node Proxmox/Ceph environment you built yourself, Linux and Windows Server administration experience, and a documented GitHub portfolio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Shared Learning Outcomes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911535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and maintain a hardened Linux and Windows Server lab environment suitable for production-grade work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Active Directory and Group Policy fundamentals to manage a small Windows estate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Operate a basic patch management pipeline and certificate / PKI infrastructure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operations work using a GitHub-based pull request workflow that mirrors industry change management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Design, implement, and present a multi-week capstone infrastructure project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Things You Should Already Know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5227168" cy="3931920"/>
          </a:xfrm>
          <a:prstGeom prst="roundRect">
            <a:avLst>
              <a:gd name="adj" fmla="val 2791"/>
            </a:avLst>
          </a:prstGeom>
          <a:solidFill>
            <a:srgbClr val="E8EEF7"/>
          </a:solidFill>
          <a:ln/>
          <a:effectLst>
            <a:outerShdw blurRad="76200" dist="25400" dir="5400000" algn="bl" rotWithShape="0">
              <a:srgbClr val="1B2A4A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60120" y="1691640"/>
            <a:ext cx="4587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Command Line &amp; Automation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60120" y="2286000"/>
            <a:ext cx="4587088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l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&amp; GitHub: cloning, branching, committing, and opening a pull request</a:t>
            </a:r>
            <a:endParaRPr lang="en-US" sz="1300" dirty="0"/>
          </a:p>
          <a:p>
            <a:pPr marL="228600" indent="-228600" algn="l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Command-line basics: shell navigation, vim or nano, permissions, pipes, and redirection</a:t>
            </a:r>
            <a:endParaRPr lang="en-US" sz="1300" dirty="0"/>
          </a:p>
          <a:p>
            <a:pPr marL="228600" indent="-228600" algn="l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Bash and other scripting: writing and reading simple automation scripts</a:t>
            </a:r>
            <a:endParaRPr lang="en-US" sz="1300" dirty="0"/>
          </a:p>
          <a:p>
            <a:pPr marL="228600" indent="-228600" algn="l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SSH: connecting to a remote host with key-based authentication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324448" y="1417320"/>
            <a:ext cx="5227168" cy="3931920"/>
          </a:xfrm>
          <a:prstGeom prst="roundRect">
            <a:avLst>
              <a:gd name="adj" fmla="val 2791"/>
            </a:avLst>
          </a:prstGeom>
          <a:solidFill>
            <a:srgbClr val="E8EEF7"/>
          </a:solidFill>
          <a:ln/>
          <a:effectLst>
            <a:outerShdw blurRad="76200" dist="25400" dir="5400000" algn="bl" rotWithShape="0">
              <a:srgbClr val="1B2A4A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644488" y="1691640"/>
            <a:ext cx="4587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Infrastructure &amp; Security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644488" y="2286000"/>
            <a:ext cx="4587088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l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 provisioning fundamentals: creating a VM, attaching storage and network, and installing an OS from an ISO</a:t>
            </a:r>
            <a:endParaRPr lang="en-US" sz="1300" dirty="0"/>
          </a:p>
          <a:p>
            <a:pPr marL="228600" indent="-228600" algn="l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Networking basics: IP addressing and subnetting, DNS, and basic routing</a:t>
            </a:r>
            <a:endParaRPr lang="en-US" sz="1300" dirty="0"/>
          </a:p>
          <a:p>
            <a:pPr marL="228600" indent="-228600" algn="l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Windows Active Directory: users, groups, organizational units, and Group Policy fundamentals</a:t>
            </a:r>
            <a:endParaRPr lang="en-US" sz="1300" dirty="0"/>
          </a:p>
          <a:p>
            <a:pPr marL="228600" indent="-228600" algn="l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 scanning: running a scanner and interpreting basic results</a:t>
            </a:r>
            <a:endParaRPr lang="en-US" sz="1300" dirty="0"/>
          </a:p>
          <a:p>
            <a:pPr marL="228600" indent="-228600" algn="l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writing: documenting findings and procedures in clear, structured technical writing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5623560"/>
            <a:ext cx="10911535" cy="640080"/>
          </a:xfrm>
          <a:prstGeom prst="roundRect">
            <a:avLst>
              <a:gd name="adj" fmla="val 14286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60120" y="5623560"/>
            <a:ext cx="102714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any of these feel shaky, review them during Week 1. Labs assume this baseline and move quickly from there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 Tracks: Cyber vs.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course is delivered in two parallel tracks: a Cyber Track and an IT Track</a:t>
            </a:r>
            <a:endParaRPr lang="en-US" sz="1400" dirty="0"/>
          </a:p>
          <a:p>
            <a:pPr marL="279400" indent="-279400" algn="l">
              <a:buSzPct val="100000"/>
              <a:buChar char="●"/>
            </a:pPr>
            <a:r>
              <a:rPr lang="en-US" sz="14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Lectures and the midterm are shared across both tracks; most weeks each track has its own lab and homework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5227168" cy="3566160"/>
          </a:xfrm>
          <a:prstGeom prst="roundRect">
            <a:avLst>
              <a:gd name="adj" fmla="val 3077"/>
            </a:avLst>
          </a:prstGeom>
          <a:solidFill>
            <a:srgbClr val="E8EEF7"/>
          </a:solidFill>
          <a:ln/>
          <a:effectLst>
            <a:outerShdw blurRad="76200" dist="25400" dir="5400000" algn="bl" rotWithShape="0">
              <a:srgbClr val="1B2A4A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60120" y="2788920"/>
            <a:ext cx="4587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Cyber Track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60120" y="3383280"/>
            <a:ext cx="458708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l">
              <a:spcAft>
                <a:spcPts val="1000"/>
              </a:spcAft>
              <a:buSzPct val="100000"/>
              <a:buChar char="●"/>
            </a:pPr>
            <a:r>
              <a:rPr lang="en-US" sz="14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engineering, SOC, GRC, or compliance-focused sysadmin roles</a:t>
            </a:r>
            <a:endParaRPr lang="en-US" sz="1400" dirty="0"/>
          </a:p>
          <a:p>
            <a:pPr marL="228600" indent="-228600" algn="l">
              <a:spcAft>
                <a:spcPts val="1000"/>
              </a:spcAft>
              <a:buSzPct val="100000"/>
              <a:buChar char="●"/>
            </a:pPr>
            <a:r>
              <a:rPr lang="en-US" sz="14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Hardening (CIS/STIG), audit &amp; logging, vulnerability remediation, Ansible, container security, incident response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24448" y="2514600"/>
            <a:ext cx="5227168" cy="3566160"/>
          </a:xfrm>
          <a:prstGeom prst="roundRect">
            <a:avLst>
              <a:gd name="adj" fmla="val 3077"/>
            </a:avLst>
          </a:prstGeom>
          <a:solidFill>
            <a:srgbClr val="E8EEF7"/>
          </a:solidFill>
          <a:ln/>
          <a:effectLst>
            <a:outerShdw blurRad="76200" dist="25400" dir="5400000" algn="bl" rotWithShape="0">
              <a:srgbClr val="1B2A4A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644488" y="2788920"/>
            <a:ext cx="4587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Track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644488" y="3383280"/>
            <a:ext cx="458708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l">
              <a:spcAft>
                <a:spcPts val="1000"/>
              </a:spcAft>
              <a:buSzPct val="100000"/>
              <a:buChar char="●"/>
            </a:pPr>
            <a:r>
              <a:rPr lang="en-US" sz="14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engineering, IT operations, cloud, or platform roles</a:t>
            </a:r>
            <a:endParaRPr lang="en-US" sz="1400" dirty="0"/>
          </a:p>
          <a:p>
            <a:pPr marL="228600" indent="-228600" algn="l">
              <a:spcAft>
                <a:spcPts val="1000"/>
              </a:spcAft>
              <a:buSzPct val="100000"/>
              <a:buChar char="●"/>
            </a:pPr>
            <a:r>
              <a:rPr lang="en-US" sz="14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ITSM workflows, networking/DNS, high availability, data center ops, cloud IAM, Prometheus/Grafana monitoring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Tracks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911535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assignments are required for everyone, regardless of track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choose your track; no formal declaration or registration is needed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assignment per week from your chosen track; you may switch tracks week to week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both the Cyber and IT version in a given week earns no extra credit: only one counts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Choosing a Track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911535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Recommended: pick a primary track early and stay mostly consistent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labs build progressively for some assignments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Cyber if aiming at security, GRC, SOC, or compliance careers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IT if aiming at IT operations, infrastructure, cloud, SRE, or platform careers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Final Project has both a Cyber and an IT version; pick either, regardless of your weekly track history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31720"/>
            <a:ext cx="1005840" cy="1005840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22960" y="23317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2103120" y="2377440"/>
            <a:ext cx="9235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Assignments &amp; Grading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Grading Breakdown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1872542"/>
              </p:ext>
            </p:extLst>
          </p:nvPr>
        </p:nvGraphicFramePr>
        <p:xfrm>
          <a:off x="640080" y="1554480"/>
          <a:ext cx="10911535" cy="292608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224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D5A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Weekly Labs (12)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D5A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Started in lab session; report due within one week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D5A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 (11)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D5A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Written, scripted, and analysis assignments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D5A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Midterm Exam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D5A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 9, individual tabletop exercise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D5A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Project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D5A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Weeks 9–15, Cyber or IT version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E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Weekly Labs &amp; Homework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911535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 are the core of the course, submitted through a Discord bot.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Workflow: Trigger grading bot → </a:t>
            </a:r>
            <a:r>
              <a:rPr lang="en-US" sz="1600" dirty="0" err="1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Autograder</a:t>
            </a: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checks your work→ address feedback</a:t>
            </a:r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 Workflow: Upload all related files to Learning Suite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 due Thursdays 11:59 PM (one week after the lab session); Homework due Tuesdays 11:59 PM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lab and homework score will be dropped.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Submitting Assignments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911535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assignments are due at 11:59 PM on the posted date. Make sure the grading request is submitted before the deadline.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work is not accepted: submissions after the deadline receive a zero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university accommodations: contact the instructor at least 24 hours before the due date; requests made after a deadline are not considered retroactively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issues (network outages, VM failures, hardware problems) are a routine hazard in a systems administration course and are not grounds for an extension, so keep backups and submit early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Midterm Exam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911535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5% of grade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Individual, tabletop exercise, not a written exam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scenarios for both tracks, covering Weeks 1–8 lecture material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course's Dungeon Master narrates encounters and adjudicates outcomes in place of a live proctor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make-up midterms except university-recognized excused absences arranged in advance</a:t>
            </a:r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new system, so everyone will get a minimum of 60% for just taking the exam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Project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911535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Multi-week capstone, Weeks 9–15 · 10% of grade · serves as the final exam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 Track: design, harden, document, and present infrastructure meeting CIS Level 2 / applicable DISA STIG requirements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Track: design, build, document, and present an enterprise infrastructure deliverable (operations, networking, cloud, monitoring, policy)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assignment (Groups of 2): no help from the instructor, TAs, or classmates beyond clarifying grading/scope questions</a:t>
            </a:r>
            <a:endParaRPr lang="en-US" sz="15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5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 due Week 9; final deliverable and live presentation due the last class day (Dec 10)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31720"/>
            <a:ext cx="1005840" cy="1005840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22960" y="23317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2103120" y="2377440"/>
            <a:ext cx="9235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 Policies</a:t>
            </a:r>
            <a:endParaRPr lang="en-US" sz="3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Attendance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911535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at both lecture and lab is expected; notify the instructor in advance if you need to miss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Lectures are not recorded as a general practice; exceptions may be made case-by-case for university-excused absences, so contact the instructor before the missed session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graded component, but course material builds week over week and lab work cannot easily be replicated outside scheduled sessions, so frequent absences will likely be reflected in your performance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Late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911535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work is not accepted: assignments and lab reports after the deadline receive a zero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university accommodation? Contact the instructor at least 24 hours before the due date to arrange alternatives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requests made after a deadline has passed will not be considered retroactively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issues (network outages, VM failures, hardware problems) are a routine hazard in this course and are not grounds for an extension, so maintain regular backups and submit early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Communication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911535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ways to reach the instructor: Discord or email, both monitored equally</a:t>
            </a:r>
          </a:p>
          <a:p>
            <a:pPr marL="279400" indent="-279400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a reply within one business day; weekend/after-5 PM messages are answered the next business day (Hours: M–F, 9 AM–5 PM)</a:t>
            </a:r>
          </a:p>
          <a:p>
            <a:pPr marL="279400" indent="-279400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lab-related questions, grading questions, or troubleshooting, contact the Teaching Assistant first for the fastest turnaround</a:t>
            </a:r>
          </a:p>
          <a:p>
            <a:pPr marL="279400" indent="-279400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questions others might benefit from in the Discord channel rather than a DM; keep personal matters (grade disputes, accommodations) to email or a private message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of AI Tools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911535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 (ChatGPT, Claude, Copilot, Gemini, and similar) is permitted as a study/reference aid, in roughly the same spirit as a search engine, man page, or Stack Overflow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permitted: using AI to produce the substance of your work. Submitting AI-generated or heavily-rewritten output as your own is an Academic Honesty violation, regardless of how much you edited it afterward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Permitted: explaining a concept, looking up syntax, a short boilerplate snippet you build on and understand, feedback on something you already wrote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permitted: generating a full/majority lab report or homework response, having AI write or restructure your scripts/configs, using AI to answer reflection questions meant to demonstrate your own understanding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practical test: if you couldn't explain what you submitted line-by-line (script) or paragraph-by-paragraph (writing), you've likely crossed the line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in doubt, disclose. A brief AI-use note at the end of a submission is never held against you; undisclosed use that surfaces later is an academic honesty violation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Academic Honesty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911535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injunction of the Honor Code is the call to "be honest": complete your own work and be evaluated based on it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academic dishonesty in all its forms: plagiarism, fabrication or falsification, cheating, and other misconduct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course specifically: submitting another student's lab report or scripts as your own, and undisclosed AI-generated substantive work, are both violations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policy: see the Academic Honesty section of the syllabus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13248" y="1920240"/>
            <a:ext cx="1371600" cy="1371600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13248" y="19202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0" y="352044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Questions?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0" y="434340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Sebastian Hayes  ·  sebastian.hayes@byu.edu  ·  Discord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31720"/>
            <a:ext cx="1005840" cy="1005840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22960" y="23317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2103120" y="2377440"/>
            <a:ext cx="9235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Environment Setup: Discord &amp; GitHub</a:t>
            </a:r>
            <a:endParaRPr lang="en-US" sz="3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0CA7C-81F5-8C7C-97DE-C08DE9AD00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F98DDA8-1101-1484-FA02-4B66DB9EAD0C}"/>
              </a:ext>
            </a:extLst>
          </p:cNvPr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Discord &amp; GitHub</a:t>
            </a:r>
          </a:p>
          <a:p>
            <a:pPr marL="0" indent="0" algn="l">
              <a:buNone/>
            </a:pPr>
            <a:endParaRPr lang="en-US" sz="3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4C32CF1-BC2D-A80B-6C2C-A0BE55E2617F}"/>
              </a:ext>
            </a:extLst>
          </p:cNvPr>
          <p:cNvSpPr/>
          <p:nvPr/>
        </p:nvSpPr>
        <p:spPr>
          <a:xfrm>
            <a:off x="640080" y="1417320"/>
            <a:ext cx="10911535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/>
              <a:t>Create a new GitHub repository</a:t>
            </a:r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/>
              <a:t>Then go to Settings &gt; Collaborators &gt; Add people</a:t>
            </a:r>
          </a:p>
          <a:p>
            <a:pPr marL="736600" lvl="1" indent="-279400">
              <a:spcAft>
                <a:spcPts val="1400"/>
              </a:spcAft>
              <a:buSzPct val="100000"/>
              <a:buChar char="●"/>
            </a:pPr>
            <a:r>
              <a:rPr lang="en-US" sz="1600" dirty="0"/>
              <a:t>Add </a:t>
            </a:r>
            <a:r>
              <a:rPr lang="en-US" sz="1600" dirty="0" err="1"/>
              <a:t>macenb</a:t>
            </a:r>
            <a:r>
              <a:rPr lang="en-US" sz="1600" dirty="0"/>
              <a:t> and shayes20</a:t>
            </a:r>
          </a:p>
          <a:p>
            <a:pPr marL="736600" lvl="1" indent="-279400">
              <a:spcAft>
                <a:spcPts val="1400"/>
              </a:spcAft>
              <a:buSzPct val="100000"/>
              <a:buChar char="●"/>
            </a:pPr>
            <a:r>
              <a:rPr lang="en-US" sz="1600" dirty="0"/>
              <a:t>Make sure they have read access to the repos</a:t>
            </a:r>
          </a:p>
          <a:p>
            <a:pPr marL="279400" indent="-279400">
              <a:spcAft>
                <a:spcPts val="1400"/>
              </a:spcAft>
              <a:buSzPct val="100000"/>
              <a:buChar char="●"/>
            </a:pPr>
            <a:r>
              <a:rPr lang="en-US" sz="1600" dirty="0"/>
              <a:t>Take the Discord &amp; GitHub Quiz on Learning Suite</a:t>
            </a:r>
          </a:p>
          <a:p>
            <a:pPr marL="736600" lvl="1" indent="-279400">
              <a:spcAft>
                <a:spcPts val="1400"/>
              </a:spcAft>
              <a:buSzPct val="100000"/>
              <a:buChar char="●"/>
            </a:pPr>
            <a:r>
              <a:rPr lang="en-US" sz="1600" dirty="0"/>
              <a:t>Enter the repo link and your Discord username</a:t>
            </a:r>
          </a:p>
        </p:txBody>
      </p:sp>
    </p:spTree>
    <p:extLst>
      <p:ext uri="{BB962C8B-B14F-4D97-AF65-F5344CB8AC3E}">
        <p14:creationId xmlns:p14="http://schemas.microsoft.com/office/powerpoint/2010/main" val="37105300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951CB9F-BA07-5AA4-3C06-1FC0B47E4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BFA1F22-9BCD-B16A-4E01-29219EF002A1}"/>
              </a:ext>
            </a:extLst>
          </p:cNvPr>
          <p:cNvSpPr/>
          <p:nvPr/>
        </p:nvSpPr>
        <p:spPr>
          <a:xfrm>
            <a:off x="822960" y="2331720"/>
            <a:ext cx="1005840" cy="1005840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6194905-D7FD-6E54-C2B7-8F97A56D33D3}"/>
              </a:ext>
            </a:extLst>
          </p:cNvPr>
          <p:cNvSpPr/>
          <p:nvPr/>
        </p:nvSpPr>
        <p:spPr>
          <a:xfrm>
            <a:off x="822960" y="23317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E54AAA8-D49B-EB44-F192-72F0B79EA3AB}"/>
              </a:ext>
            </a:extLst>
          </p:cNvPr>
          <p:cNvSpPr/>
          <p:nvPr/>
        </p:nvSpPr>
        <p:spPr>
          <a:xfrm>
            <a:off x="2103120" y="2377440"/>
            <a:ext cx="9235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Environment Setup: Proxmox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14851227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Proxmox?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911535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Proxmox VE: an open-source, type-1 hypervisor plus clustering and storage platform. It's the lab environment for this entire semester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be assigned 3 Proxmox nodes and join them into a single cluster using Corosync for cluster communication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enables quorum-based safety, live migration, and high availability: foundational concepts you'll rely on all semester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built in Week 1 (cluster, Ceph pool, admin user, VM template) is the foundation every later lab runs on top of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Cluster &amp; Ceph Fundamentals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911535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Quorum: a majority of nodes must agree before risky operations run; with 3 nodes, you can lose 1 and stay quorate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Ceph: distributed, replicated storage layer on top of the cluster, with a default replication factor of 3 and min_size of 2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principle both layers share: tolerate one failure, keep functioning. That's why 3 nodes is the practical minimum, not an arbitrary number</a:t>
            </a:r>
            <a:endParaRPr lang="en-US" sz="1600" dirty="0"/>
          </a:p>
          <a:p>
            <a:pPr marL="279400" indent="-279400" algn="l"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interfaces are never exposed to the public internet; access is only through a WireGuard VPN tunnel, mirroring real production practice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90879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900" b="1" i="0">
                <a:solidFill>
                  <a:srgbClr val="1B2A4A"/>
                </a:solidFill>
                <a:latin typeface="Cambria"/>
              </a:rPr>
              <a:t>How Corosync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61872"/>
            <a:ext cx="1090879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50" b="0" i="0">
                <a:solidFill>
                  <a:srgbClr val="3D5A80"/>
                </a:solidFill>
                <a:latin typeface="Calibri"/>
              </a:rPr>
              <a:t>Every Proxmox cluster runs Corosync underneath: a token-passing protocol that keeps all nodes in agreement about who is alive and whether the cluster still holds quorum.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997196" y="1810512"/>
            <a:ext cx="2194560" cy="658368"/>
          </a:xfrm>
          <a:prstGeom prst="round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Node 1</a:t>
            </a:r>
          </a:p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(Proxmox VE)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54480" y="3108960"/>
            <a:ext cx="2194560" cy="658368"/>
          </a:xfrm>
          <a:prstGeom prst="round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Node 2</a:t>
            </a:r>
          </a:p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(Proxmox VE)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88552" y="3108960"/>
            <a:ext cx="2194560" cy="658368"/>
          </a:xfrm>
          <a:prstGeom prst="round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Node 3</a:t>
            </a:r>
          </a:p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(Proxmox VE)</a:t>
            </a:r>
          </a:p>
        </p:txBody>
      </p:sp>
      <p:cxnSp>
        <p:nvCxnSpPr>
          <p:cNvPr id="7" name="Connector 6"/>
          <p:cNvCxnSpPr/>
          <p:nvPr/>
        </p:nvCxnSpPr>
        <p:spPr>
          <a:xfrm flipH="1">
            <a:off x="2560320" y="2468880"/>
            <a:ext cx="3442716" cy="640080"/>
          </a:xfrm>
          <a:prstGeom prst="line">
            <a:avLst/>
          </a:prstGeom>
          <a:ln w="28575">
            <a:solidFill>
              <a:srgbClr val="00B4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185916" y="2468880"/>
            <a:ext cx="3991356" cy="640080"/>
          </a:xfrm>
          <a:prstGeom prst="line">
            <a:avLst/>
          </a:prstGeom>
          <a:ln w="28575">
            <a:solidFill>
              <a:srgbClr val="00B4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749040" y="3355848"/>
            <a:ext cx="5239512" cy="0"/>
          </a:xfrm>
          <a:prstGeom prst="line">
            <a:avLst/>
          </a:prstGeom>
          <a:ln w="28575">
            <a:solidFill>
              <a:srgbClr val="00B4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2359152" y="2468880"/>
            <a:ext cx="3442716" cy="640080"/>
          </a:xfrm>
          <a:prstGeom prst="line">
            <a:avLst/>
          </a:prstGeom>
          <a:ln w="17780">
            <a:solidFill>
              <a:srgbClr val="1B2A4A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387084" y="2468880"/>
            <a:ext cx="3991356" cy="640080"/>
          </a:xfrm>
          <a:prstGeom prst="line">
            <a:avLst/>
          </a:prstGeom>
          <a:ln w="17780">
            <a:solidFill>
              <a:srgbClr val="1B2A4A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749040" y="3538728"/>
            <a:ext cx="5239512" cy="0"/>
          </a:xfrm>
          <a:prstGeom prst="line">
            <a:avLst/>
          </a:prstGeom>
          <a:ln w="17780">
            <a:solidFill>
              <a:srgbClr val="1B2A4A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640080" y="3950208"/>
            <a:ext cx="146304" cy="146304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9536" y="388620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3D5A80"/>
                </a:solidFill>
                <a:latin typeface="Calibri"/>
              </a:rPr>
              <a:t>Ring 0 - primary Corosync link (Lab 1: ens19)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3950208"/>
            <a:ext cx="146304" cy="146304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20256" y="388620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3D5A80"/>
                </a:solidFill>
                <a:latin typeface="Calibri"/>
              </a:rPr>
              <a:t>Ring 1 - redundant link if Ring 0 fails (Lab 1: ens20)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40080" y="4334256"/>
          <a:ext cx="10908792" cy="2249424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912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4904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Platform</a:t>
                      </a:r>
                    </a:p>
                  </a:txBody>
                  <a:tcPr marL="82296" marR="82296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How nodes agree on membership &amp; quorum</a:t>
                      </a:r>
                    </a:p>
                  </a:txBody>
                  <a:tcPr marL="82296" marR="82296" marT="27432" marB="27432" anchor="ctr">
                    <a:solidFill>
                      <a:srgbClr val="1B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B2A4A"/>
                          </a:solidFill>
                          <a:latin typeface="Calibri"/>
                        </a:rPr>
                        <a:t>Proxmox VE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3D5A80"/>
                          </a:solidFill>
                          <a:latin typeface="Calibri"/>
                        </a:rPr>
                        <a:t>Corosync UDP token ring (ring0/ring1) + votequorum for majority voting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B2A4A"/>
                          </a:solidFill>
                          <a:latin typeface="Calibri"/>
                        </a:rPr>
                        <a:t>VMware vSphere HA</a:t>
                      </a:r>
                    </a:p>
                  </a:txBody>
                  <a:tcPr marL="82296" marR="82296" marT="27432" marB="27432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3D5A80"/>
                          </a:solidFill>
                          <a:latin typeface="Calibri"/>
                        </a:rPr>
                        <a:t>FDM agent heartbeats over the mgmt network; datastore heartbeat as backup</a:t>
                      </a:r>
                    </a:p>
                  </a:txBody>
                  <a:tcPr marL="82296" marR="82296" marT="27432" marB="27432" anchor="ctr">
                    <a:solidFill>
                      <a:srgbClr val="E8EE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B2A4A"/>
                          </a:solidFill>
                          <a:latin typeface="Calibri"/>
                        </a:rPr>
                        <a:t>Hyper-V Failover Clustering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3D5A80"/>
                          </a:solidFill>
                          <a:latin typeface="Calibri"/>
                        </a:rPr>
                        <a:t>Cluster Service heartbeats over cluster network(s); witness breaks ties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B2A4A"/>
                          </a:solidFill>
                          <a:latin typeface="Calibri"/>
                        </a:rPr>
                        <a:t>Nutanix AHV</a:t>
                      </a:r>
                    </a:p>
                  </a:txBody>
                  <a:tcPr marL="82296" marR="82296" marT="27432" marB="27432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3D5A80"/>
                          </a:solidFill>
                          <a:latin typeface="Calibri"/>
                        </a:rPr>
                        <a:t>Zookeeper/Cassandra-style distributed consensus across Controller VMs (CVMs)</a:t>
                      </a:r>
                    </a:p>
                  </a:txBody>
                  <a:tcPr marL="82296" marR="82296" marT="27432" marB="27432" anchor="ctr">
                    <a:solidFill>
                      <a:srgbClr val="E8EE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B2A4A"/>
                          </a:solidFill>
                          <a:latin typeface="Calibri"/>
                        </a:rPr>
                        <a:t>XCP-ng (Xen Orchestra HA)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3D5A80"/>
                          </a:solidFill>
                          <a:latin typeface="Calibri"/>
                        </a:rPr>
                        <a:t>xhad heartbeat daemon; heartbeats written to shared storage, not a network ring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90879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900" b="1" i="0">
                <a:solidFill>
                  <a:srgbClr val="1B2A4A"/>
                </a:solidFill>
                <a:latin typeface="Cambria"/>
              </a:rPr>
              <a:t>How Ceph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61872"/>
            <a:ext cx="109087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50" b="0" i="0">
                <a:solidFill>
                  <a:srgbClr val="3D5A80"/>
                </a:solidFill>
                <a:latin typeface="Calibri"/>
              </a:rPr>
              <a:t>Ceph turns local disks across all 3 nodes into one replicated, self-healing pool that any node's VMs can read and write.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55648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1">
                <a:solidFill>
                  <a:srgbClr val="3D5A80"/>
                </a:solidFill>
                <a:latin typeface="Calibri"/>
              </a:rPr>
              <a:t>Monitors (MONs) keep the
cluster map - need their own quorum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37076" y="1755648"/>
            <a:ext cx="1051560" cy="457200"/>
          </a:xfrm>
          <a:prstGeom prst="round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MON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62956" y="1755648"/>
            <a:ext cx="1051560" cy="457200"/>
          </a:xfrm>
          <a:prstGeom prst="round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MON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88836" y="1755648"/>
            <a:ext cx="1051560" cy="457200"/>
          </a:xfrm>
          <a:prstGeom prst="round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MON 3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88636" y="1984248"/>
            <a:ext cx="274320" cy="0"/>
          </a:xfrm>
          <a:prstGeom prst="line">
            <a:avLst/>
          </a:prstGeom>
          <a:ln w="15240">
            <a:solidFill>
              <a:srgbClr val="1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414516" y="1984248"/>
            <a:ext cx="274320" cy="0"/>
          </a:xfrm>
          <a:prstGeom prst="line">
            <a:avLst/>
          </a:prstGeom>
          <a:ln w="15240">
            <a:solidFill>
              <a:srgbClr val="1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362456" y="2715768"/>
            <a:ext cx="1554480" cy="731520"/>
          </a:xfrm>
          <a:prstGeom prst="round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Client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writes object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74136" y="2715768"/>
            <a:ext cx="2103120" cy="731520"/>
          </a:xfrm>
          <a:prstGeom prst="round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Primary OSD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Node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34456" y="2715768"/>
            <a:ext cx="2103120" cy="731520"/>
          </a:xfrm>
          <a:prstGeom prst="round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Replica OSD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Node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94776" y="2715768"/>
            <a:ext cx="2103120" cy="731520"/>
          </a:xfrm>
          <a:prstGeom prst="round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Replica OSD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Node 3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916936" y="3081528"/>
            <a:ext cx="457200" cy="0"/>
          </a:xfrm>
          <a:prstGeom prst="line">
            <a:avLst/>
          </a:prstGeom>
          <a:ln w="25400">
            <a:solidFill>
              <a:srgbClr val="00B4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477256" y="3081528"/>
            <a:ext cx="457200" cy="0"/>
          </a:xfrm>
          <a:prstGeom prst="line">
            <a:avLst/>
          </a:prstGeom>
          <a:ln w="25400">
            <a:solidFill>
              <a:srgbClr val="1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037576" y="3081528"/>
            <a:ext cx="457200" cy="0"/>
          </a:xfrm>
          <a:prstGeom prst="line">
            <a:avLst/>
          </a:prstGeom>
          <a:ln w="25400">
            <a:solidFill>
              <a:srgbClr val="1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825496" y="24231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3D5A80"/>
                </a:solidFill>
                <a:latin typeface="Calibri"/>
              </a:rPr>
              <a:t>CRUSH map picks placement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5816" y="2423160"/>
            <a:ext cx="4206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3D5A80"/>
                </a:solidFill>
                <a:latin typeface="Calibri"/>
              </a:rPr>
              <a:t>synchronous replication (size=3, min_size=2)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739896"/>
            <a:ext cx="5317236" cy="2843784"/>
          </a:xfrm>
          <a:prstGeom prst="round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41248" y="3849624"/>
            <a:ext cx="49149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mbria"/>
              </a:rPr>
              <a:t>Disk Roles: HDD vs SSD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4242816"/>
            <a:ext cx="4914900" cy="22494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050" b="0" i="0">
                <a:solidFill>
                  <a:srgbClr val="3D5A80"/>
                </a:solidFill>
                <a:latin typeface="Calibri"/>
              </a:rPr>
              <a:t>•  SSD - low latency; ideal for OSD DB/WAL (metadata) devices and all-flash pools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3D5A80"/>
                </a:solidFill>
                <a:latin typeface="Calibri"/>
              </a:rPr>
              <a:t>•  HDD - high capacity, low $/TB; fine for bulk/cold data behind an SSD-backed DB/WAL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3D5A80"/>
                </a:solidFill>
                <a:latin typeface="Calibri"/>
              </a:rPr>
              <a:t>•  Mixed sizes - CRUSH weights OSDs by capacity, so a 2x bigger disk simply stores ~2x the data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3D5A80"/>
                </a:solidFill>
                <a:latin typeface="Calibri"/>
              </a:rPr>
              <a:t>•  Never mix HDD and SSD OSDs in the same pool/CRUSH rule - use separate device classes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1636" y="3739896"/>
            <a:ext cx="5317236" cy="2843784"/>
          </a:xfrm>
          <a:prstGeom prst="round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32804" y="3849624"/>
            <a:ext cx="49149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mbria"/>
              </a:rPr>
              <a:t>Other Hypervisors' Storage Layer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32804" y="4242816"/>
            <a:ext cx="4914900" cy="22494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050" b="0" i="0">
                <a:solidFill>
                  <a:srgbClr val="3D5A80"/>
                </a:solidFill>
                <a:latin typeface="Calibri"/>
              </a:rPr>
              <a:t>•  VMware vSAN - object store across disk groups (SSD cache tier + HDD/SSD capacity tier)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3D5A80"/>
                </a:solidFill>
                <a:latin typeface="Calibri"/>
              </a:rPr>
              <a:t>•  Microsoft S2D (Hyper-V) - Storage Spaces Direct: software RAID over local disks, cache+capacity tiers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3D5A80"/>
                </a:solidFill>
                <a:latin typeface="Calibri"/>
              </a:rPr>
              <a:t>•  Nutanix AHV - Distributed Storage Fabric (Stargate); per-VM oplog on SSD, tiers to HDD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3D5A80"/>
                </a:solidFill>
                <a:latin typeface="Calibri"/>
              </a:rPr>
              <a:t>•  oVirt/RHV - hyperconverged GlusterFS, or external Ceph/iSCSI/NFS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3D5A80"/>
                </a:solidFill>
                <a:latin typeface="Calibri"/>
              </a:rPr>
              <a:t>•  XCP-ng - no native distributed FS; relies on a shared NFS/iSCSI SAN or add-ons (e.g. LINSTOR)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90879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900" b="1" i="0">
                <a:solidFill>
                  <a:srgbClr val="1B2A4A"/>
                </a:solidFill>
                <a:latin typeface="Cambria"/>
              </a:rPr>
              <a:t>General Clustering &amp; High Availability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43584"/>
            <a:ext cx="1090879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50" b="0" i="0">
                <a:solidFill>
                  <a:srgbClr val="3D5A80"/>
                </a:solidFill>
                <a:latin typeface="Calibri"/>
              </a:rPr>
              <a:t>Every hypervisor cluster answers the same question after a node failure: are we still safe to act, and can we act without risking two copies of the same VM running at once (split-brain)?</a:t>
            </a:r>
          </a:p>
        </p:txBody>
      </p:sp>
      <p:sp>
        <p:nvSpPr>
          <p:cNvPr id="4" name="Oval 3"/>
          <p:cNvSpPr/>
          <p:nvPr/>
        </p:nvSpPr>
        <p:spPr>
          <a:xfrm>
            <a:off x="1429207" y="1655064"/>
            <a:ext cx="384048" cy="384048"/>
          </a:xfrm>
          <a:prstGeom prst="ellipse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48840"/>
            <a:ext cx="1962302" cy="960120"/>
          </a:xfrm>
          <a:prstGeom prst="round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Node Fails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power / network loss</a:t>
            </a:r>
          </a:p>
        </p:txBody>
      </p:sp>
      <p:sp>
        <p:nvSpPr>
          <p:cNvPr id="6" name="Oval 5"/>
          <p:cNvSpPr/>
          <p:nvPr/>
        </p:nvSpPr>
        <p:spPr>
          <a:xfrm>
            <a:off x="3665829" y="1655064"/>
            <a:ext cx="384048" cy="384048"/>
          </a:xfrm>
          <a:prstGeom prst="ellipse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76702" y="2148840"/>
            <a:ext cx="1962302" cy="960120"/>
          </a:xfrm>
          <a:prstGeom prst="round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Heartbeat Missed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past the timeout window</a:t>
            </a:r>
          </a:p>
        </p:txBody>
      </p:sp>
      <p:sp>
        <p:nvSpPr>
          <p:cNvPr id="8" name="Oval 7"/>
          <p:cNvSpPr/>
          <p:nvPr/>
        </p:nvSpPr>
        <p:spPr>
          <a:xfrm>
            <a:off x="5902451" y="1655064"/>
            <a:ext cx="384048" cy="384048"/>
          </a:xfrm>
          <a:prstGeom prst="ellipse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13324" y="2148840"/>
            <a:ext cx="1962302" cy="960120"/>
          </a:xfrm>
          <a:prstGeom prst="round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Quorum Check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still hold a majority?</a:t>
            </a:r>
          </a:p>
        </p:txBody>
      </p:sp>
      <p:sp>
        <p:nvSpPr>
          <p:cNvPr id="10" name="Oval 9"/>
          <p:cNvSpPr/>
          <p:nvPr/>
        </p:nvSpPr>
        <p:spPr>
          <a:xfrm>
            <a:off x="8139073" y="1655064"/>
            <a:ext cx="384048" cy="384048"/>
          </a:xfrm>
          <a:prstGeom prst="ellipse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49946" y="2148840"/>
            <a:ext cx="1962302" cy="960120"/>
          </a:xfrm>
          <a:prstGeom prst="round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Fencing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isolate the failed node</a:t>
            </a:r>
          </a:p>
        </p:txBody>
      </p:sp>
      <p:sp>
        <p:nvSpPr>
          <p:cNvPr id="12" name="Oval 11"/>
          <p:cNvSpPr/>
          <p:nvPr/>
        </p:nvSpPr>
        <p:spPr>
          <a:xfrm>
            <a:off x="10375695" y="1655064"/>
            <a:ext cx="384048" cy="384048"/>
          </a:xfrm>
          <a:prstGeom prst="ellipse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86568" y="2148840"/>
            <a:ext cx="1962302" cy="960120"/>
          </a:xfrm>
          <a:prstGeom prst="round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HA Restarts VM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on a healthy node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565806" y="2628900"/>
            <a:ext cx="347472" cy="0"/>
          </a:xfrm>
          <a:prstGeom prst="line">
            <a:avLst/>
          </a:prstGeom>
          <a:ln w="28575">
            <a:solidFill>
              <a:srgbClr val="00B4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802428" y="2628900"/>
            <a:ext cx="347472" cy="0"/>
          </a:xfrm>
          <a:prstGeom prst="line">
            <a:avLst/>
          </a:prstGeom>
          <a:ln w="28575">
            <a:solidFill>
              <a:srgbClr val="00B4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039050" y="2628900"/>
            <a:ext cx="347472" cy="0"/>
          </a:xfrm>
          <a:prstGeom prst="line">
            <a:avLst/>
          </a:prstGeom>
          <a:ln w="28575">
            <a:solidFill>
              <a:srgbClr val="00B4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275672" y="2628900"/>
            <a:ext cx="347472" cy="0"/>
          </a:xfrm>
          <a:prstGeom prst="line">
            <a:avLst/>
          </a:prstGeom>
          <a:ln w="28575">
            <a:solidFill>
              <a:srgbClr val="00B4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40080" y="3429000"/>
          <a:ext cx="10908792" cy="3154680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912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57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Platform</a:t>
                      </a:r>
                    </a:p>
                  </a:txBody>
                  <a:tcPr marL="82296" marR="82296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HA manager &amp; fencing mechanism</a:t>
                      </a:r>
                    </a:p>
                  </a:txBody>
                  <a:tcPr marL="82296" marR="82296" marT="27432" marB="27432" anchor="ctr">
                    <a:solidFill>
                      <a:srgbClr val="1B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B2A4A"/>
                          </a:solidFill>
                          <a:latin typeface="Calibri"/>
                        </a:rPr>
                        <a:t>Proxmox VE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3D5A80"/>
                          </a:solidFill>
                          <a:latin typeface="Calibri"/>
                        </a:rPr>
                        <a:t>HA Manager + watchdog-based self-fencing (node resets itself via hardware/softdog watchdog)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B2A4A"/>
                          </a:solidFill>
                          <a:latin typeface="Calibri"/>
                        </a:rPr>
                        <a:t>VMware vSphere</a:t>
                      </a:r>
                    </a:p>
                  </a:txBody>
                  <a:tcPr marL="82296" marR="82296" marT="27432" marB="27432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3D5A80"/>
                          </a:solidFill>
                          <a:latin typeface="Calibri"/>
                        </a:rPr>
                        <a:t>vSphere HA (FDM) + DRS; admission control reserves failover capacity in advance</a:t>
                      </a:r>
                    </a:p>
                  </a:txBody>
                  <a:tcPr marL="82296" marR="82296" marT="27432" marB="27432" anchor="ctr">
                    <a:solidFill>
                      <a:srgbClr val="E8EE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B2A4A"/>
                          </a:solidFill>
                          <a:latin typeface="Calibri"/>
                        </a:rPr>
                        <a:t>Hyper-V Failover Clustering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3D5A80"/>
                          </a:solidFill>
                          <a:latin typeface="Calibri"/>
                        </a:rPr>
                        <a:t>Cluster Service + Cluster-Aware Updating; a witness (disk/share/cloud) breaks quorum ties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B2A4A"/>
                          </a:solidFill>
                          <a:latin typeface="Calibri"/>
                        </a:rPr>
                        <a:t>Nutanix AHV</a:t>
                      </a:r>
                    </a:p>
                  </a:txBody>
                  <a:tcPr marL="82296" marR="82296" marT="27432" marB="27432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3D5A80"/>
                          </a:solidFill>
                          <a:latin typeface="Calibri"/>
                        </a:rPr>
                        <a:t>Acropolis HA; CVM-based, VMs automatically restart on a healthy host</a:t>
                      </a:r>
                    </a:p>
                  </a:txBody>
                  <a:tcPr marL="82296" marR="82296" marT="27432" marB="27432" anchor="ctr">
                    <a:solidFill>
                      <a:srgbClr val="E8EE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B2A4A"/>
                          </a:solidFill>
                          <a:latin typeface="Calibri"/>
                        </a:rPr>
                        <a:t>oVirt / RHV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3D5A80"/>
                          </a:solidFill>
                          <a:latin typeface="Calibri"/>
                        </a:rPr>
                        <a:t>Pacemaker-based Manager HA (self-hosted engine) + IPMI/iLO/iDRAC fencing agents for hosts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90879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900" b="1" i="0">
                <a:solidFill>
                  <a:srgbClr val="1B2A4A"/>
                </a:solidFill>
                <a:latin typeface="Cambria"/>
              </a:rPr>
              <a:t>How Time Drift Breaks All of This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43584"/>
            <a:ext cx="1090879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50" b="0" i="0">
                <a:solidFill>
                  <a:srgbClr val="3D5A80"/>
                </a:solidFill>
                <a:latin typeface="Calibri"/>
              </a:rPr>
              <a:t>Corosync and Ceph are both clock-sensitive (Lab 1, Part 2) - chrony (Lab 2) is what keeps every node's clock close enough that these systems' built-in timeouts stay meaningful.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14400" y="2606040"/>
            <a:ext cx="10424160" cy="0"/>
          </a:xfrm>
          <a:prstGeom prst="line">
            <a:avLst/>
          </a:prstGeom>
          <a:ln w="28575">
            <a:solidFill>
              <a:srgbClr val="1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14400" y="2715768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3D5A80"/>
                </a:solidFill>
                <a:latin typeface="Calibri"/>
              </a:rPr>
              <a:t>clock drift increases --&gt;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0" y="271576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1">
                <a:solidFill>
                  <a:srgbClr val="3D5A80"/>
                </a:solidFill>
                <a:latin typeface="Calibri"/>
              </a:rPr>
              <a:t>(not to scale)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377440" y="2478024"/>
            <a:ext cx="0" cy="256032"/>
          </a:xfrm>
          <a:prstGeom prst="line">
            <a:avLst/>
          </a:prstGeom>
          <a:ln w="31750">
            <a:solidFill>
              <a:srgbClr val="00B4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371600" y="164592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1B2A4A"/>
                </a:solidFill>
                <a:latin typeface="Calibri"/>
              </a:rPr>
              <a:t>~50 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47672"/>
            <a:ext cx="20116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0" i="0">
                <a:solidFill>
                  <a:srgbClr val="3D5A80"/>
                </a:solidFill>
                <a:latin typeface="Calibri"/>
              </a:rPr>
              <a:t>Ceph MON clock skew warning
(HEALTH_WARN)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120640" y="2478024"/>
            <a:ext cx="0" cy="256032"/>
          </a:xfrm>
          <a:prstGeom prst="line">
            <a:avLst/>
          </a:prstGeom>
          <a:ln w="31750">
            <a:solidFill>
              <a:srgbClr val="00B4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114800" y="2898648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1B2A4A"/>
                </a:solidFill>
                <a:latin typeface="Calibri"/>
              </a:rPr>
              <a:t>~1 sec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3200400"/>
            <a:ext cx="20116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0" i="0">
                <a:solidFill>
                  <a:srgbClr val="3D5A80"/>
                </a:solidFill>
                <a:latin typeface="Calibri"/>
              </a:rPr>
              <a:t>Corosync token timeout risk
(spurious node eviction)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138160" y="2478024"/>
            <a:ext cx="0" cy="256032"/>
          </a:xfrm>
          <a:prstGeom prst="line">
            <a:avLst/>
          </a:prstGeom>
          <a:ln w="31750">
            <a:solidFill>
              <a:srgbClr val="00B4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132320" y="164592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1B2A4A"/>
                </a:solidFill>
                <a:latin typeface="Calibri"/>
              </a:rPr>
              <a:t>~5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1947672"/>
            <a:ext cx="20116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0" i="0">
                <a:solidFill>
                  <a:srgbClr val="3D5A80"/>
                </a:solidFill>
                <a:latin typeface="Calibri"/>
              </a:rPr>
              <a:t>Kerberos ticket validation
starts failing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607040" y="2478024"/>
            <a:ext cx="0" cy="256032"/>
          </a:xfrm>
          <a:prstGeom prst="line">
            <a:avLst/>
          </a:prstGeom>
          <a:ln w="31750">
            <a:solidFill>
              <a:srgbClr val="00B4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601200" y="2898648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1B2A4A"/>
                </a:solidFill>
                <a:latin typeface="Calibri"/>
              </a:rPr>
              <a:t>minutes+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3200400"/>
            <a:ext cx="20116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0" i="0">
                <a:solidFill>
                  <a:srgbClr val="3D5A80"/>
                </a:solidFill>
                <a:latin typeface="Calibri"/>
              </a:rPr>
              <a:t>TLS cert checks &amp; cross-host
log correlation break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40080" y="3977639"/>
          <a:ext cx="10908792" cy="260604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710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Subsystem</a:t>
                      </a:r>
                    </a:p>
                  </a:txBody>
                  <a:tcPr marL="82296" marR="82296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Typical tolerance</a:t>
                      </a:r>
                    </a:p>
                  </a:txBody>
                  <a:tcPr marL="82296" marR="82296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What happens when it's exceeded</a:t>
                      </a:r>
                    </a:p>
                  </a:txBody>
                  <a:tcPr marL="82296" marR="82296" marT="27432" marB="27432" anchor="ctr">
                    <a:solidFill>
                      <a:srgbClr val="1B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B2A4A"/>
                          </a:solidFill>
                          <a:latin typeface="Calibri"/>
                        </a:rPr>
                        <a:t>Corosync token timeout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3D5A80"/>
                          </a:solidFill>
                          <a:latin typeface="Calibri"/>
                        </a:rPr>
                        <a:t>~1 sec default (tunable)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3D5A80"/>
                          </a:solidFill>
                          <a:latin typeface="Calibri"/>
                        </a:rPr>
                        <a:t>Healthy node presumed dead - spurious fencing, cluster flapping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B2A4A"/>
                          </a:solidFill>
                          <a:latin typeface="Calibri"/>
                        </a:rPr>
                        <a:t>Ceph monitor clock skew</a:t>
                      </a:r>
                    </a:p>
                  </a:txBody>
                  <a:tcPr marL="82296" marR="82296" marT="27432" marB="27432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3D5A80"/>
                          </a:solidFill>
                          <a:latin typeface="Calibri"/>
                        </a:rPr>
                        <a:t>50 ms warning threshold</a:t>
                      </a:r>
                    </a:p>
                  </a:txBody>
                  <a:tcPr marL="82296" marR="82296" marT="27432" marB="27432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3D5A80"/>
                          </a:solidFill>
                          <a:latin typeface="Calibri"/>
                        </a:rPr>
                        <a:t>HEALTH_WARN clock skew; large skew can stall MON quorum (Paxos)</a:t>
                      </a:r>
                    </a:p>
                  </a:txBody>
                  <a:tcPr marL="82296" marR="82296" marT="27432" marB="27432" anchor="ctr">
                    <a:solidFill>
                      <a:srgbClr val="E8EE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B2A4A"/>
                          </a:solidFill>
                          <a:latin typeface="Calibri"/>
                        </a:rPr>
                        <a:t>Kerberos ticket validation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3D5A80"/>
                          </a:solidFill>
                          <a:latin typeface="Calibri"/>
                        </a:rPr>
                        <a:t>5 min default max skew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3D5A80"/>
                          </a:solidFill>
                          <a:latin typeface="Calibri"/>
                        </a:rPr>
                        <a:t>Authentication failures across the domain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B2A4A"/>
                          </a:solidFill>
                          <a:latin typeface="Calibri"/>
                        </a:rPr>
                        <a:t>TLS/PKI certificate checks</a:t>
                      </a:r>
                    </a:p>
                  </a:txBody>
                  <a:tcPr marL="82296" marR="82296" marT="27432" marB="27432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3D5A80"/>
                          </a:solidFill>
                          <a:latin typeface="Calibri"/>
                        </a:rPr>
                        <a:t>absolute time, no tolerance</a:t>
                      </a:r>
                    </a:p>
                  </a:txBody>
                  <a:tcPr marL="82296" marR="82296" marT="27432" marB="27432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3D5A80"/>
                          </a:solidFill>
                          <a:latin typeface="Calibri"/>
                        </a:rPr>
                        <a:t>Certs appear not-yet-valid or already expired</a:t>
                      </a:r>
                    </a:p>
                  </a:txBody>
                  <a:tcPr marL="82296" marR="82296" marT="27432" marB="27432" anchor="ctr">
                    <a:solidFill>
                      <a:srgbClr val="E8EE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B2A4A"/>
                          </a:solidFill>
                          <a:latin typeface="Calibri"/>
                        </a:rPr>
                        <a:t>Cross-host log/audit correlation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3D5A80"/>
                          </a:solidFill>
                          <a:latin typeface="Calibri"/>
                        </a:rPr>
                        <a:t>none (ordering assumption)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3D5A80"/>
                          </a:solidFill>
                          <a:latin typeface="Calibri"/>
                        </a:rPr>
                        <a:t>Events reorder across hosts; incident forensics unreliable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90879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900" b="1" i="0">
                <a:solidFill>
                  <a:srgbClr val="1B2A4A"/>
                </a:solidFill>
                <a:latin typeface="Cambria"/>
              </a:rPr>
              <a:t>Shared Storage: Pros &amp; Cons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61872"/>
            <a:ext cx="1090879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50" b="0" i="0">
                <a:solidFill>
                  <a:srgbClr val="3D5A80"/>
                </a:solidFill>
                <a:latin typeface="Calibri"/>
              </a:rPr>
              <a:t>No two clusters use the same storage backend - the right choice trades complexity for resilience differently depending on what you're building.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965960"/>
          <a:ext cx="10908792" cy="4617720"/>
        </p:xfrm>
        <a:graphic>
          <a:graphicData uri="http://schemas.openxmlformats.org/drawingml/2006/table">
            <a:tbl>
              <a:tblPr/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422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923544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Storage Type</a:t>
                      </a:r>
                    </a:p>
                  </a:txBody>
                  <a:tcPr marL="82296" marR="82296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Live Migration</a:t>
                      </a:r>
                    </a:p>
                  </a:txBody>
                  <a:tcPr marL="82296" marR="82296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Fault Tolerance</a:t>
                      </a:r>
                    </a:p>
                  </a:txBody>
                  <a:tcPr marL="82296" marR="82296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Performance</a:t>
                      </a:r>
                    </a:p>
                  </a:txBody>
                  <a:tcPr marL="82296" marR="82296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Best Fit &amp; Trade-off</a:t>
                      </a:r>
                    </a:p>
                  </a:txBody>
                  <a:tcPr marL="82296" marR="82296" marT="27432" marB="27432" anchor="ctr">
                    <a:solidFill>
                      <a:srgbClr val="1B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2354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B2A4A"/>
                          </a:solidFill>
                          <a:latin typeface="Calibri"/>
                        </a:rPr>
                        <a:t>Ceph (RBD / CephFS)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E7D32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D5A80"/>
                          </a:solidFill>
                          <a:latin typeface="Calibri"/>
                        </a:rPr>
                        <a:t>Self-healing, no single point of failure (replicated, size=3)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D5A80"/>
                          </a:solidFill>
                          <a:latin typeface="Calibri"/>
                        </a:rPr>
                        <a:t>Good; network + replication overhead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D5A80"/>
                          </a:solidFill>
                          <a:latin typeface="Calibri"/>
                        </a:rPr>
                        <a:t>Hyperconverged clusters like this course's lab - needs 3+ nodes and is network-sensitive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2354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B2A4A"/>
                          </a:solidFill>
                          <a:latin typeface="Calibri"/>
                        </a:rPr>
                        <a:t>NFS (external share)</a:t>
                      </a:r>
                    </a:p>
                  </a:txBody>
                  <a:tcPr marL="82296" marR="82296" marT="27432" marB="27432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E7D32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82296" marT="27432" marB="27432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D5A80"/>
                          </a:solidFill>
                          <a:latin typeface="Calibri"/>
                        </a:rPr>
                        <a:t>Single server unless clustered - SPOF by default</a:t>
                      </a:r>
                    </a:p>
                  </a:txBody>
                  <a:tcPr marL="82296" marR="82296" marT="27432" marB="27432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D5A80"/>
                          </a:solidFill>
                          <a:latin typeface="Calibri"/>
                        </a:rPr>
                        <a:t>Fine for ISOs/templates/backups, not latency-critical VM disks</a:t>
                      </a:r>
                    </a:p>
                  </a:txBody>
                  <a:tcPr marL="82296" marR="82296" marT="27432" marB="27432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D5A80"/>
                          </a:solidFill>
                          <a:latin typeface="Calibri"/>
                        </a:rPr>
                        <a:t>Simple to stand up; best for ISO/template/backup storage, not primary VM storage</a:t>
                      </a:r>
                    </a:p>
                  </a:txBody>
                  <a:tcPr marL="82296" marR="82296" marT="27432" marB="27432" anchor="ctr">
                    <a:solidFill>
                      <a:srgbClr val="E8EE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2354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B2A4A"/>
                          </a:solidFill>
                          <a:latin typeface="Calibri"/>
                        </a:rPr>
                        <a:t>iSCSI / SAN (block)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E7D32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D5A80"/>
                          </a:solidFill>
                          <a:latin typeface="Calibri"/>
                        </a:rPr>
                        <a:t>Entirely dependent on the SAN hardware's own redundancy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D5A80"/>
                          </a:solidFill>
                          <a:latin typeface="Calibri"/>
                        </a:rPr>
                        <a:t>Strong block performance with multipathing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D5A80"/>
                          </a:solidFill>
                          <a:latin typeface="Calibri"/>
                        </a:rPr>
                        <a:t>Good fit where a SAN investment already exists; needs a shared/clustered filesystem on top for migration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2354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B2A4A"/>
                          </a:solidFill>
                          <a:latin typeface="Calibri"/>
                        </a:rPr>
                        <a:t>Local (ZFS / LVM per node)</a:t>
                      </a:r>
                    </a:p>
                  </a:txBody>
                  <a:tcPr marL="82296" marR="82296" marT="27432" marB="27432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B02A2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82296" marT="27432" marB="27432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D5A80"/>
                          </a:solidFill>
                          <a:latin typeface="Calibri"/>
                        </a:rPr>
                        <a:t>None - the VM is tied to whichever node holds its disk</a:t>
                      </a:r>
                    </a:p>
                  </a:txBody>
                  <a:tcPr marL="82296" marR="82296" marT="27432" marB="27432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D5A80"/>
                          </a:solidFill>
                          <a:latin typeface="Calibri"/>
                        </a:rPr>
                        <a:t>Fastest option; zero network overhead</a:t>
                      </a:r>
                    </a:p>
                  </a:txBody>
                  <a:tcPr marL="82296" marR="82296" marT="27432" marB="27432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D5A80"/>
                          </a:solidFill>
                          <a:latin typeface="Calibri"/>
                        </a:rPr>
                        <a:t>Single-node labs/dev; no HA or live migration without a separate storage-migration step</a:t>
                      </a:r>
                    </a:p>
                  </a:txBody>
                  <a:tcPr marL="82296" marR="82296" marT="27432" marB="27432" anchor="ctr">
                    <a:solidFill>
                      <a:srgbClr val="E8EE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Week: Lab 1 &amp; Homework 1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5227168" cy="2331720"/>
          </a:xfrm>
          <a:prstGeom prst="roundRect">
            <a:avLst>
              <a:gd name="adj" fmla="val 4706"/>
            </a:avLst>
          </a:prstGeom>
          <a:solidFill>
            <a:srgbClr val="E8EEF7"/>
          </a:solidFill>
          <a:ln/>
          <a:effectLst>
            <a:outerShdw blurRad="76200" dist="25400" dir="5400000" algn="bl" rotWithShape="0">
              <a:srgbClr val="1B2A4A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60120" y="1673352"/>
            <a:ext cx="4587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1 · Proxmox Orientation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075688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Tracks, ~3.5 hrs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60120" y="2468880"/>
            <a:ext cx="45870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WireGuard remote access, 3-node Proxmox cluster, Ceph deployment, non-root admin user, Rocky Linux 9 template, rolling package updates on a live cluster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324448" y="1417320"/>
            <a:ext cx="5227168" cy="2331720"/>
          </a:xfrm>
          <a:prstGeom prst="roundRect">
            <a:avLst>
              <a:gd name="adj" fmla="val 4706"/>
            </a:avLst>
          </a:prstGeom>
          <a:solidFill>
            <a:srgbClr val="E8EEF7"/>
          </a:solidFill>
          <a:ln/>
          <a:effectLst>
            <a:outerShdw blurRad="76200" dist="25400" dir="5400000" algn="bl" rotWithShape="0">
              <a:srgbClr val="1B2A4A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644488" y="1673352"/>
            <a:ext cx="4587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HW 1 · Syllabus Quiz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644488" y="2075688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Tracks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644488" y="2468880"/>
            <a:ext cx="45870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dirty="0">
                <a:solidFill>
                  <a:srgbClr val="3D5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you've read and understood the policies covered today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4069080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960120" y="4069080"/>
            <a:ext cx="102714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Lab 1 right now: it's the foundation every future lab this semester depends on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287</TotalTime>
  <Words>3023</Words>
  <Application>Microsoft Office PowerPoint</Application>
  <PresentationFormat>Widescreen</PresentationFormat>
  <Paragraphs>323</Paragraphs>
  <Slides>34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Sebastian Hayes</cp:lastModifiedBy>
  <cp:revision>7</cp:revision>
  <dcterms:created xsi:type="dcterms:W3CDTF">2026-08-03T22:07:57Z</dcterms:created>
  <dcterms:modified xsi:type="dcterms:W3CDTF">2026-09-03T21:18:04Z</dcterms:modified>
</cp:coreProperties>
</file>