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582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INTRODUCTION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Administration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444  ·  Fall 2026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  ·  CTB 345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Overview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System Administration?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Sysadmins and IT admins keep production systems running: provisioning, patching, hardening, monitoring, and responding when things break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sits at the intersection of two adjacent careers: security-focused sysadmin work and infrastructure/IT operations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credits · 2 hrs lecture + 2 hrs in-person lab per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PM, CTB 345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semester: a hardened multi-node Proxmox/Ceph environment you built yourself, Linux and Windows Server administration experience, and a documented GitHub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maintain a hardened Linux and Windows Server lab environment suitable for production-grade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Active Directory and Group Policy fundamentals to manage a small Windows estate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 basic patch management pipeline and certificate / PKI infrastructure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operations work using a GitHub-based pull request workflow that mirrors industry change management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implement, and present a multi-week capstone infrastructure project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You Should Already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27168" cy="3931920"/>
          </a:xfrm>
          <a:prstGeom prst="roundRect">
            <a:avLst>
              <a:gd name="adj" fmla="val 2791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6916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Line &amp; Automation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286000"/>
            <a:ext cx="45870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GitHub: cloning, branching, committing, and opening a pull request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basics: shell navigation, vim or nano, permissions, pipes, and redirection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Bash and other scripting: writing and reading simple automation scripts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SSH: connecting to a remote host with key-based authentication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24448" y="1417320"/>
            <a:ext cx="5227168" cy="3931920"/>
          </a:xfrm>
          <a:prstGeom prst="roundRect">
            <a:avLst>
              <a:gd name="adj" fmla="val 2791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44488" y="16916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&amp; Security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44488" y="2286000"/>
            <a:ext cx="45870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provisioning fundamentals: creating a VM, attaching storage and network, and installing an OS from an ISO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basics: IP addressing and subnetting, DNS, and basic routing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Windows Active Directory: users, groups, organizational units, and Group Policy fundamentals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scanning: running a scanner and interpreting basic results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writing: documenting findings and procedures in clear, structured technical writing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562356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of these feel shaky, review them during Week 1. Labs assume this baseline and move quickly from there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Tracks: Cyber vs.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is delivered in two parallel tracks: a Cyber Track and an IT Track</a:t>
            </a:r>
            <a:endParaRPr lang="en-US" sz="1400" dirty="0"/>
          </a:p>
          <a:p>
            <a:pPr marL="279400" indent="-279400" algn="l"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the midterm are shared across both tracks; most weeks each track has its own lab and homework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27168" cy="3566160"/>
          </a:xfrm>
          <a:prstGeom prst="roundRect">
            <a:avLst>
              <a:gd name="adj" fmla="val 3077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78892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Track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45870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engineering, SOC, GRC, or compliance-focused sysadmin roles</a:t>
            </a:r>
            <a:endParaRPr lang="en-US" sz="1400" dirty="0"/>
          </a:p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(CIS/STIG), audit &amp; logging, vulnerability remediation, Ansible, container security, incident response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4448" y="2514600"/>
            <a:ext cx="5227168" cy="3566160"/>
          </a:xfrm>
          <a:prstGeom prst="roundRect">
            <a:avLst>
              <a:gd name="adj" fmla="val 3077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44488" y="278892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Track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44488" y="3383280"/>
            <a:ext cx="45870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engineering, IT operations, cloud, or platform roles</a:t>
            </a:r>
            <a:endParaRPr lang="en-US" sz="1400" dirty="0"/>
          </a:p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workflows, networking/DNS, high availability, data center ops, cloud IAM, Prometheus/Grafana monitoring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Tracks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assignments are required for everyone, regardless of track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your track; no formal declaration or registration is needed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assignment per week from your chosen track; you may switch tracks week to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the Cyber and IT version in a given week earns no extra credit: only one counts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scores are automatically dropped for weeks with two track options, so there's no need to email the instructor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Track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pick a primary track early and stay mostly consistent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labs build progressively for some assignments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Cyber if aiming at security, GRC, SOC, or compliance careers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if aiming at IT operations, infrastructure, cloud, SRE, or platform careers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Project has both a Cyber and an IT version; pick either, regardless of your weekly track history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Assignments &amp; Grading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Grading Breakdown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530716"/>
              </p:ext>
            </p:extLst>
          </p:nvPr>
        </p:nvGraphicFramePr>
        <p:xfrm>
          <a:off x="640080" y="1554480"/>
          <a:ext cx="10911535" cy="29260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2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Labs (13)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Started in lab session; report due within one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 (14)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Written, scripted, and analysis assignments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Midterm Exam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9, individual tabletop exercise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Project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9–15, Cyber or IT 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Labs &amp; Homework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are the core of the course, submitted through a GitHub-based workflow that mirrors professional sysadmin documentation practice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branch → write labs/lab-NN.md as a runbook (commands, expected vs. actual output, screenshots, analysis) → commit supporting artifacts → open a PR titled "Lab NN: [Topic]" → TA reviews → address feedback → merge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due Thursdays 11:59 PM (one week after the lab session); Homework due Tuesdays 11:59 PM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repository grows into a real technical portfolio: 13 lab reports, supporting scripts/configs, and final project documentation by the end of the semester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Submitting Assignments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assignments are due at 11:59 PM on the posted date. Make sure the pull request itself is open before the deadline, not just committed locally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is not accepted: submissions after the deadline receive a zero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university accommodations: contact the instructor at least 24 hours before the due date; requests made after a deadline are not considered retroactively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issues (network outages, VM failures, hardware problems) are a routine hazard in a systems administration course and are not grounds for an extension, so keep backups and submit early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Exam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5% of grade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tabletop exercise, not a written exam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shared scenario for both tracks, covering Weeks 1–8 lecture material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course's Dungeon Master narrates encounters and adjudicates outcomes in place of a live proctor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make-up midterms except university-recognized excused absences arranged in advance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Multi-week capstone, Weeks 9–15 · 10% of grade · serves as the final exam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Track: design, harden, document, and present infrastructure meeting CIS Level 2 / applicable DISA STIG requirements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Track: design, build, document, and present an enterprise infrastructure deliverable (operations, networking, cloud, monitoring, policy)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assignment (Groups of 2): no help from the instructor, TAs, or classmates beyond clarifying grading/scope questions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due Week 8; final deliverable and live presentation due the last class day (Dec 10)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Policies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at both lecture and lab is expected; notify the instructor in advance if you need to miss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are not recorded as a general practice; exceptions may be made case-by-case for university-excused absences, so contact the instructor before the missed session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graded component, but course material builds week over week and lab work cannot easily be replicated outside scheduled sessions, so frequent absences will likely be reflected in your performance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is not accepted: assignments and lab reports after the deadline receive a zero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university accommodation? Contact the instructor at least 24 hours before the due date to arrange alternatives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requests made after a deadline has passed will not be considered retroactively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issues (network outages, VM failures, hardware problems) are a routine hazard in this course and are not grounds for an extension, so maintain regular backups and submit early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ways to reach the instructor: Discord or email, both monitored equally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 reply within one business day; weekend/after-5 PM messages are answered the next business day (Hours: M–F, 9 AM–5 PM)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lab-related questions, grading questions, or troubleshooting, contact the Teaching Assistant first for the fastest turnaround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questions others might benefit from in the Discord channel rather than a DM; keep personal matters (grade disputes, accommodations) to email or a private message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of AI Tools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(ChatGPT, Claude, Copilot, Gemini, and similar) is permitted as a study/reference aid, in roughly the same spirit as a search engine, man page, or Stack Overflow</a:t>
            </a:r>
            <a:endParaRPr lang="en-US" sz="13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permitted: using AI to produce the substance of your work. Submitting AI-generated or heavily-rewritten output as your own is an Academic Honesty violation, regardless of how much you edited it afterward</a:t>
            </a:r>
            <a:endParaRPr lang="en-US" sz="13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Permitted: explaining a concept, looking up syntax, a short boilerplate snippet you build on and understand, feedback on something you already wrote</a:t>
            </a:r>
            <a:endParaRPr lang="en-US" sz="13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permitted: generating a full/majority lab report or homework response, having AI write or restructure your scripts/configs, using AI to answer reflection questions meant to demonstrate your own understanding</a:t>
            </a:r>
            <a:endParaRPr lang="en-US" sz="13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test: if you couldn't explain what you submitted line-by-line (script) or paragraph-by-paragraph (writing), you've likely crossed the line</a:t>
            </a:r>
            <a:endParaRPr lang="en-US" sz="13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disclose. A brief AI-use note at the end of a submission is never held against you; undisclosed use that surfaces later is an academic honesty violation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Honesty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injunction of the Honor Code is the call to "be honest": complete your own work and be evaluated based on it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academic dishonesty in all its forms: plagiarism, fabrication or falsification, cheating, and other misconduct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course specifically: submitting another student's lab report or scripts as your own, and undisclosed AI-generated substantive work, are both violations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policy: see the Academic Honesty section of the syllabus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Setup: Proxmox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Proxmox?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VE: an open-source, type-1 hypervisor plus clustering and storage platform. It's the lab environment for this entire semester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assigned 3 Proxmox nodes and join them into a single cluster using Corosync for cluster communication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enables quorum-based safety, live migration, and high availability: foundational concepts you'll rely on all semester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built in Week 1 (cluster, Ceph pool, admin user, VM template) is the foundation every later lab runs on top of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 &amp; Ceph Fundamentals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Quorum: a majority of nodes must agree before risky operations run; with 3 nodes, you can lose 1 and stay quorate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Ceph: distributed, replicated storage layer on top of the cluster, with a default replication factor of 3 and min_size of 2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principle both layers share: tolerate one failure, keep functioning. That's why 3 nodes is the practical minimum, not an arbitrary number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interfaces are never exposed to the public internet; access is only through a WireGuard VPN tunnel, mirroring real production practice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Lab 1 &amp; Homework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27168" cy="2331720"/>
          </a:xfrm>
          <a:prstGeom prst="roundRect">
            <a:avLst>
              <a:gd name="adj" fmla="val 4706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673352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· Proxmox Orientation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075688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Tracks, ~3.5 hrs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WireGuard remote access, 3-node Proxmox cluster, Ceph deployment, non-root admin user, Rocky Linux 9 template, rolling package updates on a live cluster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24448" y="1417320"/>
            <a:ext cx="5227168" cy="2331720"/>
          </a:xfrm>
          <a:prstGeom prst="roundRect">
            <a:avLst>
              <a:gd name="adj" fmla="val 4706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44488" y="1673352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HW 1 · Syllabus Quiz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44488" y="2075688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Tracks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4488" y="2468880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you've read and understood the policies covered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406908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Lab 1 right now: it's the foundation every future lab this semester depends on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1920240"/>
            <a:ext cx="1371600" cy="137160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13248" y="1920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5204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 Hayes  ·  sebastian.hayes@byu.edu  ·  Discord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1910</Words>
  <Application>Microsoft Office PowerPoint</Application>
  <PresentationFormat>Widescreen</PresentationFormat>
  <Paragraphs>168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Hayes</cp:lastModifiedBy>
  <cp:revision>2</cp:revision>
  <dcterms:created xsi:type="dcterms:W3CDTF">2026-08-03T22:07:57Z</dcterms:created>
  <dcterms:modified xsi:type="dcterms:W3CDTF">2026-08-03T23:14:08Z</dcterms:modified>
</cp:coreProperties>
</file>