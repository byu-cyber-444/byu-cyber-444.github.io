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8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5" autoAdjust="0"/>
    <p:restoredTop sz="82209" autoAdjust="0"/>
  </p:normalViewPr>
  <p:slideViewPr>
    <p:cSldViewPr snapToGrid="0" snapToObjects="1">
      <p:cViewPr varScale="1">
        <p:scale>
          <a:sx n="104" d="100"/>
          <a:sy n="104" d="100"/>
        </p:scale>
        <p:origin x="81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997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 the final projects first, retaining the published end-of-Week-9 proposal deadline. Then introduce the fictional two-rack facility for board calculations and cover the 18 chapters of the Keentel Engineering guide. Instructor-led activities are done on the board rather than on separate slides.
Citations:
- /opt/byu-cyber-444.github.io/final-project-cyber/index.md
- /opt/byu-cyber-444.github.io/final-project-it/index.md
- Keentel Engineering, Data Center Design Guide, https://keentelengineering.com/data-center-design-guide
- /opt/byu-cyber-444.github.io/schedule/week-08.md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identify which option best uses the skills and infrastructure they already have. The Cyber overview lists all six options. Every Cyber project includes at least one Linux system and one Windows Server system doing real work; both appear in automation, diagram, documentation, and demo.
Citations:
- /opt/byu-cyber-444.github.io/final-project-cyber/index.md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students to compare operational value, resource load, and evidence burden. The IT overview says these projects can run in the student’s own Proxmox lab; no cloud account is required. Most options use Valley Medical Group as the scenario organization.
Citations:
- /opt/byu-cyber-444.github.io/final-project-it/index.md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proposal pages require all five sections and specific answers. Week 13 is Thanksgiving break with no deliverable. The Cyber proposal additionally requires at least one Linux and one Windows Server system and the Windows role. A failed proposal must be revised and passed before project credit can be received. Do not imply the Week 8 launch changes the deadline.
Citations:
- /opt/byu-cyber-444.github.io/final-project-cyber/proposal.md
- /opt/byu-cyber-444.github.io/final-project-it/proposal.md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YBER444_W8">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97D"/>
          </a:solidFill>
          <a:ln w="12700">
            <a:solidFill>
              <a:srgbClr val="1F497D"/>
            </a:solidFill>
            <a:prstDash val="solid"/>
          </a:ln>
        </p:spPr>
        <p:txBody>
          <a:bodyPr/>
          <a:lstStyle/>
          <a:p>
            <a:endParaRPr lang="en-US"/>
          </a:p>
        </p:txBody>
      </p:sp>
      <p:sp>
        <p:nvSpPr>
          <p:cNvPr id="3" name="Text 1"/>
          <p:cNvSpPr/>
          <p:nvPr/>
        </p:nvSpPr>
        <p:spPr>
          <a:xfrm>
            <a:off x="411480" y="6565392"/>
            <a:ext cx="5486400" cy="164592"/>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CYBER 444  ·  ASSESS / DESIGN / VERIFY</a:t>
            </a:r>
            <a:endParaRPr lang="en-US" sz="800" dirty="0"/>
          </a:p>
        </p:txBody>
      </p:sp>
      <p:sp>
        <p:nvSpPr>
          <p:cNvPr id="4" name="Text 2"/>
          <p:cNvSpPr/>
          <p:nvPr/>
        </p:nvSpPr>
        <p:spPr>
          <a:xfrm>
            <a:off x="10561320" y="6565392"/>
            <a:ext cx="1143000" cy="164592"/>
          </a:xfrm>
          <a:prstGeom prst="rect">
            <a:avLst/>
          </a:prstGeom>
          <a:noFill/>
          <a:ln/>
        </p:spPr>
        <p:txBody>
          <a:bodyPr wrap="square" lIns="0" tIns="0" rIns="0" bIns="0"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Fall 2026</a:t>
            </a:r>
            <a:endParaRPr lang="en-US" sz="8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97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4BACC6"/>
          </a:solidFill>
          <a:ln w="12700">
            <a:solidFill>
              <a:srgbClr val="4BACC6"/>
            </a:solidFill>
            <a:prstDash val="solid"/>
          </a:ln>
        </p:spPr>
        <p:txBody>
          <a:bodyPr/>
          <a:lstStyle/>
          <a:p>
            <a:endParaRPr lang="en-US"/>
          </a:p>
        </p:txBody>
      </p:sp>
      <p:sp>
        <p:nvSpPr>
          <p:cNvPr id="3" name="Text 1"/>
          <p:cNvSpPr txBox="1"/>
          <p:nvPr/>
        </p:nvSpPr>
        <p:spPr>
          <a:xfrm>
            <a:off x="621792" y="566928"/>
            <a:ext cx="6309360" cy="256032"/>
          </a:xfrm>
          <a:prstGeom prst="rect">
            <a:avLst/>
          </a:prstGeom>
          <a:noFill/>
          <a:ln/>
        </p:spPr>
        <p:txBody>
          <a:bodyPr wrap="square" lIns="508" tIns="508" rIns="508" bIns="508" rtlCol="0" anchor="ctr">
            <a:normAutofit/>
          </a:bodyPr>
          <a:lstStyle/>
          <a:p>
            <a:pPr marL="0" indent="0" algn="l">
              <a:buNone/>
            </a:pPr>
            <a:r>
              <a:rPr lang="en-US" sz="1400" b="1" kern="0" spc="200" dirty="0">
                <a:solidFill>
                  <a:srgbClr val="BFE4EE"/>
                </a:solidFill>
                <a:latin typeface="Calibri" pitchFamily="34" charset="0"/>
                <a:ea typeface="Calibri" pitchFamily="34" charset="-122"/>
                <a:cs typeface="Calibri" pitchFamily="34" charset="-120"/>
              </a:rPr>
              <a:t>WEEK 8  ·  PROJECTS + DESIGN</a:t>
            </a:r>
            <a:endParaRPr lang="en-US" sz="1400" dirty="0"/>
          </a:p>
        </p:txBody>
      </p:sp>
      <p:sp>
        <p:nvSpPr>
          <p:cNvPr id="4" name="Text 2"/>
          <p:cNvSpPr txBox="1"/>
          <p:nvPr/>
        </p:nvSpPr>
        <p:spPr>
          <a:xfrm>
            <a:off x="621792" y="1197864"/>
            <a:ext cx="10698480" cy="841248"/>
          </a:xfrm>
          <a:prstGeom prst="rect">
            <a:avLst/>
          </a:prstGeom>
          <a:noFill/>
          <a:ln/>
        </p:spPr>
        <p:txBody>
          <a:bodyPr wrap="square" lIns="508" tIns="508" rIns="508" bIns="508" rtlCol="0" anchor="ctr">
            <a:normAutofit/>
          </a:bodyPr>
          <a:lstStyle/>
          <a:p>
            <a:pPr marL="0" indent="0" algn="l">
              <a:buNone/>
            </a:pPr>
            <a:r>
              <a:rPr lang="en-US" sz="3400" b="1" dirty="0">
                <a:solidFill>
                  <a:srgbClr val="FFFFFF"/>
                </a:solidFill>
                <a:latin typeface="Calibri" pitchFamily="34" charset="0"/>
                <a:ea typeface="Calibri" pitchFamily="34" charset="-122"/>
                <a:cs typeface="Calibri" pitchFamily="34" charset="-120"/>
              </a:rPr>
              <a:t>Final Projects &amp; Data Center Design</a:t>
            </a:r>
            <a:endParaRPr lang="en-US" sz="3400" dirty="0"/>
          </a:p>
        </p:txBody>
      </p:sp>
      <p:sp>
        <p:nvSpPr>
          <p:cNvPr id="5" name="Text 3"/>
          <p:cNvSpPr txBox="1"/>
          <p:nvPr/>
        </p:nvSpPr>
        <p:spPr>
          <a:xfrm>
            <a:off x="658368" y="2386584"/>
            <a:ext cx="10424160" cy="420624"/>
          </a:xfrm>
          <a:prstGeom prst="rect">
            <a:avLst/>
          </a:prstGeom>
          <a:noFill/>
          <a:ln/>
        </p:spPr>
        <p:txBody>
          <a:bodyPr wrap="square" lIns="508" tIns="508" rIns="508" bIns="508" rtlCol="0" anchor="ctr">
            <a:normAutofit/>
          </a:bodyPr>
          <a:lstStyle/>
          <a:p>
            <a:pPr marL="0" indent="0" algn="l">
              <a:buNone/>
            </a:pPr>
            <a:r>
              <a:rPr lang="en-US" sz="1800" dirty="0">
                <a:solidFill>
                  <a:srgbClr val="DCEAF5"/>
                </a:solidFill>
                <a:latin typeface="Calibri" pitchFamily="34" charset="0"/>
                <a:ea typeface="Calibri" pitchFamily="34" charset="-122"/>
                <a:cs typeface="Calibri" pitchFamily="34" charset="-120"/>
              </a:rPr>
              <a:t>Choose a capstone  ·  analyze one small facility together</a:t>
            </a:r>
            <a:endParaRPr lang="en-US" sz="1800" dirty="0"/>
          </a:p>
        </p:txBody>
      </p:sp>
      <p:sp>
        <p:nvSpPr>
          <p:cNvPr id="6" name="Shape 4"/>
          <p:cNvSpPr/>
          <p:nvPr/>
        </p:nvSpPr>
        <p:spPr>
          <a:xfrm>
            <a:off x="658368" y="3081528"/>
            <a:ext cx="3776472" cy="0"/>
          </a:xfrm>
          <a:prstGeom prst="line">
            <a:avLst/>
          </a:prstGeom>
          <a:noFill/>
          <a:ln w="38100">
            <a:solidFill>
              <a:srgbClr val="4BACC6"/>
            </a:solidFill>
            <a:prstDash val="solid"/>
            <a:tailEnd type="none"/>
          </a:ln>
        </p:spPr>
        <p:txBody>
          <a:bodyPr/>
          <a:lstStyle/>
          <a:p>
            <a:endParaRPr lang="en-US"/>
          </a:p>
        </p:txBody>
      </p:sp>
      <p:sp>
        <p:nvSpPr>
          <p:cNvPr id="7" name="Text 5"/>
          <p:cNvSpPr txBox="1"/>
          <p:nvPr/>
        </p:nvSpPr>
        <p:spPr>
          <a:xfrm>
            <a:off x="658368" y="5349240"/>
            <a:ext cx="5943600" cy="256032"/>
          </a:xfrm>
          <a:prstGeom prst="rect">
            <a:avLst/>
          </a:prstGeom>
          <a:noFill/>
          <a:ln/>
        </p:spPr>
        <p:txBody>
          <a:bodyPr wrap="square" lIns="508" tIns="508" rIns="508" bIns="508" rtlCol="0" anchor="ctr">
            <a:normAutofit/>
          </a:bodyPr>
          <a:lstStyle/>
          <a:p>
            <a:pPr marL="0" indent="0" algn="l">
              <a:buNone/>
            </a:pPr>
            <a:r>
              <a:rPr lang="en-US" sz="1300" dirty="0">
                <a:solidFill>
                  <a:srgbClr val="DCEAF5"/>
                </a:solidFill>
                <a:latin typeface="Calibri" pitchFamily="34" charset="0"/>
                <a:ea typeface="Calibri" pitchFamily="34" charset="-122"/>
                <a:cs typeface="Calibri" pitchFamily="34" charset="-120"/>
              </a:rPr>
              <a:t>CYBER 444  ·  Systems &amp; Network Administration</a:t>
            </a:r>
            <a:endParaRPr lang="en-US" sz="1300" dirty="0"/>
          </a:p>
        </p:txBody>
      </p:sp>
      <p:sp>
        <p:nvSpPr>
          <p:cNvPr id="8" name="Text 6"/>
          <p:cNvSpPr txBox="1"/>
          <p:nvPr/>
        </p:nvSpPr>
        <p:spPr>
          <a:xfrm>
            <a:off x="658368" y="5669280"/>
            <a:ext cx="4572000" cy="228600"/>
          </a:xfrm>
          <a:prstGeom prst="rect">
            <a:avLst/>
          </a:prstGeom>
          <a:noFill/>
          <a:ln/>
        </p:spPr>
        <p:txBody>
          <a:bodyPr wrap="square" lIns="508" tIns="508" rIns="508" bIns="508" rtlCol="0" anchor="ctr">
            <a:normAutofit/>
          </a:bodyPr>
          <a:lstStyle/>
          <a:p>
            <a:pPr marL="0" indent="0" algn="l">
              <a:buNone/>
            </a:pPr>
            <a:r>
              <a:rPr lang="en-US" sz="1200" dirty="0">
                <a:solidFill>
                  <a:srgbClr val="BFE4EE"/>
                </a:solidFill>
                <a:latin typeface="Calibri" pitchFamily="34" charset="0"/>
                <a:ea typeface="Calibri" pitchFamily="34" charset="-122"/>
                <a:cs typeface="Calibri" pitchFamily="34" charset="-120"/>
              </a:rPr>
              <a:t>October 20 &amp; 22, 2026</a:t>
            </a:r>
            <a:endParaRPr lang="en-US" sz="1200" dirty="0"/>
          </a:p>
        </p:txBody>
      </p:sp>
      <p:sp>
        <p:nvSpPr>
          <p:cNvPr id="9" name="Shape 7"/>
          <p:cNvSpPr/>
          <p:nvPr/>
        </p:nvSpPr>
        <p:spPr>
          <a:xfrm>
            <a:off x="7772400" y="3703320"/>
            <a:ext cx="475488" cy="475488"/>
          </a:xfrm>
          <a:prstGeom prst="ellipse">
            <a:avLst/>
          </a:prstGeom>
          <a:solidFill>
            <a:srgbClr val="C0504D"/>
          </a:solidFill>
          <a:ln w="12700">
            <a:solidFill>
              <a:srgbClr val="C0504D"/>
            </a:solidFill>
            <a:prstDash val="solid"/>
          </a:ln>
        </p:spPr>
        <p:txBody>
          <a:bodyPr/>
          <a:lstStyle/>
          <a:p>
            <a:endParaRPr lang="en-US"/>
          </a:p>
        </p:txBody>
      </p:sp>
      <p:sp>
        <p:nvSpPr>
          <p:cNvPr id="10" name="Shape 8"/>
          <p:cNvSpPr/>
          <p:nvPr/>
        </p:nvSpPr>
        <p:spPr>
          <a:xfrm>
            <a:off x="8558784" y="3447288"/>
            <a:ext cx="475488" cy="475488"/>
          </a:xfrm>
          <a:prstGeom prst="ellipse">
            <a:avLst/>
          </a:prstGeom>
          <a:solidFill>
            <a:srgbClr val="F79646"/>
          </a:solidFill>
          <a:ln w="12700">
            <a:solidFill>
              <a:srgbClr val="F79646"/>
            </a:solidFill>
            <a:prstDash val="solid"/>
          </a:ln>
        </p:spPr>
        <p:txBody>
          <a:bodyPr/>
          <a:lstStyle/>
          <a:p>
            <a:endParaRPr lang="en-US"/>
          </a:p>
        </p:txBody>
      </p:sp>
      <p:sp>
        <p:nvSpPr>
          <p:cNvPr id="11" name="Shape 9"/>
          <p:cNvSpPr/>
          <p:nvPr/>
        </p:nvSpPr>
        <p:spPr>
          <a:xfrm>
            <a:off x="9345168" y="3703320"/>
            <a:ext cx="475488" cy="475488"/>
          </a:xfrm>
          <a:prstGeom prst="ellipse">
            <a:avLst/>
          </a:prstGeom>
          <a:solidFill>
            <a:srgbClr val="4BACC6"/>
          </a:solidFill>
          <a:ln w="12700">
            <a:solidFill>
              <a:srgbClr val="4BACC6"/>
            </a:solidFill>
            <a:prstDash val="solid"/>
          </a:ln>
        </p:spPr>
        <p:txBody>
          <a:bodyPr/>
          <a:lstStyle/>
          <a:p>
            <a:endParaRPr lang="en-US"/>
          </a:p>
        </p:txBody>
      </p:sp>
      <p:sp>
        <p:nvSpPr>
          <p:cNvPr id="12" name="Shape 10"/>
          <p:cNvSpPr/>
          <p:nvPr/>
        </p:nvSpPr>
        <p:spPr>
          <a:xfrm>
            <a:off x="10131552" y="3447288"/>
            <a:ext cx="475488" cy="475488"/>
          </a:xfrm>
          <a:prstGeom prst="ellipse">
            <a:avLst/>
          </a:prstGeom>
          <a:solidFill>
            <a:srgbClr val="70AD47"/>
          </a:solidFill>
          <a:ln w="12700">
            <a:solidFill>
              <a:srgbClr val="70AD47"/>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CYBER OPTIONS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Six Cyber projects: choose a system to secure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Each option requires meaningful Linux and Windows Server roles.</a:t>
            </a:r>
            <a:endParaRPr lang="en-US" sz="1300" dirty="0"/>
          </a:p>
        </p:txBody>
      </p:sp>
      <p:sp>
        <p:nvSpPr>
          <p:cNvPr id="6" name="Shape 3"/>
          <p:cNvSpPr/>
          <p:nvPr/>
        </p:nvSpPr>
        <p:spPr>
          <a:xfrm>
            <a:off x="749808" y="1737360"/>
            <a:ext cx="2231136" cy="521208"/>
          </a:xfrm>
          <a:prstGeom prst="roundRect">
            <a:avLst>
              <a:gd name="adj" fmla="val 14035"/>
            </a:avLst>
          </a:prstGeom>
          <a:solidFill>
            <a:srgbClr val="4BACC6"/>
          </a:solidFill>
          <a:ln w="12700">
            <a:solidFill>
              <a:srgbClr val="4BACC6"/>
            </a:solidFill>
            <a:prstDash val="solid"/>
          </a:ln>
        </p:spPr>
        <p:txBody>
          <a:bodyPr/>
          <a:lstStyle/>
          <a:p>
            <a:endParaRPr lang="en-US"/>
          </a:p>
        </p:txBody>
      </p:sp>
      <p:sp>
        <p:nvSpPr>
          <p:cNvPr id="7" name="Text 4"/>
          <p:cNvSpPr txBox="1"/>
          <p:nvPr/>
        </p:nvSpPr>
        <p:spPr>
          <a:xfrm>
            <a:off x="841248" y="1801368"/>
            <a:ext cx="2048256"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C1</a:t>
            </a:r>
            <a:endParaRPr lang="en-US" sz="1300" dirty="0"/>
          </a:p>
        </p:txBody>
      </p:sp>
      <p:sp>
        <p:nvSpPr>
          <p:cNvPr id="8" name="Shape 5"/>
          <p:cNvSpPr/>
          <p:nvPr/>
        </p:nvSpPr>
        <p:spPr>
          <a:xfrm>
            <a:off x="3182112" y="1737360"/>
            <a:ext cx="8247888" cy="521208"/>
          </a:xfrm>
          <a:prstGeom prst="roundRect">
            <a:avLst>
              <a:gd name="adj" fmla="val 14035"/>
            </a:avLst>
          </a:prstGeom>
          <a:solidFill>
            <a:srgbClr val="FFFFFF"/>
          </a:solidFill>
          <a:ln w="12700">
            <a:solidFill>
              <a:srgbClr val="CBD5E1"/>
            </a:solidFill>
            <a:prstDash val="solid"/>
          </a:ln>
        </p:spPr>
        <p:txBody>
          <a:bodyPr/>
          <a:lstStyle/>
          <a:p>
            <a:endParaRPr lang="en-US"/>
          </a:p>
        </p:txBody>
      </p:sp>
      <p:sp>
        <p:nvSpPr>
          <p:cNvPr id="9" name="Text 6"/>
          <p:cNvSpPr txBox="1"/>
          <p:nvPr/>
        </p:nvSpPr>
        <p:spPr>
          <a:xfrm>
            <a:off x="3328416" y="1801368"/>
            <a:ext cx="7955280" cy="393192"/>
          </a:xfrm>
          <a:prstGeom prst="rect">
            <a:avLst/>
          </a:prstGeom>
          <a:noFill/>
          <a:ln/>
        </p:spPr>
        <p:txBody>
          <a:bodyPr wrap="square" lIns="508" tIns="508" rIns="508" bIns="508" rtlCol="0" anchor="ctr">
            <a:normAutofit/>
          </a:bodyPr>
          <a:lstStyle/>
          <a:p>
            <a:pPr marL="0" indent="0" algn="l">
              <a:buNone/>
            </a:pPr>
            <a:r>
              <a:rPr lang="en-US" sz="1320" dirty="0">
                <a:solidFill>
                  <a:srgbClr val="203040"/>
                </a:solidFill>
                <a:latin typeface="Calibri" pitchFamily="34" charset="0"/>
                <a:ea typeface="Calibri" pitchFamily="34" charset="-122"/>
                <a:cs typeface="Calibri" pitchFamily="34" charset="-120"/>
              </a:rPr>
              <a:t>Hardened infrastructure — CIS Level 2 or DISA STIG</a:t>
            </a:r>
            <a:endParaRPr lang="en-US" sz="1320" dirty="0"/>
          </a:p>
        </p:txBody>
      </p:sp>
      <p:sp>
        <p:nvSpPr>
          <p:cNvPr id="10" name="Shape 7"/>
          <p:cNvSpPr/>
          <p:nvPr/>
        </p:nvSpPr>
        <p:spPr>
          <a:xfrm>
            <a:off x="749808" y="2350008"/>
            <a:ext cx="2231136" cy="521208"/>
          </a:xfrm>
          <a:prstGeom prst="roundRect">
            <a:avLst>
              <a:gd name="adj" fmla="val 14035"/>
            </a:avLst>
          </a:prstGeom>
          <a:solidFill>
            <a:srgbClr val="4F81BD"/>
          </a:solidFill>
          <a:ln w="12700">
            <a:solidFill>
              <a:srgbClr val="4F81BD"/>
            </a:solidFill>
            <a:prstDash val="solid"/>
          </a:ln>
        </p:spPr>
        <p:txBody>
          <a:bodyPr/>
          <a:lstStyle/>
          <a:p>
            <a:endParaRPr lang="en-US"/>
          </a:p>
        </p:txBody>
      </p:sp>
      <p:sp>
        <p:nvSpPr>
          <p:cNvPr id="11" name="Text 8"/>
          <p:cNvSpPr txBox="1"/>
          <p:nvPr/>
        </p:nvSpPr>
        <p:spPr>
          <a:xfrm>
            <a:off x="841248" y="2414016"/>
            <a:ext cx="2048256"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C2</a:t>
            </a:r>
            <a:endParaRPr lang="en-US" sz="1300" dirty="0"/>
          </a:p>
        </p:txBody>
      </p:sp>
      <p:sp>
        <p:nvSpPr>
          <p:cNvPr id="12" name="Shape 9"/>
          <p:cNvSpPr/>
          <p:nvPr/>
        </p:nvSpPr>
        <p:spPr>
          <a:xfrm>
            <a:off x="3182112" y="2350008"/>
            <a:ext cx="8247888" cy="521208"/>
          </a:xfrm>
          <a:prstGeom prst="roundRect">
            <a:avLst>
              <a:gd name="adj" fmla="val 14035"/>
            </a:avLst>
          </a:prstGeom>
          <a:solidFill>
            <a:srgbClr val="FFFFFF"/>
          </a:solidFill>
          <a:ln w="12700">
            <a:solidFill>
              <a:srgbClr val="CBD5E1"/>
            </a:solidFill>
            <a:prstDash val="solid"/>
          </a:ln>
        </p:spPr>
        <p:txBody>
          <a:bodyPr/>
          <a:lstStyle/>
          <a:p>
            <a:endParaRPr lang="en-US"/>
          </a:p>
        </p:txBody>
      </p:sp>
      <p:sp>
        <p:nvSpPr>
          <p:cNvPr id="13" name="Text 10"/>
          <p:cNvSpPr txBox="1"/>
          <p:nvPr/>
        </p:nvSpPr>
        <p:spPr>
          <a:xfrm>
            <a:off x="3328416" y="2414016"/>
            <a:ext cx="7955280" cy="393192"/>
          </a:xfrm>
          <a:prstGeom prst="rect">
            <a:avLst/>
          </a:prstGeom>
          <a:noFill/>
          <a:ln/>
        </p:spPr>
        <p:txBody>
          <a:bodyPr wrap="square" lIns="508" tIns="508" rIns="508" bIns="508" rtlCol="0" anchor="ctr">
            <a:normAutofit/>
          </a:bodyPr>
          <a:lstStyle/>
          <a:p>
            <a:pPr marL="0" indent="0" algn="l">
              <a:buNone/>
            </a:pPr>
            <a:r>
              <a:rPr lang="en-US" sz="1320" dirty="0">
                <a:solidFill>
                  <a:srgbClr val="203040"/>
                </a:solidFill>
                <a:latin typeface="Calibri" pitchFamily="34" charset="0"/>
                <a:ea typeface="Calibri" pitchFamily="34" charset="-122"/>
                <a:cs typeface="Calibri" pitchFamily="34" charset="-120"/>
              </a:rPr>
              <a:t>Zero-trust identity and PKI platform</a:t>
            </a:r>
            <a:endParaRPr lang="en-US" sz="1320" dirty="0"/>
          </a:p>
        </p:txBody>
      </p:sp>
      <p:sp>
        <p:nvSpPr>
          <p:cNvPr id="14" name="Shape 11"/>
          <p:cNvSpPr/>
          <p:nvPr/>
        </p:nvSpPr>
        <p:spPr>
          <a:xfrm>
            <a:off x="749808" y="2962656"/>
            <a:ext cx="2231136" cy="521208"/>
          </a:xfrm>
          <a:prstGeom prst="roundRect">
            <a:avLst>
              <a:gd name="adj" fmla="val 14035"/>
            </a:avLst>
          </a:prstGeom>
          <a:solidFill>
            <a:srgbClr val="F79646"/>
          </a:solidFill>
          <a:ln w="12700">
            <a:solidFill>
              <a:srgbClr val="F79646"/>
            </a:solidFill>
            <a:prstDash val="solid"/>
          </a:ln>
        </p:spPr>
        <p:txBody>
          <a:bodyPr/>
          <a:lstStyle/>
          <a:p>
            <a:endParaRPr lang="en-US"/>
          </a:p>
        </p:txBody>
      </p:sp>
      <p:sp>
        <p:nvSpPr>
          <p:cNvPr id="15" name="Text 12"/>
          <p:cNvSpPr txBox="1"/>
          <p:nvPr/>
        </p:nvSpPr>
        <p:spPr>
          <a:xfrm>
            <a:off x="841248" y="3026664"/>
            <a:ext cx="2048256"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C3</a:t>
            </a:r>
            <a:endParaRPr lang="en-US" sz="1300" dirty="0"/>
          </a:p>
        </p:txBody>
      </p:sp>
      <p:sp>
        <p:nvSpPr>
          <p:cNvPr id="16" name="Shape 13"/>
          <p:cNvSpPr/>
          <p:nvPr/>
        </p:nvSpPr>
        <p:spPr>
          <a:xfrm>
            <a:off x="3182112" y="2962656"/>
            <a:ext cx="8247888" cy="521208"/>
          </a:xfrm>
          <a:prstGeom prst="roundRect">
            <a:avLst>
              <a:gd name="adj" fmla="val 14035"/>
            </a:avLst>
          </a:prstGeom>
          <a:solidFill>
            <a:srgbClr val="FFFFFF"/>
          </a:solidFill>
          <a:ln w="12700">
            <a:solidFill>
              <a:srgbClr val="CBD5E1"/>
            </a:solidFill>
            <a:prstDash val="solid"/>
          </a:ln>
        </p:spPr>
        <p:txBody>
          <a:bodyPr/>
          <a:lstStyle/>
          <a:p>
            <a:endParaRPr lang="en-US"/>
          </a:p>
        </p:txBody>
      </p:sp>
      <p:sp>
        <p:nvSpPr>
          <p:cNvPr id="17" name="Text 14"/>
          <p:cNvSpPr txBox="1"/>
          <p:nvPr/>
        </p:nvSpPr>
        <p:spPr>
          <a:xfrm>
            <a:off x="3328416" y="3026664"/>
            <a:ext cx="7955280" cy="393192"/>
          </a:xfrm>
          <a:prstGeom prst="rect">
            <a:avLst/>
          </a:prstGeom>
          <a:noFill/>
          <a:ln/>
        </p:spPr>
        <p:txBody>
          <a:bodyPr wrap="square" lIns="508" tIns="508" rIns="508" bIns="508" rtlCol="0" anchor="ctr">
            <a:normAutofit/>
          </a:bodyPr>
          <a:lstStyle/>
          <a:p>
            <a:pPr marL="0" indent="0" algn="l">
              <a:buNone/>
            </a:pPr>
            <a:r>
              <a:rPr lang="en-US" sz="1320" dirty="0">
                <a:solidFill>
                  <a:srgbClr val="203040"/>
                </a:solidFill>
                <a:latin typeface="Calibri" pitchFamily="34" charset="0"/>
                <a:ea typeface="Calibri" pitchFamily="34" charset="-122"/>
                <a:cs typeface="Calibri" pitchFamily="34" charset="-120"/>
              </a:rPr>
              <a:t>Detection engineering / SOC-in-a-Box</a:t>
            </a:r>
            <a:endParaRPr lang="en-US" sz="1320" dirty="0"/>
          </a:p>
        </p:txBody>
      </p:sp>
      <p:sp>
        <p:nvSpPr>
          <p:cNvPr id="18" name="Shape 15"/>
          <p:cNvSpPr/>
          <p:nvPr/>
        </p:nvSpPr>
        <p:spPr>
          <a:xfrm>
            <a:off x="749808" y="3575304"/>
            <a:ext cx="2231136" cy="521208"/>
          </a:xfrm>
          <a:prstGeom prst="roundRect">
            <a:avLst>
              <a:gd name="adj" fmla="val 14035"/>
            </a:avLst>
          </a:prstGeom>
          <a:solidFill>
            <a:srgbClr val="8064A2"/>
          </a:solidFill>
          <a:ln w="12700">
            <a:solidFill>
              <a:srgbClr val="8064A2"/>
            </a:solidFill>
            <a:prstDash val="solid"/>
          </a:ln>
        </p:spPr>
        <p:txBody>
          <a:bodyPr/>
          <a:lstStyle/>
          <a:p>
            <a:endParaRPr lang="en-US"/>
          </a:p>
        </p:txBody>
      </p:sp>
      <p:sp>
        <p:nvSpPr>
          <p:cNvPr id="19" name="Text 16"/>
          <p:cNvSpPr txBox="1"/>
          <p:nvPr/>
        </p:nvSpPr>
        <p:spPr>
          <a:xfrm>
            <a:off x="841248" y="3639312"/>
            <a:ext cx="2048256"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C4</a:t>
            </a:r>
            <a:endParaRPr lang="en-US" sz="1300" dirty="0"/>
          </a:p>
        </p:txBody>
      </p:sp>
      <p:sp>
        <p:nvSpPr>
          <p:cNvPr id="20" name="Shape 17"/>
          <p:cNvSpPr/>
          <p:nvPr/>
        </p:nvSpPr>
        <p:spPr>
          <a:xfrm>
            <a:off x="3182112" y="3575304"/>
            <a:ext cx="8247888" cy="521208"/>
          </a:xfrm>
          <a:prstGeom prst="roundRect">
            <a:avLst>
              <a:gd name="adj" fmla="val 14035"/>
            </a:avLst>
          </a:prstGeom>
          <a:solidFill>
            <a:srgbClr val="FFFFFF"/>
          </a:solidFill>
          <a:ln w="12700">
            <a:solidFill>
              <a:srgbClr val="CBD5E1"/>
            </a:solidFill>
            <a:prstDash val="solid"/>
          </a:ln>
        </p:spPr>
        <p:txBody>
          <a:bodyPr/>
          <a:lstStyle/>
          <a:p>
            <a:endParaRPr lang="en-US"/>
          </a:p>
        </p:txBody>
      </p:sp>
      <p:sp>
        <p:nvSpPr>
          <p:cNvPr id="21" name="Text 18"/>
          <p:cNvSpPr txBox="1"/>
          <p:nvPr/>
        </p:nvSpPr>
        <p:spPr>
          <a:xfrm>
            <a:off x="3328416" y="3639312"/>
            <a:ext cx="7955280" cy="393192"/>
          </a:xfrm>
          <a:prstGeom prst="rect">
            <a:avLst/>
          </a:prstGeom>
          <a:noFill/>
          <a:ln/>
        </p:spPr>
        <p:txBody>
          <a:bodyPr wrap="square" lIns="508" tIns="508" rIns="508" bIns="508" rtlCol="0" anchor="ctr">
            <a:normAutofit/>
          </a:bodyPr>
          <a:lstStyle/>
          <a:p>
            <a:pPr marL="0" indent="0" algn="l">
              <a:buNone/>
            </a:pPr>
            <a:r>
              <a:rPr lang="en-US" sz="1320" dirty="0">
                <a:solidFill>
                  <a:srgbClr val="203040"/>
                </a:solidFill>
                <a:latin typeface="Calibri" pitchFamily="34" charset="0"/>
                <a:ea typeface="Calibri" pitchFamily="34" charset="-122"/>
                <a:cs typeface="Calibri" pitchFamily="34" charset="-120"/>
              </a:rPr>
              <a:t>Compliance-as-Code pipeline</a:t>
            </a:r>
            <a:endParaRPr lang="en-US" sz="1320" dirty="0"/>
          </a:p>
        </p:txBody>
      </p:sp>
      <p:sp>
        <p:nvSpPr>
          <p:cNvPr id="22" name="Shape 19"/>
          <p:cNvSpPr/>
          <p:nvPr/>
        </p:nvSpPr>
        <p:spPr>
          <a:xfrm>
            <a:off x="749808" y="4187952"/>
            <a:ext cx="2231136" cy="521208"/>
          </a:xfrm>
          <a:prstGeom prst="roundRect">
            <a:avLst>
              <a:gd name="adj" fmla="val 14035"/>
            </a:avLst>
          </a:prstGeom>
          <a:solidFill>
            <a:srgbClr val="70AD47"/>
          </a:solidFill>
          <a:ln w="12700">
            <a:solidFill>
              <a:srgbClr val="70AD47"/>
            </a:solidFill>
            <a:prstDash val="solid"/>
          </a:ln>
        </p:spPr>
        <p:txBody>
          <a:bodyPr/>
          <a:lstStyle/>
          <a:p>
            <a:endParaRPr lang="en-US"/>
          </a:p>
        </p:txBody>
      </p:sp>
      <p:sp>
        <p:nvSpPr>
          <p:cNvPr id="23" name="Text 20"/>
          <p:cNvSpPr txBox="1"/>
          <p:nvPr/>
        </p:nvSpPr>
        <p:spPr>
          <a:xfrm>
            <a:off x="841248" y="4251960"/>
            <a:ext cx="2048256"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C5</a:t>
            </a:r>
            <a:endParaRPr lang="en-US" sz="1300" dirty="0"/>
          </a:p>
        </p:txBody>
      </p:sp>
      <p:sp>
        <p:nvSpPr>
          <p:cNvPr id="24" name="Shape 21"/>
          <p:cNvSpPr/>
          <p:nvPr/>
        </p:nvSpPr>
        <p:spPr>
          <a:xfrm>
            <a:off x="3182112" y="4187952"/>
            <a:ext cx="8247888" cy="521208"/>
          </a:xfrm>
          <a:prstGeom prst="roundRect">
            <a:avLst>
              <a:gd name="adj" fmla="val 14035"/>
            </a:avLst>
          </a:prstGeom>
          <a:solidFill>
            <a:srgbClr val="FFFFFF"/>
          </a:solidFill>
          <a:ln w="12700">
            <a:solidFill>
              <a:srgbClr val="CBD5E1"/>
            </a:solidFill>
            <a:prstDash val="solid"/>
          </a:ln>
        </p:spPr>
        <p:txBody>
          <a:bodyPr/>
          <a:lstStyle/>
          <a:p>
            <a:endParaRPr lang="en-US"/>
          </a:p>
        </p:txBody>
      </p:sp>
      <p:sp>
        <p:nvSpPr>
          <p:cNvPr id="25" name="Text 22"/>
          <p:cNvSpPr txBox="1"/>
          <p:nvPr/>
        </p:nvSpPr>
        <p:spPr>
          <a:xfrm>
            <a:off x="3328416" y="4251960"/>
            <a:ext cx="7955280" cy="393192"/>
          </a:xfrm>
          <a:prstGeom prst="rect">
            <a:avLst/>
          </a:prstGeom>
          <a:noFill/>
          <a:ln/>
        </p:spPr>
        <p:txBody>
          <a:bodyPr wrap="square" lIns="508" tIns="508" rIns="508" bIns="508" rtlCol="0" anchor="ctr">
            <a:normAutofit/>
          </a:bodyPr>
          <a:lstStyle/>
          <a:p>
            <a:pPr marL="0" indent="0" algn="l">
              <a:buNone/>
            </a:pPr>
            <a:r>
              <a:rPr lang="en-US" sz="1320" dirty="0">
                <a:solidFill>
                  <a:srgbClr val="203040"/>
                </a:solidFill>
                <a:latin typeface="Calibri" pitchFamily="34" charset="0"/>
                <a:ea typeface="Calibri" pitchFamily="34" charset="-122"/>
                <a:cs typeface="Calibri" pitchFamily="34" charset="-120"/>
              </a:rPr>
              <a:t>Secure container platform</a:t>
            </a:r>
            <a:endParaRPr lang="en-US" sz="1320" dirty="0"/>
          </a:p>
        </p:txBody>
      </p:sp>
      <p:sp>
        <p:nvSpPr>
          <p:cNvPr id="26" name="Shape 23"/>
          <p:cNvSpPr/>
          <p:nvPr/>
        </p:nvSpPr>
        <p:spPr>
          <a:xfrm>
            <a:off x="749808" y="4800600"/>
            <a:ext cx="2231136" cy="521208"/>
          </a:xfrm>
          <a:prstGeom prst="roundRect">
            <a:avLst>
              <a:gd name="adj" fmla="val 14035"/>
            </a:avLst>
          </a:prstGeom>
          <a:solidFill>
            <a:srgbClr val="C0504D"/>
          </a:solidFill>
          <a:ln w="12700">
            <a:solidFill>
              <a:srgbClr val="C0504D"/>
            </a:solidFill>
            <a:prstDash val="solid"/>
          </a:ln>
        </p:spPr>
        <p:txBody>
          <a:bodyPr/>
          <a:lstStyle/>
          <a:p>
            <a:endParaRPr lang="en-US"/>
          </a:p>
        </p:txBody>
      </p:sp>
      <p:sp>
        <p:nvSpPr>
          <p:cNvPr id="27" name="Text 24"/>
          <p:cNvSpPr txBox="1"/>
          <p:nvPr/>
        </p:nvSpPr>
        <p:spPr>
          <a:xfrm>
            <a:off x="841248" y="4864608"/>
            <a:ext cx="2048256" cy="39319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C6</a:t>
            </a:r>
            <a:endParaRPr lang="en-US" sz="1300" dirty="0"/>
          </a:p>
        </p:txBody>
      </p:sp>
      <p:sp>
        <p:nvSpPr>
          <p:cNvPr id="28" name="Shape 25"/>
          <p:cNvSpPr/>
          <p:nvPr/>
        </p:nvSpPr>
        <p:spPr>
          <a:xfrm>
            <a:off x="3182112" y="4800600"/>
            <a:ext cx="8247888" cy="521208"/>
          </a:xfrm>
          <a:prstGeom prst="roundRect">
            <a:avLst>
              <a:gd name="adj" fmla="val 14035"/>
            </a:avLst>
          </a:prstGeom>
          <a:solidFill>
            <a:srgbClr val="FFFFFF"/>
          </a:solidFill>
          <a:ln w="12700">
            <a:solidFill>
              <a:srgbClr val="CBD5E1"/>
            </a:solidFill>
            <a:prstDash val="solid"/>
          </a:ln>
        </p:spPr>
        <p:txBody>
          <a:bodyPr/>
          <a:lstStyle/>
          <a:p>
            <a:endParaRPr lang="en-US"/>
          </a:p>
        </p:txBody>
      </p:sp>
      <p:sp>
        <p:nvSpPr>
          <p:cNvPr id="29" name="Text 26"/>
          <p:cNvSpPr txBox="1"/>
          <p:nvPr/>
        </p:nvSpPr>
        <p:spPr>
          <a:xfrm>
            <a:off x="3328416" y="4864608"/>
            <a:ext cx="7955280" cy="393192"/>
          </a:xfrm>
          <a:prstGeom prst="rect">
            <a:avLst/>
          </a:prstGeom>
          <a:noFill/>
          <a:ln/>
        </p:spPr>
        <p:txBody>
          <a:bodyPr wrap="square" lIns="508" tIns="508" rIns="508" bIns="508" rtlCol="0" anchor="ctr">
            <a:normAutofit/>
          </a:bodyPr>
          <a:lstStyle/>
          <a:p>
            <a:pPr marL="0" indent="0" algn="l">
              <a:buNone/>
            </a:pPr>
            <a:r>
              <a:rPr lang="en-US" sz="1320" dirty="0">
                <a:solidFill>
                  <a:srgbClr val="203040"/>
                </a:solidFill>
                <a:latin typeface="Calibri" pitchFamily="34" charset="0"/>
                <a:ea typeface="Calibri" pitchFamily="34" charset="-122"/>
                <a:cs typeface="Calibri" pitchFamily="34" charset="-120"/>
              </a:rPr>
              <a:t>Patch and vulnerability management program</a:t>
            </a:r>
            <a:endParaRPr lang="en-US" sz="132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IT OPTIONS</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Five IT projects: choose an operations problem</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All IT options run in the student’s own Proxmox environment.</a:t>
            </a:r>
            <a:endParaRPr lang="en-US" sz="1300" dirty="0"/>
          </a:p>
        </p:txBody>
      </p:sp>
      <p:sp>
        <p:nvSpPr>
          <p:cNvPr id="6" name="Shape 3"/>
          <p:cNvSpPr/>
          <p:nvPr/>
        </p:nvSpPr>
        <p:spPr>
          <a:xfrm>
            <a:off x="749808" y="1737360"/>
            <a:ext cx="2231136" cy="603504"/>
          </a:xfrm>
          <a:prstGeom prst="roundRect">
            <a:avLst>
              <a:gd name="adj" fmla="val 12121"/>
            </a:avLst>
          </a:prstGeom>
          <a:solidFill>
            <a:srgbClr val="4BACC6"/>
          </a:solidFill>
          <a:ln w="12700">
            <a:solidFill>
              <a:srgbClr val="4BACC6"/>
            </a:solidFill>
            <a:prstDash val="solid"/>
          </a:ln>
        </p:spPr>
        <p:txBody>
          <a:bodyPr/>
          <a:lstStyle/>
          <a:p>
            <a:endParaRPr lang="en-US"/>
          </a:p>
        </p:txBody>
      </p:sp>
      <p:sp>
        <p:nvSpPr>
          <p:cNvPr id="7" name="Text 4"/>
          <p:cNvSpPr txBox="1"/>
          <p:nvPr/>
        </p:nvSpPr>
        <p:spPr>
          <a:xfrm>
            <a:off x="841248" y="1801368"/>
            <a:ext cx="2048256" cy="475488"/>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I1</a:t>
            </a:r>
            <a:endParaRPr lang="en-US" sz="1300" dirty="0"/>
          </a:p>
        </p:txBody>
      </p:sp>
      <p:sp>
        <p:nvSpPr>
          <p:cNvPr id="8" name="Shape 5"/>
          <p:cNvSpPr/>
          <p:nvPr/>
        </p:nvSpPr>
        <p:spPr>
          <a:xfrm>
            <a:off x="3182112" y="1737360"/>
            <a:ext cx="8247888" cy="603504"/>
          </a:xfrm>
          <a:prstGeom prst="roundRect">
            <a:avLst>
              <a:gd name="adj" fmla="val 12121"/>
            </a:avLst>
          </a:prstGeom>
          <a:solidFill>
            <a:srgbClr val="FFFFFF"/>
          </a:solidFill>
          <a:ln w="12700">
            <a:solidFill>
              <a:srgbClr val="CBD5E1"/>
            </a:solidFill>
            <a:prstDash val="solid"/>
          </a:ln>
        </p:spPr>
        <p:txBody>
          <a:bodyPr/>
          <a:lstStyle/>
          <a:p>
            <a:endParaRPr lang="en-US"/>
          </a:p>
        </p:txBody>
      </p:sp>
      <p:sp>
        <p:nvSpPr>
          <p:cNvPr id="9" name="Text 6"/>
          <p:cNvSpPr txBox="1"/>
          <p:nvPr/>
        </p:nvSpPr>
        <p:spPr>
          <a:xfrm>
            <a:off x="3328416" y="1801368"/>
            <a:ext cx="7955280" cy="475488"/>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HA platform with backup and disaster recovery</a:t>
            </a:r>
            <a:endParaRPr lang="en-US" sz="1350" dirty="0"/>
          </a:p>
        </p:txBody>
      </p:sp>
      <p:sp>
        <p:nvSpPr>
          <p:cNvPr id="10" name="Shape 7"/>
          <p:cNvSpPr/>
          <p:nvPr/>
        </p:nvSpPr>
        <p:spPr>
          <a:xfrm>
            <a:off x="749808" y="2487168"/>
            <a:ext cx="2231136" cy="603504"/>
          </a:xfrm>
          <a:prstGeom prst="roundRect">
            <a:avLst>
              <a:gd name="adj" fmla="val 12121"/>
            </a:avLst>
          </a:prstGeom>
          <a:solidFill>
            <a:srgbClr val="4F81BD"/>
          </a:solidFill>
          <a:ln w="12700">
            <a:solidFill>
              <a:srgbClr val="4F81BD"/>
            </a:solidFill>
            <a:prstDash val="solid"/>
          </a:ln>
        </p:spPr>
        <p:txBody>
          <a:bodyPr/>
          <a:lstStyle/>
          <a:p>
            <a:endParaRPr lang="en-US"/>
          </a:p>
        </p:txBody>
      </p:sp>
      <p:sp>
        <p:nvSpPr>
          <p:cNvPr id="11" name="Text 8"/>
          <p:cNvSpPr txBox="1"/>
          <p:nvPr/>
        </p:nvSpPr>
        <p:spPr>
          <a:xfrm>
            <a:off x="841248" y="2551176"/>
            <a:ext cx="2048256" cy="475488"/>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I2</a:t>
            </a:r>
            <a:endParaRPr lang="en-US" sz="1300" dirty="0"/>
          </a:p>
        </p:txBody>
      </p:sp>
      <p:sp>
        <p:nvSpPr>
          <p:cNvPr id="12" name="Shape 9"/>
          <p:cNvSpPr/>
          <p:nvPr/>
        </p:nvSpPr>
        <p:spPr>
          <a:xfrm>
            <a:off x="3182112" y="2487168"/>
            <a:ext cx="8247888" cy="603504"/>
          </a:xfrm>
          <a:prstGeom prst="roundRect">
            <a:avLst>
              <a:gd name="adj" fmla="val 12121"/>
            </a:avLst>
          </a:prstGeom>
          <a:solidFill>
            <a:srgbClr val="FFFFFF"/>
          </a:solidFill>
          <a:ln w="12700">
            <a:solidFill>
              <a:srgbClr val="CBD5E1"/>
            </a:solidFill>
            <a:prstDash val="solid"/>
          </a:ln>
        </p:spPr>
        <p:txBody>
          <a:bodyPr/>
          <a:lstStyle/>
          <a:p>
            <a:endParaRPr lang="en-US"/>
          </a:p>
        </p:txBody>
      </p:sp>
      <p:sp>
        <p:nvSpPr>
          <p:cNvPr id="13" name="Text 10"/>
          <p:cNvSpPr txBox="1"/>
          <p:nvPr/>
        </p:nvSpPr>
        <p:spPr>
          <a:xfrm>
            <a:off x="3328416" y="2551176"/>
            <a:ext cx="7955280" cy="475488"/>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Monitoring and service desk</a:t>
            </a:r>
            <a:endParaRPr lang="en-US" sz="1350" dirty="0"/>
          </a:p>
        </p:txBody>
      </p:sp>
      <p:sp>
        <p:nvSpPr>
          <p:cNvPr id="14" name="Shape 11"/>
          <p:cNvSpPr/>
          <p:nvPr/>
        </p:nvSpPr>
        <p:spPr>
          <a:xfrm>
            <a:off x="749808" y="3236976"/>
            <a:ext cx="2231136" cy="603504"/>
          </a:xfrm>
          <a:prstGeom prst="roundRect">
            <a:avLst>
              <a:gd name="adj" fmla="val 12121"/>
            </a:avLst>
          </a:prstGeom>
          <a:solidFill>
            <a:srgbClr val="F79646"/>
          </a:solidFill>
          <a:ln w="12700">
            <a:solidFill>
              <a:srgbClr val="F79646"/>
            </a:solidFill>
            <a:prstDash val="solid"/>
          </a:ln>
        </p:spPr>
        <p:txBody>
          <a:bodyPr/>
          <a:lstStyle/>
          <a:p>
            <a:endParaRPr lang="en-US"/>
          </a:p>
        </p:txBody>
      </p:sp>
      <p:sp>
        <p:nvSpPr>
          <p:cNvPr id="15" name="Text 12"/>
          <p:cNvSpPr txBox="1"/>
          <p:nvPr/>
        </p:nvSpPr>
        <p:spPr>
          <a:xfrm>
            <a:off x="841248" y="3300984"/>
            <a:ext cx="2048256" cy="475488"/>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I3</a:t>
            </a:r>
            <a:endParaRPr lang="en-US" sz="1300" dirty="0"/>
          </a:p>
        </p:txBody>
      </p:sp>
      <p:sp>
        <p:nvSpPr>
          <p:cNvPr id="16" name="Shape 13"/>
          <p:cNvSpPr/>
          <p:nvPr/>
        </p:nvSpPr>
        <p:spPr>
          <a:xfrm>
            <a:off x="3182112" y="3236976"/>
            <a:ext cx="8247888" cy="603504"/>
          </a:xfrm>
          <a:prstGeom prst="roundRect">
            <a:avLst>
              <a:gd name="adj" fmla="val 12121"/>
            </a:avLst>
          </a:prstGeom>
          <a:solidFill>
            <a:srgbClr val="FFFFFF"/>
          </a:solidFill>
          <a:ln w="12700">
            <a:solidFill>
              <a:srgbClr val="CBD5E1"/>
            </a:solidFill>
            <a:prstDash val="solid"/>
          </a:ln>
        </p:spPr>
        <p:txBody>
          <a:bodyPr/>
          <a:lstStyle/>
          <a:p>
            <a:endParaRPr lang="en-US"/>
          </a:p>
        </p:txBody>
      </p:sp>
      <p:sp>
        <p:nvSpPr>
          <p:cNvPr id="17" name="Text 14"/>
          <p:cNvSpPr txBox="1"/>
          <p:nvPr/>
        </p:nvSpPr>
        <p:spPr>
          <a:xfrm>
            <a:off x="3328416" y="3300984"/>
            <a:ext cx="7955280" cy="475488"/>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On-prem AI inference service</a:t>
            </a:r>
            <a:endParaRPr lang="en-US" sz="1350" dirty="0"/>
          </a:p>
        </p:txBody>
      </p:sp>
      <p:sp>
        <p:nvSpPr>
          <p:cNvPr id="18" name="Shape 15"/>
          <p:cNvSpPr/>
          <p:nvPr/>
        </p:nvSpPr>
        <p:spPr>
          <a:xfrm>
            <a:off x="749808" y="3986784"/>
            <a:ext cx="2231136" cy="603504"/>
          </a:xfrm>
          <a:prstGeom prst="roundRect">
            <a:avLst>
              <a:gd name="adj" fmla="val 12121"/>
            </a:avLst>
          </a:prstGeom>
          <a:solidFill>
            <a:srgbClr val="8064A2"/>
          </a:solidFill>
          <a:ln w="12700">
            <a:solidFill>
              <a:srgbClr val="8064A2"/>
            </a:solidFill>
            <a:prstDash val="solid"/>
          </a:ln>
        </p:spPr>
        <p:txBody>
          <a:bodyPr/>
          <a:lstStyle/>
          <a:p>
            <a:endParaRPr lang="en-US"/>
          </a:p>
        </p:txBody>
      </p:sp>
      <p:sp>
        <p:nvSpPr>
          <p:cNvPr id="19" name="Text 16"/>
          <p:cNvSpPr txBox="1"/>
          <p:nvPr/>
        </p:nvSpPr>
        <p:spPr>
          <a:xfrm>
            <a:off x="841248" y="4050792"/>
            <a:ext cx="2048256" cy="475488"/>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I4</a:t>
            </a:r>
            <a:endParaRPr lang="en-US" sz="1300" dirty="0"/>
          </a:p>
        </p:txBody>
      </p:sp>
      <p:sp>
        <p:nvSpPr>
          <p:cNvPr id="20" name="Shape 17"/>
          <p:cNvSpPr/>
          <p:nvPr/>
        </p:nvSpPr>
        <p:spPr>
          <a:xfrm>
            <a:off x="3182112" y="3986784"/>
            <a:ext cx="8247888" cy="603504"/>
          </a:xfrm>
          <a:prstGeom prst="roundRect">
            <a:avLst>
              <a:gd name="adj" fmla="val 12121"/>
            </a:avLst>
          </a:prstGeom>
          <a:solidFill>
            <a:srgbClr val="FFFFFF"/>
          </a:solidFill>
          <a:ln w="12700">
            <a:solidFill>
              <a:srgbClr val="CBD5E1"/>
            </a:solidFill>
            <a:prstDash val="solid"/>
          </a:ln>
        </p:spPr>
        <p:txBody>
          <a:bodyPr/>
          <a:lstStyle/>
          <a:p>
            <a:endParaRPr lang="en-US"/>
          </a:p>
        </p:txBody>
      </p:sp>
      <p:sp>
        <p:nvSpPr>
          <p:cNvPr id="21" name="Text 18"/>
          <p:cNvSpPr txBox="1"/>
          <p:nvPr/>
        </p:nvSpPr>
        <p:spPr>
          <a:xfrm>
            <a:off x="3328416" y="4050792"/>
            <a:ext cx="7955280" cy="475488"/>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Identity and endpoint lifecycle</a:t>
            </a:r>
            <a:endParaRPr lang="en-US" sz="1350" dirty="0"/>
          </a:p>
        </p:txBody>
      </p:sp>
      <p:sp>
        <p:nvSpPr>
          <p:cNvPr id="22" name="Shape 19"/>
          <p:cNvSpPr/>
          <p:nvPr/>
        </p:nvSpPr>
        <p:spPr>
          <a:xfrm>
            <a:off x="749808" y="4736592"/>
            <a:ext cx="2231136" cy="603504"/>
          </a:xfrm>
          <a:prstGeom prst="roundRect">
            <a:avLst>
              <a:gd name="adj" fmla="val 12121"/>
            </a:avLst>
          </a:prstGeom>
          <a:solidFill>
            <a:srgbClr val="70AD47"/>
          </a:solidFill>
          <a:ln w="12700">
            <a:solidFill>
              <a:srgbClr val="70AD47"/>
            </a:solidFill>
            <a:prstDash val="solid"/>
          </a:ln>
        </p:spPr>
        <p:txBody>
          <a:bodyPr/>
          <a:lstStyle/>
          <a:p>
            <a:endParaRPr lang="en-US"/>
          </a:p>
        </p:txBody>
      </p:sp>
      <p:sp>
        <p:nvSpPr>
          <p:cNvPr id="23" name="Text 20"/>
          <p:cNvSpPr txBox="1"/>
          <p:nvPr/>
        </p:nvSpPr>
        <p:spPr>
          <a:xfrm>
            <a:off x="841248" y="4800600"/>
            <a:ext cx="2048256" cy="475488"/>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I5</a:t>
            </a:r>
            <a:endParaRPr lang="en-US" sz="1300" dirty="0"/>
          </a:p>
        </p:txBody>
      </p:sp>
      <p:sp>
        <p:nvSpPr>
          <p:cNvPr id="24" name="Shape 21"/>
          <p:cNvSpPr/>
          <p:nvPr/>
        </p:nvSpPr>
        <p:spPr>
          <a:xfrm>
            <a:off x="3182112" y="4736592"/>
            <a:ext cx="8247888" cy="603504"/>
          </a:xfrm>
          <a:prstGeom prst="roundRect">
            <a:avLst>
              <a:gd name="adj" fmla="val 12121"/>
            </a:avLst>
          </a:prstGeom>
          <a:solidFill>
            <a:srgbClr val="FFFFFF"/>
          </a:solidFill>
          <a:ln w="12700">
            <a:solidFill>
              <a:srgbClr val="CBD5E1"/>
            </a:solidFill>
            <a:prstDash val="solid"/>
          </a:ln>
        </p:spPr>
        <p:txBody>
          <a:bodyPr/>
          <a:lstStyle/>
          <a:p>
            <a:endParaRPr lang="en-US"/>
          </a:p>
        </p:txBody>
      </p:sp>
      <p:sp>
        <p:nvSpPr>
          <p:cNvPr id="25" name="Text 22"/>
          <p:cNvSpPr txBox="1"/>
          <p:nvPr/>
        </p:nvSpPr>
        <p:spPr>
          <a:xfrm>
            <a:off x="3328416" y="4800600"/>
            <a:ext cx="7955280" cy="475488"/>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Self-service provisioning and golden images</a:t>
            </a:r>
            <a:endParaRPr lang="en-US" sz="1350" dirty="0"/>
          </a:p>
        </p:txBody>
      </p:sp>
      <p:sp>
        <p:nvSpPr>
          <p:cNvPr id="26" name="Shape 23"/>
          <p:cNvSpPr/>
          <p:nvPr/>
        </p:nvSpPr>
        <p:spPr>
          <a:xfrm>
            <a:off x="960120" y="5303520"/>
            <a:ext cx="10195560" cy="713232"/>
          </a:xfrm>
          <a:prstGeom prst="roundRect">
            <a:avLst>
              <a:gd name="adj" fmla="val 10256"/>
            </a:avLst>
          </a:prstGeom>
          <a:solidFill>
            <a:srgbClr val="FFFFFF"/>
          </a:solidFill>
          <a:ln w="12700">
            <a:solidFill>
              <a:srgbClr val="1F497D"/>
            </a:solidFill>
            <a:prstDash val="solid"/>
          </a:ln>
        </p:spPr>
        <p:txBody>
          <a:bodyPr/>
          <a:lstStyle/>
          <a:p>
            <a:endParaRPr lang="en-US"/>
          </a:p>
        </p:txBody>
      </p:sp>
      <p:sp>
        <p:nvSpPr>
          <p:cNvPr id="27" name="Shape 24"/>
          <p:cNvSpPr/>
          <p:nvPr/>
        </p:nvSpPr>
        <p:spPr>
          <a:xfrm>
            <a:off x="960120" y="5303520"/>
            <a:ext cx="91440" cy="713232"/>
          </a:xfrm>
          <a:prstGeom prst="rect">
            <a:avLst/>
          </a:prstGeom>
          <a:solidFill>
            <a:srgbClr val="1F497D"/>
          </a:solidFill>
          <a:ln w="12700">
            <a:solidFill>
              <a:srgbClr val="1F497D"/>
            </a:solidFill>
            <a:prstDash val="solid"/>
          </a:ln>
        </p:spPr>
        <p:txBody>
          <a:bodyPr/>
          <a:lstStyle/>
          <a:p>
            <a:endParaRPr lang="en-US"/>
          </a:p>
        </p:txBody>
      </p:sp>
      <p:sp>
        <p:nvSpPr>
          <p:cNvPr id="28" name="Text 25"/>
          <p:cNvSpPr txBox="1"/>
          <p:nvPr/>
        </p:nvSpPr>
        <p:spPr>
          <a:xfrm>
            <a:off x="1188720" y="5385816"/>
            <a:ext cx="9784080" cy="219456"/>
          </a:xfrm>
          <a:prstGeom prst="rect">
            <a:avLst/>
          </a:prstGeom>
          <a:noFill/>
          <a:ln/>
        </p:spPr>
        <p:txBody>
          <a:bodyPr wrap="square" lIns="508" tIns="508" rIns="508" bIns="508" rtlCol="0" anchor="ctr">
            <a:normAutofit/>
          </a:bodyPr>
          <a:lstStyle/>
          <a:p>
            <a:pPr marL="0" indent="0" algn="l">
              <a:buNone/>
            </a:pPr>
            <a:r>
              <a:rPr lang="en-US" sz="1320" b="1" dirty="0">
                <a:solidFill>
                  <a:srgbClr val="1F497D"/>
                </a:solidFill>
                <a:latin typeface="Calibri" pitchFamily="34" charset="0"/>
                <a:ea typeface="Calibri" pitchFamily="34" charset="-122"/>
                <a:cs typeface="Calibri" pitchFamily="34" charset="-120"/>
              </a:rPr>
              <a:t>Selection lens</a:t>
            </a:r>
            <a:endParaRPr lang="en-US" sz="1320" dirty="0"/>
          </a:p>
        </p:txBody>
      </p:sp>
      <p:sp>
        <p:nvSpPr>
          <p:cNvPr id="29" name="Text 26"/>
          <p:cNvSpPr txBox="1"/>
          <p:nvPr/>
        </p:nvSpPr>
        <p:spPr>
          <a:xfrm>
            <a:off x="1188720" y="5650992"/>
            <a:ext cx="9784080" cy="310896"/>
          </a:xfrm>
          <a:prstGeom prst="rect">
            <a:avLst/>
          </a:prstGeom>
          <a:noFill/>
          <a:ln/>
        </p:spPr>
        <p:txBody>
          <a:bodyPr wrap="square" lIns="508" tIns="508" rIns="508" bIns="508" rtlCol="0" anchor="ctr">
            <a:normAutofit/>
          </a:bodyPr>
          <a:lstStyle/>
          <a:p>
            <a:pPr marL="0" indent="0" algn="l">
              <a:buNone/>
            </a:pPr>
            <a:r>
              <a:rPr lang="en-US" sz="1220" dirty="0">
                <a:solidFill>
                  <a:srgbClr val="203040"/>
                </a:solidFill>
                <a:latin typeface="Calibri" pitchFamily="34" charset="0"/>
                <a:ea typeface="Calibri" pitchFamily="34" charset="-122"/>
                <a:cs typeface="Calibri" pitchFamily="34" charset="-120"/>
              </a:rPr>
              <a:t>Which option fits your available RAM, time, and evidence you can capture?</a:t>
            </a:r>
            <a:endParaRPr lang="en-US" sz="122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PROPOSAL</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A passing proposal makes the build concrete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Submit one PDF in Learning Suite by October 29</a:t>
            </a:r>
            <a:r>
              <a:rPr lang="en-US" sz="1300" baseline="30000" dirty="0">
                <a:solidFill>
                  <a:srgbClr val="64748B"/>
                </a:solidFill>
                <a:latin typeface="Calibri" pitchFamily="34" charset="0"/>
                <a:ea typeface="Calibri" pitchFamily="34" charset="-122"/>
                <a:cs typeface="Calibri" pitchFamily="34" charset="-120"/>
              </a:rPr>
              <a:t>th</a:t>
            </a:r>
            <a:endParaRPr lang="en-US" sz="1300" dirty="0"/>
          </a:p>
        </p:txBody>
      </p:sp>
      <p:sp>
        <p:nvSpPr>
          <p:cNvPr id="6" name="Shape 3"/>
          <p:cNvSpPr/>
          <p:nvPr/>
        </p:nvSpPr>
        <p:spPr>
          <a:xfrm>
            <a:off x="749808" y="1737360"/>
            <a:ext cx="2231136" cy="539496"/>
          </a:xfrm>
          <a:prstGeom prst="roundRect">
            <a:avLst>
              <a:gd name="adj" fmla="val 13559"/>
            </a:avLst>
          </a:prstGeom>
          <a:solidFill>
            <a:srgbClr val="4BACC6"/>
          </a:solidFill>
          <a:ln w="12700">
            <a:solidFill>
              <a:srgbClr val="4BACC6"/>
            </a:solidFill>
            <a:prstDash val="solid"/>
          </a:ln>
        </p:spPr>
        <p:txBody>
          <a:bodyPr/>
          <a:lstStyle/>
          <a:p>
            <a:endParaRPr lang="en-US"/>
          </a:p>
        </p:txBody>
      </p:sp>
      <p:sp>
        <p:nvSpPr>
          <p:cNvPr id="7" name="Text 4"/>
          <p:cNvSpPr txBox="1"/>
          <p:nvPr/>
        </p:nvSpPr>
        <p:spPr>
          <a:xfrm>
            <a:off x="841248" y="1801368"/>
            <a:ext cx="2048256" cy="411480"/>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Option + team</a:t>
            </a:r>
            <a:endParaRPr lang="en-US" sz="1300" dirty="0"/>
          </a:p>
        </p:txBody>
      </p:sp>
      <p:sp>
        <p:nvSpPr>
          <p:cNvPr id="8" name="Shape 5"/>
          <p:cNvSpPr/>
          <p:nvPr/>
        </p:nvSpPr>
        <p:spPr>
          <a:xfrm>
            <a:off x="3182112" y="1737360"/>
            <a:ext cx="8247888"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9" name="Text 6"/>
          <p:cNvSpPr txBox="1"/>
          <p:nvPr/>
        </p:nvSpPr>
        <p:spPr>
          <a:xfrm>
            <a:off x="3328416" y="1801368"/>
            <a:ext cx="7955280" cy="411480"/>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Name the option; pairs identify each person’s ownership</a:t>
            </a:r>
            <a:endParaRPr lang="en-US" sz="1350" dirty="0"/>
          </a:p>
        </p:txBody>
      </p:sp>
      <p:sp>
        <p:nvSpPr>
          <p:cNvPr id="10" name="Shape 7"/>
          <p:cNvSpPr/>
          <p:nvPr/>
        </p:nvSpPr>
        <p:spPr>
          <a:xfrm>
            <a:off x="749808" y="2414016"/>
            <a:ext cx="2231136" cy="539496"/>
          </a:xfrm>
          <a:prstGeom prst="roundRect">
            <a:avLst>
              <a:gd name="adj" fmla="val 13559"/>
            </a:avLst>
          </a:prstGeom>
          <a:solidFill>
            <a:srgbClr val="4F81BD"/>
          </a:solidFill>
          <a:ln w="12700">
            <a:solidFill>
              <a:srgbClr val="4F81BD"/>
            </a:solidFill>
            <a:prstDash val="solid"/>
          </a:ln>
        </p:spPr>
        <p:txBody>
          <a:bodyPr/>
          <a:lstStyle/>
          <a:p>
            <a:endParaRPr lang="en-US"/>
          </a:p>
        </p:txBody>
      </p:sp>
      <p:sp>
        <p:nvSpPr>
          <p:cNvPr id="11" name="Text 8"/>
          <p:cNvSpPr txBox="1"/>
          <p:nvPr/>
        </p:nvSpPr>
        <p:spPr>
          <a:xfrm>
            <a:off x="841248" y="2478024"/>
            <a:ext cx="2048256" cy="411480"/>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Scope</a:t>
            </a:r>
            <a:endParaRPr lang="en-US" sz="1300" dirty="0"/>
          </a:p>
        </p:txBody>
      </p:sp>
      <p:sp>
        <p:nvSpPr>
          <p:cNvPr id="12" name="Shape 9"/>
          <p:cNvSpPr/>
          <p:nvPr/>
        </p:nvSpPr>
        <p:spPr>
          <a:xfrm>
            <a:off x="3182112" y="2414016"/>
            <a:ext cx="8247888"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13" name="Text 10"/>
          <p:cNvSpPr txBox="1"/>
          <p:nvPr/>
        </p:nvSpPr>
        <p:spPr>
          <a:xfrm>
            <a:off x="3328416" y="2478024"/>
            <a:ext cx="7955280" cy="411480"/>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Answer every checklist item on the chosen option page</a:t>
            </a:r>
            <a:endParaRPr lang="en-US" sz="1350" dirty="0"/>
          </a:p>
        </p:txBody>
      </p:sp>
      <p:sp>
        <p:nvSpPr>
          <p:cNvPr id="14" name="Shape 11"/>
          <p:cNvSpPr/>
          <p:nvPr/>
        </p:nvSpPr>
        <p:spPr>
          <a:xfrm>
            <a:off x="749808" y="3090672"/>
            <a:ext cx="2231136" cy="539496"/>
          </a:xfrm>
          <a:prstGeom prst="roundRect">
            <a:avLst>
              <a:gd name="adj" fmla="val 13559"/>
            </a:avLst>
          </a:prstGeom>
          <a:solidFill>
            <a:srgbClr val="F79646"/>
          </a:solidFill>
          <a:ln w="12700">
            <a:solidFill>
              <a:srgbClr val="F79646"/>
            </a:solidFill>
            <a:prstDash val="solid"/>
          </a:ln>
        </p:spPr>
        <p:txBody>
          <a:bodyPr/>
          <a:lstStyle/>
          <a:p>
            <a:endParaRPr lang="en-US"/>
          </a:p>
        </p:txBody>
      </p:sp>
      <p:sp>
        <p:nvSpPr>
          <p:cNvPr id="15" name="Text 12"/>
          <p:cNvSpPr txBox="1"/>
          <p:nvPr/>
        </p:nvSpPr>
        <p:spPr>
          <a:xfrm>
            <a:off x="841248" y="3154680"/>
            <a:ext cx="2048256" cy="411480"/>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Infrastructure</a:t>
            </a:r>
            <a:endParaRPr lang="en-US" sz="1300" dirty="0"/>
          </a:p>
        </p:txBody>
      </p:sp>
      <p:sp>
        <p:nvSpPr>
          <p:cNvPr id="16" name="Shape 13"/>
          <p:cNvSpPr/>
          <p:nvPr/>
        </p:nvSpPr>
        <p:spPr>
          <a:xfrm>
            <a:off x="3182112" y="3090672"/>
            <a:ext cx="8247888"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17" name="Text 14"/>
          <p:cNvSpPr txBox="1"/>
          <p:nvPr/>
        </p:nvSpPr>
        <p:spPr>
          <a:xfrm>
            <a:off x="3328416" y="3154680"/>
            <a:ext cx="7955280" cy="411480"/>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Hostnames, OS, roles, addresses, RAM, disk, and heaviest service</a:t>
            </a:r>
            <a:endParaRPr lang="en-US" sz="1350" dirty="0"/>
          </a:p>
        </p:txBody>
      </p:sp>
      <p:sp>
        <p:nvSpPr>
          <p:cNvPr id="18" name="Shape 15"/>
          <p:cNvSpPr/>
          <p:nvPr/>
        </p:nvSpPr>
        <p:spPr>
          <a:xfrm>
            <a:off x="749808" y="3767328"/>
            <a:ext cx="2231136" cy="539496"/>
          </a:xfrm>
          <a:prstGeom prst="roundRect">
            <a:avLst>
              <a:gd name="adj" fmla="val 13559"/>
            </a:avLst>
          </a:prstGeom>
          <a:solidFill>
            <a:srgbClr val="8064A2"/>
          </a:solidFill>
          <a:ln w="12700">
            <a:solidFill>
              <a:srgbClr val="8064A2"/>
            </a:solidFill>
            <a:prstDash val="solid"/>
          </a:ln>
        </p:spPr>
        <p:txBody>
          <a:bodyPr/>
          <a:lstStyle/>
          <a:p>
            <a:endParaRPr lang="en-US"/>
          </a:p>
        </p:txBody>
      </p:sp>
      <p:sp>
        <p:nvSpPr>
          <p:cNvPr id="19" name="Text 16"/>
          <p:cNvSpPr txBox="1"/>
          <p:nvPr/>
        </p:nvSpPr>
        <p:spPr>
          <a:xfrm>
            <a:off x="841248" y="3831336"/>
            <a:ext cx="2048256" cy="411480"/>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Tools</a:t>
            </a:r>
            <a:endParaRPr lang="en-US" sz="1300" dirty="0"/>
          </a:p>
        </p:txBody>
      </p:sp>
      <p:sp>
        <p:nvSpPr>
          <p:cNvPr id="20" name="Shape 17"/>
          <p:cNvSpPr/>
          <p:nvPr/>
        </p:nvSpPr>
        <p:spPr>
          <a:xfrm>
            <a:off x="3182112" y="3767328"/>
            <a:ext cx="8247888"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21" name="Text 18"/>
          <p:cNvSpPr txBox="1"/>
          <p:nvPr/>
        </p:nvSpPr>
        <p:spPr>
          <a:xfrm>
            <a:off x="3328416" y="3831336"/>
            <a:ext cx="7955280" cy="411480"/>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Name and justify automation, test/scan, and evidence tools</a:t>
            </a:r>
            <a:endParaRPr lang="en-US" sz="1350" dirty="0"/>
          </a:p>
        </p:txBody>
      </p:sp>
      <p:sp>
        <p:nvSpPr>
          <p:cNvPr id="22" name="Shape 19"/>
          <p:cNvSpPr/>
          <p:nvPr/>
        </p:nvSpPr>
        <p:spPr>
          <a:xfrm>
            <a:off x="749808" y="4443984"/>
            <a:ext cx="2231136" cy="539496"/>
          </a:xfrm>
          <a:prstGeom prst="roundRect">
            <a:avLst>
              <a:gd name="adj" fmla="val 13559"/>
            </a:avLst>
          </a:prstGeom>
          <a:solidFill>
            <a:srgbClr val="70AD47"/>
          </a:solidFill>
          <a:ln w="12700">
            <a:solidFill>
              <a:srgbClr val="70AD47"/>
            </a:solidFill>
            <a:prstDash val="solid"/>
          </a:ln>
        </p:spPr>
        <p:txBody>
          <a:bodyPr/>
          <a:lstStyle/>
          <a:p>
            <a:endParaRPr lang="en-US"/>
          </a:p>
        </p:txBody>
      </p:sp>
      <p:sp>
        <p:nvSpPr>
          <p:cNvPr id="23" name="Text 20"/>
          <p:cNvSpPr txBox="1"/>
          <p:nvPr/>
        </p:nvSpPr>
        <p:spPr>
          <a:xfrm>
            <a:off x="841248" y="4507992"/>
            <a:ext cx="2048256" cy="411480"/>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Milestones</a:t>
            </a:r>
            <a:endParaRPr lang="en-US" sz="1300" dirty="0"/>
          </a:p>
        </p:txBody>
      </p:sp>
      <p:sp>
        <p:nvSpPr>
          <p:cNvPr id="24" name="Shape 21"/>
          <p:cNvSpPr/>
          <p:nvPr/>
        </p:nvSpPr>
        <p:spPr>
          <a:xfrm>
            <a:off x="3182112" y="4443984"/>
            <a:ext cx="8247888" cy="539496"/>
          </a:xfrm>
          <a:prstGeom prst="roundRect">
            <a:avLst>
              <a:gd name="adj" fmla="val 13559"/>
            </a:avLst>
          </a:prstGeom>
          <a:solidFill>
            <a:srgbClr val="FFFFFF"/>
          </a:solidFill>
          <a:ln w="12700">
            <a:solidFill>
              <a:srgbClr val="CBD5E1"/>
            </a:solidFill>
            <a:prstDash val="solid"/>
          </a:ln>
        </p:spPr>
        <p:txBody>
          <a:bodyPr/>
          <a:lstStyle/>
          <a:p>
            <a:endParaRPr lang="en-US"/>
          </a:p>
        </p:txBody>
      </p:sp>
      <p:sp>
        <p:nvSpPr>
          <p:cNvPr id="25" name="Text 22"/>
          <p:cNvSpPr txBox="1"/>
          <p:nvPr/>
        </p:nvSpPr>
        <p:spPr>
          <a:xfrm>
            <a:off x="3328416" y="4507992"/>
            <a:ext cx="7955280" cy="411480"/>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Specific outputs for Weeks 10, 11, 12, and 14</a:t>
            </a:r>
            <a:endParaRPr lang="en-US" sz="135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CLASS SCENARIO</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The small data center: starting loads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Use this fictional facility for board calculations and outage tests.</a:t>
            </a:r>
            <a:endParaRPr lang="en-US" sz="1300" dirty="0"/>
          </a:p>
        </p:txBody>
      </p:sp>
      <p:sp>
        <p:nvSpPr>
          <p:cNvPr id="6" name="Shape 3"/>
          <p:cNvSpPr/>
          <p:nvPr/>
        </p:nvSpPr>
        <p:spPr>
          <a:xfrm>
            <a:off x="640080" y="1700784"/>
            <a:ext cx="6858000" cy="3401568"/>
          </a:xfrm>
          <a:prstGeom prst="roundRect">
            <a:avLst>
              <a:gd name="adj" fmla="val 2151"/>
            </a:avLst>
          </a:prstGeom>
          <a:solidFill>
            <a:srgbClr val="EFF6F9"/>
          </a:solidFill>
          <a:ln w="12700">
            <a:solidFill>
              <a:srgbClr val="CBD5E1"/>
            </a:solidFill>
            <a:prstDash val="solid"/>
          </a:ln>
        </p:spPr>
        <p:txBody>
          <a:bodyPr/>
          <a:lstStyle/>
          <a:p>
            <a:endParaRPr lang="en-US"/>
          </a:p>
        </p:txBody>
      </p:sp>
      <p:sp>
        <p:nvSpPr>
          <p:cNvPr id="7" name="Text 4"/>
          <p:cNvSpPr txBox="1"/>
          <p:nvPr/>
        </p:nvSpPr>
        <p:spPr>
          <a:xfrm>
            <a:off x="841248" y="1847088"/>
            <a:ext cx="6309360" cy="274320"/>
          </a:xfrm>
          <a:prstGeom prst="rect">
            <a:avLst/>
          </a:prstGeom>
          <a:noFill/>
          <a:ln/>
        </p:spPr>
        <p:txBody>
          <a:bodyPr wrap="square" lIns="508" tIns="508" rIns="508" bIns="508" rtlCol="0" anchor="ctr">
            <a:normAutofit/>
          </a:bodyPr>
          <a:lstStyle/>
          <a:p>
            <a:pPr marL="0" indent="0" algn="l">
              <a:buNone/>
            </a:pPr>
            <a:r>
              <a:rPr lang="en-US" sz="1200" b="1" dirty="0">
                <a:solidFill>
                  <a:srgbClr val="1F497D"/>
                </a:solidFill>
                <a:latin typeface="Calibri" pitchFamily="34" charset="0"/>
                <a:ea typeface="Calibri" pitchFamily="34" charset="-122"/>
                <a:cs typeface="Calibri" pitchFamily="34" charset="-120"/>
              </a:rPr>
              <a:t>STARTING TOPOLOGY  ·  use for board calculations</a:t>
            </a:r>
            <a:endParaRPr lang="en-US" sz="1200" dirty="0"/>
          </a:p>
        </p:txBody>
      </p:sp>
      <p:sp>
        <p:nvSpPr>
          <p:cNvPr id="8" name="Shape 5"/>
          <p:cNvSpPr/>
          <p:nvPr/>
        </p:nvSpPr>
        <p:spPr>
          <a:xfrm>
            <a:off x="868680" y="2267712"/>
            <a:ext cx="1874520" cy="731520"/>
          </a:xfrm>
          <a:prstGeom prst="roundRect">
            <a:avLst>
              <a:gd name="adj" fmla="val 10000"/>
            </a:avLst>
          </a:prstGeom>
          <a:solidFill>
            <a:srgbClr val="FFFFFF"/>
          </a:solidFill>
          <a:ln w="12700">
            <a:solidFill>
              <a:srgbClr val="CBD5E1"/>
            </a:solidFill>
            <a:prstDash val="solid"/>
          </a:ln>
        </p:spPr>
        <p:txBody>
          <a:bodyPr/>
          <a:lstStyle/>
          <a:p>
            <a:endParaRPr lang="en-US"/>
          </a:p>
        </p:txBody>
      </p:sp>
      <p:sp>
        <p:nvSpPr>
          <p:cNvPr id="9" name="Shape 6"/>
          <p:cNvSpPr/>
          <p:nvPr/>
        </p:nvSpPr>
        <p:spPr>
          <a:xfrm>
            <a:off x="868680" y="2267712"/>
            <a:ext cx="1874520"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0" name="Text 7"/>
          <p:cNvSpPr txBox="1"/>
          <p:nvPr/>
        </p:nvSpPr>
        <p:spPr>
          <a:xfrm>
            <a:off x="960120" y="2322576"/>
            <a:ext cx="16916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UTILITY</a:t>
            </a:r>
            <a:endParaRPr lang="en-US" sz="1150" dirty="0"/>
          </a:p>
        </p:txBody>
      </p:sp>
      <p:sp>
        <p:nvSpPr>
          <p:cNvPr id="11" name="Text 8"/>
          <p:cNvSpPr txBox="1"/>
          <p:nvPr/>
        </p:nvSpPr>
        <p:spPr>
          <a:xfrm>
            <a:off x="1005840" y="2752344"/>
            <a:ext cx="1600200" cy="146304"/>
          </a:xfrm>
          <a:prstGeom prst="rect">
            <a:avLst/>
          </a:prstGeom>
          <a:noFill/>
          <a:ln/>
        </p:spPr>
        <p:txBody>
          <a:bodyPr wrap="square" lIns="508" tIns="508" rIns="508" bIns="508" rtlCol="0" anchor="ctr">
            <a:normAutofit fontScale="77500" lnSpcReduction="20000"/>
          </a:bodyPr>
          <a:lstStyle/>
          <a:p>
            <a:pPr marL="0" indent="0" algn="ctr">
              <a:buNone/>
            </a:pPr>
            <a:r>
              <a:rPr lang="en-US" sz="1400" dirty="0">
                <a:solidFill>
                  <a:srgbClr val="203040"/>
                </a:solidFill>
                <a:latin typeface="Calibri" pitchFamily="34" charset="0"/>
                <a:ea typeface="Calibri" pitchFamily="34" charset="-122"/>
                <a:cs typeface="Calibri" pitchFamily="34" charset="-120"/>
              </a:rPr>
              <a:t>25 kW usable</a:t>
            </a:r>
            <a:endParaRPr lang="en-US" sz="1400" dirty="0"/>
          </a:p>
        </p:txBody>
      </p:sp>
      <p:sp>
        <p:nvSpPr>
          <p:cNvPr id="12" name="Shape 9"/>
          <p:cNvSpPr/>
          <p:nvPr/>
        </p:nvSpPr>
        <p:spPr>
          <a:xfrm>
            <a:off x="5166360" y="2267712"/>
            <a:ext cx="1874520" cy="731520"/>
          </a:xfrm>
          <a:prstGeom prst="roundRect">
            <a:avLst>
              <a:gd name="adj" fmla="val 10000"/>
            </a:avLst>
          </a:prstGeom>
          <a:solidFill>
            <a:srgbClr val="FFFFFF"/>
          </a:solidFill>
          <a:ln w="12700">
            <a:solidFill>
              <a:srgbClr val="CBD5E1"/>
            </a:solidFill>
            <a:prstDash val="solid"/>
          </a:ln>
        </p:spPr>
        <p:txBody>
          <a:bodyPr/>
          <a:lstStyle/>
          <a:p>
            <a:endParaRPr lang="en-US"/>
          </a:p>
        </p:txBody>
      </p:sp>
      <p:sp>
        <p:nvSpPr>
          <p:cNvPr id="13" name="Shape 10"/>
          <p:cNvSpPr/>
          <p:nvPr/>
        </p:nvSpPr>
        <p:spPr>
          <a:xfrm>
            <a:off x="5166360" y="2267712"/>
            <a:ext cx="1874520"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4" name="Text 11"/>
          <p:cNvSpPr txBox="1"/>
          <p:nvPr/>
        </p:nvSpPr>
        <p:spPr>
          <a:xfrm>
            <a:off x="5257800" y="2322576"/>
            <a:ext cx="16916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GENERATOR</a:t>
            </a:r>
            <a:endParaRPr lang="en-US" sz="1150" dirty="0"/>
          </a:p>
        </p:txBody>
      </p:sp>
      <p:sp>
        <p:nvSpPr>
          <p:cNvPr id="15" name="Text 12"/>
          <p:cNvSpPr txBox="1"/>
          <p:nvPr/>
        </p:nvSpPr>
        <p:spPr>
          <a:xfrm>
            <a:off x="5303520" y="2752344"/>
            <a:ext cx="1600200" cy="146304"/>
          </a:xfrm>
          <a:prstGeom prst="rect">
            <a:avLst/>
          </a:prstGeom>
          <a:noFill/>
          <a:ln/>
        </p:spPr>
        <p:txBody>
          <a:bodyPr wrap="square" lIns="508" tIns="508" rIns="508" bIns="508" rtlCol="0" anchor="ctr">
            <a:normAutofit fontScale="77500" lnSpcReduction="20000"/>
          </a:bodyPr>
          <a:lstStyle/>
          <a:p>
            <a:pPr marL="0" indent="0" algn="ctr">
              <a:buNone/>
            </a:pPr>
            <a:r>
              <a:rPr lang="en-US" sz="1400" dirty="0">
                <a:solidFill>
                  <a:srgbClr val="203040"/>
                </a:solidFill>
                <a:latin typeface="Calibri" pitchFamily="34" charset="0"/>
                <a:ea typeface="Calibri" pitchFamily="34" charset="-122"/>
                <a:cs typeface="Calibri" pitchFamily="34" charset="-120"/>
              </a:rPr>
              <a:t>15 kW</a:t>
            </a:r>
            <a:endParaRPr lang="en-US" sz="1400" dirty="0"/>
          </a:p>
        </p:txBody>
      </p:sp>
      <p:sp>
        <p:nvSpPr>
          <p:cNvPr id="16" name="Shape 13"/>
          <p:cNvSpPr/>
          <p:nvPr/>
        </p:nvSpPr>
        <p:spPr>
          <a:xfrm>
            <a:off x="3154680" y="2907792"/>
            <a:ext cx="1572768" cy="457200"/>
          </a:xfrm>
          <a:prstGeom prst="roundRect">
            <a:avLst>
              <a:gd name="adj" fmla="val 16000"/>
            </a:avLst>
          </a:prstGeom>
          <a:solidFill>
            <a:srgbClr val="1F497D"/>
          </a:solidFill>
          <a:ln w="12700">
            <a:solidFill>
              <a:srgbClr val="1F497D"/>
            </a:solidFill>
            <a:prstDash val="solid"/>
          </a:ln>
        </p:spPr>
        <p:txBody>
          <a:bodyPr/>
          <a:lstStyle/>
          <a:p>
            <a:endParaRPr lang="en-US"/>
          </a:p>
        </p:txBody>
      </p:sp>
      <p:sp>
        <p:nvSpPr>
          <p:cNvPr id="17" name="Text 14"/>
          <p:cNvSpPr txBox="1"/>
          <p:nvPr/>
        </p:nvSpPr>
        <p:spPr>
          <a:xfrm>
            <a:off x="3255264" y="3008376"/>
            <a:ext cx="1353312" cy="237744"/>
          </a:xfrm>
          <a:prstGeom prst="rect">
            <a:avLst/>
          </a:prstGeom>
          <a:noFill/>
          <a:ln/>
        </p:spPr>
        <p:txBody>
          <a:bodyPr wrap="square" lIns="508" tIns="508" rIns="508" bIns="508" rtlCol="0" anchor="ctr">
            <a:normAutofit/>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ATS + PANEL</a:t>
            </a:r>
            <a:endParaRPr lang="en-US" sz="1200" dirty="0"/>
          </a:p>
        </p:txBody>
      </p:sp>
      <p:sp>
        <p:nvSpPr>
          <p:cNvPr id="18" name="Shape 15"/>
          <p:cNvSpPr/>
          <p:nvPr/>
        </p:nvSpPr>
        <p:spPr>
          <a:xfrm>
            <a:off x="2743200" y="2624328"/>
            <a:ext cx="731520" cy="283464"/>
          </a:xfrm>
          <a:prstGeom prst="line">
            <a:avLst/>
          </a:prstGeom>
          <a:noFill/>
          <a:ln w="25400">
            <a:solidFill>
              <a:srgbClr val="94A3B8"/>
            </a:solidFill>
            <a:prstDash val="solid"/>
            <a:tailEnd type="triangle"/>
          </a:ln>
        </p:spPr>
        <p:txBody>
          <a:bodyPr/>
          <a:lstStyle/>
          <a:p>
            <a:endParaRPr lang="en-US"/>
          </a:p>
        </p:txBody>
      </p:sp>
      <p:sp>
        <p:nvSpPr>
          <p:cNvPr id="19" name="Shape 16"/>
          <p:cNvSpPr/>
          <p:nvPr/>
        </p:nvSpPr>
        <p:spPr>
          <a:xfrm flipH="1">
            <a:off x="4007457" y="2624328"/>
            <a:ext cx="1158903" cy="384048"/>
          </a:xfrm>
          <a:prstGeom prst="line">
            <a:avLst/>
          </a:prstGeom>
          <a:noFill/>
          <a:ln w="25400">
            <a:solidFill>
              <a:srgbClr val="94A3B8"/>
            </a:solidFill>
            <a:prstDash val="solid"/>
            <a:tailEnd type="triangle"/>
          </a:ln>
        </p:spPr>
        <p:txBody>
          <a:bodyPr/>
          <a:lstStyle/>
          <a:p>
            <a:endParaRPr lang="en-US"/>
          </a:p>
        </p:txBody>
      </p:sp>
      <p:sp>
        <p:nvSpPr>
          <p:cNvPr id="20" name="Shape 17"/>
          <p:cNvSpPr/>
          <p:nvPr/>
        </p:nvSpPr>
        <p:spPr>
          <a:xfrm>
            <a:off x="914400" y="3685032"/>
            <a:ext cx="2331720" cy="850392"/>
          </a:xfrm>
          <a:prstGeom prst="roundRect">
            <a:avLst>
              <a:gd name="adj" fmla="val 8602"/>
            </a:avLst>
          </a:prstGeom>
          <a:solidFill>
            <a:srgbClr val="FFFFFF"/>
          </a:solidFill>
          <a:ln w="12700">
            <a:solidFill>
              <a:srgbClr val="CBD5E1"/>
            </a:solidFill>
            <a:prstDash val="solid"/>
          </a:ln>
        </p:spPr>
        <p:txBody>
          <a:bodyPr/>
          <a:lstStyle/>
          <a:p>
            <a:endParaRPr lang="en-US"/>
          </a:p>
        </p:txBody>
      </p:sp>
      <p:sp>
        <p:nvSpPr>
          <p:cNvPr id="21" name="Shape 18"/>
          <p:cNvSpPr/>
          <p:nvPr/>
        </p:nvSpPr>
        <p:spPr>
          <a:xfrm>
            <a:off x="914400" y="3685032"/>
            <a:ext cx="2331720"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22" name="Text 19"/>
          <p:cNvSpPr txBox="1"/>
          <p:nvPr/>
        </p:nvSpPr>
        <p:spPr>
          <a:xfrm>
            <a:off x="1005840" y="3739896"/>
            <a:ext cx="21488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 PATH</a:t>
            </a:r>
            <a:endParaRPr lang="en-US" sz="1150" dirty="0"/>
          </a:p>
        </p:txBody>
      </p:sp>
      <p:sp>
        <p:nvSpPr>
          <p:cNvPr id="23" name="Text 20"/>
          <p:cNvSpPr txBox="1"/>
          <p:nvPr/>
        </p:nvSpPr>
        <p:spPr>
          <a:xfrm>
            <a:off x="1051560" y="4169664"/>
            <a:ext cx="2057400" cy="265176"/>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UPS 9 kW  ·  PDU 8 kW</a:t>
            </a:r>
            <a:endParaRPr lang="en-US" sz="1400" dirty="0"/>
          </a:p>
        </p:txBody>
      </p:sp>
      <p:sp>
        <p:nvSpPr>
          <p:cNvPr id="24" name="Shape 21"/>
          <p:cNvSpPr/>
          <p:nvPr/>
        </p:nvSpPr>
        <p:spPr>
          <a:xfrm>
            <a:off x="4892040" y="3685032"/>
            <a:ext cx="2331720" cy="850392"/>
          </a:xfrm>
          <a:prstGeom prst="roundRect">
            <a:avLst>
              <a:gd name="adj" fmla="val 8602"/>
            </a:avLst>
          </a:prstGeom>
          <a:solidFill>
            <a:srgbClr val="FFFFFF"/>
          </a:solidFill>
          <a:ln w="12700">
            <a:solidFill>
              <a:srgbClr val="CBD5E1"/>
            </a:solidFill>
            <a:prstDash val="solid"/>
          </a:ln>
        </p:spPr>
        <p:txBody>
          <a:bodyPr/>
          <a:lstStyle/>
          <a:p>
            <a:endParaRPr lang="en-US"/>
          </a:p>
        </p:txBody>
      </p:sp>
      <p:sp>
        <p:nvSpPr>
          <p:cNvPr id="25" name="Shape 22"/>
          <p:cNvSpPr/>
          <p:nvPr/>
        </p:nvSpPr>
        <p:spPr>
          <a:xfrm>
            <a:off x="4892040" y="3685032"/>
            <a:ext cx="2331720" cy="329184"/>
          </a:xfrm>
          <a:prstGeom prst="roundRect">
            <a:avLst>
              <a:gd name="adj" fmla="val 22222"/>
            </a:avLst>
          </a:prstGeom>
          <a:solidFill>
            <a:srgbClr val="8064A2"/>
          </a:solidFill>
          <a:ln w="12700">
            <a:solidFill>
              <a:srgbClr val="8064A2"/>
            </a:solidFill>
            <a:prstDash val="solid"/>
          </a:ln>
        </p:spPr>
        <p:txBody>
          <a:bodyPr/>
          <a:lstStyle/>
          <a:p>
            <a:endParaRPr lang="en-US"/>
          </a:p>
        </p:txBody>
      </p:sp>
      <p:sp>
        <p:nvSpPr>
          <p:cNvPr id="26" name="Text 23"/>
          <p:cNvSpPr txBox="1"/>
          <p:nvPr/>
        </p:nvSpPr>
        <p:spPr>
          <a:xfrm>
            <a:off x="4983480" y="3739896"/>
            <a:ext cx="2148840"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B PATH</a:t>
            </a:r>
            <a:endParaRPr lang="en-US" sz="1150" dirty="0"/>
          </a:p>
        </p:txBody>
      </p:sp>
      <p:sp>
        <p:nvSpPr>
          <p:cNvPr id="27" name="Text 24"/>
          <p:cNvSpPr txBox="1"/>
          <p:nvPr/>
        </p:nvSpPr>
        <p:spPr>
          <a:xfrm>
            <a:off x="5029200" y="4169664"/>
            <a:ext cx="2057400" cy="265176"/>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UPS 9 kW  ·  PDU 8 kW</a:t>
            </a:r>
            <a:endParaRPr lang="en-US" sz="1400" dirty="0"/>
          </a:p>
        </p:txBody>
      </p:sp>
      <p:sp>
        <p:nvSpPr>
          <p:cNvPr id="28" name="Shape 25"/>
          <p:cNvSpPr/>
          <p:nvPr/>
        </p:nvSpPr>
        <p:spPr>
          <a:xfrm flipH="1">
            <a:off x="2130950" y="3364992"/>
            <a:ext cx="1234042" cy="329184"/>
          </a:xfrm>
          <a:prstGeom prst="line">
            <a:avLst/>
          </a:prstGeom>
          <a:noFill/>
          <a:ln w="25400">
            <a:solidFill>
              <a:srgbClr val="94A3B8"/>
            </a:solidFill>
            <a:prstDash val="solid"/>
            <a:tailEnd type="triangle"/>
          </a:ln>
        </p:spPr>
        <p:txBody>
          <a:bodyPr/>
          <a:lstStyle/>
          <a:p>
            <a:endParaRPr lang="en-US"/>
          </a:p>
        </p:txBody>
      </p:sp>
      <p:sp>
        <p:nvSpPr>
          <p:cNvPr id="29" name="Shape 26"/>
          <p:cNvSpPr/>
          <p:nvPr/>
        </p:nvSpPr>
        <p:spPr>
          <a:xfrm>
            <a:off x="4526280" y="3364992"/>
            <a:ext cx="1527048" cy="320040"/>
          </a:xfrm>
          <a:prstGeom prst="line">
            <a:avLst/>
          </a:prstGeom>
          <a:noFill/>
          <a:ln w="25400">
            <a:solidFill>
              <a:srgbClr val="94A3B8"/>
            </a:solidFill>
            <a:prstDash val="solid"/>
            <a:tailEnd type="triangle"/>
          </a:ln>
        </p:spPr>
        <p:txBody>
          <a:bodyPr/>
          <a:lstStyle/>
          <a:p>
            <a:endParaRPr lang="en-US"/>
          </a:p>
        </p:txBody>
      </p:sp>
      <p:sp>
        <p:nvSpPr>
          <p:cNvPr id="30" name="Text 27"/>
          <p:cNvSpPr txBox="1"/>
          <p:nvPr/>
        </p:nvSpPr>
        <p:spPr>
          <a:xfrm>
            <a:off x="1600200" y="4718304"/>
            <a:ext cx="5029200" cy="228600"/>
          </a:xfrm>
          <a:prstGeom prst="rect">
            <a:avLst/>
          </a:prstGeom>
          <a:noFill/>
          <a:ln/>
        </p:spPr>
        <p:txBody>
          <a:bodyPr wrap="square" lIns="508" tIns="508" rIns="508" bIns="508" rtlCol="0" anchor="ctr">
            <a:normAutofit/>
          </a:bodyPr>
          <a:lstStyle/>
          <a:p>
            <a:pPr marL="0" indent="0" algn="ctr">
              <a:buNone/>
            </a:pPr>
            <a:r>
              <a:rPr lang="en-US" sz="1300" b="1" dirty="0">
                <a:solidFill>
                  <a:srgbClr val="1F497D"/>
                </a:solidFill>
                <a:latin typeface="Calibri" pitchFamily="34" charset="0"/>
                <a:ea typeface="Calibri" pitchFamily="34" charset="-122"/>
                <a:cs typeface="Calibri" pitchFamily="34" charset="-120"/>
              </a:rPr>
              <a:t>Dual-powered core + single-cord devices</a:t>
            </a:r>
            <a:endParaRPr lang="en-US" sz="1300" dirty="0"/>
          </a:p>
        </p:txBody>
      </p:sp>
      <p:sp>
        <p:nvSpPr>
          <p:cNvPr id="31" name="Shape 28"/>
          <p:cNvSpPr/>
          <p:nvPr/>
        </p:nvSpPr>
        <p:spPr>
          <a:xfrm>
            <a:off x="2057400" y="4535424"/>
            <a:ext cx="731520" cy="182880"/>
          </a:xfrm>
          <a:prstGeom prst="line">
            <a:avLst/>
          </a:prstGeom>
          <a:noFill/>
          <a:ln w="25400">
            <a:solidFill>
              <a:srgbClr val="94A3B8"/>
            </a:solidFill>
            <a:prstDash val="solid"/>
            <a:tailEnd type="triangle"/>
          </a:ln>
        </p:spPr>
        <p:txBody>
          <a:bodyPr/>
          <a:lstStyle/>
          <a:p>
            <a:endParaRPr lang="en-US"/>
          </a:p>
        </p:txBody>
      </p:sp>
      <p:sp>
        <p:nvSpPr>
          <p:cNvPr id="32" name="Shape 29"/>
          <p:cNvSpPr/>
          <p:nvPr/>
        </p:nvSpPr>
        <p:spPr>
          <a:xfrm flipH="1">
            <a:off x="5166360" y="4535424"/>
            <a:ext cx="886968" cy="182880"/>
          </a:xfrm>
          <a:prstGeom prst="line">
            <a:avLst/>
          </a:prstGeom>
          <a:noFill/>
          <a:ln w="25400">
            <a:solidFill>
              <a:srgbClr val="94A3B8"/>
            </a:solidFill>
            <a:prstDash val="solid"/>
            <a:tailEnd type="triangle"/>
          </a:ln>
        </p:spPr>
        <p:txBody>
          <a:bodyPr/>
          <a:lstStyle/>
          <a:p>
            <a:endParaRPr lang="en-US"/>
          </a:p>
        </p:txBody>
      </p:sp>
      <p:sp>
        <p:nvSpPr>
          <p:cNvPr id="33" name="Shape 30"/>
          <p:cNvSpPr/>
          <p:nvPr/>
        </p:nvSpPr>
        <p:spPr>
          <a:xfrm>
            <a:off x="7699248" y="1700784"/>
            <a:ext cx="3849624" cy="3401568"/>
          </a:xfrm>
          <a:prstGeom prst="roundRect">
            <a:avLst>
              <a:gd name="adj" fmla="val 2151"/>
            </a:avLst>
          </a:prstGeom>
          <a:solidFill>
            <a:srgbClr val="FFFFFF"/>
          </a:solidFill>
          <a:ln w="12700">
            <a:solidFill>
              <a:srgbClr val="CBD5E1"/>
            </a:solidFill>
            <a:prstDash val="solid"/>
          </a:ln>
        </p:spPr>
        <p:txBody>
          <a:bodyPr/>
          <a:lstStyle/>
          <a:p>
            <a:endParaRPr lang="en-US"/>
          </a:p>
        </p:txBody>
      </p:sp>
      <p:sp>
        <p:nvSpPr>
          <p:cNvPr id="34" name="Text 31"/>
          <p:cNvSpPr txBox="1"/>
          <p:nvPr/>
        </p:nvSpPr>
        <p:spPr>
          <a:xfrm>
            <a:off x="7882128" y="1865376"/>
            <a:ext cx="3520440" cy="256032"/>
          </a:xfrm>
          <a:prstGeom prst="rect">
            <a:avLst/>
          </a:prstGeom>
          <a:noFill/>
          <a:ln/>
        </p:spPr>
        <p:txBody>
          <a:bodyPr wrap="square" lIns="508" tIns="508" rIns="508" bIns="508" rtlCol="0" anchor="ctr">
            <a:normAutofit/>
          </a:bodyPr>
          <a:lstStyle/>
          <a:p>
            <a:pPr marL="0" indent="0" algn="l">
              <a:buNone/>
            </a:pPr>
            <a:r>
              <a:rPr lang="en-US" sz="1300" b="1" dirty="0">
                <a:solidFill>
                  <a:srgbClr val="1F497D"/>
                </a:solidFill>
                <a:latin typeface="Calibri" pitchFamily="34" charset="0"/>
                <a:ea typeface="Calibri" pitchFamily="34" charset="-122"/>
                <a:cs typeface="Calibri" pitchFamily="34" charset="-120"/>
              </a:rPr>
              <a:t>EQUIPMENT + LOADS</a:t>
            </a:r>
            <a:endParaRPr lang="en-US" sz="1300" dirty="0"/>
          </a:p>
        </p:txBody>
      </p:sp>
      <p:sp>
        <p:nvSpPr>
          <p:cNvPr id="35" name="Shape 32"/>
          <p:cNvSpPr/>
          <p:nvPr/>
        </p:nvSpPr>
        <p:spPr>
          <a:xfrm>
            <a:off x="7918704" y="2359152"/>
            <a:ext cx="109728" cy="109728"/>
          </a:xfrm>
          <a:prstGeom prst="ellipse">
            <a:avLst/>
          </a:prstGeom>
          <a:solidFill>
            <a:srgbClr val="4BACC6"/>
          </a:solidFill>
          <a:ln w="12700">
            <a:solidFill>
              <a:srgbClr val="4BACC6"/>
            </a:solidFill>
            <a:prstDash val="solid"/>
          </a:ln>
        </p:spPr>
        <p:txBody>
          <a:bodyPr/>
          <a:lstStyle/>
          <a:p>
            <a:endParaRPr lang="en-US"/>
          </a:p>
        </p:txBody>
      </p:sp>
      <p:sp>
        <p:nvSpPr>
          <p:cNvPr id="36" name="Text 33"/>
          <p:cNvSpPr txBox="1"/>
          <p:nvPr/>
        </p:nvSpPr>
        <p:spPr>
          <a:xfrm>
            <a:off x="8119872" y="2267712"/>
            <a:ext cx="3136392" cy="182880"/>
          </a:xfrm>
          <a:prstGeom prst="rect">
            <a:avLst/>
          </a:prstGeom>
          <a:noFill/>
          <a:ln/>
        </p:spPr>
        <p:txBody>
          <a:bodyPr wrap="square" lIns="508" tIns="508" rIns="508" bIns="508" rtlCol="0" anchor="ctr">
            <a:normAutofit/>
          </a:bodyPr>
          <a:lstStyle/>
          <a:p>
            <a:pPr marL="0" indent="0" algn="l">
              <a:buNone/>
            </a:pPr>
            <a:r>
              <a:rPr lang="en-US" sz="1060" b="1" dirty="0">
                <a:solidFill>
                  <a:srgbClr val="1F497D"/>
                </a:solidFill>
                <a:latin typeface="Calibri" pitchFamily="34" charset="0"/>
                <a:ea typeface="Calibri" pitchFamily="34" charset="-122"/>
                <a:cs typeface="Calibri" pitchFamily="34" charset="-120"/>
              </a:rPr>
              <a:t>DUAL PSU IT</a:t>
            </a:r>
            <a:endParaRPr lang="en-US" sz="1060" dirty="0"/>
          </a:p>
        </p:txBody>
      </p:sp>
      <p:sp>
        <p:nvSpPr>
          <p:cNvPr id="37" name="Text 34"/>
          <p:cNvSpPr txBox="1"/>
          <p:nvPr/>
        </p:nvSpPr>
        <p:spPr>
          <a:xfrm>
            <a:off x="8119872" y="2450592"/>
            <a:ext cx="3136392" cy="265176"/>
          </a:xfrm>
          <a:prstGeom prst="rect">
            <a:avLst/>
          </a:prstGeom>
          <a:noFill/>
          <a:ln/>
        </p:spPr>
        <p:txBody>
          <a:bodyPr wrap="square" lIns="508" tIns="508" rIns="508" bIns="508" rtlCol="0" anchor="ctr">
            <a:normAutofit/>
          </a:bodyPr>
          <a:lstStyle/>
          <a:p>
            <a:pPr marL="0" indent="0" algn="l">
              <a:buNone/>
            </a:pPr>
            <a:r>
              <a:rPr lang="en-US" sz="1130" dirty="0">
                <a:solidFill>
                  <a:srgbClr val="203040"/>
                </a:solidFill>
                <a:latin typeface="Calibri" pitchFamily="34" charset="0"/>
                <a:ea typeface="Calibri" pitchFamily="34" charset="-122"/>
                <a:cs typeface="Calibri" pitchFamily="34" charset="-120"/>
              </a:rPr>
              <a:t>4 compute 4.0 kW; storage 1.5 kW</a:t>
            </a:r>
            <a:endParaRPr lang="en-US" sz="1130" dirty="0"/>
          </a:p>
        </p:txBody>
      </p:sp>
      <p:sp>
        <p:nvSpPr>
          <p:cNvPr id="38" name="Shape 35"/>
          <p:cNvSpPr/>
          <p:nvPr/>
        </p:nvSpPr>
        <p:spPr>
          <a:xfrm>
            <a:off x="7918704" y="2880360"/>
            <a:ext cx="109728" cy="109728"/>
          </a:xfrm>
          <a:prstGeom prst="ellipse">
            <a:avLst/>
          </a:prstGeom>
          <a:solidFill>
            <a:srgbClr val="4F81BD"/>
          </a:solidFill>
          <a:ln w="12700">
            <a:solidFill>
              <a:srgbClr val="4F81BD"/>
            </a:solidFill>
            <a:prstDash val="solid"/>
          </a:ln>
        </p:spPr>
        <p:txBody>
          <a:bodyPr/>
          <a:lstStyle/>
          <a:p>
            <a:endParaRPr lang="en-US"/>
          </a:p>
        </p:txBody>
      </p:sp>
      <p:sp>
        <p:nvSpPr>
          <p:cNvPr id="39" name="Text 36"/>
          <p:cNvSpPr txBox="1"/>
          <p:nvPr/>
        </p:nvSpPr>
        <p:spPr>
          <a:xfrm>
            <a:off x="8119872" y="2788920"/>
            <a:ext cx="3136392" cy="182880"/>
          </a:xfrm>
          <a:prstGeom prst="rect">
            <a:avLst/>
          </a:prstGeom>
          <a:noFill/>
          <a:ln/>
        </p:spPr>
        <p:txBody>
          <a:bodyPr wrap="square" lIns="508" tIns="508" rIns="508" bIns="508" rtlCol="0" anchor="ctr">
            <a:normAutofit/>
          </a:bodyPr>
          <a:lstStyle/>
          <a:p>
            <a:pPr marL="0" indent="0" algn="l">
              <a:buNone/>
            </a:pPr>
            <a:r>
              <a:rPr lang="en-US" sz="1060" b="1" dirty="0">
                <a:solidFill>
                  <a:srgbClr val="1F497D"/>
                </a:solidFill>
                <a:latin typeface="Calibri" pitchFamily="34" charset="0"/>
                <a:ea typeface="Calibri" pitchFamily="34" charset="-122"/>
                <a:cs typeface="Calibri" pitchFamily="34" charset="-120"/>
              </a:rPr>
              <a:t>A ONLY</a:t>
            </a:r>
            <a:endParaRPr lang="en-US" sz="1060" dirty="0"/>
          </a:p>
        </p:txBody>
      </p:sp>
      <p:sp>
        <p:nvSpPr>
          <p:cNvPr id="40" name="Text 37"/>
          <p:cNvSpPr txBox="1"/>
          <p:nvPr/>
        </p:nvSpPr>
        <p:spPr>
          <a:xfrm>
            <a:off x="8119872" y="2971800"/>
            <a:ext cx="3136392" cy="265176"/>
          </a:xfrm>
          <a:prstGeom prst="rect">
            <a:avLst/>
          </a:prstGeom>
          <a:noFill/>
          <a:ln/>
        </p:spPr>
        <p:txBody>
          <a:bodyPr wrap="square" lIns="508" tIns="508" rIns="508" bIns="508" rtlCol="0" anchor="ctr">
            <a:normAutofit/>
          </a:bodyPr>
          <a:lstStyle/>
          <a:p>
            <a:pPr marL="0" indent="0" algn="l">
              <a:buNone/>
            </a:pPr>
            <a:r>
              <a:rPr lang="en-US" sz="1130" dirty="0">
                <a:solidFill>
                  <a:srgbClr val="203040"/>
                </a:solidFill>
                <a:latin typeface="Calibri" pitchFamily="34" charset="0"/>
                <a:ea typeface="Calibri" pitchFamily="34" charset="-122"/>
                <a:cs typeface="Calibri" pitchFamily="34" charset="-120"/>
              </a:rPr>
              <a:t>switch 0.5 kW; backup NAS 0.8 kW</a:t>
            </a:r>
            <a:endParaRPr lang="en-US" sz="1130" dirty="0"/>
          </a:p>
        </p:txBody>
      </p:sp>
      <p:sp>
        <p:nvSpPr>
          <p:cNvPr id="41" name="Shape 38"/>
          <p:cNvSpPr/>
          <p:nvPr/>
        </p:nvSpPr>
        <p:spPr>
          <a:xfrm>
            <a:off x="7918704" y="3401568"/>
            <a:ext cx="109728" cy="109728"/>
          </a:xfrm>
          <a:prstGeom prst="ellipse">
            <a:avLst/>
          </a:prstGeom>
          <a:solidFill>
            <a:srgbClr val="F79646"/>
          </a:solidFill>
          <a:ln w="12700">
            <a:solidFill>
              <a:srgbClr val="F79646"/>
            </a:solidFill>
            <a:prstDash val="solid"/>
          </a:ln>
        </p:spPr>
        <p:txBody>
          <a:bodyPr/>
          <a:lstStyle/>
          <a:p>
            <a:endParaRPr lang="en-US"/>
          </a:p>
        </p:txBody>
      </p:sp>
      <p:sp>
        <p:nvSpPr>
          <p:cNvPr id="42" name="Text 39"/>
          <p:cNvSpPr txBox="1"/>
          <p:nvPr/>
        </p:nvSpPr>
        <p:spPr>
          <a:xfrm>
            <a:off x="8119872" y="3310128"/>
            <a:ext cx="3136392" cy="182880"/>
          </a:xfrm>
          <a:prstGeom prst="rect">
            <a:avLst/>
          </a:prstGeom>
          <a:noFill/>
          <a:ln/>
        </p:spPr>
        <p:txBody>
          <a:bodyPr wrap="square" lIns="508" tIns="508" rIns="508" bIns="508" rtlCol="0" anchor="ctr">
            <a:normAutofit/>
          </a:bodyPr>
          <a:lstStyle/>
          <a:p>
            <a:pPr marL="0" indent="0" algn="l">
              <a:buNone/>
            </a:pPr>
            <a:r>
              <a:rPr lang="en-US" sz="1060" b="1" dirty="0">
                <a:solidFill>
                  <a:srgbClr val="1F497D"/>
                </a:solidFill>
                <a:latin typeface="Calibri" pitchFamily="34" charset="0"/>
                <a:ea typeface="Calibri" pitchFamily="34" charset="-122"/>
                <a:cs typeface="Calibri" pitchFamily="34" charset="-120"/>
              </a:rPr>
              <a:t>B ONLY</a:t>
            </a:r>
            <a:endParaRPr lang="en-US" sz="1060" dirty="0"/>
          </a:p>
        </p:txBody>
      </p:sp>
      <p:sp>
        <p:nvSpPr>
          <p:cNvPr id="43" name="Text 40"/>
          <p:cNvSpPr txBox="1"/>
          <p:nvPr/>
        </p:nvSpPr>
        <p:spPr>
          <a:xfrm>
            <a:off x="8119872" y="3493008"/>
            <a:ext cx="3136392" cy="265176"/>
          </a:xfrm>
          <a:prstGeom prst="rect">
            <a:avLst/>
          </a:prstGeom>
          <a:noFill/>
          <a:ln/>
        </p:spPr>
        <p:txBody>
          <a:bodyPr wrap="square" lIns="508" tIns="508" rIns="508" bIns="508" rtlCol="0" anchor="ctr">
            <a:normAutofit/>
          </a:bodyPr>
          <a:lstStyle/>
          <a:p>
            <a:pPr marL="0" indent="0" algn="l">
              <a:buNone/>
            </a:pPr>
            <a:r>
              <a:rPr lang="en-US" sz="1130" dirty="0">
                <a:solidFill>
                  <a:srgbClr val="203040"/>
                </a:solidFill>
                <a:latin typeface="Calibri" pitchFamily="34" charset="0"/>
                <a:ea typeface="Calibri" pitchFamily="34" charset="-122"/>
                <a:cs typeface="Calibri" pitchFamily="34" charset="-120"/>
              </a:rPr>
              <a:t>switch 0.5 kW</a:t>
            </a:r>
            <a:endParaRPr lang="en-US" sz="1130" dirty="0"/>
          </a:p>
        </p:txBody>
      </p:sp>
      <p:sp>
        <p:nvSpPr>
          <p:cNvPr id="44" name="Shape 41"/>
          <p:cNvSpPr/>
          <p:nvPr/>
        </p:nvSpPr>
        <p:spPr>
          <a:xfrm>
            <a:off x="7918704" y="3922776"/>
            <a:ext cx="109728" cy="109728"/>
          </a:xfrm>
          <a:prstGeom prst="ellipse">
            <a:avLst/>
          </a:prstGeom>
          <a:solidFill>
            <a:srgbClr val="8064A2"/>
          </a:solidFill>
          <a:ln w="12700">
            <a:solidFill>
              <a:srgbClr val="8064A2"/>
            </a:solidFill>
            <a:prstDash val="solid"/>
          </a:ln>
        </p:spPr>
        <p:txBody>
          <a:bodyPr/>
          <a:lstStyle/>
          <a:p>
            <a:endParaRPr lang="en-US"/>
          </a:p>
        </p:txBody>
      </p:sp>
      <p:sp>
        <p:nvSpPr>
          <p:cNvPr id="45" name="Text 42"/>
          <p:cNvSpPr txBox="1"/>
          <p:nvPr/>
        </p:nvSpPr>
        <p:spPr>
          <a:xfrm>
            <a:off x="8119872" y="3831336"/>
            <a:ext cx="3136392" cy="182880"/>
          </a:xfrm>
          <a:prstGeom prst="rect">
            <a:avLst/>
          </a:prstGeom>
          <a:noFill/>
          <a:ln/>
        </p:spPr>
        <p:txBody>
          <a:bodyPr wrap="square" lIns="508" tIns="508" rIns="508" bIns="508" rtlCol="0" anchor="ctr">
            <a:normAutofit/>
          </a:bodyPr>
          <a:lstStyle/>
          <a:p>
            <a:pPr marL="0" indent="0" algn="l">
              <a:buNone/>
            </a:pPr>
            <a:r>
              <a:rPr lang="en-US" sz="1060" b="1" dirty="0">
                <a:solidFill>
                  <a:srgbClr val="1F497D"/>
                </a:solidFill>
                <a:latin typeface="Calibri" pitchFamily="34" charset="0"/>
                <a:ea typeface="Calibri" pitchFamily="34" charset="-122"/>
                <a:cs typeface="Calibri" pitchFamily="34" charset="-120"/>
              </a:rPr>
              <a:t>COOLING</a:t>
            </a:r>
            <a:endParaRPr lang="en-US" sz="1060" dirty="0"/>
          </a:p>
        </p:txBody>
      </p:sp>
      <p:sp>
        <p:nvSpPr>
          <p:cNvPr id="46" name="Text 43"/>
          <p:cNvSpPr txBox="1"/>
          <p:nvPr/>
        </p:nvSpPr>
        <p:spPr>
          <a:xfrm>
            <a:off x="8119872" y="4014216"/>
            <a:ext cx="3136392" cy="265176"/>
          </a:xfrm>
          <a:prstGeom prst="rect">
            <a:avLst/>
          </a:prstGeom>
          <a:noFill/>
          <a:ln/>
        </p:spPr>
        <p:txBody>
          <a:bodyPr wrap="square" lIns="508" tIns="508" rIns="508" bIns="508" rtlCol="0" anchor="ctr">
            <a:normAutofit/>
          </a:bodyPr>
          <a:lstStyle/>
          <a:p>
            <a:pPr marL="0" indent="0" algn="l">
              <a:buNone/>
            </a:pPr>
            <a:r>
              <a:rPr lang="en-US" sz="1130" dirty="0">
                <a:solidFill>
                  <a:srgbClr val="203040"/>
                </a:solidFill>
                <a:latin typeface="Calibri" pitchFamily="34" charset="0"/>
                <a:ea typeface="Calibri" pitchFamily="34" charset="-122"/>
                <a:cs typeface="Calibri" pitchFamily="34" charset="-120"/>
              </a:rPr>
              <a:t>2 CRACs; each draws 4 kW, removes 8 kW</a:t>
            </a:r>
            <a:endParaRPr lang="en-US" sz="1130" dirty="0"/>
          </a:p>
        </p:txBody>
      </p:sp>
      <p:sp>
        <p:nvSpPr>
          <p:cNvPr id="47" name="Shape 44"/>
          <p:cNvSpPr/>
          <p:nvPr/>
        </p:nvSpPr>
        <p:spPr>
          <a:xfrm>
            <a:off x="7918704" y="4443984"/>
            <a:ext cx="109728" cy="109728"/>
          </a:xfrm>
          <a:prstGeom prst="ellipse">
            <a:avLst/>
          </a:prstGeom>
          <a:solidFill>
            <a:srgbClr val="70AD47"/>
          </a:solidFill>
          <a:ln w="12700">
            <a:solidFill>
              <a:srgbClr val="70AD47"/>
            </a:solidFill>
            <a:prstDash val="solid"/>
          </a:ln>
        </p:spPr>
        <p:txBody>
          <a:bodyPr/>
          <a:lstStyle/>
          <a:p>
            <a:endParaRPr lang="en-US"/>
          </a:p>
        </p:txBody>
      </p:sp>
      <p:sp>
        <p:nvSpPr>
          <p:cNvPr id="48" name="Text 45"/>
          <p:cNvSpPr txBox="1"/>
          <p:nvPr/>
        </p:nvSpPr>
        <p:spPr>
          <a:xfrm>
            <a:off x="8119872" y="4352544"/>
            <a:ext cx="3136392" cy="182880"/>
          </a:xfrm>
          <a:prstGeom prst="rect">
            <a:avLst/>
          </a:prstGeom>
          <a:noFill/>
          <a:ln/>
        </p:spPr>
        <p:txBody>
          <a:bodyPr wrap="square" lIns="508" tIns="508" rIns="508" bIns="508" rtlCol="0" anchor="ctr">
            <a:normAutofit/>
          </a:bodyPr>
          <a:lstStyle/>
          <a:p>
            <a:pPr marL="0" indent="0" algn="l">
              <a:buNone/>
            </a:pPr>
            <a:r>
              <a:rPr lang="en-US" sz="1060" b="1" dirty="0">
                <a:solidFill>
                  <a:srgbClr val="1F497D"/>
                </a:solidFill>
                <a:latin typeface="Calibri" pitchFamily="34" charset="0"/>
                <a:ea typeface="Calibri" pitchFamily="34" charset="-122"/>
                <a:cs typeface="Calibri" pitchFamily="34" charset="-120"/>
              </a:rPr>
              <a:t>OTHER</a:t>
            </a:r>
            <a:endParaRPr lang="en-US" sz="1060" dirty="0"/>
          </a:p>
        </p:txBody>
      </p:sp>
      <p:sp>
        <p:nvSpPr>
          <p:cNvPr id="49" name="Text 46"/>
          <p:cNvSpPr txBox="1"/>
          <p:nvPr/>
        </p:nvSpPr>
        <p:spPr>
          <a:xfrm>
            <a:off x="8119872" y="4535424"/>
            <a:ext cx="3136392" cy="265176"/>
          </a:xfrm>
          <a:prstGeom prst="rect">
            <a:avLst/>
          </a:prstGeom>
          <a:noFill/>
          <a:ln/>
        </p:spPr>
        <p:txBody>
          <a:bodyPr wrap="square" lIns="508" tIns="508" rIns="508" bIns="508" rtlCol="0" anchor="ctr">
            <a:normAutofit/>
          </a:bodyPr>
          <a:lstStyle/>
          <a:p>
            <a:pPr marL="0" indent="0" algn="l">
              <a:buNone/>
            </a:pPr>
            <a:r>
              <a:rPr lang="en-US" sz="1130" dirty="0">
                <a:solidFill>
                  <a:srgbClr val="203040"/>
                </a:solidFill>
                <a:latin typeface="Calibri" pitchFamily="34" charset="0"/>
                <a:ea typeface="Calibri" pitchFamily="34" charset="-122"/>
                <a:cs typeface="Calibri" pitchFamily="34" charset="-120"/>
              </a:rPr>
              <a:t>lights / facility 0.7 kW</a:t>
            </a:r>
            <a:endParaRPr lang="en-US" sz="113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1</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The data center converts power into heat</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Follow energy from the service entrance to IT and then back outdoors.</a:t>
            </a:r>
            <a:endParaRPr lang="en-US" sz="1300" dirty="0"/>
          </a:p>
        </p:txBody>
      </p:sp>
      <p:sp>
        <p:nvSpPr>
          <p:cNvPr id="6" name="Shape 3"/>
          <p:cNvSpPr/>
          <p:nvPr/>
        </p:nvSpPr>
        <p:spPr>
          <a:xfrm>
            <a:off x="640080" y="1965960"/>
            <a:ext cx="3301898"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40080" y="1965960"/>
            <a:ext cx="3301898"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31520" y="2020824"/>
            <a:ext cx="3119018"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POWER IN</a:t>
            </a:r>
            <a:endParaRPr lang="en-US" sz="1150" dirty="0"/>
          </a:p>
        </p:txBody>
      </p:sp>
      <p:sp>
        <p:nvSpPr>
          <p:cNvPr id="9" name="Text 6"/>
          <p:cNvSpPr txBox="1"/>
          <p:nvPr/>
        </p:nvSpPr>
        <p:spPr>
          <a:xfrm>
            <a:off x="777240" y="2450592"/>
            <a:ext cx="3027578"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Utility and generator</a:t>
            </a:r>
            <a:endParaRPr lang="en-US" sz="1400" dirty="0"/>
          </a:p>
        </p:txBody>
      </p:sp>
      <p:sp>
        <p:nvSpPr>
          <p:cNvPr id="10" name="Shape 7"/>
          <p:cNvSpPr/>
          <p:nvPr/>
        </p:nvSpPr>
        <p:spPr>
          <a:xfrm>
            <a:off x="3996842" y="2903220"/>
            <a:ext cx="393192" cy="0"/>
          </a:xfrm>
          <a:prstGeom prst="line">
            <a:avLst/>
          </a:prstGeom>
          <a:noFill/>
          <a:ln w="25400">
            <a:solidFill>
              <a:srgbClr val="94A3B8"/>
            </a:solidFill>
            <a:prstDash val="solid"/>
            <a:tailEnd type="triangle"/>
          </a:ln>
        </p:spPr>
        <p:txBody>
          <a:bodyPr/>
          <a:lstStyle/>
          <a:p>
            <a:endParaRPr lang="en-US"/>
          </a:p>
        </p:txBody>
      </p:sp>
      <p:sp>
        <p:nvSpPr>
          <p:cNvPr id="11" name="Shape 8"/>
          <p:cNvSpPr/>
          <p:nvPr/>
        </p:nvSpPr>
        <p:spPr>
          <a:xfrm>
            <a:off x="4444898" y="1965960"/>
            <a:ext cx="3301898"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12" name="Shape 9"/>
          <p:cNvSpPr/>
          <p:nvPr/>
        </p:nvSpPr>
        <p:spPr>
          <a:xfrm>
            <a:off x="4444898" y="1965960"/>
            <a:ext cx="3301898"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3" name="Text 10"/>
          <p:cNvSpPr txBox="1"/>
          <p:nvPr/>
        </p:nvSpPr>
        <p:spPr>
          <a:xfrm>
            <a:off x="4536338" y="2020824"/>
            <a:ext cx="3119018"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CONVERT</a:t>
            </a:r>
            <a:endParaRPr lang="en-US" sz="1150" dirty="0"/>
          </a:p>
        </p:txBody>
      </p:sp>
      <p:sp>
        <p:nvSpPr>
          <p:cNvPr id="14" name="Text 11"/>
          <p:cNvSpPr txBox="1"/>
          <p:nvPr/>
        </p:nvSpPr>
        <p:spPr>
          <a:xfrm>
            <a:off x="4582058" y="2450592"/>
            <a:ext cx="3027578"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Servers do work</a:t>
            </a:r>
            <a:endParaRPr lang="en-US" sz="1400" dirty="0"/>
          </a:p>
        </p:txBody>
      </p:sp>
      <p:sp>
        <p:nvSpPr>
          <p:cNvPr id="15" name="Shape 12"/>
          <p:cNvSpPr/>
          <p:nvPr/>
        </p:nvSpPr>
        <p:spPr>
          <a:xfrm>
            <a:off x="7801661" y="2903220"/>
            <a:ext cx="393192" cy="0"/>
          </a:xfrm>
          <a:prstGeom prst="line">
            <a:avLst/>
          </a:prstGeom>
          <a:noFill/>
          <a:ln w="25400">
            <a:solidFill>
              <a:srgbClr val="94A3B8"/>
            </a:solidFill>
            <a:prstDash val="solid"/>
            <a:tailEnd type="triangle"/>
          </a:ln>
        </p:spPr>
        <p:txBody>
          <a:bodyPr/>
          <a:lstStyle/>
          <a:p>
            <a:endParaRPr lang="en-US"/>
          </a:p>
        </p:txBody>
      </p:sp>
      <p:sp>
        <p:nvSpPr>
          <p:cNvPr id="16" name="Shape 13"/>
          <p:cNvSpPr/>
          <p:nvPr/>
        </p:nvSpPr>
        <p:spPr>
          <a:xfrm>
            <a:off x="8249717" y="1965960"/>
            <a:ext cx="3301898"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17" name="Shape 14"/>
          <p:cNvSpPr/>
          <p:nvPr/>
        </p:nvSpPr>
        <p:spPr>
          <a:xfrm>
            <a:off x="8249717" y="1965960"/>
            <a:ext cx="3301898"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8" name="Text 15"/>
          <p:cNvSpPr txBox="1"/>
          <p:nvPr/>
        </p:nvSpPr>
        <p:spPr>
          <a:xfrm>
            <a:off x="8341157" y="2020824"/>
            <a:ext cx="3119018"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HEAT OUT</a:t>
            </a:r>
            <a:endParaRPr lang="en-US" sz="1150" dirty="0"/>
          </a:p>
        </p:txBody>
      </p:sp>
      <p:sp>
        <p:nvSpPr>
          <p:cNvPr id="19" name="Text 16"/>
          <p:cNvSpPr txBox="1"/>
          <p:nvPr/>
        </p:nvSpPr>
        <p:spPr>
          <a:xfrm>
            <a:off x="8386877" y="2450592"/>
            <a:ext cx="3027578"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Cooling ejects heat</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2</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Three imperatives: power, cooling, operation</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A working data center keeps all three available through planned and unplanned events.</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CONTINUOUS POWER</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Condition supply and bridge outages</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CONTINUOUS COOLING</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Remove heat while IT operates</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CONTINUOUS OPERATION</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Maintain and repair without avoidable downtime</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3</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A data center is not an office building</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Its load and heat persist around the clock, so operating practices are part of design.</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LOAD</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IT and cooling run continuously</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FAILURE</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Power or cooling loss threatens services quickly</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OPERATIONS</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Access, maintenance, and response need plans</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4</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From grid to fence: utility supply</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A service connection has a capacity, route, protection, and approval process.</a:t>
            </a:r>
            <a:endParaRPr lang="en-US" sz="1300" dirty="0"/>
          </a:p>
        </p:txBody>
      </p:sp>
      <p:sp>
        <p:nvSpPr>
          <p:cNvPr id="6" name="Shape 3"/>
          <p:cNvSpPr/>
          <p:nvPr/>
        </p:nvSpPr>
        <p:spPr>
          <a:xfrm>
            <a:off x="640080" y="1965960"/>
            <a:ext cx="3301898"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40080" y="1965960"/>
            <a:ext cx="3301898"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31520" y="2020824"/>
            <a:ext cx="3119018"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UTILITY</a:t>
            </a:r>
            <a:endParaRPr lang="en-US" sz="1150" dirty="0"/>
          </a:p>
        </p:txBody>
      </p:sp>
      <p:sp>
        <p:nvSpPr>
          <p:cNvPr id="9" name="Text 6"/>
          <p:cNvSpPr txBox="1"/>
          <p:nvPr/>
        </p:nvSpPr>
        <p:spPr>
          <a:xfrm>
            <a:off x="777240" y="2450592"/>
            <a:ext cx="3027578"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Available capacity</a:t>
            </a:r>
            <a:endParaRPr lang="en-US" sz="1400" dirty="0"/>
          </a:p>
        </p:txBody>
      </p:sp>
      <p:sp>
        <p:nvSpPr>
          <p:cNvPr id="10" name="Shape 7"/>
          <p:cNvSpPr/>
          <p:nvPr/>
        </p:nvSpPr>
        <p:spPr>
          <a:xfrm>
            <a:off x="3996842" y="2903220"/>
            <a:ext cx="393192" cy="0"/>
          </a:xfrm>
          <a:prstGeom prst="line">
            <a:avLst/>
          </a:prstGeom>
          <a:noFill/>
          <a:ln w="25400">
            <a:solidFill>
              <a:srgbClr val="94A3B8"/>
            </a:solidFill>
            <a:prstDash val="solid"/>
            <a:tailEnd type="triangle"/>
          </a:ln>
        </p:spPr>
        <p:txBody>
          <a:bodyPr/>
          <a:lstStyle/>
          <a:p>
            <a:endParaRPr lang="en-US"/>
          </a:p>
        </p:txBody>
      </p:sp>
      <p:sp>
        <p:nvSpPr>
          <p:cNvPr id="11" name="Shape 8"/>
          <p:cNvSpPr/>
          <p:nvPr/>
        </p:nvSpPr>
        <p:spPr>
          <a:xfrm>
            <a:off x="4444898" y="1965960"/>
            <a:ext cx="3301898"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12" name="Shape 9"/>
          <p:cNvSpPr/>
          <p:nvPr/>
        </p:nvSpPr>
        <p:spPr>
          <a:xfrm>
            <a:off x="4444898" y="1965960"/>
            <a:ext cx="3301898"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3" name="Text 10"/>
          <p:cNvSpPr txBox="1"/>
          <p:nvPr/>
        </p:nvSpPr>
        <p:spPr>
          <a:xfrm>
            <a:off x="4536338" y="2020824"/>
            <a:ext cx="3119018"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SERVICE</a:t>
            </a:r>
            <a:endParaRPr lang="en-US" sz="1150" dirty="0"/>
          </a:p>
        </p:txBody>
      </p:sp>
      <p:sp>
        <p:nvSpPr>
          <p:cNvPr id="14" name="Text 11"/>
          <p:cNvSpPr txBox="1"/>
          <p:nvPr/>
        </p:nvSpPr>
        <p:spPr>
          <a:xfrm>
            <a:off x="4582058" y="2450592"/>
            <a:ext cx="3027578"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Meter + switchgear</a:t>
            </a:r>
            <a:endParaRPr lang="en-US" sz="1400" dirty="0"/>
          </a:p>
        </p:txBody>
      </p:sp>
      <p:sp>
        <p:nvSpPr>
          <p:cNvPr id="15" name="Shape 12"/>
          <p:cNvSpPr/>
          <p:nvPr/>
        </p:nvSpPr>
        <p:spPr>
          <a:xfrm>
            <a:off x="7801661" y="2903220"/>
            <a:ext cx="393192" cy="0"/>
          </a:xfrm>
          <a:prstGeom prst="line">
            <a:avLst/>
          </a:prstGeom>
          <a:noFill/>
          <a:ln w="25400">
            <a:solidFill>
              <a:srgbClr val="94A3B8"/>
            </a:solidFill>
            <a:prstDash val="solid"/>
            <a:tailEnd type="triangle"/>
          </a:ln>
        </p:spPr>
        <p:txBody>
          <a:bodyPr/>
          <a:lstStyle/>
          <a:p>
            <a:endParaRPr lang="en-US"/>
          </a:p>
        </p:txBody>
      </p:sp>
      <p:sp>
        <p:nvSpPr>
          <p:cNvPr id="16" name="Shape 13"/>
          <p:cNvSpPr/>
          <p:nvPr/>
        </p:nvSpPr>
        <p:spPr>
          <a:xfrm>
            <a:off x="8249717" y="1965960"/>
            <a:ext cx="3301898"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17" name="Shape 14"/>
          <p:cNvSpPr/>
          <p:nvPr/>
        </p:nvSpPr>
        <p:spPr>
          <a:xfrm>
            <a:off x="8249717" y="1965960"/>
            <a:ext cx="3301898"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8" name="Text 15"/>
          <p:cNvSpPr txBox="1"/>
          <p:nvPr/>
        </p:nvSpPr>
        <p:spPr>
          <a:xfrm>
            <a:off x="8341157" y="2020824"/>
            <a:ext cx="3119018"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SITE</a:t>
            </a:r>
            <a:endParaRPr lang="en-US" sz="1150" dirty="0"/>
          </a:p>
        </p:txBody>
      </p:sp>
      <p:sp>
        <p:nvSpPr>
          <p:cNvPr id="19" name="Text 16"/>
          <p:cNvSpPr txBox="1"/>
          <p:nvPr/>
        </p:nvSpPr>
        <p:spPr>
          <a:xfrm>
            <a:off x="8386877" y="2450592"/>
            <a:ext cx="3027578"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Protected distribution</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5</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On-site chain: switchgear to rack</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Every stage needs a capacity and a way to isolate faults.</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40080" y="1965960"/>
            <a:ext cx="2350694"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PANEL</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Protection and branching</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txBody>
          <a:bodyPr/>
          <a:lstStyle/>
          <a:p>
            <a:endParaRPr lang="en-US"/>
          </a:p>
        </p:txBody>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12" name="Shape 9"/>
          <p:cNvSpPr/>
          <p:nvPr/>
        </p:nvSpPr>
        <p:spPr>
          <a:xfrm>
            <a:off x="3493694" y="1965960"/>
            <a:ext cx="2350694"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UPS</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Condition and bridge</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txBody>
          <a:bodyPr/>
          <a:lstStyle/>
          <a:p>
            <a:endParaRPr lang="en-US"/>
          </a:p>
        </p:txBody>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17" name="Shape 14"/>
          <p:cNvSpPr/>
          <p:nvPr/>
        </p:nvSpPr>
        <p:spPr>
          <a:xfrm>
            <a:off x="6347308" y="1965960"/>
            <a:ext cx="2350694"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PDU</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Distribute to racks</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txBody>
          <a:bodyPr/>
          <a:lstStyle/>
          <a:p>
            <a:endParaRPr lang="en-US"/>
          </a:p>
        </p:txBody>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22" name="Shape 19"/>
          <p:cNvSpPr/>
          <p:nvPr/>
        </p:nvSpPr>
        <p:spPr>
          <a:xfrm>
            <a:off x="9200921" y="1965960"/>
            <a:ext cx="2350694" cy="329184"/>
          </a:xfrm>
          <a:prstGeom prst="roundRect">
            <a:avLst>
              <a:gd name="adj" fmla="val 22222"/>
            </a:avLst>
          </a:prstGeom>
          <a:solidFill>
            <a:srgbClr val="70AD47"/>
          </a:solidFill>
          <a:ln w="12700">
            <a:solidFill>
              <a:srgbClr val="70AD47"/>
            </a:solidFill>
            <a:prstDash val="solid"/>
          </a:ln>
        </p:spPr>
        <p:txBody>
          <a:bodyPr/>
          <a:lstStyle/>
          <a:p>
            <a:endParaRPr lang="en-US"/>
          </a:p>
        </p:txBody>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IT</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Dual or single supply</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6</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UPS: condition power and bridge outages</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A double-conversion UPS keeps the inverter feeding the critical load.</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RECTIFIER</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AC to DC</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BATTERY</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Short-duration stored energy</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INVERTER</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DC to regulated AC</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7</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Generator: the long outage handoff</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UPS bridges the start and transfer; generator capacity must include the chosen cooling load.</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40080" y="1965960"/>
            <a:ext cx="2350694" cy="329184"/>
          </a:xfrm>
          <a:prstGeom prst="roundRect">
            <a:avLst>
              <a:gd name="adj" fmla="val 22222"/>
            </a:avLst>
          </a:prstGeom>
          <a:solidFill>
            <a:srgbClr val="C0504D"/>
          </a:solidFill>
          <a:ln w="12700">
            <a:solidFill>
              <a:srgbClr val="C0504D"/>
            </a:solidFill>
            <a:prstDash val="solid"/>
          </a:ln>
        </p:spPr>
        <p:txBody>
          <a:bodyPr/>
          <a:lstStyle/>
          <a:p>
            <a:endParaRPr lang="en-US"/>
          </a:p>
        </p:txBody>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UTILITY LOSS</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UPS holds IT</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txBody>
          <a:bodyPr/>
          <a:lstStyle/>
          <a:p>
            <a:endParaRPr lang="en-US"/>
          </a:p>
        </p:txBody>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12" name="Shape 9"/>
          <p:cNvSpPr/>
          <p:nvPr/>
        </p:nvSpPr>
        <p:spPr>
          <a:xfrm>
            <a:off x="3493694" y="1965960"/>
            <a:ext cx="2350694"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START</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Generator stabilizes</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txBody>
          <a:bodyPr/>
          <a:lstStyle/>
          <a:p>
            <a:endParaRPr lang="en-US"/>
          </a:p>
        </p:txBody>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17" name="Shape 14"/>
          <p:cNvSpPr/>
          <p:nvPr/>
        </p:nvSpPr>
        <p:spPr>
          <a:xfrm>
            <a:off x="6347308" y="1965960"/>
            <a:ext cx="2350694"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TRANSFER</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ATS feeds panel</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txBody>
          <a:bodyPr/>
          <a:lstStyle/>
          <a:p>
            <a:endParaRPr lang="en-US"/>
          </a:p>
        </p:txBody>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22" name="Shape 19"/>
          <p:cNvSpPr/>
          <p:nvPr/>
        </p:nvSpPr>
        <p:spPr>
          <a:xfrm>
            <a:off x="9200921" y="1965960"/>
            <a:ext cx="2350694" cy="329184"/>
          </a:xfrm>
          <a:prstGeom prst="roundRect">
            <a:avLst>
              <a:gd name="adj" fmla="val 22222"/>
            </a:avLst>
          </a:prstGeom>
          <a:solidFill>
            <a:srgbClr val="70AD47"/>
          </a:solidFill>
          <a:ln w="12700">
            <a:solidFill>
              <a:srgbClr val="70AD47"/>
            </a:solidFill>
            <a:prstDash val="solid"/>
          </a:ln>
        </p:spPr>
        <p:txBody>
          <a:bodyPr/>
          <a:lstStyle/>
          <a:p>
            <a:endParaRPr lang="en-US"/>
          </a:p>
        </p:txBody>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RESTORE</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UPS returns to input power</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8</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Power studies prove the paths will work</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Capacity, fault current, breaker selectivity, and maintenance safety need engineering.</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LOAD FLOW</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Check normal and contingency loading</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FAULT + COORDINATION</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Interrupt and isolate the right branch</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ARC FLASH</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Understand maintenance hazards</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9</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Every IT watt becomes a cooling problem</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Airflow must carry rack heat to the cooling equipment without hot-air recirculation.</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58368" y="1874520"/>
            <a:ext cx="3472586" cy="329184"/>
          </a:xfrm>
          <a:prstGeom prst="roundRect">
            <a:avLst>
              <a:gd name="adj" fmla="val 22222"/>
            </a:avLst>
          </a:prstGeom>
          <a:solidFill>
            <a:srgbClr val="C0504D"/>
          </a:solidFill>
          <a:ln w="12700">
            <a:solidFill>
              <a:srgbClr val="C0504D"/>
            </a:solidFill>
            <a:prstDash val="solid"/>
          </a:ln>
        </p:spPr>
        <p:txBody>
          <a:bodyPr/>
          <a:lstStyle/>
          <a:p>
            <a:endParaRPr lang="en-US"/>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IT HEAT</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Measured IT kW sets sensible heat load</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AIR PATH</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Cold intake → hot exhaust</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LEAKS</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Blanking and sealing protect the path</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8ED3BB-BDD1-A7E9-EFED-536022161FC9}"/>
              </a:ext>
            </a:extLst>
          </p:cNvPr>
          <p:cNvPicPr>
            <a:picLocks noChangeAspect="1"/>
          </p:cNvPicPr>
          <p:nvPr/>
        </p:nvPicPr>
        <p:blipFill>
          <a:blip r:embed="rId2" cstate="screen">
            <a:extLst>
              <a:ext uri="{28A0092B-C50C-407E-A947-70E740481C1C}">
                <a14:useLocalDpi xmlns:a14="http://schemas.microsoft.com/office/drawing/2010/main"/>
              </a:ext>
            </a:extLst>
          </a:blip>
          <a:srcRect l="4149" t="32798" r="3730" b="3474"/>
          <a:stretch>
            <a:fillRect/>
          </a:stretch>
        </p:blipFill>
        <p:spPr>
          <a:xfrm>
            <a:off x="384948" y="960582"/>
            <a:ext cx="11274322" cy="4387272"/>
          </a:xfrm>
          <a:prstGeom prst="rect">
            <a:avLst/>
          </a:prstGeom>
        </p:spPr>
      </p:pic>
    </p:spTree>
    <p:extLst>
      <p:ext uri="{BB962C8B-B14F-4D97-AF65-F5344CB8AC3E}">
        <p14:creationId xmlns:p14="http://schemas.microsoft.com/office/powerpoint/2010/main" val="3925891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10</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Containment keeps supply and return apart</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Cold-aisle and hot-aisle schemes close the mixing path.</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COLD AISLE</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Enclose rack fronts and supply air</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4359554" y="1874520"/>
            <a:ext cx="3472586"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HOT AISLE</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Enclose rack backs and exhaust</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8060741" y="1874520"/>
            <a:ext cx="3472586"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SEALING</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Doors, panels, and blanks close gaps</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11</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Cooling units can serve room, row, or rack</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CRAC creates refrigeration locally; CRAH transfers cooling from chilled water.</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CRAC</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Self-contained refrigeration circuit</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CRAH</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Air handler supplied by chilled-water plant</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IN-ROW / RACK</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Cooling close to concentrated heat</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12</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Chilled water moves heat across the facility</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A chiller, pumps, and CRAH coils create a shared cooling loop.</a:t>
            </a:r>
            <a:endParaRPr lang="en-US" sz="1300" dirty="0"/>
          </a:p>
        </p:txBody>
      </p:sp>
      <p:sp>
        <p:nvSpPr>
          <p:cNvPr id="6" name="Shape 3"/>
          <p:cNvSpPr/>
          <p:nvPr/>
        </p:nvSpPr>
        <p:spPr>
          <a:xfrm>
            <a:off x="640080" y="1965960"/>
            <a:ext cx="2350694"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40080" y="1965960"/>
            <a:ext cx="2350694"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31520" y="2020824"/>
            <a:ext cx="216781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CHILLER</a:t>
            </a:r>
            <a:endParaRPr lang="en-US" sz="1150" dirty="0"/>
          </a:p>
        </p:txBody>
      </p:sp>
      <p:sp>
        <p:nvSpPr>
          <p:cNvPr id="9" name="Text 6"/>
          <p:cNvSpPr txBox="1"/>
          <p:nvPr/>
        </p:nvSpPr>
        <p:spPr>
          <a:xfrm>
            <a:off x="777240" y="2450592"/>
            <a:ext cx="2076374"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Cool the water</a:t>
            </a:r>
            <a:endParaRPr lang="en-US" sz="1400" dirty="0"/>
          </a:p>
        </p:txBody>
      </p:sp>
      <p:sp>
        <p:nvSpPr>
          <p:cNvPr id="10" name="Shape 7"/>
          <p:cNvSpPr/>
          <p:nvPr/>
        </p:nvSpPr>
        <p:spPr>
          <a:xfrm>
            <a:off x="3045638" y="2903220"/>
            <a:ext cx="393192" cy="0"/>
          </a:xfrm>
          <a:prstGeom prst="line">
            <a:avLst/>
          </a:prstGeom>
          <a:noFill/>
          <a:ln w="25400">
            <a:solidFill>
              <a:srgbClr val="94A3B8"/>
            </a:solidFill>
            <a:prstDash val="solid"/>
            <a:tailEnd type="triangle"/>
          </a:ln>
        </p:spPr>
        <p:txBody>
          <a:bodyPr/>
          <a:lstStyle/>
          <a:p>
            <a:endParaRPr lang="en-US"/>
          </a:p>
        </p:txBody>
      </p:sp>
      <p:sp>
        <p:nvSpPr>
          <p:cNvPr id="11" name="Shape 8"/>
          <p:cNvSpPr/>
          <p:nvPr/>
        </p:nvSpPr>
        <p:spPr>
          <a:xfrm>
            <a:off x="3493694" y="1965960"/>
            <a:ext cx="2350694"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12" name="Shape 9"/>
          <p:cNvSpPr/>
          <p:nvPr/>
        </p:nvSpPr>
        <p:spPr>
          <a:xfrm>
            <a:off x="3493694" y="1965960"/>
            <a:ext cx="2350694"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3" name="Text 10"/>
          <p:cNvSpPr txBox="1"/>
          <p:nvPr/>
        </p:nvSpPr>
        <p:spPr>
          <a:xfrm>
            <a:off x="3585134" y="2020824"/>
            <a:ext cx="216781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PUMP</a:t>
            </a:r>
            <a:endParaRPr lang="en-US" sz="1150" dirty="0"/>
          </a:p>
        </p:txBody>
      </p:sp>
      <p:sp>
        <p:nvSpPr>
          <p:cNvPr id="14" name="Text 11"/>
          <p:cNvSpPr txBox="1"/>
          <p:nvPr/>
        </p:nvSpPr>
        <p:spPr>
          <a:xfrm>
            <a:off x="3630854" y="2450592"/>
            <a:ext cx="2076374"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Deliver to coils</a:t>
            </a:r>
            <a:endParaRPr lang="en-US" sz="1400" dirty="0"/>
          </a:p>
        </p:txBody>
      </p:sp>
      <p:sp>
        <p:nvSpPr>
          <p:cNvPr id="15" name="Shape 12"/>
          <p:cNvSpPr/>
          <p:nvPr/>
        </p:nvSpPr>
        <p:spPr>
          <a:xfrm>
            <a:off x="5899252" y="2903220"/>
            <a:ext cx="393192" cy="0"/>
          </a:xfrm>
          <a:prstGeom prst="line">
            <a:avLst/>
          </a:prstGeom>
          <a:noFill/>
          <a:ln w="25400">
            <a:solidFill>
              <a:srgbClr val="94A3B8"/>
            </a:solidFill>
            <a:prstDash val="solid"/>
            <a:tailEnd type="triangle"/>
          </a:ln>
        </p:spPr>
        <p:txBody>
          <a:bodyPr/>
          <a:lstStyle/>
          <a:p>
            <a:endParaRPr lang="en-US"/>
          </a:p>
        </p:txBody>
      </p:sp>
      <p:sp>
        <p:nvSpPr>
          <p:cNvPr id="16" name="Shape 13"/>
          <p:cNvSpPr/>
          <p:nvPr/>
        </p:nvSpPr>
        <p:spPr>
          <a:xfrm>
            <a:off x="6347308" y="1965960"/>
            <a:ext cx="2350694"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17" name="Shape 14"/>
          <p:cNvSpPr/>
          <p:nvPr/>
        </p:nvSpPr>
        <p:spPr>
          <a:xfrm>
            <a:off x="6347308" y="1965960"/>
            <a:ext cx="2350694"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8" name="Text 15"/>
          <p:cNvSpPr txBox="1"/>
          <p:nvPr/>
        </p:nvSpPr>
        <p:spPr>
          <a:xfrm>
            <a:off x="6438748" y="2020824"/>
            <a:ext cx="216781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CRAH</a:t>
            </a:r>
            <a:endParaRPr lang="en-US" sz="1150" dirty="0"/>
          </a:p>
        </p:txBody>
      </p:sp>
      <p:sp>
        <p:nvSpPr>
          <p:cNvPr id="19" name="Text 16"/>
          <p:cNvSpPr txBox="1"/>
          <p:nvPr/>
        </p:nvSpPr>
        <p:spPr>
          <a:xfrm>
            <a:off x="6484468" y="2450592"/>
            <a:ext cx="2076374"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Take room heat</a:t>
            </a:r>
            <a:endParaRPr lang="en-US" sz="1400" dirty="0"/>
          </a:p>
        </p:txBody>
      </p:sp>
      <p:sp>
        <p:nvSpPr>
          <p:cNvPr id="20" name="Shape 17"/>
          <p:cNvSpPr/>
          <p:nvPr/>
        </p:nvSpPr>
        <p:spPr>
          <a:xfrm>
            <a:off x="8752865" y="2903220"/>
            <a:ext cx="393192" cy="0"/>
          </a:xfrm>
          <a:prstGeom prst="line">
            <a:avLst/>
          </a:prstGeom>
          <a:noFill/>
          <a:ln w="25400">
            <a:solidFill>
              <a:srgbClr val="94A3B8"/>
            </a:solidFill>
            <a:prstDash val="solid"/>
            <a:tailEnd type="triangle"/>
          </a:ln>
        </p:spPr>
        <p:txBody>
          <a:bodyPr/>
          <a:lstStyle/>
          <a:p>
            <a:endParaRPr lang="en-US"/>
          </a:p>
        </p:txBody>
      </p:sp>
      <p:sp>
        <p:nvSpPr>
          <p:cNvPr id="21" name="Shape 18"/>
          <p:cNvSpPr/>
          <p:nvPr/>
        </p:nvSpPr>
        <p:spPr>
          <a:xfrm>
            <a:off x="9200921" y="1965960"/>
            <a:ext cx="2350694" cy="1874520"/>
          </a:xfrm>
          <a:prstGeom prst="roundRect">
            <a:avLst>
              <a:gd name="adj" fmla="val 3902"/>
            </a:avLst>
          </a:prstGeom>
          <a:solidFill>
            <a:srgbClr val="FFFFFF"/>
          </a:solidFill>
          <a:ln w="12700">
            <a:solidFill>
              <a:srgbClr val="CBD5E1"/>
            </a:solidFill>
            <a:prstDash val="solid"/>
          </a:ln>
        </p:spPr>
        <p:txBody>
          <a:bodyPr/>
          <a:lstStyle/>
          <a:p>
            <a:endParaRPr lang="en-US"/>
          </a:p>
        </p:txBody>
      </p:sp>
      <p:sp>
        <p:nvSpPr>
          <p:cNvPr id="22" name="Shape 19"/>
          <p:cNvSpPr/>
          <p:nvPr/>
        </p:nvSpPr>
        <p:spPr>
          <a:xfrm>
            <a:off x="9200921" y="1965960"/>
            <a:ext cx="2350694" cy="329184"/>
          </a:xfrm>
          <a:prstGeom prst="roundRect">
            <a:avLst>
              <a:gd name="adj" fmla="val 22222"/>
            </a:avLst>
          </a:prstGeom>
          <a:solidFill>
            <a:srgbClr val="C0504D"/>
          </a:solidFill>
          <a:ln w="12700">
            <a:solidFill>
              <a:srgbClr val="C0504D"/>
            </a:solidFill>
            <a:prstDash val="solid"/>
          </a:ln>
        </p:spPr>
        <p:txBody>
          <a:bodyPr/>
          <a:lstStyle/>
          <a:p>
            <a:endParaRPr lang="en-US"/>
          </a:p>
        </p:txBody>
      </p:sp>
      <p:sp>
        <p:nvSpPr>
          <p:cNvPr id="23" name="Text 20"/>
          <p:cNvSpPr txBox="1"/>
          <p:nvPr/>
        </p:nvSpPr>
        <p:spPr>
          <a:xfrm>
            <a:off x="9292361" y="2020824"/>
            <a:ext cx="2167814"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RETURN</a:t>
            </a:r>
            <a:endParaRPr lang="en-US" sz="1150" dirty="0"/>
          </a:p>
        </p:txBody>
      </p:sp>
      <p:sp>
        <p:nvSpPr>
          <p:cNvPr id="24" name="Text 21"/>
          <p:cNvSpPr txBox="1"/>
          <p:nvPr/>
        </p:nvSpPr>
        <p:spPr>
          <a:xfrm>
            <a:off x="9338081" y="2450592"/>
            <a:ext cx="2076374"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Warm water back</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13</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Heat must leave the building</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Air-cooled, water-cooled, and economizer modes trade electricity, water, and complexity.</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AIR-COOLED</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Eject outdoors with fans and coils</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WATER-COOLED</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Evaporation and water treatment</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8060741" y="1874520"/>
            <a:ext cx="3472586" cy="329184"/>
          </a:xfrm>
          <a:prstGeom prst="roundRect">
            <a:avLst>
              <a:gd name="adj" fmla="val 22222"/>
            </a:avLst>
          </a:prstGeom>
          <a:solidFill>
            <a:srgbClr val="70AD47"/>
          </a:solidFill>
          <a:ln w="12700">
            <a:solidFill>
              <a:srgbClr val="70AD47"/>
            </a:solidFill>
            <a:prstDash val="solid"/>
          </a:ln>
        </p:spPr>
        <p:txBody>
          <a:bodyPr/>
          <a:lstStyle/>
          <a:p>
            <a:endParaRPr lang="en-US"/>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ECONOMIZER</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Use favorable outdoor conditions</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14</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Liquid cooling addresses concentrated heat</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Direct-to-chip and immersion serve densities where air delivery becomes difficult.</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DIRECT-TO-CHIP</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Cold plates take heat from processors</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IMMERSION</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Dielectric fluid surrounds hardware</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HYBRID</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Residual components still need air</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15</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Redundancy is a whole-system claim</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Uptime Institute Tiers describe whole-facility topology and behavior.</a:t>
            </a:r>
            <a:endParaRPr lang="en-US" sz="1300" dirty="0"/>
          </a:p>
        </p:txBody>
      </p:sp>
      <p:sp>
        <p:nvSpPr>
          <p:cNvPr id="6" name="Shape 3"/>
          <p:cNvSpPr/>
          <p:nvPr/>
        </p:nvSpPr>
        <p:spPr>
          <a:xfrm>
            <a:off x="749808" y="1737360"/>
            <a:ext cx="2231136" cy="566928"/>
          </a:xfrm>
          <a:prstGeom prst="roundRect">
            <a:avLst>
              <a:gd name="adj" fmla="val 12903"/>
            </a:avLst>
          </a:prstGeom>
          <a:solidFill>
            <a:srgbClr val="4BACC6"/>
          </a:solidFill>
          <a:ln w="12700">
            <a:solidFill>
              <a:srgbClr val="4BACC6"/>
            </a:solidFill>
            <a:prstDash val="solid"/>
          </a:ln>
        </p:spPr>
        <p:txBody>
          <a:bodyPr/>
          <a:lstStyle/>
          <a:p>
            <a:endParaRPr lang="en-US"/>
          </a:p>
        </p:txBody>
      </p:sp>
      <p:sp>
        <p:nvSpPr>
          <p:cNvPr id="7" name="Text 4"/>
          <p:cNvSpPr txBox="1"/>
          <p:nvPr/>
        </p:nvSpPr>
        <p:spPr>
          <a:xfrm>
            <a:off x="841248" y="1801368"/>
            <a:ext cx="2048256" cy="43891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TIER I</a:t>
            </a:r>
            <a:endParaRPr lang="en-US" sz="1300" dirty="0"/>
          </a:p>
        </p:txBody>
      </p:sp>
      <p:sp>
        <p:nvSpPr>
          <p:cNvPr id="8" name="Shape 5"/>
          <p:cNvSpPr/>
          <p:nvPr/>
        </p:nvSpPr>
        <p:spPr>
          <a:xfrm>
            <a:off x="3182112" y="1737360"/>
            <a:ext cx="8247888" cy="566928"/>
          </a:xfrm>
          <a:prstGeom prst="roundRect">
            <a:avLst>
              <a:gd name="adj" fmla="val 12903"/>
            </a:avLst>
          </a:prstGeom>
          <a:solidFill>
            <a:srgbClr val="FFFFFF"/>
          </a:solidFill>
          <a:ln w="12700">
            <a:solidFill>
              <a:srgbClr val="CBD5E1"/>
            </a:solidFill>
            <a:prstDash val="solid"/>
          </a:ln>
        </p:spPr>
        <p:txBody>
          <a:bodyPr/>
          <a:lstStyle/>
          <a:p>
            <a:endParaRPr lang="en-US"/>
          </a:p>
        </p:txBody>
      </p:sp>
      <p:sp>
        <p:nvSpPr>
          <p:cNvPr id="9" name="Text 6"/>
          <p:cNvSpPr txBox="1"/>
          <p:nvPr/>
        </p:nvSpPr>
        <p:spPr>
          <a:xfrm>
            <a:off x="3328416" y="1801368"/>
            <a:ext cx="7955280" cy="43891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Basic capacity</a:t>
            </a:r>
            <a:endParaRPr lang="en-US" sz="1350" dirty="0"/>
          </a:p>
        </p:txBody>
      </p:sp>
      <p:sp>
        <p:nvSpPr>
          <p:cNvPr id="10" name="Shape 7"/>
          <p:cNvSpPr/>
          <p:nvPr/>
        </p:nvSpPr>
        <p:spPr>
          <a:xfrm>
            <a:off x="749808" y="2414016"/>
            <a:ext cx="2231136" cy="566928"/>
          </a:xfrm>
          <a:prstGeom prst="roundRect">
            <a:avLst>
              <a:gd name="adj" fmla="val 12903"/>
            </a:avLst>
          </a:prstGeom>
          <a:solidFill>
            <a:srgbClr val="4F81BD"/>
          </a:solidFill>
          <a:ln w="12700">
            <a:solidFill>
              <a:srgbClr val="4F81BD"/>
            </a:solidFill>
            <a:prstDash val="solid"/>
          </a:ln>
        </p:spPr>
        <p:txBody>
          <a:bodyPr/>
          <a:lstStyle/>
          <a:p>
            <a:endParaRPr lang="en-US"/>
          </a:p>
        </p:txBody>
      </p:sp>
      <p:sp>
        <p:nvSpPr>
          <p:cNvPr id="11" name="Text 8"/>
          <p:cNvSpPr txBox="1"/>
          <p:nvPr/>
        </p:nvSpPr>
        <p:spPr>
          <a:xfrm>
            <a:off x="841248" y="2478024"/>
            <a:ext cx="2048256" cy="43891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TIER II</a:t>
            </a:r>
            <a:endParaRPr lang="en-US" sz="1300" dirty="0"/>
          </a:p>
        </p:txBody>
      </p:sp>
      <p:sp>
        <p:nvSpPr>
          <p:cNvPr id="12" name="Shape 9"/>
          <p:cNvSpPr/>
          <p:nvPr/>
        </p:nvSpPr>
        <p:spPr>
          <a:xfrm>
            <a:off x="3182112" y="2414016"/>
            <a:ext cx="8247888" cy="566928"/>
          </a:xfrm>
          <a:prstGeom prst="roundRect">
            <a:avLst>
              <a:gd name="adj" fmla="val 12903"/>
            </a:avLst>
          </a:prstGeom>
          <a:solidFill>
            <a:srgbClr val="FFFFFF"/>
          </a:solidFill>
          <a:ln w="12700">
            <a:solidFill>
              <a:srgbClr val="CBD5E1"/>
            </a:solidFill>
            <a:prstDash val="solid"/>
          </a:ln>
        </p:spPr>
        <p:txBody>
          <a:bodyPr/>
          <a:lstStyle/>
          <a:p>
            <a:endParaRPr lang="en-US"/>
          </a:p>
        </p:txBody>
      </p:sp>
      <p:sp>
        <p:nvSpPr>
          <p:cNvPr id="13" name="Text 10"/>
          <p:cNvSpPr txBox="1"/>
          <p:nvPr/>
        </p:nvSpPr>
        <p:spPr>
          <a:xfrm>
            <a:off x="3328416" y="2478024"/>
            <a:ext cx="7955280" cy="43891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Redundant capacity components</a:t>
            </a:r>
            <a:endParaRPr lang="en-US" sz="1350" dirty="0"/>
          </a:p>
        </p:txBody>
      </p:sp>
      <p:sp>
        <p:nvSpPr>
          <p:cNvPr id="14" name="Shape 11"/>
          <p:cNvSpPr/>
          <p:nvPr/>
        </p:nvSpPr>
        <p:spPr>
          <a:xfrm>
            <a:off x="749808" y="3090672"/>
            <a:ext cx="2231136" cy="566928"/>
          </a:xfrm>
          <a:prstGeom prst="roundRect">
            <a:avLst>
              <a:gd name="adj" fmla="val 12903"/>
            </a:avLst>
          </a:prstGeom>
          <a:solidFill>
            <a:srgbClr val="F79646"/>
          </a:solidFill>
          <a:ln w="12700">
            <a:solidFill>
              <a:srgbClr val="F79646"/>
            </a:solidFill>
            <a:prstDash val="solid"/>
          </a:ln>
        </p:spPr>
        <p:txBody>
          <a:bodyPr/>
          <a:lstStyle/>
          <a:p>
            <a:endParaRPr lang="en-US"/>
          </a:p>
        </p:txBody>
      </p:sp>
      <p:sp>
        <p:nvSpPr>
          <p:cNvPr id="15" name="Text 12"/>
          <p:cNvSpPr txBox="1"/>
          <p:nvPr/>
        </p:nvSpPr>
        <p:spPr>
          <a:xfrm>
            <a:off x="841248" y="3154680"/>
            <a:ext cx="2048256" cy="43891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TIER III</a:t>
            </a:r>
            <a:endParaRPr lang="en-US" sz="1300" dirty="0"/>
          </a:p>
        </p:txBody>
      </p:sp>
      <p:sp>
        <p:nvSpPr>
          <p:cNvPr id="16" name="Shape 13"/>
          <p:cNvSpPr/>
          <p:nvPr/>
        </p:nvSpPr>
        <p:spPr>
          <a:xfrm>
            <a:off x="3182112" y="3090672"/>
            <a:ext cx="8247888" cy="566928"/>
          </a:xfrm>
          <a:prstGeom prst="roundRect">
            <a:avLst>
              <a:gd name="adj" fmla="val 12903"/>
            </a:avLst>
          </a:prstGeom>
          <a:solidFill>
            <a:srgbClr val="FFFFFF"/>
          </a:solidFill>
          <a:ln w="12700">
            <a:solidFill>
              <a:srgbClr val="CBD5E1"/>
            </a:solidFill>
            <a:prstDash val="solid"/>
          </a:ln>
        </p:spPr>
        <p:txBody>
          <a:bodyPr/>
          <a:lstStyle/>
          <a:p>
            <a:endParaRPr lang="en-US"/>
          </a:p>
        </p:txBody>
      </p:sp>
      <p:sp>
        <p:nvSpPr>
          <p:cNvPr id="17" name="Text 14"/>
          <p:cNvSpPr txBox="1"/>
          <p:nvPr/>
        </p:nvSpPr>
        <p:spPr>
          <a:xfrm>
            <a:off x="3328416" y="3154680"/>
            <a:ext cx="7955280" cy="43891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Concurrently maintainable</a:t>
            </a:r>
            <a:endParaRPr lang="en-US" sz="1350" dirty="0"/>
          </a:p>
        </p:txBody>
      </p:sp>
      <p:sp>
        <p:nvSpPr>
          <p:cNvPr id="18" name="Shape 15"/>
          <p:cNvSpPr/>
          <p:nvPr/>
        </p:nvSpPr>
        <p:spPr>
          <a:xfrm>
            <a:off x="749808" y="3767328"/>
            <a:ext cx="2231136" cy="566928"/>
          </a:xfrm>
          <a:prstGeom prst="roundRect">
            <a:avLst>
              <a:gd name="adj" fmla="val 12903"/>
            </a:avLst>
          </a:prstGeom>
          <a:solidFill>
            <a:srgbClr val="8064A2"/>
          </a:solidFill>
          <a:ln w="12700">
            <a:solidFill>
              <a:srgbClr val="8064A2"/>
            </a:solidFill>
            <a:prstDash val="solid"/>
          </a:ln>
        </p:spPr>
        <p:txBody>
          <a:bodyPr/>
          <a:lstStyle/>
          <a:p>
            <a:endParaRPr lang="en-US"/>
          </a:p>
        </p:txBody>
      </p:sp>
      <p:sp>
        <p:nvSpPr>
          <p:cNvPr id="19" name="Text 16"/>
          <p:cNvSpPr txBox="1"/>
          <p:nvPr/>
        </p:nvSpPr>
        <p:spPr>
          <a:xfrm>
            <a:off x="841248" y="3831336"/>
            <a:ext cx="2048256" cy="438912"/>
          </a:xfrm>
          <a:prstGeom prst="rect">
            <a:avLst/>
          </a:prstGeom>
          <a:noFill/>
          <a:ln/>
        </p:spPr>
        <p:txBody>
          <a:bodyPr wrap="square" lIns="508" tIns="508" rIns="508" bIns="508" rtlCol="0" anchor="ctr">
            <a:normAutofit/>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TIER IV</a:t>
            </a:r>
            <a:endParaRPr lang="en-US" sz="1300" dirty="0"/>
          </a:p>
        </p:txBody>
      </p:sp>
      <p:sp>
        <p:nvSpPr>
          <p:cNvPr id="20" name="Shape 17"/>
          <p:cNvSpPr/>
          <p:nvPr/>
        </p:nvSpPr>
        <p:spPr>
          <a:xfrm>
            <a:off x="3182112" y="3767328"/>
            <a:ext cx="8247888" cy="566928"/>
          </a:xfrm>
          <a:prstGeom prst="roundRect">
            <a:avLst>
              <a:gd name="adj" fmla="val 12903"/>
            </a:avLst>
          </a:prstGeom>
          <a:solidFill>
            <a:srgbClr val="FFFFFF"/>
          </a:solidFill>
          <a:ln w="12700">
            <a:solidFill>
              <a:srgbClr val="CBD5E1"/>
            </a:solidFill>
            <a:prstDash val="solid"/>
          </a:ln>
        </p:spPr>
        <p:txBody>
          <a:bodyPr/>
          <a:lstStyle/>
          <a:p>
            <a:endParaRPr lang="en-US"/>
          </a:p>
        </p:txBody>
      </p:sp>
      <p:sp>
        <p:nvSpPr>
          <p:cNvPr id="21" name="Text 18"/>
          <p:cNvSpPr txBox="1"/>
          <p:nvPr/>
        </p:nvSpPr>
        <p:spPr>
          <a:xfrm>
            <a:off x="3328416" y="3831336"/>
            <a:ext cx="7955280" cy="438912"/>
          </a:xfrm>
          <a:prstGeom prst="rect">
            <a:avLst/>
          </a:prstGeom>
          <a:noFill/>
          <a:ln/>
        </p:spPr>
        <p:txBody>
          <a:bodyPr wrap="square" lIns="508" tIns="508" rIns="508" bIns="508" rtlCol="0" anchor="ctr">
            <a:normAutofit/>
          </a:bodyPr>
          <a:lstStyle/>
          <a:p>
            <a:pPr marL="0" indent="0" algn="l">
              <a:buNone/>
            </a:pPr>
            <a:r>
              <a:rPr lang="en-US" sz="1350" dirty="0">
                <a:solidFill>
                  <a:srgbClr val="203040"/>
                </a:solidFill>
                <a:latin typeface="Calibri" pitchFamily="34" charset="0"/>
                <a:ea typeface="Calibri" pitchFamily="34" charset="-122"/>
                <a:cs typeface="Calibri" pitchFamily="34" charset="-120"/>
              </a:rPr>
              <a:t>Fault tolerant</a:t>
            </a:r>
            <a:endParaRPr lang="en-US" sz="1350" dirty="0"/>
          </a:p>
        </p:txBody>
      </p:sp>
      <p:sp>
        <p:nvSpPr>
          <p:cNvPr id="22" name="Shape 19"/>
          <p:cNvSpPr/>
          <p:nvPr/>
        </p:nvSpPr>
        <p:spPr>
          <a:xfrm>
            <a:off x="960120" y="4736592"/>
            <a:ext cx="10195560" cy="758952"/>
          </a:xfrm>
          <a:prstGeom prst="roundRect">
            <a:avLst>
              <a:gd name="adj" fmla="val 9639"/>
            </a:avLst>
          </a:prstGeom>
          <a:solidFill>
            <a:srgbClr val="FFFFFF"/>
          </a:solidFill>
          <a:ln w="12700">
            <a:solidFill>
              <a:srgbClr val="1F497D"/>
            </a:solidFill>
            <a:prstDash val="solid"/>
          </a:ln>
        </p:spPr>
        <p:txBody>
          <a:bodyPr/>
          <a:lstStyle/>
          <a:p>
            <a:endParaRPr lang="en-US"/>
          </a:p>
        </p:txBody>
      </p:sp>
      <p:sp>
        <p:nvSpPr>
          <p:cNvPr id="23" name="Shape 20"/>
          <p:cNvSpPr/>
          <p:nvPr/>
        </p:nvSpPr>
        <p:spPr>
          <a:xfrm>
            <a:off x="960120" y="4736592"/>
            <a:ext cx="91440" cy="758952"/>
          </a:xfrm>
          <a:prstGeom prst="rect">
            <a:avLst/>
          </a:prstGeom>
          <a:solidFill>
            <a:srgbClr val="1F497D"/>
          </a:solidFill>
          <a:ln w="12700">
            <a:solidFill>
              <a:srgbClr val="1F497D"/>
            </a:solidFill>
            <a:prstDash val="solid"/>
          </a:ln>
        </p:spPr>
        <p:txBody>
          <a:bodyPr/>
          <a:lstStyle/>
          <a:p>
            <a:endParaRPr lang="en-US"/>
          </a:p>
        </p:txBody>
      </p:sp>
      <p:sp>
        <p:nvSpPr>
          <p:cNvPr id="24" name="Text 21"/>
          <p:cNvSpPr txBox="1"/>
          <p:nvPr/>
        </p:nvSpPr>
        <p:spPr>
          <a:xfrm>
            <a:off x="1188720" y="4818888"/>
            <a:ext cx="9784080" cy="219456"/>
          </a:xfrm>
          <a:prstGeom prst="rect">
            <a:avLst/>
          </a:prstGeom>
          <a:noFill/>
          <a:ln/>
        </p:spPr>
        <p:txBody>
          <a:bodyPr wrap="square" lIns="508" tIns="508" rIns="508" bIns="508" rtlCol="0" anchor="ctr">
            <a:normAutofit/>
          </a:bodyPr>
          <a:lstStyle/>
          <a:p>
            <a:pPr marL="0" indent="0" algn="l">
              <a:buNone/>
            </a:pPr>
            <a:r>
              <a:rPr lang="en-US" sz="1320" b="1" dirty="0">
                <a:solidFill>
                  <a:srgbClr val="1F497D"/>
                </a:solidFill>
                <a:latin typeface="Calibri" pitchFamily="34" charset="0"/>
                <a:ea typeface="Calibri" pitchFamily="34" charset="-122"/>
                <a:cs typeface="Calibri" pitchFamily="34" charset="-120"/>
              </a:rPr>
              <a:t>Design language</a:t>
            </a:r>
            <a:endParaRPr lang="en-US" sz="1320" dirty="0"/>
          </a:p>
        </p:txBody>
      </p:sp>
      <p:sp>
        <p:nvSpPr>
          <p:cNvPr id="25" name="Text 22"/>
          <p:cNvSpPr txBox="1"/>
          <p:nvPr/>
        </p:nvSpPr>
        <p:spPr>
          <a:xfrm>
            <a:off x="1188720" y="5084064"/>
            <a:ext cx="9784080" cy="356616"/>
          </a:xfrm>
          <a:prstGeom prst="rect">
            <a:avLst/>
          </a:prstGeom>
          <a:noFill/>
          <a:ln/>
        </p:spPr>
        <p:txBody>
          <a:bodyPr wrap="square" lIns="508" tIns="508" rIns="508" bIns="508" rtlCol="0" anchor="ctr">
            <a:normAutofit/>
          </a:bodyPr>
          <a:lstStyle/>
          <a:p>
            <a:pPr marL="0" indent="0" algn="l">
              <a:buNone/>
            </a:pPr>
            <a:r>
              <a:rPr lang="en-US" sz="1220" dirty="0">
                <a:solidFill>
                  <a:srgbClr val="203040"/>
                </a:solidFill>
                <a:latin typeface="Calibri" pitchFamily="34" charset="0"/>
                <a:ea typeface="Calibri" pitchFamily="34" charset="-122"/>
                <a:cs typeface="Calibri" pitchFamily="34" charset="-120"/>
              </a:rPr>
              <a:t>N+1 and 2N are component patterns; a Tier has no fixed availability “nines” value.</a:t>
            </a:r>
            <a:endParaRPr lang="en-US" sz="122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16</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Controls make power and cooling act together</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Monitoring, alarms, and automation turn components into an operating system.</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BMS</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Stage cooling and track environment</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EPMS</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Watch breakers, UPS, generator, and power</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DCIM</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Relate facility status to IT/rack load</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17</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Site viability precedes equipment choice</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Grid capacity and an achievable energization path limit the design envelope.</a:t>
            </a:r>
            <a:endParaRPr lang="en-US" sz="1300" dirty="0"/>
          </a:p>
        </p:txBody>
      </p:sp>
      <p:sp>
        <p:nvSpPr>
          <p:cNvPr id="6" name="Shape 3"/>
          <p:cNvSpPr/>
          <p:nvPr/>
        </p:nvSpPr>
        <p:spPr>
          <a:xfrm>
            <a:off x="658368"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58368" y="1874520"/>
            <a:ext cx="3472586"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49808"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CAPACITY</a:t>
            </a:r>
            <a:endParaRPr lang="en-US" sz="1150" dirty="0"/>
          </a:p>
        </p:txBody>
      </p:sp>
      <p:sp>
        <p:nvSpPr>
          <p:cNvPr id="9" name="Text 6"/>
          <p:cNvSpPr txBox="1"/>
          <p:nvPr/>
        </p:nvSpPr>
        <p:spPr>
          <a:xfrm>
            <a:off x="795528"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Usable utility service and margin</a:t>
            </a:r>
            <a:endParaRPr lang="en-US" sz="1400" dirty="0"/>
          </a:p>
        </p:txBody>
      </p:sp>
      <p:sp>
        <p:nvSpPr>
          <p:cNvPr id="10" name="Shape 7"/>
          <p:cNvSpPr/>
          <p:nvPr/>
        </p:nvSpPr>
        <p:spPr>
          <a:xfrm>
            <a:off x="4359554"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4359554" y="1874520"/>
            <a:ext cx="3472586"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2" name="Text 9"/>
          <p:cNvSpPr txBox="1"/>
          <p:nvPr/>
        </p:nvSpPr>
        <p:spPr>
          <a:xfrm>
            <a:off x="4450994"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TIMING</a:t>
            </a:r>
            <a:endParaRPr lang="en-US" sz="1150" dirty="0"/>
          </a:p>
        </p:txBody>
      </p:sp>
      <p:sp>
        <p:nvSpPr>
          <p:cNvPr id="13" name="Text 10"/>
          <p:cNvSpPr txBox="1"/>
          <p:nvPr/>
        </p:nvSpPr>
        <p:spPr>
          <a:xfrm>
            <a:off x="4496714"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Upgrade or connection lead time</a:t>
            </a:r>
            <a:endParaRPr lang="en-US" sz="1400" dirty="0"/>
          </a:p>
        </p:txBody>
      </p:sp>
      <p:sp>
        <p:nvSpPr>
          <p:cNvPr id="14" name="Shape 11"/>
          <p:cNvSpPr/>
          <p:nvPr/>
        </p:nvSpPr>
        <p:spPr>
          <a:xfrm>
            <a:off x="8060741" y="1874520"/>
            <a:ext cx="3472586" cy="2377440"/>
          </a:xfrm>
          <a:prstGeom prst="roundRect">
            <a:avLst>
              <a:gd name="adj" fmla="val 3077"/>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8060741" y="1874520"/>
            <a:ext cx="3472586"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6" name="Text 13"/>
          <p:cNvSpPr txBox="1"/>
          <p:nvPr/>
        </p:nvSpPr>
        <p:spPr>
          <a:xfrm>
            <a:off x="8152181" y="1929384"/>
            <a:ext cx="3289706"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GROWTH</a:t>
            </a:r>
            <a:endParaRPr lang="en-US" sz="1150" dirty="0"/>
          </a:p>
        </p:txBody>
      </p:sp>
      <p:sp>
        <p:nvSpPr>
          <p:cNvPr id="17" name="Text 14"/>
          <p:cNvSpPr txBox="1"/>
          <p:nvPr/>
        </p:nvSpPr>
        <p:spPr>
          <a:xfrm>
            <a:off x="8197901" y="2359152"/>
            <a:ext cx="3198266" cy="179222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Phased load plan</a:t>
            </a:r>
            <a:endParaRPr lang="en-US" sz="14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20040"/>
            <a:ext cx="5303520" cy="210312"/>
          </a:xfrm>
          <a:prstGeom prst="rect">
            <a:avLst/>
          </a:prstGeom>
          <a:noFill/>
          <a:ln/>
        </p:spPr>
        <p:txBody>
          <a:bodyPr wrap="square" lIns="508" tIns="508" rIns="508" bIns="508" rtlCol="0" anchor="ctr">
            <a:normAutofit/>
          </a:bodyPr>
          <a:lstStyle/>
          <a:p>
            <a:pPr marL="0" indent="0" algn="l">
              <a:buNone/>
            </a:pPr>
            <a:r>
              <a:rPr lang="en-US" sz="1050" b="1" kern="0" spc="120" dirty="0">
                <a:solidFill>
                  <a:srgbClr val="4BACC6"/>
                </a:solidFill>
                <a:latin typeface="Calibri" pitchFamily="34" charset="0"/>
                <a:ea typeface="Calibri" pitchFamily="34" charset="-122"/>
                <a:cs typeface="Calibri" pitchFamily="34" charset="-120"/>
              </a:rPr>
              <a:t>CHAPTER 18</a:t>
            </a:r>
            <a:endParaRPr lang="en-US" sz="1050" dirty="0"/>
          </a:p>
        </p:txBody>
      </p:sp>
      <p:sp>
        <p:nvSpPr>
          <p:cNvPr id="3" name="Text 1"/>
          <p:cNvSpPr txBox="1"/>
          <p:nvPr/>
        </p:nvSpPr>
        <p:spPr>
          <a:xfrm>
            <a:off x="502920" y="566928"/>
            <a:ext cx="10972800" cy="548640"/>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Integrate the power and cooling design</a:t>
            </a:r>
            <a:endParaRPr lang="en-US" sz="2700" dirty="0"/>
          </a:p>
        </p:txBody>
      </p:sp>
      <p:sp>
        <p:nvSpPr>
          <p:cNvPr id="4" name="Text 2"/>
          <p:cNvSpPr txBox="1"/>
          <p:nvPr/>
        </p:nvSpPr>
        <p:spPr>
          <a:xfrm>
            <a:off x="530352" y="1133856"/>
            <a:ext cx="10698480" cy="356616"/>
          </a:xfrm>
          <a:prstGeom prst="rect">
            <a:avLst/>
          </a:prstGeom>
          <a:noFill/>
          <a:ln/>
        </p:spPr>
        <p:txBody>
          <a:bodyPr wrap="square" lIns="508" tIns="508" rIns="508" bIns="508" rtlCol="0" anchor="ctr">
            <a:normAutofit/>
          </a:bodyPr>
          <a:lstStyle/>
          <a:p>
            <a:pPr marL="0" indent="0" algn="l">
              <a:buNone/>
            </a:pPr>
            <a:r>
              <a:rPr lang="en-US" sz="1300" dirty="0">
                <a:solidFill>
                  <a:srgbClr val="64748B"/>
                </a:solidFill>
                <a:latin typeface="Calibri" pitchFamily="34" charset="0"/>
                <a:ea typeface="Calibri" pitchFamily="34" charset="-122"/>
                <a:cs typeface="Calibri" pitchFamily="34" charset="-120"/>
              </a:rPr>
              <a:t>One load figure must agree across UPS, distribution, generator, cooling, and site service.</a:t>
            </a:r>
            <a:endParaRPr lang="en-US" sz="1300" dirty="0"/>
          </a:p>
        </p:txBody>
      </p:sp>
      <p:sp>
        <p:nvSpPr>
          <p:cNvPr id="6" name="Shape 3"/>
          <p:cNvSpPr/>
          <p:nvPr/>
        </p:nvSpPr>
        <p:spPr>
          <a:xfrm>
            <a:off x="640080" y="1965960"/>
            <a:ext cx="1779971" cy="1874520"/>
          </a:xfrm>
          <a:prstGeom prst="roundRect">
            <a:avLst>
              <a:gd name="adj" fmla="val 4110"/>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640080" y="1965960"/>
            <a:ext cx="1779971" cy="329184"/>
          </a:xfrm>
          <a:prstGeom prst="roundRect">
            <a:avLst>
              <a:gd name="adj" fmla="val 22222"/>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31520" y="2020824"/>
            <a:ext cx="1597091"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IT LOAD</a:t>
            </a:r>
            <a:endParaRPr lang="en-US" sz="1150" dirty="0"/>
          </a:p>
        </p:txBody>
      </p:sp>
      <p:sp>
        <p:nvSpPr>
          <p:cNvPr id="9" name="Text 6"/>
          <p:cNvSpPr txBox="1"/>
          <p:nvPr/>
        </p:nvSpPr>
        <p:spPr>
          <a:xfrm>
            <a:off x="777240" y="2450592"/>
            <a:ext cx="1505651"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Rack schedule</a:t>
            </a:r>
            <a:endParaRPr lang="en-US" sz="1400" dirty="0"/>
          </a:p>
        </p:txBody>
      </p:sp>
      <p:sp>
        <p:nvSpPr>
          <p:cNvPr id="10" name="Shape 7"/>
          <p:cNvSpPr/>
          <p:nvPr/>
        </p:nvSpPr>
        <p:spPr>
          <a:xfrm>
            <a:off x="2474915" y="2903220"/>
            <a:ext cx="393192" cy="0"/>
          </a:xfrm>
          <a:prstGeom prst="line">
            <a:avLst/>
          </a:prstGeom>
          <a:noFill/>
          <a:ln w="25400">
            <a:solidFill>
              <a:srgbClr val="94A3B8"/>
            </a:solidFill>
            <a:prstDash val="solid"/>
            <a:tailEnd type="triangle"/>
          </a:ln>
        </p:spPr>
        <p:txBody>
          <a:bodyPr/>
          <a:lstStyle/>
          <a:p>
            <a:endParaRPr lang="en-US"/>
          </a:p>
        </p:txBody>
      </p:sp>
      <p:sp>
        <p:nvSpPr>
          <p:cNvPr id="11" name="Shape 8"/>
          <p:cNvSpPr/>
          <p:nvPr/>
        </p:nvSpPr>
        <p:spPr>
          <a:xfrm>
            <a:off x="2922971" y="1965960"/>
            <a:ext cx="1779971" cy="1874520"/>
          </a:xfrm>
          <a:prstGeom prst="roundRect">
            <a:avLst>
              <a:gd name="adj" fmla="val 4110"/>
            </a:avLst>
          </a:prstGeom>
          <a:solidFill>
            <a:srgbClr val="FFFFFF"/>
          </a:solidFill>
          <a:ln w="12700">
            <a:solidFill>
              <a:srgbClr val="CBD5E1"/>
            </a:solidFill>
            <a:prstDash val="solid"/>
          </a:ln>
        </p:spPr>
        <p:txBody>
          <a:bodyPr/>
          <a:lstStyle/>
          <a:p>
            <a:endParaRPr lang="en-US"/>
          </a:p>
        </p:txBody>
      </p:sp>
      <p:sp>
        <p:nvSpPr>
          <p:cNvPr id="12" name="Shape 9"/>
          <p:cNvSpPr/>
          <p:nvPr/>
        </p:nvSpPr>
        <p:spPr>
          <a:xfrm>
            <a:off x="2922971" y="1965960"/>
            <a:ext cx="1779971" cy="329184"/>
          </a:xfrm>
          <a:prstGeom prst="roundRect">
            <a:avLst>
              <a:gd name="adj" fmla="val 22222"/>
            </a:avLst>
          </a:prstGeom>
          <a:solidFill>
            <a:srgbClr val="4F81BD"/>
          </a:solidFill>
          <a:ln w="12700">
            <a:solidFill>
              <a:srgbClr val="4F81BD"/>
            </a:solidFill>
            <a:prstDash val="solid"/>
          </a:ln>
        </p:spPr>
        <p:txBody>
          <a:bodyPr/>
          <a:lstStyle/>
          <a:p>
            <a:endParaRPr lang="en-US"/>
          </a:p>
        </p:txBody>
      </p:sp>
      <p:sp>
        <p:nvSpPr>
          <p:cNvPr id="13" name="Text 10"/>
          <p:cNvSpPr txBox="1"/>
          <p:nvPr/>
        </p:nvSpPr>
        <p:spPr>
          <a:xfrm>
            <a:off x="3014411" y="2020824"/>
            <a:ext cx="1597091"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POWER</a:t>
            </a:r>
            <a:endParaRPr lang="en-US" sz="1150" dirty="0"/>
          </a:p>
        </p:txBody>
      </p:sp>
      <p:sp>
        <p:nvSpPr>
          <p:cNvPr id="14" name="Text 11"/>
          <p:cNvSpPr txBox="1"/>
          <p:nvPr/>
        </p:nvSpPr>
        <p:spPr>
          <a:xfrm>
            <a:off x="3060131" y="2450592"/>
            <a:ext cx="1505651"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A/B + generator</a:t>
            </a:r>
            <a:endParaRPr lang="en-US" sz="1400" dirty="0"/>
          </a:p>
        </p:txBody>
      </p:sp>
      <p:sp>
        <p:nvSpPr>
          <p:cNvPr id="15" name="Shape 12"/>
          <p:cNvSpPr/>
          <p:nvPr/>
        </p:nvSpPr>
        <p:spPr>
          <a:xfrm>
            <a:off x="4757806" y="2903220"/>
            <a:ext cx="393192" cy="0"/>
          </a:xfrm>
          <a:prstGeom prst="line">
            <a:avLst/>
          </a:prstGeom>
          <a:noFill/>
          <a:ln w="25400">
            <a:solidFill>
              <a:srgbClr val="94A3B8"/>
            </a:solidFill>
            <a:prstDash val="solid"/>
            <a:tailEnd type="triangle"/>
          </a:ln>
        </p:spPr>
        <p:txBody>
          <a:bodyPr/>
          <a:lstStyle/>
          <a:p>
            <a:endParaRPr lang="en-US"/>
          </a:p>
        </p:txBody>
      </p:sp>
      <p:sp>
        <p:nvSpPr>
          <p:cNvPr id="16" name="Shape 13"/>
          <p:cNvSpPr/>
          <p:nvPr/>
        </p:nvSpPr>
        <p:spPr>
          <a:xfrm>
            <a:off x="5205862" y="1965960"/>
            <a:ext cx="1779971" cy="1874520"/>
          </a:xfrm>
          <a:prstGeom prst="roundRect">
            <a:avLst>
              <a:gd name="adj" fmla="val 4110"/>
            </a:avLst>
          </a:prstGeom>
          <a:solidFill>
            <a:srgbClr val="FFFFFF"/>
          </a:solidFill>
          <a:ln w="12700">
            <a:solidFill>
              <a:srgbClr val="CBD5E1"/>
            </a:solidFill>
            <a:prstDash val="solid"/>
          </a:ln>
        </p:spPr>
        <p:txBody>
          <a:bodyPr/>
          <a:lstStyle/>
          <a:p>
            <a:endParaRPr lang="en-US"/>
          </a:p>
        </p:txBody>
      </p:sp>
      <p:sp>
        <p:nvSpPr>
          <p:cNvPr id="17" name="Shape 14"/>
          <p:cNvSpPr/>
          <p:nvPr/>
        </p:nvSpPr>
        <p:spPr>
          <a:xfrm>
            <a:off x="5205862" y="1965960"/>
            <a:ext cx="1779971" cy="329184"/>
          </a:xfrm>
          <a:prstGeom prst="roundRect">
            <a:avLst>
              <a:gd name="adj" fmla="val 22222"/>
            </a:avLst>
          </a:prstGeom>
          <a:solidFill>
            <a:srgbClr val="F79646"/>
          </a:solidFill>
          <a:ln w="12700">
            <a:solidFill>
              <a:srgbClr val="F79646"/>
            </a:solidFill>
            <a:prstDash val="solid"/>
          </a:ln>
        </p:spPr>
        <p:txBody>
          <a:bodyPr/>
          <a:lstStyle/>
          <a:p>
            <a:endParaRPr lang="en-US"/>
          </a:p>
        </p:txBody>
      </p:sp>
      <p:sp>
        <p:nvSpPr>
          <p:cNvPr id="18" name="Text 15"/>
          <p:cNvSpPr txBox="1"/>
          <p:nvPr/>
        </p:nvSpPr>
        <p:spPr>
          <a:xfrm>
            <a:off x="5297302" y="2020824"/>
            <a:ext cx="1597091"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COOLING</a:t>
            </a:r>
            <a:endParaRPr lang="en-US" sz="1150" dirty="0"/>
          </a:p>
        </p:txBody>
      </p:sp>
      <p:sp>
        <p:nvSpPr>
          <p:cNvPr id="19" name="Text 16"/>
          <p:cNvSpPr txBox="1"/>
          <p:nvPr/>
        </p:nvSpPr>
        <p:spPr>
          <a:xfrm>
            <a:off x="5343022" y="2450592"/>
            <a:ext cx="1505651"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One-unit-down heat path</a:t>
            </a:r>
            <a:endParaRPr lang="en-US" sz="1400" dirty="0"/>
          </a:p>
        </p:txBody>
      </p:sp>
      <p:sp>
        <p:nvSpPr>
          <p:cNvPr id="20" name="Shape 17"/>
          <p:cNvSpPr/>
          <p:nvPr/>
        </p:nvSpPr>
        <p:spPr>
          <a:xfrm>
            <a:off x="7040697" y="2903220"/>
            <a:ext cx="393192" cy="0"/>
          </a:xfrm>
          <a:prstGeom prst="line">
            <a:avLst/>
          </a:prstGeom>
          <a:noFill/>
          <a:ln w="25400">
            <a:solidFill>
              <a:srgbClr val="94A3B8"/>
            </a:solidFill>
            <a:prstDash val="solid"/>
            <a:tailEnd type="triangle"/>
          </a:ln>
        </p:spPr>
        <p:txBody>
          <a:bodyPr/>
          <a:lstStyle/>
          <a:p>
            <a:endParaRPr lang="en-US"/>
          </a:p>
        </p:txBody>
      </p:sp>
      <p:sp>
        <p:nvSpPr>
          <p:cNvPr id="21" name="Shape 18"/>
          <p:cNvSpPr/>
          <p:nvPr/>
        </p:nvSpPr>
        <p:spPr>
          <a:xfrm>
            <a:off x="7488753" y="1965960"/>
            <a:ext cx="1779971" cy="1874520"/>
          </a:xfrm>
          <a:prstGeom prst="roundRect">
            <a:avLst>
              <a:gd name="adj" fmla="val 4110"/>
            </a:avLst>
          </a:prstGeom>
          <a:solidFill>
            <a:srgbClr val="FFFFFF"/>
          </a:solidFill>
          <a:ln w="12700">
            <a:solidFill>
              <a:srgbClr val="CBD5E1"/>
            </a:solidFill>
            <a:prstDash val="solid"/>
          </a:ln>
        </p:spPr>
        <p:txBody>
          <a:bodyPr/>
          <a:lstStyle/>
          <a:p>
            <a:endParaRPr lang="en-US"/>
          </a:p>
        </p:txBody>
      </p:sp>
      <p:sp>
        <p:nvSpPr>
          <p:cNvPr id="22" name="Shape 19"/>
          <p:cNvSpPr/>
          <p:nvPr/>
        </p:nvSpPr>
        <p:spPr>
          <a:xfrm>
            <a:off x="7488753" y="1965960"/>
            <a:ext cx="1779971" cy="329184"/>
          </a:xfrm>
          <a:prstGeom prst="roundRect">
            <a:avLst>
              <a:gd name="adj" fmla="val 22222"/>
            </a:avLst>
          </a:prstGeom>
          <a:solidFill>
            <a:srgbClr val="8064A2"/>
          </a:solidFill>
          <a:ln w="12700">
            <a:solidFill>
              <a:srgbClr val="8064A2"/>
            </a:solidFill>
            <a:prstDash val="solid"/>
          </a:ln>
        </p:spPr>
        <p:txBody>
          <a:bodyPr/>
          <a:lstStyle/>
          <a:p>
            <a:endParaRPr lang="en-US"/>
          </a:p>
        </p:txBody>
      </p:sp>
      <p:sp>
        <p:nvSpPr>
          <p:cNvPr id="23" name="Text 20"/>
          <p:cNvSpPr txBox="1"/>
          <p:nvPr/>
        </p:nvSpPr>
        <p:spPr>
          <a:xfrm>
            <a:off x="7580193" y="2020824"/>
            <a:ext cx="1597091"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CONTROL</a:t>
            </a:r>
            <a:endParaRPr lang="en-US" sz="1150" dirty="0"/>
          </a:p>
        </p:txBody>
      </p:sp>
      <p:sp>
        <p:nvSpPr>
          <p:cNvPr id="24" name="Text 21"/>
          <p:cNvSpPr txBox="1"/>
          <p:nvPr/>
        </p:nvSpPr>
        <p:spPr>
          <a:xfrm>
            <a:off x="7625913" y="2450592"/>
            <a:ext cx="1505651"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Alarm and transfer rules</a:t>
            </a:r>
            <a:endParaRPr lang="en-US" sz="1400" dirty="0"/>
          </a:p>
        </p:txBody>
      </p:sp>
      <p:sp>
        <p:nvSpPr>
          <p:cNvPr id="25" name="Shape 22"/>
          <p:cNvSpPr/>
          <p:nvPr/>
        </p:nvSpPr>
        <p:spPr>
          <a:xfrm>
            <a:off x="9323588" y="2903220"/>
            <a:ext cx="393192" cy="0"/>
          </a:xfrm>
          <a:prstGeom prst="line">
            <a:avLst/>
          </a:prstGeom>
          <a:noFill/>
          <a:ln w="25400">
            <a:solidFill>
              <a:srgbClr val="94A3B8"/>
            </a:solidFill>
            <a:prstDash val="solid"/>
            <a:tailEnd type="triangle"/>
          </a:ln>
        </p:spPr>
        <p:txBody>
          <a:bodyPr/>
          <a:lstStyle/>
          <a:p>
            <a:endParaRPr lang="en-US"/>
          </a:p>
        </p:txBody>
      </p:sp>
      <p:sp>
        <p:nvSpPr>
          <p:cNvPr id="26" name="Shape 23"/>
          <p:cNvSpPr/>
          <p:nvPr/>
        </p:nvSpPr>
        <p:spPr>
          <a:xfrm>
            <a:off x="9771644" y="1965960"/>
            <a:ext cx="1779971" cy="1874520"/>
          </a:xfrm>
          <a:prstGeom prst="roundRect">
            <a:avLst>
              <a:gd name="adj" fmla="val 4110"/>
            </a:avLst>
          </a:prstGeom>
          <a:solidFill>
            <a:srgbClr val="FFFFFF"/>
          </a:solidFill>
          <a:ln w="12700">
            <a:solidFill>
              <a:srgbClr val="CBD5E1"/>
            </a:solidFill>
            <a:prstDash val="solid"/>
          </a:ln>
        </p:spPr>
        <p:txBody>
          <a:bodyPr/>
          <a:lstStyle/>
          <a:p>
            <a:endParaRPr lang="en-US"/>
          </a:p>
        </p:txBody>
      </p:sp>
      <p:sp>
        <p:nvSpPr>
          <p:cNvPr id="27" name="Shape 24"/>
          <p:cNvSpPr/>
          <p:nvPr/>
        </p:nvSpPr>
        <p:spPr>
          <a:xfrm>
            <a:off x="9771644" y="1965960"/>
            <a:ext cx="1779971" cy="329184"/>
          </a:xfrm>
          <a:prstGeom prst="roundRect">
            <a:avLst>
              <a:gd name="adj" fmla="val 22222"/>
            </a:avLst>
          </a:prstGeom>
          <a:solidFill>
            <a:srgbClr val="70AD47"/>
          </a:solidFill>
          <a:ln w="12700">
            <a:solidFill>
              <a:srgbClr val="70AD47"/>
            </a:solidFill>
            <a:prstDash val="solid"/>
          </a:ln>
        </p:spPr>
        <p:txBody>
          <a:bodyPr/>
          <a:lstStyle/>
          <a:p>
            <a:endParaRPr lang="en-US"/>
          </a:p>
        </p:txBody>
      </p:sp>
      <p:sp>
        <p:nvSpPr>
          <p:cNvPr id="28" name="Text 25"/>
          <p:cNvSpPr txBox="1"/>
          <p:nvPr/>
        </p:nvSpPr>
        <p:spPr>
          <a:xfrm>
            <a:off x="9863084" y="2020824"/>
            <a:ext cx="1597091" cy="210312"/>
          </a:xfrm>
          <a:prstGeom prst="rect">
            <a:avLst/>
          </a:prstGeom>
          <a:noFill/>
          <a:ln/>
        </p:spPr>
        <p:txBody>
          <a:bodyPr wrap="square" lIns="508" tIns="508" rIns="508" bIns="508" rtlCol="0" anchor="ctr">
            <a:normAutofit/>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SITE</a:t>
            </a:r>
            <a:endParaRPr lang="en-US" sz="1150" dirty="0"/>
          </a:p>
        </p:txBody>
      </p:sp>
      <p:sp>
        <p:nvSpPr>
          <p:cNvPr id="29" name="Text 26"/>
          <p:cNvSpPr txBox="1"/>
          <p:nvPr/>
        </p:nvSpPr>
        <p:spPr>
          <a:xfrm>
            <a:off x="9908804" y="2450592"/>
            <a:ext cx="1505651" cy="1289304"/>
          </a:xfrm>
          <a:prstGeom prst="rect">
            <a:avLst/>
          </a:prstGeom>
          <a:noFill/>
          <a:ln/>
        </p:spPr>
        <p:txBody>
          <a:bodyPr wrap="square" lIns="508" tIns="508" rIns="508" bIns="508" rtlCol="0" anchor="ctr">
            <a:normAutofit/>
          </a:bodyPr>
          <a:lstStyle/>
          <a:p>
            <a:pPr marL="0" indent="0" algn="ctr">
              <a:buNone/>
            </a:pPr>
            <a:r>
              <a:rPr lang="en-US" sz="1400" dirty="0">
                <a:solidFill>
                  <a:srgbClr val="203040"/>
                </a:solidFill>
                <a:latin typeface="Calibri" pitchFamily="34" charset="0"/>
                <a:ea typeface="Calibri" pitchFamily="34" charset="-122"/>
                <a:cs typeface="Calibri" pitchFamily="34" charset="-120"/>
              </a:rPr>
              <a:t>Capacity and residual risk</a:t>
            </a:r>
            <a:endParaRPr lang="en-US" sz="140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660</TotalTime>
  <Words>1497</Words>
  <Application>Microsoft Office PowerPoint</Application>
  <PresentationFormat>Widescreen</PresentationFormat>
  <Paragraphs>298</Paragraphs>
  <Slides>24</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CYBER 444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444 - Week 8 Final Projects and Data Center Design</dc:title>
  <dc:subject>Final Projects and Data Center Design</dc:subject>
  <dc:creator>CYBER 444</dc:creator>
  <cp:lastModifiedBy>Sebastian Hayes</cp:lastModifiedBy>
  <cp:revision>19</cp:revision>
  <dcterms:created xsi:type="dcterms:W3CDTF">2026-10-20T05:32:10Z</dcterms:created>
  <dcterms:modified xsi:type="dcterms:W3CDTF">2026-10-22T22:54:05Z</dcterms:modified>
</cp:coreProperties>
</file>