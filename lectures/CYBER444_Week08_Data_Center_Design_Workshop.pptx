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final projects first, retaining the published end-of-Week-9 proposal deadline. Then introduce the fictional two-rack facility for board calculations and cover the 18 chapters of the Keentel Engineering guide. Instructor-led activities are done on the board rather than on separate slides.
Citations:
- /opt/byu-cyber-444.github.io/final-project-cyber/index.md
- /opt/byu-cyber-444.github.io/final-project-it/index.md
- Keentel Engineering, Data Center Design Guide, https://keentelengineering.com/data-center-design-guide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project here in Week 8. Both tracks allow individual or pair work with the same scope. The passing proposal is required. Final documentation and a recorded presentation/demo of 10 minutes or less are due December 10 at 11:59 PM in Learning Suite, each worth 5% of the course grade. No graded checkpoints occur between proposal and final submission. Project assistance restrictions are stated on both track overviews.
Citations:
- /opt/byu-cyber-444.github.io/final-project-cyber/index.md
- /opt/byu-cyber-444.github.io/final-project-it/index.md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identify which option best uses the skills and infrastructure they already have. The Cyber overview lists all six options. Every Cyber project includes at least one Linux system and one Windows Server system doing real work; both appear in automation, diagram, documentation, and demo.
Citations:
- /opt/byu-cyber-444.github.io/final-project-cyber/index.md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students to compare operational value, resource load, and evidence burden. The IT overview says these projects can run in the student’s own Proxmox lab; no cloud account is required. Most options use Valley Medical Group as the scenario organization.
Citations:
- /opt/byu-cyber-444.github.io/final-project-it/index.md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proposal pages require all five sections and specific answers. Week 13 is Thanksgiving break with no deliverable. The Cyber proposal additionally requires at least one Linux and one Windows Server system and the Windows role. A failed proposal must be revised and passed before project credit can be received. Do not imply the Week 8 launch changes the deadline.
Citations:
- /opt/byu-cyber-444.github.io/final-project-cyber/proposal.md
- /opt/byu-cyber-444.github.io/final-project-it/proposal.md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measured IT load is 7.3 kW: four compute servers 4.0, shared storage 1.5, switches 0.5 each, and A-only backup NAS 0.8. Utility service has 25 kW usable capacity. Generator is 15 kW. UPS A and B are each 9 kW output, and PDUs A and B each support 8 kW. Two CRACs each draw 4 kW and can remove up to 8 kW of IT heat. Other facility loads are 0.7 kW. Ask students to draw both the electrical and heat paths. Core service is compute plus shared storage plus at least one switch. The NAS is noncritical. The growth target gives 9.3 kW IT load. Use values as exercise assumptions, not equipment specifications.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frames a data center as an energy-conversion building. Nearly all server electrical draw becomes heat. Introduce the single fictional site that students will refine across all 18 activities. Ask students to track IT load and cooling electrical load separately.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organizes design around uninterrupted power, heat removal, and operation through maintenance or failure. Distinguish the service to protect from every noncritical device in the room.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contrasts continuous data center loads with occupancy-driven office loads. Bring in the Week 8 course schedule for physical security and maintenance considerations without attributing those topics to the guide.
Citations:
- Keentel Engineering, Data Center Design Guide, https://keentelengineering.com/data-center-design-guide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follows grid power through the substation to service entrance switchgear. For this small teaching site, use the stated 25 kW usable utility capacity rather than large-campus voltage examples. A connection is a feasibility question, not a guaranteed commodity.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maps the distribution chain. The small exercise omits medium-voltage campus stages but retains the same logic. Label utility/generator and cooling as separate branches; do not draw two independent power paths where the common ATS still exists.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describes double-conversion, line-interactive alternatives, and battery choices. For the exercise, both UPS units have 9 kW output capacity. Runtime is unspecified: students must request a vendor discharge curve for their design rather than assuming capacity equals runtime.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describes the automatic sequence from utility failure to UPS battery, generator start, transfer, and restoration. The exercise generator is 15 kW. Do not promise successful transfer without the battery runtime, startup time, and protection study.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lists load flow, short-circuit, protective-device coordination, and arc-flash studies. Students are not licensed to perform these studies from the classroom diagram; they should identify where specialist engineering evidence is needed.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9 covers IT heat conversion, rack blanks, raised-floor delivery, and hot/cold mixing. Explain 1 kW ≈ 3,412 BTU/h as a unit conversion, not a cooling equipment efficiency claim. The exercise racks should be labeled by load and airflow direction.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10 compares cold-aisle and hot-aisle containment. The source presents hot-aisle containment as stronger for high-density builds, while cold-aisle can be simpler to retrofit. For a small two-rack site, design justification matters more than asserting one universal best choice.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11 distinguishes CRAC and CRAH and deployment scales. The exercise has two existing CRACs, each removing at most 8 kW IT heat while drawing 4 kW electric. Distinguish heat-removal capacity from electrical consumption.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12 explains the chilled-water loop and layered plant redundancy. Present it as an option for scale, not a requirement for the small exercise. A self-contained CRAC path remains a valid design choice.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13 distinguishes ultimate heat-rejection medium from what circulates inside the building. Avoid claiming an economizer will always save a fixed percentage; climate and control sequence matter. Discuss PUE as a measured ratio of facility to IT power.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14 introduces liquid cooling for dense AI/GPU systems. For this 9.3 kW total small room, students may reject it as unnecessary. Do not generalize a universal kW threshold from the article; rack density, equipment support, and heat route govern.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15 discusses N, N+1, 2N, and tiers. Use Uptime Institute primary descriptions for formal Tier claims and avoid the source article’s simplified fixed-nines association. This classroom diagram cannot claim certification. Power and cooling must meet the same stated failure requirement.
Citations:
- Keentel Engineering, Data Center Design Guide, https://keentelengineering.com/data-center-design-guide
- Uptime Institute Tier Certification, https://uptimeinstitute.com/tier-certification/
- Uptime Institute, 99 Red Flags, https://journal.uptimeinstitute.com/99-red-flags/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16 covers BMS, power monitoring, and DCIM integration. The Week 8 schedule also requires environmental monitoring and out-of-band hardware management. Keep OOB on a dedicated management network with controlled identity; do not place it on the production application VLAN.
Citations:
- Keentel Engineering, Data Center Design Guide, https://keentelengineering.com/data-center-design-guide
- /opt/byu-cyber-444.github.io/schedule/week-08.md
- /opt/byu-cyber-444.github.io/labs/copies/it-lab-08.md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17 focuses on large-load interconnection. Adapt its principle to this small site: confirm the existing 25 kW usable service and future operating draw, not a transmission queue. Keep large-campus process as context in notes rather than a task for students to perform.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18 closes with integrated design. The student deliverable should reconcile one set of future IT numbers across electrical and mechanical sheets, identify assumptions, and state the exact failure boundary rather than claiming an unsupported Tier.
Citations:
- Keentel Engineering, Data Center Design Guide, https://keentelengineering.com/data-center-design-guide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_W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sp>
      <p:sp>
        <p:nvSpPr>
          <p:cNvPr id="3" name="Text 1"/>
          <p:cNvSpPr/>
          <p:nvPr/>
        </p:nvSpPr>
        <p:spPr>
          <a:xfrm>
            <a:off x="411480" y="65653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CYBER 444  ·  ASSESS / DESIGN / VERIFY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97D"/>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gd name="adj" fmla="val 53333"/>
            </a:avLst>
          </a:prstGeom>
          <a:solidFill>
            <a:srgbClr val="4BACC6"/>
          </a:solidFill>
          <a:ln w="12700">
            <a:solidFill>
              <a:srgbClr val="4BACC6"/>
            </a:solidFill>
            <a:prstDash val="solid"/>
          </a:ln>
        </p:spPr>
      </p:sp>
      <p:sp>
        <p:nvSpPr>
          <p:cNvPr id="3" name="Text 1"/>
          <p:cNvSpPr txBox="1"/>
          <p:nvPr/>
        </p:nvSpPr>
        <p:spPr>
          <a:xfrm>
            <a:off x="621792" y="566928"/>
            <a:ext cx="6309360" cy="256032"/>
          </a:xfrm>
          <a:prstGeom prst="rect">
            <a:avLst/>
          </a:prstGeom>
          <a:noFill/>
          <a:ln/>
        </p:spPr>
        <p:txBody>
          <a:bodyPr wrap="square" lIns="508" tIns="508" rIns="508" bIns="508" rtlCol="0" anchor="ctr">
            <a:normAutofit/>
          </a:bodyPr>
          <a:lstStyle/>
          <a:p>
            <a:pPr algn="l" indent="0" marL="0">
              <a:buNone/>
            </a:pPr>
            <a:r>
              <a:rPr lang="en-US" sz="1400" b="1" spc="200" kern="0" dirty="0">
                <a:solidFill>
                  <a:srgbClr val="BFE4EE"/>
                </a:solidFill>
                <a:latin typeface="Calibri" pitchFamily="34" charset="0"/>
                <a:ea typeface="Calibri" pitchFamily="34" charset="-122"/>
                <a:cs typeface="Calibri" pitchFamily="34" charset="-120"/>
              </a:rPr>
              <a:t>WEEK 8  ·  PROJECTS + DESIGN</a:t>
            </a:r>
            <a:endParaRPr lang="en-US" sz="1400" dirty="0"/>
          </a:p>
        </p:txBody>
      </p:sp>
      <p:sp>
        <p:nvSpPr>
          <p:cNvPr id="4" name="Text 2"/>
          <p:cNvSpPr txBox="1"/>
          <p:nvPr/>
        </p:nvSpPr>
        <p:spPr>
          <a:xfrm>
            <a:off x="621792" y="1197864"/>
            <a:ext cx="10698480" cy="841248"/>
          </a:xfrm>
          <a:prstGeom prst="rect">
            <a:avLst/>
          </a:prstGeom>
          <a:noFill/>
          <a:ln/>
        </p:spPr>
        <p:txBody>
          <a:bodyPr wrap="square" lIns="508" tIns="508" rIns="508" bIns="508" rtlCol="0" anchor="ctr">
            <a:normAutofit/>
          </a:bodyPr>
          <a:lstStyle/>
          <a:p>
            <a:pPr algn="l" indent="0" marL="0">
              <a:buNone/>
            </a:pPr>
            <a:r>
              <a:rPr lang="en-US" sz="3400" b="1" dirty="0">
                <a:solidFill>
                  <a:srgbClr val="FFFFFF"/>
                </a:solidFill>
                <a:latin typeface="Calibri" pitchFamily="34" charset="0"/>
                <a:ea typeface="Calibri" pitchFamily="34" charset="-122"/>
                <a:cs typeface="Calibri" pitchFamily="34" charset="-120"/>
              </a:rPr>
              <a:t>Final Projects &amp; Data Center Design</a:t>
            </a:r>
            <a:endParaRPr lang="en-US" sz="3400" dirty="0"/>
          </a:p>
        </p:txBody>
      </p:sp>
      <p:sp>
        <p:nvSpPr>
          <p:cNvPr id="5" name="Text 3"/>
          <p:cNvSpPr txBox="1"/>
          <p:nvPr/>
        </p:nvSpPr>
        <p:spPr>
          <a:xfrm>
            <a:off x="658368" y="2386584"/>
            <a:ext cx="10424160" cy="420624"/>
          </a:xfrm>
          <a:prstGeom prst="rect">
            <a:avLst/>
          </a:prstGeom>
          <a:noFill/>
          <a:ln/>
        </p:spPr>
        <p:txBody>
          <a:bodyPr wrap="square" lIns="508" tIns="508" rIns="508" bIns="508" rtlCol="0" anchor="ctr">
            <a:normAutofit/>
          </a:bodyPr>
          <a:lstStyle/>
          <a:p>
            <a:pPr algn="l" indent="0" marL="0">
              <a:buNone/>
            </a:pPr>
            <a:r>
              <a:rPr lang="en-US" sz="1800" dirty="0">
                <a:solidFill>
                  <a:srgbClr val="DCEAF5"/>
                </a:solidFill>
                <a:latin typeface="Calibri" pitchFamily="34" charset="0"/>
                <a:ea typeface="Calibri" pitchFamily="34" charset="-122"/>
                <a:cs typeface="Calibri" pitchFamily="34" charset="-120"/>
              </a:rPr>
              <a:t>Choose a capstone  ·  analyze one small facility together</a:t>
            </a:r>
            <a:endParaRPr lang="en-US" sz="1800" dirty="0"/>
          </a:p>
        </p:txBody>
      </p:sp>
      <p:sp>
        <p:nvSpPr>
          <p:cNvPr id="6" name="Shape 4"/>
          <p:cNvSpPr/>
          <p:nvPr/>
        </p:nvSpPr>
        <p:spPr>
          <a:xfrm>
            <a:off x="658368" y="3081528"/>
            <a:ext cx="3776472" cy="0"/>
          </a:xfrm>
          <a:prstGeom prst="line">
            <a:avLst/>
          </a:prstGeom>
          <a:noFill/>
          <a:ln w="38100">
            <a:solidFill>
              <a:srgbClr val="4BACC6"/>
            </a:solidFill>
            <a:prstDash val="solid"/>
            <a:tailEnd type="none"/>
          </a:ln>
        </p:spPr>
      </p:sp>
      <p:sp>
        <p:nvSpPr>
          <p:cNvPr id="7" name="Text 5"/>
          <p:cNvSpPr txBox="1"/>
          <p:nvPr/>
        </p:nvSpPr>
        <p:spPr>
          <a:xfrm>
            <a:off x="658368" y="5349240"/>
            <a:ext cx="5943600" cy="256032"/>
          </a:xfrm>
          <a:prstGeom prst="rect">
            <a:avLst/>
          </a:prstGeom>
          <a:noFill/>
          <a:ln/>
        </p:spPr>
        <p:txBody>
          <a:bodyPr wrap="square" lIns="508" tIns="508" rIns="508" bIns="508" rtlCol="0" anchor="ctr">
            <a:normAutofit/>
          </a:bodyPr>
          <a:lstStyle/>
          <a:p>
            <a:pPr algn="l" indent="0" marL="0">
              <a:buNone/>
            </a:pPr>
            <a:r>
              <a:rPr lang="en-US" sz="1300" dirty="0">
                <a:solidFill>
                  <a:srgbClr val="DCEAF5"/>
                </a:solidFill>
                <a:latin typeface="Calibri" pitchFamily="34" charset="0"/>
                <a:ea typeface="Calibri" pitchFamily="34" charset="-122"/>
                <a:cs typeface="Calibri" pitchFamily="34" charset="-120"/>
              </a:rPr>
              <a:t>CYBER 444  ·  Systems &amp; Network Administration</a:t>
            </a:r>
            <a:endParaRPr lang="en-US" sz="1300" dirty="0"/>
          </a:p>
        </p:txBody>
      </p:sp>
      <p:sp>
        <p:nvSpPr>
          <p:cNvPr id="8" name="Text 6"/>
          <p:cNvSpPr txBox="1"/>
          <p:nvPr/>
        </p:nvSpPr>
        <p:spPr>
          <a:xfrm>
            <a:off x="658368" y="5669280"/>
            <a:ext cx="4572000" cy="228600"/>
          </a:xfrm>
          <a:prstGeom prst="rect">
            <a:avLst/>
          </a:prstGeom>
          <a:noFill/>
          <a:ln/>
        </p:spPr>
        <p:txBody>
          <a:bodyPr wrap="square" lIns="508" tIns="508" rIns="508" bIns="508" rtlCol="0" anchor="ctr">
            <a:normAutofit/>
          </a:bodyPr>
          <a:lstStyle/>
          <a:p>
            <a:pPr algn="l" indent="0" marL="0">
              <a:buNone/>
            </a:pPr>
            <a:r>
              <a:rPr lang="en-US" sz="1200" dirty="0">
                <a:solidFill>
                  <a:srgbClr val="BFE4EE"/>
                </a:solidFill>
                <a:latin typeface="Calibri" pitchFamily="34" charset="0"/>
                <a:ea typeface="Calibri" pitchFamily="34" charset="-122"/>
                <a:cs typeface="Calibri" pitchFamily="34" charset="-120"/>
              </a:rPr>
              <a:t>October 20 &amp; 22, 2026</a:t>
            </a:r>
            <a:endParaRPr lang="en-US" sz="1200" dirty="0"/>
          </a:p>
        </p:txBody>
      </p:sp>
      <p:sp>
        <p:nvSpPr>
          <p:cNvPr id="9" name="Shape 7"/>
          <p:cNvSpPr/>
          <p:nvPr/>
        </p:nvSpPr>
        <p:spPr>
          <a:xfrm>
            <a:off x="7772400" y="3703320"/>
            <a:ext cx="475488" cy="475488"/>
          </a:xfrm>
          <a:prstGeom prst="ellipse">
            <a:avLst/>
          </a:prstGeom>
          <a:solidFill>
            <a:srgbClr val="C0504D"/>
          </a:solidFill>
          <a:ln w="12700">
            <a:solidFill>
              <a:srgbClr val="C0504D"/>
            </a:solidFill>
            <a:prstDash val="solid"/>
          </a:ln>
        </p:spPr>
      </p:sp>
      <p:sp>
        <p:nvSpPr>
          <p:cNvPr id="10" name="Shape 8"/>
          <p:cNvSpPr/>
          <p:nvPr/>
        </p:nvSpPr>
        <p:spPr>
          <a:xfrm>
            <a:off x="8558784" y="3447288"/>
            <a:ext cx="475488" cy="475488"/>
          </a:xfrm>
          <a:prstGeom prst="ellipse">
            <a:avLst/>
          </a:prstGeom>
          <a:solidFill>
            <a:srgbClr val="F79646"/>
          </a:solidFill>
          <a:ln w="12700">
            <a:solidFill>
              <a:srgbClr val="F79646"/>
            </a:solidFill>
            <a:prstDash val="solid"/>
          </a:ln>
        </p:spPr>
      </p:sp>
      <p:sp>
        <p:nvSpPr>
          <p:cNvPr id="11" name="Shape 9"/>
          <p:cNvSpPr/>
          <p:nvPr/>
        </p:nvSpPr>
        <p:spPr>
          <a:xfrm>
            <a:off x="9345168" y="3703320"/>
            <a:ext cx="475488" cy="475488"/>
          </a:xfrm>
          <a:prstGeom prst="ellipse">
            <a:avLst/>
          </a:prstGeom>
          <a:solidFill>
            <a:srgbClr val="4BACC6"/>
          </a:solidFill>
          <a:ln w="12700">
            <a:solidFill>
              <a:srgbClr val="4BACC6"/>
            </a:solidFill>
            <a:prstDash val="solid"/>
          </a:ln>
        </p:spPr>
      </p:sp>
      <p:sp>
        <p:nvSpPr>
          <p:cNvPr id="12" name="Shape 10"/>
          <p:cNvSpPr/>
          <p:nvPr/>
        </p:nvSpPr>
        <p:spPr>
          <a:xfrm>
            <a:off x="10131552" y="3447288"/>
            <a:ext cx="475488" cy="475488"/>
          </a:xfrm>
          <a:prstGeom prst="ellipse">
            <a:avLst/>
          </a:prstGeom>
          <a:solidFill>
            <a:srgbClr val="70AD47"/>
          </a:solidFill>
          <a:ln w="12700">
            <a:solidFill>
              <a:srgbClr val="70AD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FINAL PROJECT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Choose one capstone; build evidence you can defend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Either track is open to every student, regardless of weekly track.</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CHOOSE</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 Cyber or IT option</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PROPOSE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PDF due end of Week 9</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Weeks 9–15 in your lab</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DEFEND</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Docs + recorded demo ≤10 min</a:t>
            </a:r>
            <a:endParaRPr lang="en-US" sz="1400" dirty="0"/>
          </a:p>
          <a:p>
            <a:pPr algn="ctr" indent="0" marL="0">
              <a:buNone/>
            </a:pPr>
            <a:r>
              <a:rPr lang="en-US" sz="1400" dirty="0">
                <a:solidFill>
                  <a:srgbClr val="203040"/>
                </a:solidFill>
                <a:latin typeface="Calibri" pitchFamily="34" charset="0"/>
                <a:ea typeface="Calibri" pitchFamily="34" charset="-122"/>
                <a:cs typeface="Calibri" pitchFamily="34" charset="-120"/>
              </a:rPr>
              <a:t>Dec 10, 11:59 PM</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Course rules</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Work alone or in a pair. The project is the final exam; ask staff about scope or grading, not project implementation.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Six Cyber projects: choose a system to secure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Each option requires meaningful Linux and Windows Server roles.</a:t>
            </a:r>
            <a:endParaRPr lang="en-US" sz="1300" dirty="0"/>
          </a:p>
        </p:txBody>
      </p:sp>
      <p:sp>
        <p:nvSpPr>
          <p:cNvPr id="6" name="Shape 3"/>
          <p:cNvSpPr/>
          <p:nvPr/>
        </p:nvSpPr>
        <p:spPr>
          <a:xfrm>
            <a:off x="749808" y="1737360"/>
            <a:ext cx="2231136" cy="521208"/>
          </a:xfrm>
          <a:prstGeom prst="roundRect">
            <a:avLst>
              <a:gd name="adj" fmla="val 14035"/>
            </a:avLst>
          </a:prstGeom>
          <a:solidFill>
            <a:srgbClr val="4BACC6"/>
          </a:solidFill>
          <a:ln w="12700">
            <a:solidFill>
              <a:srgbClr val="4BACC6"/>
            </a:solidFill>
            <a:prstDash val="solid"/>
          </a:ln>
        </p:spPr>
      </p:sp>
      <p:sp>
        <p:nvSpPr>
          <p:cNvPr id="7" name="Text 4"/>
          <p:cNvSpPr txBox="1"/>
          <p:nvPr/>
        </p:nvSpPr>
        <p:spPr>
          <a:xfrm>
            <a:off x="841248" y="1801368"/>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8" name="Shape 5"/>
          <p:cNvSpPr/>
          <p:nvPr/>
        </p:nvSpPr>
        <p:spPr>
          <a:xfrm>
            <a:off x="3182112" y="1737360"/>
            <a:ext cx="8247888" cy="521208"/>
          </a:xfrm>
          <a:prstGeom prst="roundRect">
            <a:avLst>
              <a:gd name="adj" fmla="val 14035"/>
            </a:avLst>
          </a:prstGeom>
          <a:solidFill>
            <a:srgbClr val="FFFFFF"/>
          </a:solidFill>
          <a:ln w="12700">
            <a:solidFill>
              <a:srgbClr val="CBD5E1"/>
            </a:solidFill>
            <a:prstDash val="solid"/>
          </a:ln>
        </p:spPr>
      </p:sp>
      <p:sp>
        <p:nvSpPr>
          <p:cNvPr id="9" name="Text 6"/>
          <p:cNvSpPr txBox="1"/>
          <p:nvPr/>
        </p:nvSpPr>
        <p:spPr>
          <a:xfrm>
            <a:off x="3328416" y="1801368"/>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Hardened infrastructure — CIS Level 2 or DISA STIG</a:t>
            </a:r>
            <a:endParaRPr lang="en-US" sz="1320" dirty="0"/>
          </a:p>
        </p:txBody>
      </p:sp>
      <p:sp>
        <p:nvSpPr>
          <p:cNvPr id="10" name="Shape 7"/>
          <p:cNvSpPr/>
          <p:nvPr/>
        </p:nvSpPr>
        <p:spPr>
          <a:xfrm>
            <a:off x="749808" y="2350008"/>
            <a:ext cx="2231136" cy="521208"/>
          </a:xfrm>
          <a:prstGeom prst="roundRect">
            <a:avLst>
              <a:gd name="adj" fmla="val 14035"/>
            </a:avLst>
          </a:prstGeom>
          <a:solidFill>
            <a:srgbClr val="4F81BD"/>
          </a:solidFill>
          <a:ln w="12700">
            <a:solidFill>
              <a:srgbClr val="4F81BD"/>
            </a:solidFill>
            <a:prstDash val="solid"/>
          </a:ln>
        </p:spPr>
      </p:sp>
      <p:sp>
        <p:nvSpPr>
          <p:cNvPr id="11" name="Text 8"/>
          <p:cNvSpPr txBox="1"/>
          <p:nvPr/>
        </p:nvSpPr>
        <p:spPr>
          <a:xfrm>
            <a:off x="841248" y="2414016"/>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12" name="Shape 9"/>
          <p:cNvSpPr/>
          <p:nvPr/>
        </p:nvSpPr>
        <p:spPr>
          <a:xfrm>
            <a:off x="3182112" y="2350008"/>
            <a:ext cx="8247888" cy="521208"/>
          </a:xfrm>
          <a:prstGeom prst="roundRect">
            <a:avLst>
              <a:gd name="adj" fmla="val 14035"/>
            </a:avLst>
          </a:prstGeom>
          <a:solidFill>
            <a:srgbClr val="FFFFFF"/>
          </a:solidFill>
          <a:ln w="12700">
            <a:solidFill>
              <a:srgbClr val="CBD5E1"/>
            </a:solidFill>
            <a:prstDash val="solid"/>
          </a:ln>
        </p:spPr>
      </p:sp>
      <p:sp>
        <p:nvSpPr>
          <p:cNvPr id="13" name="Text 10"/>
          <p:cNvSpPr txBox="1"/>
          <p:nvPr/>
        </p:nvSpPr>
        <p:spPr>
          <a:xfrm>
            <a:off x="3328416" y="2414016"/>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Zero-trust identity and PKI platform</a:t>
            </a:r>
            <a:endParaRPr lang="en-US" sz="1320" dirty="0"/>
          </a:p>
        </p:txBody>
      </p:sp>
      <p:sp>
        <p:nvSpPr>
          <p:cNvPr id="14" name="Shape 11"/>
          <p:cNvSpPr/>
          <p:nvPr/>
        </p:nvSpPr>
        <p:spPr>
          <a:xfrm>
            <a:off x="749808" y="2962656"/>
            <a:ext cx="2231136" cy="521208"/>
          </a:xfrm>
          <a:prstGeom prst="roundRect">
            <a:avLst>
              <a:gd name="adj" fmla="val 14035"/>
            </a:avLst>
          </a:prstGeom>
          <a:solidFill>
            <a:srgbClr val="F79646"/>
          </a:solidFill>
          <a:ln w="12700">
            <a:solidFill>
              <a:srgbClr val="F79646"/>
            </a:solidFill>
            <a:prstDash val="solid"/>
          </a:ln>
        </p:spPr>
      </p:sp>
      <p:sp>
        <p:nvSpPr>
          <p:cNvPr id="15" name="Text 12"/>
          <p:cNvSpPr txBox="1"/>
          <p:nvPr/>
        </p:nvSpPr>
        <p:spPr>
          <a:xfrm>
            <a:off x="841248" y="3026664"/>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16" name="Shape 13"/>
          <p:cNvSpPr/>
          <p:nvPr/>
        </p:nvSpPr>
        <p:spPr>
          <a:xfrm>
            <a:off x="3182112" y="2962656"/>
            <a:ext cx="8247888" cy="521208"/>
          </a:xfrm>
          <a:prstGeom prst="roundRect">
            <a:avLst>
              <a:gd name="adj" fmla="val 14035"/>
            </a:avLst>
          </a:prstGeom>
          <a:solidFill>
            <a:srgbClr val="FFFFFF"/>
          </a:solidFill>
          <a:ln w="12700">
            <a:solidFill>
              <a:srgbClr val="CBD5E1"/>
            </a:solidFill>
            <a:prstDash val="solid"/>
          </a:ln>
        </p:spPr>
      </p:sp>
      <p:sp>
        <p:nvSpPr>
          <p:cNvPr id="17" name="Text 14"/>
          <p:cNvSpPr txBox="1"/>
          <p:nvPr/>
        </p:nvSpPr>
        <p:spPr>
          <a:xfrm>
            <a:off x="3328416" y="3026664"/>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Detection engineering / SOC-in-a-Box</a:t>
            </a:r>
            <a:endParaRPr lang="en-US" sz="1320" dirty="0"/>
          </a:p>
        </p:txBody>
      </p:sp>
      <p:sp>
        <p:nvSpPr>
          <p:cNvPr id="18" name="Shape 15"/>
          <p:cNvSpPr/>
          <p:nvPr/>
        </p:nvSpPr>
        <p:spPr>
          <a:xfrm>
            <a:off x="749808" y="3575304"/>
            <a:ext cx="2231136" cy="521208"/>
          </a:xfrm>
          <a:prstGeom prst="roundRect">
            <a:avLst>
              <a:gd name="adj" fmla="val 14035"/>
            </a:avLst>
          </a:prstGeom>
          <a:solidFill>
            <a:srgbClr val="8064A2"/>
          </a:solidFill>
          <a:ln w="12700">
            <a:solidFill>
              <a:srgbClr val="8064A2"/>
            </a:solidFill>
            <a:prstDash val="solid"/>
          </a:ln>
        </p:spPr>
      </p:sp>
      <p:sp>
        <p:nvSpPr>
          <p:cNvPr id="19" name="Text 16"/>
          <p:cNvSpPr txBox="1"/>
          <p:nvPr/>
        </p:nvSpPr>
        <p:spPr>
          <a:xfrm>
            <a:off x="841248" y="3639312"/>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20" name="Shape 17"/>
          <p:cNvSpPr/>
          <p:nvPr/>
        </p:nvSpPr>
        <p:spPr>
          <a:xfrm>
            <a:off x="3182112" y="3575304"/>
            <a:ext cx="8247888" cy="521208"/>
          </a:xfrm>
          <a:prstGeom prst="roundRect">
            <a:avLst>
              <a:gd name="adj" fmla="val 14035"/>
            </a:avLst>
          </a:prstGeom>
          <a:solidFill>
            <a:srgbClr val="FFFFFF"/>
          </a:solidFill>
          <a:ln w="12700">
            <a:solidFill>
              <a:srgbClr val="CBD5E1"/>
            </a:solidFill>
            <a:prstDash val="solid"/>
          </a:ln>
        </p:spPr>
      </p:sp>
      <p:sp>
        <p:nvSpPr>
          <p:cNvPr id="21" name="Text 18"/>
          <p:cNvSpPr txBox="1"/>
          <p:nvPr/>
        </p:nvSpPr>
        <p:spPr>
          <a:xfrm>
            <a:off x="3328416" y="3639312"/>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Compliance-as-Code pipeline</a:t>
            </a:r>
            <a:endParaRPr lang="en-US" sz="1320" dirty="0"/>
          </a:p>
        </p:txBody>
      </p:sp>
      <p:sp>
        <p:nvSpPr>
          <p:cNvPr id="22" name="Shape 19"/>
          <p:cNvSpPr/>
          <p:nvPr/>
        </p:nvSpPr>
        <p:spPr>
          <a:xfrm>
            <a:off x="749808" y="4187952"/>
            <a:ext cx="2231136" cy="521208"/>
          </a:xfrm>
          <a:prstGeom prst="roundRect">
            <a:avLst>
              <a:gd name="adj" fmla="val 14035"/>
            </a:avLst>
          </a:prstGeom>
          <a:solidFill>
            <a:srgbClr val="70AD47"/>
          </a:solidFill>
          <a:ln w="12700">
            <a:solidFill>
              <a:srgbClr val="70AD47"/>
            </a:solidFill>
            <a:prstDash val="solid"/>
          </a:ln>
        </p:spPr>
      </p:sp>
      <p:sp>
        <p:nvSpPr>
          <p:cNvPr id="23" name="Text 20"/>
          <p:cNvSpPr txBox="1"/>
          <p:nvPr/>
        </p:nvSpPr>
        <p:spPr>
          <a:xfrm>
            <a:off x="841248" y="4251960"/>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24" name="Shape 21"/>
          <p:cNvSpPr/>
          <p:nvPr/>
        </p:nvSpPr>
        <p:spPr>
          <a:xfrm>
            <a:off x="3182112" y="4187952"/>
            <a:ext cx="8247888" cy="521208"/>
          </a:xfrm>
          <a:prstGeom prst="roundRect">
            <a:avLst>
              <a:gd name="adj" fmla="val 14035"/>
            </a:avLst>
          </a:prstGeom>
          <a:solidFill>
            <a:srgbClr val="FFFFFF"/>
          </a:solidFill>
          <a:ln w="12700">
            <a:solidFill>
              <a:srgbClr val="CBD5E1"/>
            </a:solidFill>
            <a:prstDash val="solid"/>
          </a:ln>
        </p:spPr>
      </p:sp>
      <p:sp>
        <p:nvSpPr>
          <p:cNvPr id="25" name="Text 22"/>
          <p:cNvSpPr txBox="1"/>
          <p:nvPr/>
        </p:nvSpPr>
        <p:spPr>
          <a:xfrm>
            <a:off x="3328416" y="4251960"/>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Secure container platform</a:t>
            </a:r>
            <a:endParaRPr lang="en-US" sz="1320" dirty="0"/>
          </a:p>
        </p:txBody>
      </p:sp>
      <p:sp>
        <p:nvSpPr>
          <p:cNvPr id="26" name="Shape 23"/>
          <p:cNvSpPr/>
          <p:nvPr/>
        </p:nvSpPr>
        <p:spPr>
          <a:xfrm>
            <a:off x="749808" y="4800600"/>
            <a:ext cx="2231136" cy="521208"/>
          </a:xfrm>
          <a:prstGeom prst="roundRect">
            <a:avLst>
              <a:gd name="adj" fmla="val 14035"/>
            </a:avLst>
          </a:prstGeom>
          <a:solidFill>
            <a:srgbClr val="C0504D"/>
          </a:solidFill>
          <a:ln w="12700">
            <a:solidFill>
              <a:srgbClr val="C0504D"/>
            </a:solidFill>
            <a:prstDash val="solid"/>
          </a:ln>
        </p:spPr>
      </p:sp>
      <p:sp>
        <p:nvSpPr>
          <p:cNvPr id="27" name="Text 24"/>
          <p:cNvSpPr txBox="1"/>
          <p:nvPr/>
        </p:nvSpPr>
        <p:spPr>
          <a:xfrm>
            <a:off x="841248" y="4864608"/>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C6</a:t>
            </a:r>
            <a:endParaRPr lang="en-US" sz="1300" dirty="0"/>
          </a:p>
        </p:txBody>
      </p:sp>
      <p:sp>
        <p:nvSpPr>
          <p:cNvPr id="28" name="Shape 25"/>
          <p:cNvSpPr/>
          <p:nvPr/>
        </p:nvSpPr>
        <p:spPr>
          <a:xfrm>
            <a:off x="3182112" y="4800600"/>
            <a:ext cx="8247888" cy="521208"/>
          </a:xfrm>
          <a:prstGeom prst="roundRect">
            <a:avLst>
              <a:gd name="adj" fmla="val 14035"/>
            </a:avLst>
          </a:prstGeom>
          <a:solidFill>
            <a:srgbClr val="FFFFFF"/>
          </a:solidFill>
          <a:ln w="12700">
            <a:solidFill>
              <a:srgbClr val="CBD5E1"/>
            </a:solidFill>
            <a:prstDash val="solid"/>
          </a:ln>
        </p:spPr>
      </p:sp>
      <p:sp>
        <p:nvSpPr>
          <p:cNvPr id="29" name="Text 26"/>
          <p:cNvSpPr txBox="1"/>
          <p:nvPr/>
        </p:nvSpPr>
        <p:spPr>
          <a:xfrm>
            <a:off x="3328416" y="4864608"/>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Patch and vulnerability management program</a:t>
            </a:r>
            <a:endParaRPr lang="en-US" sz="13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IT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Five IT projects: choose an operations problem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All IT options run in the student’s own Proxmox environment.</a:t>
            </a:r>
            <a:endParaRPr lang="en-US" sz="1300" dirty="0"/>
          </a:p>
        </p:txBody>
      </p:sp>
      <p:sp>
        <p:nvSpPr>
          <p:cNvPr id="6" name="Shape 3"/>
          <p:cNvSpPr/>
          <p:nvPr/>
        </p:nvSpPr>
        <p:spPr>
          <a:xfrm>
            <a:off x="749808" y="1737360"/>
            <a:ext cx="2231136" cy="603504"/>
          </a:xfrm>
          <a:prstGeom prst="roundRect">
            <a:avLst>
              <a:gd name="adj" fmla="val 12121"/>
            </a:avLst>
          </a:prstGeom>
          <a:solidFill>
            <a:srgbClr val="4BACC6"/>
          </a:solidFill>
          <a:ln w="12700">
            <a:solidFill>
              <a:srgbClr val="4BACC6"/>
            </a:solidFill>
            <a:prstDash val="solid"/>
          </a:ln>
        </p:spPr>
      </p:sp>
      <p:sp>
        <p:nvSpPr>
          <p:cNvPr id="7" name="Text 4"/>
          <p:cNvSpPr txBox="1"/>
          <p:nvPr/>
        </p:nvSpPr>
        <p:spPr>
          <a:xfrm>
            <a:off x="841248" y="1801368"/>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I1</a:t>
            </a:r>
            <a:endParaRPr lang="en-US" sz="1300" dirty="0"/>
          </a:p>
        </p:txBody>
      </p:sp>
      <p:sp>
        <p:nvSpPr>
          <p:cNvPr id="8" name="Shape 5"/>
          <p:cNvSpPr/>
          <p:nvPr/>
        </p:nvSpPr>
        <p:spPr>
          <a:xfrm>
            <a:off x="3182112" y="1737360"/>
            <a:ext cx="8247888" cy="603504"/>
          </a:xfrm>
          <a:prstGeom prst="roundRect">
            <a:avLst>
              <a:gd name="adj" fmla="val 12121"/>
            </a:avLst>
          </a:prstGeom>
          <a:solidFill>
            <a:srgbClr val="FFFFFF"/>
          </a:solidFill>
          <a:ln w="12700">
            <a:solidFill>
              <a:srgbClr val="CBD5E1"/>
            </a:solidFill>
            <a:prstDash val="solid"/>
          </a:ln>
        </p:spPr>
      </p:sp>
      <p:sp>
        <p:nvSpPr>
          <p:cNvPr id="9" name="Text 6"/>
          <p:cNvSpPr txBox="1"/>
          <p:nvPr/>
        </p:nvSpPr>
        <p:spPr>
          <a:xfrm>
            <a:off x="3328416" y="1801368"/>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HA platform with backup and disaster recovery</a:t>
            </a:r>
            <a:endParaRPr lang="en-US" sz="1350" dirty="0"/>
          </a:p>
        </p:txBody>
      </p:sp>
      <p:sp>
        <p:nvSpPr>
          <p:cNvPr id="10" name="Shape 7"/>
          <p:cNvSpPr/>
          <p:nvPr/>
        </p:nvSpPr>
        <p:spPr>
          <a:xfrm>
            <a:off x="749808" y="2487168"/>
            <a:ext cx="2231136" cy="603504"/>
          </a:xfrm>
          <a:prstGeom prst="roundRect">
            <a:avLst>
              <a:gd name="adj" fmla="val 12121"/>
            </a:avLst>
          </a:prstGeom>
          <a:solidFill>
            <a:srgbClr val="4F81BD"/>
          </a:solidFill>
          <a:ln w="12700">
            <a:solidFill>
              <a:srgbClr val="4F81BD"/>
            </a:solidFill>
            <a:prstDash val="solid"/>
          </a:ln>
        </p:spPr>
      </p:sp>
      <p:sp>
        <p:nvSpPr>
          <p:cNvPr id="11" name="Text 8"/>
          <p:cNvSpPr txBox="1"/>
          <p:nvPr/>
        </p:nvSpPr>
        <p:spPr>
          <a:xfrm>
            <a:off x="841248" y="2551176"/>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I2</a:t>
            </a:r>
            <a:endParaRPr lang="en-US" sz="1300" dirty="0"/>
          </a:p>
        </p:txBody>
      </p:sp>
      <p:sp>
        <p:nvSpPr>
          <p:cNvPr id="12" name="Shape 9"/>
          <p:cNvSpPr/>
          <p:nvPr/>
        </p:nvSpPr>
        <p:spPr>
          <a:xfrm>
            <a:off x="3182112" y="2487168"/>
            <a:ext cx="8247888" cy="603504"/>
          </a:xfrm>
          <a:prstGeom prst="roundRect">
            <a:avLst>
              <a:gd name="adj" fmla="val 12121"/>
            </a:avLst>
          </a:prstGeom>
          <a:solidFill>
            <a:srgbClr val="FFFFFF"/>
          </a:solidFill>
          <a:ln w="12700">
            <a:solidFill>
              <a:srgbClr val="CBD5E1"/>
            </a:solidFill>
            <a:prstDash val="solid"/>
          </a:ln>
        </p:spPr>
      </p:sp>
      <p:sp>
        <p:nvSpPr>
          <p:cNvPr id="13" name="Text 10"/>
          <p:cNvSpPr txBox="1"/>
          <p:nvPr/>
        </p:nvSpPr>
        <p:spPr>
          <a:xfrm>
            <a:off x="3328416" y="2551176"/>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Monitoring and service desk</a:t>
            </a:r>
            <a:endParaRPr lang="en-US" sz="1350" dirty="0"/>
          </a:p>
        </p:txBody>
      </p:sp>
      <p:sp>
        <p:nvSpPr>
          <p:cNvPr id="14" name="Shape 11"/>
          <p:cNvSpPr/>
          <p:nvPr/>
        </p:nvSpPr>
        <p:spPr>
          <a:xfrm>
            <a:off x="749808" y="3236976"/>
            <a:ext cx="2231136" cy="603504"/>
          </a:xfrm>
          <a:prstGeom prst="roundRect">
            <a:avLst>
              <a:gd name="adj" fmla="val 12121"/>
            </a:avLst>
          </a:prstGeom>
          <a:solidFill>
            <a:srgbClr val="F79646"/>
          </a:solidFill>
          <a:ln w="12700">
            <a:solidFill>
              <a:srgbClr val="F79646"/>
            </a:solidFill>
            <a:prstDash val="solid"/>
          </a:ln>
        </p:spPr>
      </p:sp>
      <p:sp>
        <p:nvSpPr>
          <p:cNvPr id="15" name="Text 12"/>
          <p:cNvSpPr txBox="1"/>
          <p:nvPr/>
        </p:nvSpPr>
        <p:spPr>
          <a:xfrm>
            <a:off x="841248" y="3300984"/>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I3</a:t>
            </a:r>
            <a:endParaRPr lang="en-US" sz="1300" dirty="0"/>
          </a:p>
        </p:txBody>
      </p:sp>
      <p:sp>
        <p:nvSpPr>
          <p:cNvPr id="16" name="Shape 13"/>
          <p:cNvSpPr/>
          <p:nvPr/>
        </p:nvSpPr>
        <p:spPr>
          <a:xfrm>
            <a:off x="3182112" y="3236976"/>
            <a:ext cx="8247888" cy="603504"/>
          </a:xfrm>
          <a:prstGeom prst="roundRect">
            <a:avLst>
              <a:gd name="adj" fmla="val 12121"/>
            </a:avLst>
          </a:prstGeom>
          <a:solidFill>
            <a:srgbClr val="FFFFFF"/>
          </a:solidFill>
          <a:ln w="12700">
            <a:solidFill>
              <a:srgbClr val="CBD5E1"/>
            </a:solidFill>
            <a:prstDash val="solid"/>
          </a:ln>
        </p:spPr>
      </p:sp>
      <p:sp>
        <p:nvSpPr>
          <p:cNvPr id="17" name="Text 14"/>
          <p:cNvSpPr txBox="1"/>
          <p:nvPr/>
        </p:nvSpPr>
        <p:spPr>
          <a:xfrm>
            <a:off x="3328416" y="3300984"/>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On-prem AI inference service</a:t>
            </a:r>
            <a:endParaRPr lang="en-US" sz="1350" dirty="0"/>
          </a:p>
        </p:txBody>
      </p:sp>
      <p:sp>
        <p:nvSpPr>
          <p:cNvPr id="18" name="Shape 15"/>
          <p:cNvSpPr/>
          <p:nvPr/>
        </p:nvSpPr>
        <p:spPr>
          <a:xfrm>
            <a:off x="749808" y="3986784"/>
            <a:ext cx="2231136" cy="603504"/>
          </a:xfrm>
          <a:prstGeom prst="roundRect">
            <a:avLst>
              <a:gd name="adj" fmla="val 12121"/>
            </a:avLst>
          </a:prstGeom>
          <a:solidFill>
            <a:srgbClr val="8064A2"/>
          </a:solidFill>
          <a:ln w="12700">
            <a:solidFill>
              <a:srgbClr val="8064A2"/>
            </a:solidFill>
            <a:prstDash val="solid"/>
          </a:ln>
        </p:spPr>
      </p:sp>
      <p:sp>
        <p:nvSpPr>
          <p:cNvPr id="19" name="Text 16"/>
          <p:cNvSpPr txBox="1"/>
          <p:nvPr/>
        </p:nvSpPr>
        <p:spPr>
          <a:xfrm>
            <a:off x="841248" y="4050792"/>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I4</a:t>
            </a:r>
            <a:endParaRPr lang="en-US" sz="1300" dirty="0"/>
          </a:p>
        </p:txBody>
      </p:sp>
      <p:sp>
        <p:nvSpPr>
          <p:cNvPr id="20" name="Shape 17"/>
          <p:cNvSpPr/>
          <p:nvPr/>
        </p:nvSpPr>
        <p:spPr>
          <a:xfrm>
            <a:off x="3182112" y="3986784"/>
            <a:ext cx="8247888" cy="603504"/>
          </a:xfrm>
          <a:prstGeom prst="roundRect">
            <a:avLst>
              <a:gd name="adj" fmla="val 12121"/>
            </a:avLst>
          </a:prstGeom>
          <a:solidFill>
            <a:srgbClr val="FFFFFF"/>
          </a:solidFill>
          <a:ln w="12700">
            <a:solidFill>
              <a:srgbClr val="CBD5E1"/>
            </a:solidFill>
            <a:prstDash val="solid"/>
          </a:ln>
        </p:spPr>
      </p:sp>
      <p:sp>
        <p:nvSpPr>
          <p:cNvPr id="21" name="Text 18"/>
          <p:cNvSpPr txBox="1"/>
          <p:nvPr/>
        </p:nvSpPr>
        <p:spPr>
          <a:xfrm>
            <a:off x="3328416" y="4050792"/>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Identity and endpoint lifecycle</a:t>
            </a:r>
            <a:endParaRPr lang="en-US" sz="1350" dirty="0"/>
          </a:p>
        </p:txBody>
      </p:sp>
      <p:sp>
        <p:nvSpPr>
          <p:cNvPr id="22" name="Shape 19"/>
          <p:cNvSpPr/>
          <p:nvPr/>
        </p:nvSpPr>
        <p:spPr>
          <a:xfrm>
            <a:off x="749808" y="4736592"/>
            <a:ext cx="2231136" cy="603504"/>
          </a:xfrm>
          <a:prstGeom prst="roundRect">
            <a:avLst>
              <a:gd name="adj" fmla="val 12121"/>
            </a:avLst>
          </a:prstGeom>
          <a:solidFill>
            <a:srgbClr val="70AD47"/>
          </a:solidFill>
          <a:ln w="12700">
            <a:solidFill>
              <a:srgbClr val="70AD47"/>
            </a:solidFill>
            <a:prstDash val="solid"/>
          </a:ln>
        </p:spPr>
      </p:sp>
      <p:sp>
        <p:nvSpPr>
          <p:cNvPr id="23" name="Text 20"/>
          <p:cNvSpPr txBox="1"/>
          <p:nvPr/>
        </p:nvSpPr>
        <p:spPr>
          <a:xfrm>
            <a:off x="841248" y="4800600"/>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I5</a:t>
            </a:r>
            <a:endParaRPr lang="en-US" sz="1300" dirty="0"/>
          </a:p>
        </p:txBody>
      </p:sp>
      <p:sp>
        <p:nvSpPr>
          <p:cNvPr id="24" name="Shape 21"/>
          <p:cNvSpPr/>
          <p:nvPr/>
        </p:nvSpPr>
        <p:spPr>
          <a:xfrm>
            <a:off x="3182112" y="4736592"/>
            <a:ext cx="8247888" cy="603504"/>
          </a:xfrm>
          <a:prstGeom prst="roundRect">
            <a:avLst>
              <a:gd name="adj" fmla="val 12121"/>
            </a:avLst>
          </a:prstGeom>
          <a:solidFill>
            <a:srgbClr val="FFFFFF"/>
          </a:solidFill>
          <a:ln w="12700">
            <a:solidFill>
              <a:srgbClr val="CBD5E1"/>
            </a:solidFill>
            <a:prstDash val="solid"/>
          </a:ln>
        </p:spPr>
      </p:sp>
      <p:sp>
        <p:nvSpPr>
          <p:cNvPr id="25" name="Text 22"/>
          <p:cNvSpPr txBox="1"/>
          <p:nvPr/>
        </p:nvSpPr>
        <p:spPr>
          <a:xfrm>
            <a:off x="3328416" y="4800600"/>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Self-service provisioning and golden images</a:t>
            </a:r>
            <a:endParaRPr lang="en-US" sz="1350" dirty="0"/>
          </a:p>
        </p:txBody>
      </p:sp>
      <p:sp>
        <p:nvSpPr>
          <p:cNvPr id="26" name="Shape 23"/>
          <p:cNvSpPr/>
          <p:nvPr/>
        </p:nvSpPr>
        <p:spPr>
          <a:xfrm>
            <a:off x="960120" y="5303520"/>
            <a:ext cx="10195560" cy="713232"/>
          </a:xfrm>
          <a:prstGeom prst="roundRect">
            <a:avLst>
              <a:gd name="adj" fmla="val 10256"/>
            </a:avLst>
          </a:prstGeom>
          <a:solidFill>
            <a:srgbClr val="FFFFFF"/>
          </a:solidFill>
          <a:ln w="12700">
            <a:solidFill>
              <a:srgbClr val="1F497D"/>
            </a:solidFill>
            <a:prstDash val="solid"/>
          </a:ln>
        </p:spPr>
      </p:sp>
      <p:sp>
        <p:nvSpPr>
          <p:cNvPr id="27" name="Shape 24"/>
          <p:cNvSpPr/>
          <p:nvPr/>
        </p:nvSpPr>
        <p:spPr>
          <a:xfrm>
            <a:off x="960120" y="5303520"/>
            <a:ext cx="91440" cy="713232"/>
          </a:xfrm>
          <a:prstGeom prst="rect">
            <a:avLst>
              <a:gd name="adj" fmla="val 80000"/>
            </a:avLst>
          </a:prstGeom>
          <a:solidFill>
            <a:srgbClr val="1F497D"/>
          </a:solidFill>
          <a:ln w="12700">
            <a:solidFill>
              <a:srgbClr val="1F497D"/>
            </a:solidFill>
            <a:prstDash val="solid"/>
          </a:ln>
        </p:spPr>
      </p:sp>
      <p:sp>
        <p:nvSpPr>
          <p:cNvPr id="28" name="Text 25"/>
          <p:cNvSpPr txBox="1"/>
          <p:nvPr/>
        </p:nvSpPr>
        <p:spPr>
          <a:xfrm>
            <a:off x="1188720" y="5385816"/>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Selection lens</a:t>
            </a:r>
            <a:endParaRPr lang="en-US" sz="1320" dirty="0"/>
          </a:p>
        </p:txBody>
      </p:sp>
      <p:sp>
        <p:nvSpPr>
          <p:cNvPr id="29" name="Text 26"/>
          <p:cNvSpPr txBox="1"/>
          <p:nvPr/>
        </p:nvSpPr>
        <p:spPr>
          <a:xfrm>
            <a:off x="1188720" y="5650992"/>
            <a:ext cx="9784080" cy="31089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option fits your available RAM, time, and evidence you can capture?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PROPOSAL</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passing proposal makes the build concrete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Submit one PDF in Learning Suite by the end of Week 9.</a:t>
            </a:r>
            <a:endParaRPr lang="en-US" sz="1300" dirty="0"/>
          </a:p>
        </p:txBody>
      </p:sp>
      <p:sp>
        <p:nvSpPr>
          <p:cNvPr id="6" name="Shape 3"/>
          <p:cNvSpPr/>
          <p:nvPr/>
        </p:nvSpPr>
        <p:spPr>
          <a:xfrm>
            <a:off x="749808" y="1737360"/>
            <a:ext cx="2231136" cy="539496"/>
          </a:xfrm>
          <a:prstGeom prst="roundRect">
            <a:avLst>
              <a:gd name="adj" fmla="val 13559"/>
            </a:avLst>
          </a:prstGeom>
          <a:solidFill>
            <a:srgbClr val="4BACC6"/>
          </a:solidFill>
          <a:ln w="12700">
            <a:solidFill>
              <a:srgbClr val="4BACC6"/>
            </a:solidFill>
            <a:prstDash val="solid"/>
          </a:ln>
        </p:spPr>
      </p:sp>
      <p:sp>
        <p:nvSpPr>
          <p:cNvPr id="7" name="Text 4"/>
          <p:cNvSpPr txBox="1"/>
          <p:nvPr/>
        </p:nvSpPr>
        <p:spPr>
          <a:xfrm>
            <a:off x="841248" y="1801368"/>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Option + team</a:t>
            </a:r>
            <a:endParaRPr lang="en-US" sz="1300" dirty="0"/>
          </a:p>
        </p:txBody>
      </p:sp>
      <p:sp>
        <p:nvSpPr>
          <p:cNvPr id="8" name="Shape 5"/>
          <p:cNvSpPr/>
          <p:nvPr/>
        </p:nvSpPr>
        <p:spPr>
          <a:xfrm>
            <a:off x="3182112" y="1737360"/>
            <a:ext cx="8247888" cy="539496"/>
          </a:xfrm>
          <a:prstGeom prst="roundRect">
            <a:avLst>
              <a:gd name="adj" fmla="val 13559"/>
            </a:avLst>
          </a:prstGeom>
          <a:solidFill>
            <a:srgbClr val="FFFFFF"/>
          </a:solidFill>
          <a:ln w="12700">
            <a:solidFill>
              <a:srgbClr val="CBD5E1"/>
            </a:solidFill>
            <a:prstDash val="solid"/>
          </a:ln>
        </p:spPr>
      </p:sp>
      <p:sp>
        <p:nvSpPr>
          <p:cNvPr id="9" name="Text 6"/>
          <p:cNvSpPr txBox="1"/>
          <p:nvPr/>
        </p:nvSpPr>
        <p:spPr>
          <a:xfrm>
            <a:off x="3328416" y="1801368"/>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 the option; pairs identify each person’s ownership</a:t>
            </a:r>
            <a:endParaRPr lang="en-US" sz="1350" dirty="0"/>
          </a:p>
        </p:txBody>
      </p:sp>
      <p:sp>
        <p:nvSpPr>
          <p:cNvPr id="10" name="Shape 7"/>
          <p:cNvSpPr/>
          <p:nvPr/>
        </p:nvSpPr>
        <p:spPr>
          <a:xfrm>
            <a:off x="749808" y="2414016"/>
            <a:ext cx="2231136" cy="539496"/>
          </a:xfrm>
          <a:prstGeom prst="roundRect">
            <a:avLst>
              <a:gd name="adj" fmla="val 13559"/>
            </a:avLst>
          </a:prstGeom>
          <a:solidFill>
            <a:srgbClr val="4F81BD"/>
          </a:solidFill>
          <a:ln w="12700">
            <a:solidFill>
              <a:srgbClr val="4F81BD"/>
            </a:solidFill>
            <a:prstDash val="solid"/>
          </a:ln>
        </p:spPr>
      </p:sp>
      <p:sp>
        <p:nvSpPr>
          <p:cNvPr id="11" name="Text 8"/>
          <p:cNvSpPr txBox="1"/>
          <p:nvPr/>
        </p:nvSpPr>
        <p:spPr>
          <a:xfrm>
            <a:off x="841248" y="2478024"/>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Scope</a:t>
            </a:r>
            <a:endParaRPr lang="en-US" sz="1300" dirty="0"/>
          </a:p>
        </p:txBody>
      </p:sp>
      <p:sp>
        <p:nvSpPr>
          <p:cNvPr id="12" name="Shape 9"/>
          <p:cNvSpPr/>
          <p:nvPr/>
        </p:nvSpPr>
        <p:spPr>
          <a:xfrm>
            <a:off x="3182112" y="2414016"/>
            <a:ext cx="8247888" cy="539496"/>
          </a:xfrm>
          <a:prstGeom prst="roundRect">
            <a:avLst>
              <a:gd name="adj" fmla="val 13559"/>
            </a:avLst>
          </a:prstGeom>
          <a:solidFill>
            <a:srgbClr val="FFFFFF"/>
          </a:solidFill>
          <a:ln w="12700">
            <a:solidFill>
              <a:srgbClr val="CBD5E1"/>
            </a:solidFill>
            <a:prstDash val="solid"/>
          </a:ln>
        </p:spPr>
      </p:sp>
      <p:sp>
        <p:nvSpPr>
          <p:cNvPr id="13" name="Text 10"/>
          <p:cNvSpPr txBox="1"/>
          <p:nvPr/>
        </p:nvSpPr>
        <p:spPr>
          <a:xfrm>
            <a:off x="3328416" y="2478024"/>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Answer every checklist item on the chosen option page</a:t>
            </a:r>
            <a:endParaRPr lang="en-US" sz="1350" dirty="0"/>
          </a:p>
        </p:txBody>
      </p:sp>
      <p:sp>
        <p:nvSpPr>
          <p:cNvPr id="14" name="Shape 11"/>
          <p:cNvSpPr/>
          <p:nvPr/>
        </p:nvSpPr>
        <p:spPr>
          <a:xfrm>
            <a:off x="749808" y="3090672"/>
            <a:ext cx="2231136" cy="539496"/>
          </a:xfrm>
          <a:prstGeom prst="roundRect">
            <a:avLst>
              <a:gd name="adj" fmla="val 13559"/>
            </a:avLst>
          </a:prstGeom>
          <a:solidFill>
            <a:srgbClr val="F79646"/>
          </a:solidFill>
          <a:ln w="12700">
            <a:solidFill>
              <a:srgbClr val="F79646"/>
            </a:solidFill>
            <a:prstDash val="solid"/>
          </a:ln>
        </p:spPr>
      </p:sp>
      <p:sp>
        <p:nvSpPr>
          <p:cNvPr id="15" name="Text 12"/>
          <p:cNvSpPr txBox="1"/>
          <p:nvPr/>
        </p:nvSpPr>
        <p:spPr>
          <a:xfrm>
            <a:off x="841248" y="3154680"/>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Infrastructure</a:t>
            </a:r>
            <a:endParaRPr lang="en-US" sz="1300" dirty="0"/>
          </a:p>
        </p:txBody>
      </p:sp>
      <p:sp>
        <p:nvSpPr>
          <p:cNvPr id="16" name="Shape 13"/>
          <p:cNvSpPr/>
          <p:nvPr/>
        </p:nvSpPr>
        <p:spPr>
          <a:xfrm>
            <a:off x="3182112" y="3090672"/>
            <a:ext cx="8247888" cy="539496"/>
          </a:xfrm>
          <a:prstGeom prst="roundRect">
            <a:avLst>
              <a:gd name="adj" fmla="val 13559"/>
            </a:avLst>
          </a:prstGeom>
          <a:solidFill>
            <a:srgbClr val="FFFFFF"/>
          </a:solidFill>
          <a:ln w="12700">
            <a:solidFill>
              <a:srgbClr val="CBD5E1"/>
            </a:solidFill>
            <a:prstDash val="solid"/>
          </a:ln>
        </p:spPr>
      </p:sp>
      <p:sp>
        <p:nvSpPr>
          <p:cNvPr id="17" name="Text 14"/>
          <p:cNvSpPr txBox="1"/>
          <p:nvPr/>
        </p:nvSpPr>
        <p:spPr>
          <a:xfrm>
            <a:off x="3328416" y="3154680"/>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Hostnames, OS, roles, addresses, RAM, disk, and heaviest service</a:t>
            </a:r>
            <a:endParaRPr lang="en-US" sz="1350" dirty="0"/>
          </a:p>
        </p:txBody>
      </p:sp>
      <p:sp>
        <p:nvSpPr>
          <p:cNvPr id="18" name="Shape 15"/>
          <p:cNvSpPr/>
          <p:nvPr/>
        </p:nvSpPr>
        <p:spPr>
          <a:xfrm>
            <a:off x="749808" y="3767328"/>
            <a:ext cx="2231136" cy="539496"/>
          </a:xfrm>
          <a:prstGeom prst="roundRect">
            <a:avLst>
              <a:gd name="adj" fmla="val 13559"/>
            </a:avLst>
          </a:prstGeom>
          <a:solidFill>
            <a:srgbClr val="8064A2"/>
          </a:solidFill>
          <a:ln w="12700">
            <a:solidFill>
              <a:srgbClr val="8064A2"/>
            </a:solidFill>
            <a:prstDash val="solid"/>
          </a:ln>
        </p:spPr>
      </p:sp>
      <p:sp>
        <p:nvSpPr>
          <p:cNvPr id="19" name="Text 16"/>
          <p:cNvSpPr txBox="1"/>
          <p:nvPr/>
        </p:nvSpPr>
        <p:spPr>
          <a:xfrm>
            <a:off x="841248" y="3831336"/>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20" name="Shape 17"/>
          <p:cNvSpPr/>
          <p:nvPr/>
        </p:nvSpPr>
        <p:spPr>
          <a:xfrm>
            <a:off x="3182112" y="3767328"/>
            <a:ext cx="8247888" cy="539496"/>
          </a:xfrm>
          <a:prstGeom prst="roundRect">
            <a:avLst>
              <a:gd name="adj" fmla="val 13559"/>
            </a:avLst>
          </a:prstGeom>
          <a:solidFill>
            <a:srgbClr val="FFFFFF"/>
          </a:solidFill>
          <a:ln w="12700">
            <a:solidFill>
              <a:srgbClr val="CBD5E1"/>
            </a:solidFill>
            <a:prstDash val="solid"/>
          </a:ln>
        </p:spPr>
      </p:sp>
      <p:sp>
        <p:nvSpPr>
          <p:cNvPr id="21" name="Text 18"/>
          <p:cNvSpPr txBox="1"/>
          <p:nvPr/>
        </p:nvSpPr>
        <p:spPr>
          <a:xfrm>
            <a:off x="3328416" y="3831336"/>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 and justify automation, test/scan, and evidence tools</a:t>
            </a:r>
            <a:endParaRPr lang="en-US" sz="1350" dirty="0"/>
          </a:p>
        </p:txBody>
      </p:sp>
      <p:sp>
        <p:nvSpPr>
          <p:cNvPr id="22" name="Shape 19"/>
          <p:cNvSpPr/>
          <p:nvPr/>
        </p:nvSpPr>
        <p:spPr>
          <a:xfrm>
            <a:off x="749808" y="4443984"/>
            <a:ext cx="2231136" cy="539496"/>
          </a:xfrm>
          <a:prstGeom prst="roundRect">
            <a:avLst>
              <a:gd name="adj" fmla="val 13559"/>
            </a:avLst>
          </a:prstGeom>
          <a:solidFill>
            <a:srgbClr val="70AD47"/>
          </a:solidFill>
          <a:ln w="12700">
            <a:solidFill>
              <a:srgbClr val="70AD47"/>
            </a:solidFill>
            <a:prstDash val="solid"/>
          </a:ln>
        </p:spPr>
      </p:sp>
      <p:sp>
        <p:nvSpPr>
          <p:cNvPr id="23" name="Text 20"/>
          <p:cNvSpPr txBox="1"/>
          <p:nvPr/>
        </p:nvSpPr>
        <p:spPr>
          <a:xfrm>
            <a:off x="841248" y="4507992"/>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Milestones</a:t>
            </a:r>
            <a:endParaRPr lang="en-US" sz="1300" dirty="0"/>
          </a:p>
        </p:txBody>
      </p:sp>
      <p:sp>
        <p:nvSpPr>
          <p:cNvPr id="24" name="Shape 21"/>
          <p:cNvSpPr/>
          <p:nvPr/>
        </p:nvSpPr>
        <p:spPr>
          <a:xfrm>
            <a:off x="3182112" y="4443984"/>
            <a:ext cx="8247888" cy="539496"/>
          </a:xfrm>
          <a:prstGeom prst="roundRect">
            <a:avLst>
              <a:gd name="adj" fmla="val 13559"/>
            </a:avLst>
          </a:prstGeom>
          <a:solidFill>
            <a:srgbClr val="FFFFFF"/>
          </a:solidFill>
          <a:ln w="12700">
            <a:solidFill>
              <a:srgbClr val="CBD5E1"/>
            </a:solidFill>
            <a:prstDash val="solid"/>
          </a:ln>
        </p:spPr>
      </p:sp>
      <p:sp>
        <p:nvSpPr>
          <p:cNvPr id="25" name="Text 22"/>
          <p:cNvSpPr txBox="1"/>
          <p:nvPr/>
        </p:nvSpPr>
        <p:spPr>
          <a:xfrm>
            <a:off x="3328416" y="4507992"/>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Specific outputs for Weeks 10, 11, 12, and 14</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CLASS SCENARIO</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The small data center: starting loads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Use this fictional facility for board calculations and outage tests.</a:t>
            </a:r>
            <a:endParaRPr lang="en-US" sz="1300" dirty="0"/>
          </a:p>
        </p:txBody>
      </p:sp>
      <p:sp>
        <p:nvSpPr>
          <p:cNvPr id="6" name="Shape 3"/>
          <p:cNvSpPr/>
          <p:nvPr/>
        </p:nvSpPr>
        <p:spPr>
          <a:xfrm>
            <a:off x="640080" y="1700784"/>
            <a:ext cx="6858000" cy="3401568"/>
          </a:xfrm>
          <a:prstGeom prst="roundRect">
            <a:avLst>
              <a:gd name="adj" fmla="val 2151"/>
            </a:avLst>
          </a:prstGeom>
          <a:solidFill>
            <a:srgbClr val="EFF6F9"/>
          </a:solidFill>
          <a:ln w="12700">
            <a:solidFill>
              <a:srgbClr val="CBD5E1"/>
            </a:solidFill>
            <a:prstDash val="solid"/>
          </a:ln>
        </p:spPr>
      </p:sp>
      <p:sp>
        <p:nvSpPr>
          <p:cNvPr id="7" name="Text 4"/>
          <p:cNvSpPr txBox="1"/>
          <p:nvPr/>
        </p:nvSpPr>
        <p:spPr>
          <a:xfrm>
            <a:off x="841248" y="1847088"/>
            <a:ext cx="6309360" cy="274320"/>
          </a:xfrm>
          <a:prstGeom prst="rect">
            <a:avLst/>
          </a:prstGeom>
          <a:noFill/>
          <a:ln/>
        </p:spPr>
        <p:txBody>
          <a:bodyPr wrap="square" lIns="508" tIns="508" rIns="508" bIns="508" rtlCol="0" anchor="ctr">
            <a:normAutofit/>
          </a:bodyPr>
          <a:lstStyle/>
          <a:p>
            <a:pPr algn="l" indent="0" marL="0">
              <a:buNone/>
            </a:pPr>
            <a:r>
              <a:rPr lang="en-US" sz="1200" b="1" dirty="0">
                <a:solidFill>
                  <a:srgbClr val="1F497D"/>
                </a:solidFill>
                <a:latin typeface="Calibri" pitchFamily="34" charset="0"/>
                <a:ea typeface="Calibri" pitchFamily="34" charset="-122"/>
                <a:cs typeface="Calibri" pitchFamily="34" charset="-120"/>
              </a:rPr>
              <a:t>STARTING TOPOLOGY  ·  use for board calculations</a:t>
            </a:r>
            <a:endParaRPr lang="en-US" sz="1200" dirty="0"/>
          </a:p>
        </p:txBody>
      </p:sp>
      <p:sp>
        <p:nvSpPr>
          <p:cNvPr id="8" name="Shape 5"/>
          <p:cNvSpPr/>
          <p:nvPr/>
        </p:nvSpPr>
        <p:spPr>
          <a:xfrm>
            <a:off x="868680" y="2267712"/>
            <a:ext cx="1874520" cy="731520"/>
          </a:xfrm>
          <a:prstGeom prst="roundRect">
            <a:avLst>
              <a:gd name="adj" fmla="val 10000"/>
            </a:avLst>
          </a:prstGeom>
          <a:solidFill>
            <a:srgbClr val="FFFFFF"/>
          </a:solidFill>
          <a:ln w="12700">
            <a:solidFill>
              <a:srgbClr val="CBD5E1"/>
            </a:solidFill>
            <a:prstDash val="solid"/>
          </a:ln>
        </p:spPr>
      </p:sp>
      <p:sp>
        <p:nvSpPr>
          <p:cNvPr id="9" name="Shape 6"/>
          <p:cNvSpPr/>
          <p:nvPr/>
        </p:nvSpPr>
        <p:spPr>
          <a:xfrm>
            <a:off x="868680" y="2267712"/>
            <a:ext cx="1874520" cy="329184"/>
          </a:xfrm>
          <a:prstGeom prst="roundRect">
            <a:avLst>
              <a:gd name="adj" fmla="val 22222"/>
            </a:avLst>
          </a:prstGeom>
          <a:solidFill>
            <a:srgbClr val="4F81BD"/>
          </a:solidFill>
          <a:ln w="12700">
            <a:solidFill>
              <a:srgbClr val="4F81BD"/>
            </a:solidFill>
            <a:prstDash val="solid"/>
          </a:ln>
        </p:spPr>
      </p:sp>
      <p:sp>
        <p:nvSpPr>
          <p:cNvPr id="10" name="Text 7"/>
          <p:cNvSpPr txBox="1"/>
          <p:nvPr/>
        </p:nvSpPr>
        <p:spPr>
          <a:xfrm>
            <a:off x="960120" y="2322576"/>
            <a:ext cx="1691640"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UTILITY</a:t>
            </a:r>
            <a:endParaRPr lang="en-US" sz="1150" dirty="0"/>
          </a:p>
        </p:txBody>
      </p:sp>
      <p:sp>
        <p:nvSpPr>
          <p:cNvPr id="11" name="Text 8"/>
          <p:cNvSpPr txBox="1"/>
          <p:nvPr/>
        </p:nvSpPr>
        <p:spPr>
          <a:xfrm>
            <a:off x="1005840" y="2752344"/>
            <a:ext cx="1600200" cy="146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25 kW usable</a:t>
            </a:r>
            <a:endParaRPr lang="en-US" sz="1400" dirty="0"/>
          </a:p>
        </p:txBody>
      </p:sp>
      <p:sp>
        <p:nvSpPr>
          <p:cNvPr id="12" name="Shape 9"/>
          <p:cNvSpPr/>
          <p:nvPr/>
        </p:nvSpPr>
        <p:spPr>
          <a:xfrm>
            <a:off x="5166360" y="2267712"/>
            <a:ext cx="1874520" cy="731520"/>
          </a:xfrm>
          <a:prstGeom prst="roundRect">
            <a:avLst>
              <a:gd name="adj" fmla="val 10000"/>
            </a:avLst>
          </a:prstGeom>
          <a:solidFill>
            <a:srgbClr val="FFFFFF"/>
          </a:solidFill>
          <a:ln w="12700">
            <a:solidFill>
              <a:srgbClr val="CBD5E1"/>
            </a:solidFill>
            <a:prstDash val="solid"/>
          </a:ln>
        </p:spPr>
      </p:sp>
      <p:sp>
        <p:nvSpPr>
          <p:cNvPr id="13" name="Shape 10"/>
          <p:cNvSpPr/>
          <p:nvPr/>
        </p:nvSpPr>
        <p:spPr>
          <a:xfrm>
            <a:off x="5166360" y="2267712"/>
            <a:ext cx="1874520" cy="329184"/>
          </a:xfrm>
          <a:prstGeom prst="roundRect">
            <a:avLst>
              <a:gd name="adj" fmla="val 22222"/>
            </a:avLst>
          </a:prstGeom>
          <a:solidFill>
            <a:srgbClr val="F79646"/>
          </a:solidFill>
          <a:ln w="12700">
            <a:solidFill>
              <a:srgbClr val="F79646"/>
            </a:solidFill>
            <a:prstDash val="solid"/>
          </a:ln>
        </p:spPr>
      </p:sp>
      <p:sp>
        <p:nvSpPr>
          <p:cNvPr id="14" name="Text 11"/>
          <p:cNvSpPr txBox="1"/>
          <p:nvPr/>
        </p:nvSpPr>
        <p:spPr>
          <a:xfrm>
            <a:off x="5257800" y="2322576"/>
            <a:ext cx="1691640"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GENERATOR</a:t>
            </a:r>
            <a:endParaRPr lang="en-US" sz="1150" dirty="0"/>
          </a:p>
        </p:txBody>
      </p:sp>
      <p:sp>
        <p:nvSpPr>
          <p:cNvPr id="15" name="Text 12"/>
          <p:cNvSpPr txBox="1"/>
          <p:nvPr/>
        </p:nvSpPr>
        <p:spPr>
          <a:xfrm>
            <a:off x="5303520" y="2752344"/>
            <a:ext cx="1600200" cy="146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15 kW</a:t>
            </a:r>
            <a:endParaRPr lang="en-US" sz="1400" dirty="0"/>
          </a:p>
        </p:txBody>
      </p:sp>
      <p:sp>
        <p:nvSpPr>
          <p:cNvPr id="16" name="Shape 13"/>
          <p:cNvSpPr/>
          <p:nvPr/>
        </p:nvSpPr>
        <p:spPr>
          <a:xfrm>
            <a:off x="3154680" y="2907792"/>
            <a:ext cx="1572768" cy="457200"/>
          </a:xfrm>
          <a:prstGeom prst="roundRect">
            <a:avLst>
              <a:gd name="adj" fmla="val 16000"/>
            </a:avLst>
          </a:prstGeom>
          <a:solidFill>
            <a:srgbClr val="1F497D"/>
          </a:solidFill>
          <a:ln w="12700">
            <a:solidFill>
              <a:srgbClr val="1F497D"/>
            </a:solidFill>
            <a:prstDash val="solid"/>
          </a:ln>
        </p:spPr>
      </p:sp>
      <p:sp>
        <p:nvSpPr>
          <p:cNvPr id="17" name="Text 14"/>
          <p:cNvSpPr txBox="1"/>
          <p:nvPr/>
        </p:nvSpPr>
        <p:spPr>
          <a:xfrm>
            <a:off x="3255264" y="3008376"/>
            <a:ext cx="1353312" cy="237744"/>
          </a:xfrm>
          <a:prstGeom prst="rect">
            <a:avLst/>
          </a:prstGeom>
          <a:noFill/>
          <a:ln/>
        </p:spPr>
        <p:txBody>
          <a:bodyPr wrap="square" lIns="508" tIns="508" rIns="508" bIns="508"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ATS + PANEL</a:t>
            </a:r>
            <a:endParaRPr lang="en-US" sz="1200" dirty="0"/>
          </a:p>
        </p:txBody>
      </p:sp>
      <p:sp>
        <p:nvSpPr>
          <p:cNvPr id="18" name="Shape 15"/>
          <p:cNvSpPr/>
          <p:nvPr/>
        </p:nvSpPr>
        <p:spPr>
          <a:xfrm>
            <a:off x="2743200" y="2624328"/>
            <a:ext cx="731520" cy="283464"/>
          </a:xfrm>
          <a:prstGeom prst="line">
            <a:avLst/>
          </a:prstGeom>
          <a:noFill/>
          <a:ln w="25400">
            <a:solidFill>
              <a:srgbClr val="94A3B8"/>
            </a:solidFill>
            <a:prstDash val="solid"/>
            <a:tailEnd type="triangle"/>
          </a:ln>
        </p:spPr>
      </p:sp>
      <p:sp>
        <p:nvSpPr>
          <p:cNvPr id="19" name="Shape 16"/>
          <p:cNvSpPr/>
          <p:nvPr/>
        </p:nvSpPr>
        <p:spPr>
          <a:xfrm>
            <a:off x="5166360" y="2624328"/>
            <a:ext cx="-749808" cy="283464"/>
          </a:xfrm>
          <a:prstGeom prst="line">
            <a:avLst/>
          </a:prstGeom>
          <a:noFill/>
          <a:ln w="25400">
            <a:solidFill>
              <a:srgbClr val="94A3B8"/>
            </a:solidFill>
            <a:prstDash val="solid"/>
            <a:tailEnd type="triangle"/>
          </a:ln>
        </p:spPr>
      </p:sp>
      <p:sp>
        <p:nvSpPr>
          <p:cNvPr id="20" name="Shape 17"/>
          <p:cNvSpPr/>
          <p:nvPr/>
        </p:nvSpPr>
        <p:spPr>
          <a:xfrm>
            <a:off x="914400" y="3685032"/>
            <a:ext cx="2331720" cy="850392"/>
          </a:xfrm>
          <a:prstGeom prst="roundRect">
            <a:avLst>
              <a:gd name="adj" fmla="val 8602"/>
            </a:avLst>
          </a:prstGeom>
          <a:solidFill>
            <a:srgbClr val="FFFFFF"/>
          </a:solidFill>
          <a:ln w="12700">
            <a:solidFill>
              <a:srgbClr val="CBD5E1"/>
            </a:solidFill>
            <a:prstDash val="solid"/>
          </a:ln>
        </p:spPr>
      </p:sp>
      <p:sp>
        <p:nvSpPr>
          <p:cNvPr id="21" name="Shape 18"/>
          <p:cNvSpPr/>
          <p:nvPr/>
        </p:nvSpPr>
        <p:spPr>
          <a:xfrm>
            <a:off x="914400" y="3685032"/>
            <a:ext cx="2331720" cy="329184"/>
          </a:xfrm>
          <a:prstGeom prst="roundRect">
            <a:avLst>
              <a:gd name="adj" fmla="val 22222"/>
            </a:avLst>
          </a:prstGeom>
          <a:solidFill>
            <a:srgbClr val="4BACC6"/>
          </a:solidFill>
          <a:ln w="12700">
            <a:solidFill>
              <a:srgbClr val="4BACC6"/>
            </a:solidFill>
            <a:prstDash val="solid"/>
          </a:ln>
        </p:spPr>
      </p:sp>
      <p:sp>
        <p:nvSpPr>
          <p:cNvPr id="22" name="Text 19"/>
          <p:cNvSpPr txBox="1"/>
          <p:nvPr/>
        </p:nvSpPr>
        <p:spPr>
          <a:xfrm>
            <a:off x="1005840" y="3739896"/>
            <a:ext cx="2148840"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 PATH</a:t>
            </a:r>
            <a:endParaRPr lang="en-US" sz="1150" dirty="0"/>
          </a:p>
        </p:txBody>
      </p:sp>
      <p:sp>
        <p:nvSpPr>
          <p:cNvPr id="23" name="Text 20"/>
          <p:cNvSpPr txBox="1"/>
          <p:nvPr/>
        </p:nvSpPr>
        <p:spPr>
          <a:xfrm>
            <a:off x="1051560" y="4169664"/>
            <a:ext cx="2057400" cy="265176"/>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UPS 9 kW  ·  PDU 8 kW</a:t>
            </a:r>
            <a:endParaRPr lang="en-US" sz="1400" dirty="0"/>
          </a:p>
        </p:txBody>
      </p:sp>
      <p:sp>
        <p:nvSpPr>
          <p:cNvPr id="24" name="Shape 21"/>
          <p:cNvSpPr/>
          <p:nvPr/>
        </p:nvSpPr>
        <p:spPr>
          <a:xfrm>
            <a:off x="4892040" y="3685032"/>
            <a:ext cx="2331720" cy="850392"/>
          </a:xfrm>
          <a:prstGeom prst="roundRect">
            <a:avLst>
              <a:gd name="adj" fmla="val 8602"/>
            </a:avLst>
          </a:prstGeom>
          <a:solidFill>
            <a:srgbClr val="FFFFFF"/>
          </a:solidFill>
          <a:ln w="12700">
            <a:solidFill>
              <a:srgbClr val="CBD5E1"/>
            </a:solidFill>
            <a:prstDash val="solid"/>
          </a:ln>
        </p:spPr>
      </p:sp>
      <p:sp>
        <p:nvSpPr>
          <p:cNvPr id="25" name="Shape 22"/>
          <p:cNvSpPr/>
          <p:nvPr/>
        </p:nvSpPr>
        <p:spPr>
          <a:xfrm>
            <a:off x="4892040" y="3685032"/>
            <a:ext cx="2331720" cy="329184"/>
          </a:xfrm>
          <a:prstGeom prst="roundRect">
            <a:avLst>
              <a:gd name="adj" fmla="val 22222"/>
            </a:avLst>
          </a:prstGeom>
          <a:solidFill>
            <a:srgbClr val="8064A2"/>
          </a:solidFill>
          <a:ln w="12700">
            <a:solidFill>
              <a:srgbClr val="8064A2"/>
            </a:solidFill>
            <a:prstDash val="solid"/>
          </a:ln>
        </p:spPr>
      </p:sp>
      <p:sp>
        <p:nvSpPr>
          <p:cNvPr id="26" name="Text 23"/>
          <p:cNvSpPr txBox="1"/>
          <p:nvPr/>
        </p:nvSpPr>
        <p:spPr>
          <a:xfrm>
            <a:off x="4983480" y="3739896"/>
            <a:ext cx="2148840"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 PATH</a:t>
            </a:r>
            <a:endParaRPr lang="en-US" sz="1150" dirty="0"/>
          </a:p>
        </p:txBody>
      </p:sp>
      <p:sp>
        <p:nvSpPr>
          <p:cNvPr id="27" name="Text 24"/>
          <p:cNvSpPr txBox="1"/>
          <p:nvPr/>
        </p:nvSpPr>
        <p:spPr>
          <a:xfrm>
            <a:off x="5029200" y="4169664"/>
            <a:ext cx="2057400" cy="265176"/>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UPS 9 kW  ·  PDU 8 kW</a:t>
            </a:r>
            <a:endParaRPr lang="en-US" sz="1400" dirty="0"/>
          </a:p>
        </p:txBody>
      </p:sp>
      <p:sp>
        <p:nvSpPr>
          <p:cNvPr id="28" name="Shape 25"/>
          <p:cNvSpPr/>
          <p:nvPr/>
        </p:nvSpPr>
        <p:spPr>
          <a:xfrm>
            <a:off x="3364992" y="3364992"/>
            <a:ext cx="-1307592" cy="320040"/>
          </a:xfrm>
          <a:prstGeom prst="line">
            <a:avLst/>
          </a:prstGeom>
          <a:noFill/>
          <a:ln w="25400">
            <a:solidFill>
              <a:srgbClr val="94A3B8"/>
            </a:solidFill>
            <a:prstDash val="solid"/>
            <a:tailEnd type="triangle"/>
          </a:ln>
        </p:spPr>
      </p:sp>
      <p:sp>
        <p:nvSpPr>
          <p:cNvPr id="29" name="Shape 26"/>
          <p:cNvSpPr/>
          <p:nvPr/>
        </p:nvSpPr>
        <p:spPr>
          <a:xfrm>
            <a:off x="4526280" y="3364992"/>
            <a:ext cx="1527048" cy="320040"/>
          </a:xfrm>
          <a:prstGeom prst="line">
            <a:avLst/>
          </a:prstGeom>
          <a:noFill/>
          <a:ln w="25400">
            <a:solidFill>
              <a:srgbClr val="94A3B8"/>
            </a:solidFill>
            <a:prstDash val="solid"/>
            <a:tailEnd type="triangle"/>
          </a:ln>
        </p:spPr>
      </p:sp>
      <p:sp>
        <p:nvSpPr>
          <p:cNvPr id="30" name="Text 27"/>
          <p:cNvSpPr txBox="1"/>
          <p:nvPr/>
        </p:nvSpPr>
        <p:spPr>
          <a:xfrm>
            <a:off x="1600200" y="4718304"/>
            <a:ext cx="5029200" cy="228600"/>
          </a:xfrm>
          <a:prstGeom prst="rect">
            <a:avLst/>
          </a:prstGeom>
          <a:noFill/>
          <a:ln/>
        </p:spPr>
        <p:txBody>
          <a:bodyPr wrap="square" lIns="508" tIns="508" rIns="508" bIns="508" rtlCol="0" anchor="ctr">
            <a:normAutofit/>
          </a:bodyPr>
          <a:lstStyle/>
          <a:p>
            <a:pPr algn="ctr" indent="0" marL="0">
              <a:buNone/>
            </a:pPr>
            <a:r>
              <a:rPr lang="en-US" sz="1300" b="1" dirty="0">
                <a:solidFill>
                  <a:srgbClr val="1F497D"/>
                </a:solidFill>
                <a:latin typeface="Calibri" pitchFamily="34" charset="0"/>
                <a:ea typeface="Calibri" pitchFamily="34" charset="-122"/>
                <a:cs typeface="Calibri" pitchFamily="34" charset="-120"/>
              </a:rPr>
              <a:t>Dual-powered core + single-cord devices</a:t>
            </a:r>
            <a:endParaRPr lang="en-US" sz="1300" dirty="0"/>
          </a:p>
        </p:txBody>
      </p:sp>
      <p:sp>
        <p:nvSpPr>
          <p:cNvPr id="31" name="Shape 28"/>
          <p:cNvSpPr/>
          <p:nvPr/>
        </p:nvSpPr>
        <p:spPr>
          <a:xfrm>
            <a:off x="2057400" y="4535424"/>
            <a:ext cx="731520" cy="182880"/>
          </a:xfrm>
          <a:prstGeom prst="line">
            <a:avLst/>
          </a:prstGeom>
          <a:noFill/>
          <a:ln w="25400">
            <a:solidFill>
              <a:srgbClr val="94A3B8"/>
            </a:solidFill>
            <a:prstDash val="solid"/>
            <a:tailEnd type="triangle"/>
          </a:ln>
        </p:spPr>
      </p:sp>
      <p:sp>
        <p:nvSpPr>
          <p:cNvPr id="32" name="Shape 29"/>
          <p:cNvSpPr/>
          <p:nvPr/>
        </p:nvSpPr>
        <p:spPr>
          <a:xfrm>
            <a:off x="6053328" y="4535424"/>
            <a:ext cx="-640080" cy="182880"/>
          </a:xfrm>
          <a:prstGeom prst="line">
            <a:avLst/>
          </a:prstGeom>
          <a:noFill/>
          <a:ln w="25400">
            <a:solidFill>
              <a:srgbClr val="94A3B8"/>
            </a:solidFill>
            <a:prstDash val="solid"/>
            <a:tailEnd type="triangle"/>
          </a:ln>
        </p:spPr>
      </p:sp>
      <p:sp>
        <p:nvSpPr>
          <p:cNvPr id="33" name="Shape 30"/>
          <p:cNvSpPr/>
          <p:nvPr/>
        </p:nvSpPr>
        <p:spPr>
          <a:xfrm>
            <a:off x="7699248" y="1700784"/>
            <a:ext cx="3849624" cy="3401568"/>
          </a:xfrm>
          <a:prstGeom prst="roundRect">
            <a:avLst>
              <a:gd name="adj" fmla="val 2151"/>
            </a:avLst>
          </a:prstGeom>
          <a:solidFill>
            <a:srgbClr val="FFFFFF"/>
          </a:solidFill>
          <a:ln w="12700">
            <a:solidFill>
              <a:srgbClr val="CBD5E1"/>
            </a:solidFill>
            <a:prstDash val="solid"/>
          </a:ln>
        </p:spPr>
      </p:sp>
      <p:sp>
        <p:nvSpPr>
          <p:cNvPr id="34" name="Text 31"/>
          <p:cNvSpPr txBox="1"/>
          <p:nvPr/>
        </p:nvSpPr>
        <p:spPr>
          <a:xfrm>
            <a:off x="7882128" y="1865376"/>
            <a:ext cx="3520440" cy="256032"/>
          </a:xfrm>
          <a:prstGeom prst="rect">
            <a:avLst/>
          </a:prstGeom>
          <a:noFill/>
          <a:ln/>
        </p:spPr>
        <p:txBody>
          <a:bodyPr wrap="square" lIns="508" tIns="508" rIns="508" bIns="508" rtlCol="0" anchor="ctr">
            <a:normAutofit/>
          </a:bodyPr>
          <a:lstStyle/>
          <a:p>
            <a:pPr algn="l" indent="0" marL="0">
              <a:buNone/>
            </a:pPr>
            <a:r>
              <a:rPr lang="en-US" sz="1300" b="1" dirty="0">
                <a:solidFill>
                  <a:srgbClr val="1F497D"/>
                </a:solidFill>
                <a:latin typeface="Calibri" pitchFamily="34" charset="0"/>
                <a:ea typeface="Calibri" pitchFamily="34" charset="-122"/>
                <a:cs typeface="Calibri" pitchFamily="34" charset="-120"/>
              </a:rPr>
              <a:t>EQUIPMENT + LOADS</a:t>
            </a:r>
            <a:endParaRPr lang="en-US" sz="1300" dirty="0"/>
          </a:p>
        </p:txBody>
      </p:sp>
      <p:sp>
        <p:nvSpPr>
          <p:cNvPr id="35" name="Shape 32"/>
          <p:cNvSpPr/>
          <p:nvPr/>
        </p:nvSpPr>
        <p:spPr>
          <a:xfrm>
            <a:off x="7918704" y="2359152"/>
            <a:ext cx="109728" cy="109728"/>
          </a:xfrm>
          <a:prstGeom prst="ellipse">
            <a:avLst/>
          </a:prstGeom>
          <a:solidFill>
            <a:srgbClr val="4BACC6"/>
          </a:solidFill>
          <a:ln w="12700">
            <a:solidFill>
              <a:srgbClr val="4BACC6"/>
            </a:solidFill>
            <a:prstDash val="solid"/>
          </a:ln>
        </p:spPr>
      </p:sp>
      <p:sp>
        <p:nvSpPr>
          <p:cNvPr id="36" name="Text 33"/>
          <p:cNvSpPr txBox="1"/>
          <p:nvPr/>
        </p:nvSpPr>
        <p:spPr>
          <a:xfrm>
            <a:off x="8119872" y="2267712"/>
            <a:ext cx="3136392" cy="182880"/>
          </a:xfrm>
          <a:prstGeom prst="rect">
            <a:avLst/>
          </a:prstGeom>
          <a:noFill/>
          <a:ln/>
        </p:spPr>
        <p:txBody>
          <a:bodyPr wrap="square" lIns="508" tIns="508" rIns="508" bIns="508" rtlCol="0" anchor="ctr">
            <a:normAutofit/>
          </a:bodyPr>
          <a:lstStyle/>
          <a:p>
            <a:pPr algn="l" indent="0" marL="0">
              <a:buNone/>
            </a:pPr>
            <a:r>
              <a:rPr lang="en-US" sz="1060" b="1" dirty="0">
                <a:solidFill>
                  <a:srgbClr val="1F497D"/>
                </a:solidFill>
                <a:latin typeface="Calibri" pitchFamily="34" charset="0"/>
                <a:ea typeface="Calibri" pitchFamily="34" charset="-122"/>
                <a:cs typeface="Calibri" pitchFamily="34" charset="-120"/>
              </a:rPr>
              <a:t>DUAL PSU IT</a:t>
            </a:r>
            <a:endParaRPr lang="en-US" sz="1060" dirty="0"/>
          </a:p>
        </p:txBody>
      </p:sp>
      <p:sp>
        <p:nvSpPr>
          <p:cNvPr id="37" name="Text 34"/>
          <p:cNvSpPr txBox="1"/>
          <p:nvPr/>
        </p:nvSpPr>
        <p:spPr>
          <a:xfrm>
            <a:off x="8119872" y="2450592"/>
            <a:ext cx="3136392" cy="265176"/>
          </a:xfrm>
          <a:prstGeom prst="rect">
            <a:avLst/>
          </a:prstGeom>
          <a:noFill/>
          <a:ln/>
        </p:spPr>
        <p:txBody>
          <a:bodyPr wrap="square" lIns="508" tIns="508" rIns="508" bIns="508" rtlCol="0" anchor="ctr">
            <a:normAutofit/>
          </a:bodyPr>
          <a:lstStyle/>
          <a:p>
            <a:pPr algn="l" indent="0" marL="0">
              <a:buNone/>
            </a:pPr>
            <a:r>
              <a:rPr lang="en-US" sz="1130" dirty="0">
                <a:solidFill>
                  <a:srgbClr val="203040"/>
                </a:solidFill>
                <a:latin typeface="Calibri" pitchFamily="34" charset="0"/>
                <a:ea typeface="Calibri" pitchFamily="34" charset="-122"/>
                <a:cs typeface="Calibri" pitchFamily="34" charset="-120"/>
              </a:rPr>
              <a:t>4 compute 4.0 kW; storage 1.5 kW</a:t>
            </a:r>
            <a:endParaRPr lang="en-US" sz="1130" dirty="0"/>
          </a:p>
        </p:txBody>
      </p:sp>
      <p:sp>
        <p:nvSpPr>
          <p:cNvPr id="38" name="Shape 35"/>
          <p:cNvSpPr/>
          <p:nvPr/>
        </p:nvSpPr>
        <p:spPr>
          <a:xfrm>
            <a:off x="7918704" y="2880360"/>
            <a:ext cx="109728" cy="109728"/>
          </a:xfrm>
          <a:prstGeom prst="ellipse">
            <a:avLst/>
          </a:prstGeom>
          <a:solidFill>
            <a:srgbClr val="4F81BD"/>
          </a:solidFill>
          <a:ln w="12700">
            <a:solidFill>
              <a:srgbClr val="4F81BD"/>
            </a:solidFill>
            <a:prstDash val="solid"/>
          </a:ln>
        </p:spPr>
      </p:sp>
      <p:sp>
        <p:nvSpPr>
          <p:cNvPr id="39" name="Text 36"/>
          <p:cNvSpPr txBox="1"/>
          <p:nvPr/>
        </p:nvSpPr>
        <p:spPr>
          <a:xfrm>
            <a:off x="8119872" y="2788920"/>
            <a:ext cx="3136392" cy="182880"/>
          </a:xfrm>
          <a:prstGeom prst="rect">
            <a:avLst/>
          </a:prstGeom>
          <a:noFill/>
          <a:ln/>
        </p:spPr>
        <p:txBody>
          <a:bodyPr wrap="square" lIns="508" tIns="508" rIns="508" bIns="508" rtlCol="0" anchor="ctr">
            <a:normAutofit/>
          </a:bodyPr>
          <a:lstStyle/>
          <a:p>
            <a:pPr algn="l" indent="0" marL="0">
              <a:buNone/>
            </a:pPr>
            <a:r>
              <a:rPr lang="en-US" sz="1060" b="1" dirty="0">
                <a:solidFill>
                  <a:srgbClr val="1F497D"/>
                </a:solidFill>
                <a:latin typeface="Calibri" pitchFamily="34" charset="0"/>
                <a:ea typeface="Calibri" pitchFamily="34" charset="-122"/>
                <a:cs typeface="Calibri" pitchFamily="34" charset="-120"/>
              </a:rPr>
              <a:t>A ONLY</a:t>
            </a:r>
            <a:endParaRPr lang="en-US" sz="1060" dirty="0"/>
          </a:p>
        </p:txBody>
      </p:sp>
      <p:sp>
        <p:nvSpPr>
          <p:cNvPr id="40" name="Text 37"/>
          <p:cNvSpPr txBox="1"/>
          <p:nvPr/>
        </p:nvSpPr>
        <p:spPr>
          <a:xfrm>
            <a:off x="8119872" y="2971800"/>
            <a:ext cx="3136392" cy="265176"/>
          </a:xfrm>
          <a:prstGeom prst="rect">
            <a:avLst/>
          </a:prstGeom>
          <a:noFill/>
          <a:ln/>
        </p:spPr>
        <p:txBody>
          <a:bodyPr wrap="square" lIns="508" tIns="508" rIns="508" bIns="508" rtlCol="0" anchor="ctr">
            <a:normAutofit/>
          </a:bodyPr>
          <a:lstStyle/>
          <a:p>
            <a:pPr algn="l" indent="0" marL="0">
              <a:buNone/>
            </a:pPr>
            <a:r>
              <a:rPr lang="en-US" sz="1130" dirty="0">
                <a:solidFill>
                  <a:srgbClr val="203040"/>
                </a:solidFill>
                <a:latin typeface="Calibri" pitchFamily="34" charset="0"/>
                <a:ea typeface="Calibri" pitchFamily="34" charset="-122"/>
                <a:cs typeface="Calibri" pitchFamily="34" charset="-120"/>
              </a:rPr>
              <a:t>switch 0.5 kW; backup NAS 0.8 kW</a:t>
            </a:r>
            <a:endParaRPr lang="en-US" sz="1130" dirty="0"/>
          </a:p>
        </p:txBody>
      </p:sp>
      <p:sp>
        <p:nvSpPr>
          <p:cNvPr id="41" name="Shape 38"/>
          <p:cNvSpPr/>
          <p:nvPr/>
        </p:nvSpPr>
        <p:spPr>
          <a:xfrm>
            <a:off x="7918704" y="3401568"/>
            <a:ext cx="109728" cy="109728"/>
          </a:xfrm>
          <a:prstGeom prst="ellipse">
            <a:avLst/>
          </a:prstGeom>
          <a:solidFill>
            <a:srgbClr val="F79646"/>
          </a:solidFill>
          <a:ln w="12700">
            <a:solidFill>
              <a:srgbClr val="F79646"/>
            </a:solidFill>
            <a:prstDash val="solid"/>
          </a:ln>
        </p:spPr>
      </p:sp>
      <p:sp>
        <p:nvSpPr>
          <p:cNvPr id="42" name="Text 39"/>
          <p:cNvSpPr txBox="1"/>
          <p:nvPr/>
        </p:nvSpPr>
        <p:spPr>
          <a:xfrm>
            <a:off x="8119872" y="3310128"/>
            <a:ext cx="3136392" cy="182880"/>
          </a:xfrm>
          <a:prstGeom prst="rect">
            <a:avLst/>
          </a:prstGeom>
          <a:noFill/>
          <a:ln/>
        </p:spPr>
        <p:txBody>
          <a:bodyPr wrap="square" lIns="508" tIns="508" rIns="508" bIns="508" rtlCol="0" anchor="ctr">
            <a:normAutofit/>
          </a:bodyPr>
          <a:lstStyle/>
          <a:p>
            <a:pPr algn="l" indent="0" marL="0">
              <a:buNone/>
            </a:pPr>
            <a:r>
              <a:rPr lang="en-US" sz="1060" b="1" dirty="0">
                <a:solidFill>
                  <a:srgbClr val="1F497D"/>
                </a:solidFill>
                <a:latin typeface="Calibri" pitchFamily="34" charset="0"/>
                <a:ea typeface="Calibri" pitchFamily="34" charset="-122"/>
                <a:cs typeface="Calibri" pitchFamily="34" charset="-120"/>
              </a:rPr>
              <a:t>B ONLY</a:t>
            </a:r>
            <a:endParaRPr lang="en-US" sz="1060" dirty="0"/>
          </a:p>
        </p:txBody>
      </p:sp>
      <p:sp>
        <p:nvSpPr>
          <p:cNvPr id="43" name="Text 40"/>
          <p:cNvSpPr txBox="1"/>
          <p:nvPr/>
        </p:nvSpPr>
        <p:spPr>
          <a:xfrm>
            <a:off x="8119872" y="3493008"/>
            <a:ext cx="3136392" cy="265176"/>
          </a:xfrm>
          <a:prstGeom prst="rect">
            <a:avLst/>
          </a:prstGeom>
          <a:noFill/>
          <a:ln/>
        </p:spPr>
        <p:txBody>
          <a:bodyPr wrap="square" lIns="508" tIns="508" rIns="508" bIns="508" rtlCol="0" anchor="ctr">
            <a:normAutofit/>
          </a:bodyPr>
          <a:lstStyle/>
          <a:p>
            <a:pPr algn="l" indent="0" marL="0">
              <a:buNone/>
            </a:pPr>
            <a:r>
              <a:rPr lang="en-US" sz="1130" dirty="0">
                <a:solidFill>
                  <a:srgbClr val="203040"/>
                </a:solidFill>
                <a:latin typeface="Calibri" pitchFamily="34" charset="0"/>
                <a:ea typeface="Calibri" pitchFamily="34" charset="-122"/>
                <a:cs typeface="Calibri" pitchFamily="34" charset="-120"/>
              </a:rPr>
              <a:t>switch 0.5 kW</a:t>
            </a:r>
            <a:endParaRPr lang="en-US" sz="1130" dirty="0"/>
          </a:p>
        </p:txBody>
      </p:sp>
      <p:sp>
        <p:nvSpPr>
          <p:cNvPr id="44" name="Shape 41"/>
          <p:cNvSpPr/>
          <p:nvPr/>
        </p:nvSpPr>
        <p:spPr>
          <a:xfrm>
            <a:off x="7918704" y="3922776"/>
            <a:ext cx="109728" cy="109728"/>
          </a:xfrm>
          <a:prstGeom prst="ellipse">
            <a:avLst/>
          </a:prstGeom>
          <a:solidFill>
            <a:srgbClr val="8064A2"/>
          </a:solidFill>
          <a:ln w="12700">
            <a:solidFill>
              <a:srgbClr val="8064A2"/>
            </a:solidFill>
            <a:prstDash val="solid"/>
          </a:ln>
        </p:spPr>
      </p:sp>
      <p:sp>
        <p:nvSpPr>
          <p:cNvPr id="45" name="Text 42"/>
          <p:cNvSpPr txBox="1"/>
          <p:nvPr/>
        </p:nvSpPr>
        <p:spPr>
          <a:xfrm>
            <a:off x="8119872" y="3831336"/>
            <a:ext cx="3136392" cy="182880"/>
          </a:xfrm>
          <a:prstGeom prst="rect">
            <a:avLst/>
          </a:prstGeom>
          <a:noFill/>
          <a:ln/>
        </p:spPr>
        <p:txBody>
          <a:bodyPr wrap="square" lIns="508" tIns="508" rIns="508" bIns="508" rtlCol="0" anchor="ctr">
            <a:normAutofit/>
          </a:bodyPr>
          <a:lstStyle/>
          <a:p>
            <a:pPr algn="l" indent="0" marL="0">
              <a:buNone/>
            </a:pPr>
            <a:r>
              <a:rPr lang="en-US" sz="1060" b="1" dirty="0">
                <a:solidFill>
                  <a:srgbClr val="1F497D"/>
                </a:solidFill>
                <a:latin typeface="Calibri" pitchFamily="34" charset="0"/>
                <a:ea typeface="Calibri" pitchFamily="34" charset="-122"/>
                <a:cs typeface="Calibri" pitchFamily="34" charset="-120"/>
              </a:rPr>
              <a:t>COOLING</a:t>
            </a:r>
            <a:endParaRPr lang="en-US" sz="1060" dirty="0"/>
          </a:p>
        </p:txBody>
      </p:sp>
      <p:sp>
        <p:nvSpPr>
          <p:cNvPr id="46" name="Text 43"/>
          <p:cNvSpPr txBox="1"/>
          <p:nvPr/>
        </p:nvSpPr>
        <p:spPr>
          <a:xfrm>
            <a:off x="8119872" y="4014216"/>
            <a:ext cx="3136392" cy="265176"/>
          </a:xfrm>
          <a:prstGeom prst="rect">
            <a:avLst/>
          </a:prstGeom>
          <a:noFill/>
          <a:ln/>
        </p:spPr>
        <p:txBody>
          <a:bodyPr wrap="square" lIns="508" tIns="508" rIns="508" bIns="508" rtlCol="0" anchor="ctr">
            <a:normAutofit/>
          </a:bodyPr>
          <a:lstStyle/>
          <a:p>
            <a:pPr algn="l" indent="0" marL="0">
              <a:buNone/>
            </a:pPr>
            <a:r>
              <a:rPr lang="en-US" sz="1130" dirty="0">
                <a:solidFill>
                  <a:srgbClr val="203040"/>
                </a:solidFill>
                <a:latin typeface="Calibri" pitchFamily="34" charset="0"/>
                <a:ea typeface="Calibri" pitchFamily="34" charset="-122"/>
                <a:cs typeface="Calibri" pitchFamily="34" charset="-120"/>
              </a:rPr>
              <a:t>2 CRACs; each draws 4 kW, removes 8 kW</a:t>
            </a:r>
            <a:endParaRPr lang="en-US" sz="1130" dirty="0"/>
          </a:p>
        </p:txBody>
      </p:sp>
      <p:sp>
        <p:nvSpPr>
          <p:cNvPr id="47" name="Shape 44"/>
          <p:cNvSpPr/>
          <p:nvPr/>
        </p:nvSpPr>
        <p:spPr>
          <a:xfrm>
            <a:off x="7918704" y="4443984"/>
            <a:ext cx="109728" cy="109728"/>
          </a:xfrm>
          <a:prstGeom prst="ellipse">
            <a:avLst/>
          </a:prstGeom>
          <a:solidFill>
            <a:srgbClr val="70AD47"/>
          </a:solidFill>
          <a:ln w="12700">
            <a:solidFill>
              <a:srgbClr val="70AD47"/>
            </a:solidFill>
            <a:prstDash val="solid"/>
          </a:ln>
        </p:spPr>
      </p:sp>
      <p:sp>
        <p:nvSpPr>
          <p:cNvPr id="48" name="Text 45"/>
          <p:cNvSpPr txBox="1"/>
          <p:nvPr/>
        </p:nvSpPr>
        <p:spPr>
          <a:xfrm>
            <a:off x="8119872" y="4352544"/>
            <a:ext cx="3136392" cy="182880"/>
          </a:xfrm>
          <a:prstGeom prst="rect">
            <a:avLst/>
          </a:prstGeom>
          <a:noFill/>
          <a:ln/>
        </p:spPr>
        <p:txBody>
          <a:bodyPr wrap="square" lIns="508" tIns="508" rIns="508" bIns="508" rtlCol="0" anchor="ctr">
            <a:normAutofit/>
          </a:bodyPr>
          <a:lstStyle/>
          <a:p>
            <a:pPr algn="l" indent="0" marL="0">
              <a:buNone/>
            </a:pPr>
            <a:r>
              <a:rPr lang="en-US" sz="1060" b="1" dirty="0">
                <a:solidFill>
                  <a:srgbClr val="1F497D"/>
                </a:solidFill>
                <a:latin typeface="Calibri" pitchFamily="34" charset="0"/>
                <a:ea typeface="Calibri" pitchFamily="34" charset="-122"/>
                <a:cs typeface="Calibri" pitchFamily="34" charset="-120"/>
              </a:rPr>
              <a:t>OTHER</a:t>
            </a:r>
            <a:endParaRPr lang="en-US" sz="1060" dirty="0"/>
          </a:p>
        </p:txBody>
      </p:sp>
      <p:sp>
        <p:nvSpPr>
          <p:cNvPr id="49" name="Text 46"/>
          <p:cNvSpPr txBox="1"/>
          <p:nvPr/>
        </p:nvSpPr>
        <p:spPr>
          <a:xfrm>
            <a:off x="8119872" y="4535424"/>
            <a:ext cx="3136392" cy="265176"/>
          </a:xfrm>
          <a:prstGeom prst="rect">
            <a:avLst/>
          </a:prstGeom>
          <a:noFill/>
          <a:ln/>
        </p:spPr>
        <p:txBody>
          <a:bodyPr wrap="square" lIns="508" tIns="508" rIns="508" bIns="508" rtlCol="0" anchor="ctr">
            <a:normAutofit/>
          </a:bodyPr>
          <a:lstStyle/>
          <a:p>
            <a:pPr algn="l" indent="0" marL="0">
              <a:buNone/>
            </a:pPr>
            <a:r>
              <a:rPr lang="en-US" sz="1130" dirty="0">
                <a:solidFill>
                  <a:srgbClr val="203040"/>
                </a:solidFill>
                <a:latin typeface="Calibri" pitchFamily="34" charset="0"/>
                <a:ea typeface="Calibri" pitchFamily="34" charset="-122"/>
                <a:cs typeface="Calibri" pitchFamily="34" charset="-120"/>
              </a:rPr>
              <a:t>lights / facility 0.7 kW</a:t>
            </a:r>
            <a:endParaRPr lang="en-US" sz="1130" dirty="0"/>
          </a:p>
        </p:txBody>
      </p:sp>
      <p:sp>
        <p:nvSpPr>
          <p:cNvPr id="50" name="Shape 47"/>
          <p:cNvSpPr/>
          <p:nvPr/>
        </p:nvSpPr>
        <p:spPr>
          <a:xfrm>
            <a:off x="960120" y="5349240"/>
            <a:ext cx="10195560" cy="731520"/>
          </a:xfrm>
          <a:prstGeom prst="roundRect">
            <a:avLst>
              <a:gd name="adj" fmla="val 10000"/>
            </a:avLst>
          </a:prstGeom>
          <a:solidFill>
            <a:srgbClr val="FFFFFF"/>
          </a:solidFill>
          <a:ln w="12700">
            <a:solidFill>
              <a:srgbClr val="1F497D"/>
            </a:solidFill>
            <a:prstDash val="solid"/>
          </a:ln>
        </p:spPr>
      </p:sp>
      <p:sp>
        <p:nvSpPr>
          <p:cNvPr id="51" name="Shape 48"/>
          <p:cNvSpPr/>
          <p:nvPr/>
        </p:nvSpPr>
        <p:spPr>
          <a:xfrm>
            <a:off x="960120" y="5349240"/>
            <a:ext cx="91440" cy="731520"/>
          </a:xfrm>
          <a:prstGeom prst="rect">
            <a:avLst>
              <a:gd name="adj" fmla="val 80000"/>
            </a:avLst>
          </a:prstGeom>
          <a:solidFill>
            <a:srgbClr val="1F497D"/>
          </a:solidFill>
          <a:ln w="12700">
            <a:solidFill>
              <a:srgbClr val="1F497D"/>
            </a:solidFill>
            <a:prstDash val="solid"/>
          </a:ln>
        </p:spPr>
      </p:sp>
      <p:sp>
        <p:nvSpPr>
          <p:cNvPr id="52" name="Text 49"/>
          <p:cNvSpPr txBox="1"/>
          <p:nvPr/>
        </p:nvSpPr>
        <p:spPr>
          <a:xfrm>
            <a:off x="1188720" y="5431536"/>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Board goal</a:t>
            </a:r>
            <a:endParaRPr lang="en-US" sz="1320" dirty="0"/>
          </a:p>
        </p:txBody>
      </p:sp>
      <p:sp>
        <p:nvSpPr>
          <p:cNvPr id="53" name="Text 50"/>
          <p:cNvSpPr txBox="1"/>
          <p:nvPr/>
        </p:nvSpPr>
        <p:spPr>
          <a:xfrm>
            <a:off x="1188720" y="5696712"/>
            <a:ext cx="9784080" cy="329184"/>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Assess 2.0 kW of added dual-powered IT load and one power-path or cooling-unit outage.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The data center converts power into heat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Follow energy from the service entrance to IT and then back outdoors.</a:t>
            </a:r>
            <a:endParaRPr lang="en-US" sz="1300" dirty="0"/>
          </a:p>
        </p:txBody>
      </p:sp>
      <p:sp>
        <p:nvSpPr>
          <p:cNvPr id="6" name="Shape 3"/>
          <p:cNvSpPr/>
          <p:nvPr/>
        </p:nvSpPr>
        <p:spPr>
          <a:xfrm>
            <a:off x="640080" y="1965960"/>
            <a:ext cx="3301898"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3301898"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POWER IN</a:t>
            </a:r>
            <a:endParaRPr lang="en-US" sz="1150" dirty="0"/>
          </a:p>
        </p:txBody>
      </p:sp>
      <p:sp>
        <p:nvSpPr>
          <p:cNvPr id="9" name="Text 6"/>
          <p:cNvSpPr txBox="1"/>
          <p:nvPr/>
        </p:nvSpPr>
        <p:spPr>
          <a:xfrm>
            <a:off x="777240"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Utility and generator</a:t>
            </a:r>
            <a:endParaRPr lang="en-US" sz="1400" dirty="0"/>
          </a:p>
        </p:txBody>
      </p:sp>
      <p:sp>
        <p:nvSpPr>
          <p:cNvPr id="10" name="Shape 7"/>
          <p:cNvSpPr/>
          <p:nvPr/>
        </p:nvSpPr>
        <p:spPr>
          <a:xfrm>
            <a:off x="3996842" y="2903220"/>
            <a:ext cx="393192" cy="0"/>
          </a:xfrm>
          <a:prstGeom prst="line">
            <a:avLst/>
          </a:prstGeom>
          <a:noFill/>
          <a:ln w="25400">
            <a:solidFill>
              <a:srgbClr val="94A3B8"/>
            </a:solidFill>
            <a:prstDash val="solid"/>
            <a:tailEnd type="triangle"/>
          </a:ln>
        </p:spPr>
      </p:sp>
      <p:sp>
        <p:nvSpPr>
          <p:cNvPr id="11" name="Shape 8"/>
          <p:cNvSpPr/>
          <p:nvPr/>
        </p:nvSpPr>
        <p:spPr>
          <a:xfrm>
            <a:off x="4444898" y="1965960"/>
            <a:ext cx="3301898"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4444898" y="1965960"/>
            <a:ext cx="3301898"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4536338"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CONVERT</a:t>
            </a:r>
            <a:endParaRPr lang="en-US" sz="1150" dirty="0"/>
          </a:p>
        </p:txBody>
      </p:sp>
      <p:sp>
        <p:nvSpPr>
          <p:cNvPr id="14" name="Text 11"/>
          <p:cNvSpPr txBox="1"/>
          <p:nvPr/>
        </p:nvSpPr>
        <p:spPr>
          <a:xfrm>
            <a:off x="4582058"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Servers do work</a:t>
            </a:r>
            <a:endParaRPr lang="en-US" sz="1400" dirty="0"/>
          </a:p>
        </p:txBody>
      </p:sp>
      <p:sp>
        <p:nvSpPr>
          <p:cNvPr id="15" name="Shape 12"/>
          <p:cNvSpPr/>
          <p:nvPr/>
        </p:nvSpPr>
        <p:spPr>
          <a:xfrm>
            <a:off x="7801661" y="2903220"/>
            <a:ext cx="393192" cy="0"/>
          </a:xfrm>
          <a:prstGeom prst="line">
            <a:avLst/>
          </a:prstGeom>
          <a:noFill/>
          <a:ln w="25400">
            <a:solidFill>
              <a:srgbClr val="94A3B8"/>
            </a:solidFill>
            <a:prstDash val="solid"/>
            <a:tailEnd type="triangle"/>
          </a:ln>
        </p:spPr>
      </p:sp>
      <p:sp>
        <p:nvSpPr>
          <p:cNvPr id="16" name="Shape 13"/>
          <p:cNvSpPr/>
          <p:nvPr/>
        </p:nvSpPr>
        <p:spPr>
          <a:xfrm>
            <a:off x="8249717" y="1965960"/>
            <a:ext cx="3301898"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8249717" y="1965960"/>
            <a:ext cx="3301898"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8341157"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HEAT OUT</a:t>
            </a:r>
            <a:endParaRPr lang="en-US" sz="1150" dirty="0"/>
          </a:p>
        </p:txBody>
      </p:sp>
      <p:sp>
        <p:nvSpPr>
          <p:cNvPr id="19" name="Text 16"/>
          <p:cNvSpPr txBox="1"/>
          <p:nvPr/>
        </p:nvSpPr>
        <p:spPr>
          <a:xfrm>
            <a:off x="8386877"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Cooling rejects heat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2</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Three imperatives: power, cooling, operation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working data center keeps all three available through planned and unplanned events.</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CONTINUOUS POWER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Condition supply and bridge outages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CONTINUOUS COOLING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Remove heat while IT operates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CONTINUOUS OPERATION</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Maintain and repair without avoidable downtime</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3</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data center is not an office building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Its load and heat persist around the clock, so operating practices are part of design.</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LOAD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IT and cooling run continuously</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FAILURE</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Power or cooling loss threatens services quickly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OPERATIONS</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Access, maintenance, and response need plans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4</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From grid to fence: utility supply</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service connection has a capacity, route, protection, and approval process.</a:t>
            </a:r>
            <a:endParaRPr lang="en-US" sz="1300" dirty="0"/>
          </a:p>
        </p:txBody>
      </p:sp>
      <p:sp>
        <p:nvSpPr>
          <p:cNvPr id="6" name="Shape 3"/>
          <p:cNvSpPr/>
          <p:nvPr/>
        </p:nvSpPr>
        <p:spPr>
          <a:xfrm>
            <a:off x="640080" y="1965960"/>
            <a:ext cx="3301898"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3301898"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UTILITY</a:t>
            </a:r>
            <a:endParaRPr lang="en-US" sz="1150" dirty="0"/>
          </a:p>
        </p:txBody>
      </p:sp>
      <p:sp>
        <p:nvSpPr>
          <p:cNvPr id="9" name="Text 6"/>
          <p:cNvSpPr txBox="1"/>
          <p:nvPr/>
        </p:nvSpPr>
        <p:spPr>
          <a:xfrm>
            <a:off x="777240"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Available capacity</a:t>
            </a:r>
            <a:endParaRPr lang="en-US" sz="1400" dirty="0"/>
          </a:p>
        </p:txBody>
      </p:sp>
      <p:sp>
        <p:nvSpPr>
          <p:cNvPr id="10" name="Shape 7"/>
          <p:cNvSpPr/>
          <p:nvPr/>
        </p:nvSpPr>
        <p:spPr>
          <a:xfrm>
            <a:off x="3996842" y="2903220"/>
            <a:ext cx="393192" cy="0"/>
          </a:xfrm>
          <a:prstGeom prst="line">
            <a:avLst/>
          </a:prstGeom>
          <a:noFill/>
          <a:ln w="25400">
            <a:solidFill>
              <a:srgbClr val="94A3B8"/>
            </a:solidFill>
            <a:prstDash val="solid"/>
            <a:tailEnd type="triangle"/>
          </a:ln>
        </p:spPr>
      </p:sp>
      <p:sp>
        <p:nvSpPr>
          <p:cNvPr id="11" name="Shape 8"/>
          <p:cNvSpPr/>
          <p:nvPr/>
        </p:nvSpPr>
        <p:spPr>
          <a:xfrm>
            <a:off x="4444898" y="1965960"/>
            <a:ext cx="3301898"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4444898" y="1965960"/>
            <a:ext cx="3301898"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4536338"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p>
        </p:txBody>
      </p:sp>
      <p:sp>
        <p:nvSpPr>
          <p:cNvPr id="14" name="Text 11"/>
          <p:cNvSpPr txBox="1"/>
          <p:nvPr/>
        </p:nvSpPr>
        <p:spPr>
          <a:xfrm>
            <a:off x="4582058"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Meter + switchgear</a:t>
            </a:r>
            <a:endParaRPr lang="en-US" sz="1400" dirty="0"/>
          </a:p>
        </p:txBody>
      </p:sp>
      <p:sp>
        <p:nvSpPr>
          <p:cNvPr id="15" name="Shape 12"/>
          <p:cNvSpPr/>
          <p:nvPr/>
        </p:nvSpPr>
        <p:spPr>
          <a:xfrm>
            <a:off x="7801661" y="2903220"/>
            <a:ext cx="393192" cy="0"/>
          </a:xfrm>
          <a:prstGeom prst="line">
            <a:avLst/>
          </a:prstGeom>
          <a:noFill/>
          <a:ln w="25400">
            <a:solidFill>
              <a:srgbClr val="94A3B8"/>
            </a:solidFill>
            <a:prstDash val="solid"/>
            <a:tailEnd type="triangle"/>
          </a:ln>
        </p:spPr>
      </p:sp>
      <p:sp>
        <p:nvSpPr>
          <p:cNvPr id="16" name="Shape 13"/>
          <p:cNvSpPr/>
          <p:nvPr/>
        </p:nvSpPr>
        <p:spPr>
          <a:xfrm>
            <a:off x="8249717" y="1965960"/>
            <a:ext cx="3301898"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8249717" y="1965960"/>
            <a:ext cx="3301898"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8341157" y="2020824"/>
            <a:ext cx="3119018"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SITE</a:t>
            </a:r>
            <a:endParaRPr lang="en-US" sz="1150" dirty="0"/>
          </a:p>
        </p:txBody>
      </p:sp>
      <p:sp>
        <p:nvSpPr>
          <p:cNvPr id="19" name="Text 16"/>
          <p:cNvSpPr txBox="1"/>
          <p:nvPr/>
        </p:nvSpPr>
        <p:spPr>
          <a:xfrm>
            <a:off x="8386877" y="2450592"/>
            <a:ext cx="3027578"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Protected distribution</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5</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On-site chain: switchgear to rack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Every stage needs a capacity and a way to isolate faults.</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PANEL</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Protection and branching</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UPS</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Condition and bridge</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PDU</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Distribute to racks</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IT</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Dual or single supply</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6</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UPS: condition power and bridge outages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double-conversion UPS keeps the inverter feeding the critical load.</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RECTIFIER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AC to DC</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BATTERY</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Short-duration stored energy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INVERTER</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DC to regulated AC</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7</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Generator: the long outage handoff</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UPS bridges the start and transfer; generator capacity must include the chosen cooling load.</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C0504D"/>
          </a:solidFill>
          <a:ln w="12700">
            <a:solidFill>
              <a:srgbClr val="C0504D"/>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UTILITY LOSS</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UPS holds IT</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F79646"/>
          </a:solidFill>
          <a:ln w="12700">
            <a:solidFill>
              <a:srgbClr val="F79646"/>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START</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Generator stabilizes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4F81BD"/>
          </a:solidFill>
          <a:ln w="12700">
            <a:solidFill>
              <a:srgbClr val="4F81BD"/>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TRANSFER</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ATS feeds panel</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RESTORE</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UPS returns to input power</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8</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Power studies prove the paths will work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Capacity, fault current, breaker selectivity, and maintenance safety need engineering.</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LOAD FLOW</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Check normal and contingency loading</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FAULT + COORDINATION</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Interrupt and isolate the right branch</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ARC FLASH</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Understand maintenance hazards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9</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Every IT watt becomes a cooling problem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Airflow must carry rack heat to the cooling equipment without hot-air recirculation.</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C0504D"/>
          </a:solidFill>
          <a:ln w="12700">
            <a:solidFill>
              <a:srgbClr val="C0504D"/>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IT HEAT</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Measured IT kW sets sensible heat load</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AIR PATH</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Cold intake → hot exhaust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LEAKS</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Blanking and sealing protect the path</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10</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Containment keeps supply and return apart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Cold-aisle and hot-aisle schemes close the mixing path.</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COLD AISLE</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Enclose rack fronts and supply air</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F79646"/>
          </a:solidFill>
          <a:ln w="12700">
            <a:solidFill>
              <a:srgbClr val="F79646"/>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HOT AISLE</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Enclose rack backs and exhaust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SEALING</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Doors, panels, and blanks close gaps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11</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Cooling units can serve room, row, or rack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CRAC creates refrigeration locally; CRAH transfers cooling from chilled water.</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CRAC</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Self-contained refrigeration circuit</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CRAH</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Air handler supplied by chilled-water plant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IN-ROW / RACK</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Cooling close to concentrated heat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12</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Chilled water moves heat across the facility</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chiller, pumps, and CRAH coils create a shared cooling loop.</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CHILLER</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Cool the water</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PUMP</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Deliver to coils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CRAH</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Take room heat</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C0504D"/>
          </a:solidFill>
          <a:ln w="12700">
            <a:solidFill>
              <a:srgbClr val="C0504D"/>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RETURN</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Warm water back</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13</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Heat must leave the building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Air-cooled, water-cooled, and economizer modes trade electricity, water, and complexity.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AIR-COOLED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Reject outdoors with fans and coils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WATER-COOLED</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Evaporation and water treatment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70AD47"/>
          </a:solidFill>
          <a:ln w="12700">
            <a:solidFill>
              <a:srgbClr val="70AD47"/>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ECONOMIZER</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Use favorable outdoor conditions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14</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Liquid cooling addresses concentrated heat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Direct-to-chip and immersion serve densities where air delivery becomes difficult.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DIRECT-TO-CHIP</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Cold plates take heat from processors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IMMERSION</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Dielectric fluid surrounds hardware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HYBRID</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Residual components still need air</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15</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Redundancy is a whole-system claim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Uptime Institute Tiers describe whole-facility topology and behavior.</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Basic capacity</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II</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Redundant capacity components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III</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Concurrently maintainable</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IV</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Fault tolerant</a:t>
            </a:r>
            <a:endParaRPr lang="en-US" sz="1350" dirty="0"/>
          </a:p>
        </p:txBody>
      </p:sp>
      <p:sp>
        <p:nvSpPr>
          <p:cNvPr id="22" name="Shape 19"/>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3" name="Shape 20"/>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4" name="Text 21"/>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Design language</a:t>
            </a:r>
            <a:endParaRPr lang="en-US" sz="1320" dirty="0"/>
          </a:p>
        </p:txBody>
      </p:sp>
      <p:sp>
        <p:nvSpPr>
          <p:cNvPr id="25" name="Text 22"/>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N+1 and 2N are component patterns; a Tier has no fixed availability “nines” value.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16</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Controls make power and cooling act together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Monitoring, alarms, and automation turn components into an operating system.</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BMS</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Stage cooling and track environment</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EPMS</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Watch breakers, UPS, generator, and power</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DCIM</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Relate facility status to IT/rack load</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17</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Site viability precedes equipment choice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Grid capacity and an achievable energization path limit the design envelope.</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CAPACITY</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Usable utility service and margin</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TIMING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Upgrade or connection lead time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GROWTH</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Phased load plan</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CHAPTER 18</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Integrate the power and cooling design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One load figure must agree across UPS, distribution, generator, cooling, and site service.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IT LOAD</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Rack schedule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POWER</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A/B + generator</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COOLING</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One-unit-down heat path</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Alarm and transfer rules</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SITE</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Capacity and residual risk</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Week 8 Final Projects and Data Center Design</dc:title>
  <dc:subject>Final Projects and Data Center Design</dc:subject>
  <dc:creator>CYBER 444</dc:creator>
  <cp:lastModifiedBy>CYBER 444</cp:lastModifiedBy>
  <cp:revision>1</cp:revision>
  <dcterms:created xsi:type="dcterms:W3CDTF">2026-10-20T05:32:10Z</dcterms:created>
  <dcterms:modified xsi:type="dcterms:W3CDTF">2026-10-20T05:32:10Z</dcterms:modified>
</cp:coreProperties>
</file>