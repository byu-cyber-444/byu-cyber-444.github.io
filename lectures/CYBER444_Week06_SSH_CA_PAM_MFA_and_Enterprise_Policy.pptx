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63" r:id="rId3"/>
    <p:sldId id="267" r:id="rId4"/>
    <p:sldId id="271" r:id="rId5"/>
    <p:sldId id="276" r:id="rId6"/>
    <p:sldId id="292" r:id="rId7"/>
    <p:sldId id="293" r:id="rId8"/>
    <p:sldId id="272" r:id="rId9"/>
    <p:sldId id="279" r:id="rId10"/>
    <p:sldId id="278" r:id="rId11"/>
    <p:sldId id="290" r:id="rId12"/>
    <p:sldId id="294" r:id="rId13"/>
    <p:sldId id="300" r:id="rId14"/>
    <p:sldId id="298" r:id="rId15"/>
    <p:sldId id="299" r:id="rId16"/>
    <p:sldId id="291" r:id="rId1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5" autoAdjust="0"/>
    <p:restoredTop sz="82264" autoAdjust="0"/>
  </p:normalViewPr>
  <p:slideViewPr>
    <p:cSldViewPr snapToGrid="0" snapToObjects="1">
      <p:cViewPr>
        <p:scale>
          <a:sx n="100" d="100"/>
          <a:sy n="100" d="100"/>
        </p:scale>
        <p:origin x="426" y="7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03272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intent: Week 6 moves from identity proof into MFA, privileged access, and organizational policy.
Ask: What has to be true before a privileged session should begin?
Expected themes: authenticated identity, trusted device, authorized action, monitored session, and policy-backed accountability.
Citations:
- NIST SP 800-207, https://csrc.nist.gov/pubs/sp/800/207/final
- NIST SP 800-53 Rev. 5, https://csrc.nist.gov/pubs/sp/800/53/rev-5/final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YBER444">
    <p:bg>
      <p:bgPr>
        <a:solidFill>
          <a:srgbClr val="F7F8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F497D"/>
          </a:solidFill>
          <a:ln w="12700">
            <a:solidFill>
              <a:srgbClr val="1F497D"/>
            </a:solidFill>
            <a:prstDash val="solid"/>
          </a:ln>
        </p:spPr>
        <p:txBody>
          <a:bodyPr/>
          <a:lstStyle/>
          <a:p>
            <a:endParaRPr lang="en-US"/>
          </a:p>
        </p:txBody>
      </p:sp>
      <p:sp>
        <p:nvSpPr>
          <p:cNvPr id="3" name="Text 1"/>
          <p:cNvSpPr/>
          <p:nvPr/>
        </p:nvSpPr>
        <p:spPr>
          <a:xfrm>
            <a:off x="411480" y="6565392"/>
            <a:ext cx="5303520" cy="164592"/>
          </a:xfrm>
          <a:prstGeom prst="rect">
            <a:avLst/>
          </a:prstGeom>
          <a:noFill/>
          <a:ln/>
        </p:spPr>
        <p:txBody>
          <a:bodyPr wrap="square" lIns="0" tIns="0" rIns="0" bIns="0" rtlCol="0" anchor="ctr"/>
          <a:lstStyle/>
          <a:p>
            <a:pPr marL="0" indent="0">
              <a:buNone/>
            </a:pPr>
            <a:r>
              <a:rPr lang="en-US" sz="800" dirty="0">
                <a:solidFill>
                  <a:srgbClr val="64748B"/>
                </a:solidFill>
                <a:latin typeface="Calibri" pitchFamily="34" charset="0"/>
                <a:ea typeface="Calibri" pitchFamily="34" charset="-122"/>
                <a:cs typeface="Calibri" pitchFamily="34" charset="-120"/>
              </a:rPr>
              <a:t>CYBER 444  ·  PAM / MFA / POLICY</a:t>
            </a:r>
            <a:endParaRPr lang="en-US" sz="800" dirty="0"/>
          </a:p>
        </p:txBody>
      </p:sp>
      <p:sp>
        <p:nvSpPr>
          <p:cNvPr id="4" name="Text 2"/>
          <p:cNvSpPr/>
          <p:nvPr/>
        </p:nvSpPr>
        <p:spPr>
          <a:xfrm>
            <a:off x="10561320" y="6565392"/>
            <a:ext cx="1143000" cy="164592"/>
          </a:xfrm>
          <a:prstGeom prst="rect">
            <a:avLst/>
          </a:prstGeom>
          <a:noFill/>
          <a:ln/>
        </p:spPr>
        <p:txBody>
          <a:bodyPr wrap="square" lIns="0" tIns="0" rIns="0" bIns="0" rtlCol="0" anchor="ctr"/>
          <a:lstStyle/>
          <a:p>
            <a:pPr marL="0" indent="0" algn="r">
              <a:buNone/>
            </a:pPr>
            <a:r>
              <a:rPr lang="en-US" sz="800" dirty="0">
                <a:solidFill>
                  <a:srgbClr val="64748B"/>
                </a:solidFill>
                <a:latin typeface="Calibri" pitchFamily="34" charset="0"/>
                <a:ea typeface="Calibri" pitchFamily="34" charset="-122"/>
                <a:cs typeface="Calibri" pitchFamily="34" charset="-120"/>
              </a:rPr>
              <a:t>Fall 2026</a:t>
            </a:r>
            <a:endParaRPr lang="en-US" sz="8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97D"/>
        </a:solidFill>
        <a:effectLst/>
      </p:bgPr>
    </p:bg>
    <p:spTree>
      <p:nvGrpSpPr>
        <p:cNvPr id="1" name=""/>
        <p:cNvGrpSpPr/>
        <p:nvPr/>
      </p:nvGrpSpPr>
      <p:grpSpPr>
        <a:xfrm>
          <a:off x="0" y="0"/>
          <a:ext cx="0" cy="0"/>
          <a:chOff x="0" y="0"/>
          <a:chExt cx="0" cy="0"/>
        </a:xfrm>
      </p:grpSpPr>
      <p:sp>
        <p:nvSpPr>
          <p:cNvPr id="2" name="Shape 0"/>
          <p:cNvSpPr/>
          <p:nvPr/>
        </p:nvSpPr>
        <p:spPr>
          <a:xfrm>
            <a:off x="0" y="0"/>
            <a:ext cx="12191695" cy="137160"/>
          </a:xfrm>
          <a:prstGeom prst="rect">
            <a:avLst/>
          </a:prstGeom>
          <a:solidFill>
            <a:srgbClr val="4BACC6"/>
          </a:solidFill>
          <a:ln w="12700">
            <a:solidFill>
              <a:srgbClr val="4BACC6"/>
            </a:solidFill>
            <a:prstDash val="solid"/>
          </a:ln>
        </p:spPr>
        <p:txBody>
          <a:bodyPr/>
          <a:lstStyle/>
          <a:p>
            <a:endParaRPr lang="en-US"/>
          </a:p>
        </p:txBody>
      </p:sp>
      <p:sp>
        <p:nvSpPr>
          <p:cNvPr id="3" name="Text 1"/>
          <p:cNvSpPr txBox="1"/>
          <p:nvPr/>
        </p:nvSpPr>
        <p:spPr>
          <a:xfrm>
            <a:off x="621792" y="566928"/>
            <a:ext cx="2011680" cy="274320"/>
          </a:xfrm>
          <a:prstGeom prst="rect">
            <a:avLst/>
          </a:prstGeom>
          <a:noFill/>
          <a:ln/>
        </p:spPr>
        <p:txBody>
          <a:bodyPr wrap="square" lIns="508" tIns="508" rIns="508" bIns="508" rtlCol="0" anchor="ctr">
            <a:normAutofit/>
          </a:bodyPr>
          <a:lstStyle/>
          <a:p>
            <a:pPr marL="0" indent="0" algn="l">
              <a:buNone/>
            </a:pPr>
            <a:r>
              <a:rPr lang="en-US" sz="1400" b="1" kern="0" spc="200" dirty="0">
                <a:solidFill>
                  <a:srgbClr val="BFE4EE"/>
                </a:solidFill>
                <a:latin typeface="Calibri" pitchFamily="34" charset="0"/>
                <a:ea typeface="Calibri" pitchFamily="34" charset="-122"/>
                <a:cs typeface="Calibri" pitchFamily="34" charset="-120"/>
              </a:rPr>
              <a:t>WEEK 6</a:t>
            </a:r>
            <a:endParaRPr lang="en-US" sz="1400" dirty="0"/>
          </a:p>
        </p:txBody>
      </p:sp>
      <p:sp>
        <p:nvSpPr>
          <p:cNvPr id="4" name="Text 2"/>
          <p:cNvSpPr txBox="1"/>
          <p:nvPr/>
        </p:nvSpPr>
        <p:spPr>
          <a:xfrm>
            <a:off x="621792" y="1170432"/>
            <a:ext cx="10698480" cy="777240"/>
          </a:xfrm>
          <a:prstGeom prst="rect">
            <a:avLst/>
          </a:prstGeom>
          <a:noFill/>
          <a:ln/>
        </p:spPr>
        <p:txBody>
          <a:bodyPr wrap="square" lIns="508" tIns="508" rIns="508" bIns="508" rtlCol="0" anchor="ctr">
            <a:normAutofit/>
          </a:bodyPr>
          <a:lstStyle/>
          <a:p>
            <a:pPr marL="0" indent="0" algn="l">
              <a:buNone/>
            </a:pPr>
            <a:r>
              <a:rPr lang="en-US" sz="3500" b="1" dirty="0">
                <a:solidFill>
                  <a:srgbClr val="FFFFFF"/>
                </a:solidFill>
                <a:latin typeface="Calibri" pitchFamily="34" charset="0"/>
                <a:ea typeface="Calibri" pitchFamily="34" charset="-122"/>
                <a:cs typeface="Calibri" pitchFamily="34" charset="-120"/>
              </a:rPr>
              <a:t>PAM, MFA, and Enterprise Policy</a:t>
            </a:r>
            <a:endParaRPr lang="en-US" sz="3500" dirty="0"/>
          </a:p>
        </p:txBody>
      </p:sp>
      <p:sp>
        <p:nvSpPr>
          <p:cNvPr id="5" name="Text 3"/>
          <p:cNvSpPr txBox="1"/>
          <p:nvPr/>
        </p:nvSpPr>
        <p:spPr>
          <a:xfrm>
            <a:off x="658368" y="2148840"/>
            <a:ext cx="9235440" cy="365760"/>
          </a:xfrm>
          <a:prstGeom prst="rect">
            <a:avLst/>
          </a:prstGeom>
          <a:noFill/>
          <a:ln/>
        </p:spPr>
        <p:txBody>
          <a:bodyPr wrap="square" lIns="508" tIns="508" rIns="508" bIns="508" rtlCol="0" anchor="ctr">
            <a:normAutofit/>
          </a:bodyPr>
          <a:lstStyle/>
          <a:p>
            <a:pPr marL="0" indent="0" algn="l">
              <a:buNone/>
            </a:pPr>
            <a:r>
              <a:rPr lang="en-US" sz="1800" dirty="0">
                <a:solidFill>
                  <a:srgbClr val="DCEAF5"/>
                </a:solidFill>
                <a:latin typeface="Calibri" pitchFamily="34" charset="0"/>
                <a:ea typeface="Calibri" pitchFamily="34" charset="-122"/>
                <a:cs typeface="Calibri" pitchFamily="34" charset="-120"/>
              </a:rPr>
              <a:t>Identity · privileged access · policy as an enforcement mechanism</a:t>
            </a:r>
            <a:endParaRPr lang="en-US" sz="1800" dirty="0"/>
          </a:p>
        </p:txBody>
      </p:sp>
      <p:sp>
        <p:nvSpPr>
          <p:cNvPr id="6" name="Shape 4"/>
          <p:cNvSpPr/>
          <p:nvPr/>
        </p:nvSpPr>
        <p:spPr>
          <a:xfrm>
            <a:off x="658368" y="2834640"/>
            <a:ext cx="3776472" cy="0"/>
          </a:xfrm>
          <a:prstGeom prst="line">
            <a:avLst/>
          </a:prstGeom>
          <a:noFill/>
          <a:ln w="38100">
            <a:solidFill>
              <a:srgbClr val="4BACC6"/>
            </a:solidFill>
            <a:prstDash val="solid"/>
            <a:headEnd type="none"/>
            <a:tailEnd type="none"/>
          </a:ln>
        </p:spPr>
        <p:txBody>
          <a:bodyPr/>
          <a:lstStyle/>
          <a:p>
            <a:endParaRPr lang="en-US"/>
          </a:p>
        </p:txBody>
      </p:sp>
      <p:sp>
        <p:nvSpPr>
          <p:cNvPr id="7" name="Text 5"/>
          <p:cNvSpPr txBox="1"/>
          <p:nvPr/>
        </p:nvSpPr>
        <p:spPr>
          <a:xfrm>
            <a:off x="658368" y="5349240"/>
            <a:ext cx="5486400" cy="256032"/>
          </a:xfrm>
          <a:prstGeom prst="rect">
            <a:avLst/>
          </a:prstGeom>
          <a:noFill/>
          <a:ln/>
        </p:spPr>
        <p:txBody>
          <a:bodyPr wrap="square" lIns="508" tIns="508" rIns="508" bIns="508" rtlCol="0" anchor="ctr">
            <a:normAutofit/>
          </a:bodyPr>
          <a:lstStyle/>
          <a:p>
            <a:pPr marL="0" indent="0" algn="l">
              <a:buNone/>
            </a:pPr>
            <a:r>
              <a:rPr lang="en-US" sz="1300" dirty="0">
                <a:solidFill>
                  <a:srgbClr val="DCEAF5"/>
                </a:solidFill>
                <a:latin typeface="Calibri" pitchFamily="34" charset="0"/>
                <a:ea typeface="Calibri" pitchFamily="34" charset="-122"/>
                <a:cs typeface="Calibri" pitchFamily="34" charset="-120"/>
              </a:rPr>
              <a:t>CYBER 444  ·  Systems &amp; Network Administration</a:t>
            </a:r>
            <a:endParaRPr lang="en-US" sz="1300" dirty="0"/>
          </a:p>
        </p:txBody>
      </p:sp>
      <p:sp>
        <p:nvSpPr>
          <p:cNvPr id="8" name="Text 6"/>
          <p:cNvSpPr txBox="1"/>
          <p:nvPr/>
        </p:nvSpPr>
        <p:spPr>
          <a:xfrm>
            <a:off x="658368" y="5669280"/>
            <a:ext cx="4572000" cy="228600"/>
          </a:xfrm>
          <a:prstGeom prst="rect">
            <a:avLst/>
          </a:prstGeom>
          <a:noFill/>
          <a:ln/>
        </p:spPr>
        <p:txBody>
          <a:bodyPr wrap="square" lIns="508" tIns="508" rIns="508" bIns="508" rtlCol="0" anchor="ctr">
            <a:normAutofit/>
          </a:bodyPr>
          <a:lstStyle/>
          <a:p>
            <a:pPr marL="0" indent="0" algn="l">
              <a:buNone/>
            </a:pPr>
            <a:r>
              <a:rPr lang="en-US" sz="1200" dirty="0">
                <a:solidFill>
                  <a:srgbClr val="BFE4EE"/>
                </a:solidFill>
                <a:latin typeface="Calibri" pitchFamily="34" charset="0"/>
                <a:ea typeface="Calibri" pitchFamily="34" charset="-122"/>
                <a:cs typeface="Calibri" pitchFamily="34" charset="-120"/>
              </a:rPr>
              <a:t>Fall 2026</a:t>
            </a:r>
            <a:endParaRPr lang="en-US" sz="1200" dirty="0"/>
          </a:p>
        </p:txBody>
      </p:sp>
      <p:sp>
        <p:nvSpPr>
          <p:cNvPr id="9" name="Shape 7"/>
          <p:cNvSpPr/>
          <p:nvPr/>
        </p:nvSpPr>
        <p:spPr>
          <a:xfrm>
            <a:off x="7635240" y="3611880"/>
            <a:ext cx="475488" cy="475488"/>
          </a:xfrm>
          <a:prstGeom prst="ellipse">
            <a:avLst/>
          </a:prstGeom>
          <a:solidFill>
            <a:srgbClr val="F79646"/>
          </a:solidFill>
          <a:ln w="12700">
            <a:solidFill>
              <a:srgbClr val="F79646"/>
            </a:solidFill>
            <a:prstDash val="solid"/>
          </a:ln>
        </p:spPr>
        <p:txBody>
          <a:bodyPr/>
          <a:lstStyle/>
          <a:p>
            <a:endParaRPr lang="en-US"/>
          </a:p>
        </p:txBody>
      </p:sp>
      <p:sp>
        <p:nvSpPr>
          <p:cNvPr id="10" name="Shape 8"/>
          <p:cNvSpPr/>
          <p:nvPr/>
        </p:nvSpPr>
        <p:spPr>
          <a:xfrm>
            <a:off x="8348472" y="3355848"/>
            <a:ext cx="475488" cy="475488"/>
          </a:xfrm>
          <a:prstGeom prst="ellipse">
            <a:avLst/>
          </a:prstGeom>
          <a:solidFill>
            <a:srgbClr val="4BACC6"/>
          </a:solidFill>
          <a:ln w="12700">
            <a:solidFill>
              <a:srgbClr val="4BACC6"/>
            </a:solidFill>
            <a:prstDash val="solid"/>
          </a:ln>
        </p:spPr>
        <p:txBody>
          <a:bodyPr/>
          <a:lstStyle/>
          <a:p>
            <a:endParaRPr lang="en-US"/>
          </a:p>
        </p:txBody>
      </p:sp>
      <p:sp>
        <p:nvSpPr>
          <p:cNvPr id="11" name="Shape 9"/>
          <p:cNvSpPr/>
          <p:nvPr/>
        </p:nvSpPr>
        <p:spPr>
          <a:xfrm>
            <a:off x="9061704" y="3611880"/>
            <a:ext cx="475488" cy="475488"/>
          </a:xfrm>
          <a:prstGeom prst="ellipse">
            <a:avLst/>
          </a:prstGeom>
          <a:solidFill>
            <a:srgbClr val="4F81BD"/>
          </a:solidFill>
          <a:ln w="12700">
            <a:solidFill>
              <a:srgbClr val="4F81BD"/>
            </a:solidFill>
            <a:prstDash val="solid"/>
          </a:ln>
        </p:spPr>
        <p:txBody>
          <a:bodyPr/>
          <a:lstStyle/>
          <a:p>
            <a:endParaRPr lang="en-US"/>
          </a:p>
        </p:txBody>
      </p:sp>
      <p:sp>
        <p:nvSpPr>
          <p:cNvPr id="12" name="Shape 10"/>
          <p:cNvSpPr/>
          <p:nvPr/>
        </p:nvSpPr>
        <p:spPr>
          <a:xfrm>
            <a:off x="9774936" y="3355848"/>
            <a:ext cx="475488" cy="475488"/>
          </a:xfrm>
          <a:prstGeom prst="ellipse">
            <a:avLst/>
          </a:prstGeom>
          <a:solidFill>
            <a:srgbClr val="70AD47"/>
          </a:solidFill>
          <a:ln w="12700">
            <a:solidFill>
              <a:srgbClr val="70AD47"/>
            </a:solidFill>
            <a:prstDash val="solid"/>
          </a:ln>
        </p:spPr>
        <p:txBody>
          <a:bodyPr/>
          <a:lstStyle/>
          <a:p>
            <a:endParaRPr lang="en-US"/>
          </a:p>
        </p:txBody>
      </p:sp>
      <p:sp>
        <p:nvSpPr>
          <p:cNvPr id="13" name="Shape 11"/>
          <p:cNvSpPr/>
          <p:nvPr/>
        </p:nvSpPr>
        <p:spPr>
          <a:xfrm>
            <a:off x="8092440" y="3840480"/>
            <a:ext cx="246888" cy="0"/>
          </a:xfrm>
          <a:prstGeom prst="line">
            <a:avLst/>
          </a:prstGeom>
          <a:noFill/>
          <a:ln w="38100">
            <a:solidFill>
              <a:srgbClr val="FFFFFF"/>
            </a:solidFill>
            <a:prstDash val="solid"/>
            <a:headEnd type="none"/>
            <a:tailEnd type="triangle"/>
          </a:ln>
        </p:spPr>
        <p:txBody>
          <a:bodyPr/>
          <a:lstStyle/>
          <a:p>
            <a:endParaRPr lang="en-US"/>
          </a:p>
        </p:txBody>
      </p:sp>
      <p:sp>
        <p:nvSpPr>
          <p:cNvPr id="14" name="Shape 12"/>
          <p:cNvSpPr/>
          <p:nvPr/>
        </p:nvSpPr>
        <p:spPr>
          <a:xfrm>
            <a:off x="8805672" y="3584448"/>
            <a:ext cx="246888" cy="0"/>
          </a:xfrm>
          <a:prstGeom prst="line">
            <a:avLst/>
          </a:prstGeom>
          <a:noFill/>
          <a:ln w="38100">
            <a:solidFill>
              <a:srgbClr val="FFFFFF"/>
            </a:solidFill>
            <a:prstDash val="solid"/>
            <a:headEnd type="none"/>
            <a:tailEnd type="triangle"/>
          </a:ln>
        </p:spPr>
        <p:txBody>
          <a:bodyPr/>
          <a:lstStyle/>
          <a:p>
            <a:endParaRPr lang="en-US"/>
          </a:p>
        </p:txBody>
      </p:sp>
      <p:sp>
        <p:nvSpPr>
          <p:cNvPr id="15" name="Shape 13"/>
          <p:cNvSpPr/>
          <p:nvPr/>
        </p:nvSpPr>
        <p:spPr>
          <a:xfrm>
            <a:off x="9518904" y="3840480"/>
            <a:ext cx="246888" cy="0"/>
          </a:xfrm>
          <a:prstGeom prst="line">
            <a:avLst/>
          </a:prstGeom>
          <a:noFill/>
          <a:ln w="38100">
            <a:solidFill>
              <a:srgbClr val="FFFFFF"/>
            </a:solidFill>
            <a:prstDash val="solid"/>
            <a:headEnd type="none"/>
            <a:tailEnd type="triangle"/>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dirty="0"/>
              <a:t>MFA</a:t>
            </a:r>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Multi-Factor Authentication (MFA) Methods</a:t>
            </a:r>
            <a:endParaRPr lang="en-US" sz="270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2</a:t>
            </a:fld>
            <a:endParaRPr lang="en-US"/>
          </a:p>
        </p:txBody>
      </p:sp>
      <p:pic>
        <p:nvPicPr>
          <p:cNvPr id="30" name="Picture 29">
            <a:extLst>
              <a:ext uri="{FF2B5EF4-FFF2-40B4-BE49-F238E27FC236}">
                <a16:creationId xmlns:a16="http://schemas.microsoft.com/office/drawing/2014/main" id="{FFC2D3FD-E7DE-F315-E794-8E67338C6A29}"/>
              </a:ext>
            </a:extLst>
          </p:cNvPr>
          <p:cNvPicPr>
            <a:picLocks noChangeAspect="1"/>
          </p:cNvPicPr>
          <p:nvPr/>
        </p:nvPicPr>
        <p:blipFill>
          <a:blip r:embed="rId3"/>
          <a:srcRect t="33333" b="14861"/>
          <a:stretch>
            <a:fillRect/>
          </a:stretch>
        </p:blipFill>
        <p:spPr>
          <a:xfrm>
            <a:off x="2476500" y="1124712"/>
            <a:ext cx="7239000" cy="500027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b="1" kern="0" spc="120" dirty="0">
                <a:solidFill>
                  <a:srgbClr val="4BACC6"/>
                </a:solidFill>
                <a:latin typeface="Calibri" pitchFamily="34" charset="0"/>
                <a:ea typeface="Calibri" pitchFamily="34" charset="-122"/>
                <a:cs typeface="Calibri" pitchFamily="34" charset="-120"/>
              </a:rPr>
              <a:t>MFA FAILURE</a:t>
            </a:r>
            <a:endParaRPr lang="en-US" sz="1000" dirty="0"/>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Availability and security fail in different ways</a:t>
            </a:r>
            <a:endParaRPr lang="en-US" sz="2700" dirty="0"/>
          </a:p>
        </p:txBody>
      </p:sp>
      <p:sp>
        <p:nvSpPr>
          <p:cNvPr id="4" name="Text 2"/>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A good design anticipates both lockout and bypass.</a:t>
            </a:r>
            <a:endParaRPr lang="en-US" sz="1250" dirty="0"/>
          </a:p>
        </p:txBody>
      </p:sp>
      <p:sp>
        <p:nvSpPr>
          <p:cNvPr id="6" name="Shape 3"/>
          <p:cNvSpPr/>
          <p:nvPr/>
        </p:nvSpPr>
        <p:spPr>
          <a:xfrm>
            <a:off x="777240" y="1874520"/>
            <a:ext cx="4800600" cy="1024128"/>
          </a:xfrm>
          <a:prstGeom prst="roundRect">
            <a:avLst/>
          </a:prstGeom>
          <a:solidFill>
            <a:srgbClr val="FFFFFF"/>
          </a:solidFill>
          <a:ln w="12700">
            <a:solidFill>
              <a:srgbClr val="F79646"/>
            </a:solidFill>
            <a:prstDash val="solid"/>
          </a:ln>
        </p:spPr>
        <p:txBody>
          <a:bodyPr/>
          <a:lstStyle/>
          <a:p>
            <a:endParaRPr lang="en-US"/>
          </a:p>
        </p:txBody>
      </p:sp>
      <p:sp>
        <p:nvSpPr>
          <p:cNvPr id="7" name="Shape 4"/>
          <p:cNvSpPr/>
          <p:nvPr/>
        </p:nvSpPr>
        <p:spPr>
          <a:xfrm>
            <a:off x="777240" y="1874520"/>
            <a:ext cx="100584" cy="1024128"/>
          </a:xfrm>
          <a:prstGeom prst="rect">
            <a:avLst/>
          </a:prstGeom>
          <a:solidFill>
            <a:srgbClr val="F79646"/>
          </a:solidFill>
          <a:ln w="12700">
            <a:solidFill>
              <a:srgbClr val="F79646"/>
            </a:solidFill>
            <a:prstDash val="solid"/>
          </a:ln>
        </p:spPr>
        <p:txBody>
          <a:bodyPr/>
          <a:lstStyle/>
          <a:p>
            <a:endParaRPr lang="en-US"/>
          </a:p>
        </p:txBody>
      </p:sp>
      <p:sp>
        <p:nvSpPr>
          <p:cNvPr id="8" name="Text 5"/>
          <p:cNvSpPr txBox="1"/>
          <p:nvPr/>
        </p:nvSpPr>
        <p:spPr>
          <a:xfrm>
            <a:off x="1014984" y="1984248"/>
            <a:ext cx="4453128" cy="237744"/>
          </a:xfrm>
          <a:prstGeom prst="rect">
            <a:avLst/>
          </a:prstGeom>
          <a:noFill/>
          <a:ln/>
        </p:spPr>
        <p:txBody>
          <a:bodyPr wrap="square" lIns="508" tIns="508" rIns="508" bIns="508" rtlCol="0" anchor="ctr">
            <a:normAutofit/>
          </a:bodyPr>
          <a:lstStyle/>
          <a:p>
            <a:pPr marL="0" indent="0" algn="l">
              <a:buNone/>
            </a:pPr>
            <a:r>
              <a:rPr lang="en-US" sz="1400" b="1" dirty="0">
                <a:solidFill>
                  <a:srgbClr val="F79646"/>
                </a:solidFill>
                <a:latin typeface="Calibri" pitchFamily="34" charset="0"/>
                <a:ea typeface="Calibri" pitchFamily="34" charset="-122"/>
                <a:cs typeface="Calibri" pitchFamily="34" charset="-120"/>
              </a:rPr>
              <a:t>Lockout</a:t>
            </a:r>
            <a:endParaRPr lang="en-US" sz="1400" dirty="0"/>
          </a:p>
        </p:txBody>
      </p:sp>
      <p:sp>
        <p:nvSpPr>
          <p:cNvPr id="9" name="Text 6"/>
          <p:cNvSpPr txBox="1"/>
          <p:nvPr/>
        </p:nvSpPr>
        <p:spPr>
          <a:xfrm>
            <a:off x="1014984" y="2286000"/>
            <a:ext cx="4453128" cy="521208"/>
          </a:xfrm>
          <a:prstGeom prst="rect">
            <a:avLst/>
          </a:prstGeom>
          <a:noFill/>
          <a:ln/>
        </p:spPr>
        <p:txBody>
          <a:bodyPr wrap="square" lIns="508" tIns="508" rIns="508" bIns="508" rtlCol="0" anchor="t">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legitimate user cannot authenticate</a:t>
            </a:r>
            <a:endParaRPr lang="en-US" sz="1250" dirty="0"/>
          </a:p>
        </p:txBody>
      </p:sp>
      <p:sp>
        <p:nvSpPr>
          <p:cNvPr id="10" name="Shape 7"/>
          <p:cNvSpPr/>
          <p:nvPr/>
        </p:nvSpPr>
        <p:spPr>
          <a:xfrm>
            <a:off x="6309360" y="1874520"/>
            <a:ext cx="4800600" cy="1024128"/>
          </a:xfrm>
          <a:prstGeom prst="roundRect">
            <a:avLst/>
          </a:prstGeom>
          <a:solidFill>
            <a:srgbClr val="FFFFFF"/>
          </a:solidFill>
          <a:ln w="12700">
            <a:solidFill>
              <a:srgbClr val="C0504D"/>
            </a:solidFill>
            <a:prstDash val="solid"/>
          </a:ln>
        </p:spPr>
        <p:txBody>
          <a:bodyPr/>
          <a:lstStyle/>
          <a:p>
            <a:endParaRPr lang="en-US"/>
          </a:p>
        </p:txBody>
      </p:sp>
      <p:sp>
        <p:nvSpPr>
          <p:cNvPr id="11" name="Shape 8"/>
          <p:cNvSpPr/>
          <p:nvPr/>
        </p:nvSpPr>
        <p:spPr>
          <a:xfrm>
            <a:off x="6309360" y="1874520"/>
            <a:ext cx="100584" cy="1024128"/>
          </a:xfrm>
          <a:prstGeom prst="rect">
            <a:avLst/>
          </a:prstGeom>
          <a:solidFill>
            <a:srgbClr val="C0504D"/>
          </a:solidFill>
          <a:ln w="12700">
            <a:solidFill>
              <a:srgbClr val="C0504D"/>
            </a:solidFill>
            <a:prstDash val="solid"/>
          </a:ln>
        </p:spPr>
        <p:txBody>
          <a:bodyPr/>
          <a:lstStyle/>
          <a:p>
            <a:endParaRPr lang="en-US"/>
          </a:p>
        </p:txBody>
      </p:sp>
      <p:sp>
        <p:nvSpPr>
          <p:cNvPr id="12" name="Text 9"/>
          <p:cNvSpPr txBox="1"/>
          <p:nvPr/>
        </p:nvSpPr>
        <p:spPr>
          <a:xfrm>
            <a:off x="6547104" y="1984248"/>
            <a:ext cx="4453128" cy="237744"/>
          </a:xfrm>
          <a:prstGeom prst="rect">
            <a:avLst/>
          </a:prstGeom>
          <a:noFill/>
          <a:ln/>
        </p:spPr>
        <p:txBody>
          <a:bodyPr wrap="square" lIns="508" tIns="508" rIns="508" bIns="508" rtlCol="0" anchor="ctr">
            <a:normAutofit/>
          </a:bodyPr>
          <a:lstStyle/>
          <a:p>
            <a:pPr marL="0" indent="0" algn="l">
              <a:buNone/>
            </a:pPr>
            <a:r>
              <a:rPr lang="en-US" sz="1400" b="1" dirty="0">
                <a:solidFill>
                  <a:srgbClr val="C0504D"/>
                </a:solidFill>
                <a:latin typeface="Calibri" pitchFamily="34" charset="0"/>
                <a:ea typeface="Calibri" pitchFamily="34" charset="-122"/>
                <a:cs typeface="Calibri" pitchFamily="34" charset="-120"/>
              </a:rPr>
              <a:t>Bypass</a:t>
            </a:r>
            <a:endParaRPr lang="en-US" sz="1400" dirty="0"/>
          </a:p>
        </p:txBody>
      </p:sp>
      <p:sp>
        <p:nvSpPr>
          <p:cNvPr id="13" name="Text 10"/>
          <p:cNvSpPr txBox="1"/>
          <p:nvPr/>
        </p:nvSpPr>
        <p:spPr>
          <a:xfrm>
            <a:off x="6547104" y="2286000"/>
            <a:ext cx="4453128" cy="521208"/>
          </a:xfrm>
          <a:prstGeom prst="rect">
            <a:avLst/>
          </a:prstGeom>
          <a:noFill/>
          <a:ln/>
        </p:spPr>
        <p:txBody>
          <a:bodyPr wrap="square" lIns="508" tIns="508" rIns="508" bIns="508" rtlCol="0" anchor="t">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attacker gets an exception</a:t>
            </a:r>
            <a:endParaRPr lang="en-US" sz="1250" dirty="0"/>
          </a:p>
        </p:txBody>
      </p:sp>
      <p:sp>
        <p:nvSpPr>
          <p:cNvPr id="14" name="Shape 11"/>
          <p:cNvSpPr/>
          <p:nvPr/>
        </p:nvSpPr>
        <p:spPr>
          <a:xfrm>
            <a:off x="777240" y="3291840"/>
            <a:ext cx="4800600" cy="1024128"/>
          </a:xfrm>
          <a:prstGeom prst="roundRect">
            <a:avLst/>
          </a:prstGeom>
          <a:solidFill>
            <a:srgbClr val="FFFFFF"/>
          </a:solidFill>
          <a:ln w="12700">
            <a:solidFill>
              <a:srgbClr val="4F81BD"/>
            </a:solidFill>
            <a:prstDash val="solid"/>
          </a:ln>
        </p:spPr>
        <p:txBody>
          <a:bodyPr/>
          <a:lstStyle/>
          <a:p>
            <a:endParaRPr lang="en-US"/>
          </a:p>
        </p:txBody>
      </p:sp>
      <p:sp>
        <p:nvSpPr>
          <p:cNvPr id="15" name="Shape 12"/>
          <p:cNvSpPr/>
          <p:nvPr/>
        </p:nvSpPr>
        <p:spPr>
          <a:xfrm>
            <a:off x="777240" y="3291840"/>
            <a:ext cx="100584" cy="1024128"/>
          </a:xfrm>
          <a:prstGeom prst="rect">
            <a:avLst/>
          </a:prstGeom>
          <a:solidFill>
            <a:srgbClr val="4F81BD"/>
          </a:solidFill>
          <a:ln w="12700">
            <a:solidFill>
              <a:srgbClr val="4F81BD"/>
            </a:solidFill>
            <a:prstDash val="solid"/>
          </a:ln>
        </p:spPr>
        <p:txBody>
          <a:bodyPr/>
          <a:lstStyle/>
          <a:p>
            <a:endParaRPr lang="en-US"/>
          </a:p>
        </p:txBody>
      </p:sp>
      <p:sp>
        <p:nvSpPr>
          <p:cNvPr id="16" name="Text 13"/>
          <p:cNvSpPr txBox="1"/>
          <p:nvPr/>
        </p:nvSpPr>
        <p:spPr>
          <a:xfrm>
            <a:off x="1014984" y="3401568"/>
            <a:ext cx="4453128" cy="237744"/>
          </a:xfrm>
          <a:prstGeom prst="rect">
            <a:avLst/>
          </a:prstGeom>
          <a:noFill/>
          <a:ln/>
        </p:spPr>
        <p:txBody>
          <a:bodyPr wrap="square" lIns="508" tIns="508" rIns="508" bIns="508" rtlCol="0" anchor="ctr">
            <a:normAutofit/>
          </a:bodyPr>
          <a:lstStyle/>
          <a:p>
            <a:pPr marL="0" indent="0" algn="l">
              <a:buNone/>
            </a:pPr>
            <a:r>
              <a:rPr lang="en-US" sz="1400" b="1" dirty="0">
                <a:solidFill>
                  <a:srgbClr val="4F81BD"/>
                </a:solidFill>
                <a:latin typeface="Calibri" pitchFamily="34" charset="0"/>
                <a:ea typeface="Calibri" pitchFamily="34" charset="-122"/>
                <a:cs typeface="Calibri" pitchFamily="34" charset="-120"/>
              </a:rPr>
              <a:t>Outage</a:t>
            </a:r>
            <a:endParaRPr lang="en-US" sz="1400" dirty="0"/>
          </a:p>
        </p:txBody>
      </p:sp>
      <p:sp>
        <p:nvSpPr>
          <p:cNvPr id="17" name="Text 14"/>
          <p:cNvSpPr txBox="1"/>
          <p:nvPr/>
        </p:nvSpPr>
        <p:spPr>
          <a:xfrm>
            <a:off x="1014984" y="3703320"/>
            <a:ext cx="4453128" cy="521208"/>
          </a:xfrm>
          <a:prstGeom prst="rect">
            <a:avLst/>
          </a:prstGeom>
          <a:noFill/>
          <a:ln/>
        </p:spPr>
        <p:txBody>
          <a:bodyPr wrap="square" lIns="508" tIns="508" rIns="508" bIns="508" rtlCol="0" anchor="t">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provider or network unavailable</a:t>
            </a:r>
            <a:endParaRPr lang="en-US" sz="1250" dirty="0"/>
          </a:p>
        </p:txBody>
      </p:sp>
      <p:sp>
        <p:nvSpPr>
          <p:cNvPr id="18" name="Shape 15"/>
          <p:cNvSpPr/>
          <p:nvPr/>
        </p:nvSpPr>
        <p:spPr>
          <a:xfrm>
            <a:off x="6309360" y="3291840"/>
            <a:ext cx="4800600" cy="1024128"/>
          </a:xfrm>
          <a:prstGeom prst="roundRect">
            <a:avLst/>
          </a:prstGeom>
          <a:solidFill>
            <a:srgbClr val="FFFFFF"/>
          </a:solidFill>
          <a:ln w="12700">
            <a:solidFill>
              <a:srgbClr val="70AD47"/>
            </a:solidFill>
            <a:prstDash val="solid"/>
          </a:ln>
        </p:spPr>
        <p:txBody>
          <a:bodyPr/>
          <a:lstStyle/>
          <a:p>
            <a:endParaRPr lang="en-US"/>
          </a:p>
        </p:txBody>
      </p:sp>
      <p:sp>
        <p:nvSpPr>
          <p:cNvPr id="19" name="Shape 16"/>
          <p:cNvSpPr/>
          <p:nvPr/>
        </p:nvSpPr>
        <p:spPr>
          <a:xfrm>
            <a:off x="6309360" y="3291840"/>
            <a:ext cx="100584" cy="1024128"/>
          </a:xfrm>
          <a:prstGeom prst="rect">
            <a:avLst/>
          </a:prstGeom>
          <a:solidFill>
            <a:srgbClr val="70AD47"/>
          </a:solidFill>
          <a:ln w="12700">
            <a:solidFill>
              <a:srgbClr val="70AD47"/>
            </a:solidFill>
            <a:prstDash val="solid"/>
          </a:ln>
        </p:spPr>
        <p:txBody>
          <a:bodyPr/>
          <a:lstStyle/>
          <a:p>
            <a:endParaRPr lang="en-US"/>
          </a:p>
        </p:txBody>
      </p:sp>
      <p:sp>
        <p:nvSpPr>
          <p:cNvPr id="20" name="Text 17"/>
          <p:cNvSpPr txBox="1"/>
          <p:nvPr/>
        </p:nvSpPr>
        <p:spPr>
          <a:xfrm>
            <a:off x="6547104" y="3401568"/>
            <a:ext cx="4453128" cy="237744"/>
          </a:xfrm>
          <a:prstGeom prst="rect">
            <a:avLst/>
          </a:prstGeom>
          <a:noFill/>
          <a:ln/>
        </p:spPr>
        <p:txBody>
          <a:bodyPr wrap="square" lIns="508" tIns="508" rIns="508" bIns="508" rtlCol="0" anchor="ctr">
            <a:normAutofit/>
          </a:bodyPr>
          <a:lstStyle/>
          <a:p>
            <a:pPr marL="0" indent="0" algn="l">
              <a:buNone/>
            </a:pPr>
            <a:r>
              <a:rPr lang="en-US" sz="1400" b="1" dirty="0">
                <a:solidFill>
                  <a:srgbClr val="70AD47"/>
                </a:solidFill>
                <a:latin typeface="Calibri" pitchFamily="34" charset="0"/>
                <a:ea typeface="Calibri" pitchFamily="34" charset="-122"/>
                <a:cs typeface="Calibri" pitchFamily="34" charset="-120"/>
              </a:rPr>
              <a:t>Recovery</a:t>
            </a:r>
            <a:endParaRPr lang="en-US" sz="1400" dirty="0"/>
          </a:p>
        </p:txBody>
      </p:sp>
      <p:sp>
        <p:nvSpPr>
          <p:cNvPr id="21" name="Text 18"/>
          <p:cNvSpPr txBox="1"/>
          <p:nvPr/>
        </p:nvSpPr>
        <p:spPr>
          <a:xfrm>
            <a:off x="6547104" y="3703320"/>
            <a:ext cx="4453128" cy="521208"/>
          </a:xfrm>
          <a:prstGeom prst="rect">
            <a:avLst/>
          </a:prstGeom>
          <a:noFill/>
          <a:ln/>
        </p:spPr>
        <p:txBody>
          <a:bodyPr wrap="square" lIns="508" tIns="508" rIns="508" bIns="508" rtlCol="0" anchor="t">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new factor must be bound</a:t>
            </a:r>
            <a:endParaRPr lang="en-US" sz="1250" dirty="0"/>
          </a:p>
        </p:txBody>
      </p:sp>
      <p:sp>
        <p:nvSpPr>
          <p:cNvPr id="22" name="Shape 19"/>
          <p:cNvSpPr/>
          <p:nvPr/>
        </p:nvSpPr>
        <p:spPr>
          <a:xfrm>
            <a:off x="3017520" y="4983480"/>
            <a:ext cx="6126480" cy="274320"/>
          </a:xfrm>
          <a:prstGeom prst="roundRect">
            <a:avLst/>
          </a:prstGeom>
          <a:solidFill>
            <a:srgbClr val="F79646"/>
          </a:solidFill>
          <a:ln w="12700">
            <a:solidFill>
              <a:srgbClr val="F79646"/>
            </a:solidFill>
            <a:prstDash val="solid"/>
          </a:ln>
        </p:spPr>
        <p:txBody>
          <a:bodyPr/>
          <a:lstStyle/>
          <a:p>
            <a:endParaRPr lang="en-US"/>
          </a:p>
        </p:txBody>
      </p:sp>
      <p:sp>
        <p:nvSpPr>
          <p:cNvPr id="23" name="Text 20"/>
          <p:cNvSpPr txBox="1"/>
          <p:nvPr/>
        </p:nvSpPr>
        <p:spPr>
          <a:xfrm>
            <a:off x="3090672" y="5001768"/>
            <a:ext cx="5980176" cy="219456"/>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DISCUSS · WHICH FAILURE IS MOST DANGEROUS?</a:t>
            </a:r>
            <a:endParaRPr lang="en-US" sz="10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Duo layout change </a:t>
            </a:r>
            <a:endParaRPr lang="en-US" sz="27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4</a:t>
            </a:fld>
            <a:endParaRPr lang="en-US"/>
          </a:p>
        </p:txBody>
      </p:sp>
      <p:pic>
        <p:nvPicPr>
          <p:cNvPr id="13" name="Picture 12">
            <a:extLst>
              <a:ext uri="{FF2B5EF4-FFF2-40B4-BE49-F238E27FC236}">
                <a16:creationId xmlns:a16="http://schemas.microsoft.com/office/drawing/2014/main" id="{70E151CD-FDD8-75C5-F43F-9F1C5BF557B7}"/>
              </a:ext>
            </a:extLst>
          </p:cNvPr>
          <p:cNvPicPr>
            <a:picLocks noChangeAspect="1"/>
          </p:cNvPicPr>
          <p:nvPr/>
        </p:nvPicPr>
        <p:blipFill>
          <a:blip r:embed="rId3"/>
          <a:srcRect l="8750" t="20800" r="10686" b="13611"/>
          <a:stretch>
            <a:fillRect/>
          </a:stretch>
        </p:blipFill>
        <p:spPr>
          <a:xfrm>
            <a:off x="2238375" y="1426464"/>
            <a:ext cx="7534275" cy="44980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b="1" kern="0" spc="120" dirty="0">
                <a:solidFill>
                  <a:srgbClr val="4BACC6"/>
                </a:solidFill>
                <a:latin typeface="Calibri" pitchFamily="34" charset="0"/>
                <a:ea typeface="Calibri" pitchFamily="34" charset="-122"/>
                <a:cs typeface="Calibri" pitchFamily="34" charset="-120"/>
              </a:rPr>
              <a:t>POLICY DESIGN</a:t>
            </a:r>
            <a:endParaRPr lang="en-US" sz="1000" dirty="0"/>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Policy length: concise enough to use, complete enough to control</a:t>
            </a:r>
            <a:endParaRPr lang="en-US" sz="2700" dirty="0"/>
          </a:p>
        </p:txBody>
      </p:sp>
      <p:sp>
        <p:nvSpPr>
          <p:cNvPr id="4" name="Text 2"/>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There is no universal page limit. The goal is decision density, not word count.</a:t>
            </a:r>
            <a:endParaRPr lang="en-US" sz="1250" dirty="0"/>
          </a:p>
        </p:txBody>
      </p:sp>
      <p:sp>
        <p:nvSpPr>
          <p:cNvPr id="6" name="Shape 3"/>
          <p:cNvSpPr/>
          <p:nvPr/>
        </p:nvSpPr>
        <p:spPr>
          <a:xfrm>
            <a:off x="868680" y="1874520"/>
            <a:ext cx="3063240" cy="2286000"/>
          </a:xfrm>
          <a:prstGeom prst="roundRect">
            <a:avLst/>
          </a:prstGeom>
          <a:solidFill>
            <a:srgbClr val="FFFFFF"/>
          </a:solidFill>
          <a:ln w="12700">
            <a:solidFill>
              <a:srgbClr val="C0504D"/>
            </a:solidFill>
            <a:prstDash val="solid"/>
          </a:ln>
        </p:spPr>
        <p:txBody>
          <a:bodyPr/>
          <a:lstStyle/>
          <a:p>
            <a:endParaRPr lang="en-US"/>
          </a:p>
        </p:txBody>
      </p:sp>
      <p:sp>
        <p:nvSpPr>
          <p:cNvPr id="7" name="Shape 4"/>
          <p:cNvSpPr/>
          <p:nvPr/>
        </p:nvSpPr>
        <p:spPr>
          <a:xfrm>
            <a:off x="868680" y="1874520"/>
            <a:ext cx="3063240" cy="438912"/>
          </a:xfrm>
          <a:prstGeom prst="roundRect">
            <a:avLst/>
          </a:prstGeom>
          <a:solidFill>
            <a:srgbClr val="C0504D"/>
          </a:solidFill>
          <a:ln w="12700">
            <a:solidFill>
              <a:srgbClr val="C0504D"/>
            </a:solidFill>
            <a:prstDash val="solid"/>
          </a:ln>
        </p:spPr>
        <p:txBody>
          <a:bodyPr/>
          <a:lstStyle/>
          <a:p>
            <a:endParaRPr lang="en-US"/>
          </a:p>
        </p:txBody>
      </p:sp>
      <p:sp>
        <p:nvSpPr>
          <p:cNvPr id="8" name="Text 5"/>
          <p:cNvSpPr txBox="1"/>
          <p:nvPr/>
        </p:nvSpPr>
        <p:spPr>
          <a:xfrm>
            <a:off x="1005840" y="1993392"/>
            <a:ext cx="2788920" cy="182880"/>
          </a:xfrm>
          <a:prstGeom prst="rect">
            <a:avLst/>
          </a:prstGeom>
          <a:noFill/>
          <a:ln/>
        </p:spPr>
        <p:txBody>
          <a:bodyPr wrap="square" lIns="508" tIns="508" rIns="508" bIns="508" rtlCol="0" anchor="ctr">
            <a:normAutofit fontScale="77500" lnSpcReduction="20000"/>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Too short</a:t>
            </a:r>
            <a:endParaRPr lang="en-US" sz="1800" dirty="0"/>
          </a:p>
        </p:txBody>
      </p:sp>
      <p:sp>
        <p:nvSpPr>
          <p:cNvPr id="9" name="Text 6"/>
          <p:cNvSpPr txBox="1"/>
          <p:nvPr/>
        </p:nvSpPr>
        <p:spPr>
          <a:xfrm>
            <a:off x="1097280" y="2743200"/>
            <a:ext cx="2606040" cy="731520"/>
          </a:xfrm>
          <a:prstGeom prst="rect">
            <a:avLst/>
          </a:prstGeom>
          <a:noFill/>
          <a:ln/>
        </p:spPr>
        <p:txBody>
          <a:bodyPr wrap="square" lIns="508" tIns="508" rIns="508" bIns="508" rtlCol="0" anchor="ctr">
            <a:normAutofit/>
          </a:bodyPr>
          <a:lstStyle/>
          <a:p>
            <a:pPr marL="0" indent="0" algn="ctr">
              <a:buNone/>
            </a:pPr>
            <a:r>
              <a:rPr lang="en-US" sz="1600" dirty="0">
                <a:solidFill>
                  <a:srgbClr val="203040"/>
                </a:solidFill>
                <a:latin typeface="Calibri" pitchFamily="34" charset="0"/>
                <a:ea typeface="Calibri" pitchFamily="34" charset="-122"/>
                <a:cs typeface="Calibri" pitchFamily="34" charset="-120"/>
              </a:rPr>
              <a:t>values only</a:t>
            </a:r>
            <a:endParaRPr lang="en-US" sz="1600" dirty="0"/>
          </a:p>
          <a:p>
            <a:pPr marL="0" indent="0" algn="ctr">
              <a:buNone/>
            </a:pPr>
            <a:r>
              <a:rPr lang="en-US" sz="1600" dirty="0">
                <a:solidFill>
                  <a:srgbClr val="203040"/>
                </a:solidFill>
                <a:latin typeface="Calibri" pitchFamily="34" charset="0"/>
                <a:ea typeface="Calibri" pitchFamily="34" charset="-122"/>
                <a:cs typeface="Calibri" pitchFamily="34" charset="-120"/>
              </a:rPr>
              <a:t>no test or owner</a:t>
            </a:r>
            <a:endParaRPr lang="en-US" sz="1600" dirty="0"/>
          </a:p>
        </p:txBody>
      </p:sp>
      <p:sp>
        <p:nvSpPr>
          <p:cNvPr id="10" name="Shape 7"/>
          <p:cNvSpPr/>
          <p:nvPr/>
        </p:nvSpPr>
        <p:spPr>
          <a:xfrm>
            <a:off x="4617720" y="1874520"/>
            <a:ext cx="3063240" cy="2286000"/>
          </a:xfrm>
          <a:prstGeom prst="roundRect">
            <a:avLst/>
          </a:prstGeom>
          <a:solidFill>
            <a:srgbClr val="FFFFFF"/>
          </a:solidFill>
          <a:ln w="12700">
            <a:solidFill>
              <a:srgbClr val="70AD47"/>
            </a:solidFill>
            <a:prstDash val="solid"/>
          </a:ln>
        </p:spPr>
        <p:txBody>
          <a:bodyPr/>
          <a:lstStyle/>
          <a:p>
            <a:endParaRPr lang="en-US"/>
          </a:p>
        </p:txBody>
      </p:sp>
      <p:sp>
        <p:nvSpPr>
          <p:cNvPr id="11" name="Shape 8"/>
          <p:cNvSpPr/>
          <p:nvPr/>
        </p:nvSpPr>
        <p:spPr>
          <a:xfrm>
            <a:off x="4617720" y="1874520"/>
            <a:ext cx="3063240" cy="438912"/>
          </a:xfrm>
          <a:prstGeom prst="roundRect">
            <a:avLst/>
          </a:prstGeom>
          <a:solidFill>
            <a:srgbClr val="70AD47"/>
          </a:solidFill>
          <a:ln w="12700">
            <a:solidFill>
              <a:srgbClr val="70AD47"/>
            </a:solidFill>
            <a:prstDash val="solid"/>
          </a:ln>
        </p:spPr>
        <p:txBody>
          <a:bodyPr/>
          <a:lstStyle/>
          <a:p>
            <a:endParaRPr lang="en-US"/>
          </a:p>
        </p:txBody>
      </p:sp>
      <p:sp>
        <p:nvSpPr>
          <p:cNvPr id="12" name="Text 9"/>
          <p:cNvSpPr txBox="1"/>
          <p:nvPr/>
        </p:nvSpPr>
        <p:spPr>
          <a:xfrm>
            <a:off x="4754880" y="1993392"/>
            <a:ext cx="2788920" cy="182880"/>
          </a:xfrm>
          <a:prstGeom prst="rect">
            <a:avLst/>
          </a:prstGeom>
          <a:noFill/>
          <a:ln/>
        </p:spPr>
        <p:txBody>
          <a:bodyPr wrap="square" lIns="508" tIns="508" rIns="508" bIns="508" rtlCol="0" anchor="ctr">
            <a:normAutofit fontScale="77500" lnSpcReduction="20000"/>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Useful</a:t>
            </a:r>
            <a:endParaRPr lang="en-US" sz="1800" dirty="0"/>
          </a:p>
        </p:txBody>
      </p:sp>
      <p:sp>
        <p:nvSpPr>
          <p:cNvPr id="13" name="Text 10"/>
          <p:cNvSpPr txBox="1"/>
          <p:nvPr/>
        </p:nvSpPr>
        <p:spPr>
          <a:xfrm>
            <a:off x="4846320" y="2743200"/>
            <a:ext cx="2606040" cy="731520"/>
          </a:xfrm>
          <a:prstGeom prst="rect">
            <a:avLst/>
          </a:prstGeom>
          <a:noFill/>
          <a:ln/>
        </p:spPr>
        <p:txBody>
          <a:bodyPr wrap="square" lIns="508" tIns="508" rIns="508" bIns="508" rtlCol="0" anchor="ctr">
            <a:normAutofit lnSpcReduction="10000"/>
          </a:bodyPr>
          <a:lstStyle/>
          <a:p>
            <a:pPr marL="0" indent="0" algn="ctr">
              <a:buNone/>
            </a:pPr>
            <a:r>
              <a:rPr lang="en-US" sz="1600" dirty="0">
                <a:solidFill>
                  <a:srgbClr val="203040"/>
                </a:solidFill>
                <a:latin typeface="Calibri" pitchFamily="34" charset="0"/>
                <a:ea typeface="Calibri" pitchFamily="34" charset="-122"/>
                <a:cs typeface="Calibri" pitchFamily="34" charset="-120"/>
              </a:rPr>
              <a:t>scope + duty + evidence</a:t>
            </a:r>
            <a:endParaRPr lang="en-US" sz="1600" dirty="0"/>
          </a:p>
          <a:p>
            <a:pPr marL="0" indent="0" algn="ctr">
              <a:buNone/>
            </a:pPr>
            <a:r>
              <a:rPr lang="en-US" sz="1600" dirty="0">
                <a:solidFill>
                  <a:srgbClr val="203040"/>
                </a:solidFill>
                <a:latin typeface="Calibri" pitchFamily="34" charset="0"/>
                <a:ea typeface="Calibri" pitchFamily="34" charset="-122"/>
                <a:cs typeface="Calibri" pitchFamily="34" charset="-120"/>
              </a:rPr>
              <a:t>linked standards and procedures</a:t>
            </a:r>
            <a:endParaRPr lang="en-US" sz="1600" dirty="0"/>
          </a:p>
        </p:txBody>
      </p:sp>
      <p:sp>
        <p:nvSpPr>
          <p:cNvPr id="14" name="Shape 11"/>
          <p:cNvSpPr/>
          <p:nvPr/>
        </p:nvSpPr>
        <p:spPr>
          <a:xfrm>
            <a:off x="8366760" y="1874520"/>
            <a:ext cx="3063240" cy="2286000"/>
          </a:xfrm>
          <a:prstGeom prst="roundRect">
            <a:avLst/>
          </a:prstGeom>
          <a:solidFill>
            <a:srgbClr val="FFFFFF"/>
          </a:solidFill>
          <a:ln w="12700">
            <a:solidFill>
              <a:srgbClr val="F79646"/>
            </a:solidFill>
            <a:prstDash val="solid"/>
          </a:ln>
        </p:spPr>
        <p:txBody>
          <a:bodyPr/>
          <a:lstStyle/>
          <a:p>
            <a:endParaRPr lang="en-US"/>
          </a:p>
        </p:txBody>
      </p:sp>
      <p:sp>
        <p:nvSpPr>
          <p:cNvPr id="15" name="Shape 12"/>
          <p:cNvSpPr/>
          <p:nvPr/>
        </p:nvSpPr>
        <p:spPr>
          <a:xfrm>
            <a:off x="8366760" y="1874520"/>
            <a:ext cx="3063240" cy="438912"/>
          </a:xfrm>
          <a:prstGeom prst="roundRect">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8503920" y="1993392"/>
            <a:ext cx="2788920" cy="182880"/>
          </a:xfrm>
          <a:prstGeom prst="rect">
            <a:avLst/>
          </a:prstGeom>
          <a:noFill/>
          <a:ln/>
        </p:spPr>
        <p:txBody>
          <a:bodyPr wrap="square" lIns="508" tIns="508" rIns="508" bIns="508" rtlCol="0" anchor="ctr">
            <a:normAutofit fontScale="77500" lnSpcReduction="20000"/>
          </a:bodyPr>
          <a:lstStyle/>
          <a:p>
            <a:pPr marL="0" indent="0" algn="ctr">
              <a:buNone/>
            </a:pPr>
            <a:r>
              <a:rPr lang="en-US" sz="1800" b="1" dirty="0">
                <a:solidFill>
                  <a:srgbClr val="FFFFFF"/>
                </a:solidFill>
                <a:latin typeface="Calibri" pitchFamily="34" charset="0"/>
                <a:ea typeface="Calibri" pitchFamily="34" charset="-122"/>
                <a:cs typeface="Calibri" pitchFamily="34" charset="-120"/>
              </a:rPr>
              <a:t>Too long</a:t>
            </a:r>
            <a:endParaRPr lang="en-US" sz="1800" dirty="0"/>
          </a:p>
        </p:txBody>
      </p:sp>
      <p:sp>
        <p:nvSpPr>
          <p:cNvPr id="17" name="Text 14"/>
          <p:cNvSpPr txBox="1"/>
          <p:nvPr/>
        </p:nvSpPr>
        <p:spPr>
          <a:xfrm>
            <a:off x="8595360" y="2743200"/>
            <a:ext cx="2606040" cy="731520"/>
          </a:xfrm>
          <a:prstGeom prst="rect">
            <a:avLst/>
          </a:prstGeom>
          <a:noFill/>
          <a:ln/>
        </p:spPr>
        <p:txBody>
          <a:bodyPr wrap="square" lIns="508" tIns="508" rIns="508" bIns="508" rtlCol="0" anchor="ctr">
            <a:normAutofit/>
          </a:bodyPr>
          <a:lstStyle/>
          <a:p>
            <a:pPr marL="0" indent="0" algn="ctr">
              <a:buNone/>
            </a:pPr>
            <a:r>
              <a:rPr lang="en-US" sz="1600" dirty="0">
                <a:solidFill>
                  <a:srgbClr val="203040"/>
                </a:solidFill>
                <a:latin typeface="Calibri" pitchFamily="34" charset="0"/>
                <a:ea typeface="Calibri" pitchFamily="34" charset="-122"/>
                <a:cs typeface="Calibri" pitchFamily="34" charset="-120"/>
              </a:rPr>
              <a:t>buried requirements</a:t>
            </a:r>
            <a:endParaRPr lang="en-US" sz="1600" dirty="0"/>
          </a:p>
          <a:p>
            <a:pPr marL="0" indent="0" algn="ctr">
              <a:buNone/>
            </a:pPr>
            <a:r>
              <a:rPr lang="en-US" sz="1600" dirty="0">
                <a:solidFill>
                  <a:srgbClr val="203040"/>
                </a:solidFill>
                <a:latin typeface="Calibri" pitchFamily="34" charset="0"/>
                <a:ea typeface="Calibri" pitchFamily="34" charset="-122"/>
                <a:cs typeface="Calibri" pitchFamily="34" charset="-120"/>
              </a:rPr>
              <a:t>contradictions and policy debt</a:t>
            </a:r>
            <a:endParaRPr lang="en-US" sz="1600" dirty="0"/>
          </a:p>
        </p:txBody>
      </p:sp>
      <p:sp>
        <p:nvSpPr>
          <p:cNvPr id="18" name="Shape 15"/>
          <p:cNvSpPr/>
          <p:nvPr/>
        </p:nvSpPr>
        <p:spPr>
          <a:xfrm>
            <a:off x="960120" y="4663440"/>
            <a:ext cx="10149840" cy="713232"/>
          </a:xfrm>
          <a:prstGeom prst="roundRect">
            <a:avLst/>
          </a:prstGeom>
          <a:solidFill>
            <a:srgbClr val="FFFFFF"/>
          </a:solidFill>
          <a:ln w="12700">
            <a:solidFill>
              <a:srgbClr val="1F497D"/>
            </a:solidFill>
            <a:prstDash val="solid"/>
          </a:ln>
        </p:spPr>
        <p:txBody>
          <a:bodyPr/>
          <a:lstStyle/>
          <a:p>
            <a:endParaRPr lang="en-US"/>
          </a:p>
        </p:txBody>
      </p:sp>
      <p:sp>
        <p:nvSpPr>
          <p:cNvPr id="19" name="Shape 16"/>
          <p:cNvSpPr/>
          <p:nvPr/>
        </p:nvSpPr>
        <p:spPr>
          <a:xfrm>
            <a:off x="960120" y="4663440"/>
            <a:ext cx="100584" cy="713232"/>
          </a:xfrm>
          <a:prstGeom prst="rect">
            <a:avLst/>
          </a:prstGeom>
          <a:solidFill>
            <a:srgbClr val="1F497D"/>
          </a:solidFill>
          <a:ln w="12700">
            <a:solidFill>
              <a:srgbClr val="1F497D"/>
            </a:solidFill>
            <a:prstDash val="solid"/>
          </a:ln>
        </p:spPr>
        <p:txBody>
          <a:bodyPr/>
          <a:lstStyle/>
          <a:p>
            <a:endParaRPr lang="en-US"/>
          </a:p>
        </p:txBody>
      </p:sp>
      <p:sp>
        <p:nvSpPr>
          <p:cNvPr id="20" name="Text 17"/>
          <p:cNvSpPr txBox="1"/>
          <p:nvPr/>
        </p:nvSpPr>
        <p:spPr>
          <a:xfrm>
            <a:off x="1197864" y="4773168"/>
            <a:ext cx="9802368" cy="237744"/>
          </a:xfrm>
          <a:prstGeom prst="rect">
            <a:avLst/>
          </a:prstGeom>
          <a:noFill/>
          <a:ln/>
        </p:spPr>
        <p:txBody>
          <a:bodyPr wrap="square" lIns="508" tIns="508" rIns="508" bIns="508" rtlCol="0" anchor="ctr">
            <a:normAutofit/>
          </a:bodyPr>
          <a:lstStyle/>
          <a:p>
            <a:pPr marL="0" indent="0" algn="l">
              <a:buNone/>
            </a:pPr>
            <a:r>
              <a:rPr lang="en-US" sz="1400" b="1" dirty="0">
                <a:solidFill>
                  <a:srgbClr val="1F497D"/>
                </a:solidFill>
                <a:latin typeface="Calibri" pitchFamily="34" charset="0"/>
                <a:ea typeface="Calibri" pitchFamily="34" charset="-122"/>
                <a:cs typeface="Calibri" pitchFamily="34" charset="-120"/>
              </a:rPr>
              <a:t>Editing test</a:t>
            </a:r>
            <a:endParaRPr lang="en-US" sz="1400" dirty="0"/>
          </a:p>
        </p:txBody>
      </p:sp>
      <p:sp>
        <p:nvSpPr>
          <p:cNvPr id="21" name="Text 18"/>
          <p:cNvSpPr txBox="1"/>
          <p:nvPr/>
        </p:nvSpPr>
        <p:spPr>
          <a:xfrm>
            <a:off x="1197864" y="5074920"/>
            <a:ext cx="9802368" cy="210312"/>
          </a:xfrm>
          <a:prstGeom prst="rect">
            <a:avLst/>
          </a:prstGeom>
          <a:noFill/>
          <a:ln/>
        </p:spPr>
        <p:txBody>
          <a:bodyPr wrap="square" lIns="508" tIns="508" rIns="508" bIns="508" rtlCol="0" anchor="t">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If a reader cannot find the required action, evidence, owner, and exception path quickly, the policy needs restructuring.</a:t>
            </a:r>
            <a:endParaRPr lang="en-US" sz="125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2EDBDA4-22D6-0397-F5F9-85F8BD292123}"/>
              </a:ext>
            </a:extLst>
          </p:cNvPr>
          <p:cNvSpPr txBox="1"/>
          <p:nvPr/>
        </p:nvSpPr>
        <p:spPr>
          <a:xfrm>
            <a:off x="647700" y="342900"/>
            <a:ext cx="10684668" cy="5909310"/>
          </a:xfrm>
          <a:prstGeom prst="rect">
            <a:avLst/>
          </a:prstGeom>
          <a:noFill/>
        </p:spPr>
        <p:txBody>
          <a:bodyPr wrap="square">
            <a:spAutoFit/>
          </a:bodyPr>
          <a:lstStyle/>
          <a:p>
            <a:r>
              <a:rPr lang="en-US" dirty="0"/>
              <a:t>Acceptable Use Policy</a:t>
            </a:r>
          </a:p>
          <a:p>
            <a:r>
              <a:rPr lang="en-US" dirty="0"/>
              <a:t>Our organization is committed to maintaining a secure, reliable, and productive digital environment that supports the work of our employees, partners, and broader community. To help preserve this environment, all users are expected to exercise sound judgment and use company technology resources responsibly, ethically, and in accordance with applicable laws and organizational requirements.</a:t>
            </a:r>
          </a:p>
          <a:p>
            <a:r>
              <a:rPr lang="en-US" dirty="0"/>
              <a:t>Company systems, networks, applications, devices, and information should be used primarily for authorized business purposes. Users must take appropriate steps to safeguard their passwords, multi-factor authentication devices, company equipment, and any confidential or sensitive information entrusted to them.</a:t>
            </a:r>
          </a:p>
          <a:p>
            <a:r>
              <a:rPr lang="en-US" dirty="0"/>
              <a:t>Respect for information boundaries is essential. Users must not access, copy, modify, distribute, or disclose information unless they have the appropriate authorization to do so. Similarly, users must not introduce malicious software, attempt to circumvent established security controls, or engage in activities that could impair, interrupt, or otherwise compromise the availability and reliability of company services.</a:t>
            </a:r>
          </a:p>
          <a:p>
            <a:r>
              <a:rPr lang="en-US" dirty="0"/>
              <a:t>The organization recognizes that occasional personal use may be reasonable in the course of everyday work. Such use is permitted only when it is lawful, secure, limited in nature, and does not interfere with productivity, system performance, workplace responsibilities, or the rights of other users.</a:t>
            </a:r>
          </a:p>
          <a:p>
            <a:r>
              <a:rPr lang="en-US" dirty="0"/>
              <a:t>Everyone plays an important role in maintaining organizational security. Any suspected security incident, unauthorized access, loss of equipment, or potential exposure of company information should be reported promptly through the appropriate reporting channel so that it can be reviewed and addressed without unnecessary delay.</a:t>
            </a:r>
          </a:p>
          <a:p>
            <a:r>
              <a:rPr lang="en-US" dirty="0"/>
              <a:t>Failure to follow this policy may lead to the removal or restriction of system access and may also result in disciplinary action, up to and including termination of employment or other applicable consequences.</a:t>
            </a:r>
          </a:p>
        </p:txBody>
      </p:sp>
    </p:spTree>
    <p:extLst>
      <p:ext uri="{BB962C8B-B14F-4D97-AF65-F5344CB8AC3E}">
        <p14:creationId xmlns:p14="http://schemas.microsoft.com/office/powerpoint/2010/main" val="33212512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EB746A6-837C-7270-4807-D3F21424BBC3}"/>
              </a:ext>
            </a:extLst>
          </p:cNvPr>
          <p:cNvSpPr txBox="1"/>
          <p:nvPr/>
        </p:nvSpPr>
        <p:spPr>
          <a:xfrm>
            <a:off x="3050381" y="1582341"/>
            <a:ext cx="6100762" cy="3693319"/>
          </a:xfrm>
          <a:prstGeom prst="rect">
            <a:avLst/>
          </a:prstGeom>
          <a:noFill/>
        </p:spPr>
        <p:txBody>
          <a:bodyPr wrap="square">
            <a:spAutoFit/>
          </a:bodyPr>
          <a:lstStyle/>
          <a:p>
            <a:pPr>
              <a:buNone/>
            </a:pPr>
            <a:r>
              <a:rPr lang="en-US"/>
              <a:t>Acceptable Use Policy</a:t>
            </a:r>
          </a:p>
          <a:p>
            <a:pPr marL="342900" lvl="0" indent="-342900">
              <a:buFont typeface="Arial" panose="020B0604020202020204" pitchFamily="34" charset="0"/>
              <a:buChar char="•"/>
            </a:pPr>
            <a:r>
              <a:rPr lang="en-US" dirty="0"/>
              <a:t>Use company systems only for authorized, lawful business purposes.</a:t>
            </a:r>
          </a:p>
          <a:p>
            <a:pPr marL="342900" lvl="0" indent="-342900">
              <a:buFont typeface="Arial" panose="020B0604020202020204" pitchFamily="34" charset="0"/>
              <a:buChar char="•"/>
            </a:pPr>
            <a:r>
              <a:rPr lang="en-US" dirty="0"/>
              <a:t>Protect passwords, MFA devices, company equipment, and confidential data.</a:t>
            </a:r>
          </a:p>
          <a:p>
            <a:pPr marL="342900" lvl="0" indent="-342900">
              <a:buFont typeface="Arial" panose="020B0604020202020204" pitchFamily="34" charset="0"/>
              <a:buChar char="•"/>
            </a:pPr>
            <a:r>
              <a:rPr lang="en-US" dirty="0"/>
              <a:t>Do not access, copy, modify, or share information without permission.</a:t>
            </a:r>
          </a:p>
          <a:p>
            <a:pPr marL="342900" lvl="0" indent="-342900">
              <a:buFont typeface="Arial" panose="020B0604020202020204" pitchFamily="34" charset="0"/>
              <a:buChar char="•"/>
            </a:pPr>
            <a:r>
              <a:rPr lang="en-US" dirty="0"/>
              <a:t>Do not introduce malware, bypass security controls, or disrupt services.</a:t>
            </a:r>
          </a:p>
          <a:p>
            <a:pPr marL="342900" lvl="0" indent="-342900">
              <a:buFont typeface="Arial" panose="020B0604020202020204" pitchFamily="34" charset="0"/>
              <a:buChar char="•"/>
            </a:pPr>
            <a:r>
              <a:rPr lang="en-US" dirty="0"/>
              <a:t>Limited personal use is allowed if it is lawful, secure, and does not interfere with work.</a:t>
            </a:r>
          </a:p>
          <a:p>
            <a:pPr marL="342900" lvl="0" indent="-342900">
              <a:buFont typeface="Arial" panose="020B0604020202020204" pitchFamily="34" charset="0"/>
              <a:buChar char="•"/>
            </a:pPr>
            <a:r>
              <a:rPr lang="en-US" dirty="0"/>
              <a:t>Report suspected security incidents promptly.</a:t>
            </a:r>
          </a:p>
          <a:p>
            <a:pPr marL="342900" lvl="0" indent="-342900">
              <a:buFont typeface="Arial" panose="020B0604020202020204" pitchFamily="34" charset="0"/>
              <a:buChar char="•"/>
            </a:pPr>
            <a:r>
              <a:rPr lang="en-US" dirty="0"/>
              <a:t>Violations may result in loss of access or disciplinary action.</a:t>
            </a:r>
          </a:p>
        </p:txBody>
      </p:sp>
    </p:spTree>
    <p:extLst>
      <p:ext uri="{BB962C8B-B14F-4D97-AF65-F5344CB8AC3E}">
        <p14:creationId xmlns:p14="http://schemas.microsoft.com/office/powerpoint/2010/main" val="15512086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b="1" kern="0" spc="120" dirty="0">
                <a:solidFill>
                  <a:srgbClr val="4BACC6"/>
                </a:solidFill>
                <a:latin typeface="Calibri" pitchFamily="34" charset="0"/>
                <a:ea typeface="Calibri" pitchFamily="34" charset="-122"/>
                <a:cs typeface="Calibri" pitchFamily="34" charset="-120"/>
              </a:rPr>
              <a:t>POLICY CONTROL</a:t>
            </a:r>
            <a:endParaRPr lang="en-US" sz="1000" dirty="0"/>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Policy versus procedures </a:t>
            </a:r>
            <a:endParaRPr lang="en-US" sz="2700" dirty="0"/>
          </a:p>
        </p:txBody>
      </p:sp>
      <p:sp>
        <p:nvSpPr>
          <p:cNvPr id="4" name="Text 2"/>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A principle guides judgment. An enforceable policy creates a checkable obligation.</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8</a:t>
            </a:fld>
            <a:endParaRPr lang="en-US"/>
          </a:p>
        </p:txBody>
      </p:sp>
      <p:pic>
        <p:nvPicPr>
          <p:cNvPr id="30" name="Picture 29">
            <a:extLst>
              <a:ext uri="{FF2B5EF4-FFF2-40B4-BE49-F238E27FC236}">
                <a16:creationId xmlns:a16="http://schemas.microsoft.com/office/drawing/2014/main" id="{9120CEE6-2947-32A1-205A-D5DE8074C5D4}"/>
              </a:ext>
            </a:extLst>
          </p:cNvPr>
          <p:cNvPicPr>
            <a:picLocks noChangeAspect="1"/>
          </p:cNvPicPr>
          <p:nvPr/>
        </p:nvPicPr>
        <p:blipFill>
          <a:blip r:embed="rId3"/>
          <a:stretch>
            <a:fillRect/>
          </a:stretch>
        </p:blipFill>
        <p:spPr>
          <a:xfrm>
            <a:off x="2319337" y="1426464"/>
            <a:ext cx="7553325" cy="50355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b="1" kern="0" spc="120" dirty="0">
                <a:solidFill>
                  <a:srgbClr val="4BACC6"/>
                </a:solidFill>
                <a:latin typeface="Calibri" pitchFamily="34" charset="0"/>
                <a:ea typeface="Calibri" pitchFamily="34" charset="-122"/>
                <a:cs typeface="Calibri" pitchFamily="34" charset="-120"/>
              </a:rPr>
              <a:t>POLICY QUALITY</a:t>
            </a:r>
            <a:endParaRPr lang="en-US" sz="1000" dirty="0"/>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Good policy language names owners, scope, evidence, and exceptions</a:t>
            </a:r>
            <a:endParaRPr lang="en-US" sz="2700" dirty="0"/>
          </a:p>
        </p:txBody>
      </p:sp>
      <p:sp>
        <p:nvSpPr>
          <p:cNvPr id="4" name="Text 2"/>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Vague language creates unreviewable risk.</a:t>
            </a:r>
            <a:endParaRPr lang="en-US" sz="1250" dirty="0"/>
          </a:p>
        </p:txBody>
      </p:sp>
      <p:sp>
        <p:nvSpPr>
          <p:cNvPr id="6" name="Shape 3"/>
          <p:cNvSpPr/>
          <p:nvPr/>
        </p:nvSpPr>
        <p:spPr>
          <a:xfrm>
            <a:off x="594360" y="2057400"/>
            <a:ext cx="2057400" cy="1874520"/>
          </a:xfrm>
          <a:prstGeom prst="roundRect">
            <a:avLst/>
          </a:prstGeom>
          <a:solidFill>
            <a:srgbClr val="FFFFFF"/>
          </a:solidFill>
          <a:ln w="12700">
            <a:solidFill>
              <a:srgbClr val="CBD5E1"/>
            </a:solidFill>
            <a:prstDash val="solid"/>
          </a:ln>
        </p:spPr>
        <p:txBody>
          <a:bodyPr/>
          <a:lstStyle/>
          <a:p>
            <a:endParaRPr lang="en-US"/>
          </a:p>
        </p:txBody>
      </p:sp>
      <p:sp>
        <p:nvSpPr>
          <p:cNvPr id="7" name="Shape 4"/>
          <p:cNvSpPr/>
          <p:nvPr/>
        </p:nvSpPr>
        <p:spPr>
          <a:xfrm>
            <a:off x="594360" y="2057400"/>
            <a:ext cx="2057400" cy="292608"/>
          </a:xfrm>
          <a:prstGeom prst="roundRect">
            <a:avLst/>
          </a:prstGeom>
          <a:solidFill>
            <a:srgbClr val="4BACC6"/>
          </a:solidFill>
          <a:ln w="12700">
            <a:solidFill>
              <a:srgbClr val="4BACC6"/>
            </a:solidFill>
            <a:prstDash val="solid"/>
          </a:ln>
        </p:spPr>
        <p:txBody>
          <a:bodyPr/>
          <a:lstStyle/>
          <a:p>
            <a:endParaRPr lang="en-US"/>
          </a:p>
        </p:txBody>
      </p:sp>
      <p:sp>
        <p:nvSpPr>
          <p:cNvPr id="8" name="Text 5"/>
          <p:cNvSpPr txBox="1"/>
          <p:nvPr/>
        </p:nvSpPr>
        <p:spPr>
          <a:xfrm>
            <a:off x="704088" y="2093976"/>
            <a:ext cx="1837944" cy="219456"/>
          </a:xfrm>
          <a:prstGeom prst="rect">
            <a:avLst/>
          </a:prstGeom>
          <a:noFill/>
          <a:ln/>
        </p:spPr>
        <p:txBody>
          <a:bodyPr wrap="square" lIns="508" tIns="508" rIns="508" bIns="508"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Owner</a:t>
            </a:r>
            <a:endParaRPr lang="en-US" sz="1100" dirty="0"/>
          </a:p>
        </p:txBody>
      </p:sp>
      <p:sp>
        <p:nvSpPr>
          <p:cNvPr id="9" name="Text 6"/>
          <p:cNvSpPr txBox="1"/>
          <p:nvPr/>
        </p:nvSpPr>
        <p:spPr>
          <a:xfrm>
            <a:off x="704088" y="2468880"/>
            <a:ext cx="1837944" cy="1371600"/>
          </a:xfrm>
          <a:prstGeom prst="rect">
            <a:avLst/>
          </a:prstGeom>
          <a:noFill/>
          <a:ln/>
        </p:spPr>
        <p:txBody>
          <a:bodyPr wrap="square" lIns="508" tIns="508" rIns="508" bIns="508" rtlCol="0" anchor="ctr">
            <a:normAutofit/>
          </a:bodyPr>
          <a:lstStyle/>
          <a:p>
            <a:pPr marL="0" indent="0" algn="ctr">
              <a:buNone/>
            </a:pPr>
            <a:r>
              <a:rPr lang="en-US" sz="1300" dirty="0">
                <a:solidFill>
                  <a:srgbClr val="203040"/>
                </a:solidFill>
                <a:latin typeface="Calibri" pitchFamily="34" charset="0"/>
                <a:ea typeface="Calibri" pitchFamily="34" charset="-122"/>
                <a:cs typeface="Calibri" pitchFamily="34" charset="-120"/>
              </a:rPr>
              <a:t>who is accountable?</a:t>
            </a:r>
            <a:endParaRPr lang="en-US" sz="1300" dirty="0"/>
          </a:p>
        </p:txBody>
      </p:sp>
      <p:sp>
        <p:nvSpPr>
          <p:cNvPr id="10" name="Shape 7"/>
          <p:cNvSpPr/>
          <p:nvPr/>
        </p:nvSpPr>
        <p:spPr>
          <a:xfrm>
            <a:off x="2898648" y="2057400"/>
            <a:ext cx="2057400" cy="1874520"/>
          </a:xfrm>
          <a:prstGeom prst="roundRect">
            <a:avLst/>
          </a:prstGeom>
          <a:solidFill>
            <a:srgbClr val="FFFFFF"/>
          </a:solidFill>
          <a:ln w="12700">
            <a:solidFill>
              <a:srgbClr val="CBD5E1"/>
            </a:solidFill>
            <a:prstDash val="solid"/>
          </a:ln>
        </p:spPr>
        <p:txBody>
          <a:bodyPr/>
          <a:lstStyle/>
          <a:p>
            <a:endParaRPr lang="en-US"/>
          </a:p>
        </p:txBody>
      </p:sp>
      <p:sp>
        <p:nvSpPr>
          <p:cNvPr id="11" name="Shape 8"/>
          <p:cNvSpPr/>
          <p:nvPr/>
        </p:nvSpPr>
        <p:spPr>
          <a:xfrm>
            <a:off x="2898648" y="2057400"/>
            <a:ext cx="2057400" cy="292608"/>
          </a:xfrm>
          <a:prstGeom prst="roundRect">
            <a:avLst/>
          </a:prstGeom>
          <a:solidFill>
            <a:srgbClr val="4F81BD"/>
          </a:solidFill>
          <a:ln w="12700">
            <a:solidFill>
              <a:srgbClr val="4F81BD"/>
            </a:solidFill>
            <a:prstDash val="solid"/>
          </a:ln>
        </p:spPr>
        <p:txBody>
          <a:bodyPr/>
          <a:lstStyle/>
          <a:p>
            <a:endParaRPr lang="en-US"/>
          </a:p>
        </p:txBody>
      </p:sp>
      <p:sp>
        <p:nvSpPr>
          <p:cNvPr id="12" name="Text 9"/>
          <p:cNvSpPr txBox="1"/>
          <p:nvPr/>
        </p:nvSpPr>
        <p:spPr>
          <a:xfrm>
            <a:off x="3008376" y="2093976"/>
            <a:ext cx="1837944" cy="219456"/>
          </a:xfrm>
          <a:prstGeom prst="rect">
            <a:avLst/>
          </a:prstGeom>
          <a:noFill/>
          <a:ln/>
        </p:spPr>
        <p:txBody>
          <a:bodyPr wrap="square" lIns="508" tIns="508" rIns="508" bIns="508"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Scope</a:t>
            </a:r>
            <a:endParaRPr lang="en-US" sz="1100" dirty="0"/>
          </a:p>
        </p:txBody>
      </p:sp>
      <p:sp>
        <p:nvSpPr>
          <p:cNvPr id="13" name="Text 10"/>
          <p:cNvSpPr txBox="1"/>
          <p:nvPr/>
        </p:nvSpPr>
        <p:spPr>
          <a:xfrm>
            <a:off x="3008376" y="2468880"/>
            <a:ext cx="1837944" cy="1371600"/>
          </a:xfrm>
          <a:prstGeom prst="rect">
            <a:avLst/>
          </a:prstGeom>
          <a:noFill/>
          <a:ln/>
        </p:spPr>
        <p:txBody>
          <a:bodyPr wrap="square" lIns="508" tIns="508" rIns="508" bIns="508" rtlCol="0" anchor="ctr">
            <a:normAutofit/>
          </a:bodyPr>
          <a:lstStyle/>
          <a:p>
            <a:pPr marL="0" indent="0" algn="ctr">
              <a:buNone/>
            </a:pPr>
            <a:r>
              <a:rPr lang="en-US" sz="1300" dirty="0">
                <a:solidFill>
                  <a:srgbClr val="203040"/>
                </a:solidFill>
                <a:latin typeface="Calibri" pitchFamily="34" charset="0"/>
                <a:ea typeface="Calibri" pitchFamily="34" charset="-122"/>
                <a:cs typeface="Calibri" pitchFamily="34" charset="-120"/>
              </a:rPr>
              <a:t>what is covered?</a:t>
            </a:r>
            <a:endParaRPr lang="en-US" sz="1300" dirty="0"/>
          </a:p>
        </p:txBody>
      </p:sp>
      <p:sp>
        <p:nvSpPr>
          <p:cNvPr id="14" name="Shape 11"/>
          <p:cNvSpPr/>
          <p:nvPr/>
        </p:nvSpPr>
        <p:spPr>
          <a:xfrm>
            <a:off x="5202936" y="2057400"/>
            <a:ext cx="2057400" cy="1874520"/>
          </a:xfrm>
          <a:prstGeom prst="roundRect">
            <a:avLst/>
          </a:prstGeom>
          <a:solidFill>
            <a:srgbClr val="FFFFFF"/>
          </a:solidFill>
          <a:ln w="12700">
            <a:solidFill>
              <a:srgbClr val="CBD5E1"/>
            </a:solidFill>
            <a:prstDash val="solid"/>
          </a:ln>
        </p:spPr>
        <p:txBody>
          <a:bodyPr/>
          <a:lstStyle/>
          <a:p>
            <a:endParaRPr lang="en-US"/>
          </a:p>
        </p:txBody>
      </p:sp>
      <p:sp>
        <p:nvSpPr>
          <p:cNvPr id="15" name="Shape 12"/>
          <p:cNvSpPr/>
          <p:nvPr/>
        </p:nvSpPr>
        <p:spPr>
          <a:xfrm>
            <a:off x="5202936" y="2057400"/>
            <a:ext cx="2057400" cy="292608"/>
          </a:xfrm>
          <a:prstGeom prst="roundRect">
            <a:avLst/>
          </a:prstGeom>
          <a:solidFill>
            <a:srgbClr val="F79646"/>
          </a:solidFill>
          <a:ln w="12700">
            <a:solidFill>
              <a:srgbClr val="F79646"/>
            </a:solidFill>
            <a:prstDash val="solid"/>
          </a:ln>
        </p:spPr>
        <p:txBody>
          <a:bodyPr/>
          <a:lstStyle/>
          <a:p>
            <a:endParaRPr lang="en-US"/>
          </a:p>
        </p:txBody>
      </p:sp>
      <p:sp>
        <p:nvSpPr>
          <p:cNvPr id="16" name="Text 13"/>
          <p:cNvSpPr txBox="1"/>
          <p:nvPr/>
        </p:nvSpPr>
        <p:spPr>
          <a:xfrm>
            <a:off x="5312664" y="2093976"/>
            <a:ext cx="1837944" cy="219456"/>
          </a:xfrm>
          <a:prstGeom prst="rect">
            <a:avLst/>
          </a:prstGeom>
          <a:noFill/>
          <a:ln/>
        </p:spPr>
        <p:txBody>
          <a:bodyPr wrap="square" lIns="508" tIns="508" rIns="508" bIns="508"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Control</a:t>
            </a:r>
            <a:endParaRPr lang="en-US" sz="1100" dirty="0"/>
          </a:p>
        </p:txBody>
      </p:sp>
      <p:sp>
        <p:nvSpPr>
          <p:cNvPr id="17" name="Text 14"/>
          <p:cNvSpPr txBox="1"/>
          <p:nvPr/>
        </p:nvSpPr>
        <p:spPr>
          <a:xfrm>
            <a:off x="5312664" y="2468880"/>
            <a:ext cx="1837944" cy="1371600"/>
          </a:xfrm>
          <a:prstGeom prst="rect">
            <a:avLst/>
          </a:prstGeom>
          <a:noFill/>
          <a:ln/>
        </p:spPr>
        <p:txBody>
          <a:bodyPr wrap="square" lIns="508" tIns="508" rIns="508" bIns="508" rtlCol="0" anchor="ctr">
            <a:normAutofit/>
          </a:bodyPr>
          <a:lstStyle/>
          <a:p>
            <a:pPr marL="0" indent="0" algn="ctr">
              <a:buNone/>
            </a:pPr>
            <a:r>
              <a:rPr lang="en-US" sz="1300" dirty="0">
                <a:solidFill>
                  <a:srgbClr val="203040"/>
                </a:solidFill>
                <a:latin typeface="Calibri" pitchFamily="34" charset="0"/>
                <a:ea typeface="Calibri" pitchFamily="34" charset="-122"/>
                <a:cs typeface="Calibri" pitchFamily="34" charset="-120"/>
              </a:rPr>
              <a:t>what must happen?</a:t>
            </a:r>
            <a:endParaRPr lang="en-US" sz="1300" dirty="0"/>
          </a:p>
        </p:txBody>
      </p:sp>
      <p:sp>
        <p:nvSpPr>
          <p:cNvPr id="18" name="Shape 15"/>
          <p:cNvSpPr/>
          <p:nvPr/>
        </p:nvSpPr>
        <p:spPr>
          <a:xfrm>
            <a:off x="7507224" y="2057400"/>
            <a:ext cx="2057400" cy="1874520"/>
          </a:xfrm>
          <a:prstGeom prst="roundRect">
            <a:avLst/>
          </a:prstGeom>
          <a:solidFill>
            <a:srgbClr val="FFFFFF"/>
          </a:solidFill>
          <a:ln w="12700">
            <a:solidFill>
              <a:srgbClr val="CBD5E1"/>
            </a:solidFill>
            <a:prstDash val="solid"/>
          </a:ln>
        </p:spPr>
        <p:txBody>
          <a:bodyPr/>
          <a:lstStyle/>
          <a:p>
            <a:endParaRPr lang="en-US"/>
          </a:p>
        </p:txBody>
      </p:sp>
      <p:sp>
        <p:nvSpPr>
          <p:cNvPr id="19" name="Shape 16"/>
          <p:cNvSpPr/>
          <p:nvPr/>
        </p:nvSpPr>
        <p:spPr>
          <a:xfrm>
            <a:off x="7507224" y="2057400"/>
            <a:ext cx="2057400" cy="292608"/>
          </a:xfrm>
          <a:prstGeom prst="roundRect">
            <a:avLst/>
          </a:prstGeom>
          <a:solidFill>
            <a:srgbClr val="8064A2"/>
          </a:solidFill>
          <a:ln w="12700">
            <a:solidFill>
              <a:srgbClr val="8064A2"/>
            </a:solidFill>
            <a:prstDash val="solid"/>
          </a:ln>
        </p:spPr>
        <p:txBody>
          <a:bodyPr/>
          <a:lstStyle/>
          <a:p>
            <a:endParaRPr lang="en-US"/>
          </a:p>
        </p:txBody>
      </p:sp>
      <p:sp>
        <p:nvSpPr>
          <p:cNvPr id="20" name="Text 17"/>
          <p:cNvSpPr txBox="1"/>
          <p:nvPr/>
        </p:nvSpPr>
        <p:spPr>
          <a:xfrm>
            <a:off x="7616952" y="2093976"/>
            <a:ext cx="1837944" cy="219456"/>
          </a:xfrm>
          <a:prstGeom prst="rect">
            <a:avLst/>
          </a:prstGeom>
          <a:noFill/>
          <a:ln/>
        </p:spPr>
        <p:txBody>
          <a:bodyPr wrap="square" lIns="508" tIns="508" rIns="508" bIns="508"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p>
        </p:txBody>
      </p:sp>
      <p:sp>
        <p:nvSpPr>
          <p:cNvPr id="21" name="Text 18"/>
          <p:cNvSpPr txBox="1"/>
          <p:nvPr/>
        </p:nvSpPr>
        <p:spPr>
          <a:xfrm>
            <a:off x="7616952" y="2468880"/>
            <a:ext cx="1837944" cy="1371600"/>
          </a:xfrm>
          <a:prstGeom prst="rect">
            <a:avLst/>
          </a:prstGeom>
          <a:noFill/>
          <a:ln/>
        </p:spPr>
        <p:txBody>
          <a:bodyPr wrap="square" lIns="508" tIns="508" rIns="508" bIns="508" rtlCol="0" anchor="ctr">
            <a:normAutofit/>
          </a:bodyPr>
          <a:lstStyle/>
          <a:p>
            <a:pPr marL="0" indent="0" algn="ctr">
              <a:buNone/>
            </a:pPr>
            <a:r>
              <a:rPr lang="en-US" sz="1300" dirty="0">
                <a:solidFill>
                  <a:srgbClr val="203040"/>
                </a:solidFill>
                <a:latin typeface="Calibri" pitchFamily="34" charset="0"/>
                <a:ea typeface="Calibri" pitchFamily="34" charset="-122"/>
                <a:cs typeface="Calibri" pitchFamily="34" charset="-120"/>
              </a:rPr>
              <a:t>how is it proven?</a:t>
            </a:r>
            <a:endParaRPr lang="en-US" sz="1300" dirty="0"/>
          </a:p>
        </p:txBody>
      </p:sp>
      <p:sp>
        <p:nvSpPr>
          <p:cNvPr id="22" name="Shape 19"/>
          <p:cNvSpPr/>
          <p:nvPr/>
        </p:nvSpPr>
        <p:spPr>
          <a:xfrm>
            <a:off x="9811512" y="2057400"/>
            <a:ext cx="2057400" cy="1874520"/>
          </a:xfrm>
          <a:prstGeom prst="roundRect">
            <a:avLst/>
          </a:prstGeom>
          <a:solidFill>
            <a:srgbClr val="FFFFFF"/>
          </a:solidFill>
          <a:ln w="12700">
            <a:solidFill>
              <a:srgbClr val="CBD5E1"/>
            </a:solidFill>
            <a:prstDash val="solid"/>
          </a:ln>
        </p:spPr>
        <p:txBody>
          <a:bodyPr/>
          <a:lstStyle/>
          <a:p>
            <a:endParaRPr lang="en-US"/>
          </a:p>
        </p:txBody>
      </p:sp>
      <p:sp>
        <p:nvSpPr>
          <p:cNvPr id="23" name="Shape 20"/>
          <p:cNvSpPr/>
          <p:nvPr/>
        </p:nvSpPr>
        <p:spPr>
          <a:xfrm>
            <a:off x="9811512" y="2057400"/>
            <a:ext cx="2057400" cy="292608"/>
          </a:xfrm>
          <a:prstGeom prst="roundRect">
            <a:avLst/>
          </a:prstGeom>
          <a:solidFill>
            <a:srgbClr val="C0504D"/>
          </a:solidFill>
          <a:ln w="12700">
            <a:solidFill>
              <a:srgbClr val="C0504D"/>
            </a:solidFill>
            <a:prstDash val="solid"/>
          </a:ln>
        </p:spPr>
        <p:txBody>
          <a:bodyPr/>
          <a:lstStyle/>
          <a:p>
            <a:endParaRPr lang="en-US"/>
          </a:p>
        </p:txBody>
      </p:sp>
      <p:sp>
        <p:nvSpPr>
          <p:cNvPr id="24" name="Text 21"/>
          <p:cNvSpPr txBox="1"/>
          <p:nvPr/>
        </p:nvSpPr>
        <p:spPr>
          <a:xfrm>
            <a:off x="9921240" y="2093976"/>
            <a:ext cx="1837944" cy="219456"/>
          </a:xfrm>
          <a:prstGeom prst="rect">
            <a:avLst/>
          </a:prstGeom>
          <a:noFill/>
          <a:ln/>
        </p:spPr>
        <p:txBody>
          <a:bodyPr wrap="square" lIns="508" tIns="508" rIns="508" bIns="508" rtlCol="0" anchor="ctr">
            <a:normAutofit/>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Exception</a:t>
            </a:r>
            <a:endParaRPr lang="en-US" sz="1100" dirty="0"/>
          </a:p>
        </p:txBody>
      </p:sp>
      <p:sp>
        <p:nvSpPr>
          <p:cNvPr id="25" name="Text 22"/>
          <p:cNvSpPr txBox="1"/>
          <p:nvPr/>
        </p:nvSpPr>
        <p:spPr>
          <a:xfrm>
            <a:off x="9921240" y="2468880"/>
            <a:ext cx="1837944" cy="1371600"/>
          </a:xfrm>
          <a:prstGeom prst="rect">
            <a:avLst/>
          </a:prstGeom>
          <a:noFill/>
          <a:ln/>
        </p:spPr>
        <p:txBody>
          <a:bodyPr wrap="square" lIns="508" tIns="508" rIns="508" bIns="508" rtlCol="0" anchor="ctr">
            <a:normAutofit/>
          </a:bodyPr>
          <a:lstStyle/>
          <a:p>
            <a:pPr marL="0" indent="0" algn="ctr">
              <a:buNone/>
            </a:pPr>
            <a:r>
              <a:rPr lang="en-US" sz="1300" dirty="0">
                <a:solidFill>
                  <a:srgbClr val="203040"/>
                </a:solidFill>
                <a:latin typeface="Calibri" pitchFamily="34" charset="0"/>
                <a:ea typeface="Calibri" pitchFamily="34" charset="-122"/>
                <a:cs typeface="Calibri" pitchFamily="34" charset="-120"/>
              </a:rPr>
              <a:t>who may approve?</a:t>
            </a:r>
            <a:endParaRPr lang="en-US" sz="1300" dirty="0"/>
          </a:p>
        </p:txBody>
      </p:sp>
      <p:sp>
        <p:nvSpPr>
          <p:cNvPr id="26" name="Shape 23"/>
          <p:cNvSpPr/>
          <p:nvPr/>
        </p:nvSpPr>
        <p:spPr>
          <a:xfrm>
            <a:off x="1234440" y="4572000"/>
            <a:ext cx="9692640" cy="896112"/>
          </a:xfrm>
          <a:prstGeom prst="roundRect">
            <a:avLst/>
          </a:prstGeom>
          <a:solidFill>
            <a:srgbClr val="16202C"/>
          </a:solidFill>
          <a:ln w="12700">
            <a:solidFill>
              <a:srgbClr val="16202C"/>
            </a:solidFill>
            <a:prstDash val="solid"/>
          </a:ln>
        </p:spPr>
        <p:txBody>
          <a:bodyPr/>
          <a:lstStyle/>
          <a:p>
            <a:endParaRPr lang="en-US"/>
          </a:p>
        </p:txBody>
      </p:sp>
      <p:sp>
        <p:nvSpPr>
          <p:cNvPr id="27" name="Shape 24"/>
          <p:cNvSpPr/>
          <p:nvPr/>
        </p:nvSpPr>
        <p:spPr>
          <a:xfrm>
            <a:off x="1234440" y="4572000"/>
            <a:ext cx="91440" cy="896112"/>
          </a:xfrm>
          <a:prstGeom prst="rect">
            <a:avLst/>
          </a:prstGeom>
          <a:solidFill>
            <a:srgbClr val="70AD47"/>
          </a:solidFill>
          <a:ln w="12700">
            <a:solidFill>
              <a:srgbClr val="70AD47"/>
            </a:solidFill>
            <a:prstDash val="solid"/>
          </a:ln>
        </p:spPr>
        <p:txBody>
          <a:bodyPr/>
          <a:lstStyle/>
          <a:p>
            <a:endParaRPr lang="en-US"/>
          </a:p>
        </p:txBody>
      </p:sp>
      <p:sp>
        <p:nvSpPr>
          <p:cNvPr id="28" name="Text 25"/>
          <p:cNvSpPr txBox="1"/>
          <p:nvPr/>
        </p:nvSpPr>
        <p:spPr>
          <a:xfrm>
            <a:off x="1435608" y="4681728"/>
            <a:ext cx="9381744" cy="694944"/>
          </a:xfrm>
          <a:prstGeom prst="rect">
            <a:avLst/>
          </a:prstGeom>
          <a:noFill/>
          <a:ln/>
        </p:spPr>
        <p:txBody>
          <a:bodyPr wrap="square" lIns="508" tIns="508" rIns="508" bIns="508" rtlCol="0" anchor="t">
            <a:normAutofit/>
          </a:bodyPr>
          <a:lstStyle/>
          <a:p>
            <a:pPr marL="0" indent="0" algn="l">
              <a:buNone/>
            </a:pPr>
            <a:r>
              <a:rPr lang="en-US" sz="1100" dirty="0">
                <a:solidFill>
                  <a:srgbClr val="E8F0F7"/>
                </a:solidFill>
                <a:latin typeface="Courier New" pitchFamily="34" charset="0"/>
                <a:ea typeface="Courier New" pitchFamily="34" charset="-122"/>
                <a:cs typeface="Courier New" pitchFamily="34" charset="-120"/>
              </a:rPr>
              <a:t>Remote administrator access shall require</a:t>
            </a:r>
            <a:endParaRPr lang="en-US" sz="1100" dirty="0"/>
          </a:p>
          <a:p>
            <a:pPr marL="0" indent="0" algn="l">
              <a:buNone/>
            </a:pPr>
            <a:r>
              <a:rPr lang="en-US" sz="1100" dirty="0">
                <a:solidFill>
                  <a:srgbClr val="E8F0F7"/>
                </a:solidFill>
                <a:latin typeface="Courier New" pitchFamily="34" charset="0"/>
                <a:ea typeface="Courier New" pitchFamily="34" charset="-122"/>
                <a:cs typeface="Courier New" pitchFamily="34" charset="-120"/>
              </a:rPr>
              <a:t>strong authentication plus MFA, use the approved</a:t>
            </a:r>
            <a:endParaRPr lang="en-US" sz="1100" dirty="0"/>
          </a:p>
          <a:p>
            <a:pPr marL="0" indent="0" algn="l">
              <a:buNone/>
            </a:pPr>
            <a:r>
              <a:rPr lang="en-US" sz="1100" dirty="0">
                <a:solidFill>
                  <a:srgbClr val="E8F0F7"/>
                </a:solidFill>
                <a:latin typeface="Courier New" pitchFamily="34" charset="0"/>
                <a:ea typeface="Courier New" pitchFamily="34" charset="-122"/>
                <a:cs typeface="Courier New" pitchFamily="34" charset="-120"/>
              </a:rPr>
              <a:t>access path, and be retained in logs</a:t>
            </a:r>
            <a:endParaRPr lang="en-US" sz="1100" dirty="0"/>
          </a:p>
          <a:p>
            <a:pPr marL="0" indent="0" algn="l">
              <a:buNone/>
            </a:pPr>
            <a:r>
              <a:rPr lang="en-US" sz="1100" dirty="0">
                <a:solidFill>
                  <a:srgbClr val="E8F0F7"/>
                </a:solidFill>
                <a:latin typeface="Courier New" pitchFamily="34" charset="0"/>
                <a:ea typeface="Courier New" pitchFamily="34" charset="-122"/>
                <a:cs typeface="Courier New" pitchFamily="34" charset="-120"/>
              </a:rPr>
              <a:t>for the defined review period.</a:t>
            </a:r>
            <a:endParaRPr lang="en-US" sz="110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b="1" kern="0" spc="120" dirty="0">
                <a:solidFill>
                  <a:srgbClr val="4BACC6"/>
                </a:solidFill>
                <a:latin typeface="Calibri" pitchFamily="34" charset="0"/>
                <a:ea typeface="Calibri" pitchFamily="34" charset="-122"/>
                <a:cs typeface="Calibri" pitchFamily="34" charset="-120"/>
              </a:rPr>
              <a:t>POLICY</a:t>
            </a:r>
            <a:endParaRPr lang="en-US" sz="1000" dirty="0"/>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Policy is the management decision. Standards make it testable.</a:t>
            </a:r>
            <a:endParaRPr lang="en-US" sz="2700" dirty="0"/>
          </a:p>
        </p:txBody>
      </p:sp>
      <p:sp>
        <p:nvSpPr>
          <p:cNvPr id="4" name="Text 2"/>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A policy package needs layers with different levels of specificity.</a:t>
            </a:r>
            <a:endParaRPr lang="en-US" sz="1250" dirty="0"/>
          </a:p>
        </p:txBody>
      </p:sp>
      <p:sp>
        <p:nvSpPr>
          <p:cNvPr id="6" name="Shape 3"/>
          <p:cNvSpPr/>
          <p:nvPr/>
        </p:nvSpPr>
        <p:spPr>
          <a:xfrm>
            <a:off x="731520" y="1965960"/>
            <a:ext cx="2423160" cy="2331720"/>
          </a:xfrm>
          <a:prstGeom prst="roundRect">
            <a:avLst/>
          </a:prstGeom>
          <a:solidFill>
            <a:srgbClr val="FFFFFF"/>
          </a:solidFill>
          <a:ln w="12700">
            <a:solidFill>
              <a:srgbClr val="C0504D"/>
            </a:solidFill>
            <a:prstDash val="solid"/>
          </a:ln>
        </p:spPr>
        <p:txBody>
          <a:bodyPr/>
          <a:lstStyle/>
          <a:p>
            <a:endParaRPr lang="en-US"/>
          </a:p>
        </p:txBody>
      </p:sp>
      <p:sp>
        <p:nvSpPr>
          <p:cNvPr id="7" name="Shape 4"/>
          <p:cNvSpPr/>
          <p:nvPr/>
        </p:nvSpPr>
        <p:spPr>
          <a:xfrm>
            <a:off x="731520" y="1965960"/>
            <a:ext cx="2423160" cy="411480"/>
          </a:xfrm>
          <a:prstGeom prst="roundRect">
            <a:avLst/>
          </a:prstGeom>
          <a:solidFill>
            <a:srgbClr val="C0504D"/>
          </a:solidFill>
          <a:ln w="12700">
            <a:solidFill>
              <a:srgbClr val="C0504D"/>
            </a:solidFill>
            <a:prstDash val="solid"/>
          </a:ln>
        </p:spPr>
        <p:txBody>
          <a:bodyPr/>
          <a:lstStyle/>
          <a:p>
            <a:endParaRPr lang="en-US"/>
          </a:p>
        </p:txBody>
      </p:sp>
      <p:sp>
        <p:nvSpPr>
          <p:cNvPr id="8" name="Text 5"/>
          <p:cNvSpPr txBox="1"/>
          <p:nvPr/>
        </p:nvSpPr>
        <p:spPr>
          <a:xfrm>
            <a:off x="841248" y="2084832"/>
            <a:ext cx="2194560" cy="182880"/>
          </a:xfrm>
          <a:prstGeom prst="rect">
            <a:avLst/>
          </a:prstGeom>
          <a:noFill/>
          <a:ln/>
        </p:spPr>
        <p:txBody>
          <a:bodyPr wrap="square" lIns="508" tIns="508" rIns="508" bIns="508" rtlCol="0" anchor="ctr">
            <a:normAutofit fontScale="85000" lnSpcReduction="20000"/>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Policy</a:t>
            </a:r>
            <a:endParaRPr lang="en-US" sz="1600" dirty="0"/>
          </a:p>
        </p:txBody>
      </p:sp>
      <p:sp>
        <p:nvSpPr>
          <p:cNvPr id="9" name="Text 6"/>
          <p:cNvSpPr txBox="1"/>
          <p:nvPr/>
        </p:nvSpPr>
        <p:spPr>
          <a:xfrm>
            <a:off x="896112" y="2834640"/>
            <a:ext cx="2103120" cy="292608"/>
          </a:xfrm>
          <a:prstGeom prst="rect">
            <a:avLst/>
          </a:prstGeom>
          <a:noFill/>
          <a:ln/>
        </p:spPr>
        <p:txBody>
          <a:bodyPr wrap="square" lIns="508" tIns="508" rIns="508" bIns="508" rtlCol="0" anchor="ctr">
            <a:normAutofit/>
          </a:bodyPr>
          <a:lstStyle/>
          <a:p>
            <a:pPr marL="0" indent="0" algn="ctr">
              <a:buNone/>
            </a:pPr>
            <a:r>
              <a:rPr lang="en-US" sz="1900" b="1" dirty="0">
                <a:solidFill>
                  <a:srgbClr val="1F497D"/>
                </a:solidFill>
                <a:latin typeface="Calibri" pitchFamily="34" charset="0"/>
                <a:ea typeface="Calibri" pitchFamily="34" charset="-122"/>
                <a:cs typeface="Calibri" pitchFamily="34" charset="-120"/>
              </a:rPr>
              <a:t>why and who</a:t>
            </a:r>
            <a:endParaRPr lang="en-US" sz="1900" dirty="0"/>
          </a:p>
        </p:txBody>
      </p:sp>
      <p:sp>
        <p:nvSpPr>
          <p:cNvPr id="10" name="Shape 7"/>
          <p:cNvSpPr/>
          <p:nvPr/>
        </p:nvSpPr>
        <p:spPr>
          <a:xfrm>
            <a:off x="3547872" y="1965960"/>
            <a:ext cx="2423160" cy="2331720"/>
          </a:xfrm>
          <a:prstGeom prst="roundRect">
            <a:avLst/>
          </a:prstGeom>
          <a:solidFill>
            <a:srgbClr val="FFFFFF"/>
          </a:solidFill>
          <a:ln w="12700">
            <a:solidFill>
              <a:srgbClr val="F79646"/>
            </a:solidFill>
            <a:prstDash val="solid"/>
          </a:ln>
        </p:spPr>
        <p:txBody>
          <a:bodyPr/>
          <a:lstStyle/>
          <a:p>
            <a:endParaRPr lang="en-US"/>
          </a:p>
        </p:txBody>
      </p:sp>
      <p:sp>
        <p:nvSpPr>
          <p:cNvPr id="11" name="Shape 8"/>
          <p:cNvSpPr/>
          <p:nvPr/>
        </p:nvSpPr>
        <p:spPr>
          <a:xfrm>
            <a:off x="3547872" y="1965960"/>
            <a:ext cx="2423160" cy="411480"/>
          </a:xfrm>
          <a:prstGeom prst="roundRect">
            <a:avLst/>
          </a:prstGeom>
          <a:solidFill>
            <a:srgbClr val="F79646"/>
          </a:solidFill>
          <a:ln w="12700">
            <a:solidFill>
              <a:srgbClr val="F79646"/>
            </a:solidFill>
            <a:prstDash val="solid"/>
          </a:ln>
        </p:spPr>
        <p:txBody>
          <a:bodyPr/>
          <a:lstStyle/>
          <a:p>
            <a:endParaRPr lang="en-US"/>
          </a:p>
        </p:txBody>
      </p:sp>
      <p:sp>
        <p:nvSpPr>
          <p:cNvPr id="12" name="Text 9"/>
          <p:cNvSpPr txBox="1"/>
          <p:nvPr/>
        </p:nvSpPr>
        <p:spPr>
          <a:xfrm>
            <a:off x="3657600" y="2084832"/>
            <a:ext cx="2194560" cy="182880"/>
          </a:xfrm>
          <a:prstGeom prst="rect">
            <a:avLst/>
          </a:prstGeom>
          <a:noFill/>
          <a:ln/>
        </p:spPr>
        <p:txBody>
          <a:bodyPr wrap="square" lIns="508" tIns="508" rIns="508" bIns="508" rtlCol="0" anchor="ctr">
            <a:normAutofit fontScale="85000" lnSpcReduction="20000"/>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Standard</a:t>
            </a:r>
            <a:endParaRPr lang="en-US" sz="1600" dirty="0"/>
          </a:p>
        </p:txBody>
      </p:sp>
      <p:sp>
        <p:nvSpPr>
          <p:cNvPr id="13" name="Text 10"/>
          <p:cNvSpPr txBox="1"/>
          <p:nvPr/>
        </p:nvSpPr>
        <p:spPr>
          <a:xfrm>
            <a:off x="3712464" y="2834640"/>
            <a:ext cx="2103120" cy="292608"/>
          </a:xfrm>
          <a:prstGeom prst="rect">
            <a:avLst/>
          </a:prstGeom>
          <a:noFill/>
          <a:ln/>
        </p:spPr>
        <p:txBody>
          <a:bodyPr wrap="square" lIns="508" tIns="508" rIns="508" bIns="508" rtlCol="0" anchor="ctr">
            <a:normAutofit/>
          </a:bodyPr>
          <a:lstStyle/>
          <a:p>
            <a:pPr marL="0" indent="0" algn="ctr">
              <a:buNone/>
            </a:pPr>
            <a:r>
              <a:rPr lang="en-US" sz="1900" b="1" dirty="0">
                <a:solidFill>
                  <a:srgbClr val="1F497D"/>
                </a:solidFill>
                <a:latin typeface="Calibri" pitchFamily="34" charset="0"/>
                <a:ea typeface="Calibri" pitchFamily="34" charset="-122"/>
                <a:cs typeface="Calibri" pitchFamily="34" charset="-120"/>
              </a:rPr>
              <a:t>what must be true</a:t>
            </a:r>
            <a:endParaRPr lang="en-US" sz="1900" dirty="0"/>
          </a:p>
        </p:txBody>
      </p:sp>
      <p:sp>
        <p:nvSpPr>
          <p:cNvPr id="14" name="Shape 11"/>
          <p:cNvSpPr/>
          <p:nvPr/>
        </p:nvSpPr>
        <p:spPr>
          <a:xfrm>
            <a:off x="6364224" y="1965960"/>
            <a:ext cx="2423160" cy="2331720"/>
          </a:xfrm>
          <a:prstGeom prst="roundRect">
            <a:avLst/>
          </a:prstGeom>
          <a:solidFill>
            <a:srgbClr val="FFFFFF"/>
          </a:solidFill>
          <a:ln w="12700">
            <a:solidFill>
              <a:srgbClr val="4F81BD"/>
            </a:solidFill>
            <a:prstDash val="solid"/>
          </a:ln>
        </p:spPr>
        <p:txBody>
          <a:bodyPr/>
          <a:lstStyle/>
          <a:p>
            <a:endParaRPr lang="en-US"/>
          </a:p>
        </p:txBody>
      </p:sp>
      <p:sp>
        <p:nvSpPr>
          <p:cNvPr id="15" name="Shape 12"/>
          <p:cNvSpPr/>
          <p:nvPr/>
        </p:nvSpPr>
        <p:spPr>
          <a:xfrm>
            <a:off x="6364224" y="1965960"/>
            <a:ext cx="2423160" cy="411480"/>
          </a:xfrm>
          <a:prstGeom prst="roundRect">
            <a:avLst/>
          </a:prstGeom>
          <a:solidFill>
            <a:srgbClr val="4F81BD"/>
          </a:solidFill>
          <a:ln w="12700">
            <a:solidFill>
              <a:srgbClr val="4F81BD"/>
            </a:solidFill>
            <a:prstDash val="solid"/>
          </a:ln>
        </p:spPr>
        <p:txBody>
          <a:bodyPr/>
          <a:lstStyle/>
          <a:p>
            <a:endParaRPr lang="en-US"/>
          </a:p>
        </p:txBody>
      </p:sp>
      <p:sp>
        <p:nvSpPr>
          <p:cNvPr id="16" name="Text 13"/>
          <p:cNvSpPr txBox="1"/>
          <p:nvPr/>
        </p:nvSpPr>
        <p:spPr>
          <a:xfrm>
            <a:off x="6473952" y="2084832"/>
            <a:ext cx="2194560" cy="182880"/>
          </a:xfrm>
          <a:prstGeom prst="rect">
            <a:avLst/>
          </a:prstGeom>
          <a:noFill/>
          <a:ln/>
        </p:spPr>
        <p:txBody>
          <a:bodyPr wrap="square" lIns="508" tIns="508" rIns="508" bIns="508" rtlCol="0" anchor="ctr">
            <a:normAutofit fontScale="85000" lnSpcReduction="20000"/>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Guideline</a:t>
            </a:r>
            <a:endParaRPr lang="en-US" sz="1600" dirty="0"/>
          </a:p>
        </p:txBody>
      </p:sp>
      <p:sp>
        <p:nvSpPr>
          <p:cNvPr id="17" name="Text 14"/>
          <p:cNvSpPr txBox="1"/>
          <p:nvPr/>
        </p:nvSpPr>
        <p:spPr>
          <a:xfrm>
            <a:off x="6528816" y="2834640"/>
            <a:ext cx="2103120" cy="292608"/>
          </a:xfrm>
          <a:prstGeom prst="rect">
            <a:avLst/>
          </a:prstGeom>
          <a:noFill/>
          <a:ln/>
        </p:spPr>
        <p:txBody>
          <a:bodyPr wrap="square" lIns="508" tIns="508" rIns="508" bIns="508" rtlCol="0" anchor="ctr">
            <a:normAutofit/>
          </a:bodyPr>
          <a:lstStyle/>
          <a:p>
            <a:pPr marL="0" indent="0" algn="ctr">
              <a:buNone/>
            </a:pPr>
            <a:r>
              <a:rPr lang="en-US" sz="1900" b="1" dirty="0">
                <a:solidFill>
                  <a:srgbClr val="1F497D"/>
                </a:solidFill>
                <a:latin typeface="Calibri" pitchFamily="34" charset="0"/>
                <a:ea typeface="Calibri" pitchFamily="34" charset="-122"/>
                <a:cs typeface="Calibri" pitchFamily="34" charset="-120"/>
              </a:rPr>
              <a:t>what is preferred</a:t>
            </a:r>
            <a:endParaRPr lang="en-US" sz="1900" dirty="0"/>
          </a:p>
        </p:txBody>
      </p:sp>
      <p:sp>
        <p:nvSpPr>
          <p:cNvPr id="18" name="Shape 15"/>
          <p:cNvSpPr/>
          <p:nvPr/>
        </p:nvSpPr>
        <p:spPr>
          <a:xfrm>
            <a:off x="9180576" y="1965960"/>
            <a:ext cx="2423160" cy="2331720"/>
          </a:xfrm>
          <a:prstGeom prst="roundRect">
            <a:avLst/>
          </a:prstGeom>
          <a:solidFill>
            <a:srgbClr val="FFFFFF"/>
          </a:solidFill>
          <a:ln w="12700">
            <a:solidFill>
              <a:srgbClr val="70AD47"/>
            </a:solidFill>
            <a:prstDash val="solid"/>
          </a:ln>
        </p:spPr>
        <p:txBody>
          <a:bodyPr/>
          <a:lstStyle/>
          <a:p>
            <a:endParaRPr lang="en-US"/>
          </a:p>
        </p:txBody>
      </p:sp>
      <p:sp>
        <p:nvSpPr>
          <p:cNvPr id="19" name="Shape 16"/>
          <p:cNvSpPr/>
          <p:nvPr/>
        </p:nvSpPr>
        <p:spPr>
          <a:xfrm>
            <a:off x="9180576" y="1965960"/>
            <a:ext cx="2423160" cy="411480"/>
          </a:xfrm>
          <a:prstGeom prst="roundRect">
            <a:avLst/>
          </a:prstGeom>
          <a:solidFill>
            <a:srgbClr val="70AD47"/>
          </a:solidFill>
          <a:ln w="12700">
            <a:solidFill>
              <a:srgbClr val="70AD47"/>
            </a:solidFill>
            <a:prstDash val="solid"/>
          </a:ln>
        </p:spPr>
        <p:txBody>
          <a:bodyPr/>
          <a:lstStyle/>
          <a:p>
            <a:endParaRPr lang="en-US"/>
          </a:p>
        </p:txBody>
      </p:sp>
      <p:sp>
        <p:nvSpPr>
          <p:cNvPr id="20" name="Text 17"/>
          <p:cNvSpPr txBox="1"/>
          <p:nvPr/>
        </p:nvSpPr>
        <p:spPr>
          <a:xfrm>
            <a:off x="9290304" y="2084832"/>
            <a:ext cx="2194560" cy="182880"/>
          </a:xfrm>
          <a:prstGeom prst="rect">
            <a:avLst/>
          </a:prstGeom>
          <a:noFill/>
          <a:ln/>
        </p:spPr>
        <p:txBody>
          <a:bodyPr wrap="square" lIns="508" tIns="508" rIns="508" bIns="508" rtlCol="0" anchor="ctr">
            <a:normAutofit fontScale="85000" lnSpcReduction="20000"/>
          </a:bodyPr>
          <a:lstStyle/>
          <a:p>
            <a:pPr marL="0" indent="0" algn="ctr">
              <a:buNone/>
            </a:pPr>
            <a:r>
              <a:rPr lang="en-US" sz="1600" b="1" dirty="0">
                <a:solidFill>
                  <a:srgbClr val="FFFFFF"/>
                </a:solidFill>
                <a:latin typeface="Calibri" pitchFamily="34" charset="0"/>
                <a:ea typeface="Calibri" pitchFamily="34" charset="-122"/>
                <a:cs typeface="Calibri" pitchFamily="34" charset="-120"/>
              </a:rPr>
              <a:t>Procedure</a:t>
            </a:r>
            <a:endParaRPr lang="en-US" sz="1600" dirty="0"/>
          </a:p>
        </p:txBody>
      </p:sp>
      <p:sp>
        <p:nvSpPr>
          <p:cNvPr id="21" name="Text 18"/>
          <p:cNvSpPr txBox="1"/>
          <p:nvPr/>
        </p:nvSpPr>
        <p:spPr>
          <a:xfrm>
            <a:off x="9345168" y="2834640"/>
            <a:ext cx="2103120" cy="292608"/>
          </a:xfrm>
          <a:prstGeom prst="rect">
            <a:avLst/>
          </a:prstGeom>
          <a:noFill/>
          <a:ln/>
        </p:spPr>
        <p:txBody>
          <a:bodyPr wrap="square" lIns="508" tIns="508" rIns="508" bIns="508" rtlCol="0" anchor="ctr">
            <a:normAutofit/>
          </a:bodyPr>
          <a:lstStyle/>
          <a:p>
            <a:pPr marL="0" indent="0" algn="ctr">
              <a:buNone/>
            </a:pPr>
            <a:r>
              <a:rPr lang="en-US" sz="1900" b="1" dirty="0">
                <a:solidFill>
                  <a:srgbClr val="1F497D"/>
                </a:solidFill>
                <a:latin typeface="Calibri" pitchFamily="34" charset="0"/>
                <a:ea typeface="Calibri" pitchFamily="34" charset="-122"/>
                <a:cs typeface="Calibri" pitchFamily="34" charset="-120"/>
              </a:rPr>
              <a:t>how to perform it</a:t>
            </a:r>
            <a:endParaRPr lang="en-US" sz="1900" dirty="0"/>
          </a:p>
        </p:txBody>
      </p:sp>
      <p:sp>
        <p:nvSpPr>
          <p:cNvPr id="22" name="Shape 19"/>
          <p:cNvSpPr/>
          <p:nvPr/>
        </p:nvSpPr>
        <p:spPr>
          <a:xfrm>
            <a:off x="1051560" y="4663440"/>
            <a:ext cx="10012680" cy="713232"/>
          </a:xfrm>
          <a:prstGeom prst="roundRect">
            <a:avLst/>
          </a:prstGeom>
          <a:solidFill>
            <a:srgbClr val="FFFFFF"/>
          </a:solidFill>
          <a:ln w="12700">
            <a:solidFill>
              <a:srgbClr val="1F497D"/>
            </a:solidFill>
            <a:prstDash val="solid"/>
          </a:ln>
        </p:spPr>
        <p:txBody>
          <a:bodyPr/>
          <a:lstStyle/>
          <a:p>
            <a:endParaRPr lang="en-US"/>
          </a:p>
        </p:txBody>
      </p:sp>
      <p:sp>
        <p:nvSpPr>
          <p:cNvPr id="23" name="Shape 20"/>
          <p:cNvSpPr/>
          <p:nvPr/>
        </p:nvSpPr>
        <p:spPr>
          <a:xfrm>
            <a:off x="1051560" y="4663440"/>
            <a:ext cx="100584" cy="713232"/>
          </a:xfrm>
          <a:prstGeom prst="rect">
            <a:avLst/>
          </a:prstGeom>
          <a:solidFill>
            <a:srgbClr val="1F497D"/>
          </a:solidFill>
          <a:ln w="12700">
            <a:solidFill>
              <a:srgbClr val="1F497D"/>
            </a:solidFill>
            <a:prstDash val="solid"/>
          </a:ln>
        </p:spPr>
        <p:txBody>
          <a:bodyPr/>
          <a:lstStyle/>
          <a:p>
            <a:endParaRPr lang="en-US"/>
          </a:p>
        </p:txBody>
      </p:sp>
      <p:sp>
        <p:nvSpPr>
          <p:cNvPr id="24" name="Text 21"/>
          <p:cNvSpPr txBox="1"/>
          <p:nvPr/>
        </p:nvSpPr>
        <p:spPr>
          <a:xfrm>
            <a:off x="1289304" y="4773168"/>
            <a:ext cx="9665208" cy="237744"/>
          </a:xfrm>
          <a:prstGeom prst="rect">
            <a:avLst/>
          </a:prstGeom>
          <a:noFill/>
          <a:ln/>
        </p:spPr>
        <p:txBody>
          <a:bodyPr wrap="square" lIns="508" tIns="508" rIns="508" bIns="508" rtlCol="0" anchor="ctr">
            <a:normAutofit/>
          </a:bodyPr>
          <a:lstStyle/>
          <a:p>
            <a:pPr marL="0" indent="0" algn="l">
              <a:buNone/>
            </a:pPr>
            <a:r>
              <a:rPr lang="en-US" sz="1400" b="1" dirty="0">
                <a:solidFill>
                  <a:srgbClr val="1F497D"/>
                </a:solidFill>
                <a:latin typeface="Calibri" pitchFamily="34" charset="0"/>
                <a:ea typeface="Calibri" pitchFamily="34" charset="-122"/>
                <a:cs typeface="Calibri" pitchFamily="34" charset="-120"/>
              </a:rPr>
              <a:t>Quality test</a:t>
            </a:r>
            <a:endParaRPr lang="en-US" sz="1400" dirty="0"/>
          </a:p>
        </p:txBody>
      </p:sp>
      <p:sp>
        <p:nvSpPr>
          <p:cNvPr id="25" name="Text 22"/>
          <p:cNvSpPr txBox="1"/>
          <p:nvPr/>
        </p:nvSpPr>
        <p:spPr>
          <a:xfrm>
            <a:off x="1289304" y="5074920"/>
            <a:ext cx="9665208" cy="210312"/>
          </a:xfrm>
          <a:prstGeom prst="rect">
            <a:avLst/>
          </a:prstGeom>
          <a:noFill/>
          <a:ln/>
        </p:spPr>
        <p:txBody>
          <a:bodyPr wrap="square" lIns="508" tIns="508" rIns="508" bIns="508" rtlCol="0" anchor="t">
            <a:normAutofit/>
          </a:bodyPr>
          <a:lstStyle/>
          <a:p>
            <a:pPr marL="0" indent="0" algn="l">
              <a:buNone/>
            </a:pPr>
            <a:r>
              <a:rPr lang="en-US" sz="1250" dirty="0">
                <a:solidFill>
                  <a:srgbClr val="203040"/>
                </a:solidFill>
                <a:latin typeface="Calibri" pitchFamily="34" charset="0"/>
                <a:ea typeface="Calibri" pitchFamily="34" charset="-122"/>
                <a:cs typeface="Calibri" pitchFamily="34" charset="-120"/>
              </a:rPr>
              <a:t>Can an auditor or operator tell whether the requirement is satisfied?</a:t>
            </a:r>
            <a:endParaRPr lang="en-US" sz="1250" dirty="0"/>
          </a:p>
        </p:txBody>
      </p:sp>
      <p:sp>
        <p:nvSpPr>
          <p:cNvPr id="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502920" y="320040"/>
            <a:ext cx="3931920" cy="201168"/>
          </a:xfrm>
          <a:prstGeom prst="rect">
            <a:avLst/>
          </a:prstGeom>
          <a:noFill/>
          <a:ln/>
        </p:spPr>
        <p:txBody>
          <a:bodyPr wrap="square" lIns="508" tIns="508" rIns="508" bIns="508" rtlCol="0" anchor="ctr">
            <a:normAutofit/>
          </a:bodyPr>
          <a:lstStyle/>
          <a:p>
            <a:pPr marL="0" indent="0" algn="l">
              <a:buNone/>
            </a:pPr>
            <a:r>
              <a:rPr lang="en-US" sz="1000" b="1" kern="0" spc="120" dirty="0">
                <a:solidFill>
                  <a:srgbClr val="4BACC6"/>
                </a:solidFill>
                <a:latin typeface="Calibri" pitchFamily="34" charset="0"/>
                <a:ea typeface="Calibri" pitchFamily="34" charset="-122"/>
                <a:cs typeface="Calibri" pitchFamily="34" charset="-120"/>
              </a:rPr>
              <a:t>POLICY LIFECYCLE</a:t>
            </a:r>
            <a:endParaRPr lang="en-US" sz="1000" dirty="0"/>
          </a:p>
        </p:txBody>
      </p:sp>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Policy maintenance is an operational control</a:t>
            </a:r>
            <a:endParaRPr lang="en-US" sz="2700" dirty="0"/>
          </a:p>
        </p:txBody>
      </p:sp>
      <p:sp>
        <p:nvSpPr>
          <p:cNvPr id="4" name="Text 2"/>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A policy that is never reviewed becomes a historical document.</a:t>
            </a:r>
            <a:endParaRPr lang="en-US" sz="1250" dirty="0"/>
          </a:p>
        </p:txBody>
      </p:sp>
      <p:sp>
        <p:nvSpPr>
          <p:cNvPr id="22" name="Text 19"/>
          <p:cNvSpPr txBox="1"/>
          <p:nvPr/>
        </p:nvSpPr>
        <p:spPr>
          <a:xfrm>
            <a:off x="5650992" y="3035808"/>
            <a:ext cx="859536" cy="155448"/>
          </a:xfrm>
          <a:prstGeom prst="rect">
            <a:avLst/>
          </a:prstGeom>
          <a:noFill/>
          <a:ln/>
        </p:spPr>
        <p:txBody>
          <a:bodyPr wrap="square" lIns="508" tIns="508" rIns="508" bIns="508" rtlCol="0" anchor="ctr">
            <a:normAutofit lnSpcReduction="10000"/>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REVIEW</a:t>
            </a:r>
            <a:endParaRPr lang="en-US" sz="11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11</a:t>
            </a:fld>
            <a:endParaRPr lang="en-US"/>
          </a:p>
        </p:txBody>
      </p:sp>
      <p:pic>
        <p:nvPicPr>
          <p:cNvPr id="23" name="Picture 22">
            <a:extLst>
              <a:ext uri="{FF2B5EF4-FFF2-40B4-BE49-F238E27FC236}">
                <a16:creationId xmlns:a16="http://schemas.microsoft.com/office/drawing/2014/main" id="{3A6A7931-A373-4C62-DEEB-B622AFA89CF0}"/>
              </a:ext>
            </a:extLst>
          </p:cNvPr>
          <p:cNvPicPr>
            <a:picLocks noChangeAspect="1"/>
          </p:cNvPicPr>
          <p:nvPr/>
        </p:nvPicPr>
        <p:blipFill>
          <a:blip r:embed="rId3"/>
          <a:stretch>
            <a:fillRect/>
          </a:stretch>
        </p:blipFill>
        <p:spPr>
          <a:xfrm>
            <a:off x="3429496" y="1195053"/>
            <a:ext cx="5119648" cy="509601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1">
            <a:extLst>
              <a:ext uri="{FF2B5EF4-FFF2-40B4-BE49-F238E27FC236}">
                <a16:creationId xmlns:a16="http://schemas.microsoft.com/office/drawing/2014/main" id="{E5FFA0CC-431E-FFC3-A5F7-C194E8E7D24B}"/>
              </a:ext>
            </a:extLst>
          </p:cNvPr>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Data Classification Policy</a:t>
            </a:r>
            <a:endParaRPr lang="en-US" sz="2700" dirty="0"/>
          </a:p>
        </p:txBody>
      </p:sp>
      <p:sp>
        <p:nvSpPr>
          <p:cNvPr id="5" name="Text 2">
            <a:extLst>
              <a:ext uri="{FF2B5EF4-FFF2-40B4-BE49-F238E27FC236}">
                <a16:creationId xmlns:a16="http://schemas.microsoft.com/office/drawing/2014/main" id="{216E9A66-4E41-1AB9-61F7-5F7C50A3F26D}"/>
              </a:ext>
            </a:extLst>
          </p:cNvPr>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Ensure information receives the right level of protection.</a:t>
            </a:r>
            <a:endParaRPr lang="en-US" sz="1250" dirty="0"/>
          </a:p>
        </p:txBody>
      </p:sp>
      <p:sp>
        <p:nvSpPr>
          <p:cNvPr id="7" name="TextBox 6">
            <a:extLst>
              <a:ext uri="{FF2B5EF4-FFF2-40B4-BE49-F238E27FC236}">
                <a16:creationId xmlns:a16="http://schemas.microsoft.com/office/drawing/2014/main" id="{F7326A06-032E-0C48-A433-4A0323BD4FF7}"/>
              </a:ext>
            </a:extLst>
          </p:cNvPr>
          <p:cNvSpPr txBox="1"/>
          <p:nvPr/>
        </p:nvSpPr>
        <p:spPr>
          <a:xfrm>
            <a:off x="611980" y="2041088"/>
            <a:ext cx="6331745" cy="3407211"/>
          </a:xfrm>
          <a:prstGeom prst="rect">
            <a:avLst/>
          </a:prstGeom>
          <a:noFill/>
          <a:ln/>
        </p:spPr>
        <p:txBody>
          <a:bodyPr wrap="square" lIns="508" tIns="508" rIns="508" bIns="508" rtlCol="0" anchor="ctr">
            <a:noAutofit/>
          </a:bodyPr>
          <a:lstStyle>
            <a:lvl1pPr indent="0">
              <a:buNone/>
              <a:defRPr sz="1250">
                <a:solidFill>
                  <a:srgbClr val="64748B"/>
                </a:solidFill>
                <a:latin typeface="Calibri" pitchFamily="34" charset="0"/>
                <a:ea typeface="Calibri" pitchFamily="34" charset="-122"/>
                <a:cs typeface="Calibri" pitchFamily="34" charset="-120"/>
              </a:defRPr>
            </a:lvl1pPr>
          </a:lstStyle>
          <a:p>
            <a:r>
              <a:rPr lang="en-US" sz="2000" b="1" dirty="0"/>
              <a:t>Core components:</a:t>
            </a:r>
          </a:p>
          <a:p>
            <a:endParaRPr lang="en-US" sz="2000" b="1" dirty="0"/>
          </a:p>
          <a:p>
            <a:pPr marL="285750" indent="-285750">
              <a:buFont typeface="Arial" panose="020B0604020202020204" pitchFamily="34" charset="0"/>
              <a:buChar char="•"/>
            </a:pPr>
            <a:r>
              <a:rPr lang="en-US" sz="2000" dirty="0"/>
              <a:t>Classification levels: Public, Internal, Confidential, Restricted</a:t>
            </a:r>
          </a:p>
          <a:p>
            <a:pPr marL="285750" indent="-285750">
              <a:buFont typeface="Arial" panose="020B0604020202020204" pitchFamily="34" charset="0"/>
              <a:buChar char="•"/>
            </a:pPr>
            <a:r>
              <a:rPr lang="en-US" sz="2000" dirty="0"/>
              <a:t>Data ownership and classification responsibility</a:t>
            </a:r>
          </a:p>
          <a:p>
            <a:pPr marL="285750" indent="-285750">
              <a:buFont typeface="Arial" panose="020B0604020202020204" pitchFamily="34" charset="0"/>
              <a:buChar char="•"/>
            </a:pPr>
            <a:r>
              <a:rPr lang="en-US" sz="2000" dirty="0"/>
              <a:t>Labeling and handling requirements</a:t>
            </a:r>
          </a:p>
          <a:p>
            <a:pPr marL="285750" indent="-285750">
              <a:buFont typeface="Arial" panose="020B0604020202020204" pitchFamily="34" charset="0"/>
              <a:buChar char="•"/>
            </a:pPr>
            <a:r>
              <a:rPr lang="en-US" sz="2000" dirty="0"/>
              <a:t>Access based on business need and least privilege</a:t>
            </a:r>
          </a:p>
          <a:p>
            <a:pPr marL="285750" indent="-285750">
              <a:buFont typeface="Arial" panose="020B0604020202020204" pitchFamily="34" charset="0"/>
              <a:buChar char="•"/>
            </a:pPr>
            <a:r>
              <a:rPr lang="en-US" sz="2000" dirty="0"/>
              <a:t>Approved storage, sharing, and transmission methods</a:t>
            </a:r>
          </a:p>
          <a:p>
            <a:pPr marL="285750" indent="-285750">
              <a:buFont typeface="Arial" panose="020B0604020202020204" pitchFamily="34" charset="0"/>
              <a:buChar char="•"/>
            </a:pPr>
            <a:r>
              <a:rPr lang="en-US" sz="2000" dirty="0"/>
              <a:t>Retention and secure disposal requirements</a:t>
            </a:r>
          </a:p>
          <a:p>
            <a:pPr marL="285750" indent="-285750">
              <a:buFont typeface="Arial" panose="020B0604020202020204" pitchFamily="34" charset="0"/>
              <a:buChar char="•"/>
            </a:pPr>
            <a:r>
              <a:rPr lang="en-US" sz="2000" dirty="0"/>
              <a:t>Periodic review and incident reporting</a:t>
            </a:r>
          </a:p>
        </p:txBody>
      </p:sp>
      <p:pic>
        <p:nvPicPr>
          <p:cNvPr id="11" name="Picture 10">
            <a:extLst>
              <a:ext uri="{FF2B5EF4-FFF2-40B4-BE49-F238E27FC236}">
                <a16:creationId xmlns:a16="http://schemas.microsoft.com/office/drawing/2014/main" id="{61129B30-F120-9771-1B58-29C72426FC75}"/>
              </a:ext>
            </a:extLst>
          </p:cNvPr>
          <p:cNvPicPr>
            <a:picLocks noChangeAspect="1"/>
          </p:cNvPicPr>
          <p:nvPr/>
        </p:nvPicPr>
        <p:blipFill>
          <a:blip r:embed="rId2"/>
          <a:stretch>
            <a:fillRect/>
          </a:stretch>
        </p:blipFill>
        <p:spPr>
          <a:xfrm>
            <a:off x="6261516" y="314322"/>
            <a:ext cx="5663783" cy="2619377"/>
          </a:xfrm>
          <a:prstGeom prst="rect">
            <a:avLst/>
          </a:prstGeom>
        </p:spPr>
      </p:pic>
    </p:spTree>
    <p:extLst>
      <p:ext uri="{BB962C8B-B14F-4D97-AF65-F5344CB8AC3E}">
        <p14:creationId xmlns:p14="http://schemas.microsoft.com/office/powerpoint/2010/main" val="41064446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B47285-DB36-F045-B08F-854F0EA9744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60DDF455-493B-E17A-FD7E-693D9F6827C1}"/>
              </a:ext>
            </a:extLst>
          </p:cNvPr>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Vendor &amp; Third-Party Access Policy</a:t>
            </a:r>
            <a:endParaRPr lang="en-US" sz="2700" dirty="0"/>
          </a:p>
        </p:txBody>
      </p:sp>
      <p:sp>
        <p:nvSpPr>
          <p:cNvPr id="5" name="Text 2">
            <a:extLst>
              <a:ext uri="{FF2B5EF4-FFF2-40B4-BE49-F238E27FC236}">
                <a16:creationId xmlns:a16="http://schemas.microsoft.com/office/drawing/2014/main" id="{5A6AF60F-EB9C-A973-67A5-3FB572A2C2C5}"/>
              </a:ext>
            </a:extLst>
          </p:cNvPr>
          <p:cNvSpPr txBox="1"/>
          <p:nvPr/>
        </p:nvSpPr>
        <p:spPr>
          <a:xfrm>
            <a:off x="530352" y="1115568"/>
            <a:ext cx="10698480" cy="310896"/>
          </a:xfrm>
          <a:prstGeom prst="rect">
            <a:avLst/>
          </a:prstGeom>
          <a:noFill/>
          <a:ln/>
        </p:spPr>
        <p:txBody>
          <a:bodyPr wrap="square" lIns="508" tIns="508" rIns="508" bIns="508" rtlCol="0" anchor="ctr">
            <a:normAutofit/>
          </a:bodyPr>
          <a:lstStyle/>
          <a:p>
            <a:r>
              <a:rPr lang="en-US" sz="1400" dirty="0"/>
              <a:t>Manage the risks created by external organizations and service providers.</a:t>
            </a:r>
            <a:endParaRPr lang="en-US" sz="1250" dirty="0"/>
          </a:p>
        </p:txBody>
      </p:sp>
      <p:sp>
        <p:nvSpPr>
          <p:cNvPr id="7" name="TextBox 6">
            <a:extLst>
              <a:ext uri="{FF2B5EF4-FFF2-40B4-BE49-F238E27FC236}">
                <a16:creationId xmlns:a16="http://schemas.microsoft.com/office/drawing/2014/main" id="{523DA57A-BD0B-277E-3C58-63C43FF6C54A}"/>
              </a:ext>
            </a:extLst>
          </p:cNvPr>
          <p:cNvSpPr txBox="1"/>
          <p:nvPr/>
        </p:nvSpPr>
        <p:spPr>
          <a:xfrm>
            <a:off x="611980" y="2041088"/>
            <a:ext cx="8817769" cy="3407211"/>
          </a:xfrm>
          <a:prstGeom prst="rect">
            <a:avLst/>
          </a:prstGeom>
          <a:noFill/>
          <a:ln/>
        </p:spPr>
        <p:txBody>
          <a:bodyPr wrap="square" lIns="508" tIns="508" rIns="508" bIns="508" rtlCol="0" anchor="ctr">
            <a:noAutofit/>
          </a:bodyPr>
          <a:lstStyle>
            <a:lvl1pPr indent="0">
              <a:buNone/>
              <a:defRPr sz="1250">
                <a:solidFill>
                  <a:srgbClr val="64748B"/>
                </a:solidFill>
                <a:latin typeface="Calibri" pitchFamily="34" charset="0"/>
                <a:ea typeface="Calibri" pitchFamily="34" charset="-122"/>
                <a:cs typeface="Calibri" pitchFamily="34" charset="-120"/>
              </a:defRPr>
            </a:lvl1pPr>
          </a:lstStyle>
          <a:p>
            <a:r>
              <a:rPr lang="en-US" sz="2000" b="1" dirty="0"/>
              <a:t>Core components:</a:t>
            </a:r>
          </a:p>
          <a:p>
            <a:endParaRPr lang="en-US" sz="2000" b="1" dirty="0"/>
          </a:p>
          <a:p>
            <a:pPr marL="285750" indent="-285750">
              <a:buFont typeface="Arial" panose="020B0604020202020204" pitchFamily="34" charset="0"/>
              <a:buChar char="•"/>
            </a:pPr>
            <a:r>
              <a:rPr lang="en-US" sz="2000" dirty="0"/>
              <a:t>Vendor security due diligence and risk assessment</a:t>
            </a:r>
          </a:p>
          <a:p>
            <a:pPr marL="285750" indent="-285750">
              <a:buFont typeface="Arial" panose="020B0604020202020204" pitchFamily="34" charset="0"/>
              <a:buChar char="•"/>
            </a:pPr>
            <a:r>
              <a:rPr lang="en-US" sz="2000" dirty="0"/>
              <a:t>Contractual security and privacy requirements</a:t>
            </a:r>
          </a:p>
          <a:p>
            <a:pPr marL="285750" indent="-285750">
              <a:buFont typeface="Arial" panose="020B0604020202020204" pitchFamily="34" charset="0"/>
              <a:buChar char="•"/>
            </a:pPr>
            <a:r>
              <a:rPr lang="en-US" sz="2000" dirty="0"/>
              <a:t>Least-privilege, time-limited access</a:t>
            </a:r>
          </a:p>
          <a:p>
            <a:pPr marL="285750" indent="-285750">
              <a:buFont typeface="Arial" panose="020B0604020202020204" pitchFamily="34" charset="0"/>
              <a:buChar char="•"/>
            </a:pPr>
            <a:r>
              <a:rPr lang="en-US" sz="2000" dirty="0"/>
              <a:t>MFA, SSO, and approved access methods</a:t>
            </a:r>
          </a:p>
          <a:p>
            <a:pPr marL="285750" indent="-285750">
              <a:buFont typeface="Arial" panose="020B0604020202020204" pitchFamily="34" charset="0"/>
              <a:buChar char="•"/>
            </a:pPr>
            <a:r>
              <a:rPr lang="en-US" sz="2000" dirty="0"/>
              <a:t>Data handling, storage, and </a:t>
            </a:r>
            <a:r>
              <a:rPr lang="en-US" sz="2000" dirty="0" err="1"/>
              <a:t>subprocessors</a:t>
            </a:r>
            <a:endParaRPr lang="en-US" sz="2000" dirty="0"/>
          </a:p>
          <a:p>
            <a:pPr marL="285750" indent="-285750">
              <a:buFont typeface="Arial" panose="020B0604020202020204" pitchFamily="34" charset="0"/>
              <a:buChar char="•"/>
            </a:pPr>
            <a:r>
              <a:rPr lang="en-US" sz="2000" dirty="0"/>
              <a:t>Monitoring, logging, and periodic access reviews</a:t>
            </a:r>
          </a:p>
          <a:p>
            <a:pPr marL="285750" indent="-285750">
              <a:buFont typeface="Arial" panose="020B0604020202020204" pitchFamily="34" charset="0"/>
              <a:buChar char="•"/>
            </a:pPr>
            <a:r>
              <a:rPr lang="en-US" sz="2000" dirty="0"/>
              <a:t>Incident notification and vendor offboarding</a:t>
            </a:r>
          </a:p>
        </p:txBody>
      </p:sp>
      <p:pic>
        <p:nvPicPr>
          <p:cNvPr id="6" name="Picture 5">
            <a:extLst>
              <a:ext uri="{FF2B5EF4-FFF2-40B4-BE49-F238E27FC236}">
                <a16:creationId xmlns:a16="http://schemas.microsoft.com/office/drawing/2014/main" id="{46598861-D2B9-BF29-98B7-87438EF45CF4}"/>
              </a:ext>
            </a:extLst>
          </p:cNvPr>
          <p:cNvPicPr>
            <a:picLocks noChangeAspect="1"/>
          </p:cNvPicPr>
          <p:nvPr/>
        </p:nvPicPr>
        <p:blipFill>
          <a:blip r:embed="rId2"/>
          <a:stretch>
            <a:fillRect/>
          </a:stretch>
        </p:blipFill>
        <p:spPr>
          <a:xfrm>
            <a:off x="7600331" y="1316052"/>
            <a:ext cx="3323449" cy="4975020"/>
          </a:xfrm>
          <a:prstGeom prst="rect">
            <a:avLst/>
          </a:prstGeom>
        </p:spPr>
      </p:pic>
    </p:spTree>
    <p:extLst>
      <p:ext uri="{BB962C8B-B14F-4D97-AF65-F5344CB8AC3E}">
        <p14:creationId xmlns:p14="http://schemas.microsoft.com/office/powerpoint/2010/main" val="25301348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05463-32B9-C58B-C65F-9D560F690C9F}"/>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1B09ABE-179B-60C5-1AEF-EB0C408CBE6A}"/>
              </a:ext>
            </a:extLst>
          </p:cNvPr>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Acceptable Use Policy</a:t>
            </a:r>
            <a:endParaRPr lang="en-US" sz="2700" dirty="0"/>
          </a:p>
        </p:txBody>
      </p:sp>
      <p:sp>
        <p:nvSpPr>
          <p:cNvPr id="5" name="Text 2">
            <a:extLst>
              <a:ext uri="{FF2B5EF4-FFF2-40B4-BE49-F238E27FC236}">
                <a16:creationId xmlns:a16="http://schemas.microsoft.com/office/drawing/2014/main" id="{8F51EC49-3D38-A241-6BE9-E1FE8FE834E7}"/>
              </a:ext>
            </a:extLst>
          </p:cNvPr>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Define responsible and secure use of organizational technology.</a:t>
            </a:r>
            <a:endParaRPr lang="en-US" sz="1250" dirty="0"/>
          </a:p>
        </p:txBody>
      </p:sp>
      <p:sp>
        <p:nvSpPr>
          <p:cNvPr id="7" name="TextBox 6">
            <a:extLst>
              <a:ext uri="{FF2B5EF4-FFF2-40B4-BE49-F238E27FC236}">
                <a16:creationId xmlns:a16="http://schemas.microsoft.com/office/drawing/2014/main" id="{91587FFB-E12E-54C2-3BE7-5A8A61541754}"/>
              </a:ext>
            </a:extLst>
          </p:cNvPr>
          <p:cNvSpPr txBox="1"/>
          <p:nvPr/>
        </p:nvSpPr>
        <p:spPr>
          <a:xfrm>
            <a:off x="611980" y="2041088"/>
            <a:ext cx="8817769" cy="3407211"/>
          </a:xfrm>
          <a:prstGeom prst="rect">
            <a:avLst/>
          </a:prstGeom>
          <a:noFill/>
          <a:ln/>
        </p:spPr>
        <p:txBody>
          <a:bodyPr wrap="square" lIns="508" tIns="508" rIns="508" bIns="508" rtlCol="0" anchor="ctr">
            <a:noAutofit/>
          </a:bodyPr>
          <a:lstStyle>
            <a:lvl1pPr indent="0">
              <a:buNone/>
              <a:defRPr sz="1250">
                <a:solidFill>
                  <a:srgbClr val="64748B"/>
                </a:solidFill>
                <a:latin typeface="Calibri" pitchFamily="34" charset="0"/>
                <a:ea typeface="Calibri" pitchFamily="34" charset="-122"/>
                <a:cs typeface="Calibri" pitchFamily="34" charset="-120"/>
              </a:defRPr>
            </a:lvl1pPr>
          </a:lstStyle>
          <a:p>
            <a:r>
              <a:rPr lang="en-US" sz="2000" b="1" dirty="0"/>
              <a:t>Core components:</a:t>
            </a:r>
          </a:p>
          <a:p>
            <a:endParaRPr lang="en-US" sz="2000" b="1" dirty="0"/>
          </a:p>
          <a:p>
            <a:pPr marL="285750" indent="-285750">
              <a:buFont typeface="Arial" panose="020B0604020202020204" pitchFamily="34" charset="0"/>
              <a:buChar char="•"/>
            </a:pPr>
            <a:r>
              <a:rPr lang="en-US" sz="2000" dirty="0"/>
              <a:t>Use systems only for authorized and lawful purposes</a:t>
            </a:r>
          </a:p>
          <a:p>
            <a:pPr marL="285750" indent="-285750">
              <a:buFont typeface="Arial" panose="020B0604020202020204" pitchFamily="34" charset="0"/>
              <a:buChar char="•"/>
            </a:pPr>
            <a:r>
              <a:rPr lang="en-US" sz="2000" dirty="0"/>
              <a:t>Protect passwords, MFA devices, equipment, and data</a:t>
            </a:r>
          </a:p>
          <a:p>
            <a:pPr marL="285750" indent="-285750">
              <a:buFont typeface="Arial" panose="020B0604020202020204" pitchFamily="34" charset="0"/>
              <a:buChar char="•"/>
            </a:pPr>
            <a:r>
              <a:rPr lang="en-US" sz="2000" dirty="0"/>
              <a:t>Prohibit unauthorized access, copying, or disclosure</a:t>
            </a:r>
          </a:p>
          <a:p>
            <a:pPr marL="285750" indent="-285750">
              <a:buFont typeface="Arial" panose="020B0604020202020204" pitchFamily="34" charset="0"/>
              <a:buChar char="•"/>
            </a:pPr>
            <a:r>
              <a:rPr lang="en-US" sz="2000" dirty="0"/>
              <a:t>Prohibit malware, security bypasses, and service disruption</a:t>
            </a:r>
          </a:p>
          <a:p>
            <a:pPr marL="285750" indent="-285750">
              <a:buFont typeface="Arial" panose="020B0604020202020204" pitchFamily="34" charset="0"/>
              <a:buChar char="•"/>
            </a:pPr>
            <a:r>
              <a:rPr lang="en-US" sz="2000" dirty="0"/>
              <a:t>Define limits for personal use</a:t>
            </a:r>
          </a:p>
          <a:p>
            <a:pPr marL="285750" indent="-285750">
              <a:buFont typeface="Arial" panose="020B0604020202020204" pitchFamily="34" charset="0"/>
              <a:buChar char="•"/>
            </a:pPr>
            <a:r>
              <a:rPr lang="en-US" sz="2000" dirty="0"/>
              <a:t>Require prompt reporting of suspected incidents</a:t>
            </a:r>
          </a:p>
          <a:p>
            <a:pPr marL="285750" indent="-285750">
              <a:buFont typeface="Arial" panose="020B0604020202020204" pitchFamily="34" charset="0"/>
              <a:buChar char="•"/>
            </a:pPr>
            <a:r>
              <a:rPr lang="en-US" sz="2000" dirty="0"/>
              <a:t>Explain consequences for policy violations</a:t>
            </a:r>
          </a:p>
        </p:txBody>
      </p:sp>
      <p:pic>
        <p:nvPicPr>
          <p:cNvPr id="4" name="Picture 3">
            <a:extLst>
              <a:ext uri="{FF2B5EF4-FFF2-40B4-BE49-F238E27FC236}">
                <a16:creationId xmlns:a16="http://schemas.microsoft.com/office/drawing/2014/main" id="{5AB424F5-0EAF-B1D1-5347-CAF2F9C16C06}"/>
              </a:ext>
            </a:extLst>
          </p:cNvPr>
          <p:cNvPicPr>
            <a:picLocks noChangeAspect="1"/>
          </p:cNvPicPr>
          <p:nvPr/>
        </p:nvPicPr>
        <p:blipFill>
          <a:blip r:embed="rId2"/>
          <a:stretch>
            <a:fillRect/>
          </a:stretch>
        </p:blipFill>
        <p:spPr>
          <a:xfrm>
            <a:off x="7468486" y="1271016"/>
            <a:ext cx="4266313" cy="4586287"/>
          </a:xfrm>
          <a:prstGeom prst="rect">
            <a:avLst/>
          </a:prstGeom>
        </p:spPr>
      </p:pic>
    </p:spTree>
    <p:extLst>
      <p:ext uri="{BB962C8B-B14F-4D97-AF65-F5344CB8AC3E}">
        <p14:creationId xmlns:p14="http://schemas.microsoft.com/office/powerpoint/2010/main" val="22937290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EA85A-9D7A-386A-DB93-BCCD849BC2A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ABCCF075-258E-F876-C782-D42BF20537DF}"/>
              </a:ext>
            </a:extLst>
          </p:cNvPr>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Multi-Factor Authentication (MFA)</a:t>
            </a:r>
            <a:endParaRPr lang="en-US" sz="2700" dirty="0"/>
          </a:p>
        </p:txBody>
      </p:sp>
      <p:sp>
        <p:nvSpPr>
          <p:cNvPr id="5" name="Text 2">
            <a:extLst>
              <a:ext uri="{FF2B5EF4-FFF2-40B4-BE49-F238E27FC236}">
                <a16:creationId xmlns:a16="http://schemas.microsoft.com/office/drawing/2014/main" id="{64DA6701-8F6A-5C87-36C0-6CB6BB5AFA8D}"/>
              </a:ext>
            </a:extLst>
          </p:cNvPr>
          <p:cNvSpPr txBox="1"/>
          <p:nvPr/>
        </p:nvSpPr>
        <p:spPr>
          <a:xfrm>
            <a:off x="530352" y="1115568"/>
            <a:ext cx="10698480" cy="310896"/>
          </a:xfrm>
          <a:prstGeom prst="rect">
            <a:avLst/>
          </a:prstGeom>
          <a:noFill/>
          <a:ln/>
        </p:spPr>
        <p:txBody>
          <a:bodyPr wrap="square" lIns="508" tIns="508" rIns="508" bIns="508" rtlCol="0" anchor="ctr">
            <a:normAutofit/>
          </a:bodyPr>
          <a:lstStyle/>
          <a:p>
            <a:pPr marL="0" indent="0" algn="l">
              <a:buNone/>
            </a:pPr>
            <a:r>
              <a:rPr lang="en-US" sz="1250" dirty="0">
                <a:solidFill>
                  <a:srgbClr val="64748B"/>
                </a:solidFill>
                <a:latin typeface="Calibri" pitchFamily="34" charset="0"/>
                <a:ea typeface="Calibri" pitchFamily="34" charset="-122"/>
                <a:cs typeface="Calibri" pitchFamily="34" charset="-120"/>
              </a:rPr>
              <a:t>Add additional verification beyond a password.</a:t>
            </a:r>
            <a:endParaRPr lang="en-US" sz="1250" dirty="0"/>
          </a:p>
        </p:txBody>
      </p:sp>
      <p:sp>
        <p:nvSpPr>
          <p:cNvPr id="7" name="TextBox 6">
            <a:extLst>
              <a:ext uri="{FF2B5EF4-FFF2-40B4-BE49-F238E27FC236}">
                <a16:creationId xmlns:a16="http://schemas.microsoft.com/office/drawing/2014/main" id="{23641FC6-8B71-7A39-FFBC-B78821A0F81A}"/>
              </a:ext>
            </a:extLst>
          </p:cNvPr>
          <p:cNvSpPr txBox="1"/>
          <p:nvPr/>
        </p:nvSpPr>
        <p:spPr>
          <a:xfrm>
            <a:off x="611980" y="2041088"/>
            <a:ext cx="6217445" cy="3988237"/>
          </a:xfrm>
          <a:prstGeom prst="rect">
            <a:avLst/>
          </a:prstGeom>
          <a:noFill/>
          <a:ln/>
        </p:spPr>
        <p:txBody>
          <a:bodyPr wrap="square" lIns="508" tIns="508" rIns="508" bIns="508" rtlCol="0" anchor="ctr">
            <a:noAutofit/>
          </a:bodyPr>
          <a:lstStyle>
            <a:lvl1pPr indent="0">
              <a:buNone/>
              <a:defRPr sz="1250">
                <a:solidFill>
                  <a:srgbClr val="64748B"/>
                </a:solidFill>
                <a:latin typeface="Calibri" pitchFamily="34" charset="0"/>
                <a:ea typeface="Calibri" pitchFamily="34" charset="-122"/>
                <a:cs typeface="Calibri" pitchFamily="34" charset="-120"/>
              </a:defRPr>
            </a:lvl1pPr>
          </a:lstStyle>
          <a:p>
            <a:r>
              <a:rPr lang="en-US" sz="2000" b="1" dirty="0"/>
              <a:t>Core components:</a:t>
            </a:r>
          </a:p>
          <a:p>
            <a:endParaRPr lang="en-US" sz="2000" b="1" dirty="0"/>
          </a:p>
          <a:p>
            <a:pPr marL="285750" indent="-285750">
              <a:buFont typeface="Arial" panose="020B0604020202020204" pitchFamily="34" charset="0"/>
              <a:buChar char="•"/>
            </a:pPr>
            <a:r>
              <a:rPr lang="en-US" sz="2000" dirty="0"/>
              <a:t>Multiple factor types: knowledge, possession, and inherence</a:t>
            </a:r>
          </a:p>
          <a:p>
            <a:pPr marL="285750" indent="-285750">
              <a:buFont typeface="Arial" panose="020B0604020202020204" pitchFamily="34" charset="0"/>
              <a:buChar char="•"/>
            </a:pPr>
            <a:r>
              <a:rPr lang="en-US" sz="2000" dirty="0"/>
              <a:t>Approved MFA methods and enrollment requirements</a:t>
            </a:r>
          </a:p>
          <a:p>
            <a:pPr marL="285750" indent="-285750">
              <a:buFont typeface="Arial" panose="020B0604020202020204" pitchFamily="34" charset="0"/>
              <a:buChar char="•"/>
            </a:pPr>
            <a:r>
              <a:rPr lang="en-US" sz="2000" dirty="0"/>
              <a:t>Strong preference for phishing-resistant methods where available</a:t>
            </a:r>
          </a:p>
          <a:p>
            <a:pPr marL="285750" indent="-285750">
              <a:buFont typeface="Arial" panose="020B0604020202020204" pitchFamily="34" charset="0"/>
              <a:buChar char="•"/>
            </a:pPr>
            <a:r>
              <a:rPr lang="en-US" sz="2000" dirty="0"/>
              <a:t>Conditional or risk-based access policies</a:t>
            </a:r>
          </a:p>
          <a:p>
            <a:pPr marL="285750" indent="-285750">
              <a:buFont typeface="Arial" panose="020B0604020202020204" pitchFamily="34" charset="0"/>
              <a:buChar char="•"/>
            </a:pPr>
            <a:r>
              <a:rPr lang="en-US" sz="2000" dirty="0"/>
              <a:t>Secure account recovery and backup methods</a:t>
            </a:r>
          </a:p>
          <a:p>
            <a:pPr marL="285750" indent="-285750">
              <a:buFont typeface="Arial" panose="020B0604020202020204" pitchFamily="34" charset="0"/>
              <a:buChar char="•"/>
            </a:pPr>
            <a:r>
              <a:rPr lang="en-US" sz="2000" dirty="0"/>
              <a:t>Device registration and user verification</a:t>
            </a:r>
          </a:p>
          <a:p>
            <a:pPr marL="285750" indent="-285750">
              <a:buFont typeface="Arial" panose="020B0604020202020204" pitchFamily="34" charset="0"/>
              <a:buChar char="•"/>
            </a:pPr>
            <a:r>
              <a:rPr lang="en-US" sz="2000" dirty="0"/>
              <a:t>Monitoring of MFA activity and suspicious prompts</a:t>
            </a:r>
          </a:p>
          <a:p>
            <a:pPr marL="285750" indent="-285750">
              <a:buFont typeface="Arial" panose="020B0604020202020204" pitchFamily="34" charset="0"/>
              <a:buChar char="•"/>
            </a:pPr>
            <a:r>
              <a:rPr lang="en-US" sz="2000" dirty="0"/>
              <a:t>User training against phishing and MFA fatigue attacks</a:t>
            </a:r>
          </a:p>
        </p:txBody>
      </p:sp>
      <p:pic>
        <p:nvPicPr>
          <p:cNvPr id="4" name="Picture 3">
            <a:extLst>
              <a:ext uri="{FF2B5EF4-FFF2-40B4-BE49-F238E27FC236}">
                <a16:creationId xmlns:a16="http://schemas.microsoft.com/office/drawing/2014/main" id="{69751435-F11E-5271-A8D9-02C8C83E854E}"/>
              </a:ext>
            </a:extLst>
          </p:cNvPr>
          <p:cNvPicPr>
            <a:picLocks noChangeAspect="1"/>
          </p:cNvPicPr>
          <p:nvPr/>
        </p:nvPicPr>
        <p:blipFill>
          <a:blip r:embed="rId2"/>
          <a:stretch>
            <a:fillRect/>
          </a:stretch>
        </p:blipFill>
        <p:spPr>
          <a:xfrm>
            <a:off x="6829425" y="276225"/>
            <a:ext cx="5094731" cy="2855018"/>
          </a:xfrm>
          <a:prstGeom prst="rect">
            <a:avLst/>
          </a:prstGeom>
        </p:spPr>
      </p:pic>
    </p:spTree>
    <p:extLst>
      <p:ext uri="{BB962C8B-B14F-4D97-AF65-F5344CB8AC3E}">
        <p14:creationId xmlns:p14="http://schemas.microsoft.com/office/powerpoint/2010/main" val="110886609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3" name="Text 1"/>
          <p:cNvSpPr txBox="1"/>
          <p:nvPr/>
        </p:nvSpPr>
        <p:spPr>
          <a:xfrm>
            <a:off x="502920" y="566928"/>
            <a:ext cx="10972800" cy="512064"/>
          </a:xfrm>
          <a:prstGeom prst="rect">
            <a:avLst/>
          </a:prstGeom>
          <a:noFill/>
          <a:ln/>
        </p:spPr>
        <p:txBody>
          <a:bodyPr wrap="square" lIns="508" tIns="508" rIns="508" bIns="508" rtlCol="0" anchor="ctr">
            <a:normAutofit/>
          </a:bodyPr>
          <a:lstStyle/>
          <a:p>
            <a:pPr marL="0" indent="0" algn="l">
              <a:buNone/>
            </a:pPr>
            <a:r>
              <a:rPr lang="en-US" sz="2700" b="1" dirty="0">
                <a:solidFill>
                  <a:srgbClr val="1F497D"/>
                </a:solidFill>
                <a:latin typeface="Calibri" pitchFamily="34" charset="0"/>
                <a:ea typeface="Calibri" pitchFamily="34" charset="-122"/>
                <a:cs typeface="Calibri" pitchFamily="34" charset="-120"/>
              </a:rPr>
              <a:t>When the exception becomes the architecture</a:t>
            </a:r>
            <a:endParaRPr lang="en-US" sz="2700" dirty="0"/>
          </a:p>
        </p:txBody>
      </p:sp>
      <p:sp>
        <p:nvSpPr>
          <p:cNvPr id="10" name="Text 7"/>
          <p:cNvSpPr txBox="1"/>
          <p:nvPr/>
        </p:nvSpPr>
        <p:spPr>
          <a:xfrm>
            <a:off x="5449824" y="2093976"/>
            <a:ext cx="1170432" cy="219456"/>
          </a:xfrm>
          <a:prstGeom prst="rect">
            <a:avLst/>
          </a:prstGeom>
          <a:noFill/>
          <a:ln/>
        </p:spPr>
        <p:txBody>
          <a:bodyPr wrap="square" lIns="508" tIns="508" rIns="508" bIns="508" rtlCol="0" anchor="ctr">
            <a:normAutofit/>
          </a:bodyPr>
          <a:lstStyle/>
          <a:p>
            <a:pPr marL="0" indent="0" algn="ctr">
              <a:buNone/>
            </a:pPr>
            <a:r>
              <a:rPr lang="en-US" sz="1000" b="1" dirty="0">
                <a:solidFill>
                  <a:srgbClr val="FFFFFF"/>
                </a:solidFill>
                <a:latin typeface="Calibri" pitchFamily="34" charset="0"/>
                <a:ea typeface="Calibri" pitchFamily="34" charset="-122"/>
                <a:cs typeface="Calibri" pitchFamily="34" charset="-120"/>
              </a:rPr>
              <a:t>MEDIA SLOT</a:t>
            </a:r>
            <a:endParaRPr lang="en-US" sz="1000" dirty="0"/>
          </a:p>
        </p:txBody>
      </p:sp>
      <p:sp>
        <p:nvSpPr>
          <p:cNvPr id="25" name="Slide Number Placeholder 0"/>
          <p:cNvSpPr>
            <a:spLocks noGrp="1"/>
          </p:cNvSpPr>
          <p:nvPr>
            <p:ph type="sldNum" sz="quarter" idx="4294967295"/>
          </p:nvPr>
        </p:nvSpPr>
        <p:spPr>
          <a:xfrm>
            <a:off x="11750040" y="6565392"/>
            <a:ext cx="800000" cy="300000"/>
          </a:xfrm>
          <a:prstGeom prst="rect">
            <a:avLst/>
          </a:prstGeom>
          <a:extLst>
            <a:ext uri="{C572A759-6A51-4108-AA02-DFA0A04FC94B}">
              <ma14:wrappingTextBoxFlag xmlns:ma14="http://schemas.microsoft.com/office/mac/drawingml/2011/main" xmlns="" val="0"/>
            </a:ext>
          </a:extLst>
        </p:spPr>
        <p:txBody>
          <a:bodyPr/>
          <a:lstStyle>
            <a:lvl1pPr>
              <a:defRPr sz="800">
                <a:solidFill>
                  <a:srgbClr val="64748B"/>
                </a:solidFill>
                <a:latin typeface="Calibri"/>
                <a:ea typeface="Calibri"/>
                <a:cs typeface="Calibri"/>
              </a:defRPr>
            </a:lvl1pPr>
          </a:lstStyle>
          <a:p>
            <a:pPr algn="l"/>
            <a:fld id="{F7021451-1387-4CA6-816F-3879F97B5CBC}" type="slidenum">
              <a:rPr lang="en-US" b="0"/>
              <a:t>16</a:t>
            </a:fld>
            <a:endParaRPr lang="en-US"/>
          </a:p>
        </p:txBody>
      </p:sp>
      <p:pic>
        <p:nvPicPr>
          <p:cNvPr id="15" name="Picture 14">
            <a:extLst>
              <a:ext uri="{FF2B5EF4-FFF2-40B4-BE49-F238E27FC236}">
                <a16:creationId xmlns:a16="http://schemas.microsoft.com/office/drawing/2014/main" id="{152D4D5C-7A44-FFDF-6843-BCEE9CE66CF3}"/>
              </a:ext>
            </a:extLst>
          </p:cNvPr>
          <p:cNvPicPr>
            <a:picLocks noChangeAspect="1"/>
          </p:cNvPicPr>
          <p:nvPr/>
        </p:nvPicPr>
        <p:blipFill>
          <a:blip r:embed="rId3"/>
          <a:stretch>
            <a:fillRect/>
          </a:stretch>
        </p:blipFill>
        <p:spPr>
          <a:xfrm>
            <a:off x="3561917" y="1176007"/>
            <a:ext cx="5246703" cy="52467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125</TotalTime>
  <Words>1130</Words>
  <Application>Microsoft Office PowerPoint</Application>
  <PresentationFormat>Widescreen</PresentationFormat>
  <Paragraphs>153</Paragraphs>
  <Slides>16</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CYBER 444</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 444 - PAM, MFA, Privileged Access, and Enterprise Policy</dc:title>
  <dc:subject>PAM, MFA, Privileged Access, and Enterprise Policy</dc:subject>
  <dc:creator>CYBER 444</dc:creator>
  <cp:lastModifiedBy>Sebastian Hayes</cp:lastModifiedBy>
  <cp:revision>2</cp:revision>
  <dcterms:created xsi:type="dcterms:W3CDTF">2026-10-06T07:53:46Z</dcterms:created>
  <dcterms:modified xsi:type="dcterms:W3CDTF">2026-10-06T20:19:57Z</dcterms:modified>
</cp:coreProperties>
</file>