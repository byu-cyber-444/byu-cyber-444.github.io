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intent: Week 6 moves from identity proof into MFA, privileged access, and organizational policy.
Ask: What has to be true before a privileged session should begin?
Expected themes: authenticated identity, trusted device, authorized action, monitored session, and policy-backed accountability.
Citations:
- NIST SP 800-207, https://csrc.nist.gov/pubs/sp/800/207/final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for a one-sentence definition before revealing the model.
Model answer: network location is not enough to grant trust. Access decisions should authenticate and authorize the subject and device for the requested resource, then continue monitoring the session.
Citations: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self-check. Ask which objective is easiest to demonstrate and which is easiest to get wrong operationally.
Model answer: the strongest design connects all of them. Authentication without authorization is not least privilege; policy without enforcement is not control.
Citations:
- NIST SP 800-207, https://csrc.nist.gov/pubs/sp/800/207/final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five-pillar framing is a teaching model. NIST SP 800-207 emphasizes resources, identities, devices, policy, and continuous evaluation rather than a trusted network perimeter.
Discussion: Which pillar is strongest in the current campus lab? Which is weakest?
Citations: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example: Alice proves control of a private key and a TOTP authenticator. That does not automatically permit root access, database access, or a command.
Ask groups to write one authentication fact and one authorization fact for an administrator.
Citations:
- NIST SP 800-207, https://csrc.nist.gov/pubs/sp/800/207/final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PAM is not itself MFA. PAM provides a stack where modules can check credentials, account status, session setup, and more.
Ask students to identify which failure should stop access immediately and which should be logged for follow-up.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factor categories: knowledge, possession, and inherence. Then make the operational point: a factor can be strong in theory but weak in enrollment, recovery, or help-desk handling.
Ask: Is an SSH private key plus a TOTP code two factors? Yes, possession of the key plus possession of the authenticator secret or device, assuming they are managed separately.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moving parts without overclaiming: the prover and verifier share a secret, derive a time step, and calculate a code. The verifier should rate-limit attempts and handle clock drift deliberately.
Ask: What happens if the secret is copied during enrollment? The attacker can generate valid codes until the secret is revoked or replaced.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FIDO2 with TOTP. TOTP can be phished because a user can type the code into an impostor site. WebAuthn uses public-key cryptography and verifier name binding, so the authenticator will not normally produce a valid response for a different origin.
Avoid saying “unbreakable.” Hardware, account recovery, and endpoint compromise still matter.
Citations:
- NIST SP 800-63B, https://pages.nist.gov/800-63-4/sp800-63b.html
- W3C WebAuthn, https://www.w3.org/TR/webauthn-3/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the table verbally. Avoid declaring one method universally best.
Suggested model: FIDO2 is strongest for phishing resistance; TOTP is broadly deployable and can work offline; push is easy to use but needs anti-fatigue controls and careful approval messaging.
Tie the choice to the resource and user population.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lifecycle: proof identity, bind authenticator, verify possession, record the event, deliver recovery material safely, and rehearse replacement.
Ask: Who is allowed to reset an administrator authenticator, and what evidence should that person require?
Citations: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these failure cases: phone lost, clock drift, push outage, FIDO2 key lost, user denies a prompt, help desk social engineering, and emergency break-glass.
Model answer: use documented recovery, independent verification, rate limiting, time-bounded exception access, and post-event review. Do not normalize bypass as the default support path.
Citations: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what makes a sudo rule narrow: named account, exact command path, exact arguments where practical, target host, time window, and logging.
Ask: What is wrong with granting unrestricted sudo to every member of an operations group? Model answer: it collapses authentication, authorization, accountability, and blast radius into one broad permission.
Citations: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prevention from detection. Session recording can help investigate misuse, but it does not replace least privilege, MFA, or approval.
Discuss the privacy and retention questions: who may view recordings, how long are they kept, how are sensitive inputs protected, and how is time synchronized?
Citations:
- NIST SP 800-53 Rev. 5, https://csrc.nist.gov/pubs/sp/800/53/rev-5/final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owns the service account? What resource does it need? How is its key rotated? How is use distinguished from a human operator?
Model answer: named owner, narrow scope, managed secret storage, short-lived or rotated credentials, no interactive shell, logs with workload identity, and an emergency disable path.
Citations:
- NIST SP 800-207, https://csrc.nist.gov/pubs/sp/800/207/final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 placeholder. Debrief the system design response: number matching, clear origin details, rate limits, user reporting, FIDO2 for high-risk access, and response playbooks.
Avoid blaming users for a workflow that trains them to approve prompts quickly.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progression from principle to evidence. A principle such as “protect customer data” is important but too broad to audit. A policy adds scope, authority, and required behavior. A standard adds measurable settings. Evidence proves whether the requirement was followed.
Ask: At which step could a manager approve an exception? Model answer: at the policy or standard layer, through a documented exception process with an owner, compensating controls, and an expiration date.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GitLab internal Acceptable Use Policy is useful for discussion because it identifies purpose and scope, names covered people, assigns responsibilities, addresses monitoring, lists prohibited system and network activities, and describes an exception path involving Security, Legal, and People Operations.
Ask students to locate the control fields: owner, scope, prohibited behavior, monitoring, exception authority, and review or change control. The lesson is that enforceability comes from the complete package, not from stern wording alone.
Citations:
- GitLab Internal Acceptable Use Policy, https://handbook.gitlab.com/handbook/people-group/acceptable-use-policy/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public GitLab and Atlassian Acceptable Use Policies. Both organize prohibited behavior into recognizable categories and explain that access may be limited, suspended, or terminated when the rules are violated.
Discussion: What is strong about this public-facing pattern? What is still missing for an internal administrator policy? Model answer: public AUPs establish service boundaries and user notice; internal policies also need owners, technical standards, evidence sources, training, exception handling, and review dates.
Citations:
- GitLab Acceptable Use Policy, https://handbook.gitlab.com/handbook/legal/acceptable-use-policy/
- Atlassian Acceptable Use Policy, https://www.atlassian.com/legal/acceptable-use-policy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short Trinity Industries Code of Conduct example as a critique exercise. Do not label the company or the entire code as bad. The teaching point is that a broad responsibility statement is not enough by itself to operate, test, or enforce a control.
Ask groups to rewrite the sentence. Model answer should add scope, prohibited actions, accountable owner, monitoring notice, reporting path, consequence, exception authority, and review date. The same critique applies to any organization when a principle is the only control language.
Citations:
- Trinity Industries Code of Conduct, https://s25.q4cdn.com/774532758/files/doc_downloads/2023/Trinity-Code-of-Conduct_English.pdf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what happens when a policy is too long: people skip it, key duties are buried, terms contradict each other, exceptions become invisible, training becomes unrealistic, and reviewers cannot tell which parts are current.
Recommend a layered document: a concise policy for authority and required outcomes, linked standards for measurable settings, procedures for step-by-step work, and appendices for definitions or examples. Use headings, ownership, effective and review dates, version history, and a quick summary for the reader.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each group one sentence: “Remote access should be secure,” “Users should protect confidential data,” or “Administrators should use strong authentication.” Require five additions: scope, required behavior, evidence, owner, and exception or recovery path.
Model answer for remote access: “Employees and vendors accessing production systems remotely must use an approved managed endpoint, the approved access path, MFA, least privilege, and session logging. The system owner reviews evidence quarterly. Exceptions require the security risk owner, compensating controls, and an expiration date.”
Citations:
- SANS Information Security Policy Templates, https://www.sans.org/information-security-policy/
- NIST SP 800-53 Rev. 5, https://csrc.nist.gov/pubs/sp/800/53/rev-5/final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four-layer model: policy states intent and authority; standard states mandatory technical requirements; guideline gives recommendations; procedure gives repeatable steps.
Ask groups to classify examples: “MFA required for remote admin access” is policy; “FIDO2 or TOTP plus public key” is a standard; “prefer FIDO2” is a guideline; “enroll a token using these steps” is a procedure.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how to turn “systems should be secured appropriately” into a testable requirement.
Model answer: name the system population, responsible role, required control, evidence source, review interval, exception authority, and expiration.
Ask: Which words create ambiguity? “Appropriate,” “regularly,” “as needed,” and “securely” unless defined.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Riverbend and Meridian scenarios as concrete policy-writing contexts. Discuss what an AUP should make explicit: authority, scope, authorized use, prohibited behavior, monitoring disclosure, credential handling, software installation, AI and data handling, reporting, and consequences.
For password and authentication policy, connect technical controls to account types, privileged access, MFA, service accounts, exceptions, review, and enforcement.
Citations:
- SANS Information Security Policy Templates, https://www.sans.org/information-security-policy/
- NIST SP 800-53 Rev. 5, https://csrc.nist.gov/pubs/sp/800/53/rev-5/final
- FTC Gramm-Leach-Bliley Act and Safeguards Rule, https://www.ftc.gov/business-guidance/privacy-security/gramm-leach-bliley-act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writing exercise. The homework requires at least twelve specific prohibitions. Suggested categories include unauthorized access, credential sharing, malware, bypassing controls, unauthorized software, data exfiltration, personal cloud storage, unapproved remote access, risky removable media, harassment or illegal use, and using public AI tools with customer NPI or account numbers.
Model answer: each prohibition should name the action, the protected resource or data, and the consequence or reporting path. Monitoring disclosure should explain that organizational systems are logged and may be reviewed under applicable law and policy. Customer-facing decisions must not rely on unreviewed AI output.
Citations:
- SANS Information Security Policy Templates, https://www.sans.org/information-security-policy/
- NIST SP 800-53 Rev. 5, https://csrc.nist.gov/pubs/sp/800/53/rev-5/final
- FTC Gramm-Leach-Bliley Act and Safeguards Rule, https://www.ftc.gov/business-guidance/privacy-security/gramm-leach-bliley-act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endpoint to resource: managed device posture, approved network path, strong authentication, bastion or VDI, least privilege, logging, and incident reporting for lost devices.
For the Meridian scenario, require approved VPN or VDI, no split tunneling for PCI-scoped systems, endpoint protection, full-disk encryption, and a defined response for lost or stolen devices.
Ask: What changes for BYOD? The organization may control less of the device, so access must be narrower or require additional controls.
Citations:
- NIST SP 800-207, https://csrc.nist.gov/pubs/sp/800/207/final
- NIST SP 800-53 Rev. 5, https://csrc.nist.gov/pubs/sp/800/53/rev-5/final
- PCI Security Standards Council, https://www.pcisecuritystandards.org/standards/pci-dss/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distinguish policy statements from mandatory standards. The IT Lab requires TLS 1.2 or newer, AES-256 for the VPN, client certificates, session timeout values, log retention, endpoint protection, and no split tunneling for PCI-scoped systems.
Do not present the sample values as universal law. The teaching point is that a standard must supply measurable values and an owner.
Citations:
- NIST SP 800-53 Rev. 5, https://csrc.nist.gov/pubs/sp/800/53/rev-5/final
- PCI Security Standards Council, https://www.pcisecuritystandards.org/standards/pci-dss/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four-tier homework structure. The exact labels can vary by organization, but the policy must define examples, handling requirements, labeling, classification ownership, default treatment for unclassified data, reclassification, and audit.
Model answer: unclassified data should default to the more protective tier until the Data Owner classifies it. Data Custodians enforce the technical handling rules; Data Owners make the classification decision.
Citations:
- NIST SP 800-53 Rev. 5, https://csrc.nist.gov/pubs/sp/800/53/rev-5/final
- NIST SP 800-88 Rev. 2, https://csrc.nist.gov/pubs/sp/800/88/r2/final
- HHS Security Rule, https://www.hhs.gov/hipaa/for-professionals/security/laws-regulations/index.html
- PCI Security Standards Council, https://www.pcisecuritystandards.org/standards/pci-dss/
- EUR-Lex GDPR text, https://eur-lex.europa.eu/eli/reg/2016/679/oj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IT Lab gap-analysis structure. Compare the draft Acceptable Use Policy to ISO/IEC 27001:2022 Annex A controls A.5.10, A.6.2, and A.8.1. For each gap, record the requirement, missing language, severity, and a specific remediation statement.
Model answers: A.5.10 needs precise acceptable-use rules and prohibited actions; A.6.2 needs security terms and conditions for employees and contractors; A.8.1 needs endpoint ownership, baseline controls, monitoring, and lost-device response.
Citations:
- ISO/IEC 27001:2022, https://www.iso.org/standard/27001.html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Riverbend requirements as the minimum vendor-access baseline: SOC 2 Type II or equivalent, MFA for all remote access, a signed data-sharing or service-provider agreement when customer NPI is involved, named accounts, scoped systems and data, approved VPN or jump host, session recording, quarterly access review, incident notification, and complete termination.
Explain the role of SLA, OLA, BAA, and DPA as different kinds of agreements. Do not treat a SOC report as a substitute for scoped access design.
Citations:
- NIST SP 800-207, https://csrc.nist.gov/pubs/sp/800/207/final
- NIST SP 800-53 Rev. 5, https://csrc.nist.gov/pubs/sp/800/53/rev-5/final
- HHS Security Rule, https://www.hhs.gov/hipaa/for-professionals/security/laws-regulations/index.html
- EUR-Lex GDPR text, https://eur-lex.europa.eu/eli/reg/2016/679/oj
- FTC Gramm-Leach-Bliley Act and Safeguards Rule, https://www.ftc.gov/business-guidance/privacy-security/gramm-leach-bliley-act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IT homework Zero Trust alignment exercise. Map each policy requirement to identity, device, network, application, and data. Then identify the weakest pillar instead of forcing every requirement into every category.
Model answer: identity is covered by named accounts and MFA; device by endpoint and BYOD rules; network by VPN, jump host, and no split tunneling; application by access scope and session controls; data by classification, NPI handling, and vendor agreements.
Citations:
- NIST SP 800-207, https://csrc.nist.gov/pubs/sp/800/207/final
- NIST SP 800-53 Rev. 5, https://csrc.nist.gov/pubs/sp/800/53/rev-5/final
- FTC Gramm-Leach-Bliley Act and Safeguards Rule, https://www.ftc.gov/business-guidance/privacy-security/gramm-leach-bliley-act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minimum exception fields: requirement, business reason, risk, compensating controls, owner, approver, expiration, and review trigger.
Use the IT Lab scenario: DevOps wants to disable full-disk encryption on a high-performance build server because encryption reduces build performance enough to miss the CI/CD SLA. The point is not to approve the exception automatically. The point is to document the business need, rate the risk, add compensating controls, name the approver, and set a short review date.
Citations:
- SANS Information Security Policy Templates, https://www.sans.org/information-security-policy/
- NIST SP 800-53 Rev. 5, https://csrc.nist.gov/pubs/sp/800/53/rev-5/final
- NIST SP 800-88 Rev. 2, https://csrc.nist.gov/pubs/sp/800/88/r2/final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complete the exception form. Model answer: business justification is the CI/CD SLA; risk is data exposure if the server or drive is stolen; compensating controls include isolated network segment, restricted physical access, stronger host monitoring, encrypted application data, limited administrator access, backup protection, and a short review date.
The approval should come from the designated risk owner, not the DevOps team alone. The residual risk remains higher than the baseline until encryption is restored or the architecture changes.
Citations:
- NIST SP 800-53 Rev. 5, https://csrc.nist.gov/pubs/sp/800/53/rev-5/final
- NIST SP 800-88 Rev. 2, https://csrc.nist.gov/pubs/sp/800/88/r2/final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what should trigger an ad hoc review: breach, regulatory change, technology change, major vendor change, audit finding, or repeated exception.
Use the IT Lab maintenance-calendar requirements: every policy needs an owner, version, annual review date, trigger events, effective date, approval record, and change history. A practical set includes password and authentication, remote access, acceptable use, data classification, incident response, change management, vendor access, backup, and logging policies.
Citations:
- SANS Information Security Policy Templates, https://www.sans.org/information-security-policy/
- NIST SP 800-53 Rev. 5, https://csrc.nist.gov/pubs/sp/800/53/rev-5/final
- ISO/IEC 27001:2022, https://www.iso.org/standard/27001.html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 placeholder. Debrief with two questions: Who owns the risk now? What evidence would show the exception is ready to close?
Use this to transition from policy language to operational discipline.
Citations:
- SANS Information Security Policy Templates, https://www.sans.org/information-security-policy/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final troubleshooting framework.
For an access or policy failure, check: which identity was presented, whether account and factor checks completed, whether the requested action is authorized, whether a standard or exception applies, whether the system produced evidence, and whether the owner has a recovery path.
Citations: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each group one scenario: MFA provider outage, vendor account left active, BYOD device loss, service account misuse, or repeated policy exceptions.
Require four answers: immediate containment, evidence to collect, long-term control, and policy sentence that makes the control enforceable.
Listen for answers that connect technical controls to ownership and recovery.
Citations:
- NIST SP 800-207, https://csrc.nist.gov/pubs/sp/800/207/final
- NIST SP 800-53 Rev. 5, https://csrc.nist.gov/pubs/sp/800/53/rev-5/final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written exit ticket or final verbal check.
Expected answers: 1) authentication proves control of an authenticator; 2) authorization defines allowed action; 3) MFA enrollment and recovery are security boundaries; 4) least privilege needs technical and policy enforcement; 5) an enforceable policy needs scope, evidence, owner, and consequence; 6) an exception requires owner, evidence, compensating controls, and expiry.
Citations:
- NIST SP 800-207, https://csrc.nist.gov/pubs/sp/800/207/final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intentionally compact. Full citations are embedded in speaker notes throughout the deck. Verify current organizational and regulatory requirements before teaching them as policy.
The deck deliberately avoids visible source footers and keeps the references in notes and this final reference map.
Citations:
- NIST SP 800-207, https://csrc.nist.gov/pubs/sp/800/207/final
- NIST SP 800-63B, https://pages.nist.gov/800-63-4/sp800-63b.html
- NIST SP 800-53 Rev. 5, https://csrc.nist.gov/pubs/sp/800/53/rev-5/final
- HHS Security Rule, https://www.hhs.gov/hipaa/for-professionals/security/laws-regulations/index.html
- PCI Security Standards Council, https://www.pcisecuritystandards.org/standards/pci-dss/
- EUR-Lex GDPR text, https://eur-lex.europa.eu/eli/reg/2016/679/oj
- SANS Information Security Policy Templates, https://www.sans.org/information-security-policy/
- ISO/IEC 27001:2022, https://www.iso.org/standard/27001.html
- NIST SP 800-88 Rev. 2, https://csrc.nist.gov/pubs/sp/800/88/r2/final
- FTC Gramm-Leach-Bliley Act and Safeguards Rule, https://www.ftc.gov/business-guidance/privacy-security/gramm-leach-bliley-act
- GitLab Internal Acceptable Use Policy, https://handbook.gitlab.com/handbook/people-group/acceptable-use-policy/
- GitLab Acceptable Use Policy, https://handbook.gitlab.com/handbook/legal/acceptable-use-policy/
- Atlassian Acceptable Use Policy, https://www.atlassian.com/legal/acceptable-use-policy
- Trinity Industries Code of Conduct, https://s25.q4cdn.com/774532758/files/doc_downloads/2023/Trinity-Code-of-Conduct_English.pdf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YBER44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1F497D"/>
          </a:solidFill>
          <a:ln w="12700">
            <a:solidFill>
              <a:srgbClr val="1F497D"/>
            </a:solidFill>
            <a:prstDash val="solid"/>
          </a:ln>
        </p:spPr>
      </p:sp>
      <p:sp>
        <p:nvSpPr>
          <p:cNvPr id="3" name="Text 1"/>
          <p:cNvSpPr/>
          <p:nvPr/>
        </p:nvSpPr>
        <p:spPr>
          <a:xfrm>
            <a:off x="411480" y="6565392"/>
            <a:ext cx="5303520"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CYBER 444  ·  PAM / MFA / POLICY</a:t>
            </a:r>
            <a:endParaRPr lang="en-US" sz="800" dirty="0"/>
          </a:p>
        </p:txBody>
      </p:sp>
      <p:sp>
        <p:nvSpPr>
          <p:cNvPr id="4" name="Text 2"/>
          <p:cNvSpPr/>
          <p:nvPr/>
        </p:nvSpPr>
        <p:spPr>
          <a:xfrm>
            <a:off x="10561320" y="6565392"/>
            <a:ext cx="1143000" cy="164592"/>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Fall 2026</a:t>
            </a:r>
            <a:endParaRPr lang="en-US" sz="8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97D"/>
        </a:solidFill>
      </p:bgPr>
    </p:bg>
    <p:spTree>
      <p:nvGrpSpPr>
        <p:cNvPr id="1" name=""/>
        <p:cNvGrpSpPr/>
        <p:nvPr/>
      </p:nvGrpSpPr>
      <p:grpSpPr>
        <a:xfrm>
          <a:off x="0" y="0"/>
          <a:ext cx="0" cy="0"/>
          <a:chOff x="0" y="0"/>
          <a:chExt cx="0" cy="0"/>
        </a:xfrm>
      </p:grpSpPr>
      <p:sp>
        <p:nvSpPr>
          <p:cNvPr id="2" name="Shape 0"/>
          <p:cNvSpPr/>
          <p:nvPr/>
        </p:nvSpPr>
        <p:spPr>
          <a:xfrm>
            <a:off x="0" y="0"/>
            <a:ext cx="12191695" cy="137160"/>
          </a:xfrm>
          <a:prstGeom prst="rect">
            <a:avLst/>
          </a:prstGeom>
          <a:solidFill>
            <a:srgbClr val="4BACC6"/>
          </a:solidFill>
          <a:ln w="12700">
            <a:solidFill>
              <a:srgbClr val="4BACC6"/>
            </a:solidFill>
            <a:prstDash val="solid"/>
          </a:ln>
        </p:spPr>
      </p:sp>
      <p:sp>
        <p:nvSpPr>
          <p:cNvPr id="3" name="Text 1"/>
          <p:cNvSpPr txBox="1"/>
          <p:nvPr/>
        </p:nvSpPr>
        <p:spPr>
          <a:xfrm>
            <a:off x="621792" y="566928"/>
            <a:ext cx="2011680" cy="274320"/>
          </a:xfrm>
          <a:prstGeom prst="rect">
            <a:avLst/>
          </a:prstGeom>
          <a:noFill/>
          <a:ln/>
        </p:spPr>
        <p:txBody>
          <a:bodyPr wrap="square" lIns="508" tIns="508" rIns="508" bIns="508" rtlCol="0" anchor="ctr">
            <a:normAutofit/>
          </a:bodyPr>
          <a:lstStyle/>
          <a:p>
            <a:pPr algn="l" indent="0" marL="0">
              <a:buNone/>
            </a:pPr>
            <a:r>
              <a:rPr lang="en-US" sz="1400" b="1" spc="200" kern="0" dirty="0">
                <a:solidFill>
                  <a:srgbClr val="BFE4EE"/>
                </a:solidFill>
                <a:latin typeface="Calibri" pitchFamily="34" charset="0"/>
                <a:ea typeface="Calibri" pitchFamily="34" charset="-122"/>
                <a:cs typeface="Calibri" pitchFamily="34" charset="-120"/>
              </a:rPr>
              <a:t>WEEK 6</a:t>
            </a:r>
            <a:endParaRPr lang="en-US" sz="1400" dirty="0"/>
          </a:p>
        </p:txBody>
      </p:sp>
      <p:sp>
        <p:nvSpPr>
          <p:cNvPr id="4" name="Text 2"/>
          <p:cNvSpPr txBox="1"/>
          <p:nvPr/>
        </p:nvSpPr>
        <p:spPr>
          <a:xfrm>
            <a:off x="621792" y="1170432"/>
            <a:ext cx="10698480" cy="777240"/>
          </a:xfrm>
          <a:prstGeom prst="rect">
            <a:avLst/>
          </a:prstGeom>
          <a:noFill/>
          <a:ln/>
        </p:spPr>
        <p:txBody>
          <a:bodyPr wrap="square" lIns="508" tIns="508" rIns="508" bIns="508" rtlCol="0" anchor="ctr">
            <a:normAutofit/>
          </a:bodyPr>
          <a:lstStyle/>
          <a:p>
            <a:pPr algn="l" indent="0" marL="0">
              <a:buNone/>
            </a:pPr>
            <a:r>
              <a:rPr lang="en-US" sz="3500" b="1" dirty="0">
                <a:solidFill>
                  <a:srgbClr val="FFFFFF"/>
                </a:solidFill>
                <a:latin typeface="Calibri" pitchFamily="34" charset="0"/>
                <a:ea typeface="Calibri" pitchFamily="34" charset="-122"/>
                <a:cs typeface="Calibri" pitchFamily="34" charset="-120"/>
              </a:rPr>
              <a:t>PAM, MFA, and Enterprise Policy</a:t>
            </a:r>
            <a:endParaRPr lang="en-US" sz="3500" dirty="0"/>
          </a:p>
        </p:txBody>
      </p:sp>
      <p:sp>
        <p:nvSpPr>
          <p:cNvPr id="5" name="Text 3"/>
          <p:cNvSpPr txBox="1"/>
          <p:nvPr/>
        </p:nvSpPr>
        <p:spPr>
          <a:xfrm>
            <a:off x="658368" y="2148840"/>
            <a:ext cx="9235440" cy="365760"/>
          </a:xfrm>
          <a:prstGeom prst="rect">
            <a:avLst/>
          </a:prstGeom>
          <a:noFill/>
          <a:ln/>
        </p:spPr>
        <p:txBody>
          <a:bodyPr wrap="square" lIns="508" tIns="508" rIns="508" bIns="508" rtlCol="0" anchor="ctr">
            <a:normAutofit/>
          </a:bodyPr>
          <a:lstStyle/>
          <a:p>
            <a:pPr algn="l" indent="0" marL="0">
              <a:buNone/>
            </a:pPr>
            <a:r>
              <a:rPr lang="en-US" sz="1800" dirty="0">
                <a:solidFill>
                  <a:srgbClr val="DCEAF5"/>
                </a:solidFill>
                <a:latin typeface="Calibri" pitchFamily="34" charset="0"/>
                <a:ea typeface="Calibri" pitchFamily="34" charset="-122"/>
                <a:cs typeface="Calibri" pitchFamily="34" charset="-120"/>
              </a:rPr>
              <a:t>Identity · privileged access · policy as an enforcement mechanism</a:t>
            </a:r>
            <a:endParaRPr lang="en-US" sz="1800" dirty="0"/>
          </a:p>
        </p:txBody>
      </p:sp>
      <p:sp>
        <p:nvSpPr>
          <p:cNvPr id="6" name="Shape 4"/>
          <p:cNvSpPr/>
          <p:nvPr/>
        </p:nvSpPr>
        <p:spPr>
          <a:xfrm>
            <a:off x="658368" y="2834640"/>
            <a:ext cx="3776472" cy="0"/>
          </a:xfrm>
          <a:prstGeom prst="line">
            <a:avLst/>
          </a:prstGeom>
          <a:noFill/>
          <a:ln w="38100">
            <a:solidFill>
              <a:srgbClr val="4BACC6"/>
            </a:solidFill>
            <a:prstDash val="solid"/>
            <a:headEnd type="none"/>
            <a:tailEnd type="none"/>
          </a:ln>
        </p:spPr>
      </p:sp>
      <p:sp>
        <p:nvSpPr>
          <p:cNvPr id="7" name="Text 5"/>
          <p:cNvSpPr txBox="1"/>
          <p:nvPr/>
        </p:nvSpPr>
        <p:spPr>
          <a:xfrm>
            <a:off x="658368" y="5349240"/>
            <a:ext cx="5486400" cy="256032"/>
          </a:xfrm>
          <a:prstGeom prst="rect">
            <a:avLst/>
          </a:prstGeom>
          <a:noFill/>
          <a:ln/>
        </p:spPr>
        <p:txBody>
          <a:bodyPr wrap="square" lIns="508" tIns="508" rIns="508" bIns="508" rtlCol="0" anchor="ctr">
            <a:normAutofit/>
          </a:bodyPr>
          <a:lstStyle/>
          <a:p>
            <a:pPr algn="l" indent="0" marL="0">
              <a:buNone/>
            </a:pPr>
            <a:r>
              <a:rPr lang="en-US" sz="1300" dirty="0">
                <a:solidFill>
                  <a:srgbClr val="DCEAF5"/>
                </a:solidFill>
                <a:latin typeface="Calibri" pitchFamily="34" charset="0"/>
                <a:ea typeface="Calibri" pitchFamily="34" charset="-122"/>
                <a:cs typeface="Calibri" pitchFamily="34" charset="-120"/>
              </a:rPr>
              <a:t>CYBER 444  ·  Systems &amp; Network Administration</a:t>
            </a:r>
            <a:endParaRPr lang="en-US" sz="1300" dirty="0"/>
          </a:p>
        </p:txBody>
      </p:sp>
      <p:sp>
        <p:nvSpPr>
          <p:cNvPr id="8" name="Text 6"/>
          <p:cNvSpPr txBox="1"/>
          <p:nvPr/>
        </p:nvSpPr>
        <p:spPr>
          <a:xfrm>
            <a:off x="658368" y="5669280"/>
            <a:ext cx="4572000" cy="228600"/>
          </a:xfrm>
          <a:prstGeom prst="rect">
            <a:avLst/>
          </a:prstGeom>
          <a:noFill/>
          <a:ln/>
        </p:spPr>
        <p:txBody>
          <a:bodyPr wrap="square" lIns="508" tIns="508" rIns="508" bIns="508" rtlCol="0" anchor="ctr">
            <a:normAutofit/>
          </a:bodyPr>
          <a:lstStyle/>
          <a:p>
            <a:pPr algn="l" indent="0" marL="0">
              <a:buNone/>
            </a:pPr>
            <a:r>
              <a:rPr lang="en-US" sz="1200" dirty="0">
                <a:solidFill>
                  <a:srgbClr val="BFE4EE"/>
                </a:solidFill>
                <a:latin typeface="Calibri" pitchFamily="34" charset="0"/>
                <a:ea typeface="Calibri" pitchFamily="34" charset="-122"/>
                <a:cs typeface="Calibri" pitchFamily="34" charset="-120"/>
              </a:rPr>
              <a:t>Fall 2026</a:t>
            </a:r>
            <a:endParaRPr lang="en-US" sz="1200" dirty="0"/>
          </a:p>
        </p:txBody>
      </p:sp>
      <p:sp>
        <p:nvSpPr>
          <p:cNvPr id="9" name="Shape 7"/>
          <p:cNvSpPr/>
          <p:nvPr/>
        </p:nvSpPr>
        <p:spPr>
          <a:xfrm>
            <a:off x="7635240" y="3611880"/>
            <a:ext cx="475488" cy="475488"/>
          </a:xfrm>
          <a:prstGeom prst="ellipse">
            <a:avLst/>
          </a:prstGeom>
          <a:solidFill>
            <a:srgbClr val="F79646"/>
          </a:solidFill>
          <a:ln w="12700">
            <a:solidFill>
              <a:srgbClr val="F79646"/>
            </a:solidFill>
            <a:prstDash val="solid"/>
          </a:ln>
        </p:spPr>
      </p:sp>
      <p:sp>
        <p:nvSpPr>
          <p:cNvPr id="10" name="Shape 8"/>
          <p:cNvSpPr/>
          <p:nvPr/>
        </p:nvSpPr>
        <p:spPr>
          <a:xfrm>
            <a:off x="8348472" y="3355848"/>
            <a:ext cx="475488" cy="475488"/>
          </a:xfrm>
          <a:prstGeom prst="ellipse">
            <a:avLst/>
          </a:prstGeom>
          <a:solidFill>
            <a:srgbClr val="4BACC6"/>
          </a:solidFill>
          <a:ln w="12700">
            <a:solidFill>
              <a:srgbClr val="4BACC6"/>
            </a:solidFill>
            <a:prstDash val="solid"/>
          </a:ln>
        </p:spPr>
      </p:sp>
      <p:sp>
        <p:nvSpPr>
          <p:cNvPr id="11" name="Shape 9"/>
          <p:cNvSpPr/>
          <p:nvPr/>
        </p:nvSpPr>
        <p:spPr>
          <a:xfrm>
            <a:off x="9061704" y="3611880"/>
            <a:ext cx="475488" cy="475488"/>
          </a:xfrm>
          <a:prstGeom prst="ellipse">
            <a:avLst/>
          </a:prstGeom>
          <a:solidFill>
            <a:srgbClr val="4F81BD"/>
          </a:solidFill>
          <a:ln w="12700">
            <a:solidFill>
              <a:srgbClr val="4F81BD"/>
            </a:solidFill>
            <a:prstDash val="solid"/>
          </a:ln>
        </p:spPr>
      </p:sp>
      <p:sp>
        <p:nvSpPr>
          <p:cNvPr id="12" name="Shape 10"/>
          <p:cNvSpPr/>
          <p:nvPr/>
        </p:nvSpPr>
        <p:spPr>
          <a:xfrm>
            <a:off x="9774936" y="3355848"/>
            <a:ext cx="475488" cy="475488"/>
          </a:xfrm>
          <a:prstGeom prst="ellipse">
            <a:avLst/>
          </a:prstGeom>
          <a:solidFill>
            <a:srgbClr val="70AD47"/>
          </a:solidFill>
          <a:ln w="12700">
            <a:solidFill>
              <a:srgbClr val="70AD47"/>
            </a:solidFill>
            <a:prstDash val="solid"/>
          </a:ln>
        </p:spPr>
      </p:sp>
      <p:sp>
        <p:nvSpPr>
          <p:cNvPr id="13" name="Shape 11"/>
          <p:cNvSpPr/>
          <p:nvPr/>
        </p:nvSpPr>
        <p:spPr>
          <a:xfrm>
            <a:off x="8092440" y="3840480"/>
            <a:ext cx="246888" cy="0"/>
          </a:xfrm>
          <a:prstGeom prst="line">
            <a:avLst/>
          </a:prstGeom>
          <a:noFill/>
          <a:ln w="38100">
            <a:solidFill>
              <a:srgbClr val="FFFFFF"/>
            </a:solidFill>
            <a:prstDash val="solid"/>
            <a:headEnd type="none"/>
            <a:tailEnd type="triangle"/>
          </a:ln>
        </p:spPr>
      </p:sp>
      <p:sp>
        <p:nvSpPr>
          <p:cNvPr id="14" name="Shape 12"/>
          <p:cNvSpPr/>
          <p:nvPr/>
        </p:nvSpPr>
        <p:spPr>
          <a:xfrm>
            <a:off x="8805672" y="3584448"/>
            <a:ext cx="246888" cy="0"/>
          </a:xfrm>
          <a:prstGeom prst="line">
            <a:avLst/>
          </a:prstGeom>
          <a:noFill/>
          <a:ln w="38100">
            <a:solidFill>
              <a:srgbClr val="FFFFFF"/>
            </a:solidFill>
            <a:prstDash val="solid"/>
            <a:headEnd type="none"/>
            <a:tailEnd type="triangle"/>
          </a:ln>
        </p:spPr>
      </p:sp>
      <p:sp>
        <p:nvSpPr>
          <p:cNvPr id="15" name="Shape 13"/>
          <p:cNvSpPr/>
          <p:nvPr/>
        </p:nvSpPr>
        <p:spPr>
          <a:xfrm>
            <a:off x="9518904" y="3840480"/>
            <a:ext cx="246888" cy="0"/>
          </a:xfrm>
          <a:prstGeom prst="line">
            <a:avLst/>
          </a:prstGeom>
          <a:noFill/>
          <a:ln w="38100">
            <a:solidFill>
              <a:srgbClr val="FFFFFF"/>
            </a:solidFill>
            <a:prstDash val="solid"/>
            <a:headEnd type="none"/>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HOOK</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What changes when the network no longer counts as trusted?</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Zero Trust turns access into a decision made for a specific subject, device, resource, and action.</a:t>
            </a:r>
            <a:endParaRPr lang="en-US" sz="1250" dirty="0"/>
          </a:p>
        </p:txBody>
      </p:sp>
      <p:sp>
        <p:nvSpPr>
          <p:cNvPr id="6" name="Shape 3"/>
          <p:cNvSpPr/>
          <p:nvPr/>
        </p:nvSpPr>
        <p:spPr>
          <a:xfrm>
            <a:off x="1362456" y="196596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62456"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Identity</a:t>
            </a:r>
            <a:endParaRPr lang="en-US" sz="1900" dirty="0"/>
          </a:p>
        </p:txBody>
      </p:sp>
      <p:sp>
        <p:nvSpPr>
          <p:cNvPr id="9" name="Text 6"/>
          <p:cNvSpPr txBox="1"/>
          <p:nvPr/>
        </p:nvSpPr>
        <p:spPr>
          <a:xfrm>
            <a:off x="640080"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Who is asking?</a:t>
            </a:r>
            <a:endParaRPr lang="en-US" sz="1250" dirty="0"/>
          </a:p>
        </p:txBody>
      </p:sp>
      <p:sp>
        <p:nvSpPr>
          <p:cNvPr id="10" name="Shape 7"/>
          <p:cNvSpPr/>
          <p:nvPr/>
        </p:nvSpPr>
        <p:spPr>
          <a:xfrm>
            <a:off x="2039112" y="2249424"/>
            <a:ext cx="612648" cy="0"/>
          </a:xfrm>
          <a:prstGeom prst="line">
            <a:avLst/>
          </a:prstGeom>
          <a:noFill/>
          <a:ln w="25400">
            <a:solidFill>
              <a:srgbClr val="94A3B8"/>
            </a:solidFill>
            <a:prstDash val="solid"/>
            <a:headEnd type="none"/>
            <a:tailEnd type="triangle"/>
          </a:ln>
        </p:spPr>
      </p:sp>
      <p:sp>
        <p:nvSpPr>
          <p:cNvPr id="11" name="Shape 8"/>
          <p:cNvSpPr/>
          <p:nvPr/>
        </p:nvSpPr>
        <p:spPr>
          <a:xfrm>
            <a:off x="3666744" y="1965960"/>
            <a:ext cx="566928" cy="566928"/>
          </a:xfrm>
          <a:prstGeom prst="ellipse">
            <a:avLst/>
          </a:prstGeom>
          <a:solidFill>
            <a:srgbClr val="4F81BD"/>
          </a:solidFill>
          <a:ln w="12700">
            <a:solidFill>
              <a:srgbClr val="4F81BD"/>
            </a:solidFill>
            <a:prstDash val="solid"/>
          </a:ln>
        </p:spPr>
      </p:sp>
      <p:sp>
        <p:nvSpPr>
          <p:cNvPr id="12" name="Text 9"/>
          <p:cNvSpPr txBox="1"/>
          <p:nvPr/>
        </p:nvSpPr>
        <p:spPr>
          <a:xfrm>
            <a:off x="3666744"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Device</a:t>
            </a:r>
            <a:endParaRPr lang="en-US" sz="1900" dirty="0"/>
          </a:p>
        </p:txBody>
      </p:sp>
      <p:sp>
        <p:nvSpPr>
          <p:cNvPr id="14" name="Text 11"/>
          <p:cNvSpPr txBox="1"/>
          <p:nvPr/>
        </p:nvSpPr>
        <p:spPr>
          <a:xfrm>
            <a:off x="2944368"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is asking?</a:t>
            </a:r>
            <a:endParaRPr lang="en-US" sz="1250" dirty="0"/>
          </a:p>
        </p:txBody>
      </p:sp>
      <p:sp>
        <p:nvSpPr>
          <p:cNvPr id="15" name="Shape 12"/>
          <p:cNvSpPr/>
          <p:nvPr/>
        </p:nvSpPr>
        <p:spPr>
          <a:xfrm>
            <a:off x="4343400" y="2249424"/>
            <a:ext cx="612648" cy="0"/>
          </a:xfrm>
          <a:prstGeom prst="line">
            <a:avLst/>
          </a:prstGeom>
          <a:noFill/>
          <a:ln w="25400">
            <a:solidFill>
              <a:srgbClr val="94A3B8"/>
            </a:solidFill>
            <a:prstDash val="solid"/>
            <a:headEnd type="none"/>
            <a:tailEnd type="triangle"/>
          </a:ln>
        </p:spPr>
      </p:sp>
      <p:sp>
        <p:nvSpPr>
          <p:cNvPr id="16" name="Shape 13"/>
          <p:cNvSpPr/>
          <p:nvPr/>
        </p:nvSpPr>
        <p:spPr>
          <a:xfrm>
            <a:off x="5971032" y="1965960"/>
            <a:ext cx="566928" cy="566928"/>
          </a:xfrm>
          <a:prstGeom prst="ellipse">
            <a:avLst/>
          </a:prstGeom>
          <a:solidFill>
            <a:srgbClr val="F79646"/>
          </a:solidFill>
          <a:ln w="12700">
            <a:solidFill>
              <a:srgbClr val="F79646"/>
            </a:solidFill>
            <a:prstDash val="solid"/>
          </a:ln>
        </p:spPr>
      </p:sp>
      <p:sp>
        <p:nvSpPr>
          <p:cNvPr id="17" name="Text 14"/>
          <p:cNvSpPr txBox="1"/>
          <p:nvPr/>
        </p:nvSpPr>
        <p:spPr>
          <a:xfrm>
            <a:off x="5971032"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Resource</a:t>
            </a:r>
            <a:endParaRPr lang="en-US" sz="1900" dirty="0"/>
          </a:p>
        </p:txBody>
      </p:sp>
      <p:sp>
        <p:nvSpPr>
          <p:cNvPr id="19" name="Text 16"/>
          <p:cNvSpPr txBox="1"/>
          <p:nvPr/>
        </p:nvSpPr>
        <p:spPr>
          <a:xfrm>
            <a:off x="5248656"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is being accessed?</a:t>
            </a:r>
            <a:endParaRPr lang="en-US" sz="1250" dirty="0"/>
          </a:p>
        </p:txBody>
      </p:sp>
      <p:sp>
        <p:nvSpPr>
          <p:cNvPr id="20" name="Shape 17"/>
          <p:cNvSpPr/>
          <p:nvPr/>
        </p:nvSpPr>
        <p:spPr>
          <a:xfrm>
            <a:off x="6647688" y="2249424"/>
            <a:ext cx="612648" cy="0"/>
          </a:xfrm>
          <a:prstGeom prst="line">
            <a:avLst/>
          </a:prstGeom>
          <a:noFill/>
          <a:ln w="25400">
            <a:solidFill>
              <a:srgbClr val="94A3B8"/>
            </a:solidFill>
            <a:prstDash val="solid"/>
            <a:headEnd type="none"/>
            <a:tailEnd type="triangle"/>
          </a:ln>
        </p:spPr>
      </p:sp>
      <p:sp>
        <p:nvSpPr>
          <p:cNvPr id="21" name="Shape 18"/>
          <p:cNvSpPr/>
          <p:nvPr/>
        </p:nvSpPr>
        <p:spPr>
          <a:xfrm>
            <a:off x="8275320" y="196596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75320"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Action</a:t>
            </a:r>
            <a:endParaRPr lang="en-US" sz="1900" dirty="0"/>
          </a:p>
        </p:txBody>
      </p:sp>
      <p:sp>
        <p:nvSpPr>
          <p:cNvPr id="24" name="Text 21"/>
          <p:cNvSpPr txBox="1"/>
          <p:nvPr/>
        </p:nvSpPr>
        <p:spPr>
          <a:xfrm>
            <a:off x="7552944"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may happen?</a:t>
            </a:r>
            <a:endParaRPr lang="en-US" sz="1250" dirty="0"/>
          </a:p>
        </p:txBody>
      </p:sp>
      <p:sp>
        <p:nvSpPr>
          <p:cNvPr id="25" name="Shape 22"/>
          <p:cNvSpPr/>
          <p:nvPr/>
        </p:nvSpPr>
        <p:spPr>
          <a:xfrm>
            <a:off x="8951976" y="2249424"/>
            <a:ext cx="612648" cy="0"/>
          </a:xfrm>
          <a:prstGeom prst="line">
            <a:avLst/>
          </a:prstGeom>
          <a:noFill/>
          <a:ln w="25400">
            <a:solidFill>
              <a:srgbClr val="94A3B8"/>
            </a:solidFill>
            <a:prstDash val="solid"/>
            <a:headEnd type="none"/>
            <a:tailEnd type="triangle"/>
          </a:ln>
        </p:spPr>
      </p:sp>
      <p:sp>
        <p:nvSpPr>
          <p:cNvPr id="26" name="Shape 23"/>
          <p:cNvSpPr/>
          <p:nvPr/>
        </p:nvSpPr>
        <p:spPr>
          <a:xfrm>
            <a:off x="10579608" y="1965960"/>
            <a:ext cx="566928" cy="566928"/>
          </a:xfrm>
          <a:prstGeom prst="ellipse">
            <a:avLst/>
          </a:prstGeom>
          <a:solidFill>
            <a:srgbClr val="70AD47"/>
          </a:solidFill>
          <a:ln w="12700">
            <a:solidFill>
              <a:srgbClr val="70AD47"/>
            </a:solidFill>
            <a:prstDash val="solid"/>
          </a:ln>
        </p:spPr>
      </p:sp>
      <p:sp>
        <p:nvSpPr>
          <p:cNvPr id="27" name="Text 24"/>
          <p:cNvSpPr txBox="1"/>
          <p:nvPr/>
        </p:nvSpPr>
        <p:spPr>
          <a:xfrm>
            <a:off x="10579608"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Evidence</a:t>
            </a:r>
            <a:endParaRPr lang="en-US" sz="1900" dirty="0"/>
          </a:p>
        </p:txBody>
      </p:sp>
      <p:sp>
        <p:nvSpPr>
          <p:cNvPr id="29" name="Text 26"/>
          <p:cNvSpPr txBox="1"/>
          <p:nvPr/>
        </p:nvSpPr>
        <p:spPr>
          <a:xfrm>
            <a:off x="9857232"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proves it?</a:t>
            </a:r>
            <a:endParaRPr lang="en-US" sz="1250" dirty="0"/>
          </a:p>
        </p:txBody>
      </p:sp>
      <p:sp>
        <p:nvSpPr>
          <p:cNvPr id="30" name="Shape 27"/>
          <p:cNvSpPr/>
          <p:nvPr/>
        </p:nvSpPr>
        <p:spPr>
          <a:xfrm>
            <a:off x="914400" y="4572000"/>
            <a:ext cx="10241280" cy="731520"/>
          </a:xfrm>
          <a:prstGeom prst="roundRect">
            <a:avLst/>
          </a:prstGeom>
          <a:solidFill>
            <a:srgbClr val="FFFFFF"/>
          </a:solidFill>
          <a:ln w="12700">
            <a:solidFill>
              <a:srgbClr val="1F497D"/>
            </a:solidFill>
            <a:prstDash val="solid"/>
          </a:ln>
        </p:spPr>
      </p:sp>
      <p:sp>
        <p:nvSpPr>
          <p:cNvPr id="31" name="Shape 28"/>
          <p:cNvSpPr/>
          <p:nvPr/>
        </p:nvSpPr>
        <p:spPr>
          <a:xfrm>
            <a:off x="914400" y="4572000"/>
            <a:ext cx="100584" cy="731520"/>
          </a:xfrm>
          <a:prstGeom prst="rect">
            <a:avLst/>
          </a:prstGeom>
          <a:solidFill>
            <a:srgbClr val="1F497D"/>
          </a:solidFill>
          <a:ln w="12700">
            <a:solidFill>
              <a:srgbClr val="1F497D"/>
            </a:solidFill>
            <a:prstDash val="solid"/>
          </a:ln>
        </p:spPr>
      </p:sp>
      <p:sp>
        <p:nvSpPr>
          <p:cNvPr id="32" name="Text 29"/>
          <p:cNvSpPr txBox="1"/>
          <p:nvPr/>
        </p:nvSpPr>
        <p:spPr>
          <a:xfrm>
            <a:off x="1152144" y="4681728"/>
            <a:ext cx="989380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Core idea</a:t>
            </a:r>
            <a:endParaRPr lang="en-US" sz="1400" dirty="0"/>
          </a:p>
        </p:txBody>
      </p:sp>
      <p:sp>
        <p:nvSpPr>
          <p:cNvPr id="33" name="Text 30"/>
          <p:cNvSpPr txBox="1"/>
          <p:nvPr/>
        </p:nvSpPr>
        <p:spPr>
          <a:xfrm>
            <a:off x="1152144" y="4983480"/>
            <a:ext cx="989380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The access decision is the control plane. MFA, PAM, logging, and policy are ways to make that decision explicit.</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OBJECTIVES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By the end, students can explain and design...</a:t>
            </a:r>
            <a:endParaRPr lang="en-US" sz="2700" dirty="0"/>
          </a:p>
        </p:txBody>
      </p:sp>
      <p:sp>
        <p:nvSpPr>
          <p:cNvPr id="5" name="Shape 2"/>
          <p:cNvSpPr/>
          <p:nvPr/>
        </p:nvSpPr>
        <p:spPr>
          <a:xfrm>
            <a:off x="777240" y="1929384"/>
            <a:ext cx="118872" cy="118872"/>
          </a:xfrm>
          <a:prstGeom prst="ellipse">
            <a:avLst/>
          </a:prstGeom>
          <a:solidFill>
            <a:srgbClr val="4BACC6"/>
          </a:solidFill>
          <a:ln w="12700">
            <a:solidFill>
              <a:srgbClr val="4BACC6"/>
            </a:solidFill>
            <a:prstDash val="solid"/>
          </a:ln>
        </p:spPr>
      </p:sp>
      <p:sp>
        <p:nvSpPr>
          <p:cNvPr id="6" name="Text 3"/>
          <p:cNvSpPr txBox="1"/>
          <p:nvPr/>
        </p:nvSpPr>
        <p:spPr>
          <a:xfrm>
            <a:off x="1005840" y="1828800"/>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PAM composes public-key authentication with MFA</a:t>
            </a:r>
            <a:endParaRPr lang="en-US" sz="1750" dirty="0"/>
          </a:p>
        </p:txBody>
      </p:sp>
      <p:sp>
        <p:nvSpPr>
          <p:cNvPr id="7" name="Shape 4"/>
          <p:cNvSpPr/>
          <p:nvPr/>
        </p:nvSpPr>
        <p:spPr>
          <a:xfrm>
            <a:off x="777240" y="2514600"/>
            <a:ext cx="118872" cy="118872"/>
          </a:xfrm>
          <a:prstGeom prst="ellipse">
            <a:avLst/>
          </a:prstGeom>
          <a:solidFill>
            <a:srgbClr val="4BACC6"/>
          </a:solidFill>
          <a:ln w="12700">
            <a:solidFill>
              <a:srgbClr val="4BACC6"/>
            </a:solidFill>
            <a:prstDash val="solid"/>
          </a:ln>
        </p:spPr>
      </p:sp>
      <p:sp>
        <p:nvSpPr>
          <p:cNvPr id="8" name="Text 5"/>
          <p:cNvSpPr txBox="1"/>
          <p:nvPr/>
        </p:nvSpPr>
        <p:spPr>
          <a:xfrm>
            <a:off x="1005840" y="2414016"/>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TOTP, FIDO2, push, enrollment, and recovery differ</a:t>
            </a:r>
            <a:endParaRPr lang="en-US" sz="1750" dirty="0"/>
          </a:p>
        </p:txBody>
      </p:sp>
      <p:sp>
        <p:nvSpPr>
          <p:cNvPr id="9" name="Shape 6"/>
          <p:cNvSpPr/>
          <p:nvPr/>
        </p:nvSpPr>
        <p:spPr>
          <a:xfrm>
            <a:off x="777240" y="3099816"/>
            <a:ext cx="118872" cy="118872"/>
          </a:xfrm>
          <a:prstGeom prst="ellipse">
            <a:avLst/>
          </a:prstGeom>
          <a:solidFill>
            <a:srgbClr val="4BACC6"/>
          </a:solidFill>
          <a:ln w="12700">
            <a:solidFill>
              <a:srgbClr val="4BACC6"/>
            </a:solidFill>
            <a:prstDash val="solid"/>
          </a:ln>
        </p:spPr>
      </p:sp>
      <p:sp>
        <p:nvSpPr>
          <p:cNvPr id="10" name="Text 7"/>
          <p:cNvSpPr txBox="1"/>
          <p:nvPr/>
        </p:nvSpPr>
        <p:spPr>
          <a:xfrm>
            <a:off x="1005840" y="2999232"/>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privileged access controls reduce command and session risk</a:t>
            </a:r>
            <a:endParaRPr lang="en-US" sz="1750" dirty="0"/>
          </a:p>
        </p:txBody>
      </p:sp>
      <p:sp>
        <p:nvSpPr>
          <p:cNvPr id="11" name="Shape 8"/>
          <p:cNvSpPr/>
          <p:nvPr/>
        </p:nvSpPr>
        <p:spPr>
          <a:xfrm>
            <a:off x="777240" y="3685032"/>
            <a:ext cx="118872" cy="118872"/>
          </a:xfrm>
          <a:prstGeom prst="ellipse">
            <a:avLst/>
          </a:prstGeom>
          <a:solidFill>
            <a:srgbClr val="4BACC6"/>
          </a:solidFill>
          <a:ln w="12700">
            <a:solidFill>
              <a:srgbClr val="4BACC6"/>
            </a:solidFill>
            <a:prstDash val="solid"/>
          </a:ln>
        </p:spPr>
      </p:sp>
      <p:sp>
        <p:nvSpPr>
          <p:cNvPr id="12" name="Text 9"/>
          <p:cNvSpPr txBox="1"/>
          <p:nvPr/>
        </p:nvSpPr>
        <p:spPr>
          <a:xfrm>
            <a:off x="1005840" y="3584448"/>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enterprise policies become measurable and enforceable</a:t>
            </a:r>
            <a:endParaRPr lang="en-US" sz="1750" dirty="0"/>
          </a:p>
        </p:txBody>
      </p:sp>
      <p:sp>
        <p:nvSpPr>
          <p:cNvPr id="13" name="Shape 10"/>
          <p:cNvSpPr/>
          <p:nvPr/>
        </p:nvSpPr>
        <p:spPr>
          <a:xfrm>
            <a:off x="777240" y="4270248"/>
            <a:ext cx="118872" cy="118872"/>
          </a:xfrm>
          <a:prstGeom prst="ellipse">
            <a:avLst/>
          </a:prstGeom>
          <a:solidFill>
            <a:srgbClr val="4BACC6"/>
          </a:solidFill>
          <a:ln w="12700">
            <a:solidFill>
              <a:srgbClr val="4BACC6"/>
            </a:solidFill>
            <a:prstDash val="solid"/>
          </a:ln>
        </p:spPr>
      </p:sp>
      <p:sp>
        <p:nvSpPr>
          <p:cNvPr id="14" name="Text 11"/>
          <p:cNvSpPr txBox="1"/>
          <p:nvPr/>
        </p:nvSpPr>
        <p:spPr>
          <a:xfrm>
            <a:off x="1005840" y="4169664"/>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to critique real policy language and improve it</a:t>
            </a:r>
            <a:endParaRPr lang="en-US" sz="1750" dirty="0"/>
          </a:p>
        </p:txBody>
      </p:sp>
      <p:sp>
        <p:nvSpPr>
          <p:cNvPr id="15" name="Shape 12"/>
          <p:cNvSpPr/>
          <p:nvPr/>
        </p:nvSpPr>
        <p:spPr>
          <a:xfrm>
            <a:off x="7498080" y="1965960"/>
            <a:ext cx="3566160" cy="2011680"/>
          </a:xfrm>
          <a:prstGeom prst="roundRect">
            <a:avLst/>
          </a:prstGeom>
          <a:solidFill>
            <a:srgbClr val="FFFFFF"/>
          </a:solidFill>
          <a:ln w="12700">
            <a:solidFill>
              <a:srgbClr val="70AD47"/>
            </a:solidFill>
            <a:prstDash val="solid"/>
          </a:ln>
        </p:spPr>
      </p:sp>
      <p:sp>
        <p:nvSpPr>
          <p:cNvPr id="16" name="Shape 13"/>
          <p:cNvSpPr/>
          <p:nvPr/>
        </p:nvSpPr>
        <p:spPr>
          <a:xfrm>
            <a:off x="7498080" y="1965960"/>
            <a:ext cx="100584" cy="2011680"/>
          </a:xfrm>
          <a:prstGeom prst="rect">
            <a:avLst/>
          </a:prstGeom>
          <a:solidFill>
            <a:srgbClr val="70AD47"/>
          </a:solidFill>
          <a:ln w="12700">
            <a:solidFill>
              <a:srgbClr val="70AD47"/>
            </a:solidFill>
            <a:prstDash val="solid"/>
          </a:ln>
        </p:spPr>
      </p:sp>
      <p:sp>
        <p:nvSpPr>
          <p:cNvPr id="17" name="Text 14"/>
          <p:cNvSpPr txBox="1"/>
          <p:nvPr/>
        </p:nvSpPr>
        <p:spPr>
          <a:xfrm>
            <a:off x="7735824" y="2075688"/>
            <a:ext cx="321868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Definition of done</a:t>
            </a:r>
            <a:endParaRPr lang="en-US" sz="1400" dirty="0"/>
          </a:p>
        </p:txBody>
      </p:sp>
      <p:sp>
        <p:nvSpPr>
          <p:cNvPr id="18" name="Text 15"/>
          <p:cNvSpPr txBox="1"/>
          <p:nvPr/>
        </p:nvSpPr>
        <p:spPr>
          <a:xfrm>
            <a:off x="7735824" y="2377440"/>
            <a:ext cx="3218688" cy="150876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You can name the identity proof, authorization decision, enforcement point, evidence source, and recovery path for a privileged access workflow.</a:t>
            </a:r>
            <a:endParaRPr lang="en-US" sz="1250" dirty="0"/>
          </a:p>
        </p:txBody>
      </p:sp>
      <p:sp>
        <p:nvSpPr>
          <p:cNvPr id="19" name="Shape 16"/>
          <p:cNvSpPr/>
          <p:nvPr/>
        </p:nvSpPr>
        <p:spPr>
          <a:xfrm>
            <a:off x="7498080" y="4315968"/>
            <a:ext cx="3566160" cy="1005840"/>
          </a:xfrm>
          <a:prstGeom prst="roundRect">
            <a:avLst/>
          </a:prstGeom>
          <a:solidFill>
            <a:srgbClr val="FFFFFF"/>
          </a:solidFill>
          <a:ln w="12700">
            <a:solidFill>
              <a:srgbClr val="F79646"/>
            </a:solidFill>
            <a:prstDash val="solid"/>
          </a:ln>
        </p:spPr>
      </p:sp>
      <p:sp>
        <p:nvSpPr>
          <p:cNvPr id="20" name="Shape 17"/>
          <p:cNvSpPr/>
          <p:nvPr/>
        </p:nvSpPr>
        <p:spPr>
          <a:xfrm>
            <a:off x="7498080" y="4315968"/>
            <a:ext cx="100584" cy="1005840"/>
          </a:xfrm>
          <a:prstGeom prst="rect">
            <a:avLst/>
          </a:prstGeom>
          <a:solidFill>
            <a:srgbClr val="F79646"/>
          </a:solidFill>
          <a:ln w="12700">
            <a:solidFill>
              <a:srgbClr val="F79646"/>
            </a:solidFill>
            <a:prstDash val="solid"/>
          </a:ln>
        </p:spPr>
      </p:sp>
      <p:sp>
        <p:nvSpPr>
          <p:cNvPr id="21" name="Text 18"/>
          <p:cNvSpPr txBox="1"/>
          <p:nvPr/>
        </p:nvSpPr>
        <p:spPr>
          <a:xfrm>
            <a:off x="7735824" y="4425696"/>
            <a:ext cx="321868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Instructor cue</a:t>
            </a:r>
            <a:endParaRPr lang="en-US" sz="1400" dirty="0"/>
          </a:p>
        </p:txBody>
      </p:sp>
      <p:sp>
        <p:nvSpPr>
          <p:cNvPr id="22" name="Text 19"/>
          <p:cNvSpPr txBox="1"/>
          <p:nvPr/>
        </p:nvSpPr>
        <p:spPr>
          <a:xfrm>
            <a:off x="7735824" y="4727448"/>
            <a:ext cx="3218688" cy="50292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Keep asking: “What would the system check?”</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ZERO TRUST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Five pillars, one access decision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 the pillars to organize the rest of the lecture.</a:t>
            </a:r>
            <a:endParaRPr lang="en-US" sz="1250" dirty="0"/>
          </a:p>
        </p:txBody>
      </p:sp>
      <p:sp>
        <p:nvSpPr>
          <p:cNvPr id="6" name="Shape 3"/>
          <p:cNvSpPr/>
          <p:nvPr/>
        </p:nvSpPr>
        <p:spPr>
          <a:xfrm>
            <a:off x="594360" y="2011680"/>
            <a:ext cx="2057400" cy="2057400"/>
          </a:xfrm>
          <a:prstGeom prst="roundRect">
            <a:avLst/>
          </a:prstGeom>
          <a:solidFill>
            <a:srgbClr val="FFFFFF"/>
          </a:solidFill>
          <a:ln w="12700">
            <a:solidFill>
              <a:srgbClr val="4BACC6"/>
            </a:solidFill>
            <a:prstDash val="solid"/>
          </a:ln>
        </p:spPr>
      </p:sp>
      <p:sp>
        <p:nvSpPr>
          <p:cNvPr id="7" name="Shape 4"/>
          <p:cNvSpPr/>
          <p:nvPr/>
        </p:nvSpPr>
        <p:spPr>
          <a:xfrm>
            <a:off x="594360" y="2011680"/>
            <a:ext cx="2057400" cy="393192"/>
          </a:xfrm>
          <a:prstGeom prst="roundRect">
            <a:avLst/>
          </a:prstGeom>
          <a:solidFill>
            <a:srgbClr val="4BACC6"/>
          </a:solidFill>
          <a:ln w="12700">
            <a:solidFill>
              <a:srgbClr val="4BACC6"/>
            </a:solidFill>
            <a:prstDash val="solid"/>
          </a:ln>
        </p:spPr>
      </p:sp>
      <p:sp>
        <p:nvSpPr>
          <p:cNvPr id="8" name="Text 5"/>
          <p:cNvSpPr txBox="1"/>
          <p:nvPr/>
        </p:nvSpPr>
        <p:spPr>
          <a:xfrm>
            <a:off x="685800"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9" name="Text 6"/>
          <p:cNvSpPr txBox="1"/>
          <p:nvPr/>
        </p:nvSpPr>
        <p:spPr>
          <a:xfrm>
            <a:off x="758952"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user, service, MFA</a:t>
            </a:r>
            <a:endParaRPr lang="en-US" sz="1500" dirty="0"/>
          </a:p>
        </p:txBody>
      </p:sp>
      <p:sp>
        <p:nvSpPr>
          <p:cNvPr id="10" name="Shape 7"/>
          <p:cNvSpPr/>
          <p:nvPr/>
        </p:nvSpPr>
        <p:spPr>
          <a:xfrm>
            <a:off x="2898648" y="2011680"/>
            <a:ext cx="2057400" cy="2057400"/>
          </a:xfrm>
          <a:prstGeom prst="roundRect">
            <a:avLst/>
          </a:prstGeom>
          <a:solidFill>
            <a:srgbClr val="FFFFFF"/>
          </a:solidFill>
          <a:ln w="12700">
            <a:solidFill>
              <a:srgbClr val="4F81BD"/>
            </a:solidFill>
            <a:prstDash val="solid"/>
          </a:ln>
        </p:spPr>
      </p:sp>
      <p:sp>
        <p:nvSpPr>
          <p:cNvPr id="11" name="Shape 8"/>
          <p:cNvSpPr/>
          <p:nvPr/>
        </p:nvSpPr>
        <p:spPr>
          <a:xfrm>
            <a:off x="2898648" y="2011680"/>
            <a:ext cx="2057400" cy="393192"/>
          </a:xfrm>
          <a:prstGeom prst="roundRect">
            <a:avLst/>
          </a:prstGeom>
          <a:solidFill>
            <a:srgbClr val="4F81BD"/>
          </a:solidFill>
          <a:ln w="12700">
            <a:solidFill>
              <a:srgbClr val="4F81BD"/>
            </a:solidFill>
            <a:prstDash val="solid"/>
          </a:ln>
        </p:spPr>
      </p:sp>
      <p:sp>
        <p:nvSpPr>
          <p:cNvPr id="12" name="Text 9"/>
          <p:cNvSpPr txBox="1"/>
          <p:nvPr/>
        </p:nvSpPr>
        <p:spPr>
          <a:xfrm>
            <a:off x="2990088"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DEVICE</a:t>
            </a:r>
            <a:endParaRPr lang="en-US" sz="1100" dirty="0"/>
          </a:p>
        </p:txBody>
      </p:sp>
      <p:sp>
        <p:nvSpPr>
          <p:cNvPr id="13" name="Text 10"/>
          <p:cNvSpPr txBox="1"/>
          <p:nvPr/>
        </p:nvSpPr>
        <p:spPr>
          <a:xfrm>
            <a:off x="3063240"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endpoint posture, keys</a:t>
            </a:r>
            <a:endParaRPr lang="en-US" sz="1500" dirty="0"/>
          </a:p>
        </p:txBody>
      </p:sp>
      <p:sp>
        <p:nvSpPr>
          <p:cNvPr id="14" name="Shape 11"/>
          <p:cNvSpPr/>
          <p:nvPr/>
        </p:nvSpPr>
        <p:spPr>
          <a:xfrm>
            <a:off x="5202936" y="2011680"/>
            <a:ext cx="2057400" cy="2057400"/>
          </a:xfrm>
          <a:prstGeom prst="roundRect">
            <a:avLst/>
          </a:prstGeom>
          <a:solidFill>
            <a:srgbClr val="FFFFFF"/>
          </a:solidFill>
          <a:ln w="12700">
            <a:solidFill>
              <a:srgbClr val="F79646"/>
            </a:solidFill>
            <a:prstDash val="solid"/>
          </a:ln>
        </p:spPr>
      </p:sp>
      <p:sp>
        <p:nvSpPr>
          <p:cNvPr id="15" name="Shape 12"/>
          <p:cNvSpPr/>
          <p:nvPr/>
        </p:nvSpPr>
        <p:spPr>
          <a:xfrm>
            <a:off x="5202936" y="2011680"/>
            <a:ext cx="2057400" cy="393192"/>
          </a:xfrm>
          <a:prstGeom prst="roundRect">
            <a:avLst/>
          </a:prstGeom>
          <a:solidFill>
            <a:srgbClr val="F79646"/>
          </a:solidFill>
          <a:ln w="12700">
            <a:solidFill>
              <a:srgbClr val="F79646"/>
            </a:solidFill>
            <a:prstDash val="solid"/>
          </a:ln>
        </p:spPr>
      </p:sp>
      <p:sp>
        <p:nvSpPr>
          <p:cNvPr id="16" name="Text 13"/>
          <p:cNvSpPr txBox="1"/>
          <p:nvPr/>
        </p:nvSpPr>
        <p:spPr>
          <a:xfrm>
            <a:off x="5294376"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NETWORK</a:t>
            </a:r>
            <a:endParaRPr lang="en-US" sz="1100" dirty="0"/>
          </a:p>
        </p:txBody>
      </p:sp>
      <p:sp>
        <p:nvSpPr>
          <p:cNvPr id="17" name="Text 14"/>
          <p:cNvSpPr txBox="1"/>
          <p:nvPr/>
        </p:nvSpPr>
        <p:spPr>
          <a:xfrm>
            <a:off x="5367528"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segmentation, access paths</a:t>
            </a:r>
            <a:endParaRPr lang="en-US" sz="1500" dirty="0"/>
          </a:p>
        </p:txBody>
      </p:sp>
      <p:sp>
        <p:nvSpPr>
          <p:cNvPr id="18" name="Shape 15"/>
          <p:cNvSpPr/>
          <p:nvPr/>
        </p:nvSpPr>
        <p:spPr>
          <a:xfrm>
            <a:off x="7507224" y="2011680"/>
            <a:ext cx="2057400" cy="2057400"/>
          </a:xfrm>
          <a:prstGeom prst="roundRect">
            <a:avLst/>
          </a:prstGeom>
          <a:solidFill>
            <a:srgbClr val="FFFFFF"/>
          </a:solidFill>
          <a:ln w="12700">
            <a:solidFill>
              <a:srgbClr val="8064A2"/>
            </a:solidFill>
            <a:prstDash val="solid"/>
          </a:ln>
        </p:spPr>
      </p:sp>
      <p:sp>
        <p:nvSpPr>
          <p:cNvPr id="19" name="Shape 16"/>
          <p:cNvSpPr/>
          <p:nvPr/>
        </p:nvSpPr>
        <p:spPr>
          <a:xfrm>
            <a:off x="7507224" y="2011680"/>
            <a:ext cx="2057400" cy="393192"/>
          </a:xfrm>
          <a:prstGeom prst="roundRect">
            <a:avLst/>
          </a:prstGeom>
          <a:solidFill>
            <a:srgbClr val="8064A2"/>
          </a:solidFill>
          <a:ln w="12700">
            <a:solidFill>
              <a:srgbClr val="8064A2"/>
            </a:solidFill>
            <a:prstDash val="solid"/>
          </a:ln>
        </p:spPr>
      </p:sp>
      <p:sp>
        <p:nvSpPr>
          <p:cNvPr id="20" name="Text 17"/>
          <p:cNvSpPr txBox="1"/>
          <p:nvPr/>
        </p:nvSpPr>
        <p:spPr>
          <a:xfrm>
            <a:off x="7598664"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21" name="Text 18"/>
          <p:cNvSpPr txBox="1"/>
          <p:nvPr/>
        </p:nvSpPr>
        <p:spPr>
          <a:xfrm>
            <a:off x="7671816"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PAM, sudo, controls</a:t>
            </a:r>
            <a:endParaRPr lang="en-US" sz="1500" dirty="0"/>
          </a:p>
        </p:txBody>
      </p:sp>
      <p:sp>
        <p:nvSpPr>
          <p:cNvPr id="22" name="Shape 19"/>
          <p:cNvSpPr/>
          <p:nvPr/>
        </p:nvSpPr>
        <p:spPr>
          <a:xfrm>
            <a:off x="9811512" y="2011680"/>
            <a:ext cx="2057400" cy="2057400"/>
          </a:xfrm>
          <a:prstGeom prst="roundRect">
            <a:avLst/>
          </a:prstGeom>
          <a:solidFill>
            <a:srgbClr val="FFFFFF"/>
          </a:solidFill>
          <a:ln w="12700">
            <a:solidFill>
              <a:srgbClr val="70AD47"/>
            </a:solidFill>
            <a:prstDash val="solid"/>
          </a:ln>
        </p:spPr>
      </p:sp>
      <p:sp>
        <p:nvSpPr>
          <p:cNvPr id="23" name="Shape 20"/>
          <p:cNvSpPr/>
          <p:nvPr/>
        </p:nvSpPr>
        <p:spPr>
          <a:xfrm>
            <a:off x="9811512" y="2011680"/>
            <a:ext cx="2057400" cy="393192"/>
          </a:xfrm>
          <a:prstGeom prst="roundRect">
            <a:avLst/>
          </a:prstGeom>
          <a:solidFill>
            <a:srgbClr val="70AD47"/>
          </a:solidFill>
          <a:ln w="12700">
            <a:solidFill>
              <a:srgbClr val="70AD47"/>
            </a:solidFill>
            <a:prstDash val="solid"/>
          </a:ln>
        </p:spPr>
      </p:sp>
      <p:sp>
        <p:nvSpPr>
          <p:cNvPr id="24" name="Text 21"/>
          <p:cNvSpPr txBox="1"/>
          <p:nvPr/>
        </p:nvSpPr>
        <p:spPr>
          <a:xfrm>
            <a:off x="9902952"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DATA</a:t>
            </a:r>
            <a:endParaRPr lang="en-US" sz="1100" dirty="0"/>
          </a:p>
        </p:txBody>
      </p:sp>
      <p:sp>
        <p:nvSpPr>
          <p:cNvPr id="25" name="Text 22"/>
          <p:cNvSpPr txBox="1"/>
          <p:nvPr/>
        </p:nvSpPr>
        <p:spPr>
          <a:xfrm>
            <a:off x="9976104"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classification, logging</a:t>
            </a:r>
            <a:endParaRPr lang="en-US" sz="1500" dirty="0"/>
          </a:p>
        </p:txBody>
      </p:sp>
      <p:sp>
        <p:nvSpPr>
          <p:cNvPr id="26" name="Shape 23"/>
          <p:cNvSpPr/>
          <p:nvPr/>
        </p:nvSpPr>
        <p:spPr>
          <a:xfrm>
            <a:off x="1097280" y="4754880"/>
            <a:ext cx="9875520" cy="0"/>
          </a:xfrm>
          <a:prstGeom prst="line">
            <a:avLst/>
          </a:prstGeom>
          <a:noFill/>
          <a:ln w="25400">
            <a:solidFill>
              <a:srgbClr val="94A3B8"/>
            </a:solidFill>
            <a:prstDash val="solid"/>
            <a:headEnd type="none"/>
            <a:tailEnd type="triangle"/>
          </a:ln>
        </p:spPr>
      </p:sp>
      <p:sp>
        <p:nvSpPr>
          <p:cNvPr id="27" name="Text 24"/>
          <p:cNvSpPr txBox="1"/>
          <p:nvPr/>
        </p:nvSpPr>
        <p:spPr>
          <a:xfrm>
            <a:off x="1143000" y="5010912"/>
            <a:ext cx="9875520" cy="274320"/>
          </a:xfrm>
          <a:prstGeom prst="rect">
            <a:avLst/>
          </a:prstGeom>
          <a:noFill/>
          <a:ln/>
        </p:spPr>
        <p:txBody>
          <a:bodyPr wrap="square" lIns="508" tIns="508" rIns="508" bIns="508" rtlCol="0" anchor="ctr">
            <a:normAutofit/>
          </a:bodyPr>
          <a:lstStyle/>
          <a:p>
            <a:pPr algn="ctr" indent="0" marL="0">
              <a:buNone/>
            </a:pPr>
            <a:r>
              <a:rPr lang="en-US" sz="1800" b="1" dirty="0">
                <a:solidFill>
                  <a:srgbClr val="1F497D"/>
                </a:solidFill>
                <a:latin typeface="Calibri" pitchFamily="34" charset="0"/>
                <a:ea typeface="Calibri" pitchFamily="34" charset="-122"/>
                <a:cs typeface="Calibri" pitchFamily="34" charset="-120"/>
              </a:rPr>
              <a:t>Policy evaluates the request before access, during the session, and after the event.</a:t>
            </a:r>
            <a:endParaRPr lang="en-US" sz="18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IDENTITY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Authentication is not authorization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Proof of control answers one question. Permission answers another.</a:t>
            </a:r>
            <a:endParaRPr lang="en-US" sz="1250" dirty="0"/>
          </a:p>
        </p:txBody>
      </p:sp>
      <p:sp>
        <p:nvSpPr>
          <p:cNvPr id="6" name="Shape 3"/>
          <p:cNvSpPr/>
          <p:nvPr/>
        </p:nvSpPr>
        <p:spPr>
          <a:xfrm>
            <a:off x="822960" y="1965960"/>
            <a:ext cx="3108960" cy="1965960"/>
          </a:xfrm>
          <a:prstGeom prst="roundRect">
            <a:avLst/>
          </a:prstGeom>
          <a:solidFill>
            <a:srgbClr val="FFFFFF"/>
          </a:solidFill>
          <a:ln w="12700">
            <a:solidFill>
              <a:srgbClr val="CBD5E1"/>
            </a:solidFill>
            <a:prstDash val="solid"/>
          </a:ln>
        </p:spPr>
      </p:sp>
      <p:sp>
        <p:nvSpPr>
          <p:cNvPr id="7" name="Shape 4"/>
          <p:cNvSpPr/>
          <p:nvPr/>
        </p:nvSpPr>
        <p:spPr>
          <a:xfrm>
            <a:off x="822960" y="1965960"/>
            <a:ext cx="3108960" cy="292608"/>
          </a:xfrm>
          <a:prstGeom prst="roundRect">
            <a:avLst/>
          </a:prstGeom>
          <a:solidFill>
            <a:srgbClr val="4BACC6"/>
          </a:solidFill>
          <a:ln w="12700">
            <a:solidFill>
              <a:srgbClr val="4BACC6"/>
            </a:solidFill>
            <a:prstDash val="solid"/>
          </a:ln>
        </p:spPr>
      </p:sp>
      <p:sp>
        <p:nvSpPr>
          <p:cNvPr id="8" name="Text 5"/>
          <p:cNvSpPr txBox="1"/>
          <p:nvPr/>
        </p:nvSpPr>
        <p:spPr>
          <a:xfrm>
            <a:off x="932688" y="2002536"/>
            <a:ext cx="28895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AUTHENTICATION</a:t>
            </a:r>
            <a:endParaRPr lang="en-US" sz="1100" dirty="0"/>
          </a:p>
        </p:txBody>
      </p:sp>
      <p:sp>
        <p:nvSpPr>
          <p:cNvPr id="9" name="Text 6"/>
          <p:cNvSpPr txBox="1"/>
          <p:nvPr/>
        </p:nvSpPr>
        <p:spPr>
          <a:xfrm>
            <a:off x="932688" y="2377440"/>
            <a:ext cx="2889504" cy="14630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 are you?</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What authenticator do you control?</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Example: password + TOTP</a:t>
            </a:r>
            <a:endParaRPr lang="en-US" sz="1300" dirty="0"/>
          </a:p>
        </p:txBody>
      </p:sp>
      <p:sp>
        <p:nvSpPr>
          <p:cNvPr id="10" name="Shape 7"/>
          <p:cNvSpPr/>
          <p:nvPr/>
        </p:nvSpPr>
        <p:spPr>
          <a:xfrm>
            <a:off x="4526280" y="1965960"/>
            <a:ext cx="3108960" cy="1965960"/>
          </a:xfrm>
          <a:prstGeom prst="roundRect">
            <a:avLst/>
          </a:prstGeom>
          <a:solidFill>
            <a:srgbClr val="FFFFFF"/>
          </a:solidFill>
          <a:ln w="12700">
            <a:solidFill>
              <a:srgbClr val="CBD5E1"/>
            </a:solidFill>
            <a:prstDash val="solid"/>
          </a:ln>
        </p:spPr>
      </p:sp>
      <p:sp>
        <p:nvSpPr>
          <p:cNvPr id="11" name="Shape 8"/>
          <p:cNvSpPr/>
          <p:nvPr/>
        </p:nvSpPr>
        <p:spPr>
          <a:xfrm>
            <a:off x="4526280" y="1965960"/>
            <a:ext cx="3108960" cy="292608"/>
          </a:xfrm>
          <a:prstGeom prst="roundRect">
            <a:avLst/>
          </a:prstGeom>
          <a:solidFill>
            <a:srgbClr val="F79646"/>
          </a:solidFill>
          <a:ln w="12700">
            <a:solidFill>
              <a:srgbClr val="F79646"/>
            </a:solidFill>
            <a:prstDash val="solid"/>
          </a:ln>
        </p:spPr>
      </p:sp>
      <p:sp>
        <p:nvSpPr>
          <p:cNvPr id="12" name="Text 9"/>
          <p:cNvSpPr txBox="1"/>
          <p:nvPr/>
        </p:nvSpPr>
        <p:spPr>
          <a:xfrm>
            <a:off x="4636008" y="2002536"/>
            <a:ext cx="28895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13" name="Text 10"/>
          <p:cNvSpPr txBox="1"/>
          <p:nvPr/>
        </p:nvSpPr>
        <p:spPr>
          <a:xfrm>
            <a:off x="4636008" y="2377440"/>
            <a:ext cx="2889504" cy="14630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may you do?</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On which resource?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Example: restart one service</a:t>
            </a:r>
            <a:endParaRPr lang="en-US" sz="1300" dirty="0"/>
          </a:p>
        </p:txBody>
      </p:sp>
      <p:sp>
        <p:nvSpPr>
          <p:cNvPr id="14" name="Shape 11"/>
          <p:cNvSpPr/>
          <p:nvPr/>
        </p:nvSpPr>
        <p:spPr>
          <a:xfrm>
            <a:off x="8229600" y="1965960"/>
            <a:ext cx="3108960" cy="1965960"/>
          </a:xfrm>
          <a:prstGeom prst="roundRect">
            <a:avLst/>
          </a:prstGeom>
          <a:solidFill>
            <a:srgbClr val="FFFFFF"/>
          </a:solidFill>
          <a:ln w="12700">
            <a:solidFill>
              <a:srgbClr val="CBD5E1"/>
            </a:solidFill>
            <a:prstDash val="solid"/>
          </a:ln>
        </p:spPr>
      </p:sp>
      <p:sp>
        <p:nvSpPr>
          <p:cNvPr id="15" name="Shape 12"/>
          <p:cNvSpPr/>
          <p:nvPr/>
        </p:nvSpPr>
        <p:spPr>
          <a:xfrm>
            <a:off x="8229600" y="1965960"/>
            <a:ext cx="3108960" cy="292608"/>
          </a:xfrm>
          <a:prstGeom prst="roundRect">
            <a:avLst/>
          </a:prstGeom>
          <a:solidFill>
            <a:srgbClr val="8064A2"/>
          </a:solidFill>
          <a:ln w="12700">
            <a:solidFill>
              <a:srgbClr val="8064A2"/>
            </a:solidFill>
            <a:prstDash val="solid"/>
          </a:ln>
        </p:spPr>
      </p:sp>
      <p:sp>
        <p:nvSpPr>
          <p:cNvPr id="16" name="Text 13"/>
          <p:cNvSpPr txBox="1"/>
          <p:nvPr/>
        </p:nvSpPr>
        <p:spPr>
          <a:xfrm>
            <a:off x="8339328" y="2002536"/>
            <a:ext cx="28895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ACCOUNTABILITY</a:t>
            </a:r>
            <a:endParaRPr lang="en-US" sz="1100" dirty="0"/>
          </a:p>
        </p:txBody>
      </p:sp>
      <p:sp>
        <p:nvSpPr>
          <p:cNvPr id="17" name="Text 14"/>
          <p:cNvSpPr txBox="1"/>
          <p:nvPr/>
        </p:nvSpPr>
        <p:spPr>
          <a:xfrm>
            <a:off x="8339328" y="2377440"/>
            <a:ext cx="2889504" cy="14630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happened?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Can we reconstruct it?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Example: recorded sudo event</a:t>
            </a:r>
            <a:endParaRPr lang="en-US" sz="1300" dirty="0"/>
          </a:p>
        </p:txBody>
      </p:sp>
      <p:sp>
        <p:nvSpPr>
          <p:cNvPr id="18" name="Shape 15"/>
          <p:cNvSpPr/>
          <p:nvPr/>
        </p:nvSpPr>
        <p:spPr>
          <a:xfrm>
            <a:off x="4041648" y="2944368"/>
            <a:ext cx="365760" cy="0"/>
          </a:xfrm>
          <a:prstGeom prst="line">
            <a:avLst/>
          </a:prstGeom>
          <a:noFill/>
          <a:ln w="25400">
            <a:solidFill>
              <a:srgbClr val="94A3B8"/>
            </a:solidFill>
            <a:prstDash val="solid"/>
            <a:headEnd type="none"/>
            <a:tailEnd type="triangle"/>
          </a:ln>
        </p:spPr>
      </p:sp>
      <p:sp>
        <p:nvSpPr>
          <p:cNvPr id="19" name="Shape 16"/>
          <p:cNvSpPr/>
          <p:nvPr/>
        </p:nvSpPr>
        <p:spPr>
          <a:xfrm>
            <a:off x="7744968" y="2944368"/>
            <a:ext cx="365760" cy="0"/>
          </a:xfrm>
          <a:prstGeom prst="line">
            <a:avLst/>
          </a:prstGeom>
          <a:noFill/>
          <a:ln w="25400">
            <a:solidFill>
              <a:srgbClr val="94A3B8"/>
            </a:solidFill>
            <a:prstDash val="solid"/>
            <a:headEnd type="none"/>
            <a:tailEnd type="triangle"/>
          </a:ln>
        </p:spPr>
      </p:sp>
      <p:sp>
        <p:nvSpPr>
          <p:cNvPr id="20" name="Shape 17"/>
          <p:cNvSpPr/>
          <p:nvPr/>
        </p:nvSpPr>
        <p:spPr>
          <a:xfrm>
            <a:off x="1097280" y="4663440"/>
            <a:ext cx="10012680" cy="713232"/>
          </a:xfrm>
          <a:prstGeom prst="roundRect">
            <a:avLst/>
          </a:prstGeom>
          <a:solidFill>
            <a:srgbClr val="FFFFFF"/>
          </a:solidFill>
          <a:ln w="12700">
            <a:solidFill>
              <a:srgbClr val="C0504D"/>
            </a:solidFill>
            <a:prstDash val="solid"/>
          </a:ln>
        </p:spPr>
      </p:sp>
      <p:sp>
        <p:nvSpPr>
          <p:cNvPr id="21" name="Shape 18"/>
          <p:cNvSpPr/>
          <p:nvPr/>
        </p:nvSpPr>
        <p:spPr>
          <a:xfrm>
            <a:off x="1097280" y="4663440"/>
            <a:ext cx="100584" cy="713232"/>
          </a:xfrm>
          <a:prstGeom prst="rect">
            <a:avLst/>
          </a:prstGeom>
          <a:solidFill>
            <a:srgbClr val="C0504D"/>
          </a:solidFill>
          <a:ln w="12700">
            <a:solidFill>
              <a:srgbClr val="C0504D"/>
            </a:solidFill>
            <a:prstDash val="solid"/>
          </a:ln>
        </p:spPr>
      </p:sp>
      <p:sp>
        <p:nvSpPr>
          <p:cNvPr id="22" name="Text 19"/>
          <p:cNvSpPr txBox="1"/>
          <p:nvPr/>
        </p:nvSpPr>
        <p:spPr>
          <a:xfrm>
            <a:off x="1335024" y="4773168"/>
            <a:ext cx="966520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Failure mode</a:t>
            </a:r>
            <a:endParaRPr lang="en-US" sz="1400" dirty="0"/>
          </a:p>
        </p:txBody>
      </p:sp>
      <p:sp>
        <p:nvSpPr>
          <p:cNvPr id="23" name="Text 20"/>
          <p:cNvSpPr txBox="1"/>
          <p:nvPr/>
        </p:nvSpPr>
        <p:spPr>
          <a:xfrm>
            <a:off x="1335024" y="5074920"/>
            <a:ext cx="966520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valid credential can still be used for an unauthorized action.</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PAM</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PAM is a decision pipeline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Pluggable Authentication Modules let the service compose authentication rules.</a:t>
            </a:r>
            <a:endParaRPr lang="en-US" sz="1250" dirty="0"/>
          </a:p>
        </p:txBody>
      </p:sp>
      <p:sp>
        <p:nvSpPr>
          <p:cNvPr id="6" name="Shape 3"/>
          <p:cNvSpPr/>
          <p:nvPr/>
        </p:nvSpPr>
        <p:spPr>
          <a:xfrm>
            <a:off x="594360" y="2057400"/>
            <a:ext cx="2057400" cy="1828800"/>
          </a:xfrm>
          <a:prstGeom prst="roundRect">
            <a:avLst/>
          </a:prstGeom>
          <a:solidFill>
            <a:srgbClr val="FFFFFF"/>
          </a:solidFill>
          <a:ln w="12700">
            <a:solidFill>
              <a:srgbClr val="CBD5E1"/>
            </a:solidFill>
            <a:prstDash val="solid"/>
          </a:ln>
        </p:spPr>
      </p:sp>
      <p:sp>
        <p:nvSpPr>
          <p:cNvPr id="7" name="Shape 4"/>
          <p:cNvSpPr/>
          <p:nvPr/>
        </p:nvSpPr>
        <p:spPr>
          <a:xfrm>
            <a:off x="594360" y="205740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a:t>
            </a:r>
            <a:endParaRPr lang="en-US" sz="1100" dirty="0"/>
          </a:p>
        </p:txBody>
      </p:sp>
      <p:sp>
        <p:nvSpPr>
          <p:cNvPr id="9" name="Text 6"/>
          <p:cNvSpPr txBox="1"/>
          <p:nvPr/>
        </p:nvSpPr>
        <p:spPr>
          <a:xfrm>
            <a:off x="704088"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prove identity</a:t>
            </a:r>
            <a:endParaRPr lang="en-US" sz="1300" dirty="0"/>
          </a:p>
        </p:txBody>
      </p:sp>
      <p:sp>
        <p:nvSpPr>
          <p:cNvPr id="10" name="Shape 7"/>
          <p:cNvSpPr/>
          <p:nvPr/>
        </p:nvSpPr>
        <p:spPr>
          <a:xfrm>
            <a:off x="2770632" y="2953512"/>
            <a:ext cx="91440" cy="0"/>
          </a:xfrm>
          <a:prstGeom prst="line">
            <a:avLst/>
          </a:prstGeom>
          <a:noFill/>
          <a:ln w="25400">
            <a:solidFill>
              <a:srgbClr val="94A3B8"/>
            </a:solidFill>
            <a:prstDash val="solid"/>
            <a:headEnd type="none"/>
            <a:tailEnd type="triangle"/>
          </a:ln>
        </p:spPr>
      </p:sp>
      <p:sp>
        <p:nvSpPr>
          <p:cNvPr id="11" name="Shape 8"/>
          <p:cNvSpPr/>
          <p:nvPr/>
        </p:nvSpPr>
        <p:spPr>
          <a:xfrm>
            <a:off x="2898648" y="2057400"/>
            <a:ext cx="2057400" cy="1828800"/>
          </a:xfrm>
          <a:prstGeom prst="roundRect">
            <a:avLst/>
          </a:prstGeom>
          <a:solidFill>
            <a:srgbClr val="FFFFFF"/>
          </a:solidFill>
          <a:ln w="12700">
            <a:solidFill>
              <a:srgbClr val="CBD5E1"/>
            </a:solidFill>
            <a:prstDash val="solid"/>
          </a:ln>
        </p:spPr>
      </p:sp>
      <p:sp>
        <p:nvSpPr>
          <p:cNvPr id="12" name="Shape 9"/>
          <p:cNvSpPr/>
          <p:nvPr/>
        </p:nvSpPr>
        <p:spPr>
          <a:xfrm>
            <a:off x="2898648" y="2057400"/>
            <a:ext cx="2057400" cy="292608"/>
          </a:xfrm>
          <a:prstGeom prst="roundRect">
            <a:avLst/>
          </a:prstGeom>
          <a:solidFill>
            <a:srgbClr val="4F81BD"/>
          </a:solidFill>
          <a:ln w="12700">
            <a:solidFill>
              <a:srgbClr val="4F81BD"/>
            </a:solidFill>
            <a:prstDash val="solid"/>
          </a:ln>
        </p:spPr>
      </p:sp>
      <p:sp>
        <p:nvSpPr>
          <p:cNvPr id="13" name="Text 10"/>
          <p:cNvSpPr txBox="1"/>
          <p:nvPr/>
        </p:nvSpPr>
        <p:spPr>
          <a:xfrm>
            <a:off x="3008376"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ACCOUNT</a:t>
            </a:r>
            <a:endParaRPr lang="en-US" sz="1100" dirty="0"/>
          </a:p>
        </p:txBody>
      </p:sp>
      <p:sp>
        <p:nvSpPr>
          <p:cNvPr id="14" name="Text 11"/>
          <p:cNvSpPr txBox="1"/>
          <p:nvPr/>
        </p:nvSpPr>
        <p:spPr>
          <a:xfrm>
            <a:off x="3008376"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is account allowed?</a:t>
            </a:r>
            <a:endParaRPr lang="en-US" sz="1300" dirty="0"/>
          </a:p>
        </p:txBody>
      </p:sp>
      <p:sp>
        <p:nvSpPr>
          <p:cNvPr id="15" name="Shape 12"/>
          <p:cNvSpPr/>
          <p:nvPr/>
        </p:nvSpPr>
        <p:spPr>
          <a:xfrm>
            <a:off x="5074920" y="2953512"/>
            <a:ext cx="91440" cy="0"/>
          </a:xfrm>
          <a:prstGeom prst="line">
            <a:avLst/>
          </a:prstGeom>
          <a:noFill/>
          <a:ln w="25400">
            <a:solidFill>
              <a:srgbClr val="94A3B8"/>
            </a:solidFill>
            <a:prstDash val="solid"/>
            <a:headEnd type="none"/>
            <a:tailEnd type="triangle"/>
          </a:ln>
        </p:spPr>
      </p:sp>
      <p:sp>
        <p:nvSpPr>
          <p:cNvPr id="16" name="Shape 13"/>
          <p:cNvSpPr/>
          <p:nvPr/>
        </p:nvSpPr>
        <p:spPr>
          <a:xfrm>
            <a:off x="5202936" y="2057400"/>
            <a:ext cx="2057400" cy="1828800"/>
          </a:xfrm>
          <a:prstGeom prst="roundRect">
            <a:avLst/>
          </a:prstGeom>
          <a:solidFill>
            <a:srgbClr val="FFFFFF"/>
          </a:solidFill>
          <a:ln w="12700">
            <a:solidFill>
              <a:srgbClr val="CBD5E1"/>
            </a:solidFill>
            <a:prstDash val="solid"/>
          </a:ln>
        </p:spPr>
      </p:sp>
      <p:sp>
        <p:nvSpPr>
          <p:cNvPr id="17" name="Shape 14"/>
          <p:cNvSpPr/>
          <p:nvPr/>
        </p:nvSpPr>
        <p:spPr>
          <a:xfrm>
            <a:off x="5202936" y="2057400"/>
            <a:ext cx="2057400" cy="292608"/>
          </a:xfrm>
          <a:prstGeom prst="roundRect">
            <a:avLst/>
          </a:prstGeom>
          <a:solidFill>
            <a:srgbClr val="F79646"/>
          </a:solidFill>
          <a:ln w="12700">
            <a:solidFill>
              <a:srgbClr val="F79646"/>
            </a:solidFill>
            <a:prstDash val="solid"/>
          </a:ln>
        </p:spPr>
      </p:sp>
      <p:sp>
        <p:nvSpPr>
          <p:cNvPr id="18" name="Text 15"/>
          <p:cNvSpPr txBox="1"/>
          <p:nvPr/>
        </p:nvSpPr>
        <p:spPr>
          <a:xfrm>
            <a:off x="5312664"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PASSWORD</a:t>
            </a:r>
            <a:endParaRPr lang="en-US" sz="1100" dirty="0"/>
          </a:p>
        </p:txBody>
      </p:sp>
      <p:sp>
        <p:nvSpPr>
          <p:cNvPr id="19" name="Text 16"/>
          <p:cNvSpPr txBox="1"/>
          <p:nvPr/>
        </p:nvSpPr>
        <p:spPr>
          <a:xfrm>
            <a:off x="5312664"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is secret current?</a:t>
            </a:r>
            <a:endParaRPr lang="en-US" sz="1300" dirty="0"/>
          </a:p>
        </p:txBody>
      </p:sp>
      <p:sp>
        <p:nvSpPr>
          <p:cNvPr id="20" name="Shape 17"/>
          <p:cNvSpPr/>
          <p:nvPr/>
        </p:nvSpPr>
        <p:spPr>
          <a:xfrm>
            <a:off x="7379208" y="2953512"/>
            <a:ext cx="91440" cy="0"/>
          </a:xfrm>
          <a:prstGeom prst="line">
            <a:avLst/>
          </a:prstGeom>
          <a:noFill/>
          <a:ln w="25400">
            <a:solidFill>
              <a:srgbClr val="94A3B8"/>
            </a:solidFill>
            <a:prstDash val="solid"/>
            <a:headEnd type="none"/>
            <a:tailEnd type="triangle"/>
          </a:ln>
        </p:spPr>
      </p:sp>
      <p:sp>
        <p:nvSpPr>
          <p:cNvPr id="21" name="Shape 18"/>
          <p:cNvSpPr/>
          <p:nvPr/>
        </p:nvSpPr>
        <p:spPr>
          <a:xfrm>
            <a:off x="7507224" y="2057400"/>
            <a:ext cx="2057400" cy="1828800"/>
          </a:xfrm>
          <a:prstGeom prst="roundRect">
            <a:avLst/>
          </a:prstGeom>
          <a:solidFill>
            <a:srgbClr val="FFFFFF"/>
          </a:solidFill>
          <a:ln w="12700">
            <a:solidFill>
              <a:srgbClr val="CBD5E1"/>
            </a:solidFill>
            <a:prstDash val="solid"/>
          </a:ln>
        </p:spPr>
      </p:sp>
      <p:sp>
        <p:nvSpPr>
          <p:cNvPr id="22" name="Shape 19"/>
          <p:cNvSpPr/>
          <p:nvPr/>
        </p:nvSpPr>
        <p:spPr>
          <a:xfrm>
            <a:off x="7507224" y="2057400"/>
            <a:ext cx="2057400" cy="292608"/>
          </a:xfrm>
          <a:prstGeom prst="roundRect">
            <a:avLst/>
          </a:prstGeom>
          <a:solidFill>
            <a:srgbClr val="8064A2"/>
          </a:solidFill>
          <a:ln w="12700">
            <a:solidFill>
              <a:srgbClr val="8064A2"/>
            </a:solidFill>
            <a:prstDash val="solid"/>
          </a:ln>
        </p:spPr>
      </p:sp>
      <p:sp>
        <p:nvSpPr>
          <p:cNvPr id="23" name="Text 20"/>
          <p:cNvSpPr txBox="1"/>
          <p:nvPr/>
        </p:nvSpPr>
        <p:spPr>
          <a:xfrm>
            <a:off x="7616952"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24" name="Text 21"/>
          <p:cNvSpPr txBox="1"/>
          <p:nvPr/>
        </p:nvSpPr>
        <p:spPr>
          <a:xfrm>
            <a:off x="7616952"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starts after auth?</a:t>
            </a:r>
            <a:endParaRPr lang="en-US" sz="1300" dirty="0"/>
          </a:p>
        </p:txBody>
      </p:sp>
      <p:sp>
        <p:nvSpPr>
          <p:cNvPr id="25" name="Shape 22"/>
          <p:cNvSpPr/>
          <p:nvPr/>
        </p:nvSpPr>
        <p:spPr>
          <a:xfrm>
            <a:off x="9683496" y="2953512"/>
            <a:ext cx="91440" cy="0"/>
          </a:xfrm>
          <a:prstGeom prst="line">
            <a:avLst/>
          </a:prstGeom>
          <a:noFill/>
          <a:ln w="25400">
            <a:solidFill>
              <a:srgbClr val="94A3B8"/>
            </a:solidFill>
            <a:prstDash val="solid"/>
            <a:headEnd type="none"/>
            <a:tailEnd type="triangle"/>
          </a:ln>
        </p:spPr>
      </p:sp>
      <p:sp>
        <p:nvSpPr>
          <p:cNvPr id="26" name="Shape 23"/>
          <p:cNvSpPr/>
          <p:nvPr/>
        </p:nvSpPr>
        <p:spPr>
          <a:xfrm>
            <a:off x="9811512" y="2057400"/>
            <a:ext cx="2057400" cy="1828800"/>
          </a:xfrm>
          <a:prstGeom prst="roundRect">
            <a:avLst/>
          </a:prstGeom>
          <a:solidFill>
            <a:srgbClr val="FFFFFF"/>
          </a:solidFill>
          <a:ln w="12700">
            <a:solidFill>
              <a:srgbClr val="CBD5E1"/>
            </a:solidFill>
            <a:prstDash val="solid"/>
          </a:ln>
        </p:spPr>
      </p:sp>
      <p:sp>
        <p:nvSpPr>
          <p:cNvPr id="27" name="Shape 24"/>
          <p:cNvSpPr/>
          <p:nvPr/>
        </p:nvSpPr>
        <p:spPr>
          <a:xfrm>
            <a:off x="9811512" y="2057400"/>
            <a:ext cx="2057400" cy="292608"/>
          </a:xfrm>
          <a:prstGeom prst="roundRect">
            <a:avLst/>
          </a:prstGeom>
          <a:solidFill>
            <a:srgbClr val="70AD47"/>
          </a:solidFill>
          <a:ln w="12700">
            <a:solidFill>
              <a:srgbClr val="70AD47"/>
            </a:solidFill>
            <a:prstDash val="solid"/>
          </a:ln>
        </p:spPr>
      </p:sp>
      <p:sp>
        <p:nvSpPr>
          <p:cNvPr id="28" name="Text 25"/>
          <p:cNvSpPr txBox="1"/>
          <p:nvPr/>
        </p:nvSpPr>
        <p:spPr>
          <a:xfrm>
            <a:off x="9921240"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AUDIT</a:t>
            </a:r>
            <a:endParaRPr lang="en-US" sz="1100" dirty="0"/>
          </a:p>
        </p:txBody>
      </p:sp>
      <p:sp>
        <p:nvSpPr>
          <p:cNvPr id="29" name="Text 26"/>
          <p:cNvSpPr txBox="1"/>
          <p:nvPr/>
        </p:nvSpPr>
        <p:spPr>
          <a:xfrm>
            <a:off x="9921240"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evidence remains?</a:t>
            </a:r>
            <a:endParaRPr lang="en-US" sz="1300" dirty="0"/>
          </a:p>
        </p:txBody>
      </p:sp>
      <p:sp>
        <p:nvSpPr>
          <p:cNvPr id="30" name="Shape 27"/>
          <p:cNvSpPr/>
          <p:nvPr/>
        </p:nvSpPr>
        <p:spPr>
          <a:xfrm>
            <a:off x="1005840" y="4572000"/>
            <a:ext cx="10104120" cy="731520"/>
          </a:xfrm>
          <a:prstGeom prst="roundRect">
            <a:avLst/>
          </a:prstGeom>
          <a:solidFill>
            <a:srgbClr val="FFFFFF"/>
          </a:solidFill>
          <a:ln w="12700">
            <a:solidFill>
              <a:srgbClr val="1F497D"/>
            </a:solidFill>
            <a:prstDash val="solid"/>
          </a:ln>
        </p:spPr>
      </p:sp>
      <p:sp>
        <p:nvSpPr>
          <p:cNvPr id="31" name="Shape 28"/>
          <p:cNvSpPr/>
          <p:nvPr/>
        </p:nvSpPr>
        <p:spPr>
          <a:xfrm>
            <a:off x="1005840" y="4572000"/>
            <a:ext cx="100584" cy="731520"/>
          </a:xfrm>
          <a:prstGeom prst="rect">
            <a:avLst/>
          </a:prstGeom>
          <a:solidFill>
            <a:srgbClr val="1F497D"/>
          </a:solidFill>
          <a:ln w="12700">
            <a:solidFill>
              <a:srgbClr val="1F497D"/>
            </a:solidFill>
            <a:prstDash val="solid"/>
          </a:ln>
        </p:spPr>
      </p:sp>
      <p:sp>
        <p:nvSpPr>
          <p:cNvPr id="32" name="Text 29"/>
          <p:cNvSpPr txBox="1"/>
          <p:nvPr/>
        </p:nvSpPr>
        <p:spPr>
          <a:xfrm>
            <a:off x="1243584" y="468172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Key idea</a:t>
            </a:r>
            <a:endParaRPr lang="en-US" sz="1400" dirty="0"/>
          </a:p>
        </p:txBody>
      </p:sp>
      <p:sp>
        <p:nvSpPr>
          <p:cNvPr id="33" name="Text 30"/>
          <p:cNvSpPr txBox="1"/>
          <p:nvPr/>
        </p:nvSpPr>
        <p:spPr>
          <a:xfrm>
            <a:off x="1243584" y="4983480"/>
            <a:ext cx="975664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Authentication success is only one stage in a controlled session lifecycle.</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MFA</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Two factors should add different evidence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second copy of the same factor is not meaningful MFA.</a:t>
            </a:r>
            <a:endParaRPr lang="en-US" sz="1250" dirty="0"/>
          </a:p>
        </p:txBody>
      </p:sp>
      <p:sp>
        <p:nvSpPr>
          <p:cNvPr id="6" name="Shape 3"/>
          <p:cNvSpPr/>
          <p:nvPr/>
        </p:nvSpPr>
        <p:spPr>
          <a:xfrm>
            <a:off x="1965960" y="1828800"/>
            <a:ext cx="731520" cy="731520"/>
          </a:xfrm>
          <a:prstGeom prst="ellipse">
            <a:avLst/>
          </a:prstGeom>
          <a:solidFill>
            <a:srgbClr val="F79646"/>
          </a:solidFill>
          <a:ln w="12700">
            <a:solidFill>
              <a:srgbClr val="F79646"/>
            </a:solidFill>
            <a:prstDash val="solid"/>
          </a:ln>
        </p:spPr>
      </p:sp>
      <p:sp>
        <p:nvSpPr>
          <p:cNvPr id="7" name="Text 4"/>
          <p:cNvSpPr txBox="1"/>
          <p:nvPr/>
        </p:nvSpPr>
        <p:spPr>
          <a:xfrm>
            <a:off x="1965960" y="2075688"/>
            <a:ext cx="731520" cy="182880"/>
          </a:xfrm>
          <a:prstGeom prst="rect">
            <a:avLst/>
          </a:prstGeom>
          <a:noFill/>
          <a:ln/>
        </p:spPr>
        <p:txBody>
          <a:bodyPr wrap="square" lIns="508" tIns="508" rIns="508" bIns="508" rtlCol="0" anchor="ctr">
            <a:normAutofit/>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914400" y="2834640"/>
            <a:ext cx="2834640" cy="310896"/>
          </a:xfrm>
          <a:prstGeom prst="rect">
            <a:avLst/>
          </a:prstGeom>
          <a:noFill/>
          <a:ln/>
        </p:spPr>
        <p:txBody>
          <a:bodyPr wrap="square" lIns="508" tIns="508" rIns="508" bIns="508" rtlCol="0" anchor="ctr">
            <a:normAutofit/>
          </a:bodyPr>
          <a:lstStyle/>
          <a:p>
            <a:pPr algn="ctr" indent="0" marL="0">
              <a:buNone/>
            </a:pPr>
            <a:r>
              <a:rPr lang="en-US" sz="2300" b="1" dirty="0">
                <a:solidFill>
                  <a:srgbClr val="1F497D"/>
                </a:solidFill>
                <a:latin typeface="Calibri" pitchFamily="34" charset="0"/>
                <a:ea typeface="Calibri" pitchFamily="34" charset="-122"/>
                <a:cs typeface="Calibri" pitchFamily="34" charset="-120"/>
              </a:rPr>
              <a:t>Know</a:t>
            </a:r>
            <a:endParaRPr lang="en-US" sz="2300" dirty="0"/>
          </a:p>
        </p:txBody>
      </p:sp>
      <p:sp>
        <p:nvSpPr>
          <p:cNvPr id="9" name="Text 6"/>
          <p:cNvSpPr txBox="1"/>
          <p:nvPr/>
        </p:nvSpPr>
        <p:spPr>
          <a:xfrm>
            <a:off x="914400" y="3310128"/>
            <a:ext cx="2834640" cy="256032"/>
          </a:xfrm>
          <a:prstGeom prst="rect">
            <a:avLst/>
          </a:prstGeom>
          <a:noFill/>
          <a:ln/>
        </p:spPr>
        <p:txBody>
          <a:bodyPr wrap="square" lIns="508" tIns="508" rIns="508" bIns="508" rtlCol="0" anchor="ctr">
            <a:normAutofit/>
          </a:bodyPr>
          <a:lstStyle/>
          <a:p>
            <a:pPr algn="ctr" indent="0" marL="0">
              <a:buNone/>
            </a:pPr>
            <a:r>
              <a:rPr lang="en-US" sz="1400" dirty="0">
                <a:solidFill>
                  <a:srgbClr val="64748B"/>
                </a:solidFill>
                <a:latin typeface="Calibri" pitchFamily="34" charset="0"/>
                <a:ea typeface="Calibri" pitchFamily="34" charset="-122"/>
                <a:cs typeface="Calibri" pitchFamily="34" charset="-120"/>
              </a:rPr>
              <a:t>password or PIN</a:t>
            </a:r>
            <a:endParaRPr lang="en-US" sz="1400" dirty="0"/>
          </a:p>
        </p:txBody>
      </p:sp>
      <p:sp>
        <p:nvSpPr>
          <p:cNvPr id="10" name="Shape 7"/>
          <p:cNvSpPr/>
          <p:nvPr/>
        </p:nvSpPr>
        <p:spPr>
          <a:xfrm>
            <a:off x="5623560" y="1828800"/>
            <a:ext cx="731520" cy="731520"/>
          </a:xfrm>
          <a:prstGeom prst="ellipse">
            <a:avLst/>
          </a:prstGeom>
          <a:solidFill>
            <a:srgbClr val="4BACC6"/>
          </a:solidFill>
          <a:ln w="12700">
            <a:solidFill>
              <a:srgbClr val="4BACC6"/>
            </a:solidFill>
            <a:prstDash val="solid"/>
          </a:ln>
        </p:spPr>
      </p:sp>
      <p:sp>
        <p:nvSpPr>
          <p:cNvPr id="11" name="Text 8"/>
          <p:cNvSpPr txBox="1"/>
          <p:nvPr/>
        </p:nvSpPr>
        <p:spPr>
          <a:xfrm>
            <a:off x="5623560" y="2075688"/>
            <a:ext cx="731520" cy="182880"/>
          </a:xfrm>
          <a:prstGeom prst="rect">
            <a:avLst/>
          </a:prstGeom>
          <a:noFill/>
          <a:ln/>
        </p:spPr>
        <p:txBody>
          <a:bodyPr wrap="square" lIns="508" tIns="508" rIns="508" bIns="508" rtlCol="0" anchor="ctr">
            <a:normAutofit/>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4572000" y="2834640"/>
            <a:ext cx="2834640" cy="310896"/>
          </a:xfrm>
          <a:prstGeom prst="rect">
            <a:avLst/>
          </a:prstGeom>
          <a:noFill/>
          <a:ln/>
        </p:spPr>
        <p:txBody>
          <a:bodyPr wrap="square" lIns="508" tIns="508" rIns="508" bIns="508" rtlCol="0" anchor="ctr">
            <a:normAutofit/>
          </a:bodyPr>
          <a:lstStyle/>
          <a:p>
            <a:pPr algn="ctr" indent="0" marL="0">
              <a:buNone/>
            </a:pPr>
            <a:r>
              <a:rPr lang="en-US" sz="2300" b="1" dirty="0">
                <a:solidFill>
                  <a:srgbClr val="1F497D"/>
                </a:solidFill>
                <a:latin typeface="Calibri" pitchFamily="34" charset="0"/>
                <a:ea typeface="Calibri" pitchFamily="34" charset="-122"/>
                <a:cs typeface="Calibri" pitchFamily="34" charset="-120"/>
              </a:rPr>
              <a:t>Have</a:t>
            </a:r>
            <a:endParaRPr lang="en-US" sz="2300" dirty="0"/>
          </a:p>
        </p:txBody>
      </p:sp>
      <p:sp>
        <p:nvSpPr>
          <p:cNvPr id="13" name="Text 10"/>
          <p:cNvSpPr txBox="1"/>
          <p:nvPr/>
        </p:nvSpPr>
        <p:spPr>
          <a:xfrm>
            <a:off x="4572000" y="3310128"/>
            <a:ext cx="2834640" cy="256032"/>
          </a:xfrm>
          <a:prstGeom prst="rect">
            <a:avLst/>
          </a:prstGeom>
          <a:noFill/>
          <a:ln/>
        </p:spPr>
        <p:txBody>
          <a:bodyPr wrap="square" lIns="508" tIns="508" rIns="508" bIns="508" rtlCol="0" anchor="ctr">
            <a:normAutofit/>
          </a:bodyPr>
          <a:lstStyle/>
          <a:p>
            <a:pPr algn="ctr" indent="0" marL="0">
              <a:buNone/>
            </a:pPr>
            <a:r>
              <a:rPr lang="en-US" sz="1400" dirty="0">
                <a:solidFill>
                  <a:srgbClr val="64748B"/>
                </a:solidFill>
                <a:latin typeface="Calibri" pitchFamily="34" charset="0"/>
                <a:ea typeface="Calibri" pitchFamily="34" charset="-122"/>
                <a:cs typeface="Calibri" pitchFamily="34" charset="-120"/>
              </a:rPr>
              <a:t>key, token, phone</a:t>
            </a:r>
            <a:endParaRPr lang="en-US" sz="1400" dirty="0"/>
          </a:p>
        </p:txBody>
      </p:sp>
      <p:sp>
        <p:nvSpPr>
          <p:cNvPr id="14" name="Shape 11"/>
          <p:cNvSpPr/>
          <p:nvPr/>
        </p:nvSpPr>
        <p:spPr>
          <a:xfrm>
            <a:off x="9281160" y="1828800"/>
            <a:ext cx="731520" cy="731520"/>
          </a:xfrm>
          <a:prstGeom prst="ellipse">
            <a:avLst/>
          </a:prstGeom>
          <a:solidFill>
            <a:srgbClr val="8064A2"/>
          </a:solidFill>
          <a:ln w="12700">
            <a:solidFill>
              <a:srgbClr val="8064A2"/>
            </a:solidFill>
            <a:prstDash val="solid"/>
          </a:ln>
        </p:spPr>
      </p:sp>
      <p:sp>
        <p:nvSpPr>
          <p:cNvPr id="15" name="Text 12"/>
          <p:cNvSpPr txBox="1"/>
          <p:nvPr/>
        </p:nvSpPr>
        <p:spPr>
          <a:xfrm>
            <a:off x="9281160" y="2075688"/>
            <a:ext cx="731520" cy="182880"/>
          </a:xfrm>
          <a:prstGeom prst="rect">
            <a:avLst/>
          </a:prstGeom>
          <a:noFill/>
          <a:ln/>
        </p:spPr>
        <p:txBody>
          <a:bodyPr wrap="square" lIns="508" tIns="508" rIns="508" bIns="508" rtlCol="0" anchor="ctr">
            <a:normAutofit/>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8229600" y="2834640"/>
            <a:ext cx="2834640" cy="310896"/>
          </a:xfrm>
          <a:prstGeom prst="rect">
            <a:avLst/>
          </a:prstGeom>
          <a:noFill/>
          <a:ln/>
        </p:spPr>
        <p:txBody>
          <a:bodyPr wrap="square" lIns="508" tIns="508" rIns="508" bIns="508" rtlCol="0" anchor="ctr">
            <a:normAutofit/>
          </a:bodyPr>
          <a:lstStyle/>
          <a:p>
            <a:pPr algn="ctr" indent="0" marL="0">
              <a:buNone/>
            </a:pPr>
            <a:r>
              <a:rPr lang="en-US" sz="2300" b="1" dirty="0">
                <a:solidFill>
                  <a:srgbClr val="1F497D"/>
                </a:solidFill>
                <a:latin typeface="Calibri" pitchFamily="34" charset="0"/>
                <a:ea typeface="Calibri" pitchFamily="34" charset="-122"/>
                <a:cs typeface="Calibri" pitchFamily="34" charset="-120"/>
              </a:rPr>
              <a:t>Are</a:t>
            </a:r>
            <a:endParaRPr lang="en-US" sz="2300" dirty="0"/>
          </a:p>
        </p:txBody>
      </p:sp>
      <p:sp>
        <p:nvSpPr>
          <p:cNvPr id="17" name="Text 14"/>
          <p:cNvSpPr txBox="1"/>
          <p:nvPr/>
        </p:nvSpPr>
        <p:spPr>
          <a:xfrm>
            <a:off x="8229600" y="3310128"/>
            <a:ext cx="2834640" cy="256032"/>
          </a:xfrm>
          <a:prstGeom prst="rect">
            <a:avLst/>
          </a:prstGeom>
          <a:noFill/>
          <a:ln/>
        </p:spPr>
        <p:txBody>
          <a:bodyPr wrap="square" lIns="508" tIns="508" rIns="508" bIns="508" rtlCol="0" anchor="ctr">
            <a:normAutofit/>
          </a:bodyPr>
          <a:lstStyle/>
          <a:p>
            <a:pPr algn="ctr" indent="0" marL="0">
              <a:buNone/>
            </a:pPr>
            <a:r>
              <a:rPr lang="en-US" sz="1400" dirty="0">
                <a:solidFill>
                  <a:srgbClr val="64748B"/>
                </a:solidFill>
                <a:latin typeface="Calibri" pitchFamily="34" charset="0"/>
                <a:ea typeface="Calibri" pitchFamily="34" charset="-122"/>
                <a:cs typeface="Calibri" pitchFamily="34" charset="-120"/>
              </a:rPr>
              <a:t>biometric signal</a:t>
            </a:r>
            <a:endParaRPr lang="en-US" sz="1400" dirty="0"/>
          </a:p>
        </p:txBody>
      </p:sp>
      <p:sp>
        <p:nvSpPr>
          <p:cNvPr id="18" name="Shape 15"/>
          <p:cNvSpPr/>
          <p:nvPr/>
        </p:nvSpPr>
        <p:spPr>
          <a:xfrm>
            <a:off x="3703320" y="4663440"/>
            <a:ext cx="4754880" cy="274320"/>
          </a:xfrm>
          <a:prstGeom prst="roundRect">
            <a:avLst/>
          </a:prstGeom>
          <a:solidFill>
            <a:srgbClr val="70AD47"/>
          </a:solidFill>
          <a:ln w="12700">
            <a:solidFill>
              <a:srgbClr val="70AD47"/>
            </a:solidFill>
            <a:prstDash val="solid"/>
          </a:ln>
        </p:spPr>
      </p:sp>
      <p:sp>
        <p:nvSpPr>
          <p:cNvPr id="19" name="Text 16"/>
          <p:cNvSpPr txBox="1"/>
          <p:nvPr/>
        </p:nvSpPr>
        <p:spPr>
          <a:xfrm>
            <a:off x="3776472" y="4681728"/>
            <a:ext cx="46085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MFA = INDEPENDENT EVIDENCE</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TOTP</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TOTP turns a shared secret and time into a short-lived code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Useful, widely supported, and not phishing resistant by itself.</a:t>
            </a:r>
            <a:endParaRPr lang="en-US" sz="1250" dirty="0"/>
          </a:p>
        </p:txBody>
      </p:sp>
      <p:sp>
        <p:nvSpPr>
          <p:cNvPr id="6" name="Shape 3"/>
          <p:cNvSpPr/>
          <p:nvPr/>
        </p:nvSpPr>
        <p:spPr>
          <a:xfrm>
            <a:off x="640080" y="2103120"/>
            <a:ext cx="2286000" cy="1737360"/>
          </a:xfrm>
          <a:prstGeom prst="roundRect">
            <a:avLst/>
          </a:prstGeom>
          <a:solidFill>
            <a:srgbClr val="FFFFFF"/>
          </a:solidFill>
          <a:ln w="12700">
            <a:solidFill>
              <a:srgbClr val="CBD5E1"/>
            </a:solidFill>
            <a:prstDash val="solid"/>
          </a:ln>
        </p:spPr>
      </p:sp>
      <p:sp>
        <p:nvSpPr>
          <p:cNvPr id="7" name="Shape 4"/>
          <p:cNvSpPr/>
          <p:nvPr/>
        </p:nvSpPr>
        <p:spPr>
          <a:xfrm>
            <a:off x="640080" y="2103120"/>
            <a:ext cx="2286000" cy="292608"/>
          </a:xfrm>
          <a:prstGeom prst="roundRect">
            <a:avLst/>
          </a:prstGeom>
          <a:solidFill>
            <a:srgbClr val="C0504D"/>
          </a:solidFill>
          <a:ln w="12700">
            <a:solidFill>
              <a:srgbClr val="C0504D"/>
            </a:solidFill>
            <a:prstDash val="solid"/>
          </a:ln>
        </p:spPr>
      </p:sp>
      <p:sp>
        <p:nvSpPr>
          <p:cNvPr id="8" name="Text 5"/>
          <p:cNvSpPr txBox="1"/>
          <p:nvPr/>
        </p:nvSpPr>
        <p:spPr>
          <a:xfrm>
            <a:off x="74980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Shared secret</a:t>
            </a:r>
            <a:endParaRPr lang="en-US" sz="1100" dirty="0"/>
          </a:p>
        </p:txBody>
      </p:sp>
      <p:sp>
        <p:nvSpPr>
          <p:cNvPr id="9" name="Text 6"/>
          <p:cNvSpPr txBox="1"/>
          <p:nvPr/>
        </p:nvSpPr>
        <p:spPr>
          <a:xfrm>
            <a:off x="74980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enrolled once</a:t>
            </a:r>
            <a:endParaRPr lang="en-US" sz="1300" dirty="0"/>
          </a:p>
        </p:txBody>
      </p:sp>
      <p:sp>
        <p:nvSpPr>
          <p:cNvPr id="10" name="Shape 7"/>
          <p:cNvSpPr/>
          <p:nvPr/>
        </p:nvSpPr>
        <p:spPr>
          <a:xfrm>
            <a:off x="3044952" y="2971800"/>
            <a:ext cx="365760" cy="0"/>
          </a:xfrm>
          <a:prstGeom prst="line">
            <a:avLst/>
          </a:prstGeom>
          <a:noFill/>
          <a:ln w="25400">
            <a:solidFill>
              <a:srgbClr val="94A3B8"/>
            </a:solidFill>
            <a:prstDash val="solid"/>
            <a:headEnd type="none"/>
            <a:tailEnd type="triangle"/>
          </a:ln>
        </p:spPr>
      </p:sp>
      <p:sp>
        <p:nvSpPr>
          <p:cNvPr id="11" name="Shape 8"/>
          <p:cNvSpPr/>
          <p:nvPr/>
        </p:nvSpPr>
        <p:spPr>
          <a:xfrm>
            <a:off x="3520440" y="2103120"/>
            <a:ext cx="2286000" cy="1737360"/>
          </a:xfrm>
          <a:prstGeom prst="roundRect">
            <a:avLst/>
          </a:prstGeom>
          <a:solidFill>
            <a:srgbClr val="FFFFFF"/>
          </a:solidFill>
          <a:ln w="12700">
            <a:solidFill>
              <a:srgbClr val="CBD5E1"/>
            </a:solidFill>
            <a:prstDash val="solid"/>
          </a:ln>
        </p:spPr>
      </p:sp>
      <p:sp>
        <p:nvSpPr>
          <p:cNvPr id="12" name="Shape 9"/>
          <p:cNvSpPr/>
          <p:nvPr/>
        </p:nvSpPr>
        <p:spPr>
          <a:xfrm>
            <a:off x="3520440" y="2103120"/>
            <a:ext cx="2286000" cy="292608"/>
          </a:xfrm>
          <a:prstGeom prst="roundRect">
            <a:avLst/>
          </a:prstGeom>
          <a:solidFill>
            <a:srgbClr val="4F81BD"/>
          </a:solidFill>
          <a:ln w="12700">
            <a:solidFill>
              <a:srgbClr val="4F81BD"/>
            </a:solidFill>
            <a:prstDash val="solid"/>
          </a:ln>
        </p:spPr>
      </p:sp>
      <p:sp>
        <p:nvSpPr>
          <p:cNvPr id="13" name="Text 10"/>
          <p:cNvSpPr txBox="1"/>
          <p:nvPr/>
        </p:nvSpPr>
        <p:spPr>
          <a:xfrm>
            <a:off x="363016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Clock step</a:t>
            </a:r>
            <a:endParaRPr lang="en-US" sz="1100" dirty="0"/>
          </a:p>
        </p:txBody>
      </p:sp>
      <p:sp>
        <p:nvSpPr>
          <p:cNvPr id="14" name="Text 11"/>
          <p:cNvSpPr txBox="1"/>
          <p:nvPr/>
        </p:nvSpPr>
        <p:spPr>
          <a:xfrm>
            <a:off x="363016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same time window</a:t>
            </a:r>
            <a:endParaRPr lang="en-US" sz="1300" dirty="0"/>
          </a:p>
        </p:txBody>
      </p:sp>
      <p:sp>
        <p:nvSpPr>
          <p:cNvPr id="15" name="Shape 12"/>
          <p:cNvSpPr/>
          <p:nvPr/>
        </p:nvSpPr>
        <p:spPr>
          <a:xfrm>
            <a:off x="5925312" y="2971800"/>
            <a:ext cx="365760" cy="0"/>
          </a:xfrm>
          <a:prstGeom prst="line">
            <a:avLst/>
          </a:prstGeom>
          <a:noFill/>
          <a:ln w="25400">
            <a:solidFill>
              <a:srgbClr val="94A3B8"/>
            </a:solidFill>
            <a:prstDash val="solid"/>
            <a:headEnd type="none"/>
            <a:tailEnd type="triangle"/>
          </a:ln>
        </p:spPr>
      </p:sp>
      <p:sp>
        <p:nvSpPr>
          <p:cNvPr id="16" name="Shape 13"/>
          <p:cNvSpPr/>
          <p:nvPr/>
        </p:nvSpPr>
        <p:spPr>
          <a:xfrm>
            <a:off x="6400800" y="2103120"/>
            <a:ext cx="2286000" cy="1737360"/>
          </a:xfrm>
          <a:prstGeom prst="roundRect">
            <a:avLst/>
          </a:prstGeom>
          <a:solidFill>
            <a:srgbClr val="FFFFFF"/>
          </a:solidFill>
          <a:ln w="12700">
            <a:solidFill>
              <a:srgbClr val="CBD5E1"/>
            </a:solidFill>
            <a:prstDash val="solid"/>
          </a:ln>
        </p:spPr>
      </p:sp>
      <p:sp>
        <p:nvSpPr>
          <p:cNvPr id="17" name="Shape 14"/>
          <p:cNvSpPr/>
          <p:nvPr/>
        </p:nvSpPr>
        <p:spPr>
          <a:xfrm>
            <a:off x="6400800" y="2103120"/>
            <a:ext cx="2286000" cy="292608"/>
          </a:xfrm>
          <a:prstGeom prst="roundRect">
            <a:avLst/>
          </a:prstGeom>
          <a:solidFill>
            <a:srgbClr val="8064A2"/>
          </a:solidFill>
          <a:ln w="12700">
            <a:solidFill>
              <a:srgbClr val="8064A2"/>
            </a:solidFill>
            <a:prstDash val="solid"/>
          </a:ln>
        </p:spPr>
      </p:sp>
      <p:sp>
        <p:nvSpPr>
          <p:cNvPr id="18" name="Text 15"/>
          <p:cNvSpPr txBox="1"/>
          <p:nvPr/>
        </p:nvSpPr>
        <p:spPr>
          <a:xfrm>
            <a:off x="651052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HMAC</a:t>
            </a:r>
            <a:endParaRPr lang="en-US" sz="1100" dirty="0"/>
          </a:p>
        </p:txBody>
      </p:sp>
      <p:sp>
        <p:nvSpPr>
          <p:cNvPr id="19" name="Text 16"/>
          <p:cNvSpPr txBox="1"/>
          <p:nvPr/>
        </p:nvSpPr>
        <p:spPr>
          <a:xfrm>
            <a:off x="651052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keyed calculation</a:t>
            </a:r>
            <a:endParaRPr lang="en-US" sz="1300" dirty="0"/>
          </a:p>
        </p:txBody>
      </p:sp>
      <p:sp>
        <p:nvSpPr>
          <p:cNvPr id="20" name="Shape 17"/>
          <p:cNvSpPr/>
          <p:nvPr/>
        </p:nvSpPr>
        <p:spPr>
          <a:xfrm>
            <a:off x="8805672" y="2971800"/>
            <a:ext cx="365760" cy="0"/>
          </a:xfrm>
          <a:prstGeom prst="line">
            <a:avLst/>
          </a:prstGeom>
          <a:noFill/>
          <a:ln w="25400">
            <a:solidFill>
              <a:srgbClr val="94A3B8"/>
            </a:solidFill>
            <a:prstDash val="solid"/>
            <a:headEnd type="none"/>
            <a:tailEnd type="triangle"/>
          </a:ln>
        </p:spPr>
      </p:sp>
      <p:sp>
        <p:nvSpPr>
          <p:cNvPr id="21" name="Shape 18"/>
          <p:cNvSpPr/>
          <p:nvPr/>
        </p:nvSpPr>
        <p:spPr>
          <a:xfrm>
            <a:off x="9281160" y="2103120"/>
            <a:ext cx="2286000" cy="1737360"/>
          </a:xfrm>
          <a:prstGeom prst="roundRect">
            <a:avLst/>
          </a:prstGeom>
          <a:solidFill>
            <a:srgbClr val="FFFFFF"/>
          </a:solidFill>
          <a:ln w="12700">
            <a:solidFill>
              <a:srgbClr val="CBD5E1"/>
            </a:solidFill>
            <a:prstDash val="solid"/>
          </a:ln>
        </p:spPr>
      </p:sp>
      <p:sp>
        <p:nvSpPr>
          <p:cNvPr id="22" name="Shape 19"/>
          <p:cNvSpPr/>
          <p:nvPr/>
        </p:nvSpPr>
        <p:spPr>
          <a:xfrm>
            <a:off x="9281160" y="2103120"/>
            <a:ext cx="2286000" cy="292608"/>
          </a:xfrm>
          <a:prstGeom prst="roundRect">
            <a:avLst/>
          </a:prstGeom>
          <a:solidFill>
            <a:srgbClr val="70AD47"/>
          </a:solidFill>
          <a:ln w="12700">
            <a:solidFill>
              <a:srgbClr val="70AD47"/>
            </a:solidFill>
            <a:prstDash val="solid"/>
          </a:ln>
        </p:spPr>
      </p:sp>
      <p:sp>
        <p:nvSpPr>
          <p:cNvPr id="23" name="Text 20"/>
          <p:cNvSpPr txBox="1"/>
          <p:nvPr/>
        </p:nvSpPr>
        <p:spPr>
          <a:xfrm>
            <a:off x="939088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Code</a:t>
            </a:r>
            <a:endParaRPr lang="en-US" sz="1100" dirty="0"/>
          </a:p>
        </p:txBody>
      </p:sp>
      <p:sp>
        <p:nvSpPr>
          <p:cNvPr id="24" name="Text 21"/>
          <p:cNvSpPr txBox="1"/>
          <p:nvPr/>
        </p:nvSpPr>
        <p:spPr>
          <a:xfrm>
            <a:off x="939088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short-lived response</a:t>
            </a:r>
            <a:endParaRPr lang="en-US" sz="1300" dirty="0"/>
          </a:p>
        </p:txBody>
      </p:sp>
      <p:sp>
        <p:nvSpPr>
          <p:cNvPr id="25" name="Shape 22"/>
          <p:cNvSpPr/>
          <p:nvPr/>
        </p:nvSpPr>
        <p:spPr>
          <a:xfrm>
            <a:off x="914400" y="4572000"/>
            <a:ext cx="10195560" cy="731520"/>
          </a:xfrm>
          <a:prstGeom prst="roundRect">
            <a:avLst/>
          </a:prstGeom>
          <a:solidFill>
            <a:srgbClr val="FFFFFF"/>
          </a:solidFill>
          <a:ln w="12700">
            <a:solidFill>
              <a:srgbClr val="F79646"/>
            </a:solidFill>
            <a:prstDash val="solid"/>
          </a:ln>
        </p:spPr>
      </p:sp>
      <p:sp>
        <p:nvSpPr>
          <p:cNvPr id="26" name="Shape 23"/>
          <p:cNvSpPr/>
          <p:nvPr/>
        </p:nvSpPr>
        <p:spPr>
          <a:xfrm>
            <a:off x="914400" y="4572000"/>
            <a:ext cx="100584" cy="731520"/>
          </a:xfrm>
          <a:prstGeom prst="rect">
            <a:avLst/>
          </a:prstGeom>
          <a:solidFill>
            <a:srgbClr val="F79646"/>
          </a:solidFill>
          <a:ln w="12700">
            <a:solidFill>
              <a:srgbClr val="F79646"/>
            </a:solidFill>
            <a:prstDash val="solid"/>
          </a:ln>
        </p:spPr>
      </p:sp>
      <p:sp>
        <p:nvSpPr>
          <p:cNvPr id="27" name="Text 24"/>
          <p:cNvSpPr txBox="1"/>
          <p:nvPr/>
        </p:nvSpPr>
        <p:spPr>
          <a:xfrm>
            <a:off x="1152144" y="4681728"/>
            <a:ext cx="984808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Operational controls</a:t>
            </a:r>
            <a:endParaRPr lang="en-US" sz="1400" dirty="0"/>
          </a:p>
        </p:txBody>
      </p:sp>
      <p:sp>
        <p:nvSpPr>
          <p:cNvPr id="28" name="Text 25"/>
          <p:cNvSpPr txBox="1"/>
          <p:nvPr/>
        </p:nvSpPr>
        <p:spPr>
          <a:xfrm>
            <a:off x="1152144" y="4983480"/>
            <a:ext cx="984808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Rate limiting, secure enrollment, clock monitoring, recovery codes, and rapid revocation matter as much as the six-digit code.</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FIDO2</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FIDO2 and WebAuthn bind the authenticator to the verifier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domain name becomes part of the authentication ceremony.</a:t>
            </a:r>
            <a:endParaRPr lang="en-US" sz="1250" dirty="0"/>
          </a:p>
        </p:txBody>
      </p:sp>
      <p:sp>
        <p:nvSpPr>
          <p:cNvPr id="6" name="Shape 3"/>
          <p:cNvSpPr/>
          <p:nvPr/>
        </p:nvSpPr>
        <p:spPr>
          <a:xfrm>
            <a:off x="777240" y="1920240"/>
            <a:ext cx="3063240" cy="2286000"/>
          </a:xfrm>
          <a:prstGeom prst="roundRect">
            <a:avLst/>
          </a:prstGeom>
          <a:solidFill>
            <a:srgbClr val="FFFFFF"/>
          </a:solidFill>
          <a:ln w="12700">
            <a:solidFill>
              <a:srgbClr val="CBD5E1"/>
            </a:solidFill>
            <a:prstDash val="solid"/>
          </a:ln>
        </p:spPr>
      </p:sp>
      <p:sp>
        <p:nvSpPr>
          <p:cNvPr id="7" name="Shape 4"/>
          <p:cNvSpPr/>
          <p:nvPr/>
        </p:nvSpPr>
        <p:spPr>
          <a:xfrm>
            <a:off x="777240" y="1920240"/>
            <a:ext cx="3063240" cy="292608"/>
          </a:xfrm>
          <a:prstGeom prst="roundRect">
            <a:avLst/>
          </a:prstGeom>
          <a:solidFill>
            <a:srgbClr val="F79646"/>
          </a:solidFill>
          <a:ln w="12700">
            <a:solidFill>
              <a:srgbClr val="F79646"/>
            </a:solidFill>
            <a:prstDash val="solid"/>
          </a:ln>
        </p:spPr>
      </p:sp>
      <p:sp>
        <p:nvSpPr>
          <p:cNvPr id="8" name="Text 5"/>
          <p:cNvSpPr txBox="1"/>
          <p:nvPr/>
        </p:nvSpPr>
        <p:spPr>
          <a:xfrm>
            <a:off x="886968" y="1956816"/>
            <a:ext cx="284378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TOTP</a:t>
            </a:r>
            <a:endParaRPr lang="en-US" sz="1100" dirty="0"/>
          </a:p>
        </p:txBody>
      </p:sp>
      <p:sp>
        <p:nvSpPr>
          <p:cNvPr id="9" name="Text 6"/>
          <p:cNvSpPr txBox="1"/>
          <p:nvPr/>
        </p:nvSpPr>
        <p:spPr>
          <a:xfrm>
            <a:off x="886968" y="2331720"/>
            <a:ext cx="2843784" cy="17830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User reads a code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Verifier checks code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Phishing risk remains</a:t>
            </a:r>
            <a:endParaRPr lang="en-US" sz="1300" dirty="0"/>
          </a:p>
        </p:txBody>
      </p:sp>
      <p:sp>
        <p:nvSpPr>
          <p:cNvPr id="10" name="Shape 7"/>
          <p:cNvSpPr/>
          <p:nvPr/>
        </p:nvSpPr>
        <p:spPr>
          <a:xfrm>
            <a:off x="4553712" y="1920240"/>
            <a:ext cx="3063240" cy="2286000"/>
          </a:xfrm>
          <a:prstGeom prst="roundRect">
            <a:avLst/>
          </a:prstGeom>
          <a:solidFill>
            <a:srgbClr val="FFFFFF"/>
          </a:solidFill>
          <a:ln w="12700">
            <a:solidFill>
              <a:srgbClr val="CBD5E1"/>
            </a:solidFill>
            <a:prstDash val="solid"/>
          </a:ln>
        </p:spPr>
      </p:sp>
      <p:sp>
        <p:nvSpPr>
          <p:cNvPr id="11" name="Shape 8"/>
          <p:cNvSpPr/>
          <p:nvPr/>
        </p:nvSpPr>
        <p:spPr>
          <a:xfrm>
            <a:off x="4553712" y="1920240"/>
            <a:ext cx="3063240" cy="292608"/>
          </a:xfrm>
          <a:prstGeom prst="roundRect">
            <a:avLst/>
          </a:prstGeom>
          <a:solidFill>
            <a:srgbClr val="4BACC6"/>
          </a:solidFill>
          <a:ln w="12700">
            <a:solidFill>
              <a:srgbClr val="4BACC6"/>
            </a:solidFill>
            <a:prstDash val="solid"/>
          </a:ln>
        </p:spPr>
      </p:sp>
      <p:sp>
        <p:nvSpPr>
          <p:cNvPr id="12" name="Text 9"/>
          <p:cNvSpPr txBox="1"/>
          <p:nvPr/>
        </p:nvSpPr>
        <p:spPr>
          <a:xfrm>
            <a:off x="4663440" y="1956816"/>
            <a:ext cx="284378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FIDO2</a:t>
            </a:r>
            <a:endParaRPr lang="en-US" sz="1100" dirty="0"/>
          </a:p>
        </p:txBody>
      </p:sp>
      <p:sp>
        <p:nvSpPr>
          <p:cNvPr id="13" name="Text 10"/>
          <p:cNvSpPr txBox="1"/>
          <p:nvPr/>
        </p:nvSpPr>
        <p:spPr>
          <a:xfrm>
            <a:off x="4663440" y="2331720"/>
            <a:ext cx="2843784" cy="17830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Authenticator signs challenge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Origin is bound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Phishing resistance</a:t>
            </a:r>
            <a:endParaRPr lang="en-US" sz="1300" dirty="0"/>
          </a:p>
        </p:txBody>
      </p:sp>
      <p:sp>
        <p:nvSpPr>
          <p:cNvPr id="14" name="Shape 11"/>
          <p:cNvSpPr/>
          <p:nvPr/>
        </p:nvSpPr>
        <p:spPr>
          <a:xfrm>
            <a:off x="8321040" y="1920240"/>
            <a:ext cx="3063240" cy="2286000"/>
          </a:xfrm>
          <a:prstGeom prst="roundRect">
            <a:avLst/>
          </a:prstGeom>
          <a:solidFill>
            <a:srgbClr val="FFFFFF"/>
          </a:solidFill>
          <a:ln w="12700">
            <a:solidFill>
              <a:srgbClr val="CBD5E1"/>
            </a:solidFill>
            <a:prstDash val="solid"/>
          </a:ln>
        </p:spPr>
      </p:sp>
      <p:sp>
        <p:nvSpPr>
          <p:cNvPr id="15" name="Shape 12"/>
          <p:cNvSpPr/>
          <p:nvPr/>
        </p:nvSpPr>
        <p:spPr>
          <a:xfrm>
            <a:off x="8321040" y="1920240"/>
            <a:ext cx="3063240" cy="292608"/>
          </a:xfrm>
          <a:prstGeom prst="roundRect">
            <a:avLst/>
          </a:prstGeom>
          <a:solidFill>
            <a:srgbClr val="8064A2"/>
          </a:solidFill>
          <a:ln w="12700">
            <a:solidFill>
              <a:srgbClr val="8064A2"/>
            </a:solidFill>
            <a:prstDash val="solid"/>
          </a:ln>
        </p:spPr>
      </p:sp>
      <p:sp>
        <p:nvSpPr>
          <p:cNvPr id="16" name="Text 13"/>
          <p:cNvSpPr txBox="1"/>
          <p:nvPr/>
        </p:nvSpPr>
        <p:spPr>
          <a:xfrm>
            <a:off x="8430768" y="1956816"/>
            <a:ext cx="284378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POLICY</a:t>
            </a:r>
            <a:endParaRPr lang="en-US" sz="1100" dirty="0"/>
          </a:p>
        </p:txBody>
      </p:sp>
      <p:sp>
        <p:nvSpPr>
          <p:cNvPr id="17" name="Text 14"/>
          <p:cNvSpPr txBox="1"/>
          <p:nvPr/>
        </p:nvSpPr>
        <p:spPr>
          <a:xfrm>
            <a:off x="8430768" y="2331720"/>
            <a:ext cx="2843784" cy="17830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Use stronger factors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for higher-risk access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Plan recovery</a:t>
            </a:r>
            <a:endParaRPr lang="en-US" sz="1300" dirty="0"/>
          </a:p>
        </p:txBody>
      </p:sp>
      <p:sp>
        <p:nvSpPr>
          <p:cNvPr id="18" name="Shape 15"/>
          <p:cNvSpPr/>
          <p:nvPr/>
        </p:nvSpPr>
        <p:spPr>
          <a:xfrm>
            <a:off x="1051560" y="4681728"/>
            <a:ext cx="10012680" cy="658368"/>
          </a:xfrm>
          <a:prstGeom prst="roundRect">
            <a:avLst/>
          </a:prstGeom>
          <a:solidFill>
            <a:srgbClr val="FFFFFF"/>
          </a:solidFill>
          <a:ln w="12700">
            <a:solidFill>
              <a:srgbClr val="1F497D"/>
            </a:solidFill>
            <a:prstDash val="solid"/>
          </a:ln>
        </p:spPr>
      </p:sp>
      <p:sp>
        <p:nvSpPr>
          <p:cNvPr id="19" name="Shape 16"/>
          <p:cNvSpPr/>
          <p:nvPr/>
        </p:nvSpPr>
        <p:spPr>
          <a:xfrm>
            <a:off x="1051560" y="4681728"/>
            <a:ext cx="100584" cy="658368"/>
          </a:xfrm>
          <a:prstGeom prst="rect">
            <a:avLst/>
          </a:prstGeom>
          <a:solidFill>
            <a:srgbClr val="1F497D"/>
          </a:solidFill>
          <a:ln w="12700">
            <a:solidFill>
              <a:srgbClr val="1F497D"/>
            </a:solidFill>
            <a:prstDash val="solid"/>
          </a:ln>
        </p:spPr>
      </p:sp>
      <p:sp>
        <p:nvSpPr>
          <p:cNvPr id="20" name="Text 17"/>
          <p:cNvSpPr txBox="1"/>
          <p:nvPr/>
        </p:nvSpPr>
        <p:spPr>
          <a:xfrm>
            <a:off x="1289304" y="4791456"/>
            <a:ext cx="966520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Discussion</a:t>
            </a:r>
            <a:endParaRPr lang="en-US" sz="1400" dirty="0"/>
          </a:p>
        </p:txBody>
      </p:sp>
      <p:sp>
        <p:nvSpPr>
          <p:cNvPr id="21" name="Text 18"/>
          <p:cNvSpPr txBox="1"/>
          <p:nvPr/>
        </p:nvSpPr>
        <p:spPr>
          <a:xfrm>
            <a:off x="1289304" y="5093208"/>
            <a:ext cx="9665208" cy="15544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would you protect with a hardware key even if TOTP is easier to deploy?</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MFA COMPARE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TOTP, FIDO2, and push each carry tradeoffs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Choose based on threat model, recovery, and operational reality.</a:t>
            </a:r>
            <a:endParaRPr lang="en-US" sz="1250" dirty="0"/>
          </a:p>
        </p:txBody>
      </p:sp>
      <p:sp>
        <p:nvSpPr>
          <p:cNvPr id="6" name="Shape 3"/>
          <p:cNvSpPr/>
          <p:nvPr/>
        </p:nvSpPr>
        <p:spPr>
          <a:xfrm>
            <a:off x="640080" y="1810512"/>
            <a:ext cx="1645920" cy="411480"/>
          </a:xfrm>
          <a:prstGeom prst="roundRect">
            <a:avLst/>
          </a:prstGeom>
          <a:solidFill>
            <a:srgbClr val="1F497D"/>
          </a:solidFill>
          <a:ln w="12700">
            <a:solidFill>
              <a:srgbClr val="1F497D"/>
            </a:solidFill>
            <a:prstDash val="solid"/>
          </a:ln>
        </p:spPr>
      </p:sp>
      <p:sp>
        <p:nvSpPr>
          <p:cNvPr id="7" name="Text 4"/>
          <p:cNvSpPr txBox="1"/>
          <p:nvPr/>
        </p:nvSpPr>
        <p:spPr>
          <a:xfrm>
            <a:off x="694944" y="1920240"/>
            <a:ext cx="1536192"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p>
        </p:txBody>
      </p:sp>
      <p:sp>
        <p:nvSpPr>
          <p:cNvPr id="8" name="Shape 5"/>
          <p:cNvSpPr/>
          <p:nvPr/>
        </p:nvSpPr>
        <p:spPr>
          <a:xfrm>
            <a:off x="2514600" y="1810512"/>
            <a:ext cx="1920240" cy="411480"/>
          </a:xfrm>
          <a:prstGeom prst="roundRect">
            <a:avLst/>
          </a:prstGeom>
          <a:solidFill>
            <a:srgbClr val="1F497D"/>
          </a:solidFill>
          <a:ln w="12700">
            <a:solidFill>
              <a:srgbClr val="1F497D"/>
            </a:solidFill>
            <a:prstDash val="solid"/>
          </a:ln>
        </p:spPr>
      </p:sp>
      <p:sp>
        <p:nvSpPr>
          <p:cNvPr id="9" name="Text 6"/>
          <p:cNvSpPr txBox="1"/>
          <p:nvPr/>
        </p:nvSpPr>
        <p:spPr>
          <a:xfrm>
            <a:off x="2569464" y="1920240"/>
            <a:ext cx="1810512"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Strength</a:t>
            </a:r>
            <a:endParaRPr lang="en-US" sz="1150" dirty="0"/>
          </a:p>
        </p:txBody>
      </p:sp>
      <p:sp>
        <p:nvSpPr>
          <p:cNvPr id="10" name="Shape 7"/>
          <p:cNvSpPr/>
          <p:nvPr/>
        </p:nvSpPr>
        <p:spPr>
          <a:xfrm>
            <a:off x="4709160" y="1810512"/>
            <a:ext cx="2971800" cy="411480"/>
          </a:xfrm>
          <a:prstGeom prst="roundRect">
            <a:avLst/>
          </a:prstGeom>
          <a:solidFill>
            <a:srgbClr val="1F497D"/>
          </a:solidFill>
          <a:ln w="12700">
            <a:solidFill>
              <a:srgbClr val="1F497D"/>
            </a:solidFill>
            <a:prstDash val="solid"/>
          </a:ln>
        </p:spPr>
      </p:sp>
      <p:sp>
        <p:nvSpPr>
          <p:cNvPr id="11" name="Text 8"/>
          <p:cNvSpPr txBox="1"/>
          <p:nvPr/>
        </p:nvSpPr>
        <p:spPr>
          <a:xfrm>
            <a:off x="4764024" y="1920240"/>
            <a:ext cx="2862072"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Operational risk</a:t>
            </a:r>
            <a:endParaRPr lang="en-US" sz="1150" dirty="0"/>
          </a:p>
        </p:txBody>
      </p:sp>
      <p:sp>
        <p:nvSpPr>
          <p:cNvPr id="12" name="Shape 9"/>
          <p:cNvSpPr/>
          <p:nvPr/>
        </p:nvSpPr>
        <p:spPr>
          <a:xfrm>
            <a:off x="8001000" y="1810512"/>
            <a:ext cx="3520440" cy="411480"/>
          </a:xfrm>
          <a:prstGeom prst="roundRect">
            <a:avLst/>
          </a:prstGeom>
          <a:solidFill>
            <a:srgbClr val="1F497D"/>
          </a:solidFill>
          <a:ln w="12700">
            <a:solidFill>
              <a:srgbClr val="1F497D"/>
            </a:solidFill>
            <a:prstDash val="solid"/>
          </a:ln>
        </p:spPr>
      </p:sp>
      <p:sp>
        <p:nvSpPr>
          <p:cNvPr id="13" name="Text 10"/>
          <p:cNvSpPr txBox="1"/>
          <p:nvPr/>
        </p:nvSpPr>
        <p:spPr>
          <a:xfrm>
            <a:off x="8055864" y="1920240"/>
            <a:ext cx="338328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Good fit</a:t>
            </a:r>
            <a:endParaRPr lang="en-US" sz="1150" dirty="0"/>
          </a:p>
        </p:txBody>
      </p:sp>
      <p:sp>
        <p:nvSpPr>
          <p:cNvPr id="14" name="Shape 11"/>
          <p:cNvSpPr/>
          <p:nvPr/>
        </p:nvSpPr>
        <p:spPr>
          <a:xfrm>
            <a:off x="640080" y="2359152"/>
            <a:ext cx="1645920" cy="640080"/>
          </a:xfrm>
          <a:prstGeom prst="roundRect">
            <a:avLst/>
          </a:prstGeom>
          <a:solidFill>
            <a:srgbClr val="FFFFFF"/>
          </a:solidFill>
          <a:ln w="12700">
            <a:solidFill>
              <a:srgbClr val="CBD5E1"/>
            </a:solidFill>
            <a:prstDash val="solid"/>
          </a:ln>
        </p:spPr>
      </p:sp>
      <p:sp>
        <p:nvSpPr>
          <p:cNvPr id="15" name="Text 12"/>
          <p:cNvSpPr txBox="1"/>
          <p:nvPr/>
        </p:nvSpPr>
        <p:spPr>
          <a:xfrm>
            <a:off x="713232" y="2450592"/>
            <a:ext cx="1499616" cy="457200"/>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TOTP</a:t>
            </a:r>
            <a:endParaRPr lang="en-US" sz="1150" dirty="0"/>
          </a:p>
        </p:txBody>
      </p:sp>
      <p:sp>
        <p:nvSpPr>
          <p:cNvPr id="16" name="Shape 13"/>
          <p:cNvSpPr/>
          <p:nvPr/>
        </p:nvSpPr>
        <p:spPr>
          <a:xfrm>
            <a:off x="2514600" y="2359152"/>
            <a:ext cx="1920240" cy="640080"/>
          </a:xfrm>
          <a:prstGeom prst="roundRect">
            <a:avLst/>
          </a:prstGeom>
          <a:solidFill>
            <a:srgbClr val="FFFFFF"/>
          </a:solidFill>
          <a:ln w="12700">
            <a:solidFill>
              <a:srgbClr val="CBD5E1"/>
            </a:solidFill>
            <a:prstDash val="solid"/>
          </a:ln>
        </p:spPr>
      </p:sp>
      <p:sp>
        <p:nvSpPr>
          <p:cNvPr id="17" name="Text 14"/>
          <p:cNvSpPr txBox="1"/>
          <p:nvPr/>
        </p:nvSpPr>
        <p:spPr>
          <a:xfrm>
            <a:off x="2587752" y="2450592"/>
            <a:ext cx="17739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portable and offline</a:t>
            </a:r>
            <a:endParaRPr lang="en-US" sz="1150" dirty="0"/>
          </a:p>
        </p:txBody>
      </p:sp>
      <p:sp>
        <p:nvSpPr>
          <p:cNvPr id="18" name="Shape 15"/>
          <p:cNvSpPr/>
          <p:nvPr/>
        </p:nvSpPr>
        <p:spPr>
          <a:xfrm>
            <a:off x="4709160" y="2359152"/>
            <a:ext cx="2971800" cy="640080"/>
          </a:xfrm>
          <a:prstGeom prst="roundRect">
            <a:avLst/>
          </a:prstGeom>
          <a:solidFill>
            <a:srgbClr val="FFFFFF"/>
          </a:solidFill>
          <a:ln w="12700">
            <a:solidFill>
              <a:srgbClr val="CBD5E1"/>
            </a:solidFill>
            <a:prstDash val="solid"/>
          </a:ln>
        </p:spPr>
      </p:sp>
      <p:sp>
        <p:nvSpPr>
          <p:cNvPr id="19" name="Text 16"/>
          <p:cNvSpPr txBox="1"/>
          <p:nvPr/>
        </p:nvSpPr>
        <p:spPr>
          <a:xfrm>
            <a:off x="4782312" y="2450592"/>
            <a:ext cx="282549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secret theft, phishing, clock drift</a:t>
            </a:r>
            <a:endParaRPr lang="en-US" sz="1150" dirty="0"/>
          </a:p>
        </p:txBody>
      </p:sp>
      <p:sp>
        <p:nvSpPr>
          <p:cNvPr id="20" name="Shape 17"/>
          <p:cNvSpPr/>
          <p:nvPr/>
        </p:nvSpPr>
        <p:spPr>
          <a:xfrm>
            <a:off x="8001000" y="2359152"/>
            <a:ext cx="3520440" cy="640080"/>
          </a:xfrm>
          <a:prstGeom prst="roundRect">
            <a:avLst/>
          </a:prstGeom>
          <a:solidFill>
            <a:srgbClr val="FFFFFF"/>
          </a:solidFill>
          <a:ln w="12700">
            <a:solidFill>
              <a:srgbClr val="CBD5E1"/>
            </a:solidFill>
            <a:prstDash val="solid"/>
          </a:ln>
        </p:spPr>
      </p:sp>
      <p:sp>
        <p:nvSpPr>
          <p:cNvPr id="21" name="Text 18"/>
          <p:cNvSpPr txBox="1"/>
          <p:nvPr/>
        </p:nvSpPr>
        <p:spPr>
          <a:xfrm>
            <a:off x="8074152" y="2450592"/>
            <a:ext cx="33741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broad compatibility</a:t>
            </a:r>
            <a:endParaRPr lang="en-US" sz="1150" dirty="0"/>
          </a:p>
        </p:txBody>
      </p:sp>
      <p:sp>
        <p:nvSpPr>
          <p:cNvPr id="22" name="Shape 19"/>
          <p:cNvSpPr/>
          <p:nvPr/>
        </p:nvSpPr>
        <p:spPr>
          <a:xfrm>
            <a:off x="640080" y="3182112"/>
            <a:ext cx="1645920" cy="640080"/>
          </a:xfrm>
          <a:prstGeom prst="roundRect">
            <a:avLst/>
          </a:prstGeom>
          <a:solidFill>
            <a:srgbClr val="EEF2FA"/>
          </a:solidFill>
          <a:ln w="12700">
            <a:solidFill>
              <a:srgbClr val="CBD5E1"/>
            </a:solidFill>
            <a:prstDash val="solid"/>
          </a:ln>
        </p:spPr>
      </p:sp>
      <p:sp>
        <p:nvSpPr>
          <p:cNvPr id="23" name="Text 20"/>
          <p:cNvSpPr txBox="1"/>
          <p:nvPr/>
        </p:nvSpPr>
        <p:spPr>
          <a:xfrm>
            <a:off x="713232" y="3273552"/>
            <a:ext cx="1499616" cy="457200"/>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FIDO2</a:t>
            </a:r>
            <a:endParaRPr lang="en-US" sz="1150" dirty="0"/>
          </a:p>
        </p:txBody>
      </p:sp>
      <p:sp>
        <p:nvSpPr>
          <p:cNvPr id="24" name="Shape 21"/>
          <p:cNvSpPr/>
          <p:nvPr/>
        </p:nvSpPr>
        <p:spPr>
          <a:xfrm>
            <a:off x="2514600" y="3182112"/>
            <a:ext cx="1920240" cy="640080"/>
          </a:xfrm>
          <a:prstGeom prst="roundRect">
            <a:avLst/>
          </a:prstGeom>
          <a:solidFill>
            <a:srgbClr val="EEF2FA"/>
          </a:solidFill>
          <a:ln w="12700">
            <a:solidFill>
              <a:srgbClr val="CBD5E1"/>
            </a:solidFill>
            <a:prstDash val="solid"/>
          </a:ln>
        </p:spPr>
      </p:sp>
      <p:sp>
        <p:nvSpPr>
          <p:cNvPr id="25" name="Text 22"/>
          <p:cNvSpPr txBox="1"/>
          <p:nvPr/>
        </p:nvSpPr>
        <p:spPr>
          <a:xfrm>
            <a:off x="2587752" y="3273552"/>
            <a:ext cx="17739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verifier name binding</a:t>
            </a:r>
            <a:endParaRPr lang="en-US" sz="1150" dirty="0"/>
          </a:p>
        </p:txBody>
      </p:sp>
      <p:sp>
        <p:nvSpPr>
          <p:cNvPr id="26" name="Shape 23"/>
          <p:cNvSpPr/>
          <p:nvPr/>
        </p:nvSpPr>
        <p:spPr>
          <a:xfrm>
            <a:off x="4709160" y="3182112"/>
            <a:ext cx="2971800" cy="640080"/>
          </a:xfrm>
          <a:prstGeom prst="roundRect">
            <a:avLst/>
          </a:prstGeom>
          <a:solidFill>
            <a:srgbClr val="EEF2FA"/>
          </a:solidFill>
          <a:ln w="12700">
            <a:solidFill>
              <a:srgbClr val="CBD5E1"/>
            </a:solidFill>
            <a:prstDash val="solid"/>
          </a:ln>
        </p:spPr>
      </p:sp>
      <p:sp>
        <p:nvSpPr>
          <p:cNvPr id="27" name="Text 24"/>
          <p:cNvSpPr txBox="1"/>
          <p:nvPr/>
        </p:nvSpPr>
        <p:spPr>
          <a:xfrm>
            <a:off x="4782312" y="3273552"/>
            <a:ext cx="282549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enrollment and recovery</a:t>
            </a:r>
            <a:endParaRPr lang="en-US" sz="1150" dirty="0"/>
          </a:p>
        </p:txBody>
      </p:sp>
      <p:sp>
        <p:nvSpPr>
          <p:cNvPr id="28" name="Shape 25"/>
          <p:cNvSpPr/>
          <p:nvPr/>
        </p:nvSpPr>
        <p:spPr>
          <a:xfrm>
            <a:off x="8001000" y="3182112"/>
            <a:ext cx="3520440" cy="640080"/>
          </a:xfrm>
          <a:prstGeom prst="roundRect">
            <a:avLst/>
          </a:prstGeom>
          <a:solidFill>
            <a:srgbClr val="EEF2FA"/>
          </a:solidFill>
          <a:ln w="12700">
            <a:solidFill>
              <a:srgbClr val="CBD5E1"/>
            </a:solidFill>
            <a:prstDash val="solid"/>
          </a:ln>
        </p:spPr>
      </p:sp>
      <p:sp>
        <p:nvSpPr>
          <p:cNvPr id="29" name="Text 26"/>
          <p:cNvSpPr txBox="1"/>
          <p:nvPr/>
        </p:nvSpPr>
        <p:spPr>
          <a:xfrm>
            <a:off x="8074152" y="3273552"/>
            <a:ext cx="33741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privileged access</a:t>
            </a:r>
            <a:endParaRPr lang="en-US" sz="1150" dirty="0"/>
          </a:p>
        </p:txBody>
      </p:sp>
      <p:sp>
        <p:nvSpPr>
          <p:cNvPr id="30" name="Shape 27"/>
          <p:cNvSpPr/>
          <p:nvPr/>
        </p:nvSpPr>
        <p:spPr>
          <a:xfrm>
            <a:off x="640080" y="4005072"/>
            <a:ext cx="1645920" cy="640080"/>
          </a:xfrm>
          <a:prstGeom prst="roundRect">
            <a:avLst/>
          </a:prstGeom>
          <a:solidFill>
            <a:srgbClr val="FFFFFF"/>
          </a:solidFill>
          <a:ln w="12700">
            <a:solidFill>
              <a:srgbClr val="CBD5E1"/>
            </a:solidFill>
            <a:prstDash val="solid"/>
          </a:ln>
        </p:spPr>
      </p:sp>
      <p:sp>
        <p:nvSpPr>
          <p:cNvPr id="31" name="Text 28"/>
          <p:cNvSpPr txBox="1"/>
          <p:nvPr/>
        </p:nvSpPr>
        <p:spPr>
          <a:xfrm>
            <a:off x="713232" y="4096512"/>
            <a:ext cx="1499616" cy="457200"/>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Push</a:t>
            </a:r>
            <a:endParaRPr lang="en-US" sz="1150" dirty="0"/>
          </a:p>
        </p:txBody>
      </p:sp>
      <p:sp>
        <p:nvSpPr>
          <p:cNvPr id="32" name="Shape 29"/>
          <p:cNvSpPr/>
          <p:nvPr/>
        </p:nvSpPr>
        <p:spPr>
          <a:xfrm>
            <a:off x="2514600" y="4005072"/>
            <a:ext cx="1920240" cy="640080"/>
          </a:xfrm>
          <a:prstGeom prst="roundRect">
            <a:avLst/>
          </a:prstGeom>
          <a:solidFill>
            <a:srgbClr val="FFFFFF"/>
          </a:solidFill>
          <a:ln w="12700">
            <a:solidFill>
              <a:srgbClr val="CBD5E1"/>
            </a:solidFill>
            <a:prstDash val="solid"/>
          </a:ln>
        </p:spPr>
      </p:sp>
      <p:sp>
        <p:nvSpPr>
          <p:cNvPr id="33" name="Text 30"/>
          <p:cNvSpPr txBox="1"/>
          <p:nvPr/>
        </p:nvSpPr>
        <p:spPr>
          <a:xfrm>
            <a:off x="2587752" y="4096512"/>
            <a:ext cx="17739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simple user experience</a:t>
            </a:r>
            <a:endParaRPr lang="en-US" sz="1150" dirty="0"/>
          </a:p>
        </p:txBody>
      </p:sp>
      <p:sp>
        <p:nvSpPr>
          <p:cNvPr id="34" name="Shape 31"/>
          <p:cNvSpPr/>
          <p:nvPr/>
        </p:nvSpPr>
        <p:spPr>
          <a:xfrm>
            <a:off x="4709160" y="4005072"/>
            <a:ext cx="2971800" cy="640080"/>
          </a:xfrm>
          <a:prstGeom prst="roundRect">
            <a:avLst/>
          </a:prstGeom>
          <a:solidFill>
            <a:srgbClr val="FFFFFF"/>
          </a:solidFill>
          <a:ln w="12700">
            <a:solidFill>
              <a:srgbClr val="CBD5E1"/>
            </a:solidFill>
            <a:prstDash val="solid"/>
          </a:ln>
        </p:spPr>
      </p:sp>
      <p:sp>
        <p:nvSpPr>
          <p:cNvPr id="35" name="Text 32"/>
          <p:cNvSpPr txBox="1"/>
          <p:nvPr/>
        </p:nvSpPr>
        <p:spPr>
          <a:xfrm>
            <a:off x="4782312" y="4096512"/>
            <a:ext cx="282549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fatigue and blind approval</a:t>
            </a:r>
            <a:endParaRPr lang="en-US" sz="1150" dirty="0"/>
          </a:p>
        </p:txBody>
      </p:sp>
      <p:sp>
        <p:nvSpPr>
          <p:cNvPr id="36" name="Shape 33"/>
          <p:cNvSpPr/>
          <p:nvPr/>
        </p:nvSpPr>
        <p:spPr>
          <a:xfrm>
            <a:off x="8001000" y="4005072"/>
            <a:ext cx="3520440" cy="640080"/>
          </a:xfrm>
          <a:prstGeom prst="roundRect">
            <a:avLst/>
          </a:prstGeom>
          <a:solidFill>
            <a:srgbClr val="FFFFFF"/>
          </a:solidFill>
          <a:ln w="12700">
            <a:solidFill>
              <a:srgbClr val="CBD5E1"/>
            </a:solidFill>
            <a:prstDash val="solid"/>
          </a:ln>
        </p:spPr>
      </p:sp>
      <p:sp>
        <p:nvSpPr>
          <p:cNvPr id="37" name="Text 34"/>
          <p:cNvSpPr txBox="1"/>
          <p:nvPr/>
        </p:nvSpPr>
        <p:spPr>
          <a:xfrm>
            <a:off x="8074152" y="4096512"/>
            <a:ext cx="33741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managed workforce with controls</a:t>
            </a:r>
            <a:endParaRPr lang="en-US" sz="1150" dirty="0"/>
          </a:p>
        </p:txBody>
      </p:sp>
      <p:sp>
        <p:nvSpPr>
          <p:cNvPr id="38" name="Shape 35"/>
          <p:cNvSpPr/>
          <p:nvPr/>
        </p:nvSpPr>
        <p:spPr>
          <a:xfrm>
            <a:off x="3794760" y="5138928"/>
            <a:ext cx="4526280" cy="274320"/>
          </a:xfrm>
          <a:prstGeom prst="roundRect">
            <a:avLst/>
          </a:prstGeom>
          <a:solidFill>
            <a:srgbClr val="70AD47"/>
          </a:solidFill>
          <a:ln w="12700">
            <a:solidFill>
              <a:srgbClr val="70AD47"/>
            </a:solidFill>
            <a:prstDash val="solid"/>
          </a:ln>
        </p:spPr>
      </p:sp>
      <p:sp>
        <p:nvSpPr>
          <p:cNvPr id="39" name="Text 36"/>
          <p:cNvSpPr txBox="1"/>
          <p:nvPr/>
        </p:nvSpPr>
        <p:spPr>
          <a:xfrm>
            <a:off x="3867912" y="5157216"/>
            <a:ext cx="43799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SECURITY IS A SYSTEM PROPERTY</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ENROLLMENT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MFA enrollment is part of the security boundary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secure login can be undermined by an insecure setup or recovery path.</a:t>
            </a:r>
            <a:endParaRPr lang="en-US" sz="1250" dirty="0"/>
          </a:p>
        </p:txBody>
      </p:sp>
      <p:sp>
        <p:nvSpPr>
          <p:cNvPr id="6" name="Shape 3"/>
          <p:cNvSpPr/>
          <p:nvPr/>
        </p:nvSpPr>
        <p:spPr>
          <a:xfrm>
            <a:off x="1344168" y="187452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Proof</a:t>
            </a:r>
            <a:endParaRPr lang="en-US" sz="1700" dirty="0"/>
          </a:p>
        </p:txBody>
      </p:sp>
      <p:sp>
        <p:nvSpPr>
          <p:cNvPr id="9" name="Text 6"/>
          <p:cNvSpPr txBox="1"/>
          <p:nvPr/>
        </p:nvSpPr>
        <p:spPr>
          <a:xfrm>
            <a:off x="594360"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identity check</a:t>
            </a:r>
            <a:endParaRPr lang="en-US" sz="1250" dirty="0"/>
          </a:p>
        </p:txBody>
      </p:sp>
      <p:sp>
        <p:nvSpPr>
          <p:cNvPr id="10" name="Shape 7"/>
          <p:cNvSpPr/>
          <p:nvPr/>
        </p:nvSpPr>
        <p:spPr>
          <a:xfrm>
            <a:off x="2011680" y="2157984"/>
            <a:ext cx="640080" cy="0"/>
          </a:xfrm>
          <a:prstGeom prst="line">
            <a:avLst/>
          </a:prstGeom>
          <a:noFill/>
          <a:ln w="25400">
            <a:solidFill>
              <a:srgbClr val="94A3B8"/>
            </a:solidFill>
            <a:prstDash val="solid"/>
            <a:headEnd type="none"/>
            <a:tailEnd type="triangle"/>
          </a:ln>
        </p:spPr>
      </p:sp>
      <p:sp>
        <p:nvSpPr>
          <p:cNvPr id="11" name="Shape 8"/>
          <p:cNvSpPr/>
          <p:nvPr/>
        </p:nvSpPr>
        <p:spPr>
          <a:xfrm>
            <a:off x="3648456" y="1874520"/>
            <a:ext cx="566928" cy="566928"/>
          </a:xfrm>
          <a:prstGeom prst="ellipse">
            <a:avLst/>
          </a:prstGeom>
          <a:solidFill>
            <a:srgbClr val="4F81BD"/>
          </a:solidFill>
          <a:ln w="12700">
            <a:solidFill>
              <a:srgbClr val="4F81BD"/>
            </a:solidFill>
            <a:prstDash val="solid"/>
          </a:ln>
        </p:spPr>
      </p:sp>
      <p:sp>
        <p:nvSpPr>
          <p:cNvPr id="12" name="Text 9"/>
          <p:cNvSpPr txBox="1"/>
          <p:nvPr/>
        </p:nvSpPr>
        <p:spPr>
          <a:xfrm>
            <a:off x="3648456"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Bind</a:t>
            </a:r>
            <a:endParaRPr lang="en-US" sz="1700" dirty="0"/>
          </a:p>
        </p:txBody>
      </p:sp>
      <p:sp>
        <p:nvSpPr>
          <p:cNvPr id="14" name="Text 11"/>
          <p:cNvSpPr txBox="1"/>
          <p:nvPr/>
        </p:nvSpPr>
        <p:spPr>
          <a:xfrm>
            <a:off x="2898648"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register authenticator</a:t>
            </a:r>
            <a:endParaRPr lang="en-US" sz="1250" dirty="0"/>
          </a:p>
        </p:txBody>
      </p:sp>
      <p:sp>
        <p:nvSpPr>
          <p:cNvPr id="15" name="Shape 12"/>
          <p:cNvSpPr/>
          <p:nvPr/>
        </p:nvSpPr>
        <p:spPr>
          <a:xfrm>
            <a:off x="4315968" y="2157984"/>
            <a:ext cx="640080" cy="0"/>
          </a:xfrm>
          <a:prstGeom prst="line">
            <a:avLst/>
          </a:prstGeom>
          <a:noFill/>
          <a:ln w="25400">
            <a:solidFill>
              <a:srgbClr val="94A3B8"/>
            </a:solidFill>
            <a:prstDash val="solid"/>
            <a:headEnd type="none"/>
            <a:tailEnd type="triangle"/>
          </a:ln>
        </p:spPr>
      </p:sp>
      <p:sp>
        <p:nvSpPr>
          <p:cNvPr id="16" name="Shape 13"/>
          <p:cNvSpPr/>
          <p:nvPr/>
        </p:nvSpPr>
        <p:spPr>
          <a:xfrm>
            <a:off x="5952744" y="1874520"/>
            <a:ext cx="566928" cy="566928"/>
          </a:xfrm>
          <a:prstGeom prst="ellipse">
            <a:avLst/>
          </a:prstGeom>
          <a:solidFill>
            <a:srgbClr val="F79646"/>
          </a:solidFill>
          <a:ln w="12700">
            <a:solidFill>
              <a:srgbClr val="F79646"/>
            </a:solidFill>
            <a:prstDash val="solid"/>
          </a:ln>
        </p:spPr>
      </p:sp>
      <p:sp>
        <p:nvSpPr>
          <p:cNvPr id="17" name="Text 14"/>
          <p:cNvSpPr txBox="1"/>
          <p:nvPr/>
        </p:nvSpPr>
        <p:spPr>
          <a:xfrm>
            <a:off x="5952744"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Test</a:t>
            </a:r>
            <a:endParaRPr lang="en-US" sz="1700" dirty="0"/>
          </a:p>
        </p:txBody>
      </p:sp>
      <p:sp>
        <p:nvSpPr>
          <p:cNvPr id="19" name="Text 16"/>
          <p:cNvSpPr txBox="1"/>
          <p:nvPr/>
        </p:nvSpPr>
        <p:spPr>
          <a:xfrm>
            <a:off x="5202936"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complete challenge</a:t>
            </a:r>
            <a:endParaRPr lang="en-US" sz="1250" dirty="0"/>
          </a:p>
        </p:txBody>
      </p:sp>
      <p:sp>
        <p:nvSpPr>
          <p:cNvPr id="20" name="Shape 17"/>
          <p:cNvSpPr/>
          <p:nvPr/>
        </p:nvSpPr>
        <p:spPr>
          <a:xfrm>
            <a:off x="6620256" y="2157984"/>
            <a:ext cx="640080" cy="0"/>
          </a:xfrm>
          <a:prstGeom prst="line">
            <a:avLst/>
          </a:prstGeom>
          <a:noFill/>
          <a:ln w="25400">
            <a:solidFill>
              <a:srgbClr val="94A3B8"/>
            </a:solidFill>
            <a:prstDash val="solid"/>
            <a:headEnd type="none"/>
            <a:tailEnd type="triangle"/>
          </a:ln>
        </p:spPr>
      </p:sp>
      <p:sp>
        <p:nvSpPr>
          <p:cNvPr id="21" name="Shape 18"/>
          <p:cNvSpPr/>
          <p:nvPr/>
        </p:nvSpPr>
        <p:spPr>
          <a:xfrm>
            <a:off x="8257032" y="187452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57032"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Protect</a:t>
            </a:r>
            <a:endParaRPr lang="en-US" sz="1700" dirty="0"/>
          </a:p>
        </p:txBody>
      </p:sp>
      <p:sp>
        <p:nvSpPr>
          <p:cNvPr id="24" name="Text 21"/>
          <p:cNvSpPr txBox="1"/>
          <p:nvPr/>
        </p:nvSpPr>
        <p:spPr>
          <a:xfrm>
            <a:off x="7507224"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recovery and backup</a:t>
            </a:r>
            <a:endParaRPr lang="en-US" sz="1250" dirty="0"/>
          </a:p>
        </p:txBody>
      </p:sp>
      <p:sp>
        <p:nvSpPr>
          <p:cNvPr id="25" name="Shape 22"/>
          <p:cNvSpPr/>
          <p:nvPr/>
        </p:nvSpPr>
        <p:spPr>
          <a:xfrm>
            <a:off x="8924544" y="2157984"/>
            <a:ext cx="640080" cy="0"/>
          </a:xfrm>
          <a:prstGeom prst="line">
            <a:avLst/>
          </a:prstGeom>
          <a:noFill/>
          <a:ln w="25400">
            <a:solidFill>
              <a:srgbClr val="94A3B8"/>
            </a:solidFill>
            <a:prstDash val="solid"/>
            <a:headEnd type="none"/>
            <a:tailEnd type="triangle"/>
          </a:ln>
        </p:spPr>
      </p:sp>
      <p:sp>
        <p:nvSpPr>
          <p:cNvPr id="26" name="Shape 23"/>
          <p:cNvSpPr/>
          <p:nvPr/>
        </p:nvSpPr>
        <p:spPr>
          <a:xfrm>
            <a:off x="10561320" y="1874520"/>
            <a:ext cx="566928" cy="566928"/>
          </a:xfrm>
          <a:prstGeom prst="ellipse">
            <a:avLst/>
          </a:prstGeom>
          <a:solidFill>
            <a:srgbClr val="C0504D"/>
          </a:solidFill>
          <a:ln w="12700">
            <a:solidFill>
              <a:srgbClr val="C0504D"/>
            </a:solidFill>
            <a:prstDash val="solid"/>
          </a:ln>
        </p:spPr>
      </p:sp>
      <p:sp>
        <p:nvSpPr>
          <p:cNvPr id="27" name="Text 24"/>
          <p:cNvSpPr txBox="1"/>
          <p:nvPr/>
        </p:nvSpPr>
        <p:spPr>
          <a:xfrm>
            <a:off x="10561320"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Revoke</a:t>
            </a:r>
            <a:endParaRPr lang="en-US" sz="1700" dirty="0"/>
          </a:p>
        </p:txBody>
      </p:sp>
      <p:sp>
        <p:nvSpPr>
          <p:cNvPr id="29" name="Text 26"/>
          <p:cNvSpPr txBox="1"/>
          <p:nvPr/>
        </p:nvSpPr>
        <p:spPr>
          <a:xfrm>
            <a:off x="9811512"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loss or compromise</a:t>
            </a:r>
            <a:endParaRPr lang="en-US" sz="1250" dirty="0"/>
          </a:p>
        </p:txBody>
      </p:sp>
      <p:sp>
        <p:nvSpPr>
          <p:cNvPr id="30" name="Shape 27"/>
          <p:cNvSpPr/>
          <p:nvPr/>
        </p:nvSpPr>
        <p:spPr>
          <a:xfrm>
            <a:off x="1005840" y="4498848"/>
            <a:ext cx="10149840" cy="749808"/>
          </a:xfrm>
          <a:prstGeom prst="roundRect">
            <a:avLst/>
          </a:prstGeom>
          <a:solidFill>
            <a:srgbClr val="FFFFFF"/>
          </a:solidFill>
          <a:ln w="12700">
            <a:solidFill>
              <a:srgbClr val="C0504D"/>
            </a:solidFill>
            <a:prstDash val="solid"/>
          </a:ln>
        </p:spPr>
      </p:sp>
      <p:sp>
        <p:nvSpPr>
          <p:cNvPr id="31" name="Shape 28"/>
          <p:cNvSpPr/>
          <p:nvPr/>
        </p:nvSpPr>
        <p:spPr>
          <a:xfrm>
            <a:off x="1005840" y="4498848"/>
            <a:ext cx="100584" cy="749808"/>
          </a:xfrm>
          <a:prstGeom prst="rect">
            <a:avLst/>
          </a:prstGeom>
          <a:solidFill>
            <a:srgbClr val="C0504D"/>
          </a:solidFill>
          <a:ln w="12700">
            <a:solidFill>
              <a:srgbClr val="C0504D"/>
            </a:solidFill>
            <a:prstDash val="solid"/>
          </a:ln>
        </p:spPr>
      </p:sp>
      <p:sp>
        <p:nvSpPr>
          <p:cNvPr id="32" name="Text 29"/>
          <p:cNvSpPr txBox="1"/>
          <p:nvPr/>
        </p:nvSpPr>
        <p:spPr>
          <a:xfrm>
            <a:off x="1243584" y="4608576"/>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Red flag</a:t>
            </a:r>
            <a:endParaRPr lang="en-US" sz="1400" dirty="0"/>
          </a:p>
        </p:txBody>
      </p:sp>
      <p:sp>
        <p:nvSpPr>
          <p:cNvPr id="33" name="Text 30"/>
          <p:cNvSpPr txBox="1"/>
          <p:nvPr/>
        </p:nvSpPr>
        <p:spPr>
          <a:xfrm>
            <a:off x="1243584" y="4910328"/>
            <a:ext cx="9802368" cy="24688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Help-desk recovery is authentication. Treat it like a privileged operation.</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MFA FAILURE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Availability and security fail in different ways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good design anticipates both lockout and bypass.</a:t>
            </a:r>
            <a:endParaRPr lang="en-US" sz="1250" dirty="0"/>
          </a:p>
        </p:txBody>
      </p:sp>
      <p:sp>
        <p:nvSpPr>
          <p:cNvPr id="6" name="Shape 3"/>
          <p:cNvSpPr/>
          <p:nvPr/>
        </p:nvSpPr>
        <p:spPr>
          <a:xfrm>
            <a:off x="777240" y="1874520"/>
            <a:ext cx="4800600" cy="1024128"/>
          </a:xfrm>
          <a:prstGeom prst="roundRect">
            <a:avLst/>
          </a:prstGeom>
          <a:solidFill>
            <a:srgbClr val="FFFFFF"/>
          </a:solidFill>
          <a:ln w="12700">
            <a:solidFill>
              <a:srgbClr val="F79646"/>
            </a:solidFill>
            <a:prstDash val="solid"/>
          </a:ln>
        </p:spPr>
      </p:sp>
      <p:sp>
        <p:nvSpPr>
          <p:cNvPr id="7" name="Shape 4"/>
          <p:cNvSpPr/>
          <p:nvPr/>
        </p:nvSpPr>
        <p:spPr>
          <a:xfrm>
            <a:off x="777240" y="1874520"/>
            <a:ext cx="100584" cy="1024128"/>
          </a:xfrm>
          <a:prstGeom prst="rect">
            <a:avLst/>
          </a:prstGeom>
          <a:solidFill>
            <a:srgbClr val="F79646"/>
          </a:solidFill>
          <a:ln w="12700">
            <a:solidFill>
              <a:srgbClr val="F79646"/>
            </a:solidFill>
            <a:prstDash val="solid"/>
          </a:ln>
        </p:spPr>
      </p:sp>
      <p:sp>
        <p:nvSpPr>
          <p:cNvPr id="8" name="Text 5"/>
          <p:cNvSpPr txBox="1"/>
          <p:nvPr/>
        </p:nvSpPr>
        <p:spPr>
          <a:xfrm>
            <a:off x="1014984" y="198424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Lockout</a:t>
            </a:r>
            <a:endParaRPr lang="en-US" sz="1400" dirty="0"/>
          </a:p>
        </p:txBody>
      </p:sp>
      <p:sp>
        <p:nvSpPr>
          <p:cNvPr id="9" name="Text 6"/>
          <p:cNvSpPr txBox="1"/>
          <p:nvPr/>
        </p:nvSpPr>
        <p:spPr>
          <a:xfrm>
            <a:off x="1014984" y="228600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legitimate user cannot authenticate</a:t>
            </a:r>
            <a:endParaRPr lang="en-US" sz="1250" dirty="0"/>
          </a:p>
        </p:txBody>
      </p:sp>
      <p:sp>
        <p:nvSpPr>
          <p:cNvPr id="10" name="Shape 7"/>
          <p:cNvSpPr/>
          <p:nvPr/>
        </p:nvSpPr>
        <p:spPr>
          <a:xfrm>
            <a:off x="6309360" y="1874520"/>
            <a:ext cx="4800600" cy="1024128"/>
          </a:xfrm>
          <a:prstGeom prst="roundRect">
            <a:avLst/>
          </a:prstGeom>
          <a:solidFill>
            <a:srgbClr val="FFFFFF"/>
          </a:solidFill>
          <a:ln w="12700">
            <a:solidFill>
              <a:srgbClr val="C0504D"/>
            </a:solidFill>
            <a:prstDash val="solid"/>
          </a:ln>
        </p:spPr>
      </p:sp>
      <p:sp>
        <p:nvSpPr>
          <p:cNvPr id="11" name="Shape 8"/>
          <p:cNvSpPr/>
          <p:nvPr/>
        </p:nvSpPr>
        <p:spPr>
          <a:xfrm>
            <a:off x="6309360" y="1874520"/>
            <a:ext cx="100584" cy="1024128"/>
          </a:xfrm>
          <a:prstGeom prst="rect">
            <a:avLst/>
          </a:prstGeom>
          <a:solidFill>
            <a:srgbClr val="C0504D"/>
          </a:solidFill>
          <a:ln w="12700">
            <a:solidFill>
              <a:srgbClr val="C0504D"/>
            </a:solidFill>
            <a:prstDash val="solid"/>
          </a:ln>
        </p:spPr>
      </p:sp>
      <p:sp>
        <p:nvSpPr>
          <p:cNvPr id="12" name="Text 9"/>
          <p:cNvSpPr txBox="1"/>
          <p:nvPr/>
        </p:nvSpPr>
        <p:spPr>
          <a:xfrm>
            <a:off x="6547104" y="198424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Bypass</a:t>
            </a:r>
            <a:endParaRPr lang="en-US" sz="1400" dirty="0"/>
          </a:p>
        </p:txBody>
      </p:sp>
      <p:sp>
        <p:nvSpPr>
          <p:cNvPr id="13" name="Text 10"/>
          <p:cNvSpPr txBox="1"/>
          <p:nvPr/>
        </p:nvSpPr>
        <p:spPr>
          <a:xfrm>
            <a:off x="6547104" y="228600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attacker gets an exception</a:t>
            </a:r>
            <a:endParaRPr lang="en-US" sz="1250" dirty="0"/>
          </a:p>
        </p:txBody>
      </p:sp>
      <p:sp>
        <p:nvSpPr>
          <p:cNvPr id="14" name="Shape 11"/>
          <p:cNvSpPr/>
          <p:nvPr/>
        </p:nvSpPr>
        <p:spPr>
          <a:xfrm>
            <a:off x="777240" y="3291840"/>
            <a:ext cx="4800600" cy="1024128"/>
          </a:xfrm>
          <a:prstGeom prst="roundRect">
            <a:avLst/>
          </a:prstGeom>
          <a:solidFill>
            <a:srgbClr val="FFFFFF"/>
          </a:solidFill>
          <a:ln w="12700">
            <a:solidFill>
              <a:srgbClr val="4F81BD"/>
            </a:solidFill>
            <a:prstDash val="solid"/>
          </a:ln>
        </p:spPr>
      </p:sp>
      <p:sp>
        <p:nvSpPr>
          <p:cNvPr id="15" name="Shape 12"/>
          <p:cNvSpPr/>
          <p:nvPr/>
        </p:nvSpPr>
        <p:spPr>
          <a:xfrm>
            <a:off x="777240" y="3291840"/>
            <a:ext cx="100584" cy="1024128"/>
          </a:xfrm>
          <a:prstGeom prst="rect">
            <a:avLst/>
          </a:prstGeom>
          <a:solidFill>
            <a:srgbClr val="4F81BD"/>
          </a:solidFill>
          <a:ln w="12700">
            <a:solidFill>
              <a:srgbClr val="4F81BD"/>
            </a:solidFill>
            <a:prstDash val="solid"/>
          </a:ln>
        </p:spPr>
      </p:sp>
      <p:sp>
        <p:nvSpPr>
          <p:cNvPr id="16" name="Text 13"/>
          <p:cNvSpPr txBox="1"/>
          <p:nvPr/>
        </p:nvSpPr>
        <p:spPr>
          <a:xfrm>
            <a:off x="1014984" y="340156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Outage</a:t>
            </a:r>
            <a:endParaRPr lang="en-US" sz="1400" dirty="0"/>
          </a:p>
        </p:txBody>
      </p:sp>
      <p:sp>
        <p:nvSpPr>
          <p:cNvPr id="17" name="Text 14"/>
          <p:cNvSpPr txBox="1"/>
          <p:nvPr/>
        </p:nvSpPr>
        <p:spPr>
          <a:xfrm>
            <a:off x="1014984" y="370332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provider or network unavailable</a:t>
            </a:r>
            <a:endParaRPr lang="en-US" sz="1250" dirty="0"/>
          </a:p>
        </p:txBody>
      </p:sp>
      <p:sp>
        <p:nvSpPr>
          <p:cNvPr id="18" name="Shape 15"/>
          <p:cNvSpPr/>
          <p:nvPr/>
        </p:nvSpPr>
        <p:spPr>
          <a:xfrm>
            <a:off x="6309360" y="3291840"/>
            <a:ext cx="4800600" cy="1024128"/>
          </a:xfrm>
          <a:prstGeom prst="roundRect">
            <a:avLst/>
          </a:prstGeom>
          <a:solidFill>
            <a:srgbClr val="FFFFFF"/>
          </a:solidFill>
          <a:ln w="12700">
            <a:solidFill>
              <a:srgbClr val="70AD47"/>
            </a:solidFill>
            <a:prstDash val="solid"/>
          </a:ln>
        </p:spPr>
      </p:sp>
      <p:sp>
        <p:nvSpPr>
          <p:cNvPr id="19" name="Shape 16"/>
          <p:cNvSpPr/>
          <p:nvPr/>
        </p:nvSpPr>
        <p:spPr>
          <a:xfrm>
            <a:off x="6309360" y="3291840"/>
            <a:ext cx="100584" cy="1024128"/>
          </a:xfrm>
          <a:prstGeom prst="rect">
            <a:avLst/>
          </a:prstGeom>
          <a:solidFill>
            <a:srgbClr val="70AD47"/>
          </a:solidFill>
          <a:ln w="12700">
            <a:solidFill>
              <a:srgbClr val="70AD47"/>
            </a:solidFill>
            <a:prstDash val="solid"/>
          </a:ln>
        </p:spPr>
      </p:sp>
      <p:sp>
        <p:nvSpPr>
          <p:cNvPr id="20" name="Text 17"/>
          <p:cNvSpPr txBox="1"/>
          <p:nvPr/>
        </p:nvSpPr>
        <p:spPr>
          <a:xfrm>
            <a:off x="6547104" y="340156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Recovery</a:t>
            </a:r>
            <a:endParaRPr lang="en-US" sz="1400" dirty="0"/>
          </a:p>
        </p:txBody>
      </p:sp>
      <p:sp>
        <p:nvSpPr>
          <p:cNvPr id="21" name="Text 18"/>
          <p:cNvSpPr txBox="1"/>
          <p:nvPr/>
        </p:nvSpPr>
        <p:spPr>
          <a:xfrm>
            <a:off x="6547104" y="370332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new factor must be bound</a:t>
            </a:r>
            <a:endParaRPr lang="en-US" sz="1250" dirty="0"/>
          </a:p>
        </p:txBody>
      </p:sp>
      <p:sp>
        <p:nvSpPr>
          <p:cNvPr id="22" name="Shape 19"/>
          <p:cNvSpPr/>
          <p:nvPr/>
        </p:nvSpPr>
        <p:spPr>
          <a:xfrm>
            <a:off x="3017520" y="4983480"/>
            <a:ext cx="6126480" cy="274320"/>
          </a:xfrm>
          <a:prstGeom prst="roundRect">
            <a:avLst/>
          </a:prstGeom>
          <a:solidFill>
            <a:srgbClr val="F79646"/>
          </a:solidFill>
          <a:ln w="12700">
            <a:solidFill>
              <a:srgbClr val="F79646"/>
            </a:solidFill>
            <a:prstDash val="solid"/>
          </a:ln>
        </p:spPr>
      </p:sp>
      <p:sp>
        <p:nvSpPr>
          <p:cNvPr id="23" name="Text 20"/>
          <p:cNvSpPr txBox="1"/>
          <p:nvPr/>
        </p:nvSpPr>
        <p:spPr>
          <a:xfrm>
            <a:off x="3090672" y="5001768"/>
            <a:ext cx="59801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DISCUSS · WHICH FAILURE IS MOST DANGEROUS?</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PRIVILEGE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sudo is a policy engine, not a magic word</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Privilege should be granted for a task, not for a person’s status.</a:t>
            </a:r>
            <a:endParaRPr lang="en-US" sz="1250" dirty="0"/>
          </a:p>
        </p:txBody>
      </p:sp>
      <p:sp>
        <p:nvSpPr>
          <p:cNvPr id="6" name="Shape 3"/>
          <p:cNvSpPr/>
          <p:nvPr/>
        </p:nvSpPr>
        <p:spPr>
          <a:xfrm>
            <a:off x="822960" y="1920240"/>
            <a:ext cx="6172200" cy="2011680"/>
          </a:xfrm>
          <a:prstGeom prst="roundRect">
            <a:avLst/>
          </a:prstGeom>
          <a:solidFill>
            <a:srgbClr val="16202C"/>
          </a:solidFill>
          <a:ln w="12700">
            <a:solidFill>
              <a:srgbClr val="16202C"/>
            </a:solidFill>
            <a:prstDash val="solid"/>
          </a:ln>
        </p:spPr>
      </p:sp>
      <p:sp>
        <p:nvSpPr>
          <p:cNvPr id="7" name="Shape 4"/>
          <p:cNvSpPr/>
          <p:nvPr/>
        </p:nvSpPr>
        <p:spPr>
          <a:xfrm>
            <a:off x="822960" y="1920240"/>
            <a:ext cx="91440" cy="2011680"/>
          </a:xfrm>
          <a:prstGeom prst="rect">
            <a:avLst/>
          </a:prstGeom>
          <a:solidFill>
            <a:srgbClr val="4F81BD"/>
          </a:solidFill>
          <a:ln w="12700">
            <a:solidFill>
              <a:srgbClr val="4F81BD"/>
            </a:solidFill>
            <a:prstDash val="solid"/>
          </a:ln>
        </p:spPr>
      </p:sp>
      <p:sp>
        <p:nvSpPr>
          <p:cNvPr id="8" name="Text 5"/>
          <p:cNvSpPr txBox="1"/>
          <p:nvPr/>
        </p:nvSpPr>
        <p:spPr>
          <a:xfrm>
            <a:off x="1024128" y="2029968"/>
            <a:ext cx="5861304" cy="181051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Cmnd_Alias SERVICE_RESTART = /bin/systemctl restart nginx</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%webops ALL=(root) SERVICE_RESTART</a:t>
            </a:r>
            <a:endParaRPr lang="en-US" sz="1100" dirty="0"/>
          </a:p>
          <a:p>
            <a:pPr algn="l" indent="0" marL="0">
              <a:buNone/>
            </a:pP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 Prefer narrow, reviewable rules over ALL=(ALL) ALL</a:t>
            </a:r>
            <a:endParaRPr lang="en-US" sz="1100" dirty="0"/>
          </a:p>
        </p:txBody>
      </p:sp>
      <p:sp>
        <p:nvSpPr>
          <p:cNvPr id="9" name="Shape 6"/>
          <p:cNvSpPr/>
          <p:nvPr/>
        </p:nvSpPr>
        <p:spPr>
          <a:xfrm>
            <a:off x="7498080" y="1920240"/>
            <a:ext cx="3429000" cy="2011680"/>
          </a:xfrm>
          <a:prstGeom prst="roundRect">
            <a:avLst/>
          </a:prstGeom>
          <a:solidFill>
            <a:srgbClr val="FFFFFF"/>
          </a:solidFill>
          <a:ln w="12700">
            <a:solidFill>
              <a:srgbClr val="CBD5E1"/>
            </a:solidFill>
            <a:prstDash val="solid"/>
          </a:ln>
        </p:spPr>
      </p:sp>
      <p:sp>
        <p:nvSpPr>
          <p:cNvPr id="10" name="Shape 7"/>
          <p:cNvSpPr/>
          <p:nvPr/>
        </p:nvSpPr>
        <p:spPr>
          <a:xfrm>
            <a:off x="7498080" y="1920240"/>
            <a:ext cx="3429000" cy="292608"/>
          </a:xfrm>
          <a:prstGeom prst="roundRect">
            <a:avLst/>
          </a:prstGeom>
          <a:solidFill>
            <a:srgbClr val="70AD47"/>
          </a:solidFill>
          <a:ln w="12700">
            <a:solidFill>
              <a:srgbClr val="70AD47"/>
            </a:solidFill>
            <a:prstDash val="solid"/>
          </a:ln>
        </p:spPr>
      </p:sp>
      <p:sp>
        <p:nvSpPr>
          <p:cNvPr id="11" name="Text 8"/>
          <p:cNvSpPr txBox="1"/>
          <p:nvPr/>
        </p:nvSpPr>
        <p:spPr>
          <a:xfrm>
            <a:off x="7607808" y="1956816"/>
            <a:ext cx="3209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LEAST PRIVILEGE</a:t>
            </a:r>
            <a:endParaRPr lang="en-US" sz="1100" dirty="0"/>
          </a:p>
        </p:txBody>
      </p:sp>
      <p:sp>
        <p:nvSpPr>
          <p:cNvPr id="12" name="Text 9"/>
          <p:cNvSpPr txBox="1"/>
          <p:nvPr/>
        </p:nvSpPr>
        <p:spPr>
          <a:xfrm>
            <a:off x="7607808" y="2331720"/>
            <a:ext cx="3209544" cy="150876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Specific command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Specific account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Recorded event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Reviewable owner</a:t>
            </a:r>
            <a:endParaRPr lang="en-US" sz="1300" dirty="0"/>
          </a:p>
        </p:txBody>
      </p:sp>
      <p:sp>
        <p:nvSpPr>
          <p:cNvPr id="13" name="Shape 10"/>
          <p:cNvSpPr/>
          <p:nvPr/>
        </p:nvSpPr>
        <p:spPr>
          <a:xfrm>
            <a:off x="1005840" y="4572000"/>
            <a:ext cx="10104120" cy="731520"/>
          </a:xfrm>
          <a:prstGeom prst="roundRect">
            <a:avLst/>
          </a:prstGeom>
          <a:solidFill>
            <a:srgbClr val="FFFFFF"/>
          </a:solidFill>
          <a:ln w="12700">
            <a:solidFill>
              <a:srgbClr val="F79646"/>
            </a:solidFill>
            <a:prstDash val="solid"/>
          </a:ln>
        </p:spPr>
      </p:sp>
      <p:sp>
        <p:nvSpPr>
          <p:cNvPr id="14" name="Shape 11"/>
          <p:cNvSpPr/>
          <p:nvPr/>
        </p:nvSpPr>
        <p:spPr>
          <a:xfrm>
            <a:off x="1005840" y="4572000"/>
            <a:ext cx="100584" cy="731520"/>
          </a:xfrm>
          <a:prstGeom prst="rect">
            <a:avLst/>
          </a:prstGeom>
          <a:solidFill>
            <a:srgbClr val="F79646"/>
          </a:solidFill>
          <a:ln w="12700">
            <a:solidFill>
              <a:srgbClr val="F79646"/>
            </a:solidFill>
            <a:prstDash val="solid"/>
          </a:ln>
        </p:spPr>
      </p:sp>
      <p:sp>
        <p:nvSpPr>
          <p:cNvPr id="15" name="Text 12"/>
          <p:cNvSpPr txBox="1"/>
          <p:nvPr/>
        </p:nvSpPr>
        <p:spPr>
          <a:xfrm>
            <a:off x="1243584" y="468172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Design check</a:t>
            </a:r>
            <a:endParaRPr lang="en-US" sz="1400" dirty="0"/>
          </a:p>
        </p:txBody>
      </p:sp>
      <p:sp>
        <p:nvSpPr>
          <p:cNvPr id="16" name="Text 13"/>
          <p:cNvSpPr txBox="1"/>
          <p:nvPr/>
        </p:nvSpPr>
        <p:spPr>
          <a:xfrm>
            <a:off x="1243584" y="4983480"/>
            <a:ext cx="975664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Can the operator explain why this command is allowed and how it will be reviewed?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AUDIT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Session recording is evidence, not permission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Logging tells you what happened after authorization succeeds.</a:t>
            </a:r>
            <a:endParaRPr lang="en-US" sz="1250" dirty="0"/>
          </a:p>
        </p:txBody>
      </p:sp>
      <p:sp>
        <p:nvSpPr>
          <p:cNvPr id="6" name="Shape 3"/>
          <p:cNvSpPr/>
          <p:nvPr/>
        </p:nvSpPr>
        <p:spPr>
          <a:xfrm>
            <a:off x="594360" y="2011680"/>
            <a:ext cx="2286000" cy="1920240"/>
          </a:xfrm>
          <a:prstGeom prst="roundRect">
            <a:avLst/>
          </a:prstGeom>
          <a:solidFill>
            <a:srgbClr val="FFFFFF"/>
          </a:solidFill>
          <a:ln w="12700">
            <a:solidFill>
              <a:srgbClr val="CBD5E1"/>
            </a:solidFill>
            <a:prstDash val="solid"/>
          </a:ln>
        </p:spPr>
      </p:sp>
      <p:sp>
        <p:nvSpPr>
          <p:cNvPr id="7" name="Shape 4"/>
          <p:cNvSpPr/>
          <p:nvPr/>
        </p:nvSpPr>
        <p:spPr>
          <a:xfrm>
            <a:off x="594360" y="2011680"/>
            <a:ext cx="2286000" cy="292608"/>
          </a:xfrm>
          <a:prstGeom prst="roundRect">
            <a:avLst/>
          </a:prstGeom>
          <a:solidFill>
            <a:srgbClr val="4BACC6"/>
          </a:solidFill>
          <a:ln w="12700">
            <a:solidFill>
              <a:srgbClr val="4BACC6"/>
            </a:solidFill>
            <a:prstDash val="solid"/>
          </a:ln>
        </p:spPr>
      </p:sp>
      <p:sp>
        <p:nvSpPr>
          <p:cNvPr id="8" name="Text 5"/>
          <p:cNvSpPr txBox="1"/>
          <p:nvPr/>
        </p:nvSpPr>
        <p:spPr>
          <a:xfrm>
            <a:off x="704088"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Prevent</a:t>
            </a:r>
            <a:endParaRPr lang="en-US" sz="1100" dirty="0"/>
          </a:p>
        </p:txBody>
      </p:sp>
      <p:sp>
        <p:nvSpPr>
          <p:cNvPr id="9" name="Text 6"/>
          <p:cNvSpPr txBox="1"/>
          <p:nvPr/>
        </p:nvSpPr>
        <p:spPr>
          <a:xfrm>
            <a:off x="704088"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sudo policy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least privilege</a:t>
            </a:r>
            <a:endParaRPr lang="en-US" sz="1300" dirty="0"/>
          </a:p>
        </p:txBody>
      </p:sp>
      <p:sp>
        <p:nvSpPr>
          <p:cNvPr id="10" name="Shape 7"/>
          <p:cNvSpPr/>
          <p:nvPr/>
        </p:nvSpPr>
        <p:spPr>
          <a:xfrm>
            <a:off x="2990088" y="2971800"/>
            <a:ext cx="347472" cy="0"/>
          </a:xfrm>
          <a:prstGeom prst="line">
            <a:avLst/>
          </a:prstGeom>
          <a:noFill/>
          <a:ln w="25400">
            <a:solidFill>
              <a:srgbClr val="94A3B8"/>
            </a:solidFill>
            <a:prstDash val="solid"/>
            <a:headEnd type="none"/>
            <a:tailEnd type="triangle"/>
          </a:ln>
        </p:spPr>
      </p:sp>
      <p:sp>
        <p:nvSpPr>
          <p:cNvPr id="11" name="Shape 8"/>
          <p:cNvSpPr/>
          <p:nvPr/>
        </p:nvSpPr>
        <p:spPr>
          <a:xfrm>
            <a:off x="3447288" y="2011680"/>
            <a:ext cx="2286000" cy="1920240"/>
          </a:xfrm>
          <a:prstGeom prst="roundRect">
            <a:avLst/>
          </a:prstGeom>
          <a:solidFill>
            <a:srgbClr val="FFFFFF"/>
          </a:solidFill>
          <a:ln w="12700">
            <a:solidFill>
              <a:srgbClr val="CBD5E1"/>
            </a:solidFill>
            <a:prstDash val="solid"/>
          </a:ln>
        </p:spPr>
      </p:sp>
      <p:sp>
        <p:nvSpPr>
          <p:cNvPr id="12" name="Shape 9"/>
          <p:cNvSpPr/>
          <p:nvPr/>
        </p:nvSpPr>
        <p:spPr>
          <a:xfrm>
            <a:off x="3447288" y="2011680"/>
            <a:ext cx="2286000" cy="292608"/>
          </a:xfrm>
          <a:prstGeom prst="roundRect">
            <a:avLst/>
          </a:prstGeom>
          <a:solidFill>
            <a:srgbClr val="F79646"/>
          </a:solidFill>
          <a:ln w="12700">
            <a:solidFill>
              <a:srgbClr val="F79646"/>
            </a:solidFill>
            <a:prstDash val="solid"/>
          </a:ln>
        </p:spPr>
      </p:sp>
      <p:sp>
        <p:nvSpPr>
          <p:cNvPr id="13" name="Text 10"/>
          <p:cNvSpPr txBox="1"/>
          <p:nvPr/>
        </p:nvSpPr>
        <p:spPr>
          <a:xfrm>
            <a:off x="3557016"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Detect</a:t>
            </a:r>
            <a:endParaRPr lang="en-US" sz="1100" dirty="0"/>
          </a:p>
        </p:txBody>
      </p:sp>
      <p:sp>
        <p:nvSpPr>
          <p:cNvPr id="14" name="Text 11"/>
          <p:cNvSpPr txBox="1"/>
          <p:nvPr/>
        </p:nvSpPr>
        <p:spPr>
          <a:xfrm>
            <a:off x="3557016"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alerts</a:t>
            </a:r>
            <a:endParaRPr lang="en-US" sz="1300" dirty="0"/>
          </a:p>
        </p:txBody>
      </p:sp>
      <p:sp>
        <p:nvSpPr>
          <p:cNvPr id="15" name="Shape 12"/>
          <p:cNvSpPr/>
          <p:nvPr/>
        </p:nvSpPr>
        <p:spPr>
          <a:xfrm>
            <a:off x="5843016" y="2971800"/>
            <a:ext cx="347472" cy="0"/>
          </a:xfrm>
          <a:prstGeom prst="line">
            <a:avLst/>
          </a:prstGeom>
          <a:noFill/>
          <a:ln w="25400">
            <a:solidFill>
              <a:srgbClr val="94A3B8"/>
            </a:solidFill>
            <a:prstDash val="solid"/>
            <a:headEnd type="none"/>
            <a:tailEnd type="triangle"/>
          </a:ln>
        </p:spPr>
      </p:sp>
      <p:sp>
        <p:nvSpPr>
          <p:cNvPr id="16" name="Shape 13"/>
          <p:cNvSpPr/>
          <p:nvPr/>
        </p:nvSpPr>
        <p:spPr>
          <a:xfrm>
            <a:off x="6300216" y="2011680"/>
            <a:ext cx="2286000" cy="1920240"/>
          </a:xfrm>
          <a:prstGeom prst="roundRect">
            <a:avLst/>
          </a:prstGeom>
          <a:solidFill>
            <a:srgbClr val="FFFFFF"/>
          </a:solidFill>
          <a:ln w="12700">
            <a:solidFill>
              <a:srgbClr val="CBD5E1"/>
            </a:solidFill>
            <a:prstDash val="solid"/>
          </a:ln>
        </p:spPr>
      </p:sp>
      <p:sp>
        <p:nvSpPr>
          <p:cNvPr id="17" name="Shape 14"/>
          <p:cNvSpPr/>
          <p:nvPr/>
        </p:nvSpPr>
        <p:spPr>
          <a:xfrm>
            <a:off x="6300216" y="2011680"/>
            <a:ext cx="2286000" cy="292608"/>
          </a:xfrm>
          <a:prstGeom prst="roundRect">
            <a:avLst/>
          </a:prstGeom>
          <a:solidFill>
            <a:srgbClr val="8064A2"/>
          </a:solidFill>
          <a:ln w="12700">
            <a:solidFill>
              <a:srgbClr val="8064A2"/>
            </a:solidFill>
            <a:prstDash val="solid"/>
          </a:ln>
        </p:spPr>
      </p:sp>
      <p:sp>
        <p:nvSpPr>
          <p:cNvPr id="18" name="Text 15"/>
          <p:cNvSpPr txBox="1"/>
          <p:nvPr/>
        </p:nvSpPr>
        <p:spPr>
          <a:xfrm>
            <a:off x="6409944"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Reconstruct</a:t>
            </a:r>
            <a:endParaRPr lang="en-US" sz="1100" dirty="0"/>
          </a:p>
        </p:txBody>
      </p:sp>
      <p:sp>
        <p:nvSpPr>
          <p:cNvPr id="19" name="Text 16"/>
          <p:cNvSpPr txBox="1"/>
          <p:nvPr/>
        </p:nvSpPr>
        <p:spPr>
          <a:xfrm>
            <a:off x="6409944"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session record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timeline</a:t>
            </a:r>
            <a:endParaRPr lang="en-US" sz="1300" dirty="0"/>
          </a:p>
        </p:txBody>
      </p:sp>
      <p:sp>
        <p:nvSpPr>
          <p:cNvPr id="20" name="Shape 17"/>
          <p:cNvSpPr/>
          <p:nvPr/>
        </p:nvSpPr>
        <p:spPr>
          <a:xfrm>
            <a:off x="8695944" y="2971800"/>
            <a:ext cx="347472" cy="0"/>
          </a:xfrm>
          <a:prstGeom prst="line">
            <a:avLst/>
          </a:prstGeom>
          <a:noFill/>
          <a:ln w="25400">
            <a:solidFill>
              <a:srgbClr val="94A3B8"/>
            </a:solidFill>
            <a:prstDash val="solid"/>
            <a:headEnd type="none"/>
            <a:tailEnd type="triangle"/>
          </a:ln>
        </p:spPr>
      </p:sp>
      <p:sp>
        <p:nvSpPr>
          <p:cNvPr id="21" name="Shape 18"/>
          <p:cNvSpPr/>
          <p:nvPr/>
        </p:nvSpPr>
        <p:spPr>
          <a:xfrm>
            <a:off x="9153144" y="2011680"/>
            <a:ext cx="2286000" cy="1920240"/>
          </a:xfrm>
          <a:prstGeom prst="roundRect">
            <a:avLst/>
          </a:prstGeom>
          <a:solidFill>
            <a:srgbClr val="FFFFFF"/>
          </a:solidFill>
          <a:ln w="12700">
            <a:solidFill>
              <a:srgbClr val="CBD5E1"/>
            </a:solidFill>
            <a:prstDash val="solid"/>
          </a:ln>
        </p:spPr>
      </p:sp>
      <p:sp>
        <p:nvSpPr>
          <p:cNvPr id="22" name="Shape 19"/>
          <p:cNvSpPr/>
          <p:nvPr/>
        </p:nvSpPr>
        <p:spPr>
          <a:xfrm>
            <a:off x="9153144" y="2011680"/>
            <a:ext cx="2286000" cy="292608"/>
          </a:xfrm>
          <a:prstGeom prst="roundRect">
            <a:avLst/>
          </a:prstGeom>
          <a:solidFill>
            <a:srgbClr val="70AD47"/>
          </a:solidFill>
          <a:ln w="12700">
            <a:solidFill>
              <a:srgbClr val="70AD47"/>
            </a:solidFill>
            <a:prstDash val="solid"/>
          </a:ln>
        </p:spPr>
      </p:sp>
      <p:sp>
        <p:nvSpPr>
          <p:cNvPr id="23" name="Text 20"/>
          <p:cNvSpPr txBox="1"/>
          <p:nvPr/>
        </p:nvSpPr>
        <p:spPr>
          <a:xfrm>
            <a:off x="9262872"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Improve</a:t>
            </a:r>
            <a:endParaRPr lang="en-US" sz="1100" dirty="0"/>
          </a:p>
        </p:txBody>
      </p:sp>
      <p:sp>
        <p:nvSpPr>
          <p:cNvPr id="24" name="Text 21"/>
          <p:cNvSpPr txBox="1"/>
          <p:nvPr/>
        </p:nvSpPr>
        <p:spPr>
          <a:xfrm>
            <a:off x="9262872"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review</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policy change</a:t>
            </a:r>
            <a:endParaRPr lang="en-US" sz="1300" dirty="0"/>
          </a:p>
        </p:txBody>
      </p:sp>
      <p:sp>
        <p:nvSpPr>
          <p:cNvPr id="25" name="Shape 22"/>
          <p:cNvSpPr/>
          <p:nvPr/>
        </p:nvSpPr>
        <p:spPr>
          <a:xfrm>
            <a:off x="1005840" y="4617720"/>
            <a:ext cx="10104120" cy="685800"/>
          </a:xfrm>
          <a:prstGeom prst="roundRect">
            <a:avLst/>
          </a:prstGeom>
          <a:solidFill>
            <a:srgbClr val="FFFFFF"/>
          </a:solidFill>
          <a:ln w="12700">
            <a:solidFill>
              <a:srgbClr val="1F497D"/>
            </a:solidFill>
            <a:prstDash val="solid"/>
          </a:ln>
        </p:spPr>
      </p:sp>
      <p:sp>
        <p:nvSpPr>
          <p:cNvPr id="26" name="Shape 23"/>
          <p:cNvSpPr/>
          <p:nvPr/>
        </p:nvSpPr>
        <p:spPr>
          <a:xfrm>
            <a:off x="1005840" y="4617720"/>
            <a:ext cx="100584" cy="685800"/>
          </a:xfrm>
          <a:prstGeom prst="rect">
            <a:avLst/>
          </a:prstGeom>
          <a:solidFill>
            <a:srgbClr val="1F497D"/>
          </a:solidFill>
          <a:ln w="12700">
            <a:solidFill>
              <a:srgbClr val="1F497D"/>
            </a:solidFill>
            <a:prstDash val="solid"/>
          </a:ln>
        </p:spPr>
      </p:sp>
      <p:sp>
        <p:nvSpPr>
          <p:cNvPr id="27" name="Text 24"/>
          <p:cNvSpPr txBox="1"/>
          <p:nvPr/>
        </p:nvSpPr>
        <p:spPr>
          <a:xfrm>
            <a:off x="1243584" y="472744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Key idea</a:t>
            </a:r>
            <a:endParaRPr lang="en-US" sz="1400" dirty="0"/>
          </a:p>
        </p:txBody>
      </p:sp>
      <p:sp>
        <p:nvSpPr>
          <p:cNvPr id="28" name="Text 25"/>
          <p:cNvSpPr txBox="1"/>
          <p:nvPr/>
        </p:nvSpPr>
        <p:spPr>
          <a:xfrm>
            <a:off x="1243584" y="5029200"/>
            <a:ext cx="9756648" cy="18288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Evidence supports accountability only when it is trustworthy, protected, and reviewed.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NON-HUMAN IDENTITY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Service accounts need lifecycle controls too</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Automation does not remove identity risk. It changes the identity type.</a:t>
            </a:r>
            <a:endParaRPr lang="en-US" sz="1250" dirty="0"/>
          </a:p>
        </p:txBody>
      </p:sp>
      <p:sp>
        <p:nvSpPr>
          <p:cNvPr id="6" name="Shape 3"/>
          <p:cNvSpPr/>
          <p:nvPr/>
        </p:nvSpPr>
        <p:spPr>
          <a:xfrm>
            <a:off x="1344168" y="182880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Owner</a:t>
            </a:r>
            <a:endParaRPr lang="en-US" sz="1700" dirty="0"/>
          </a:p>
        </p:txBody>
      </p:sp>
      <p:sp>
        <p:nvSpPr>
          <p:cNvPr id="9" name="Text 6"/>
          <p:cNvSpPr txBox="1"/>
          <p:nvPr/>
        </p:nvSpPr>
        <p:spPr>
          <a:xfrm>
            <a:off x="594360"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named team</a:t>
            </a:r>
            <a:endParaRPr lang="en-US" sz="1250" dirty="0"/>
          </a:p>
        </p:txBody>
      </p:sp>
      <p:sp>
        <p:nvSpPr>
          <p:cNvPr id="10" name="Shape 7"/>
          <p:cNvSpPr/>
          <p:nvPr/>
        </p:nvSpPr>
        <p:spPr>
          <a:xfrm>
            <a:off x="2011680" y="2112264"/>
            <a:ext cx="640080" cy="0"/>
          </a:xfrm>
          <a:prstGeom prst="line">
            <a:avLst/>
          </a:prstGeom>
          <a:noFill/>
          <a:ln w="25400">
            <a:solidFill>
              <a:srgbClr val="94A3B8"/>
            </a:solidFill>
            <a:prstDash val="solid"/>
            <a:headEnd type="none"/>
            <a:tailEnd type="triangle"/>
          </a:ln>
        </p:spPr>
      </p:sp>
      <p:sp>
        <p:nvSpPr>
          <p:cNvPr id="11" name="Shape 8"/>
          <p:cNvSpPr/>
          <p:nvPr/>
        </p:nvSpPr>
        <p:spPr>
          <a:xfrm>
            <a:off x="3648456" y="1828800"/>
            <a:ext cx="566928" cy="566928"/>
          </a:xfrm>
          <a:prstGeom prst="ellipse">
            <a:avLst/>
          </a:prstGeom>
          <a:solidFill>
            <a:srgbClr val="4F81BD"/>
          </a:solidFill>
          <a:ln w="12700">
            <a:solidFill>
              <a:srgbClr val="4F81BD"/>
            </a:solidFill>
            <a:prstDash val="solid"/>
          </a:ln>
        </p:spPr>
      </p:sp>
      <p:sp>
        <p:nvSpPr>
          <p:cNvPr id="12" name="Text 9"/>
          <p:cNvSpPr txBox="1"/>
          <p:nvPr/>
        </p:nvSpPr>
        <p:spPr>
          <a:xfrm>
            <a:off x="3648456"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Scope</a:t>
            </a:r>
            <a:endParaRPr lang="en-US" sz="1700" dirty="0"/>
          </a:p>
        </p:txBody>
      </p:sp>
      <p:sp>
        <p:nvSpPr>
          <p:cNvPr id="14" name="Text 11"/>
          <p:cNvSpPr txBox="1"/>
          <p:nvPr/>
        </p:nvSpPr>
        <p:spPr>
          <a:xfrm>
            <a:off x="2898648"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one service</a:t>
            </a:r>
            <a:endParaRPr lang="en-US" sz="1250" dirty="0"/>
          </a:p>
        </p:txBody>
      </p:sp>
      <p:sp>
        <p:nvSpPr>
          <p:cNvPr id="15" name="Shape 12"/>
          <p:cNvSpPr/>
          <p:nvPr/>
        </p:nvSpPr>
        <p:spPr>
          <a:xfrm>
            <a:off x="4315968" y="2112264"/>
            <a:ext cx="640080" cy="0"/>
          </a:xfrm>
          <a:prstGeom prst="line">
            <a:avLst/>
          </a:prstGeom>
          <a:noFill/>
          <a:ln w="25400">
            <a:solidFill>
              <a:srgbClr val="94A3B8"/>
            </a:solidFill>
            <a:prstDash val="solid"/>
            <a:headEnd type="none"/>
            <a:tailEnd type="triangle"/>
          </a:ln>
        </p:spPr>
      </p:sp>
      <p:sp>
        <p:nvSpPr>
          <p:cNvPr id="16" name="Shape 13"/>
          <p:cNvSpPr/>
          <p:nvPr/>
        </p:nvSpPr>
        <p:spPr>
          <a:xfrm>
            <a:off x="5952744" y="1828800"/>
            <a:ext cx="566928" cy="566928"/>
          </a:xfrm>
          <a:prstGeom prst="ellipse">
            <a:avLst/>
          </a:prstGeom>
          <a:solidFill>
            <a:srgbClr val="F79646"/>
          </a:solidFill>
          <a:ln w="12700">
            <a:solidFill>
              <a:srgbClr val="F79646"/>
            </a:solidFill>
            <a:prstDash val="solid"/>
          </a:ln>
        </p:spPr>
      </p:sp>
      <p:sp>
        <p:nvSpPr>
          <p:cNvPr id="17" name="Text 14"/>
          <p:cNvSpPr txBox="1"/>
          <p:nvPr/>
        </p:nvSpPr>
        <p:spPr>
          <a:xfrm>
            <a:off x="5952744"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Secret</a:t>
            </a:r>
            <a:endParaRPr lang="en-US" sz="1700" dirty="0"/>
          </a:p>
        </p:txBody>
      </p:sp>
      <p:sp>
        <p:nvSpPr>
          <p:cNvPr id="19" name="Text 16"/>
          <p:cNvSpPr txBox="1"/>
          <p:nvPr/>
        </p:nvSpPr>
        <p:spPr>
          <a:xfrm>
            <a:off x="5202936"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vault or agent</a:t>
            </a:r>
            <a:endParaRPr lang="en-US" sz="1250" dirty="0"/>
          </a:p>
        </p:txBody>
      </p:sp>
      <p:sp>
        <p:nvSpPr>
          <p:cNvPr id="20" name="Shape 17"/>
          <p:cNvSpPr/>
          <p:nvPr/>
        </p:nvSpPr>
        <p:spPr>
          <a:xfrm>
            <a:off x="6620256" y="2112264"/>
            <a:ext cx="640080" cy="0"/>
          </a:xfrm>
          <a:prstGeom prst="line">
            <a:avLst/>
          </a:prstGeom>
          <a:noFill/>
          <a:ln w="25400">
            <a:solidFill>
              <a:srgbClr val="94A3B8"/>
            </a:solidFill>
            <a:prstDash val="solid"/>
            <a:headEnd type="none"/>
            <a:tailEnd type="triangle"/>
          </a:ln>
        </p:spPr>
      </p:sp>
      <p:sp>
        <p:nvSpPr>
          <p:cNvPr id="21" name="Shape 18"/>
          <p:cNvSpPr/>
          <p:nvPr/>
        </p:nvSpPr>
        <p:spPr>
          <a:xfrm>
            <a:off x="8257032" y="182880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57032"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Runtime</a:t>
            </a:r>
            <a:endParaRPr lang="en-US" sz="1700" dirty="0"/>
          </a:p>
        </p:txBody>
      </p:sp>
      <p:sp>
        <p:nvSpPr>
          <p:cNvPr id="24" name="Text 21"/>
          <p:cNvSpPr txBox="1"/>
          <p:nvPr/>
        </p:nvSpPr>
        <p:spPr>
          <a:xfrm>
            <a:off x="7507224"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noninteractive</a:t>
            </a:r>
            <a:endParaRPr lang="en-US" sz="1250" dirty="0"/>
          </a:p>
        </p:txBody>
      </p:sp>
      <p:sp>
        <p:nvSpPr>
          <p:cNvPr id="25" name="Shape 22"/>
          <p:cNvSpPr/>
          <p:nvPr/>
        </p:nvSpPr>
        <p:spPr>
          <a:xfrm>
            <a:off x="8924544" y="2112264"/>
            <a:ext cx="640080" cy="0"/>
          </a:xfrm>
          <a:prstGeom prst="line">
            <a:avLst/>
          </a:prstGeom>
          <a:noFill/>
          <a:ln w="25400">
            <a:solidFill>
              <a:srgbClr val="94A3B8"/>
            </a:solidFill>
            <a:prstDash val="solid"/>
            <a:headEnd type="none"/>
            <a:tailEnd type="triangle"/>
          </a:ln>
        </p:spPr>
      </p:sp>
      <p:sp>
        <p:nvSpPr>
          <p:cNvPr id="26" name="Shape 23"/>
          <p:cNvSpPr/>
          <p:nvPr/>
        </p:nvSpPr>
        <p:spPr>
          <a:xfrm>
            <a:off x="10561320" y="1828800"/>
            <a:ext cx="566928" cy="566928"/>
          </a:xfrm>
          <a:prstGeom prst="ellipse">
            <a:avLst/>
          </a:prstGeom>
          <a:solidFill>
            <a:srgbClr val="70AD47"/>
          </a:solidFill>
          <a:ln w="12700">
            <a:solidFill>
              <a:srgbClr val="70AD47"/>
            </a:solidFill>
            <a:prstDash val="solid"/>
          </a:ln>
        </p:spPr>
      </p:sp>
      <p:sp>
        <p:nvSpPr>
          <p:cNvPr id="27" name="Text 24"/>
          <p:cNvSpPr txBox="1"/>
          <p:nvPr/>
        </p:nvSpPr>
        <p:spPr>
          <a:xfrm>
            <a:off x="10561320"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Review</a:t>
            </a:r>
            <a:endParaRPr lang="en-US" sz="1700" dirty="0"/>
          </a:p>
        </p:txBody>
      </p:sp>
      <p:sp>
        <p:nvSpPr>
          <p:cNvPr id="29" name="Text 26"/>
          <p:cNvSpPr txBox="1"/>
          <p:nvPr/>
        </p:nvSpPr>
        <p:spPr>
          <a:xfrm>
            <a:off x="9811512"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rotate and attest</a:t>
            </a:r>
            <a:endParaRPr lang="en-US" sz="1250" dirty="0"/>
          </a:p>
        </p:txBody>
      </p:sp>
      <p:sp>
        <p:nvSpPr>
          <p:cNvPr id="30" name="Shape 27"/>
          <p:cNvSpPr/>
          <p:nvPr/>
        </p:nvSpPr>
        <p:spPr>
          <a:xfrm>
            <a:off x="960120" y="4498848"/>
            <a:ext cx="10149840" cy="713232"/>
          </a:xfrm>
          <a:prstGeom prst="roundRect">
            <a:avLst/>
          </a:prstGeom>
          <a:solidFill>
            <a:srgbClr val="FFFFFF"/>
          </a:solidFill>
          <a:ln w="12700">
            <a:solidFill>
              <a:srgbClr val="C0504D"/>
            </a:solidFill>
            <a:prstDash val="solid"/>
          </a:ln>
        </p:spPr>
      </p:sp>
      <p:sp>
        <p:nvSpPr>
          <p:cNvPr id="31" name="Shape 28"/>
          <p:cNvSpPr/>
          <p:nvPr/>
        </p:nvSpPr>
        <p:spPr>
          <a:xfrm>
            <a:off x="960120" y="4498848"/>
            <a:ext cx="100584" cy="713232"/>
          </a:xfrm>
          <a:prstGeom prst="rect">
            <a:avLst/>
          </a:prstGeom>
          <a:solidFill>
            <a:srgbClr val="C0504D"/>
          </a:solidFill>
          <a:ln w="12700">
            <a:solidFill>
              <a:srgbClr val="C0504D"/>
            </a:solidFill>
            <a:prstDash val="solid"/>
          </a:ln>
        </p:spPr>
      </p:sp>
      <p:sp>
        <p:nvSpPr>
          <p:cNvPr id="32" name="Text 29"/>
          <p:cNvSpPr txBox="1"/>
          <p:nvPr/>
        </p:nvSpPr>
        <p:spPr>
          <a:xfrm>
            <a:off x="1197864" y="4608576"/>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Red flag</a:t>
            </a:r>
            <a:endParaRPr lang="en-US" sz="1400" dirty="0"/>
          </a:p>
        </p:txBody>
      </p:sp>
      <p:sp>
        <p:nvSpPr>
          <p:cNvPr id="33" name="Text 30"/>
          <p:cNvSpPr txBox="1"/>
          <p:nvPr/>
        </p:nvSpPr>
        <p:spPr>
          <a:xfrm>
            <a:off x="1197864" y="4910328"/>
            <a:ext cx="980236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shared administrator key destroys accountability even if the password is complex.</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MEDIA SLOT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MFA fatigue is not a user failure story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Suggested search: “MFA fatigue attack explainer” or use a short anti-phishing reel.</a:t>
            </a:r>
            <a:endParaRPr lang="en-US" sz="1250" dirty="0"/>
          </a:p>
        </p:txBody>
      </p:sp>
      <p:sp>
        <p:nvSpPr>
          <p:cNvPr id="6" name="Shape 3"/>
          <p:cNvSpPr/>
          <p:nvPr/>
        </p:nvSpPr>
        <p:spPr>
          <a:xfrm>
            <a:off x="914400" y="1828800"/>
            <a:ext cx="10241280" cy="3246120"/>
          </a:xfrm>
          <a:prstGeom prst="roundRect">
            <a:avLst/>
          </a:prstGeom>
          <a:solidFill>
            <a:srgbClr val="EEF2F7"/>
          </a:solidFill>
          <a:ln w="12700">
            <a:solidFill>
              <a:srgbClr val="F79646"/>
            </a:solidFill>
            <a:prstDash val="solid"/>
          </a:ln>
        </p:spPr>
      </p:sp>
      <p:sp>
        <p:nvSpPr>
          <p:cNvPr id="7" name="Shape 4"/>
          <p:cNvSpPr/>
          <p:nvPr/>
        </p:nvSpPr>
        <p:spPr>
          <a:xfrm>
            <a:off x="1024128" y="1938528"/>
            <a:ext cx="10021824" cy="3026664"/>
          </a:xfrm>
          <a:prstGeom prst="line">
            <a:avLst/>
          </a:prstGeom>
          <a:noFill/>
          <a:ln w="15240">
            <a:solidFill>
              <a:srgbClr val="D8A36A"/>
            </a:solidFill>
            <a:prstDash val="solid"/>
            <a:headEnd type="none"/>
            <a:tailEnd type="none"/>
          </a:ln>
        </p:spPr>
      </p:sp>
      <p:sp>
        <p:nvSpPr>
          <p:cNvPr id="8" name="Shape 5"/>
          <p:cNvSpPr/>
          <p:nvPr/>
        </p:nvSpPr>
        <p:spPr>
          <a:xfrm>
            <a:off x="11045952" y="1938528"/>
            <a:ext cx="-10021824" cy="3026664"/>
          </a:xfrm>
          <a:prstGeom prst="line">
            <a:avLst/>
          </a:prstGeom>
          <a:noFill/>
          <a:ln w="15240">
            <a:solidFill>
              <a:srgbClr val="D8A36A"/>
            </a:solidFill>
            <a:prstDash val="solid"/>
            <a:headEnd type="none"/>
            <a:tailEnd type="none"/>
          </a:ln>
        </p:spPr>
      </p:sp>
      <p:sp>
        <p:nvSpPr>
          <p:cNvPr id="9" name="Shape 6"/>
          <p:cNvSpPr/>
          <p:nvPr/>
        </p:nvSpPr>
        <p:spPr>
          <a:xfrm>
            <a:off x="5376672" y="2075688"/>
            <a:ext cx="1316736" cy="274320"/>
          </a:xfrm>
          <a:prstGeom prst="roundRect">
            <a:avLst/>
          </a:prstGeom>
          <a:solidFill>
            <a:srgbClr val="F79646"/>
          </a:solidFill>
          <a:ln w="12700">
            <a:solidFill>
              <a:srgbClr val="F79646"/>
            </a:solidFill>
            <a:prstDash val="solid"/>
          </a:ln>
        </p:spPr>
      </p:sp>
      <p:sp>
        <p:nvSpPr>
          <p:cNvPr id="10" name="Text 7"/>
          <p:cNvSpPr txBox="1"/>
          <p:nvPr/>
        </p:nvSpPr>
        <p:spPr>
          <a:xfrm>
            <a:off x="5449824" y="2093976"/>
            <a:ext cx="1170432"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MEDIA SLOT</a:t>
            </a:r>
            <a:endParaRPr lang="en-US" sz="1000" dirty="0"/>
          </a:p>
        </p:txBody>
      </p:sp>
      <p:sp>
        <p:nvSpPr>
          <p:cNvPr id="11" name="Text 8"/>
          <p:cNvSpPr txBox="1"/>
          <p:nvPr/>
        </p:nvSpPr>
        <p:spPr>
          <a:xfrm>
            <a:off x="1234440" y="2743200"/>
            <a:ext cx="9601200" cy="457200"/>
          </a:xfrm>
          <a:prstGeom prst="rect">
            <a:avLst/>
          </a:prstGeom>
          <a:noFill/>
          <a:ln/>
        </p:spPr>
        <p:txBody>
          <a:bodyPr wrap="square" lIns="508" tIns="508" rIns="508" bIns="508" rtlCol="0" anchor="ctr">
            <a:normAutofit/>
          </a:bodyPr>
          <a:lstStyle/>
          <a:p>
            <a:pPr algn="ctr" indent="0" marL="0">
              <a:buNone/>
            </a:pPr>
            <a:r>
              <a:rPr lang="en-US" sz="2200" b="1" dirty="0">
                <a:solidFill>
                  <a:srgbClr val="1F497D"/>
                </a:solidFill>
                <a:latin typeface="Calibri" pitchFamily="34" charset="0"/>
                <a:ea typeface="Calibri" pitchFamily="34" charset="-122"/>
                <a:cs typeface="Calibri" pitchFamily="34" charset="-120"/>
              </a:rPr>
              <a:t>APPROVE? APPROVE? APPROVE?</a:t>
            </a:r>
            <a:endParaRPr lang="en-US" sz="2200" dirty="0"/>
          </a:p>
        </p:txBody>
      </p:sp>
      <p:sp>
        <p:nvSpPr>
          <p:cNvPr id="12" name="Text 9"/>
          <p:cNvSpPr txBox="1"/>
          <p:nvPr/>
        </p:nvSpPr>
        <p:spPr>
          <a:xfrm>
            <a:off x="1325880" y="3401568"/>
            <a:ext cx="9418320" cy="566928"/>
          </a:xfrm>
          <a:prstGeom prst="rect">
            <a:avLst/>
          </a:prstGeom>
          <a:noFill/>
          <a:ln/>
        </p:spPr>
        <p:txBody>
          <a:bodyPr wrap="square" lIns="508" tIns="508" rIns="508" bIns="508" rtlCol="0" anchor="ctr">
            <a:normAutofit/>
          </a:bodyPr>
          <a:lstStyle/>
          <a:p>
            <a:pPr algn="ctr" indent="0" marL="0">
              <a:buNone/>
            </a:pPr>
            <a:r>
              <a:rPr lang="en-US" sz="1300" i="1" dirty="0">
                <a:solidFill>
                  <a:srgbClr val="64748B"/>
                </a:solidFill>
                <a:latin typeface="Calibri" pitchFamily="34" charset="0"/>
                <a:ea typeface="Calibri" pitchFamily="34" charset="-122"/>
                <a:cs typeface="Calibri" pitchFamily="34" charset="-120"/>
              </a:rPr>
              <a:t>Caption: “When the second factor becomes a notification habit.”</a:t>
            </a:r>
            <a:endParaRPr lang="en-US" sz="13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CONTROL</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Policy versus enforceability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principle guides judgment. An enforceable policy creates a checkable obligation.</a:t>
            </a:r>
            <a:endParaRPr lang="en-US" sz="1250" dirty="0"/>
          </a:p>
        </p:txBody>
      </p:sp>
      <p:sp>
        <p:nvSpPr>
          <p:cNvPr id="6" name="Shape 3"/>
          <p:cNvSpPr/>
          <p:nvPr/>
        </p:nvSpPr>
        <p:spPr>
          <a:xfrm>
            <a:off x="658368" y="1993392"/>
            <a:ext cx="2286000" cy="1828800"/>
          </a:xfrm>
          <a:prstGeom prst="roundRect">
            <a:avLst/>
          </a:prstGeom>
          <a:solidFill>
            <a:srgbClr val="FFFFFF"/>
          </a:solidFill>
          <a:ln w="12700">
            <a:solidFill>
              <a:srgbClr val="CBD5E1"/>
            </a:solidFill>
            <a:prstDash val="solid"/>
          </a:ln>
        </p:spPr>
      </p:sp>
      <p:sp>
        <p:nvSpPr>
          <p:cNvPr id="7" name="Shape 4"/>
          <p:cNvSpPr/>
          <p:nvPr/>
        </p:nvSpPr>
        <p:spPr>
          <a:xfrm>
            <a:off x="658368" y="1993392"/>
            <a:ext cx="2286000" cy="292608"/>
          </a:xfrm>
          <a:prstGeom prst="roundRect">
            <a:avLst/>
          </a:prstGeom>
          <a:solidFill>
            <a:srgbClr val="4BACC6"/>
          </a:solidFill>
          <a:ln w="12700">
            <a:solidFill>
              <a:srgbClr val="4BACC6"/>
            </a:solidFill>
            <a:prstDash val="solid"/>
          </a:ln>
        </p:spPr>
      </p:sp>
      <p:sp>
        <p:nvSpPr>
          <p:cNvPr id="8" name="Text 5"/>
          <p:cNvSpPr txBox="1"/>
          <p:nvPr/>
        </p:nvSpPr>
        <p:spPr>
          <a:xfrm>
            <a:off x="768096" y="202996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Principle</a:t>
            </a:r>
            <a:endParaRPr lang="en-US" sz="1100" dirty="0"/>
          </a:p>
        </p:txBody>
      </p:sp>
      <p:sp>
        <p:nvSpPr>
          <p:cNvPr id="9" name="Text 6"/>
          <p:cNvSpPr txBox="1"/>
          <p:nvPr/>
        </p:nvSpPr>
        <p:spPr>
          <a:xfrm>
            <a:off x="768096" y="2404872"/>
            <a:ext cx="20665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protect customer data</a:t>
            </a:r>
            <a:endParaRPr lang="en-US" sz="1300" dirty="0"/>
          </a:p>
        </p:txBody>
      </p:sp>
      <p:sp>
        <p:nvSpPr>
          <p:cNvPr id="10" name="Shape 7"/>
          <p:cNvSpPr/>
          <p:nvPr/>
        </p:nvSpPr>
        <p:spPr>
          <a:xfrm>
            <a:off x="3054096" y="2907792"/>
            <a:ext cx="347472" cy="0"/>
          </a:xfrm>
          <a:prstGeom prst="line">
            <a:avLst/>
          </a:prstGeom>
          <a:noFill/>
          <a:ln w="25400">
            <a:solidFill>
              <a:srgbClr val="94A3B8"/>
            </a:solidFill>
            <a:prstDash val="solid"/>
            <a:headEnd type="none"/>
            <a:tailEnd type="triangle"/>
          </a:ln>
        </p:spPr>
      </p:sp>
      <p:sp>
        <p:nvSpPr>
          <p:cNvPr id="11" name="Shape 8"/>
          <p:cNvSpPr/>
          <p:nvPr/>
        </p:nvSpPr>
        <p:spPr>
          <a:xfrm>
            <a:off x="3511296" y="1993392"/>
            <a:ext cx="2286000" cy="1828800"/>
          </a:xfrm>
          <a:prstGeom prst="roundRect">
            <a:avLst/>
          </a:prstGeom>
          <a:solidFill>
            <a:srgbClr val="FFFFFF"/>
          </a:solidFill>
          <a:ln w="12700">
            <a:solidFill>
              <a:srgbClr val="CBD5E1"/>
            </a:solidFill>
            <a:prstDash val="solid"/>
          </a:ln>
        </p:spPr>
      </p:sp>
      <p:sp>
        <p:nvSpPr>
          <p:cNvPr id="12" name="Shape 9"/>
          <p:cNvSpPr/>
          <p:nvPr/>
        </p:nvSpPr>
        <p:spPr>
          <a:xfrm>
            <a:off x="3511296" y="1993392"/>
            <a:ext cx="2286000" cy="292608"/>
          </a:xfrm>
          <a:prstGeom prst="roundRect">
            <a:avLst/>
          </a:prstGeom>
          <a:solidFill>
            <a:srgbClr val="4F81BD"/>
          </a:solidFill>
          <a:ln w="12700">
            <a:solidFill>
              <a:srgbClr val="4F81BD"/>
            </a:solidFill>
            <a:prstDash val="solid"/>
          </a:ln>
        </p:spPr>
      </p:sp>
      <p:sp>
        <p:nvSpPr>
          <p:cNvPr id="13" name="Text 10"/>
          <p:cNvSpPr txBox="1"/>
          <p:nvPr/>
        </p:nvSpPr>
        <p:spPr>
          <a:xfrm>
            <a:off x="3621024" y="202996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Policy</a:t>
            </a:r>
            <a:endParaRPr lang="en-US" sz="1100" dirty="0"/>
          </a:p>
        </p:txBody>
      </p:sp>
      <p:sp>
        <p:nvSpPr>
          <p:cNvPr id="14" name="Text 11"/>
          <p:cNvSpPr txBox="1"/>
          <p:nvPr/>
        </p:nvSpPr>
        <p:spPr>
          <a:xfrm>
            <a:off x="3621024" y="2404872"/>
            <a:ext cx="20665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approved storage only</a:t>
            </a:r>
            <a:endParaRPr lang="en-US" sz="1300" dirty="0"/>
          </a:p>
        </p:txBody>
      </p:sp>
      <p:sp>
        <p:nvSpPr>
          <p:cNvPr id="15" name="Shape 12"/>
          <p:cNvSpPr/>
          <p:nvPr/>
        </p:nvSpPr>
        <p:spPr>
          <a:xfrm>
            <a:off x="5907024" y="2907792"/>
            <a:ext cx="347472" cy="0"/>
          </a:xfrm>
          <a:prstGeom prst="line">
            <a:avLst/>
          </a:prstGeom>
          <a:noFill/>
          <a:ln w="25400">
            <a:solidFill>
              <a:srgbClr val="94A3B8"/>
            </a:solidFill>
            <a:prstDash val="solid"/>
            <a:headEnd type="none"/>
            <a:tailEnd type="triangle"/>
          </a:ln>
        </p:spPr>
      </p:sp>
      <p:sp>
        <p:nvSpPr>
          <p:cNvPr id="16" name="Shape 13"/>
          <p:cNvSpPr/>
          <p:nvPr/>
        </p:nvSpPr>
        <p:spPr>
          <a:xfrm>
            <a:off x="6364224" y="1993392"/>
            <a:ext cx="2286000" cy="1828800"/>
          </a:xfrm>
          <a:prstGeom prst="roundRect">
            <a:avLst/>
          </a:prstGeom>
          <a:solidFill>
            <a:srgbClr val="FFFFFF"/>
          </a:solidFill>
          <a:ln w="12700">
            <a:solidFill>
              <a:srgbClr val="CBD5E1"/>
            </a:solidFill>
            <a:prstDash val="solid"/>
          </a:ln>
        </p:spPr>
      </p:sp>
      <p:sp>
        <p:nvSpPr>
          <p:cNvPr id="17" name="Shape 14"/>
          <p:cNvSpPr/>
          <p:nvPr/>
        </p:nvSpPr>
        <p:spPr>
          <a:xfrm>
            <a:off x="6364224" y="1993392"/>
            <a:ext cx="2286000" cy="292608"/>
          </a:xfrm>
          <a:prstGeom prst="roundRect">
            <a:avLst/>
          </a:prstGeom>
          <a:solidFill>
            <a:srgbClr val="F79646"/>
          </a:solidFill>
          <a:ln w="12700">
            <a:solidFill>
              <a:srgbClr val="F79646"/>
            </a:solidFill>
            <a:prstDash val="solid"/>
          </a:ln>
        </p:spPr>
      </p:sp>
      <p:sp>
        <p:nvSpPr>
          <p:cNvPr id="18" name="Text 15"/>
          <p:cNvSpPr txBox="1"/>
          <p:nvPr/>
        </p:nvSpPr>
        <p:spPr>
          <a:xfrm>
            <a:off x="6473952" y="202996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Standard</a:t>
            </a:r>
            <a:endParaRPr lang="en-US" sz="1100" dirty="0"/>
          </a:p>
        </p:txBody>
      </p:sp>
      <p:sp>
        <p:nvSpPr>
          <p:cNvPr id="19" name="Text 16"/>
          <p:cNvSpPr txBox="1"/>
          <p:nvPr/>
        </p:nvSpPr>
        <p:spPr>
          <a:xfrm>
            <a:off x="6473952" y="2404872"/>
            <a:ext cx="20665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encryption and access values</a:t>
            </a:r>
            <a:endParaRPr lang="en-US" sz="1300" dirty="0"/>
          </a:p>
        </p:txBody>
      </p:sp>
      <p:sp>
        <p:nvSpPr>
          <p:cNvPr id="20" name="Shape 17"/>
          <p:cNvSpPr/>
          <p:nvPr/>
        </p:nvSpPr>
        <p:spPr>
          <a:xfrm>
            <a:off x="8759952" y="2907792"/>
            <a:ext cx="347472" cy="0"/>
          </a:xfrm>
          <a:prstGeom prst="line">
            <a:avLst/>
          </a:prstGeom>
          <a:noFill/>
          <a:ln w="25400">
            <a:solidFill>
              <a:srgbClr val="94A3B8"/>
            </a:solidFill>
            <a:prstDash val="solid"/>
            <a:headEnd type="none"/>
            <a:tailEnd type="triangle"/>
          </a:ln>
        </p:spPr>
      </p:sp>
      <p:sp>
        <p:nvSpPr>
          <p:cNvPr id="21" name="Shape 18"/>
          <p:cNvSpPr/>
          <p:nvPr/>
        </p:nvSpPr>
        <p:spPr>
          <a:xfrm>
            <a:off x="9217152" y="1993392"/>
            <a:ext cx="2286000" cy="1828800"/>
          </a:xfrm>
          <a:prstGeom prst="roundRect">
            <a:avLst/>
          </a:prstGeom>
          <a:solidFill>
            <a:srgbClr val="FFFFFF"/>
          </a:solidFill>
          <a:ln w="12700">
            <a:solidFill>
              <a:srgbClr val="CBD5E1"/>
            </a:solidFill>
            <a:prstDash val="solid"/>
          </a:ln>
        </p:spPr>
      </p:sp>
      <p:sp>
        <p:nvSpPr>
          <p:cNvPr id="22" name="Shape 19"/>
          <p:cNvSpPr/>
          <p:nvPr/>
        </p:nvSpPr>
        <p:spPr>
          <a:xfrm>
            <a:off x="9217152" y="1993392"/>
            <a:ext cx="2286000" cy="292608"/>
          </a:xfrm>
          <a:prstGeom prst="roundRect">
            <a:avLst/>
          </a:prstGeom>
          <a:solidFill>
            <a:srgbClr val="70AD47"/>
          </a:solidFill>
          <a:ln w="12700">
            <a:solidFill>
              <a:srgbClr val="70AD47"/>
            </a:solidFill>
            <a:prstDash val="solid"/>
          </a:ln>
        </p:spPr>
      </p:sp>
      <p:sp>
        <p:nvSpPr>
          <p:cNvPr id="23" name="Text 20"/>
          <p:cNvSpPr txBox="1"/>
          <p:nvPr/>
        </p:nvSpPr>
        <p:spPr>
          <a:xfrm>
            <a:off x="9326880" y="202996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24" name="Text 21"/>
          <p:cNvSpPr txBox="1"/>
          <p:nvPr/>
        </p:nvSpPr>
        <p:spPr>
          <a:xfrm>
            <a:off x="9326880" y="2404872"/>
            <a:ext cx="20665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 reviews, attestations</a:t>
            </a:r>
            <a:endParaRPr lang="en-US" sz="1300" dirty="0"/>
          </a:p>
        </p:txBody>
      </p:sp>
      <p:sp>
        <p:nvSpPr>
          <p:cNvPr id="25" name="Shape 22"/>
          <p:cNvSpPr/>
          <p:nvPr/>
        </p:nvSpPr>
        <p:spPr>
          <a:xfrm>
            <a:off x="914400" y="4572000"/>
            <a:ext cx="10241280" cy="749808"/>
          </a:xfrm>
          <a:prstGeom prst="roundRect">
            <a:avLst/>
          </a:prstGeom>
          <a:solidFill>
            <a:srgbClr val="FFFFFF"/>
          </a:solidFill>
          <a:ln w="12700">
            <a:solidFill>
              <a:srgbClr val="C0504D"/>
            </a:solidFill>
            <a:prstDash val="solid"/>
          </a:ln>
        </p:spPr>
      </p:sp>
      <p:sp>
        <p:nvSpPr>
          <p:cNvPr id="26" name="Shape 23"/>
          <p:cNvSpPr/>
          <p:nvPr/>
        </p:nvSpPr>
        <p:spPr>
          <a:xfrm>
            <a:off x="914400" y="4572000"/>
            <a:ext cx="100584" cy="749808"/>
          </a:xfrm>
          <a:prstGeom prst="rect">
            <a:avLst/>
          </a:prstGeom>
          <a:solidFill>
            <a:srgbClr val="C0504D"/>
          </a:solidFill>
          <a:ln w="12700">
            <a:solidFill>
              <a:srgbClr val="C0504D"/>
            </a:solidFill>
            <a:prstDash val="solid"/>
          </a:ln>
        </p:spPr>
      </p:sp>
      <p:sp>
        <p:nvSpPr>
          <p:cNvPr id="27" name="Text 24"/>
          <p:cNvSpPr txBox="1"/>
          <p:nvPr/>
        </p:nvSpPr>
        <p:spPr>
          <a:xfrm>
            <a:off x="1152144" y="4681728"/>
            <a:ext cx="989380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Test</a:t>
            </a:r>
            <a:endParaRPr lang="en-US" sz="1400" dirty="0"/>
          </a:p>
        </p:txBody>
      </p:sp>
      <p:sp>
        <p:nvSpPr>
          <p:cNvPr id="28" name="Text 25"/>
          <p:cNvSpPr txBox="1"/>
          <p:nvPr/>
        </p:nvSpPr>
        <p:spPr>
          <a:xfrm>
            <a:off x="1152144" y="4983480"/>
            <a:ext cx="9893808" cy="24688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Could a reasonable operator know what to do, and could an auditor prove whether it happened?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REAL POLICY EXAMPLE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GitLab internal AUP: a useful control package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 this as a model for structure, not as a copy-and-paste template.</a:t>
            </a:r>
            <a:endParaRPr lang="en-US" sz="1250" dirty="0"/>
          </a:p>
        </p:txBody>
      </p:sp>
      <p:sp>
        <p:nvSpPr>
          <p:cNvPr id="6" name="Shape 3"/>
          <p:cNvSpPr/>
          <p:nvPr/>
        </p:nvSpPr>
        <p:spPr>
          <a:xfrm>
            <a:off x="777240" y="1755648"/>
            <a:ext cx="1600200" cy="457200"/>
          </a:xfrm>
          <a:prstGeom prst="roundRect">
            <a:avLst/>
          </a:prstGeom>
          <a:solidFill>
            <a:srgbClr val="4BACC6"/>
          </a:solidFill>
          <a:ln w="12700">
            <a:solidFill>
              <a:srgbClr val="4BACC6"/>
            </a:solidFill>
            <a:prstDash val="solid"/>
          </a:ln>
        </p:spPr>
      </p:sp>
      <p:sp>
        <p:nvSpPr>
          <p:cNvPr id="7" name="Text 4"/>
          <p:cNvSpPr txBox="1"/>
          <p:nvPr/>
        </p:nvSpPr>
        <p:spPr>
          <a:xfrm>
            <a:off x="896112" y="1892808"/>
            <a:ext cx="13716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Scope</a:t>
            </a:r>
            <a:endParaRPr lang="en-US" sz="1150" dirty="0"/>
          </a:p>
        </p:txBody>
      </p:sp>
      <p:sp>
        <p:nvSpPr>
          <p:cNvPr id="8" name="Shape 5"/>
          <p:cNvSpPr/>
          <p:nvPr/>
        </p:nvSpPr>
        <p:spPr>
          <a:xfrm>
            <a:off x="2651760" y="1755648"/>
            <a:ext cx="8458200" cy="457200"/>
          </a:xfrm>
          <a:prstGeom prst="roundRect">
            <a:avLst/>
          </a:prstGeom>
          <a:solidFill>
            <a:srgbClr val="FFFFFF"/>
          </a:solidFill>
          <a:ln w="12700">
            <a:solidFill>
              <a:srgbClr val="CBD5E1"/>
            </a:solidFill>
            <a:prstDash val="solid"/>
          </a:ln>
        </p:spPr>
      </p:sp>
      <p:sp>
        <p:nvSpPr>
          <p:cNvPr id="9" name="Text 6"/>
          <p:cNvSpPr txBox="1"/>
          <p:nvPr/>
        </p:nvSpPr>
        <p:spPr>
          <a:xfrm>
            <a:off x="2852928" y="1883664"/>
            <a:ext cx="804672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team members, contractors, advisors, and contracted parties</a:t>
            </a:r>
            <a:endParaRPr lang="en-US" sz="1250" dirty="0"/>
          </a:p>
        </p:txBody>
      </p:sp>
      <p:sp>
        <p:nvSpPr>
          <p:cNvPr id="10" name="Shape 7"/>
          <p:cNvSpPr/>
          <p:nvPr/>
        </p:nvSpPr>
        <p:spPr>
          <a:xfrm>
            <a:off x="777240" y="2414016"/>
            <a:ext cx="1600200" cy="457200"/>
          </a:xfrm>
          <a:prstGeom prst="roundRect">
            <a:avLst/>
          </a:prstGeom>
          <a:solidFill>
            <a:srgbClr val="4F81BD"/>
          </a:solidFill>
          <a:ln w="12700">
            <a:solidFill>
              <a:srgbClr val="4F81BD"/>
            </a:solidFill>
            <a:prstDash val="solid"/>
          </a:ln>
        </p:spPr>
      </p:sp>
      <p:sp>
        <p:nvSpPr>
          <p:cNvPr id="11" name="Text 8"/>
          <p:cNvSpPr txBox="1"/>
          <p:nvPr/>
        </p:nvSpPr>
        <p:spPr>
          <a:xfrm>
            <a:off x="896112" y="2551176"/>
            <a:ext cx="13716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Behavior</a:t>
            </a:r>
            <a:endParaRPr lang="en-US" sz="1150" dirty="0"/>
          </a:p>
        </p:txBody>
      </p:sp>
      <p:sp>
        <p:nvSpPr>
          <p:cNvPr id="12" name="Shape 9"/>
          <p:cNvSpPr/>
          <p:nvPr/>
        </p:nvSpPr>
        <p:spPr>
          <a:xfrm>
            <a:off x="2651760" y="2414016"/>
            <a:ext cx="8458200" cy="457200"/>
          </a:xfrm>
          <a:prstGeom prst="roundRect">
            <a:avLst/>
          </a:prstGeom>
          <a:solidFill>
            <a:srgbClr val="FFFFFF"/>
          </a:solidFill>
          <a:ln w="12700">
            <a:solidFill>
              <a:srgbClr val="CBD5E1"/>
            </a:solidFill>
            <a:prstDash val="solid"/>
          </a:ln>
        </p:spPr>
      </p:sp>
      <p:sp>
        <p:nvSpPr>
          <p:cNvPr id="13" name="Text 10"/>
          <p:cNvSpPr txBox="1"/>
          <p:nvPr/>
        </p:nvSpPr>
        <p:spPr>
          <a:xfrm>
            <a:off x="2852928" y="2542032"/>
            <a:ext cx="804672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specific prohibited system and network activity</a:t>
            </a:r>
            <a:endParaRPr lang="en-US" sz="1250" dirty="0"/>
          </a:p>
        </p:txBody>
      </p:sp>
      <p:sp>
        <p:nvSpPr>
          <p:cNvPr id="14" name="Shape 11"/>
          <p:cNvSpPr/>
          <p:nvPr/>
        </p:nvSpPr>
        <p:spPr>
          <a:xfrm>
            <a:off x="777240" y="3072384"/>
            <a:ext cx="1600200" cy="457200"/>
          </a:xfrm>
          <a:prstGeom prst="roundRect">
            <a:avLst/>
          </a:prstGeom>
          <a:solidFill>
            <a:srgbClr val="F79646"/>
          </a:solidFill>
          <a:ln w="12700">
            <a:solidFill>
              <a:srgbClr val="F79646"/>
            </a:solidFill>
            <a:prstDash val="solid"/>
          </a:ln>
        </p:spPr>
      </p:sp>
      <p:sp>
        <p:nvSpPr>
          <p:cNvPr id="15" name="Text 12"/>
          <p:cNvSpPr txBox="1"/>
          <p:nvPr/>
        </p:nvSpPr>
        <p:spPr>
          <a:xfrm>
            <a:off x="896112" y="3209544"/>
            <a:ext cx="13716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p>
        </p:txBody>
      </p:sp>
      <p:sp>
        <p:nvSpPr>
          <p:cNvPr id="16" name="Shape 13"/>
          <p:cNvSpPr/>
          <p:nvPr/>
        </p:nvSpPr>
        <p:spPr>
          <a:xfrm>
            <a:off x="2651760" y="3072384"/>
            <a:ext cx="8458200" cy="457200"/>
          </a:xfrm>
          <a:prstGeom prst="roundRect">
            <a:avLst/>
          </a:prstGeom>
          <a:solidFill>
            <a:srgbClr val="FFFFFF"/>
          </a:solidFill>
          <a:ln w="12700">
            <a:solidFill>
              <a:srgbClr val="CBD5E1"/>
            </a:solidFill>
            <a:prstDash val="solid"/>
          </a:ln>
        </p:spPr>
      </p:sp>
      <p:sp>
        <p:nvSpPr>
          <p:cNvPr id="17" name="Text 14"/>
          <p:cNvSpPr txBox="1"/>
          <p:nvPr/>
        </p:nvSpPr>
        <p:spPr>
          <a:xfrm>
            <a:off x="2852928" y="3200400"/>
            <a:ext cx="804672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security monitoring and review expectations</a:t>
            </a:r>
            <a:endParaRPr lang="en-US" sz="1250" dirty="0"/>
          </a:p>
        </p:txBody>
      </p:sp>
      <p:sp>
        <p:nvSpPr>
          <p:cNvPr id="18" name="Shape 15"/>
          <p:cNvSpPr/>
          <p:nvPr/>
        </p:nvSpPr>
        <p:spPr>
          <a:xfrm>
            <a:off x="777240" y="3730752"/>
            <a:ext cx="1600200" cy="457200"/>
          </a:xfrm>
          <a:prstGeom prst="roundRect">
            <a:avLst/>
          </a:prstGeom>
          <a:solidFill>
            <a:srgbClr val="8064A2"/>
          </a:solidFill>
          <a:ln w="12700">
            <a:solidFill>
              <a:srgbClr val="8064A2"/>
            </a:solidFill>
            <a:prstDash val="solid"/>
          </a:ln>
        </p:spPr>
      </p:sp>
      <p:sp>
        <p:nvSpPr>
          <p:cNvPr id="19" name="Text 16"/>
          <p:cNvSpPr txBox="1"/>
          <p:nvPr/>
        </p:nvSpPr>
        <p:spPr>
          <a:xfrm>
            <a:off x="896112" y="3867912"/>
            <a:ext cx="13716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Exceptions</a:t>
            </a:r>
            <a:endParaRPr lang="en-US" sz="1150" dirty="0"/>
          </a:p>
        </p:txBody>
      </p:sp>
      <p:sp>
        <p:nvSpPr>
          <p:cNvPr id="20" name="Shape 17"/>
          <p:cNvSpPr/>
          <p:nvPr/>
        </p:nvSpPr>
        <p:spPr>
          <a:xfrm>
            <a:off x="2651760" y="3730752"/>
            <a:ext cx="8458200" cy="457200"/>
          </a:xfrm>
          <a:prstGeom prst="roundRect">
            <a:avLst/>
          </a:prstGeom>
          <a:solidFill>
            <a:srgbClr val="FFFFFF"/>
          </a:solidFill>
          <a:ln w="12700">
            <a:solidFill>
              <a:srgbClr val="CBD5E1"/>
            </a:solidFill>
            <a:prstDash val="solid"/>
          </a:ln>
        </p:spPr>
      </p:sp>
      <p:sp>
        <p:nvSpPr>
          <p:cNvPr id="21" name="Text 18"/>
          <p:cNvSpPr txBox="1"/>
          <p:nvPr/>
        </p:nvSpPr>
        <p:spPr>
          <a:xfrm>
            <a:off x="2852928" y="3858768"/>
            <a:ext cx="804672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named approval path across responsible functions</a:t>
            </a:r>
            <a:endParaRPr lang="en-US" sz="1250" dirty="0"/>
          </a:p>
        </p:txBody>
      </p:sp>
      <p:sp>
        <p:nvSpPr>
          <p:cNvPr id="22" name="Shape 19"/>
          <p:cNvSpPr/>
          <p:nvPr/>
        </p:nvSpPr>
        <p:spPr>
          <a:xfrm>
            <a:off x="777240" y="4389120"/>
            <a:ext cx="1600200" cy="457200"/>
          </a:xfrm>
          <a:prstGeom prst="roundRect">
            <a:avLst/>
          </a:prstGeom>
          <a:solidFill>
            <a:srgbClr val="70AD47"/>
          </a:solidFill>
          <a:ln w="12700">
            <a:solidFill>
              <a:srgbClr val="70AD47"/>
            </a:solidFill>
            <a:prstDash val="solid"/>
          </a:ln>
        </p:spPr>
      </p:sp>
      <p:sp>
        <p:nvSpPr>
          <p:cNvPr id="23" name="Text 20"/>
          <p:cNvSpPr txBox="1"/>
          <p:nvPr/>
        </p:nvSpPr>
        <p:spPr>
          <a:xfrm>
            <a:off x="896112" y="4526280"/>
            <a:ext cx="13716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Maintenance</a:t>
            </a:r>
            <a:endParaRPr lang="en-US" sz="1150" dirty="0"/>
          </a:p>
        </p:txBody>
      </p:sp>
      <p:sp>
        <p:nvSpPr>
          <p:cNvPr id="24" name="Shape 21"/>
          <p:cNvSpPr/>
          <p:nvPr/>
        </p:nvSpPr>
        <p:spPr>
          <a:xfrm>
            <a:off x="2651760" y="4389120"/>
            <a:ext cx="8458200" cy="457200"/>
          </a:xfrm>
          <a:prstGeom prst="roundRect">
            <a:avLst/>
          </a:prstGeom>
          <a:solidFill>
            <a:srgbClr val="FFFFFF"/>
          </a:solidFill>
          <a:ln w="12700">
            <a:solidFill>
              <a:srgbClr val="CBD5E1"/>
            </a:solidFill>
            <a:prstDash val="solid"/>
          </a:ln>
        </p:spPr>
      </p:sp>
      <p:sp>
        <p:nvSpPr>
          <p:cNvPr id="25" name="Text 22"/>
          <p:cNvSpPr txBox="1"/>
          <p:nvPr/>
        </p:nvSpPr>
        <p:spPr>
          <a:xfrm>
            <a:off x="2852928" y="4517136"/>
            <a:ext cx="804672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controlled document with change ownership</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REAL POLICY EXAMPLES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Public AUPs show how to set a visible boundary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customer-facing AUP and an internal workforce policy solve related but different problems.</a:t>
            </a:r>
            <a:endParaRPr lang="en-US" sz="1250" dirty="0"/>
          </a:p>
        </p:txBody>
      </p:sp>
      <p:sp>
        <p:nvSpPr>
          <p:cNvPr id="6" name="Shape 3"/>
          <p:cNvSpPr/>
          <p:nvPr/>
        </p:nvSpPr>
        <p:spPr>
          <a:xfrm>
            <a:off x="777240" y="1874520"/>
            <a:ext cx="3337560" cy="2423160"/>
          </a:xfrm>
          <a:prstGeom prst="roundRect">
            <a:avLst/>
          </a:prstGeom>
          <a:solidFill>
            <a:srgbClr val="FFFFFF"/>
          </a:solidFill>
          <a:ln w="12700">
            <a:solidFill>
              <a:srgbClr val="CBD5E1"/>
            </a:solidFill>
            <a:prstDash val="solid"/>
          </a:ln>
        </p:spPr>
      </p:sp>
      <p:sp>
        <p:nvSpPr>
          <p:cNvPr id="7" name="Shape 4"/>
          <p:cNvSpPr/>
          <p:nvPr/>
        </p:nvSpPr>
        <p:spPr>
          <a:xfrm>
            <a:off x="777240" y="1874520"/>
            <a:ext cx="3337560" cy="292608"/>
          </a:xfrm>
          <a:prstGeom prst="roundRect">
            <a:avLst/>
          </a:prstGeom>
          <a:solidFill>
            <a:srgbClr val="4BACC6"/>
          </a:solidFill>
          <a:ln w="12700">
            <a:solidFill>
              <a:srgbClr val="4BACC6"/>
            </a:solidFill>
            <a:prstDash val="solid"/>
          </a:ln>
        </p:spPr>
      </p:sp>
      <p:sp>
        <p:nvSpPr>
          <p:cNvPr id="8" name="Text 5"/>
          <p:cNvSpPr txBox="1"/>
          <p:nvPr/>
        </p:nvSpPr>
        <p:spPr>
          <a:xfrm>
            <a:off x="886968" y="1911096"/>
            <a:ext cx="3118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PUBLIC AUP</a:t>
            </a:r>
            <a:endParaRPr lang="en-US" sz="1100" dirty="0"/>
          </a:p>
        </p:txBody>
      </p:sp>
      <p:sp>
        <p:nvSpPr>
          <p:cNvPr id="9" name="Text 6"/>
          <p:cNvSpPr txBox="1"/>
          <p:nvPr/>
        </p:nvSpPr>
        <p:spPr>
          <a:xfrm>
            <a:off x="886968" y="2286000"/>
            <a:ext cx="3118104" cy="19202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Protect the service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Name prohibited uses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Set user expectations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Explain enforcement</a:t>
            </a:r>
            <a:endParaRPr lang="en-US" sz="1300" dirty="0"/>
          </a:p>
        </p:txBody>
      </p:sp>
      <p:sp>
        <p:nvSpPr>
          <p:cNvPr id="10" name="Shape 7"/>
          <p:cNvSpPr/>
          <p:nvPr/>
        </p:nvSpPr>
        <p:spPr>
          <a:xfrm>
            <a:off x="4434840" y="1874520"/>
            <a:ext cx="3337560" cy="2423160"/>
          </a:xfrm>
          <a:prstGeom prst="roundRect">
            <a:avLst/>
          </a:prstGeom>
          <a:solidFill>
            <a:srgbClr val="FFFFFF"/>
          </a:solidFill>
          <a:ln w="12700">
            <a:solidFill>
              <a:srgbClr val="CBD5E1"/>
            </a:solidFill>
            <a:prstDash val="solid"/>
          </a:ln>
        </p:spPr>
      </p:sp>
      <p:sp>
        <p:nvSpPr>
          <p:cNvPr id="11" name="Shape 8"/>
          <p:cNvSpPr/>
          <p:nvPr/>
        </p:nvSpPr>
        <p:spPr>
          <a:xfrm>
            <a:off x="4434840" y="1874520"/>
            <a:ext cx="3337560" cy="292608"/>
          </a:xfrm>
          <a:prstGeom prst="roundRect">
            <a:avLst/>
          </a:prstGeom>
          <a:solidFill>
            <a:srgbClr val="4F81BD"/>
          </a:solidFill>
          <a:ln w="12700">
            <a:solidFill>
              <a:srgbClr val="4F81BD"/>
            </a:solidFill>
            <a:prstDash val="solid"/>
          </a:ln>
        </p:spPr>
      </p:sp>
      <p:sp>
        <p:nvSpPr>
          <p:cNvPr id="12" name="Text 9"/>
          <p:cNvSpPr txBox="1"/>
          <p:nvPr/>
        </p:nvSpPr>
        <p:spPr>
          <a:xfrm>
            <a:off x="4544568" y="1911096"/>
            <a:ext cx="3118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INTERNAL POLICY</a:t>
            </a:r>
            <a:endParaRPr lang="en-US" sz="1100" dirty="0"/>
          </a:p>
        </p:txBody>
      </p:sp>
      <p:sp>
        <p:nvSpPr>
          <p:cNvPr id="13" name="Text 10"/>
          <p:cNvSpPr txBox="1"/>
          <p:nvPr/>
        </p:nvSpPr>
        <p:spPr>
          <a:xfrm>
            <a:off x="4544568" y="2286000"/>
            <a:ext cx="3118104" cy="19202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Assign owners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Set mandatory controls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Define evidence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Manage exceptions</a:t>
            </a:r>
            <a:endParaRPr lang="en-US" sz="1300" dirty="0"/>
          </a:p>
        </p:txBody>
      </p:sp>
      <p:sp>
        <p:nvSpPr>
          <p:cNvPr id="14" name="Shape 11"/>
          <p:cNvSpPr/>
          <p:nvPr/>
        </p:nvSpPr>
        <p:spPr>
          <a:xfrm>
            <a:off x="8092440" y="1874520"/>
            <a:ext cx="3337560" cy="2423160"/>
          </a:xfrm>
          <a:prstGeom prst="roundRect">
            <a:avLst/>
          </a:prstGeom>
          <a:solidFill>
            <a:srgbClr val="FFFFFF"/>
          </a:solidFill>
          <a:ln w="12700">
            <a:solidFill>
              <a:srgbClr val="CBD5E1"/>
            </a:solidFill>
            <a:prstDash val="solid"/>
          </a:ln>
        </p:spPr>
      </p:sp>
      <p:sp>
        <p:nvSpPr>
          <p:cNvPr id="15" name="Shape 12"/>
          <p:cNvSpPr/>
          <p:nvPr/>
        </p:nvSpPr>
        <p:spPr>
          <a:xfrm>
            <a:off x="8092440" y="1874520"/>
            <a:ext cx="3337560" cy="292608"/>
          </a:xfrm>
          <a:prstGeom prst="roundRect">
            <a:avLst/>
          </a:prstGeom>
          <a:solidFill>
            <a:srgbClr val="F79646"/>
          </a:solidFill>
          <a:ln w="12700">
            <a:solidFill>
              <a:srgbClr val="F79646"/>
            </a:solidFill>
            <a:prstDash val="solid"/>
          </a:ln>
        </p:spPr>
      </p:sp>
      <p:sp>
        <p:nvSpPr>
          <p:cNvPr id="16" name="Text 13"/>
          <p:cNvSpPr txBox="1"/>
          <p:nvPr/>
        </p:nvSpPr>
        <p:spPr>
          <a:xfrm>
            <a:off x="8202168" y="1911096"/>
            <a:ext cx="3118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DISCUSSION</a:t>
            </a:r>
            <a:endParaRPr lang="en-US" sz="1100" dirty="0"/>
          </a:p>
        </p:txBody>
      </p:sp>
      <p:sp>
        <p:nvSpPr>
          <p:cNvPr id="17" name="Text 14"/>
          <p:cNvSpPr txBox="1"/>
          <p:nvPr/>
        </p:nvSpPr>
        <p:spPr>
          <a:xfrm>
            <a:off x="8202168" y="2286000"/>
            <a:ext cx="3118104" cy="19202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Which audience?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Which behavior?</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Which evidence?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Which consequence?</a:t>
            </a:r>
            <a:endParaRPr lang="en-US" sz="1300" dirty="0"/>
          </a:p>
        </p:txBody>
      </p:sp>
      <p:sp>
        <p:nvSpPr>
          <p:cNvPr id="18" name="Shape 15"/>
          <p:cNvSpPr/>
          <p:nvPr/>
        </p:nvSpPr>
        <p:spPr>
          <a:xfrm>
            <a:off x="1005840" y="4800600"/>
            <a:ext cx="10104120" cy="594360"/>
          </a:xfrm>
          <a:prstGeom prst="roundRect">
            <a:avLst/>
          </a:prstGeom>
          <a:solidFill>
            <a:srgbClr val="FFFFFF"/>
          </a:solidFill>
          <a:ln w="12700">
            <a:solidFill>
              <a:srgbClr val="1F497D"/>
            </a:solidFill>
            <a:prstDash val="solid"/>
          </a:ln>
        </p:spPr>
      </p:sp>
      <p:sp>
        <p:nvSpPr>
          <p:cNvPr id="19" name="Shape 16"/>
          <p:cNvSpPr/>
          <p:nvPr/>
        </p:nvSpPr>
        <p:spPr>
          <a:xfrm>
            <a:off x="1005840" y="4800600"/>
            <a:ext cx="100584" cy="594360"/>
          </a:xfrm>
          <a:prstGeom prst="rect">
            <a:avLst/>
          </a:prstGeom>
          <a:solidFill>
            <a:srgbClr val="1F497D"/>
          </a:solidFill>
          <a:ln w="12700">
            <a:solidFill>
              <a:srgbClr val="1F497D"/>
            </a:solidFill>
            <a:prstDash val="solid"/>
          </a:ln>
        </p:spPr>
      </p:sp>
      <p:sp>
        <p:nvSpPr>
          <p:cNvPr id="20" name="Text 17"/>
          <p:cNvSpPr txBox="1"/>
          <p:nvPr/>
        </p:nvSpPr>
        <p:spPr>
          <a:xfrm>
            <a:off x="1243584" y="491032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Teaching point</a:t>
            </a:r>
            <a:endParaRPr lang="en-US" sz="1400" dirty="0"/>
          </a:p>
        </p:txBody>
      </p:sp>
      <p:sp>
        <p:nvSpPr>
          <p:cNvPr id="21" name="Text 18"/>
          <p:cNvSpPr txBox="1"/>
          <p:nvPr/>
        </p:nvSpPr>
        <p:spPr>
          <a:xfrm>
            <a:off x="1243584" y="5212080"/>
            <a:ext cx="9756648" cy="9144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policy can be clear to customers and still incomplete for internal control operations.</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CRITIQUE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Weak as an operational control: “use responsibly”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real-company code can express a good value and still leave an implementation gap.</a:t>
            </a:r>
            <a:endParaRPr lang="en-US" sz="1250" dirty="0"/>
          </a:p>
        </p:txBody>
      </p:sp>
      <p:sp>
        <p:nvSpPr>
          <p:cNvPr id="6" name="Text 3"/>
          <p:cNvSpPr txBox="1"/>
          <p:nvPr/>
        </p:nvSpPr>
        <p:spPr>
          <a:xfrm>
            <a:off x="868680" y="1874520"/>
            <a:ext cx="4800600" cy="411480"/>
          </a:xfrm>
          <a:prstGeom prst="rect">
            <a:avLst/>
          </a:prstGeom>
          <a:noFill/>
          <a:ln/>
        </p:spPr>
        <p:txBody>
          <a:bodyPr wrap="square" lIns="508" tIns="508" rIns="508" bIns="508" rtlCol="0" anchor="ctr">
            <a:normAutofit/>
          </a:bodyPr>
          <a:lstStyle/>
          <a:p>
            <a:pPr algn="ctr" indent="0" marL="0">
              <a:buNone/>
            </a:pPr>
            <a:r>
              <a:rPr lang="en-US" sz="2500" b="1" dirty="0">
                <a:solidFill>
                  <a:srgbClr val="1F497D"/>
                </a:solidFill>
                <a:latin typeface="Calibri" pitchFamily="34" charset="0"/>
                <a:ea typeface="Calibri" pitchFamily="34" charset="-122"/>
                <a:cs typeface="Calibri" pitchFamily="34" charset="-120"/>
              </a:rPr>
              <a:t>USE SYSTEMS RESPONSIBLY</a:t>
            </a:r>
            <a:endParaRPr lang="en-US" sz="2500" dirty="0"/>
          </a:p>
        </p:txBody>
      </p:sp>
      <p:sp>
        <p:nvSpPr>
          <p:cNvPr id="7" name="Text 4"/>
          <p:cNvSpPr txBox="1"/>
          <p:nvPr/>
        </p:nvSpPr>
        <p:spPr>
          <a:xfrm>
            <a:off x="1097280" y="2514600"/>
            <a:ext cx="4343400" cy="685800"/>
          </a:xfrm>
          <a:prstGeom prst="rect">
            <a:avLst/>
          </a:prstGeom>
          <a:noFill/>
          <a:ln/>
        </p:spPr>
        <p:txBody>
          <a:bodyPr wrap="square" lIns="508" tIns="508" rIns="508" bIns="508" rtlCol="0" anchor="ctr">
            <a:normAutofit/>
          </a:bodyPr>
          <a:lstStyle/>
          <a:p>
            <a:pPr algn="ctr" indent="0" marL="0">
              <a:buNone/>
            </a:pPr>
            <a:r>
              <a:rPr lang="en-US" sz="1900" dirty="0">
                <a:solidFill>
                  <a:srgbClr val="64748B"/>
                </a:solidFill>
                <a:latin typeface="Calibri" pitchFamily="34" charset="0"/>
                <a:ea typeface="Calibri" pitchFamily="34" charset="-122"/>
                <a:cs typeface="Calibri" pitchFamily="34" charset="-120"/>
              </a:rPr>
              <a:t>Good principle</a:t>
            </a:r>
            <a:endParaRPr lang="en-US" sz="1900" dirty="0"/>
          </a:p>
          <a:p>
            <a:pPr algn="ctr" indent="0" marL="0">
              <a:buNone/>
            </a:pPr>
            <a:r>
              <a:rPr lang="en-US" sz="1900" dirty="0">
                <a:solidFill>
                  <a:srgbClr val="64748B"/>
                </a:solidFill>
                <a:latin typeface="Calibri" pitchFamily="34" charset="0"/>
                <a:ea typeface="Calibri" pitchFamily="34" charset="-122"/>
                <a:cs typeface="Calibri" pitchFamily="34" charset="-120"/>
              </a:rPr>
              <a:t>Weak standalone control</a:t>
            </a:r>
            <a:endParaRPr lang="en-US" sz="1900" dirty="0"/>
          </a:p>
        </p:txBody>
      </p:sp>
      <p:sp>
        <p:nvSpPr>
          <p:cNvPr id="8" name="Shape 5"/>
          <p:cNvSpPr/>
          <p:nvPr/>
        </p:nvSpPr>
        <p:spPr>
          <a:xfrm>
            <a:off x="5989320" y="1828800"/>
            <a:ext cx="2377440" cy="841248"/>
          </a:xfrm>
          <a:prstGeom prst="roundRect">
            <a:avLst/>
          </a:prstGeom>
          <a:solidFill>
            <a:srgbClr val="FFFFFF"/>
          </a:solidFill>
          <a:ln w="12700">
            <a:solidFill>
              <a:srgbClr val="4BACC6"/>
            </a:solidFill>
            <a:prstDash val="solid"/>
          </a:ln>
        </p:spPr>
      </p:sp>
      <p:sp>
        <p:nvSpPr>
          <p:cNvPr id="9" name="Shape 6"/>
          <p:cNvSpPr/>
          <p:nvPr/>
        </p:nvSpPr>
        <p:spPr>
          <a:xfrm>
            <a:off x="5989320" y="1828800"/>
            <a:ext cx="100584" cy="841248"/>
          </a:xfrm>
          <a:prstGeom prst="rect">
            <a:avLst/>
          </a:prstGeom>
          <a:solidFill>
            <a:srgbClr val="4BACC6"/>
          </a:solidFill>
          <a:ln w="12700">
            <a:solidFill>
              <a:srgbClr val="4BACC6"/>
            </a:solidFill>
            <a:prstDash val="solid"/>
          </a:ln>
        </p:spPr>
      </p:sp>
      <p:sp>
        <p:nvSpPr>
          <p:cNvPr id="10" name="Text 7"/>
          <p:cNvSpPr txBox="1"/>
          <p:nvPr/>
        </p:nvSpPr>
        <p:spPr>
          <a:xfrm>
            <a:off x="6227064" y="1938528"/>
            <a:ext cx="2029968" cy="237744"/>
          </a:xfrm>
          <a:prstGeom prst="rect">
            <a:avLst/>
          </a:prstGeom>
          <a:noFill/>
          <a:ln/>
        </p:spPr>
        <p:txBody>
          <a:bodyPr wrap="square" lIns="508" tIns="508" rIns="508" bIns="508" rtlCol="0" anchor="ctr">
            <a:normAutofit/>
          </a:bodyPr>
          <a:lstStyle/>
          <a:p>
            <a:pPr algn="l" indent="0" marL="0">
              <a:buNone/>
            </a:pPr>
            <a:r>
              <a:rPr lang="en-US" sz="1400" b="1" dirty="0">
                <a:solidFill>
                  <a:srgbClr val="4BACC6"/>
                </a:solidFill>
                <a:latin typeface="Calibri" pitchFamily="34" charset="0"/>
                <a:ea typeface="Calibri" pitchFamily="34" charset="-122"/>
                <a:cs typeface="Calibri" pitchFamily="34" charset="-120"/>
              </a:rPr>
              <a:t>Scope</a:t>
            </a:r>
            <a:endParaRPr lang="en-US" sz="1400" dirty="0"/>
          </a:p>
        </p:txBody>
      </p:sp>
      <p:sp>
        <p:nvSpPr>
          <p:cNvPr id="11" name="Text 8"/>
          <p:cNvSpPr txBox="1"/>
          <p:nvPr/>
        </p:nvSpPr>
        <p:spPr>
          <a:xfrm>
            <a:off x="6227064" y="2240280"/>
            <a:ext cx="2029968" cy="33832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systems and users?</a:t>
            </a:r>
            <a:endParaRPr lang="en-US" sz="1250" dirty="0"/>
          </a:p>
        </p:txBody>
      </p:sp>
      <p:sp>
        <p:nvSpPr>
          <p:cNvPr id="12" name="Shape 9"/>
          <p:cNvSpPr/>
          <p:nvPr/>
        </p:nvSpPr>
        <p:spPr>
          <a:xfrm>
            <a:off x="8732520" y="1828800"/>
            <a:ext cx="2377440" cy="841248"/>
          </a:xfrm>
          <a:prstGeom prst="roundRect">
            <a:avLst/>
          </a:prstGeom>
          <a:solidFill>
            <a:srgbClr val="FFFFFF"/>
          </a:solidFill>
          <a:ln w="12700">
            <a:solidFill>
              <a:srgbClr val="4F81BD"/>
            </a:solidFill>
            <a:prstDash val="solid"/>
          </a:ln>
        </p:spPr>
      </p:sp>
      <p:sp>
        <p:nvSpPr>
          <p:cNvPr id="13" name="Shape 10"/>
          <p:cNvSpPr/>
          <p:nvPr/>
        </p:nvSpPr>
        <p:spPr>
          <a:xfrm>
            <a:off x="8732520" y="1828800"/>
            <a:ext cx="100584" cy="841248"/>
          </a:xfrm>
          <a:prstGeom prst="rect">
            <a:avLst/>
          </a:prstGeom>
          <a:solidFill>
            <a:srgbClr val="4F81BD"/>
          </a:solidFill>
          <a:ln w="12700">
            <a:solidFill>
              <a:srgbClr val="4F81BD"/>
            </a:solidFill>
            <a:prstDash val="solid"/>
          </a:ln>
        </p:spPr>
      </p:sp>
      <p:sp>
        <p:nvSpPr>
          <p:cNvPr id="14" name="Text 11"/>
          <p:cNvSpPr txBox="1"/>
          <p:nvPr/>
        </p:nvSpPr>
        <p:spPr>
          <a:xfrm>
            <a:off x="8970264" y="1938528"/>
            <a:ext cx="202996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Behavior</a:t>
            </a:r>
            <a:endParaRPr lang="en-US" sz="1400" dirty="0"/>
          </a:p>
        </p:txBody>
      </p:sp>
      <p:sp>
        <p:nvSpPr>
          <p:cNvPr id="15" name="Text 12"/>
          <p:cNvSpPr txBox="1"/>
          <p:nvPr/>
        </p:nvSpPr>
        <p:spPr>
          <a:xfrm>
            <a:off x="8970264" y="2240280"/>
            <a:ext cx="2029968" cy="33832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is prohibited?</a:t>
            </a:r>
            <a:endParaRPr lang="en-US" sz="1250" dirty="0"/>
          </a:p>
        </p:txBody>
      </p:sp>
      <p:sp>
        <p:nvSpPr>
          <p:cNvPr id="16" name="Shape 13"/>
          <p:cNvSpPr/>
          <p:nvPr/>
        </p:nvSpPr>
        <p:spPr>
          <a:xfrm>
            <a:off x="5989320" y="3063240"/>
            <a:ext cx="2377440" cy="841248"/>
          </a:xfrm>
          <a:prstGeom prst="roundRect">
            <a:avLst/>
          </a:prstGeom>
          <a:solidFill>
            <a:srgbClr val="FFFFFF"/>
          </a:solidFill>
          <a:ln w="12700">
            <a:solidFill>
              <a:srgbClr val="F79646"/>
            </a:solidFill>
            <a:prstDash val="solid"/>
          </a:ln>
        </p:spPr>
      </p:sp>
      <p:sp>
        <p:nvSpPr>
          <p:cNvPr id="17" name="Shape 14"/>
          <p:cNvSpPr/>
          <p:nvPr/>
        </p:nvSpPr>
        <p:spPr>
          <a:xfrm>
            <a:off x="5989320" y="3063240"/>
            <a:ext cx="100584" cy="841248"/>
          </a:xfrm>
          <a:prstGeom prst="rect">
            <a:avLst/>
          </a:prstGeom>
          <a:solidFill>
            <a:srgbClr val="F79646"/>
          </a:solidFill>
          <a:ln w="12700">
            <a:solidFill>
              <a:srgbClr val="F79646"/>
            </a:solidFill>
            <a:prstDash val="solid"/>
          </a:ln>
        </p:spPr>
      </p:sp>
      <p:sp>
        <p:nvSpPr>
          <p:cNvPr id="18" name="Text 15"/>
          <p:cNvSpPr txBox="1"/>
          <p:nvPr/>
        </p:nvSpPr>
        <p:spPr>
          <a:xfrm>
            <a:off x="6227064" y="3172968"/>
            <a:ext cx="202996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Evidence</a:t>
            </a:r>
            <a:endParaRPr lang="en-US" sz="1400" dirty="0"/>
          </a:p>
        </p:txBody>
      </p:sp>
      <p:sp>
        <p:nvSpPr>
          <p:cNvPr id="19" name="Text 16"/>
          <p:cNvSpPr txBox="1"/>
          <p:nvPr/>
        </p:nvSpPr>
        <p:spPr>
          <a:xfrm>
            <a:off x="6227064" y="3474720"/>
            <a:ext cx="2029968" cy="33832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how is compliance shown?</a:t>
            </a:r>
            <a:endParaRPr lang="en-US" sz="1250" dirty="0"/>
          </a:p>
        </p:txBody>
      </p:sp>
      <p:sp>
        <p:nvSpPr>
          <p:cNvPr id="20" name="Shape 17"/>
          <p:cNvSpPr/>
          <p:nvPr/>
        </p:nvSpPr>
        <p:spPr>
          <a:xfrm>
            <a:off x="8732520" y="3063240"/>
            <a:ext cx="2377440" cy="841248"/>
          </a:xfrm>
          <a:prstGeom prst="roundRect">
            <a:avLst/>
          </a:prstGeom>
          <a:solidFill>
            <a:srgbClr val="FFFFFF"/>
          </a:solidFill>
          <a:ln w="12700">
            <a:solidFill>
              <a:srgbClr val="C0504D"/>
            </a:solidFill>
            <a:prstDash val="solid"/>
          </a:ln>
        </p:spPr>
      </p:sp>
      <p:sp>
        <p:nvSpPr>
          <p:cNvPr id="21" name="Shape 18"/>
          <p:cNvSpPr/>
          <p:nvPr/>
        </p:nvSpPr>
        <p:spPr>
          <a:xfrm>
            <a:off x="8732520" y="3063240"/>
            <a:ext cx="100584" cy="841248"/>
          </a:xfrm>
          <a:prstGeom prst="rect">
            <a:avLst/>
          </a:prstGeom>
          <a:solidFill>
            <a:srgbClr val="C0504D"/>
          </a:solidFill>
          <a:ln w="12700">
            <a:solidFill>
              <a:srgbClr val="C0504D"/>
            </a:solidFill>
            <a:prstDash val="solid"/>
          </a:ln>
        </p:spPr>
      </p:sp>
      <p:sp>
        <p:nvSpPr>
          <p:cNvPr id="22" name="Text 19"/>
          <p:cNvSpPr txBox="1"/>
          <p:nvPr/>
        </p:nvSpPr>
        <p:spPr>
          <a:xfrm>
            <a:off x="8970264" y="3172968"/>
            <a:ext cx="202996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Response</a:t>
            </a:r>
            <a:endParaRPr lang="en-US" sz="1400" dirty="0"/>
          </a:p>
        </p:txBody>
      </p:sp>
      <p:sp>
        <p:nvSpPr>
          <p:cNvPr id="23" name="Text 20"/>
          <p:cNvSpPr txBox="1"/>
          <p:nvPr/>
        </p:nvSpPr>
        <p:spPr>
          <a:xfrm>
            <a:off x="8970264" y="3474720"/>
            <a:ext cx="2029968" cy="33832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who acts and when?</a:t>
            </a:r>
            <a:endParaRPr lang="en-US" sz="1250" dirty="0"/>
          </a:p>
        </p:txBody>
      </p:sp>
      <p:sp>
        <p:nvSpPr>
          <p:cNvPr id="24" name="Shape 21"/>
          <p:cNvSpPr/>
          <p:nvPr/>
        </p:nvSpPr>
        <p:spPr>
          <a:xfrm>
            <a:off x="2926080" y="4892040"/>
            <a:ext cx="6355080" cy="274320"/>
          </a:xfrm>
          <a:prstGeom prst="roundRect">
            <a:avLst/>
          </a:prstGeom>
          <a:solidFill>
            <a:srgbClr val="F79646"/>
          </a:solidFill>
          <a:ln w="12700">
            <a:solidFill>
              <a:srgbClr val="F79646"/>
            </a:solidFill>
            <a:prstDash val="solid"/>
          </a:ln>
        </p:spPr>
      </p:sp>
      <p:sp>
        <p:nvSpPr>
          <p:cNvPr id="25" name="Text 22"/>
          <p:cNvSpPr txBox="1"/>
          <p:nvPr/>
        </p:nvSpPr>
        <p:spPr>
          <a:xfrm>
            <a:off x="2999232" y="4910328"/>
            <a:ext cx="62087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REWRITE IT AS A TESTABLE REQUIREMENT</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DESIGN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Policy length: concise enough to use, complete enough to control</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There is no universal page limit. The goal is decision density, not word count.</a:t>
            </a:r>
            <a:endParaRPr lang="en-US" sz="1250" dirty="0"/>
          </a:p>
        </p:txBody>
      </p:sp>
      <p:sp>
        <p:nvSpPr>
          <p:cNvPr id="6" name="Shape 3"/>
          <p:cNvSpPr/>
          <p:nvPr/>
        </p:nvSpPr>
        <p:spPr>
          <a:xfrm>
            <a:off x="868680" y="1874520"/>
            <a:ext cx="3063240" cy="2286000"/>
          </a:xfrm>
          <a:prstGeom prst="roundRect">
            <a:avLst/>
          </a:prstGeom>
          <a:solidFill>
            <a:srgbClr val="FFFFFF"/>
          </a:solidFill>
          <a:ln w="12700">
            <a:solidFill>
              <a:srgbClr val="C0504D"/>
            </a:solidFill>
            <a:prstDash val="solid"/>
          </a:ln>
        </p:spPr>
      </p:sp>
      <p:sp>
        <p:nvSpPr>
          <p:cNvPr id="7" name="Shape 4"/>
          <p:cNvSpPr/>
          <p:nvPr/>
        </p:nvSpPr>
        <p:spPr>
          <a:xfrm>
            <a:off x="868680" y="1874520"/>
            <a:ext cx="3063240" cy="438912"/>
          </a:xfrm>
          <a:prstGeom prst="roundRect">
            <a:avLst/>
          </a:prstGeom>
          <a:solidFill>
            <a:srgbClr val="C0504D"/>
          </a:solidFill>
          <a:ln w="12700">
            <a:solidFill>
              <a:srgbClr val="C0504D"/>
            </a:solidFill>
            <a:prstDash val="solid"/>
          </a:ln>
        </p:spPr>
      </p:sp>
      <p:sp>
        <p:nvSpPr>
          <p:cNvPr id="8" name="Text 5"/>
          <p:cNvSpPr txBox="1"/>
          <p:nvPr/>
        </p:nvSpPr>
        <p:spPr>
          <a:xfrm>
            <a:off x="1005840" y="1993392"/>
            <a:ext cx="2788920" cy="182880"/>
          </a:xfrm>
          <a:prstGeom prst="rect">
            <a:avLst/>
          </a:prstGeom>
          <a:noFill/>
          <a:ln/>
        </p:spPr>
        <p:txBody>
          <a:bodyPr wrap="square" lIns="508" tIns="508" rIns="508" bIns="508" rtlCol="0" anchor="ctr">
            <a:normAutofit/>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Too short</a:t>
            </a:r>
            <a:endParaRPr lang="en-US" sz="1800" dirty="0"/>
          </a:p>
        </p:txBody>
      </p:sp>
      <p:sp>
        <p:nvSpPr>
          <p:cNvPr id="9" name="Text 6"/>
          <p:cNvSpPr txBox="1"/>
          <p:nvPr/>
        </p:nvSpPr>
        <p:spPr>
          <a:xfrm>
            <a:off x="1097280" y="2743200"/>
            <a:ext cx="2606040" cy="731520"/>
          </a:xfrm>
          <a:prstGeom prst="rect">
            <a:avLst/>
          </a:prstGeom>
          <a:noFill/>
          <a:ln/>
        </p:spPr>
        <p:txBody>
          <a:bodyPr wrap="square" lIns="508" tIns="508" rIns="508" bIns="508" rtlCol="0" anchor="ctr">
            <a:normAutofit/>
          </a:bodyPr>
          <a:lstStyle/>
          <a:p>
            <a:pPr algn="ctr" indent="0" marL="0">
              <a:buNone/>
            </a:pPr>
            <a:r>
              <a:rPr lang="en-US" sz="1600" dirty="0">
                <a:solidFill>
                  <a:srgbClr val="203040"/>
                </a:solidFill>
                <a:latin typeface="Calibri" pitchFamily="34" charset="0"/>
                <a:ea typeface="Calibri" pitchFamily="34" charset="-122"/>
                <a:cs typeface="Calibri" pitchFamily="34" charset="-120"/>
              </a:rPr>
              <a:t>values only</a:t>
            </a:r>
            <a:endParaRPr lang="en-US" sz="1600" dirty="0"/>
          </a:p>
          <a:p>
            <a:pPr algn="ctr" indent="0" marL="0">
              <a:buNone/>
            </a:pPr>
            <a:r>
              <a:rPr lang="en-US" sz="1600" dirty="0">
                <a:solidFill>
                  <a:srgbClr val="203040"/>
                </a:solidFill>
                <a:latin typeface="Calibri" pitchFamily="34" charset="0"/>
                <a:ea typeface="Calibri" pitchFamily="34" charset="-122"/>
                <a:cs typeface="Calibri" pitchFamily="34" charset="-120"/>
              </a:rPr>
              <a:t>no test or owner</a:t>
            </a:r>
            <a:endParaRPr lang="en-US" sz="1600" dirty="0"/>
          </a:p>
        </p:txBody>
      </p:sp>
      <p:sp>
        <p:nvSpPr>
          <p:cNvPr id="10" name="Shape 7"/>
          <p:cNvSpPr/>
          <p:nvPr/>
        </p:nvSpPr>
        <p:spPr>
          <a:xfrm>
            <a:off x="4617720" y="1874520"/>
            <a:ext cx="3063240" cy="2286000"/>
          </a:xfrm>
          <a:prstGeom prst="roundRect">
            <a:avLst/>
          </a:prstGeom>
          <a:solidFill>
            <a:srgbClr val="FFFFFF"/>
          </a:solidFill>
          <a:ln w="12700">
            <a:solidFill>
              <a:srgbClr val="70AD47"/>
            </a:solidFill>
            <a:prstDash val="solid"/>
          </a:ln>
        </p:spPr>
      </p:sp>
      <p:sp>
        <p:nvSpPr>
          <p:cNvPr id="11" name="Shape 8"/>
          <p:cNvSpPr/>
          <p:nvPr/>
        </p:nvSpPr>
        <p:spPr>
          <a:xfrm>
            <a:off x="4617720" y="1874520"/>
            <a:ext cx="3063240" cy="438912"/>
          </a:xfrm>
          <a:prstGeom prst="roundRect">
            <a:avLst/>
          </a:prstGeom>
          <a:solidFill>
            <a:srgbClr val="70AD47"/>
          </a:solidFill>
          <a:ln w="12700">
            <a:solidFill>
              <a:srgbClr val="70AD47"/>
            </a:solidFill>
            <a:prstDash val="solid"/>
          </a:ln>
        </p:spPr>
      </p:sp>
      <p:sp>
        <p:nvSpPr>
          <p:cNvPr id="12" name="Text 9"/>
          <p:cNvSpPr txBox="1"/>
          <p:nvPr/>
        </p:nvSpPr>
        <p:spPr>
          <a:xfrm>
            <a:off x="4754880" y="1993392"/>
            <a:ext cx="2788920" cy="182880"/>
          </a:xfrm>
          <a:prstGeom prst="rect">
            <a:avLst/>
          </a:prstGeom>
          <a:noFill/>
          <a:ln/>
        </p:spPr>
        <p:txBody>
          <a:bodyPr wrap="square" lIns="508" tIns="508" rIns="508" bIns="508" rtlCol="0" anchor="ctr">
            <a:normAutofit/>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Useful</a:t>
            </a:r>
            <a:endParaRPr lang="en-US" sz="1800" dirty="0"/>
          </a:p>
        </p:txBody>
      </p:sp>
      <p:sp>
        <p:nvSpPr>
          <p:cNvPr id="13" name="Text 10"/>
          <p:cNvSpPr txBox="1"/>
          <p:nvPr/>
        </p:nvSpPr>
        <p:spPr>
          <a:xfrm>
            <a:off x="4846320" y="2743200"/>
            <a:ext cx="2606040" cy="731520"/>
          </a:xfrm>
          <a:prstGeom prst="rect">
            <a:avLst/>
          </a:prstGeom>
          <a:noFill/>
          <a:ln/>
        </p:spPr>
        <p:txBody>
          <a:bodyPr wrap="square" lIns="508" tIns="508" rIns="508" bIns="508" rtlCol="0" anchor="ctr">
            <a:normAutofit/>
          </a:bodyPr>
          <a:lstStyle/>
          <a:p>
            <a:pPr algn="ctr" indent="0" marL="0">
              <a:buNone/>
            </a:pPr>
            <a:r>
              <a:rPr lang="en-US" sz="1600" dirty="0">
                <a:solidFill>
                  <a:srgbClr val="203040"/>
                </a:solidFill>
                <a:latin typeface="Calibri" pitchFamily="34" charset="0"/>
                <a:ea typeface="Calibri" pitchFamily="34" charset="-122"/>
                <a:cs typeface="Calibri" pitchFamily="34" charset="-120"/>
              </a:rPr>
              <a:t>scope + duty + evidence</a:t>
            </a:r>
            <a:endParaRPr lang="en-US" sz="1600" dirty="0"/>
          </a:p>
          <a:p>
            <a:pPr algn="ctr" indent="0" marL="0">
              <a:buNone/>
            </a:pPr>
            <a:r>
              <a:rPr lang="en-US" sz="1600" dirty="0">
                <a:solidFill>
                  <a:srgbClr val="203040"/>
                </a:solidFill>
                <a:latin typeface="Calibri" pitchFamily="34" charset="0"/>
                <a:ea typeface="Calibri" pitchFamily="34" charset="-122"/>
                <a:cs typeface="Calibri" pitchFamily="34" charset="-120"/>
              </a:rPr>
              <a:t>linked standards and procedures</a:t>
            </a:r>
            <a:endParaRPr lang="en-US" sz="1600" dirty="0"/>
          </a:p>
        </p:txBody>
      </p:sp>
      <p:sp>
        <p:nvSpPr>
          <p:cNvPr id="14" name="Shape 11"/>
          <p:cNvSpPr/>
          <p:nvPr/>
        </p:nvSpPr>
        <p:spPr>
          <a:xfrm>
            <a:off x="8366760" y="1874520"/>
            <a:ext cx="3063240" cy="2286000"/>
          </a:xfrm>
          <a:prstGeom prst="roundRect">
            <a:avLst/>
          </a:prstGeom>
          <a:solidFill>
            <a:srgbClr val="FFFFFF"/>
          </a:solidFill>
          <a:ln w="12700">
            <a:solidFill>
              <a:srgbClr val="F79646"/>
            </a:solidFill>
            <a:prstDash val="solid"/>
          </a:ln>
        </p:spPr>
      </p:sp>
      <p:sp>
        <p:nvSpPr>
          <p:cNvPr id="15" name="Shape 12"/>
          <p:cNvSpPr/>
          <p:nvPr/>
        </p:nvSpPr>
        <p:spPr>
          <a:xfrm>
            <a:off x="8366760" y="1874520"/>
            <a:ext cx="3063240" cy="438912"/>
          </a:xfrm>
          <a:prstGeom prst="roundRect">
            <a:avLst/>
          </a:prstGeom>
          <a:solidFill>
            <a:srgbClr val="F79646"/>
          </a:solidFill>
          <a:ln w="12700">
            <a:solidFill>
              <a:srgbClr val="F79646"/>
            </a:solidFill>
            <a:prstDash val="solid"/>
          </a:ln>
        </p:spPr>
      </p:sp>
      <p:sp>
        <p:nvSpPr>
          <p:cNvPr id="16" name="Text 13"/>
          <p:cNvSpPr txBox="1"/>
          <p:nvPr/>
        </p:nvSpPr>
        <p:spPr>
          <a:xfrm>
            <a:off x="8503920" y="1993392"/>
            <a:ext cx="2788920" cy="182880"/>
          </a:xfrm>
          <a:prstGeom prst="rect">
            <a:avLst/>
          </a:prstGeom>
          <a:noFill/>
          <a:ln/>
        </p:spPr>
        <p:txBody>
          <a:bodyPr wrap="square" lIns="508" tIns="508" rIns="508" bIns="508" rtlCol="0" anchor="ctr">
            <a:normAutofit/>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Too long</a:t>
            </a:r>
            <a:endParaRPr lang="en-US" sz="1800" dirty="0"/>
          </a:p>
        </p:txBody>
      </p:sp>
      <p:sp>
        <p:nvSpPr>
          <p:cNvPr id="17" name="Text 14"/>
          <p:cNvSpPr txBox="1"/>
          <p:nvPr/>
        </p:nvSpPr>
        <p:spPr>
          <a:xfrm>
            <a:off x="8595360" y="2743200"/>
            <a:ext cx="2606040" cy="731520"/>
          </a:xfrm>
          <a:prstGeom prst="rect">
            <a:avLst/>
          </a:prstGeom>
          <a:noFill/>
          <a:ln/>
        </p:spPr>
        <p:txBody>
          <a:bodyPr wrap="square" lIns="508" tIns="508" rIns="508" bIns="508" rtlCol="0" anchor="ctr">
            <a:normAutofit/>
          </a:bodyPr>
          <a:lstStyle/>
          <a:p>
            <a:pPr algn="ctr" indent="0" marL="0">
              <a:buNone/>
            </a:pPr>
            <a:r>
              <a:rPr lang="en-US" sz="1600" dirty="0">
                <a:solidFill>
                  <a:srgbClr val="203040"/>
                </a:solidFill>
                <a:latin typeface="Calibri" pitchFamily="34" charset="0"/>
                <a:ea typeface="Calibri" pitchFamily="34" charset="-122"/>
                <a:cs typeface="Calibri" pitchFamily="34" charset="-120"/>
              </a:rPr>
              <a:t>buried requirements</a:t>
            </a:r>
            <a:endParaRPr lang="en-US" sz="1600" dirty="0"/>
          </a:p>
          <a:p>
            <a:pPr algn="ctr" indent="0" marL="0">
              <a:buNone/>
            </a:pPr>
            <a:r>
              <a:rPr lang="en-US" sz="1600" dirty="0">
                <a:solidFill>
                  <a:srgbClr val="203040"/>
                </a:solidFill>
                <a:latin typeface="Calibri" pitchFamily="34" charset="0"/>
                <a:ea typeface="Calibri" pitchFamily="34" charset="-122"/>
                <a:cs typeface="Calibri" pitchFamily="34" charset="-120"/>
              </a:rPr>
              <a:t>contradictions and policy debt</a:t>
            </a:r>
            <a:endParaRPr lang="en-US" sz="1600" dirty="0"/>
          </a:p>
        </p:txBody>
      </p:sp>
      <p:sp>
        <p:nvSpPr>
          <p:cNvPr id="18" name="Shape 15"/>
          <p:cNvSpPr/>
          <p:nvPr/>
        </p:nvSpPr>
        <p:spPr>
          <a:xfrm>
            <a:off x="960120" y="4663440"/>
            <a:ext cx="10149840" cy="713232"/>
          </a:xfrm>
          <a:prstGeom prst="roundRect">
            <a:avLst/>
          </a:prstGeom>
          <a:solidFill>
            <a:srgbClr val="FFFFFF"/>
          </a:solidFill>
          <a:ln w="12700">
            <a:solidFill>
              <a:srgbClr val="1F497D"/>
            </a:solidFill>
            <a:prstDash val="solid"/>
          </a:ln>
        </p:spPr>
      </p:sp>
      <p:sp>
        <p:nvSpPr>
          <p:cNvPr id="19" name="Shape 16"/>
          <p:cNvSpPr/>
          <p:nvPr/>
        </p:nvSpPr>
        <p:spPr>
          <a:xfrm>
            <a:off x="960120" y="4663440"/>
            <a:ext cx="100584" cy="713232"/>
          </a:xfrm>
          <a:prstGeom prst="rect">
            <a:avLst/>
          </a:prstGeom>
          <a:solidFill>
            <a:srgbClr val="1F497D"/>
          </a:solidFill>
          <a:ln w="12700">
            <a:solidFill>
              <a:srgbClr val="1F497D"/>
            </a:solidFill>
            <a:prstDash val="solid"/>
          </a:ln>
        </p:spPr>
      </p:sp>
      <p:sp>
        <p:nvSpPr>
          <p:cNvPr id="20" name="Text 17"/>
          <p:cNvSpPr txBox="1"/>
          <p:nvPr/>
        </p:nvSpPr>
        <p:spPr>
          <a:xfrm>
            <a:off x="1197864" y="4773168"/>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Editing test</a:t>
            </a:r>
            <a:endParaRPr lang="en-US" sz="1400" dirty="0"/>
          </a:p>
        </p:txBody>
      </p:sp>
      <p:sp>
        <p:nvSpPr>
          <p:cNvPr id="21" name="Text 18"/>
          <p:cNvSpPr txBox="1"/>
          <p:nvPr/>
        </p:nvSpPr>
        <p:spPr>
          <a:xfrm>
            <a:off x="1197864" y="5074920"/>
            <a:ext cx="980236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If a reader cannot find the required action, evidence, owner, and exception path quickly, the policy needs restructuring.</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DISCUSSION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Rewrite workshop: from principle to enforceable control</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Teams improve a weak sentence and defend the tradeoffs.</a:t>
            </a:r>
            <a:endParaRPr lang="en-US" sz="1250" dirty="0"/>
          </a:p>
        </p:txBody>
      </p:sp>
      <p:sp>
        <p:nvSpPr>
          <p:cNvPr id="6" name="Shape 3"/>
          <p:cNvSpPr/>
          <p:nvPr/>
        </p:nvSpPr>
        <p:spPr>
          <a:xfrm>
            <a:off x="1344168" y="187452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743200"/>
            <a:ext cx="2057400" cy="457200"/>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Who is covered?</a:t>
            </a:r>
            <a:endParaRPr lang="en-US" sz="1400" dirty="0"/>
          </a:p>
        </p:txBody>
      </p:sp>
      <p:sp>
        <p:nvSpPr>
          <p:cNvPr id="9" name="Shape 6"/>
          <p:cNvSpPr/>
          <p:nvPr/>
        </p:nvSpPr>
        <p:spPr>
          <a:xfrm>
            <a:off x="3648456" y="1874520"/>
            <a:ext cx="566928" cy="566928"/>
          </a:xfrm>
          <a:prstGeom prst="ellipse">
            <a:avLst/>
          </a:prstGeom>
          <a:solidFill>
            <a:srgbClr val="4F81BD"/>
          </a:solidFill>
          <a:ln w="12700">
            <a:solidFill>
              <a:srgbClr val="4F81BD"/>
            </a:solidFill>
            <a:prstDash val="solid"/>
          </a:ln>
        </p:spPr>
      </p:sp>
      <p:sp>
        <p:nvSpPr>
          <p:cNvPr id="10" name="Text 7"/>
          <p:cNvSpPr txBox="1"/>
          <p:nvPr/>
        </p:nvSpPr>
        <p:spPr>
          <a:xfrm>
            <a:off x="3648456"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2898648" y="2743200"/>
            <a:ext cx="2057400" cy="457200"/>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What must happen?</a:t>
            </a:r>
            <a:endParaRPr lang="en-US" sz="1400" dirty="0"/>
          </a:p>
        </p:txBody>
      </p:sp>
      <p:sp>
        <p:nvSpPr>
          <p:cNvPr id="12" name="Shape 9"/>
          <p:cNvSpPr/>
          <p:nvPr/>
        </p:nvSpPr>
        <p:spPr>
          <a:xfrm>
            <a:off x="5952744" y="1874520"/>
            <a:ext cx="566928" cy="566928"/>
          </a:xfrm>
          <a:prstGeom prst="ellipse">
            <a:avLst/>
          </a:prstGeom>
          <a:solidFill>
            <a:srgbClr val="F79646"/>
          </a:solidFill>
          <a:ln w="12700">
            <a:solidFill>
              <a:srgbClr val="F79646"/>
            </a:solidFill>
            <a:prstDash val="solid"/>
          </a:ln>
        </p:spPr>
      </p:sp>
      <p:sp>
        <p:nvSpPr>
          <p:cNvPr id="13" name="Text 10"/>
          <p:cNvSpPr txBox="1"/>
          <p:nvPr/>
        </p:nvSpPr>
        <p:spPr>
          <a:xfrm>
            <a:off x="5952744"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1"/>
          <p:cNvSpPr txBox="1"/>
          <p:nvPr/>
        </p:nvSpPr>
        <p:spPr>
          <a:xfrm>
            <a:off x="5202936" y="2743200"/>
            <a:ext cx="2057400" cy="457200"/>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How is it proven?</a:t>
            </a:r>
            <a:endParaRPr lang="en-US" sz="1400" dirty="0"/>
          </a:p>
        </p:txBody>
      </p:sp>
      <p:sp>
        <p:nvSpPr>
          <p:cNvPr id="15" name="Shape 12"/>
          <p:cNvSpPr/>
          <p:nvPr/>
        </p:nvSpPr>
        <p:spPr>
          <a:xfrm>
            <a:off x="8257032" y="1874520"/>
            <a:ext cx="566928" cy="566928"/>
          </a:xfrm>
          <a:prstGeom prst="ellipse">
            <a:avLst/>
          </a:prstGeom>
          <a:solidFill>
            <a:srgbClr val="8064A2"/>
          </a:solidFill>
          <a:ln w="12700">
            <a:solidFill>
              <a:srgbClr val="8064A2"/>
            </a:solidFill>
            <a:prstDash val="solid"/>
          </a:ln>
        </p:spPr>
      </p:sp>
      <p:sp>
        <p:nvSpPr>
          <p:cNvPr id="16" name="Text 13"/>
          <p:cNvSpPr txBox="1"/>
          <p:nvPr/>
        </p:nvSpPr>
        <p:spPr>
          <a:xfrm>
            <a:off x="8257032"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Text 14"/>
          <p:cNvSpPr txBox="1"/>
          <p:nvPr/>
        </p:nvSpPr>
        <p:spPr>
          <a:xfrm>
            <a:off x="7507224" y="2743200"/>
            <a:ext cx="2057400" cy="457200"/>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Who owns review?</a:t>
            </a:r>
            <a:endParaRPr lang="en-US" sz="1400" dirty="0"/>
          </a:p>
        </p:txBody>
      </p:sp>
      <p:sp>
        <p:nvSpPr>
          <p:cNvPr id="18" name="Shape 15"/>
          <p:cNvSpPr/>
          <p:nvPr/>
        </p:nvSpPr>
        <p:spPr>
          <a:xfrm>
            <a:off x="10561320" y="1874520"/>
            <a:ext cx="566928" cy="566928"/>
          </a:xfrm>
          <a:prstGeom prst="ellipse">
            <a:avLst/>
          </a:prstGeom>
          <a:solidFill>
            <a:srgbClr val="C0504D"/>
          </a:solidFill>
          <a:ln w="12700">
            <a:solidFill>
              <a:srgbClr val="C0504D"/>
            </a:solidFill>
            <a:prstDash val="solid"/>
          </a:ln>
        </p:spPr>
      </p:sp>
      <p:sp>
        <p:nvSpPr>
          <p:cNvPr id="19" name="Text 16"/>
          <p:cNvSpPr txBox="1"/>
          <p:nvPr/>
        </p:nvSpPr>
        <p:spPr>
          <a:xfrm>
            <a:off x="10561320"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9811512" y="2743200"/>
            <a:ext cx="2057400" cy="457200"/>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How does exception end?</a:t>
            </a:r>
            <a:endParaRPr lang="en-US" sz="1400" dirty="0"/>
          </a:p>
        </p:txBody>
      </p:sp>
      <p:sp>
        <p:nvSpPr>
          <p:cNvPr id="21" name="Shape 18"/>
          <p:cNvSpPr/>
          <p:nvPr/>
        </p:nvSpPr>
        <p:spPr>
          <a:xfrm>
            <a:off x="3886200" y="4892040"/>
            <a:ext cx="4389120" cy="274320"/>
          </a:xfrm>
          <a:prstGeom prst="roundRect">
            <a:avLst/>
          </a:prstGeom>
          <a:solidFill>
            <a:srgbClr val="F79646"/>
          </a:solidFill>
          <a:ln w="12700">
            <a:solidFill>
              <a:srgbClr val="F79646"/>
            </a:solidFill>
            <a:prstDash val="solid"/>
          </a:ln>
        </p:spPr>
      </p:sp>
      <p:sp>
        <p:nvSpPr>
          <p:cNvPr id="22" name="Text 19"/>
          <p:cNvSpPr txBox="1"/>
          <p:nvPr/>
        </p:nvSpPr>
        <p:spPr>
          <a:xfrm>
            <a:off x="3959352" y="4910328"/>
            <a:ext cx="424281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GROUP DISCUSSION · 8 MIN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Policy is the management decision. Standards make it testable.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policy package needs layers with different levels of specificity.</a:t>
            </a:r>
            <a:endParaRPr lang="en-US" sz="1250" dirty="0"/>
          </a:p>
        </p:txBody>
      </p:sp>
      <p:sp>
        <p:nvSpPr>
          <p:cNvPr id="6" name="Shape 3"/>
          <p:cNvSpPr/>
          <p:nvPr/>
        </p:nvSpPr>
        <p:spPr>
          <a:xfrm>
            <a:off x="731520" y="1965960"/>
            <a:ext cx="2423160" cy="2331720"/>
          </a:xfrm>
          <a:prstGeom prst="roundRect">
            <a:avLst/>
          </a:prstGeom>
          <a:solidFill>
            <a:srgbClr val="FFFFFF"/>
          </a:solidFill>
          <a:ln w="12700">
            <a:solidFill>
              <a:srgbClr val="C0504D"/>
            </a:solidFill>
            <a:prstDash val="solid"/>
          </a:ln>
        </p:spPr>
      </p:sp>
      <p:sp>
        <p:nvSpPr>
          <p:cNvPr id="7" name="Shape 4"/>
          <p:cNvSpPr/>
          <p:nvPr/>
        </p:nvSpPr>
        <p:spPr>
          <a:xfrm>
            <a:off x="731520" y="1965960"/>
            <a:ext cx="2423160" cy="411480"/>
          </a:xfrm>
          <a:prstGeom prst="roundRect">
            <a:avLst/>
          </a:prstGeom>
          <a:solidFill>
            <a:srgbClr val="C0504D"/>
          </a:solidFill>
          <a:ln w="12700">
            <a:solidFill>
              <a:srgbClr val="C0504D"/>
            </a:solidFill>
            <a:prstDash val="solid"/>
          </a:ln>
        </p:spPr>
      </p:sp>
      <p:sp>
        <p:nvSpPr>
          <p:cNvPr id="8" name="Text 5"/>
          <p:cNvSpPr txBox="1"/>
          <p:nvPr/>
        </p:nvSpPr>
        <p:spPr>
          <a:xfrm>
            <a:off x="841248"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Policy</a:t>
            </a:r>
            <a:endParaRPr lang="en-US" sz="1600" dirty="0"/>
          </a:p>
        </p:txBody>
      </p:sp>
      <p:sp>
        <p:nvSpPr>
          <p:cNvPr id="9" name="Text 6"/>
          <p:cNvSpPr txBox="1"/>
          <p:nvPr/>
        </p:nvSpPr>
        <p:spPr>
          <a:xfrm>
            <a:off x="896112"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why and who</a:t>
            </a:r>
            <a:endParaRPr lang="en-US" sz="1900" dirty="0"/>
          </a:p>
        </p:txBody>
      </p:sp>
      <p:sp>
        <p:nvSpPr>
          <p:cNvPr id="10" name="Shape 7"/>
          <p:cNvSpPr/>
          <p:nvPr/>
        </p:nvSpPr>
        <p:spPr>
          <a:xfrm>
            <a:off x="3547872" y="1965960"/>
            <a:ext cx="2423160" cy="2331720"/>
          </a:xfrm>
          <a:prstGeom prst="roundRect">
            <a:avLst/>
          </a:prstGeom>
          <a:solidFill>
            <a:srgbClr val="FFFFFF"/>
          </a:solidFill>
          <a:ln w="12700">
            <a:solidFill>
              <a:srgbClr val="F79646"/>
            </a:solidFill>
            <a:prstDash val="solid"/>
          </a:ln>
        </p:spPr>
      </p:sp>
      <p:sp>
        <p:nvSpPr>
          <p:cNvPr id="11" name="Shape 8"/>
          <p:cNvSpPr/>
          <p:nvPr/>
        </p:nvSpPr>
        <p:spPr>
          <a:xfrm>
            <a:off x="3547872" y="1965960"/>
            <a:ext cx="2423160" cy="411480"/>
          </a:xfrm>
          <a:prstGeom prst="roundRect">
            <a:avLst/>
          </a:prstGeom>
          <a:solidFill>
            <a:srgbClr val="F79646"/>
          </a:solidFill>
          <a:ln w="12700">
            <a:solidFill>
              <a:srgbClr val="F79646"/>
            </a:solidFill>
            <a:prstDash val="solid"/>
          </a:ln>
        </p:spPr>
      </p:sp>
      <p:sp>
        <p:nvSpPr>
          <p:cNvPr id="12" name="Text 9"/>
          <p:cNvSpPr txBox="1"/>
          <p:nvPr/>
        </p:nvSpPr>
        <p:spPr>
          <a:xfrm>
            <a:off x="3657600"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Standard</a:t>
            </a:r>
            <a:endParaRPr lang="en-US" sz="1600" dirty="0"/>
          </a:p>
        </p:txBody>
      </p:sp>
      <p:sp>
        <p:nvSpPr>
          <p:cNvPr id="13" name="Text 10"/>
          <p:cNvSpPr txBox="1"/>
          <p:nvPr/>
        </p:nvSpPr>
        <p:spPr>
          <a:xfrm>
            <a:off x="3712464"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what must be true</a:t>
            </a:r>
            <a:endParaRPr lang="en-US" sz="1900" dirty="0"/>
          </a:p>
        </p:txBody>
      </p:sp>
      <p:sp>
        <p:nvSpPr>
          <p:cNvPr id="14" name="Shape 11"/>
          <p:cNvSpPr/>
          <p:nvPr/>
        </p:nvSpPr>
        <p:spPr>
          <a:xfrm>
            <a:off x="6364224" y="1965960"/>
            <a:ext cx="2423160" cy="2331720"/>
          </a:xfrm>
          <a:prstGeom prst="roundRect">
            <a:avLst/>
          </a:prstGeom>
          <a:solidFill>
            <a:srgbClr val="FFFFFF"/>
          </a:solidFill>
          <a:ln w="12700">
            <a:solidFill>
              <a:srgbClr val="4F81BD"/>
            </a:solidFill>
            <a:prstDash val="solid"/>
          </a:ln>
        </p:spPr>
      </p:sp>
      <p:sp>
        <p:nvSpPr>
          <p:cNvPr id="15" name="Shape 12"/>
          <p:cNvSpPr/>
          <p:nvPr/>
        </p:nvSpPr>
        <p:spPr>
          <a:xfrm>
            <a:off x="6364224" y="1965960"/>
            <a:ext cx="2423160" cy="411480"/>
          </a:xfrm>
          <a:prstGeom prst="roundRect">
            <a:avLst/>
          </a:prstGeom>
          <a:solidFill>
            <a:srgbClr val="4F81BD"/>
          </a:solidFill>
          <a:ln w="12700">
            <a:solidFill>
              <a:srgbClr val="4F81BD"/>
            </a:solidFill>
            <a:prstDash val="solid"/>
          </a:ln>
        </p:spPr>
      </p:sp>
      <p:sp>
        <p:nvSpPr>
          <p:cNvPr id="16" name="Text 13"/>
          <p:cNvSpPr txBox="1"/>
          <p:nvPr/>
        </p:nvSpPr>
        <p:spPr>
          <a:xfrm>
            <a:off x="6473952"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Guideline</a:t>
            </a:r>
            <a:endParaRPr lang="en-US" sz="1600" dirty="0"/>
          </a:p>
        </p:txBody>
      </p:sp>
      <p:sp>
        <p:nvSpPr>
          <p:cNvPr id="17" name="Text 14"/>
          <p:cNvSpPr txBox="1"/>
          <p:nvPr/>
        </p:nvSpPr>
        <p:spPr>
          <a:xfrm>
            <a:off x="6528816"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what is preferred</a:t>
            </a:r>
            <a:endParaRPr lang="en-US" sz="1900" dirty="0"/>
          </a:p>
        </p:txBody>
      </p:sp>
      <p:sp>
        <p:nvSpPr>
          <p:cNvPr id="18" name="Shape 15"/>
          <p:cNvSpPr/>
          <p:nvPr/>
        </p:nvSpPr>
        <p:spPr>
          <a:xfrm>
            <a:off x="9180576" y="1965960"/>
            <a:ext cx="2423160" cy="2331720"/>
          </a:xfrm>
          <a:prstGeom prst="roundRect">
            <a:avLst/>
          </a:prstGeom>
          <a:solidFill>
            <a:srgbClr val="FFFFFF"/>
          </a:solidFill>
          <a:ln w="12700">
            <a:solidFill>
              <a:srgbClr val="70AD47"/>
            </a:solidFill>
            <a:prstDash val="solid"/>
          </a:ln>
        </p:spPr>
      </p:sp>
      <p:sp>
        <p:nvSpPr>
          <p:cNvPr id="19" name="Shape 16"/>
          <p:cNvSpPr/>
          <p:nvPr/>
        </p:nvSpPr>
        <p:spPr>
          <a:xfrm>
            <a:off x="9180576" y="1965960"/>
            <a:ext cx="2423160" cy="411480"/>
          </a:xfrm>
          <a:prstGeom prst="roundRect">
            <a:avLst/>
          </a:prstGeom>
          <a:solidFill>
            <a:srgbClr val="70AD47"/>
          </a:solidFill>
          <a:ln w="12700">
            <a:solidFill>
              <a:srgbClr val="70AD47"/>
            </a:solidFill>
            <a:prstDash val="solid"/>
          </a:ln>
        </p:spPr>
      </p:sp>
      <p:sp>
        <p:nvSpPr>
          <p:cNvPr id="20" name="Text 17"/>
          <p:cNvSpPr txBox="1"/>
          <p:nvPr/>
        </p:nvSpPr>
        <p:spPr>
          <a:xfrm>
            <a:off x="9290304"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Procedure</a:t>
            </a:r>
            <a:endParaRPr lang="en-US" sz="1600" dirty="0"/>
          </a:p>
        </p:txBody>
      </p:sp>
      <p:sp>
        <p:nvSpPr>
          <p:cNvPr id="21" name="Text 18"/>
          <p:cNvSpPr txBox="1"/>
          <p:nvPr/>
        </p:nvSpPr>
        <p:spPr>
          <a:xfrm>
            <a:off x="9345168"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how to perform it</a:t>
            </a:r>
            <a:endParaRPr lang="en-US" sz="1900" dirty="0"/>
          </a:p>
        </p:txBody>
      </p:sp>
      <p:sp>
        <p:nvSpPr>
          <p:cNvPr id="22" name="Shape 19"/>
          <p:cNvSpPr/>
          <p:nvPr/>
        </p:nvSpPr>
        <p:spPr>
          <a:xfrm>
            <a:off x="1051560" y="4663440"/>
            <a:ext cx="10012680" cy="713232"/>
          </a:xfrm>
          <a:prstGeom prst="roundRect">
            <a:avLst/>
          </a:prstGeom>
          <a:solidFill>
            <a:srgbClr val="FFFFFF"/>
          </a:solidFill>
          <a:ln w="12700">
            <a:solidFill>
              <a:srgbClr val="1F497D"/>
            </a:solidFill>
            <a:prstDash val="solid"/>
          </a:ln>
        </p:spPr>
      </p:sp>
      <p:sp>
        <p:nvSpPr>
          <p:cNvPr id="23" name="Shape 20"/>
          <p:cNvSpPr/>
          <p:nvPr/>
        </p:nvSpPr>
        <p:spPr>
          <a:xfrm>
            <a:off x="1051560" y="4663440"/>
            <a:ext cx="100584" cy="713232"/>
          </a:xfrm>
          <a:prstGeom prst="rect">
            <a:avLst/>
          </a:prstGeom>
          <a:solidFill>
            <a:srgbClr val="1F497D"/>
          </a:solidFill>
          <a:ln w="12700">
            <a:solidFill>
              <a:srgbClr val="1F497D"/>
            </a:solidFill>
            <a:prstDash val="solid"/>
          </a:ln>
        </p:spPr>
      </p:sp>
      <p:sp>
        <p:nvSpPr>
          <p:cNvPr id="24" name="Text 21"/>
          <p:cNvSpPr txBox="1"/>
          <p:nvPr/>
        </p:nvSpPr>
        <p:spPr>
          <a:xfrm>
            <a:off x="1289304" y="4773168"/>
            <a:ext cx="966520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Quality test</a:t>
            </a:r>
            <a:endParaRPr lang="en-US" sz="1400" dirty="0"/>
          </a:p>
        </p:txBody>
      </p:sp>
      <p:sp>
        <p:nvSpPr>
          <p:cNvPr id="25" name="Text 22"/>
          <p:cNvSpPr txBox="1"/>
          <p:nvPr/>
        </p:nvSpPr>
        <p:spPr>
          <a:xfrm>
            <a:off x="1289304" y="5074920"/>
            <a:ext cx="966520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Can an auditor or operator tell whether the requirement is satisfied?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QUALITY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Good policy language names owners, scope, evidence, and exceptions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Vague language creates unreviewable risk.</a:t>
            </a:r>
            <a:endParaRPr lang="en-US" sz="1250" dirty="0"/>
          </a:p>
        </p:txBody>
      </p:sp>
      <p:sp>
        <p:nvSpPr>
          <p:cNvPr id="6" name="Shape 3"/>
          <p:cNvSpPr/>
          <p:nvPr/>
        </p:nvSpPr>
        <p:spPr>
          <a:xfrm>
            <a:off x="594360" y="2057400"/>
            <a:ext cx="2057400" cy="1874520"/>
          </a:xfrm>
          <a:prstGeom prst="roundRect">
            <a:avLst/>
          </a:prstGeom>
          <a:solidFill>
            <a:srgbClr val="FFFFFF"/>
          </a:solidFill>
          <a:ln w="12700">
            <a:solidFill>
              <a:srgbClr val="CBD5E1"/>
            </a:solidFill>
            <a:prstDash val="solid"/>
          </a:ln>
        </p:spPr>
      </p:sp>
      <p:sp>
        <p:nvSpPr>
          <p:cNvPr id="7" name="Shape 4"/>
          <p:cNvSpPr/>
          <p:nvPr/>
        </p:nvSpPr>
        <p:spPr>
          <a:xfrm>
            <a:off x="594360" y="205740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9" name="Text 6"/>
          <p:cNvSpPr txBox="1"/>
          <p:nvPr/>
        </p:nvSpPr>
        <p:spPr>
          <a:xfrm>
            <a:off x="704088"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 is accountable?</a:t>
            </a:r>
            <a:endParaRPr lang="en-US" sz="1300" dirty="0"/>
          </a:p>
        </p:txBody>
      </p:sp>
      <p:sp>
        <p:nvSpPr>
          <p:cNvPr id="10" name="Shape 7"/>
          <p:cNvSpPr/>
          <p:nvPr/>
        </p:nvSpPr>
        <p:spPr>
          <a:xfrm>
            <a:off x="2898648" y="2057400"/>
            <a:ext cx="2057400" cy="1874520"/>
          </a:xfrm>
          <a:prstGeom prst="roundRect">
            <a:avLst/>
          </a:prstGeom>
          <a:solidFill>
            <a:srgbClr val="FFFFFF"/>
          </a:solidFill>
          <a:ln w="12700">
            <a:solidFill>
              <a:srgbClr val="CBD5E1"/>
            </a:solidFill>
            <a:prstDash val="solid"/>
          </a:ln>
        </p:spPr>
      </p:sp>
      <p:sp>
        <p:nvSpPr>
          <p:cNvPr id="11" name="Shape 8"/>
          <p:cNvSpPr/>
          <p:nvPr/>
        </p:nvSpPr>
        <p:spPr>
          <a:xfrm>
            <a:off x="2898648" y="2057400"/>
            <a:ext cx="2057400" cy="292608"/>
          </a:xfrm>
          <a:prstGeom prst="roundRect">
            <a:avLst/>
          </a:prstGeom>
          <a:solidFill>
            <a:srgbClr val="4F81BD"/>
          </a:solidFill>
          <a:ln w="12700">
            <a:solidFill>
              <a:srgbClr val="4F81BD"/>
            </a:solidFill>
            <a:prstDash val="solid"/>
          </a:ln>
        </p:spPr>
      </p:sp>
      <p:sp>
        <p:nvSpPr>
          <p:cNvPr id="12" name="Text 9"/>
          <p:cNvSpPr txBox="1"/>
          <p:nvPr/>
        </p:nvSpPr>
        <p:spPr>
          <a:xfrm>
            <a:off x="3008376"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Scope</a:t>
            </a:r>
            <a:endParaRPr lang="en-US" sz="1100" dirty="0"/>
          </a:p>
        </p:txBody>
      </p:sp>
      <p:sp>
        <p:nvSpPr>
          <p:cNvPr id="13" name="Text 10"/>
          <p:cNvSpPr txBox="1"/>
          <p:nvPr/>
        </p:nvSpPr>
        <p:spPr>
          <a:xfrm>
            <a:off x="3008376"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is covered?</a:t>
            </a:r>
            <a:endParaRPr lang="en-US" sz="1300" dirty="0"/>
          </a:p>
        </p:txBody>
      </p:sp>
      <p:sp>
        <p:nvSpPr>
          <p:cNvPr id="14" name="Shape 11"/>
          <p:cNvSpPr/>
          <p:nvPr/>
        </p:nvSpPr>
        <p:spPr>
          <a:xfrm>
            <a:off x="5202936" y="2057400"/>
            <a:ext cx="2057400" cy="1874520"/>
          </a:xfrm>
          <a:prstGeom prst="roundRect">
            <a:avLst/>
          </a:prstGeom>
          <a:solidFill>
            <a:srgbClr val="FFFFFF"/>
          </a:solidFill>
          <a:ln w="12700">
            <a:solidFill>
              <a:srgbClr val="CBD5E1"/>
            </a:solidFill>
            <a:prstDash val="solid"/>
          </a:ln>
        </p:spPr>
      </p:sp>
      <p:sp>
        <p:nvSpPr>
          <p:cNvPr id="15" name="Shape 12"/>
          <p:cNvSpPr/>
          <p:nvPr/>
        </p:nvSpPr>
        <p:spPr>
          <a:xfrm>
            <a:off x="5202936" y="2057400"/>
            <a:ext cx="2057400" cy="292608"/>
          </a:xfrm>
          <a:prstGeom prst="roundRect">
            <a:avLst/>
          </a:prstGeom>
          <a:solidFill>
            <a:srgbClr val="F79646"/>
          </a:solidFill>
          <a:ln w="12700">
            <a:solidFill>
              <a:srgbClr val="F79646"/>
            </a:solidFill>
            <a:prstDash val="solid"/>
          </a:ln>
        </p:spPr>
      </p:sp>
      <p:sp>
        <p:nvSpPr>
          <p:cNvPr id="16" name="Text 13"/>
          <p:cNvSpPr txBox="1"/>
          <p:nvPr/>
        </p:nvSpPr>
        <p:spPr>
          <a:xfrm>
            <a:off x="5312664"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p>
        </p:txBody>
      </p:sp>
      <p:sp>
        <p:nvSpPr>
          <p:cNvPr id="17" name="Text 14"/>
          <p:cNvSpPr txBox="1"/>
          <p:nvPr/>
        </p:nvSpPr>
        <p:spPr>
          <a:xfrm>
            <a:off x="5312664"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must happen?</a:t>
            </a:r>
            <a:endParaRPr lang="en-US" sz="1300" dirty="0"/>
          </a:p>
        </p:txBody>
      </p:sp>
      <p:sp>
        <p:nvSpPr>
          <p:cNvPr id="18" name="Shape 15"/>
          <p:cNvSpPr/>
          <p:nvPr/>
        </p:nvSpPr>
        <p:spPr>
          <a:xfrm>
            <a:off x="7507224" y="2057400"/>
            <a:ext cx="2057400" cy="1874520"/>
          </a:xfrm>
          <a:prstGeom prst="roundRect">
            <a:avLst/>
          </a:prstGeom>
          <a:solidFill>
            <a:srgbClr val="FFFFFF"/>
          </a:solidFill>
          <a:ln w="12700">
            <a:solidFill>
              <a:srgbClr val="CBD5E1"/>
            </a:solidFill>
            <a:prstDash val="solid"/>
          </a:ln>
        </p:spPr>
      </p:sp>
      <p:sp>
        <p:nvSpPr>
          <p:cNvPr id="19" name="Shape 16"/>
          <p:cNvSpPr/>
          <p:nvPr/>
        </p:nvSpPr>
        <p:spPr>
          <a:xfrm>
            <a:off x="7507224" y="2057400"/>
            <a:ext cx="2057400" cy="292608"/>
          </a:xfrm>
          <a:prstGeom prst="roundRect">
            <a:avLst/>
          </a:prstGeom>
          <a:solidFill>
            <a:srgbClr val="8064A2"/>
          </a:solidFill>
          <a:ln w="12700">
            <a:solidFill>
              <a:srgbClr val="8064A2"/>
            </a:solidFill>
            <a:prstDash val="solid"/>
          </a:ln>
        </p:spPr>
      </p:sp>
      <p:sp>
        <p:nvSpPr>
          <p:cNvPr id="20" name="Text 17"/>
          <p:cNvSpPr txBox="1"/>
          <p:nvPr/>
        </p:nvSpPr>
        <p:spPr>
          <a:xfrm>
            <a:off x="7616952"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21" name="Text 18"/>
          <p:cNvSpPr txBox="1"/>
          <p:nvPr/>
        </p:nvSpPr>
        <p:spPr>
          <a:xfrm>
            <a:off x="7616952"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how is it proven?</a:t>
            </a:r>
            <a:endParaRPr lang="en-US" sz="1300" dirty="0"/>
          </a:p>
        </p:txBody>
      </p:sp>
      <p:sp>
        <p:nvSpPr>
          <p:cNvPr id="22" name="Shape 19"/>
          <p:cNvSpPr/>
          <p:nvPr/>
        </p:nvSpPr>
        <p:spPr>
          <a:xfrm>
            <a:off x="9811512" y="2057400"/>
            <a:ext cx="2057400" cy="1874520"/>
          </a:xfrm>
          <a:prstGeom prst="roundRect">
            <a:avLst/>
          </a:prstGeom>
          <a:solidFill>
            <a:srgbClr val="FFFFFF"/>
          </a:solidFill>
          <a:ln w="12700">
            <a:solidFill>
              <a:srgbClr val="CBD5E1"/>
            </a:solidFill>
            <a:prstDash val="solid"/>
          </a:ln>
        </p:spPr>
      </p:sp>
      <p:sp>
        <p:nvSpPr>
          <p:cNvPr id="23" name="Shape 20"/>
          <p:cNvSpPr/>
          <p:nvPr/>
        </p:nvSpPr>
        <p:spPr>
          <a:xfrm>
            <a:off x="9811512" y="2057400"/>
            <a:ext cx="2057400" cy="292608"/>
          </a:xfrm>
          <a:prstGeom prst="roundRect">
            <a:avLst/>
          </a:prstGeom>
          <a:solidFill>
            <a:srgbClr val="C0504D"/>
          </a:solidFill>
          <a:ln w="12700">
            <a:solidFill>
              <a:srgbClr val="C0504D"/>
            </a:solidFill>
            <a:prstDash val="solid"/>
          </a:ln>
        </p:spPr>
      </p:sp>
      <p:sp>
        <p:nvSpPr>
          <p:cNvPr id="24" name="Text 21"/>
          <p:cNvSpPr txBox="1"/>
          <p:nvPr/>
        </p:nvSpPr>
        <p:spPr>
          <a:xfrm>
            <a:off x="9921240"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Exception</a:t>
            </a:r>
            <a:endParaRPr lang="en-US" sz="1100" dirty="0"/>
          </a:p>
        </p:txBody>
      </p:sp>
      <p:sp>
        <p:nvSpPr>
          <p:cNvPr id="25" name="Text 22"/>
          <p:cNvSpPr txBox="1"/>
          <p:nvPr/>
        </p:nvSpPr>
        <p:spPr>
          <a:xfrm>
            <a:off x="9921240"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 may approve?</a:t>
            </a:r>
            <a:endParaRPr lang="en-US" sz="1300" dirty="0"/>
          </a:p>
        </p:txBody>
      </p:sp>
      <p:sp>
        <p:nvSpPr>
          <p:cNvPr id="26" name="Shape 23"/>
          <p:cNvSpPr/>
          <p:nvPr/>
        </p:nvSpPr>
        <p:spPr>
          <a:xfrm>
            <a:off x="1234440" y="4572000"/>
            <a:ext cx="9692640" cy="896112"/>
          </a:xfrm>
          <a:prstGeom prst="roundRect">
            <a:avLst/>
          </a:prstGeom>
          <a:solidFill>
            <a:srgbClr val="16202C"/>
          </a:solidFill>
          <a:ln w="12700">
            <a:solidFill>
              <a:srgbClr val="16202C"/>
            </a:solidFill>
            <a:prstDash val="solid"/>
          </a:ln>
        </p:spPr>
      </p:sp>
      <p:sp>
        <p:nvSpPr>
          <p:cNvPr id="27" name="Shape 24"/>
          <p:cNvSpPr/>
          <p:nvPr/>
        </p:nvSpPr>
        <p:spPr>
          <a:xfrm>
            <a:off x="1234440" y="4572000"/>
            <a:ext cx="91440" cy="896112"/>
          </a:xfrm>
          <a:prstGeom prst="rect">
            <a:avLst/>
          </a:prstGeom>
          <a:solidFill>
            <a:srgbClr val="70AD47"/>
          </a:solidFill>
          <a:ln w="12700">
            <a:solidFill>
              <a:srgbClr val="70AD47"/>
            </a:solidFill>
            <a:prstDash val="solid"/>
          </a:ln>
        </p:spPr>
      </p:sp>
      <p:sp>
        <p:nvSpPr>
          <p:cNvPr id="28" name="Text 25"/>
          <p:cNvSpPr txBox="1"/>
          <p:nvPr/>
        </p:nvSpPr>
        <p:spPr>
          <a:xfrm>
            <a:off x="1435608" y="4681728"/>
            <a:ext cx="9381744" cy="694944"/>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Remote administrator access shall require</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strong authentication plus MFA, use the approved</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access path, and be retained in logs</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for the defined review period.</a:t>
            </a:r>
            <a:endParaRPr lang="en-US" sz="11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PACKAGE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AUP and authentication policy must reach the behavior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security policy is useful when a new employee can act on it.</a:t>
            </a:r>
            <a:endParaRPr lang="en-US" sz="1250" dirty="0"/>
          </a:p>
        </p:txBody>
      </p:sp>
      <p:sp>
        <p:nvSpPr>
          <p:cNvPr id="6" name="Shape 3"/>
          <p:cNvSpPr/>
          <p:nvPr/>
        </p:nvSpPr>
        <p:spPr>
          <a:xfrm>
            <a:off x="777240" y="1965960"/>
            <a:ext cx="3154680" cy="2331720"/>
          </a:xfrm>
          <a:prstGeom prst="roundRect">
            <a:avLst/>
          </a:prstGeom>
          <a:solidFill>
            <a:srgbClr val="FFFFFF"/>
          </a:solidFill>
          <a:ln w="12700">
            <a:solidFill>
              <a:srgbClr val="CBD5E1"/>
            </a:solidFill>
            <a:prstDash val="solid"/>
          </a:ln>
        </p:spPr>
      </p:sp>
      <p:sp>
        <p:nvSpPr>
          <p:cNvPr id="7" name="Shape 4"/>
          <p:cNvSpPr/>
          <p:nvPr/>
        </p:nvSpPr>
        <p:spPr>
          <a:xfrm>
            <a:off x="777240" y="1965960"/>
            <a:ext cx="3154680" cy="292608"/>
          </a:xfrm>
          <a:prstGeom prst="roundRect">
            <a:avLst/>
          </a:prstGeom>
          <a:solidFill>
            <a:srgbClr val="4BACC6"/>
          </a:solidFill>
          <a:ln w="12700">
            <a:solidFill>
              <a:srgbClr val="4BACC6"/>
            </a:solidFill>
            <a:prstDash val="solid"/>
          </a:ln>
        </p:spPr>
      </p:sp>
      <p:sp>
        <p:nvSpPr>
          <p:cNvPr id="8" name="Text 5"/>
          <p:cNvSpPr txBox="1"/>
          <p:nvPr/>
        </p:nvSpPr>
        <p:spPr>
          <a:xfrm>
            <a:off x="886968" y="2002536"/>
            <a:ext cx="29352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AUP</a:t>
            </a:r>
            <a:endParaRPr lang="en-US" sz="1100" dirty="0"/>
          </a:p>
        </p:txBody>
      </p:sp>
      <p:sp>
        <p:nvSpPr>
          <p:cNvPr id="9" name="Text 6"/>
          <p:cNvSpPr txBox="1"/>
          <p:nvPr/>
        </p:nvSpPr>
        <p:spPr>
          <a:xfrm>
            <a:off x="886968" y="2377440"/>
            <a:ext cx="293522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authority and scope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allowed and prohibited use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monitoring</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consequences</a:t>
            </a:r>
            <a:endParaRPr lang="en-US" sz="1300" dirty="0"/>
          </a:p>
        </p:txBody>
      </p:sp>
      <p:sp>
        <p:nvSpPr>
          <p:cNvPr id="10" name="Shape 7"/>
          <p:cNvSpPr/>
          <p:nvPr/>
        </p:nvSpPr>
        <p:spPr>
          <a:xfrm>
            <a:off x="4526280" y="1965960"/>
            <a:ext cx="3154680" cy="2331720"/>
          </a:xfrm>
          <a:prstGeom prst="roundRect">
            <a:avLst/>
          </a:prstGeom>
          <a:solidFill>
            <a:srgbClr val="FFFFFF"/>
          </a:solidFill>
          <a:ln w="12700">
            <a:solidFill>
              <a:srgbClr val="CBD5E1"/>
            </a:solidFill>
            <a:prstDash val="solid"/>
          </a:ln>
        </p:spPr>
      </p:sp>
      <p:sp>
        <p:nvSpPr>
          <p:cNvPr id="11" name="Shape 8"/>
          <p:cNvSpPr/>
          <p:nvPr/>
        </p:nvSpPr>
        <p:spPr>
          <a:xfrm>
            <a:off x="4526280" y="1965960"/>
            <a:ext cx="3154680" cy="292608"/>
          </a:xfrm>
          <a:prstGeom prst="roundRect">
            <a:avLst/>
          </a:prstGeom>
          <a:solidFill>
            <a:srgbClr val="4F81BD"/>
          </a:solidFill>
          <a:ln w="12700">
            <a:solidFill>
              <a:srgbClr val="4F81BD"/>
            </a:solidFill>
            <a:prstDash val="solid"/>
          </a:ln>
        </p:spPr>
      </p:sp>
      <p:sp>
        <p:nvSpPr>
          <p:cNvPr id="12" name="Text 9"/>
          <p:cNvSpPr txBox="1"/>
          <p:nvPr/>
        </p:nvSpPr>
        <p:spPr>
          <a:xfrm>
            <a:off x="4636008" y="2002536"/>
            <a:ext cx="29352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 POLICY</a:t>
            </a:r>
            <a:endParaRPr lang="en-US" sz="1100" dirty="0"/>
          </a:p>
        </p:txBody>
      </p:sp>
      <p:sp>
        <p:nvSpPr>
          <p:cNvPr id="13" name="Text 10"/>
          <p:cNvSpPr txBox="1"/>
          <p:nvPr/>
        </p:nvSpPr>
        <p:spPr>
          <a:xfrm>
            <a:off x="4636008" y="2377440"/>
            <a:ext cx="293522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account types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MFA and passwords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service accounts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privileged controls</a:t>
            </a:r>
            <a:endParaRPr lang="en-US" sz="1300" dirty="0"/>
          </a:p>
        </p:txBody>
      </p:sp>
      <p:sp>
        <p:nvSpPr>
          <p:cNvPr id="14" name="Shape 11"/>
          <p:cNvSpPr/>
          <p:nvPr/>
        </p:nvSpPr>
        <p:spPr>
          <a:xfrm>
            <a:off x="8275320" y="1965960"/>
            <a:ext cx="3154680" cy="2331720"/>
          </a:xfrm>
          <a:prstGeom prst="roundRect">
            <a:avLst/>
          </a:prstGeom>
          <a:solidFill>
            <a:srgbClr val="FFFFFF"/>
          </a:solidFill>
          <a:ln w="12700">
            <a:solidFill>
              <a:srgbClr val="CBD5E1"/>
            </a:solidFill>
            <a:prstDash val="solid"/>
          </a:ln>
        </p:spPr>
      </p:sp>
      <p:sp>
        <p:nvSpPr>
          <p:cNvPr id="15" name="Shape 12"/>
          <p:cNvSpPr/>
          <p:nvPr/>
        </p:nvSpPr>
        <p:spPr>
          <a:xfrm>
            <a:off x="8275320" y="1965960"/>
            <a:ext cx="3154680" cy="292608"/>
          </a:xfrm>
          <a:prstGeom prst="roundRect">
            <a:avLst/>
          </a:prstGeom>
          <a:solidFill>
            <a:srgbClr val="8064A2"/>
          </a:solidFill>
          <a:ln w="12700">
            <a:solidFill>
              <a:srgbClr val="8064A2"/>
            </a:solidFill>
            <a:prstDash val="solid"/>
          </a:ln>
        </p:spPr>
      </p:sp>
      <p:sp>
        <p:nvSpPr>
          <p:cNvPr id="16" name="Text 13"/>
          <p:cNvSpPr txBox="1"/>
          <p:nvPr/>
        </p:nvSpPr>
        <p:spPr>
          <a:xfrm>
            <a:off x="8385048" y="2002536"/>
            <a:ext cx="29352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17" name="Text 14"/>
          <p:cNvSpPr txBox="1"/>
          <p:nvPr/>
        </p:nvSpPr>
        <p:spPr>
          <a:xfrm>
            <a:off x="8385048" y="2377440"/>
            <a:ext cx="293522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access reviews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exception records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training and attestations</a:t>
            </a:r>
            <a:endParaRPr lang="en-US" sz="1300" dirty="0"/>
          </a:p>
        </p:txBody>
      </p:sp>
      <p:sp>
        <p:nvSpPr>
          <p:cNvPr id="18" name="Shape 15"/>
          <p:cNvSpPr/>
          <p:nvPr/>
        </p:nvSpPr>
        <p:spPr>
          <a:xfrm>
            <a:off x="1005840" y="4709160"/>
            <a:ext cx="10149840" cy="658368"/>
          </a:xfrm>
          <a:prstGeom prst="roundRect">
            <a:avLst/>
          </a:prstGeom>
          <a:solidFill>
            <a:srgbClr val="FFFFFF"/>
          </a:solidFill>
          <a:ln w="12700">
            <a:solidFill>
              <a:srgbClr val="F79646"/>
            </a:solidFill>
            <a:prstDash val="solid"/>
          </a:ln>
        </p:spPr>
      </p:sp>
      <p:sp>
        <p:nvSpPr>
          <p:cNvPr id="19" name="Shape 16"/>
          <p:cNvSpPr/>
          <p:nvPr/>
        </p:nvSpPr>
        <p:spPr>
          <a:xfrm>
            <a:off x="1005840" y="4709160"/>
            <a:ext cx="100584" cy="658368"/>
          </a:xfrm>
          <a:prstGeom prst="rect">
            <a:avLst/>
          </a:prstGeom>
          <a:solidFill>
            <a:srgbClr val="F79646"/>
          </a:solidFill>
          <a:ln w="12700">
            <a:solidFill>
              <a:srgbClr val="F79646"/>
            </a:solidFill>
            <a:prstDash val="solid"/>
          </a:ln>
        </p:spPr>
      </p:sp>
      <p:sp>
        <p:nvSpPr>
          <p:cNvPr id="20" name="Text 17"/>
          <p:cNvSpPr txBox="1"/>
          <p:nvPr/>
        </p:nvSpPr>
        <p:spPr>
          <a:xfrm>
            <a:off x="1243584" y="4818888"/>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Discussion</a:t>
            </a:r>
            <a:endParaRPr lang="en-US" sz="1400" dirty="0"/>
          </a:p>
        </p:txBody>
      </p:sp>
      <p:sp>
        <p:nvSpPr>
          <p:cNvPr id="21" name="Text 18"/>
          <p:cNvSpPr txBox="1"/>
          <p:nvPr/>
        </p:nvSpPr>
        <p:spPr>
          <a:xfrm>
            <a:off x="1243584" y="5120640"/>
            <a:ext cx="9802368" cy="15544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policy sentence would you want to read before granting an administrator account?</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AUP</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Specific prohibitions make policy enforceable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Do not hide a prohibited action behind “inappropriate use.”</a:t>
            </a:r>
            <a:endParaRPr lang="en-US" sz="1250" dirty="0"/>
          </a:p>
        </p:txBody>
      </p:sp>
      <p:sp>
        <p:nvSpPr>
          <p:cNvPr id="6" name="Shape 3"/>
          <p:cNvSpPr/>
          <p:nvPr/>
        </p:nvSpPr>
        <p:spPr>
          <a:xfrm>
            <a:off x="640080" y="1828800"/>
            <a:ext cx="3246120" cy="987552"/>
          </a:xfrm>
          <a:prstGeom prst="roundRect">
            <a:avLst/>
          </a:prstGeom>
          <a:solidFill>
            <a:srgbClr val="FFFFFF"/>
          </a:solidFill>
          <a:ln w="12700">
            <a:solidFill>
              <a:srgbClr val="C0504D"/>
            </a:solidFill>
            <a:prstDash val="solid"/>
          </a:ln>
        </p:spPr>
      </p:sp>
      <p:sp>
        <p:nvSpPr>
          <p:cNvPr id="7" name="Shape 4"/>
          <p:cNvSpPr/>
          <p:nvPr/>
        </p:nvSpPr>
        <p:spPr>
          <a:xfrm>
            <a:off x="640080" y="1828800"/>
            <a:ext cx="100584" cy="987552"/>
          </a:xfrm>
          <a:prstGeom prst="rect">
            <a:avLst/>
          </a:prstGeom>
          <a:solidFill>
            <a:srgbClr val="C0504D"/>
          </a:solidFill>
          <a:ln w="12700">
            <a:solidFill>
              <a:srgbClr val="C0504D"/>
            </a:solidFill>
            <a:prstDash val="solid"/>
          </a:ln>
        </p:spPr>
      </p:sp>
      <p:sp>
        <p:nvSpPr>
          <p:cNvPr id="8" name="Text 5"/>
          <p:cNvSpPr txBox="1"/>
          <p:nvPr/>
        </p:nvSpPr>
        <p:spPr>
          <a:xfrm>
            <a:off x="877824" y="193852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Access</a:t>
            </a:r>
            <a:endParaRPr lang="en-US" sz="1400" dirty="0"/>
          </a:p>
        </p:txBody>
      </p:sp>
      <p:sp>
        <p:nvSpPr>
          <p:cNvPr id="9" name="Text 6"/>
          <p:cNvSpPr txBox="1"/>
          <p:nvPr/>
        </p:nvSpPr>
        <p:spPr>
          <a:xfrm>
            <a:off x="877824" y="2240280"/>
            <a:ext cx="289864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bypassing authorization or using another person’s account</a:t>
            </a:r>
            <a:endParaRPr lang="en-US" sz="1250" dirty="0"/>
          </a:p>
        </p:txBody>
      </p:sp>
      <p:sp>
        <p:nvSpPr>
          <p:cNvPr id="10" name="Shape 7"/>
          <p:cNvSpPr/>
          <p:nvPr/>
        </p:nvSpPr>
        <p:spPr>
          <a:xfrm>
            <a:off x="4434840" y="1828800"/>
            <a:ext cx="3246120" cy="987552"/>
          </a:xfrm>
          <a:prstGeom prst="roundRect">
            <a:avLst/>
          </a:prstGeom>
          <a:solidFill>
            <a:srgbClr val="FFFFFF"/>
          </a:solidFill>
          <a:ln w="12700">
            <a:solidFill>
              <a:srgbClr val="F79646"/>
            </a:solidFill>
            <a:prstDash val="solid"/>
          </a:ln>
        </p:spPr>
      </p:sp>
      <p:sp>
        <p:nvSpPr>
          <p:cNvPr id="11" name="Shape 8"/>
          <p:cNvSpPr/>
          <p:nvPr/>
        </p:nvSpPr>
        <p:spPr>
          <a:xfrm>
            <a:off x="4434840" y="1828800"/>
            <a:ext cx="100584" cy="987552"/>
          </a:xfrm>
          <a:prstGeom prst="rect">
            <a:avLst/>
          </a:prstGeom>
          <a:solidFill>
            <a:srgbClr val="F79646"/>
          </a:solidFill>
          <a:ln w="12700">
            <a:solidFill>
              <a:srgbClr val="F79646"/>
            </a:solidFill>
            <a:prstDash val="solid"/>
          </a:ln>
        </p:spPr>
      </p:sp>
      <p:sp>
        <p:nvSpPr>
          <p:cNvPr id="12" name="Text 9"/>
          <p:cNvSpPr txBox="1"/>
          <p:nvPr/>
        </p:nvSpPr>
        <p:spPr>
          <a:xfrm>
            <a:off x="4672584" y="193852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Software</a:t>
            </a:r>
            <a:endParaRPr lang="en-US" sz="1400" dirty="0"/>
          </a:p>
        </p:txBody>
      </p:sp>
      <p:sp>
        <p:nvSpPr>
          <p:cNvPr id="13" name="Text 10"/>
          <p:cNvSpPr txBox="1"/>
          <p:nvPr/>
        </p:nvSpPr>
        <p:spPr>
          <a:xfrm>
            <a:off x="4672584" y="2240280"/>
            <a:ext cx="289864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unapproved software, malware, or disabling security tools</a:t>
            </a:r>
            <a:endParaRPr lang="en-US" sz="1250" dirty="0"/>
          </a:p>
        </p:txBody>
      </p:sp>
      <p:sp>
        <p:nvSpPr>
          <p:cNvPr id="14" name="Shape 11"/>
          <p:cNvSpPr/>
          <p:nvPr/>
        </p:nvSpPr>
        <p:spPr>
          <a:xfrm>
            <a:off x="8229600" y="1828800"/>
            <a:ext cx="3246120" cy="987552"/>
          </a:xfrm>
          <a:prstGeom prst="roundRect">
            <a:avLst/>
          </a:prstGeom>
          <a:solidFill>
            <a:srgbClr val="FFFFFF"/>
          </a:solidFill>
          <a:ln w="12700">
            <a:solidFill>
              <a:srgbClr val="8064A2"/>
            </a:solidFill>
            <a:prstDash val="solid"/>
          </a:ln>
        </p:spPr>
      </p:sp>
      <p:sp>
        <p:nvSpPr>
          <p:cNvPr id="15" name="Shape 12"/>
          <p:cNvSpPr/>
          <p:nvPr/>
        </p:nvSpPr>
        <p:spPr>
          <a:xfrm>
            <a:off x="8229600" y="1828800"/>
            <a:ext cx="100584" cy="987552"/>
          </a:xfrm>
          <a:prstGeom prst="rect">
            <a:avLst/>
          </a:prstGeom>
          <a:solidFill>
            <a:srgbClr val="8064A2"/>
          </a:solidFill>
          <a:ln w="12700">
            <a:solidFill>
              <a:srgbClr val="8064A2"/>
            </a:solidFill>
            <a:prstDash val="solid"/>
          </a:ln>
        </p:spPr>
      </p:sp>
      <p:sp>
        <p:nvSpPr>
          <p:cNvPr id="16" name="Text 13"/>
          <p:cNvSpPr txBox="1"/>
          <p:nvPr/>
        </p:nvSpPr>
        <p:spPr>
          <a:xfrm>
            <a:off x="8467344" y="193852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8064A2"/>
                </a:solidFill>
                <a:latin typeface="Calibri" pitchFamily="34" charset="0"/>
                <a:ea typeface="Calibri" pitchFamily="34" charset="-122"/>
                <a:cs typeface="Calibri" pitchFamily="34" charset="-120"/>
              </a:rPr>
              <a:t>Data</a:t>
            </a:r>
            <a:endParaRPr lang="en-US" sz="1400" dirty="0"/>
          </a:p>
        </p:txBody>
      </p:sp>
      <p:sp>
        <p:nvSpPr>
          <p:cNvPr id="17" name="Text 14"/>
          <p:cNvSpPr txBox="1"/>
          <p:nvPr/>
        </p:nvSpPr>
        <p:spPr>
          <a:xfrm>
            <a:off x="8467344" y="2240280"/>
            <a:ext cx="289864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exfiltration, personal cloud storage, or public AI submission of NPI</a:t>
            </a:r>
            <a:endParaRPr lang="en-US" sz="1250" dirty="0"/>
          </a:p>
        </p:txBody>
      </p:sp>
      <p:sp>
        <p:nvSpPr>
          <p:cNvPr id="18" name="Shape 15"/>
          <p:cNvSpPr/>
          <p:nvPr/>
        </p:nvSpPr>
        <p:spPr>
          <a:xfrm>
            <a:off x="640080" y="3246120"/>
            <a:ext cx="3246120" cy="987552"/>
          </a:xfrm>
          <a:prstGeom prst="roundRect">
            <a:avLst/>
          </a:prstGeom>
          <a:solidFill>
            <a:srgbClr val="FFFFFF"/>
          </a:solidFill>
          <a:ln w="12700">
            <a:solidFill>
              <a:srgbClr val="4F81BD"/>
            </a:solidFill>
            <a:prstDash val="solid"/>
          </a:ln>
        </p:spPr>
      </p:sp>
      <p:sp>
        <p:nvSpPr>
          <p:cNvPr id="19" name="Shape 16"/>
          <p:cNvSpPr/>
          <p:nvPr/>
        </p:nvSpPr>
        <p:spPr>
          <a:xfrm>
            <a:off x="640080" y="3246120"/>
            <a:ext cx="100584" cy="987552"/>
          </a:xfrm>
          <a:prstGeom prst="rect">
            <a:avLst/>
          </a:prstGeom>
          <a:solidFill>
            <a:srgbClr val="4F81BD"/>
          </a:solidFill>
          <a:ln w="12700">
            <a:solidFill>
              <a:srgbClr val="4F81BD"/>
            </a:solidFill>
            <a:prstDash val="solid"/>
          </a:ln>
        </p:spPr>
      </p:sp>
      <p:sp>
        <p:nvSpPr>
          <p:cNvPr id="20" name="Text 17"/>
          <p:cNvSpPr txBox="1"/>
          <p:nvPr/>
        </p:nvSpPr>
        <p:spPr>
          <a:xfrm>
            <a:off x="877824" y="335584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Remote use</a:t>
            </a:r>
            <a:endParaRPr lang="en-US" sz="1400" dirty="0"/>
          </a:p>
        </p:txBody>
      </p:sp>
      <p:sp>
        <p:nvSpPr>
          <p:cNvPr id="21" name="Text 18"/>
          <p:cNvSpPr txBox="1"/>
          <p:nvPr/>
        </p:nvSpPr>
        <p:spPr>
          <a:xfrm>
            <a:off x="877824" y="3657600"/>
            <a:ext cx="289864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direct production access or unmanaged remote path</a:t>
            </a:r>
            <a:endParaRPr lang="en-US" sz="1250" dirty="0"/>
          </a:p>
        </p:txBody>
      </p:sp>
      <p:sp>
        <p:nvSpPr>
          <p:cNvPr id="22" name="Shape 19"/>
          <p:cNvSpPr/>
          <p:nvPr/>
        </p:nvSpPr>
        <p:spPr>
          <a:xfrm>
            <a:off x="4434840" y="3246120"/>
            <a:ext cx="3246120" cy="987552"/>
          </a:xfrm>
          <a:prstGeom prst="roundRect">
            <a:avLst/>
          </a:prstGeom>
          <a:solidFill>
            <a:srgbClr val="FFFFFF"/>
          </a:solidFill>
          <a:ln w="12700">
            <a:solidFill>
              <a:srgbClr val="4BACC6"/>
            </a:solidFill>
            <a:prstDash val="solid"/>
          </a:ln>
        </p:spPr>
      </p:sp>
      <p:sp>
        <p:nvSpPr>
          <p:cNvPr id="23" name="Shape 20"/>
          <p:cNvSpPr/>
          <p:nvPr/>
        </p:nvSpPr>
        <p:spPr>
          <a:xfrm>
            <a:off x="4434840" y="3246120"/>
            <a:ext cx="100584" cy="987552"/>
          </a:xfrm>
          <a:prstGeom prst="rect">
            <a:avLst/>
          </a:prstGeom>
          <a:solidFill>
            <a:srgbClr val="4BACC6"/>
          </a:solidFill>
          <a:ln w="12700">
            <a:solidFill>
              <a:srgbClr val="4BACC6"/>
            </a:solidFill>
            <a:prstDash val="solid"/>
          </a:ln>
        </p:spPr>
      </p:sp>
      <p:sp>
        <p:nvSpPr>
          <p:cNvPr id="24" name="Text 21"/>
          <p:cNvSpPr txBox="1"/>
          <p:nvPr/>
        </p:nvSpPr>
        <p:spPr>
          <a:xfrm>
            <a:off x="4672584" y="335584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4BACC6"/>
                </a:solidFill>
                <a:latin typeface="Calibri" pitchFamily="34" charset="0"/>
                <a:ea typeface="Calibri" pitchFamily="34" charset="-122"/>
                <a:cs typeface="Calibri" pitchFamily="34" charset="-120"/>
              </a:rPr>
              <a:t>Conduct</a:t>
            </a:r>
            <a:endParaRPr lang="en-US" sz="1400" dirty="0"/>
          </a:p>
        </p:txBody>
      </p:sp>
      <p:sp>
        <p:nvSpPr>
          <p:cNvPr id="25" name="Text 22"/>
          <p:cNvSpPr txBox="1"/>
          <p:nvPr/>
        </p:nvSpPr>
        <p:spPr>
          <a:xfrm>
            <a:off x="4672584" y="3657600"/>
            <a:ext cx="289864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harassment, fraud, illegal use, or unsafe disclosure</a:t>
            </a:r>
            <a:endParaRPr lang="en-US" sz="1250" dirty="0"/>
          </a:p>
        </p:txBody>
      </p:sp>
      <p:sp>
        <p:nvSpPr>
          <p:cNvPr id="26" name="Shape 23"/>
          <p:cNvSpPr/>
          <p:nvPr/>
        </p:nvSpPr>
        <p:spPr>
          <a:xfrm>
            <a:off x="8229600" y="3246120"/>
            <a:ext cx="3246120" cy="987552"/>
          </a:xfrm>
          <a:prstGeom prst="roundRect">
            <a:avLst/>
          </a:prstGeom>
          <a:solidFill>
            <a:srgbClr val="FFFFFF"/>
          </a:solidFill>
          <a:ln w="12700">
            <a:solidFill>
              <a:srgbClr val="70AD47"/>
            </a:solidFill>
            <a:prstDash val="solid"/>
          </a:ln>
        </p:spPr>
      </p:sp>
      <p:sp>
        <p:nvSpPr>
          <p:cNvPr id="27" name="Shape 24"/>
          <p:cNvSpPr/>
          <p:nvPr/>
        </p:nvSpPr>
        <p:spPr>
          <a:xfrm>
            <a:off x="8229600" y="3246120"/>
            <a:ext cx="100584" cy="987552"/>
          </a:xfrm>
          <a:prstGeom prst="rect">
            <a:avLst/>
          </a:prstGeom>
          <a:solidFill>
            <a:srgbClr val="70AD47"/>
          </a:solidFill>
          <a:ln w="12700">
            <a:solidFill>
              <a:srgbClr val="70AD47"/>
            </a:solidFill>
            <a:prstDash val="solid"/>
          </a:ln>
        </p:spPr>
      </p:sp>
      <p:sp>
        <p:nvSpPr>
          <p:cNvPr id="28" name="Text 25"/>
          <p:cNvSpPr txBox="1"/>
          <p:nvPr/>
        </p:nvSpPr>
        <p:spPr>
          <a:xfrm>
            <a:off x="8467344" y="335584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Decisions</a:t>
            </a:r>
            <a:endParaRPr lang="en-US" sz="1400" dirty="0"/>
          </a:p>
        </p:txBody>
      </p:sp>
      <p:sp>
        <p:nvSpPr>
          <p:cNvPr id="29" name="Text 26"/>
          <p:cNvSpPr txBox="1"/>
          <p:nvPr/>
        </p:nvSpPr>
        <p:spPr>
          <a:xfrm>
            <a:off x="8467344" y="3657600"/>
            <a:ext cx="289864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unreviewed AI output in customer-impacting decisions</a:t>
            </a:r>
            <a:endParaRPr lang="en-US" sz="1250" dirty="0"/>
          </a:p>
        </p:txBody>
      </p:sp>
      <p:sp>
        <p:nvSpPr>
          <p:cNvPr id="30" name="Shape 27"/>
          <p:cNvSpPr/>
          <p:nvPr/>
        </p:nvSpPr>
        <p:spPr>
          <a:xfrm>
            <a:off x="2331720" y="4956048"/>
            <a:ext cx="7543800" cy="274320"/>
          </a:xfrm>
          <a:prstGeom prst="roundRect">
            <a:avLst/>
          </a:prstGeom>
          <a:solidFill>
            <a:srgbClr val="1F497D"/>
          </a:solidFill>
          <a:ln w="12700">
            <a:solidFill>
              <a:srgbClr val="1F497D"/>
            </a:solidFill>
            <a:prstDash val="solid"/>
          </a:ln>
        </p:spPr>
      </p:sp>
      <p:sp>
        <p:nvSpPr>
          <p:cNvPr id="31" name="Text 28"/>
          <p:cNvSpPr txBox="1"/>
          <p:nvPr/>
        </p:nvSpPr>
        <p:spPr>
          <a:xfrm>
            <a:off x="2404872" y="4974336"/>
            <a:ext cx="739749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WRITE THE BEHAVIOR · NAME THE OWNER · DEFINE THE RESPONSE</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REMOTE ACCESS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Remote access policy connects device, network, and identity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VPN alone is not a policy. Define the whole path.</a:t>
            </a:r>
            <a:endParaRPr lang="en-US" sz="1250" dirty="0"/>
          </a:p>
        </p:txBody>
      </p:sp>
      <p:sp>
        <p:nvSpPr>
          <p:cNvPr id="6" name="Shape 3"/>
          <p:cNvSpPr/>
          <p:nvPr/>
        </p:nvSpPr>
        <p:spPr>
          <a:xfrm>
            <a:off x="594360" y="2011680"/>
            <a:ext cx="2057400" cy="1874520"/>
          </a:xfrm>
          <a:prstGeom prst="roundRect">
            <a:avLst/>
          </a:prstGeom>
          <a:solidFill>
            <a:srgbClr val="FFFFFF"/>
          </a:solidFill>
          <a:ln w="12700">
            <a:solidFill>
              <a:srgbClr val="CBD5E1"/>
            </a:solidFill>
            <a:prstDash val="solid"/>
          </a:ln>
        </p:spPr>
      </p:sp>
      <p:sp>
        <p:nvSpPr>
          <p:cNvPr id="7" name="Shape 4"/>
          <p:cNvSpPr/>
          <p:nvPr/>
        </p:nvSpPr>
        <p:spPr>
          <a:xfrm>
            <a:off x="594360" y="201168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Device</a:t>
            </a:r>
            <a:endParaRPr lang="en-US" sz="1100" dirty="0"/>
          </a:p>
        </p:txBody>
      </p:sp>
      <p:sp>
        <p:nvSpPr>
          <p:cNvPr id="9" name="Text 6"/>
          <p:cNvSpPr txBox="1"/>
          <p:nvPr/>
        </p:nvSpPr>
        <p:spPr>
          <a:xfrm>
            <a:off x="704088"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managed or approved</a:t>
            </a:r>
            <a:endParaRPr lang="en-US" sz="1300" dirty="0"/>
          </a:p>
        </p:txBody>
      </p:sp>
      <p:sp>
        <p:nvSpPr>
          <p:cNvPr id="10" name="Shape 7"/>
          <p:cNvSpPr/>
          <p:nvPr/>
        </p:nvSpPr>
        <p:spPr>
          <a:xfrm>
            <a:off x="2770632" y="2944368"/>
            <a:ext cx="91440" cy="0"/>
          </a:xfrm>
          <a:prstGeom prst="line">
            <a:avLst/>
          </a:prstGeom>
          <a:noFill/>
          <a:ln w="25400">
            <a:solidFill>
              <a:srgbClr val="94A3B8"/>
            </a:solidFill>
            <a:prstDash val="solid"/>
            <a:headEnd type="none"/>
            <a:tailEnd type="triangle"/>
          </a:ln>
        </p:spPr>
      </p:sp>
      <p:sp>
        <p:nvSpPr>
          <p:cNvPr id="11" name="Shape 8"/>
          <p:cNvSpPr/>
          <p:nvPr/>
        </p:nvSpPr>
        <p:spPr>
          <a:xfrm>
            <a:off x="2898648" y="2011680"/>
            <a:ext cx="2057400" cy="1874520"/>
          </a:xfrm>
          <a:prstGeom prst="roundRect">
            <a:avLst/>
          </a:prstGeom>
          <a:solidFill>
            <a:srgbClr val="FFFFFF"/>
          </a:solidFill>
          <a:ln w="12700">
            <a:solidFill>
              <a:srgbClr val="CBD5E1"/>
            </a:solidFill>
            <a:prstDash val="solid"/>
          </a:ln>
        </p:spPr>
      </p:sp>
      <p:sp>
        <p:nvSpPr>
          <p:cNvPr id="12" name="Shape 9"/>
          <p:cNvSpPr/>
          <p:nvPr/>
        </p:nvSpPr>
        <p:spPr>
          <a:xfrm>
            <a:off x="2898648" y="2011680"/>
            <a:ext cx="2057400" cy="292608"/>
          </a:xfrm>
          <a:prstGeom prst="roundRect">
            <a:avLst/>
          </a:prstGeom>
          <a:solidFill>
            <a:srgbClr val="4F81BD"/>
          </a:solidFill>
          <a:ln w="12700">
            <a:solidFill>
              <a:srgbClr val="4F81BD"/>
            </a:solidFill>
            <a:prstDash val="solid"/>
          </a:ln>
        </p:spPr>
      </p:sp>
      <p:sp>
        <p:nvSpPr>
          <p:cNvPr id="13" name="Text 10"/>
          <p:cNvSpPr txBox="1"/>
          <p:nvPr/>
        </p:nvSpPr>
        <p:spPr>
          <a:xfrm>
            <a:off x="3008376"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Path</a:t>
            </a:r>
            <a:endParaRPr lang="en-US" sz="1100" dirty="0"/>
          </a:p>
        </p:txBody>
      </p:sp>
      <p:sp>
        <p:nvSpPr>
          <p:cNvPr id="14" name="Text 11"/>
          <p:cNvSpPr txBox="1"/>
          <p:nvPr/>
        </p:nvSpPr>
        <p:spPr>
          <a:xfrm>
            <a:off x="3008376"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VPN or bastion</a:t>
            </a:r>
            <a:endParaRPr lang="en-US" sz="1300" dirty="0"/>
          </a:p>
        </p:txBody>
      </p:sp>
      <p:sp>
        <p:nvSpPr>
          <p:cNvPr id="15" name="Shape 12"/>
          <p:cNvSpPr/>
          <p:nvPr/>
        </p:nvSpPr>
        <p:spPr>
          <a:xfrm>
            <a:off x="5074920" y="2944368"/>
            <a:ext cx="91440" cy="0"/>
          </a:xfrm>
          <a:prstGeom prst="line">
            <a:avLst/>
          </a:prstGeom>
          <a:noFill/>
          <a:ln w="25400">
            <a:solidFill>
              <a:srgbClr val="94A3B8"/>
            </a:solidFill>
            <a:prstDash val="solid"/>
            <a:headEnd type="none"/>
            <a:tailEnd type="triangle"/>
          </a:ln>
        </p:spPr>
      </p:sp>
      <p:sp>
        <p:nvSpPr>
          <p:cNvPr id="16" name="Shape 13"/>
          <p:cNvSpPr/>
          <p:nvPr/>
        </p:nvSpPr>
        <p:spPr>
          <a:xfrm>
            <a:off x="5202936" y="2011680"/>
            <a:ext cx="2057400" cy="1874520"/>
          </a:xfrm>
          <a:prstGeom prst="roundRect">
            <a:avLst/>
          </a:prstGeom>
          <a:solidFill>
            <a:srgbClr val="FFFFFF"/>
          </a:solidFill>
          <a:ln w="12700">
            <a:solidFill>
              <a:srgbClr val="CBD5E1"/>
            </a:solidFill>
            <a:prstDash val="solid"/>
          </a:ln>
        </p:spPr>
      </p:sp>
      <p:sp>
        <p:nvSpPr>
          <p:cNvPr id="17" name="Shape 14"/>
          <p:cNvSpPr/>
          <p:nvPr/>
        </p:nvSpPr>
        <p:spPr>
          <a:xfrm>
            <a:off x="5202936" y="2011680"/>
            <a:ext cx="2057400" cy="292608"/>
          </a:xfrm>
          <a:prstGeom prst="roundRect">
            <a:avLst/>
          </a:prstGeom>
          <a:solidFill>
            <a:srgbClr val="F79646"/>
          </a:solidFill>
          <a:ln w="12700">
            <a:solidFill>
              <a:srgbClr val="F79646"/>
            </a:solidFill>
            <a:prstDash val="solid"/>
          </a:ln>
        </p:spPr>
      </p:sp>
      <p:sp>
        <p:nvSpPr>
          <p:cNvPr id="18" name="Text 15"/>
          <p:cNvSpPr txBox="1"/>
          <p:nvPr/>
        </p:nvSpPr>
        <p:spPr>
          <a:xfrm>
            <a:off x="5312664"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19" name="Text 16"/>
          <p:cNvSpPr txBox="1"/>
          <p:nvPr/>
        </p:nvSpPr>
        <p:spPr>
          <a:xfrm>
            <a:off x="5312664"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strong identity plus MFA</a:t>
            </a:r>
            <a:endParaRPr lang="en-US" sz="1300" dirty="0"/>
          </a:p>
        </p:txBody>
      </p:sp>
      <p:sp>
        <p:nvSpPr>
          <p:cNvPr id="20" name="Shape 17"/>
          <p:cNvSpPr/>
          <p:nvPr/>
        </p:nvSpPr>
        <p:spPr>
          <a:xfrm>
            <a:off x="7379208" y="2944368"/>
            <a:ext cx="91440" cy="0"/>
          </a:xfrm>
          <a:prstGeom prst="line">
            <a:avLst/>
          </a:prstGeom>
          <a:noFill/>
          <a:ln w="25400">
            <a:solidFill>
              <a:srgbClr val="94A3B8"/>
            </a:solidFill>
            <a:prstDash val="solid"/>
            <a:headEnd type="none"/>
            <a:tailEnd type="triangle"/>
          </a:ln>
        </p:spPr>
      </p:sp>
      <p:sp>
        <p:nvSpPr>
          <p:cNvPr id="21" name="Shape 18"/>
          <p:cNvSpPr/>
          <p:nvPr/>
        </p:nvSpPr>
        <p:spPr>
          <a:xfrm>
            <a:off x="7507224" y="2011680"/>
            <a:ext cx="2057400" cy="1874520"/>
          </a:xfrm>
          <a:prstGeom prst="roundRect">
            <a:avLst/>
          </a:prstGeom>
          <a:solidFill>
            <a:srgbClr val="FFFFFF"/>
          </a:solidFill>
          <a:ln w="12700">
            <a:solidFill>
              <a:srgbClr val="CBD5E1"/>
            </a:solidFill>
            <a:prstDash val="solid"/>
          </a:ln>
        </p:spPr>
      </p:sp>
      <p:sp>
        <p:nvSpPr>
          <p:cNvPr id="22" name="Shape 19"/>
          <p:cNvSpPr/>
          <p:nvPr/>
        </p:nvSpPr>
        <p:spPr>
          <a:xfrm>
            <a:off x="7507224" y="2011680"/>
            <a:ext cx="2057400" cy="292608"/>
          </a:xfrm>
          <a:prstGeom prst="roundRect">
            <a:avLst/>
          </a:prstGeom>
          <a:solidFill>
            <a:srgbClr val="8064A2"/>
          </a:solidFill>
          <a:ln w="12700">
            <a:solidFill>
              <a:srgbClr val="8064A2"/>
            </a:solidFill>
            <a:prstDash val="solid"/>
          </a:ln>
        </p:spPr>
      </p:sp>
      <p:sp>
        <p:nvSpPr>
          <p:cNvPr id="23" name="Text 20"/>
          <p:cNvSpPr txBox="1"/>
          <p:nvPr/>
        </p:nvSpPr>
        <p:spPr>
          <a:xfrm>
            <a:off x="7616952"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Resource</a:t>
            </a:r>
            <a:endParaRPr lang="en-US" sz="1100" dirty="0"/>
          </a:p>
        </p:txBody>
      </p:sp>
      <p:sp>
        <p:nvSpPr>
          <p:cNvPr id="24" name="Text 21"/>
          <p:cNvSpPr txBox="1"/>
          <p:nvPr/>
        </p:nvSpPr>
        <p:spPr>
          <a:xfrm>
            <a:off x="7616952"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scoped access</a:t>
            </a:r>
            <a:endParaRPr lang="en-US" sz="1300" dirty="0"/>
          </a:p>
        </p:txBody>
      </p:sp>
      <p:sp>
        <p:nvSpPr>
          <p:cNvPr id="25" name="Shape 22"/>
          <p:cNvSpPr/>
          <p:nvPr/>
        </p:nvSpPr>
        <p:spPr>
          <a:xfrm>
            <a:off x="9683496" y="2944368"/>
            <a:ext cx="91440" cy="0"/>
          </a:xfrm>
          <a:prstGeom prst="line">
            <a:avLst/>
          </a:prstGeom>
          <a:noFill/>
          <a:ln w="25400">
            <a:solidFill>
              <a:srgbClr val="94A3B8"/>
            </a:solidFill>
            <a:prstDash val="solid"/>
            <a:headEnd type="none"/>
            <a:tailEnd type="triangle"/>
          </a:ln>
        </p:spPr>
      </p:sp>
      <p:sp>
        <p:nvSpPr>
          <p:cNvPr id="26" name="Shape 23"/>
          <p:cNvSpPr/>
          <p:nvPr/>
        </p:nvSpPr>
        <p:spPr>
          <a:xfrm>
            <a:off x="9811512" y="2011680"/>
            <a:ext cx="2057400" cy="1874520"/>
          </a:xfrm>
          <a:prstGeom prst="roundRect">
            <a:avLst/>
          </a:prstGeom>
          <a:solidFill>
            <a:srgbClr val="FFFFFF"/>
          </a:solidFill>
          <a:ln w="12700">
            <a:solidFill>
              <a:srgbClr val="CBD5E1"/>
            </a:solidFill>
            <a:prstDash val="solid"/>
          </a:ln>
        </p:spPr>
      </p:sp>
      <p:sp>
        <p:nvSpPr>
          <p:cNvPr id="27" name="Shape 24"/>
          <p:cNvSpPr/>
          <p:nvPr/>
        </p:nvSpPr>
        <p:spPr>
          <a:xfrm>
            <a:off x="9811512" y="2011680"/>
            <a:ext cx="2057400" cy="292608"/>
          </a:xfrm>
          <a:prstGeom prst="roundRect">
            <a:avLst/>
          </a:prstGeom>
          <a:solidFill>
            <a:srgbClr val="70AD47"/>
          </a:solidFill>
          <a:ln w="12700">
            <a:solidFill>
              <a:srgbClr val="70AD47"/>
            </a:solidFill>
            <a:prstDash val="solid"/>
          </a:ln>
        </p:spPr>
      </p:sp>
      <p:sp>
        <p:nvSpPr>
          <p:cNvPr id="28" name="Text 25"/>
          <p:cNvSpPr txBox="1"/>
          <p:nvPr/>
        </p:nvSpPr>
        <p:spPr>
          <a:xfrm>
            <a:off x="9921240"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29" name="Text 26"/>
          <p:cNvSpPr txBox="1"/>
          <p:nvPr/>
        </p:nvSpPr>
        <p:spPr>
          <a:xfrm>
            <a:off x="9921240"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 and review</a:t>
            </a:r>
            <a:endParaRPr lang="en-US" sz="1300" dirty="0"/>
          </a:p>
        </p:txBody>
      </p:sp>
      <p:sp>
        <p:nvSpPr>
          <p:cNvPr id="30" name="Shape 27"/>
          <p:cNvSpPr/>
          <p:nvPr/>
        </p:nvSpPr>
        <p:spPr>
          <a:xfrm>
            <a:off x="914400" y="4572000"/>
            <a:ext cx="10195560" cy="731520"/>
          </a:xfrm>
          <a:prstGeom prst="roundRect">
            <a:avLst/>
          </a:prstGeom>
          <a:solidFill>
            <a:srgbClr val="FFFFFF"/>
          </a:solidFill>
          <a:ln w="12700">
            <a:solidFill>
              <a:srgbClr val="C0504D"/>
            </a:solidFill>
            <a:prstDash val="solid"/>
          </a:ln>
        </p:spPr>
      </p:sp>
      <p:sp>
        <p:nvSpPr>
          <p:cNvPr id="31" name="Shape 28"/>
          <p:cNvSpPr/>
          <p:nvPr/>
        </p:nvSpPr>
        <p:spPr>
          <a:xfrm>
            <a:off x="914400" y="4572000"/>
            <a:ext cx="100584" cy="731520"/>
          </a:xfrm>
          <a:prstGeom prst="rect">
            <a:avLst/>
          </a:prstGeom>
          <a:solidFill>
            <a:srgbClr val="C0504D"/>
          </a:solidFill>
          <a:ln w="12700">
            <a:solidFill>
              <a:srgbClr val="C0504D"/>
            </a:solidFill>
            <a:prstDash val="solid"/>
          </a:ln>
        </p:spPr>
      </p:sp>
      <p:sp>
        <p:nvSpPr>
          <p:cNvPr id="32" name="Text 29"/>
          <p:cNvSpPr txBox="1"/>
          <p:nvPr/>
        </p:nvSpPr>
        <p:spPr>
          <a:xfrm>
            <a:off x="1152144" y="4681728"/>
            <a:ext cx="984808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BYOD question</a:t>
            </a:r>
            <a:endParaRPr lang="en-US" sz="1400" dirty="0"/>
          </a:p>
        </p:txBody>
      </p:sp>
      <p:sp>
        <p:nvSpPr>
          <p:cNvPr id="33" name="Text 30"/>
          <p:cNvSpPr txBox="1"/>
          <p:nvPr/>
        </p:nvSpPr>
        <p:spPr>
          <a:xfrm>
            <a:off x="1152144" y="4983480"/>
            <a:ext cx="984808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If you cannot measure device posture, how will you limit the resource and session risk?</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REMOTE ACCESS STANDARD</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Turn remote access principles into testable requirements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standard should specify the protocol, endpoint, identity, timeout, and evidence.</a:t>
            </a:r>
            <a:endParaRPr lang="en-US" sz="1250" dirty="0"/>
          </a:p>
        </p:txBody>
      </p:sp>
      <p:sp>
        <p:nvSpPr>
          <p:cNvPr id="6" name="Shape 3"/>
          <p:cNvSpPr/>
          <p:nvPr/>
        </p:nvSpPr>
        <p:spPr>
          <a:xfrm>
            <a:off x="685800" y="1755648"/>
            <a:ext cx="1828800" cy="457200"/>
          </a:xfrm>
          <a:prstGeom prst="roundRect">
            <a:avLst/>
          </a:prstGeom>
          <a:solidFill>
            <a:srgbClr val="4BACC6"/>
          </a:solidFill>
          <a:ln w="12700">
            <a:solidFill>
              <a:srgbClr val="4BACC6"/>
            </a:solidFill>
            <a:prstDash val="solid"/>
          </a:ln>
        </p:spPr>
      </p:sp>
      <p:sp>
        <p:nvSpPr>
          <p:cNvPr id="7" name="Text 4"/>
          <p:cNvSpPr txBox="1"/>
          <p:nvPr/>
        </p:nvSpPr>
        <p:spPr>
          <a:xfrm>
            <a:off x="804672" y="1892808"/>
            <a:ext cx="16002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Access path</a:t>
            </a:r>
            <a:endParaRPr lang="en-US" sz="1150" dirty="0"/>
          </a:p>
        </p:txBody>
      </p:sp>
      <p:sp>
        <p:nvSpPr>
          <p:cNvPr id="8" name="Shape 5"/>
          <p:cNvSpPr/>
          <p:nvPr/>
        </p:nvSpPr>
        <p:spPr>
          <a:xfrm>
            <a:off x="2788920" y="1755648"/>
            <a:ext cx="8138160" cy="457200"/>
          </a:xfrm>
          <a:prstGeom prst="roundRect">
            <a:avLst/>
          </a:prstGeom>
          <a:solidFill>
            <a:srgbClr val="FFFFFF"/>
          </a:solidFill>
          <a:ln w="12700">
            <a:solidFill>
              <a:srgbClr val="CBD5E1"/>
            </a:solidFill>
            <a:prstDash val="solid"/>
          </a:ln>
        </p:spPr>
      </p:sp>
      <p:sp>
        <p:nvSpPr>
          <p:cNvPr id="9" name="Text 6"/>
          <p:cNvSpPr txBox="1"/>
          <p:nvPr/>
        </p:nvSpPr>
        <p:spPr>
          <a:xfrm>
            <a:off x="2971800" y="1883664"/>
            <a:ext cx="777240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approved VPN or VDI; no direct production administration</a:t>
            </a:r>
            <a:endParaRPr lang="en-US" sz="1250" dirty="0"/>
          </a:p>
        </p:txBody>
      </p:sp>
      <p:sp>
        <p:nvSpPr>
          <p:cNvPr id="10" name="Shape 7"/>
          <p:cNvSpPr/>
          <p:nvPr/>
        </p:nvSpPr>
        <p:spPr>
          <a:xfrm>
            <a:off x="685800" y="2414016"/>
            <a:ext cx="1828800" cy="457200"/>
          </a:xfrm>
          <a:prstGeom prst="roundRect">
            <a:avLst/>
          </a:prstGeom>
          <a:solidFill>
            <a:srgbClr val="4F81BD"/>
          </a:solidFill>
          <a:ln w="12700">
            <a:solidFill>
              <a:srgbClr val="4F81BD"/>
            </a:solidFill>
            <a:prstDash val="solid"/>
          </a:ln>
        </p:spPr>
      </p:sp>
      <p:sp>
        <p:nvSpPr>
          <p:cNvPr id="11" name="Text 8"/>
          <p:cNvSpPr txBox="1"/>
          <p:nvPr/>
        </p:nvSpPr>
        <p:spPr>
          <a:xfrm>
            <a:off x="804672" y="2551176"/>
            <a:ext cx="16002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Endpoint</a:t>
            </a:r>
            <a:endParaRPr lang="en-US" sz="1150" dirty="0"/>
          </a:p>
        </p:txBody>
      </p:sp>
      <p:sp>
        <p:nvSpPr>
          <p:cNvPr id="12" name="Shape 9"/>
          <p:cNvSpPr/>
          <p:nvPr/>
        </p:nvSpPr>
        <p:spPr>
          <a:xfrm>
            <a:off x="2788920" y="2414016"/>
            <a:ext cx="8138160" cy="457200"/>
          </a:xfrm>
          <a:prstGeom prst="roundRect">
            <a:avLst/>
          </a:prstGeom>
          <a:solidFill>
            <a:srgbClr val="FFFFFF"/>
          </a:solidFill>
          <a:ln w="12700">
            <a:solidFill>
              <a:srgbClr val="CBD5E1"/>
            </a:solidFill>
            <a:prstDash val="solid"/>
          </a:ln>
        </p:spPr>
      </p:sp>
      <p:sp>
        <p:nvSpPr>
          <p:cNvPr id="13" name="Text 10"/>
          <p:cNvSpPr txBox="1"/>
          <p:nvPr/>
        </p:nvSpPr>
        <p:spPr>
          <a:xfrm>
            <a:off x="2971800" y="2542032"/>
            <a:ext cx="777240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MDM or equivalent posture; EDR; full-disk encryption</a:t>
            </a:r>
            <a:endParaRPr lang="en-US" sz="1250" dirty="0"/>
          </a:p>
        </p:txBody>
      </p:sp>
      <p:sp>
        <p:nvSpPr>
          <p:cNvPr id="14" name="Shape 11"/>
          <p:cNvSpPr/>
          <p:nvPr/>
        </p:nvSpPr>
        <p:spPr>
          <a:xfrm>
            <a:off x="685800" y="3072384"/>
            <a:ext cx="1828800" cy="457200"/>
          </a:xfrm>
          <a:prstGeom prst="roundRect">
            <a:avLst/>
          </a:prstGeom>
          <a:solidFill>
            <a:srgbClr val="F79646"/>
          </a:solidFill>
          <a:ln w="12700">
            <a:solidFill>
              <a:srgbClr val="F79646"/>
            </a:solidFill>
            <a:prstDash val="solid"/>
          </a:ln>
        </p:spPr>
      </p:sp>
      <p:sp>
        <p:nvSpPr>
          <p:cNvPr id="15" name="Text 12"/>
          <p:cNvSpPr txBox="1"/>
          <p:nvPr/>
        </p:nvSpPr>
        <p:spPr>
          <a:xfrm>
            <a:off x="804672" y="3209544"/>
            <a:ext cx="16002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Transport</a:t>
            </a:r>
            <a:endParaRPr lang="en-US" sz="1150" dirty="0"/>
          </a:p>
        </p:txBody>
      </p:sp>
      <p:sp>
        <p:nvSpPr>
          <p:cNvPr id="16" name="Shape 13"/>
          <p:cNvSpPr/>
          <p:nvPr/>
        </p:nvSpPr>
        <p:spPr>
          <a:xfrm>
            <a:off x="2788920" y="3072384"/>
            <a:ext cx="8138160" cy="457200"/>
          </a:xfrm>
          <a:prstGeom prst="roundRect">
            <a:avLst/>
          </a:prstGeom>
          <a:solidFill>
            <a:srgbClr val="FFFFFF"/>
          </a:solidFill>
          <a:ln w="12700">
            <a:solidFill>
              <a:srgbClr val="CBD5E1"/>
            </a:solidFill>
            <a:prstDash val="solid"/>
          </a:ln>
        </p:spPr>
      </p:sp>
      <p:sp>
        <p:nvSpPr>
          <p:cNvPr id="17" name="Text 14"/>
          <p:cNvSpPr txBox="1"/>
          <p:nvPr/>
        </p:nvSpPr>
        <p:spPr>
          <a:xfrm>
            <a:off x="2971800" y="3200400"/>
            <a:ext cx="777240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TLS 1.2 or newer; AES-256; client certificate</a:t>
            </a:r>
            <a:endParaRPr lang="en-US" sz="1250" dirty="0"/>
          </a:p>
        </p:txBody>
      </p:sp>
      <p:sp>
        <p:nvSpPr>
          <p:cNvPr id="18" name="Shape 15"/>
          <p:cNvSpPr/>
          <p:nvPr/>
        </p:nvSpPr>
        <p:spPr>
          <a:xfrm>
            <a:off x="685800" y="3730752"/>
            <a:ext cx="1828800" cy="457200"/>
          </a:xfrm>
          <a:prstGeom prst="roundRect">
            <a:avLst/>
          </a:prstGeom>
          <a:solidFill>
            <a:srgbClr val="8064A2"/>
          </a:solidFill>
          <a:ln w="12700">
            <a:solidFill>
              <a:srgbClr val="8064A2"/>
            </a:solidFill>
            <a:prstDash val="solid"/>
          </a:ln>
        </p:spPr>
      </p:sp>
      <p:sp>
        <p:nvSpPr>
          <p:cNvPr id="19" name="Text 16"/>
          <p:cNvSpPr txBox="1"/>
          <p:nvPr/>
        </p:nvSpPr>
        <p:spPr>
          <a:xfrm>
            <a:off x="804672" y="3867912"/>
            <a:ext cx="16002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p>
        </p:txBody>
      </p:sp>
      <p:sp>
        <p:nvSpPr>
          <p:cNvPr id="20" name="Shape 17"/>
          <p:cNvSpPr/>
          <p:nvPr/>
        </p:nvSpPr>
        <p:spPr>
          <a:xfrm>
            <a:off x="2788920" y="3730752"/>
            <a:ext cx="8138160" cy="457200"/>
          </a:xfrm>
          <a:prstGeom prst="roundRect">
            <a:avLst/>
          </a:prstGeom>
          <a:solidFill>
            <a:srgbClr val="FFFFFF"/>
          </a:solidFill>
          <a:ln w="12700">
            <a:solidFill>
              <a:srgbClr val="CBD5E1"/>
            </a:solidFill>
            <a:prstDash val="solid"/>
          </a:ln>
        </p:spPr>
      </p:sp>
      <p:sp>
        <p:nvSpPr>
          <p:cNvPr id="21" name="Text 18"/>
          <p:cNvSpPr txBox="1"/>
          <p:nvPr/>
        </p:nvSpPr>
        <p:spPr>
          <a:xfrm>
            <a:off x="2971800" y="3858768"/>
            <a:ext cx="777240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no split tunneling for PCI-scoped systems</a:t>
            </a:r>
            <a:endParaRPr lang="en-US" sz="1250" dirty="0"/>
          </a:p>
        </p:txBody>
      </p:sp>
      <p:sp>
        <p:nvSpPr>
          <p:cNvPr id="22" name="Shape 19"/>
          <p:cNvSpPr/>
          <p:nvPr/>
        </p:nvSpPr>
        <p:spPr>
          <a:xfrm>
            <a:off x="685800" y="4389120"/>
            <a:ext cx="1828800" cy="457200"/>
          </a:xfrm>
          <a:prstGeom prst="roundRect">
            <a:avLst/>
          </a:prstGeom>
          <a:solidFill>
            <a:srgbClr val="70AD47"/>
          </a:solidFill>
          <a:ln w="12700">
            <a:solidFill>
              <a:srgbClr val="70AD47"/>
            </a:solidFill>
            <a:prstDash val="solid"/>
          </a:ln>
        </p:spPr>
      </p:sp>
      <p:sp>
        <p:nvSpPr>
          <p:cNvPr id="23" name="Text 20"/>
          <p:cNvSpPr txBox="1"/>
          <p:nvPr/>
        </p:nvSpPr>
        <p:spPr>
          <a:xfrm>
            <a:off x="804672" y="4526280"/>
            <a:ext cx="16002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p>
        </p:txBody>
      </p:sp>
      <p:sp>
        <p:nvSpPr>
          <p:cNvPr id="24" name="Shape 21"/>
          <p:cNvSpPr/>
          <p:nvPr/>
        </p:nvSpPr>
        <p:spPr>
          <a:xfrm>
            <a:off x="2788920" y="4389120"/>
            <a:ext cx="8138160" cy="457200"/>
          </a:xfrm>
          <a:prstGeom prst="roundRect">
            <a:avLst/>
          </a:prstGeom>
          <a:solidFill>
            <a:srgbClr val="FFFFFF"/>
          </a:solidFill>
          <a:ln w="12700">
            <a:solidFill>
              <a:srgbClr val="CBD5E1"/>
            </a:solidFill>
            <a:prstDash val="solid"/>
          </a:ln>
        </p:spPr>
      </p:sp>
      <p:sp>
        <p:nvSpPr>
          <p:cNvPr id="25" name="Text 22"/>
          <p:cNvSpPr txBox="1"/>
          <p:nvPr/>
        </p:nvSpPr>
        <p:spPr>
          <a:xfrm>
            <a:off x="2971800" y="4517136"/>
            <a:ext cx="777240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session timeout, log retention, and lost-device reporting</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DATA POLICY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Classification is a handling rule, not just a label</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Every tier needs storage, transmission, access, media, and disposal requirements.</a:t>
            </a:r>
            <a:endParaRPr lang="en-US" sz="1250" dirty="0"/>
          </a:p>
        </p:txBody>
      </p:sp>
      <p:sp>
        <p:nvSpPr>
          <p:cNvPr id="6" name="Shape 3"/>
          <p:cNvSpPr/>
          <p:nvPr/>
        </p:nvSpPr>
        <p:spPr>
          <a:xfrm>
            <a:off x="640080" y="1828800"/>
            <a:ext cx="2423160" cy="2697480"/>
          </a:xfrm>
          <a:prstGeom prst="roundRect">
            <a:avLst/>
          </a:prstGeom>
          <a:solidFill>
            <a:srgbClr val="FFFFFF"/>
          </a:solidFill>
          <a:ln w="12700">
            <a:solidFill>
              <a:srgbClr val="70AD47"/>
            </a:solidFill>
            <a:prstDash val="solid"/>
          </a:ln>
        </p:spPr>
      </p:sp>
      <p:sp>
        <p:nvSpPr>
          <p:cNvPr id="7" name="Shape 4"/>
          <p:cNvSpPr/>
          <p:nvPr/>
        </p:nvSpPr>
        <p:spPr>
          <a:xfrm>
            <a:off x="640080" y="1828800"/>
            <a:ext cx="2423160" cy="411480"/>
          </a:xfrm>
          <a:prstGeom prst="roundRect">
            <a:avLst/>
          </a:prstGeom>
          <a:solidFill>
            <a:srgbClr val="70AD47"/>
          </a:solidFill>
          <a:ln w="12700">
            <a:solidFill>
              <a:srgbClr val="70AD47"/>
            </a:solidFill>
            <a:prstDash val="solid"/>
          </a:ln>
        </p:spPr>
      </p:sp>
      <p:sp>
        <p:nvSpPr>
          <p:cNvPr id="8" name="Text 5"/>
          <p:cNvSpPr txBox="1"/>
          <p:nvPr/>
        </p:nvSpPr>
        <p:spPr>
          <a:xfrm>
            <a:off x="777240" y="193852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Public</a:t>
            </a:r>
            <a:endParaRPr lang="en-US" sz="1700" dirty="0"/>
          </a:p>
        </p:txBody>
      </p:sp>
      <p:sp>
        <p:nvSpPr>
          <p:cNvPr id="9" name="Text 6"/>
          <p:cNvSpPr txBox="1"/>
          <p:nvPr/>
        </p:nvSpPr>
        <p:spPr>
          <a:xfrm>
            <a:off x="822960" y="2697480"/>
            <a:ext cx="2057400" cy="914400"/>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disclose freely</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normal integrity</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standard disposal</a:t>
            </a:r>
            <a:endParaRPr lang="en-US" sz="1400" dirty="0"/>
          </a:p>
        </p:txBody>
      </p:sp>
      <p:sp>
        <p:nvSpPr>
          <p:cNvPr id="10" name="Shape 7"/>
          <p:cNvSpPr/>
          <p:nvPr/>
        </p:nvSpPr>
        <p:spPr>
          <a:xfrm>
            <a:off x="3474720" y="1828800"/>
            <a:ext cx="2423160" cy="2697480"/>
          </a:xfrm>
          <a:prstGeom prst="roundRect">
            <a:avLst/>
          </a:prstGeom>
          <a:solidFill>
            <a:srgbClr val="FFFFFF"/>
          </a:solidFill>
          <a:ln w="12700">
            <a:solidFill>
              <a:srgbClr val="4F81BD"/>
            </a:solidFill>
            <a:prstDash val="solid"/>
          </a:ln>
        </p:spPr>
      </p:sp>
      <p:sp>
        <p:nvSpPr>
          <p:cNvPr id="11" name="Shape 8"/>
          <p:cNvSpPr/>
          <p:nvPr/>
        </p:nvSpPr>
        <p:spPr>
          <a:xfrm>
            <a:off x="3474720" y="1828800"/>
            <a:ext cx="2423160" cy="411480"/>
          </a:xfrm>
          <a:prstGeom prst="roundRect">
            <a:avLst/>
          </a:prstGeom>
          <a:solidFill>
            <a:srgbClr val="4F81BD"/>
          </a:solidFill>
          <a:ln w="12700">
            <a:solidFill>
              <a:srgbClr val="4F81BD"/>
            </a:solidFill>
            <a:prstDash val="solid"/>
          </a:ln>
        </p:spPr>
      </p:sp>
      <p:sp>
        <p:nvSpPr>
          <p:cNvPr id="12" name="Text 9"/>
          <p:cNvSpPr txBox="1"/>
          <p:nvPr/>
        </p:nvSpPr>
        <p:spPr>
          <a:xfrm>
            <a:off x="3611880" y="193852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Internal</a:t>
            </a:r>
            <a:endParaRPr lang="en-US" sz="1700" dirty="0"/>
          </a:p>
        </p:txBody>
      </p:sp>
      <p:sp>
        <p:nvSpPr>
          <p:cNvPr id="13" name="Text 10"/>
          <p:cNvSpPr txBox="1"/>
          <p:nvPr/>
        </p:nvSpPr>
        <p:spPr>
          <a:xfrm>
            <a:off x="3657600" y="2697480"/>
            <a:ext cx="2057400" cy="914400"/>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workforce access</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managed storage</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controlled sharing</a:t>
            </a:r>
            <a:endParaRPr lang="en-US" sz="1400" dirty="0"/>
          </a:p>
        </p:txBody>
      </p:sp>
      <p:sp>
        <p:nvSpPr>
          <p:cNvPr id="14" name="Shape 11"/>
          <p:cNvSpPr/>
          <p:nvPr/>
        </p:nvSpPr>
        <p:spPr>
          <a:xfrm>
            <a:off x="6309360" y="1828800"/>
            <a:ext cx="2423160" cy="2697480"/>
          </a:xfrm>
          <a:prstGeom prst="roundRect">
            <a:avLst/>
          </a:prstGeom>
          <a:solidFill>
            <a:srgbClr val="FFFFFF"/>
          </a:solidFill>
          <a:ln w="12700">
            <a:solidFill>
              <a:srgbClr val="F79646"/>
            </a:solidFill>
            <a:prstDash val="solid"/>
          </a:ln>
        </p:spPr>
      </p:sp>
      <p:sp>
        <p:nvSpPr>
          <p:cNvPr id="15" name="Shape 12"/>
          <p:cNvSpPr/>
          <p:nvPr/>
        </p:nvSpPr>
        <p:spPr>
          <a:xfrm>
            <a:off x="6309360" y="1828800"/>
            <a:ext cx="2423160" cy="411480"/>
          </a:xfrm>
          <a:prstGeom prst="roundRect">
            <a:avLst/>
          </a:prstGeom>
          <a:solidFill>
            <a:srgbClr val="F79646"/>
          </a:solidFill>
          <a:ln w="12700">
            <a:solidFill>
              <a:srgbClr val="F79646"/>
            </a:solidFill>
            <a:prstDash val="solid"/>
          </a:ln>
        </p:spPr>
      </p:sp>
      <p:sp>
        <p:nvSpPr>
          <p:cNvPr id="16" name="Text 13"/>
          <p:cNvSpPr txBox="1"/>
          <p:nvPr/>
        </p:nvSpPr>
        <p:spPr>
          <a:xfrm>
            <a:off x="6446520" y="193852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Confidential</a:t>
            </a:r>
            <a:endParaRPr lang="en-US" sz="1700" dirty="0"/>
          </a:p>
        </p:txBody>
      </p:sp>
      <p:sp>
        <p:nvSpPr>
          <p:cNvPr id="17" name="Text 14"/>
          <p:cNvSpPr txBox="1"/>
          <p:nvPr/>
        </p:nvSpPr>
        <p:spPr>
          <a:xfrm>
            <a:off x="6492240" y="2697480"/>
            <a:ext cx="2057400" cy="914400"/>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AES-256 at rest</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TLS 1.2+ in transit</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role-based access</a:t>
            </a:r>
            <a:endParaRPr lang="en-US" sz="1400" dirty="0"/>
          </a:p>
        </p:txBody>
      </p:sp>
      <p:sp>
        <p:nvSpPr>
          <p:cNvPr id="18" name="Shape 15"/>
          <p:cNvSpPr/>
          <p:nvPr/>
        </p:nvSpPr>
        <p:spPr>
          <a:xfrm>
            <a:off x="9144000" y="1828800"/>
            <a:ext cx="2423160" cy="2697480"/>
          </a:xfrm>
          <a:prstGeom prst="roundRect">
            <a:avLst/>
          </a:prstGeom>
          <a:solidFill>
            <a:srgbClr val="FFFFFF"/>
          </a:solidFill>
          <a:ln w="12700">
            <a:solidFill>
              <a:srgbClr val="C0504D"/>
            </a:solidFill>
            <a:prstDash val="solid"/>
          </a:ln>
        </p:spPr>
      </p:sp>
      <p:sp>
        <p:nvSpPr>
          <p:cNvPr id="19" name="Shape 16"/>
          <p:cNvSpPr/>
          <p:nvPr/>
        </p:nvSpPr>
        <p:spPr>
          <a:xfrm>
            <a:off x="9144000" y="1828800"/>
            <a:ext cx="2423160" cy="411480"/>
          </a:xfrm>
          <a:prstGeom prst="roundRect">
            <a:avLst/>
          </a:prstGeom>
          <a:solidFill>
            <a:srgbClr val="C0504D"/>
          </a:solidFill>
          <a:ln w="12700">
            <a:solidFill>
              <a:srgbClr val="C0504D"/>
            </a:solidFill>
            <a:prstDash val="solid"/>
          </a:ln>
        </p:spPr>
      </p:sp>
      <p:sp>
        <p:nvSpPr>
          <p:cNvPr id="20" name="Text 17"/>
          <p:cNvSpPr txBox="1"/>
          <p:nvPr/>
        </p:nvSpPr>
        <p:spPr>
          <a:xfrm>
            <a:off x="9281160" y="193852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Restricted</a:t>
            </a:r>
            <a:endParaRPr lang="en-US" sz="1700" dirty="0"/>
          </a:p>
        </p:txBody>
      </p:sp>
      <p:sp>
        <p:nvSpPr>
          <p:cNvPr id="21" name="Text 18"/>
          <p:cNvSpPr txBox="1"/>
          <p:nvPr/>
        </p:nvSpPr>
        <p:spPr>
          <a:xfrm>
            <a:off x="9326880" y="2697480"/>
            <a:ext cx="2057400" cy="914400"/>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managed keys</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named access</a:t>
            </a:r>
            <a:endParaRPr lang="en-US" sz="1400" dirty="0"/>
          </a:p>
          <a:p>
            <a:pPr algn="ctr" indent="0" marL="0">
              <a:buNone/>
            </a:pPr>
            <a:r>
              <a:rPr lang="en-US" sz="1400" dirty="0">
                <a:solidFill>
                  <a:srgbClr val="203040"/>
                </a:solidFill>
                <a:latin typeface="Calibri" pitchFamily="34" charset="0"/>
                <a:ea typeface="Calibri" pitchFamily="34" charset="-122"/>
                <a:cs typeface="Calibri" pitchFamily="34" charset="-120"/>
              </a:rPr>
              <a:t>crypto erase or approved purge</a:t>
            </a:r>
            <a:endParaRPr lang="en-US" sz="1400" dirty="0"/>
          </a:p>
        </p:txBody>
      </p:sp>
      <p:sp>
        <p:nvSpPr>
          <p:cNvPr id="22" name="Shape 19"/>
          <p:cNvSpPr/>
          <p:nvPr/>
        </p:nvSpPr>
        <p:spPr>
          <a:xfrm>
            <a:off x="3035808" y="4892040"/>
            <a:ext cx="6126480" cy="274320"/>
          </a:xfrm>
          <a:prstGeom prst="roundRect">
            <a:avLst/>
          </a:prstGeom>
          <a:solidFill>
            <a:srgbClr val="1F497D"/>
          </a:solidFill>
          <a:ln w="12700">
            <a:solidFill>
              <a:srgbClr val="1F497D"/>
            </a:solidFill>
            <a:prstDash val="solid"/>
          </a:ln>
        </p:spPr>
      </p:sp>
      <p:sp>
        <p:nvSpPr>
          <p:cNvPr id="23" name="Text 20"/>
          <p:cNvSpPr txBox="1"/>
          <p:nvPr/>
        </p:nvSpPr>
        <p:spPr>
          <a:xfrm>
            <a:off x="3108960" y="4910328"/>
            <a:ext cx="59801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LABEL · STORE · SHARE · RETAIN · DISPOSE</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GAP ANALYSIS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Compare the policy to the control objective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gap analysis identifies what the draft does not yet make enforceable.</a:t>
            </a:r>
            <a:endParaRPr lang="en-US" sz="1250" dirty="0"/>
          </a:p>
        </p:txBody>
      </p:sp>
      <p:sp>
        <p:nvSpPr>
          <p:cNvPr id="6" name="Shape 3"/>
          <p:cNvSpPr/>
          <p:nvPr/>
        </p:nvSpPr>
        <p:spPr>
          <a:xfrm>
            <a:off x="685800" y="1828800"/>
            <a:ext cx="1234440" cy="640080"/>
          </a:xfrm>
          <a:prstGeom prst="roundRect">
            <a:avLst/>
          </a:prstGeom>
          <a:solidFill>
            <a:srgbClr val="4BACC6"/>
          </a:solidFill>
          <a:ln w="12700">
            <a:solidFill>
              <a:srgbClr val="4BACC6"/>
            </a:solidFill>
            <a:prstDash val="solid"/>
          </a:ln>
        </p:spPr>
      </p:sp>
      <p:sp>
        <p:nvSpPr>
          <p:cNvPr id="7" name="Text 4"/>
          <p:cNvSpPr txBox="1"/>
          <p:nvPr/>
        </p:nvSpPr>
        <p:spPr>
          <a:xfrm>
            <a:off x="786384" y="2029968"/>
            <a:ext cx="1033272" cy="164592"/>
          </a:xfrm>
          <a:prstGeom prst="rect">
            <a:avLst/>
          </a:prstGeom>
          <a:noFill/>
          <a:ln/>
        </p:spPr>
        <p:txBody>
          <a:bodyPr wrap="square" lIns="508" tIns="508" rIns="508" bIns="508"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A.5.10</a:t>
            </a:r>
            <a:endParaRPr lang="en-US" sz="1200" dirty="0"/>
          </a:p>
        </p:txBody>
      </p:sp>
      <p:sp>
        <p:nvSpPr>
          <p:cNvPr id="8" name="Shape 5"/>
          <p:cNvSpPr/>
          <p:nvPr/>
        </p:nvSpPr>
        <p:spPr>
          <a:xfrm>
            <a:off x="2148840" y="1828800"/>
            <a:ext cx="2834640" cy="640080"/>
          </a:xfrm>
          <a:prstGeom prst="roundRect">
            <a:avLst/>
          </a:prstGeom>
          <a:solidFill>
            <a:srgbClr val="FFFFFF"/>
          </a:solidFill>
          <a:ln w="12700">
            <a:solidFill>
              <a:srgbClr val="CBD5E1"/>
            </a:solidFill>
            <a:prstDash val="solid"/>
          </a:ln>
        </p:spPr>
      </p:sp>
      <p:sp>
        <p:nvSpPr>
          <p:cNvPr id="9" name="Text 6"/>
          <p:cNvSpPr txBox="1"/>
          <p:nvPr/>
        </p:nvSpPr>
        <p:spPr>
          <a:xfrm>
            <a:off x="2267712" y="1938528"/>
            <a:ext cx="2596896" cy="384048"/>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acceptable use of information and assets</a:t>
            </a:r>
            <a:endParaRPr lang="en-US" sz="1150" dirty="0"/>
          </a:p>
        </p:txBody>
      </p:sp>
      <p:sp>
        <p:nvSpPr>
          <p:cNvPr id="10" name="Shape 7"/>
          <p:cNvSpPr/>
          <p:nvPr/>
        </p:nvSpPr>
        <p:spPr>
          <a:xfrm>
            <a:off x="5257800" y="1828800"/>
            <a:ext cx="2834640" cy="640080"/>
          </a:xfrm>
          <a:prstGeom prst="roundRect">
            <a:avLst/>
          </a:prstGeom>
          <a:solidFill>
            <a:srgbClr val="FFFFFF"/>
          </a:solidFill>
          <a:ln w="12700">
            <a:solidFill>
              <a:srgbClr val="CBD5E1"/>
            </a:solidFill>
            <a:prstDash val="solid"/>
          </a:ln>
        </p:spPr>
      </p:sp>
      <p:sp>
        <p:nvSpPr>
          <p:cNvPr id="11" name="Text 8"/>
          <p:cNvSpPr txBox="1"/>
          <p:nvPr/>
        </p:nvSpPr>
        <p:spPr>
          <a:xfrm>
            <a:off x="5376672" y="1938528"/>
            <a:ext cx="2596896" cy="384048"/>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specific rules, monitoring, consequences</a:t>
            </a:r>
            <a:endParaRPr lang="en-US" sz="1150" dirty="0"/>
          </a:p>
        </p:txBody>
      </p:sp>
      <p:sp>
        <p:nvSpPr>
          <p:cNvPr id="12" name="Shape 9"/>
          <p:cNvSpPr/>
          <p:nvPr/>
        </p:nvSpPr>
        <p:spPr>
          <a:xfrm>
            <a:off x="8366760" y="1828800"/>
            <a:ext cx="2834640" cy="640080"/>
          </a:xfrm>
          <a:prstGeom prst="roundRect">
            <a:avLst/>
          </a:prstGeom>
          <a:solidFill>
            <a:srgbClr val="FFF3E7"/>
          </a:solidFill>
          <a:ln w="12700">
            <a:solidFill>
              <a:srgbClr val="4BACC6"/>
            </a:solidFill>
            <a:prstDash val="solid"/>
          </a:ln>
        </p:spPr>
      </p:sp>
      <p:sp>
        <p:nvSpPr>
          <p:cNvPr id="13" name="Text 10"/>
          <p:cNvSpPr txBox="1"/>
          <p:nvPr/>
        </p:nvSpPr>
        <p:spPr>
          <a:xfrm>
            <a:off x="8503920" y="1938528"/>
            <a:ext cx="2560320" cy="384048"/>
          </a:xfrm>
          <a:prstGeom prst="rect">
            <a:avLst/>
          </a:prstGeom>
          <a:noFill/>
          <a:ln/>
        </p:spPr>
        <p:txBody>
          <a:bodyPr wrap="square" lIns="508" tIns="508" rIns="508" bIns="508" rtlCol="0" anchor="ctr">
            <a:normAutofit/>
          </a:bodyPr>
          <a:lstStyle/>
          <a:p>
            <a:pPr algn="ctr" indent="0" marL="0">
              <a:buNone/>
            </a:pPr>
            <a:r>
              <a:rPr lang="en-US" sz="1150" b="1" dirty="0">
                <a:solidFill>
                  <a:srgbClr val="1F497D"/>
                </a:solidFill>
                <a:latin typeface="Calibri" pitchFamily="34" charset="0"/>
                <a:ea typeface="Calibri" pitchFamily="34" charset="-122"/>
                <a:cs typeface="Calibri" pitchFamily="34" charset="-120"/>
              </a:rPr>
              <a:t>Write one specific remediation sentence</a:t>
            </a:r>
            <a:endParaRPr lang="en-US" sz="1150" dirty="0"/>
          </a:p>
        </p:txBody>
      </p:sp>
      <p:sp>
        <p:nvSpPr>
          <p:cNvPr id="14" name="Shape 11"/>
          <p:cNvSpPr/>
          <p:nvPr/>
        </p:nvSpPr>
        <p:spPr>
          <a:xfrm>
            <a:off x="685800" y="2743200"/>
            <a:ext cx="1234440" cy="640080"/>
          </a:xfrm>
          <a:prstGeom prst="roundRect">
            <a:avLst/>
          </a:prstGeom>
          <a:solidFill>
            <a:srgbClr val="4F81BD"/>
          </a:solidFill>
          <a:ln w="12700">
            <a:solidFill>
              <a:srgbClr val="4F81BD"/>
            </a:solidFill>
            <a:prstDash val="solid"/>
          </a:ln>
        </p:spPr>
      </p:sp>
      <p:sp>
        <p:nvSpPr>
          <p:cNvPr id="15" name="Text 12"/>
          <p:cNvSpPr txBox="1"/>
          <p:nvPr/>
        </p:nvSpPr>
        <p:spPr>
          <a:xfrm>
            <a:off x="786384" y="2944368"/>
            <a:ext cx="1033272" cy="164592"/>
          </a:xfrm>
          <a:prstGeom prst="rect">
            <a:avLst/>
          </a:prstGeom>
          <a:noFill/>
          <a:ln/>
        </p:spPr>
        <p:txBody>
          <a:bodyPr wrap="square" lIns="508" tIns="508" rIns="508" bIns="508"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A.6.2</a:t>
            </a:r>
            <a:endParaRPr lang="en-US" sz="1200" dirty="0"/>
          </a:p>
        </p:txBody>
      </p:sp>
      <p:sp>
        <p:nvSpPr>
          <p:cNvPr id="16" name="Shape 13"/>
          <p:cNvSpPr/>
          <p:nvPr/>
        </p:nvSpPr>
        <p:spPr>
          <a:xfrm>
            <a:off x="2148840" y="2743200"/>
            <a:ext cx="2834640" cy="640080"/>
          </a:xfrm>
          <a:prstGeom prst="roundRect">
            <a:avLst/>
          </a:prstGeom>
          <a:solidFill>
            <a:srgbClr val="FFFFFF"/>
          </a:solidFill>
          <a:ln w="12700">
            <a:solidFill>
              <a:srgbClr val="CBD5E1"/>
            </a:solidFill>
            <a:prstDash val="solid"/>
          </a:ln>
        </p:spPr>
      </p:sp>
      <p:sp>
        <p:nvSpPr>
          <p:cNvPr id="17" name="Text 14"/>
          <p:cNvSpPr txBox="1"/>
          <p:nvPr/>
        </p:nvSpPr>
        <p:spPr>
          <a:xfrm>
            <a:off x="2267712" y="2852928"/>
            <a:ext cx="2596896" cy="384048"/>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terms and conditions of employment</a:t>
            </a:r>
            <a:endParaRPr lang="en-US" sz="1150" dirty="0"/>
          </a:p>
        </p:txBody>
      </p:sp>
      <p:sp>
        <p:nvSpPr>
          <p:cNvPr id="18" name="Shape 15"/>
          <p:cNvSpPr/>
          <p:nvPr/>
        </p:nvSpPr>
        <p:spPr>
          <a:xfrm>
            <a:off x="5257800" y="2743200"/>
            <a:ext cx="2834640" cy="640080"/>
          </a:xfrm>
          <a:prstGeom prst="roundRect">
            <a:avLst/>
          </a:prstGeom>
          <a:solidFill>
            <a:srgbClr val="FFFFFF"/>
          </a:solidFill>
          <a:ln w="12700">
            <a:solidFill>
              <a:srgbClr val="CBD5E1"/>
            </a:solidFill>
            <a:prstDash val="solid"/>
          </a:ln>
        </p:spPr>
      </p:sp>
      <p:sp>
        <p:nvSpPr>
          <p:cNvPr id="19" name="Text 16"/>
          <p:cNvSpPr txBox="1"/>
          <p:nvPr/>
        </p:nvSpPr>
        <p:spPr>
          <a:xfrm>
            <a:off x="5376672" y="2852928"/>
            <a:ext cx="2596896" cy="384048"/>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acknowledgment, responsibilities, sanctions</a:t>
            </a:r>
            <a:endParaRPr lang="en-US" sz="1150" dirty="0"/>
          </a:p>
        </p:txBody>
      </p:sp>
      <p:sp>
        <p:nvSpPr>
          <p:cNvPr id="20" name="Shape 17"/>
          <p:cNvSpPr/>
          <p:nvPr/>
        </p:nvSpPr>
        <p:spPr>
          <a:xfrm>
            <a:off x="8366760" y="2743200"/>
            <a:ext cx="2834640" cy="640080"/>
          </a:xfrm>
          <a:prstGeom prst="roundRect">
            <a:avLst/>
          </a:prstGeom>
          <a:solidFill>
            <a:srgbClr val="FFF3E7"/>
          </a:solidFill>
          <a:ln w="12700">
            <a:solidFill>
              <a:srgbClr val="4F81BD"/>
            </a:solidFill>
            <a:prstDash val="solid"/>
          </a:ln>
        </p:spPr>
      </p:sp>
      <p:sp>
        <p:nvSpPr>
          <p:cNvPr id="21" name="Text 18"/>
          <p:cNvSpPr txBox="1"/>
          <p:nvPr/>
        </p:nvSpPr>
        <p:spPr>
          <a:xfrm>
            <a:off x="8503920" y="2852928"/>
            <a:ext cx="2560320" cy="384048"/>
          </a:xfrm>
          <a:prstGeom prst="rect">
            <a:avLst/>
          </a:prstGeom>
          <a:noFill/>
          <a:ln/>
        </p:spPr>
        <p:txBody>
          <a:bodyPr wrap="square" lIns="508" tIns="508" rIns="508" bIns="508" rtlCol="0" anchor="ctr">
            <a:normAutofit/>
          </a:bodyPr>
          <a:lstStyle/>
          <a:p>
            <a:pPr algn="ctr" indent="0" marL="0">
              <a:buNone/>
            </a:pPr>
            <a:r>
              <a:rPr lang="en-US" sz="1150" b="1" dirty="0">
                <a:solidFill>
                  <a:srgbClr val="1F497D"/>
                </a:solidFill>
                <a:latin typeface="Calibri" pitchFamily="34" charset="0"/>
                <a:ea typeface="Calibri" pitchFamily="34" charset="-122"/>
                <a:cs typeface="Calibri" pitchFamily="34" charset="-120"/>
              </a:rPr>
              <a:t>Write one specific remediation sentence</a:t>
            </a:r>
            <a:endParaRPr lang="en-US" sz="1150" dirty="0"/>
          </a:p>
        </p:txBody>
      </p:sp>
      <p:sp>
        <p:nvSpPr>
          <p:cNvPr id="22" name="Shape 19"/>
          <p:cNvSpPr/>
          <p:nvPr/>
        </p:nvSpPr>
        <p:spPr>
          <a:xfrm>
            <a:off x="685800" y="3657600"/>
            <a:ext cx="1234440" cy="640080"/>
          </a:xfrm>
          <a:prstGeom prst="roundRect">
            <a:avLst/>
          </a:prstGeom>
          <a:solidFill>
            <a:srgbClr val="F79646"/>
          </a:solidFill>
          <a:ln w="12700">
            <a:solidFill>
              <a:srgbClr val="F79646"/>
            </a:solidFill>
            <a:prstDash val="solid"/>
          </a:ln>
        </p:spPr>
      </p:sp>
      <p:sp>
        <p:nvSpPr>
          <p:cNvPr id="23" name="Text 20"/>
          <p:cNvSpPr txBox="1"/>
          <p:nvPr/>
        </p:nvSpPr>
        <p:spPr>
          <a:xfrm>
            <a:off x="786384" y="3858768"/>
            <a:ext cx="1033272" cy="164592"/>
          </a:xfrm>
          <a:prstGeom prst="rect">
            <a:avLst/>
          </a:prstGeom>
          <a:noFill/>
          <a:ln/>
        </p:spPr>
        <p:txBody>
          <a:bodyPr wrap="square" lIns="508" tIns="508" rIns="508" bIns="508"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A.8.1</a:t>
            </a:r>
            <a:endParaRPr lang="en-US" sz="1200" dirty="0"/>
          </a:p>
        </p:txBody>
      </p:sp>
      <p:sp>
        <p:nvSpPr>
          <p:cNvPr id="24" name="Shape 21"/>
          <p:cNvSpPr/>
          <p:nvPr/>
        </p:nvSpPr>
        <p:spPr>
          <a:xfrm>
            <a:off x="2148840" y="3657600"/>
            <a:ext cx="2834640" cy="640080"/>
          </a:xfrm>
          <a:prstGeom prst="roundRect">
            <a:avLst/>
          </a:prstGeom>
          <a:solidFill>
            <a:srgbClr val="FFFFFF"/>
          </a:solidFill>
          <a:ln w="12700">
            <a:solidFill>
              <a:srgbClr val="CBD5E1"/>
            </a:solidFill>
            <a:prstDash val="solid"/>
          </a:ln>
        </p:spPr>
      </p:sp>
      <p:sp>
        <p:nvSpPr>
          <p:cNvPr id="25" name="Text 22"/>
          <p:cNvSpPr txBox="1"/>
          <p:nvPr/>
        </p:nvSpPr>
        <p:spPr>
          <a:xfrm>
            <a:off x="2267712" y="3767328"/>
            <a:ext cx="2596896" cy="384048"/>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user endpoint devices</a:t>
            </a:r>
            <a:endParaRPr lang="en-US" sz="1150" dirty="0"/>
          </a:p>
        </p:txBody>
      </p:sp>
      <p:sp>
        <p:nvSpPr>
          <p:cNvPr id="26" name="Shape 23"/>
          <p:cNvSpPr/>
          <p:nvPr/>
        </p:nvSpPr>
        <p:spPr>
          <a:xfrm>
            <a:off x="5257800" y="3657600"/>
            <a:ext cx="2834640" cy="640080"/>
          </a:xfrm>
          <a:prstGeom prst="roundRect">
            <a:avLst/>
          </a:prstGeom>
          <a:solidFill>
            <a:srgbClr val="FFFFFF"/>
          </a:solidFill>
          <a:ln w="12700">
            <a:solidFill>
              <a:srgbClr val="CBD5E1"/>
            </a:solidFill>
            <a:prstDash val="solid"/>
          </a:ln>
        </p:spPr>
      </p:sp>
      <p:sp>
        <p:nvSpPr>
          <p:cNvPr id="27" name="Text 24"/>
          <p:cNvSpPr txBox="1"/>
          <p:nvPr/>
        </p:nvSpPr>
        <p:spPr>
          <a:xfrm>
            <a:off x="5376672" y="3767328"/>
            <a:ext cx="2596896" cy="384048"/>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baseline, encryption, MDM, lost-device response</a:t>
            </a:r>
            <a:endParaRPr lang="en-US" sz="1150" dirty="0"/>
          </a:p>
        </p:txBody>
      </p:sp>
      <p:sp>
        <p:nvSpPr>
          <p:cNvPr id="28" name="Shape 25"/>
          <p:cNvSpPr/>
          <p:nvPr/>
        </p:nvSpPr>
        <p:spPr>
          <a:xfrm>
            <a:off x="8366760" y="3657600"/>
            <a:ext cx="2834640" cy="640080"/>
          </a:xfrm>
          <a:prstGeom prst="roundRect">
            <a:avLst/>
          </a:prstGeom>
          <a:solidFill>
            <a:srgbClr val="FFF3E7"/>
          </a:solidFill>
          <a:ln w="12700">
            <a:solidFill>
              <a:srgbClr val="F79646"/>
            </a:solidFill>
            <a:prstDash val="solid"/>
          </a:ln>
        </p:spPr>
      </p:sp>
      <p:sp>
        <p:nvSpPr>
          <p:cNvPr id="29" name="Text 26"/>
          <p:cNvSpPr txBox="1"/>
          <p:nvPr/>
        </p:nvSpPr>
        <p:spPr>
          <a:xfrm>
            <a:off x="8503920" y="3767328"/>
            <a:ext cx="2560320" cy="384048"/>
          </a:xfrm>
          <a:prstGeom prst="rect">
            <a:avLst/>
          </a:prstGeom>
          <a:noFill/>
          <a:ln/>
        </p:spPr>
        <p:txBody>
          <a:bodyPr wrap="square" lIns="508" tIns="508" rIns="508" bIns="508" rtlCol="0" anchor="ctr">
            <a:normAutofit/>
          </a:bodyPr>
          <a:lstStyle/>
          <a:p>
            <a:pPr algn="ctr" indent="0" marL="0">
              <a:buNone/>
            </a:pPr>
            <a:r>
              <a:rPr lang="en-US" sz="1150" b="1" dirty="0">
                <a:solidFill>
                  <a:srgbClr val="1F497D"/>
                </a:solidFill>
                <a:latin typeface="Calibri" pitchFamily="34" charset="0"/>
                <a:ea typeface="Calibri" pitchFamily="34" charset="-122"/>
                <a:cs typeface="Calibri" pitchFamily="34" charset="-120"/>
              </a:rPr>
              <a:t>Write one specific remediation sentence</a:t>
            </a:r>
            <a:endParaRPr lang="en-US" sz="1150" dirty="0"/>
          </a:p>
        </p:txBody>
      </p:sp>
      <p:sp>
        <p:nvSpPr>
          <p:cNvPr id="30" name="Text 27"/>
          <p:cNvSpPr txBox="1"/>
          <p:nvPr/>
        </p:nvSpPr>
        <p:spPr>
          <a:xfrm>
            <a:off x="2057400" y="5074920"/>
            <a:ext cx="8138160" cy="228600"/>
          </a:xfrm>
          <a:prstGeom prst="rect">
            <a:avLst/>
          </a:prstGeom>
          <a:noFill/>
          <a:ln/>
        </p:spPr>
        <p:txBody>
          <a:bodyPr wrap="square" lIns="508" tIns="508" rIns="508" bIns="508" rtlCol="0" anchor="ctr">
            <a:normAutofit/>
          </a:bodyPr>
          <a:lstStyle/>
          <a:p>
            <a:pPr algn="ctr" indent="0" marL="0">
              <a:buNone/>
            </a:pPr>
            <a:r>
              <a:rPr lang="en-US" sz="1700" b="1" dirty="0">
                <a:solidFill>
                  <a:srgbClr val="C0504D"/>
                </a:solidFill>
                <a:latin typeface="Calibri" pitchFamily="34" charset="0"/>
                <a:ea typeface="Calibri" pitchFamily="34" charset="-122"/>
                <a:cs typeface="Calibri" pitchFamily="34" charset="-120"/>
              </a:rPr>
              <a:t>Do not stretch a weak fit. Name the gap honestly.</a:t>
            </a:r>
            <a:endParaRPr lang="en-US" sz="17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VENDOR RISK</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Third-party access is still your risk decision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contract is part of the control plane.</a:t>
            </a:r>
            <a:endParaRPr lang="en-US" sz="1250" dirty="0"/>
          </a:p>
        </p:txBody>
      </p:sp>
      <p:sp>
        <p:nvSpPr>
          <p:cNvPr id="6" name="Shape 3"/>
          <p:cNvSpPr/>
          <p:nvPr/>
        </p:nvSpPr>
        <p:spPr>
          <a:xfrm>
            <a:off x="594360" y="2011680"/>
            <a:ext cx="2286000" cy="2148840"/>
          </a:xfrm>
          <a:prstGeom prst="roundRect">
            <a:avLst/>
          </a:prstGeom>
          <a:solidFill>
            <a:srgbClr val="FFFFFF"/>
          </a:solidFill>
          <a:ln w="12700">
            <a:solidFill>
              <a:srgbClr val="CBD5E1"/>
            </a:solidFill>
            <a:prstDash val="solid"/>
          </a:ln>
        </p:spPr>
      </p:sp>
      <p:sp>
        <p:nvSpPr>
          <p:cNvPr id="7" name="Shape 4"/>
          <p:cNvSpPr/>
          <p:nvPr/>
        </p:nvSpPr>
        <p:spPr>
          <a:xfrm>
            <a:off x="594360" y="2011680"/>
            <a:ext cx="2286000" cy="292608"/>
          </a:xfrm>
          <a:prstGeom prst="roundRect">
            <a:avLst/>
          </a:prstGeom>
          <a:solidFill>
            <a:srgbClr val="4BACC6"/>
          </a:solidFill>
          <a:ln w="12700">
            <a:solidFill>
              <a:srgbClr val="4BACC6"/>
            </a:solidFill>
            <a:prstDash val="solid"/>
          </a:ln>
        </p:spPr>
      </p:sp>
      <p:sp>
        <p:nvSpPr>
          <p:cNvPr id="8" name="Text 5"/>
          <p:cNvSpPr txBox="1"/>
          <p:nvPr/>
        </p:nvSpPr>
        <p:spPr>
          <a:xfrm>
            <a:off x="704088"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Before</a:t>
            </a:r>
            <a:endParaRPr lang="en-US" sz="1100" dirty="0"/>
          </a:p>
        </p:txBody>
      </p:sp>
      <p:sp>
        <p:nvSpPr>
          <p:cNvPr id="9" name="Text 6"/>
          <p:cNvSpPr txBox="1"/>
          <p:nvPr/>
        </p:nvSpPr>
        <p:spPr>
          <a:xfrm>
            <a:off x="704088"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SOC 2 or equivalent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MFA</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contract terms</a:t>
            </a:r>
            <a:endParaRPr lang="en-US" sz="1300" dirty="0"/>
          </a:p>
        </p:txBody>
      </p:sp>
      <p:sp>
        <p:nvSpPr>
          <p:cNvPr id="10" name="Shape 7"/>
          <p:cNvSpPr/>
          <p:nvPr/>
        </p:nvSpPr>
        <p:spPr>
          <a:xfrm>
            <a:off x="2990088" y="3035808"/>
            <a:ext cx="347472" cy="0"/>
          </a:xfrm>
          <a:prstGeom prst="line">
            <a:avLst/>
          </a:prstGeom>
          <a:noFill/>
          <a:ln w="25400">
            <a:solidFill>
              <a:srgbClr val="94A3B8"/>
            </a:solidFill>
            <a:prstDash val="solid"/>
            <a:headEnd type="none"/>
            <a:tailEnd type="triangle"/>
          </a:ln>
        </p:spPr>
      </p:sp>
      <p:sp>
        <p:nvSpPr>
          <p:cNvPr id="11" name="Shape 8"/>
          <p:cNvSpPr/>
          <p:nvPr/>
        </p:nvSpPr>
        <p:spPr>
          <a:xfrm>
            <a:off x="3447288" y="2011680"/>
            <a:ext cx="2286000" cy="2148840"/>
          </a:xfrm>
          <a:prstGeom prst="roundRect">
            <a:avLst/>
          </a:prstGeom>
          <a:solidFill>
            <a:srgbClr val="FFFFFF"/>
          </a:solidFill>
          <a:ln w="12700">
            <a:solidFill>
              <a:srgbClr val="CBD5E1"/>
            </a:solidFill>
            <a:prstDash val="solid"/>
          </a:ln>
        </p:spPr>
      </p:sp>
      <p:sp>
        <p:nvSpPr>
          <p:cNvPr id="12" name="Shape 9"/>
          <p:cNvSpPr/>
          <p:nvPr/>
        </p:nvSpPr>
        <p:spPr>
          <a:xfrm>
            <a:off x="3447288" y="2011680"/>
            <a:ext cx="2286000" cy="292608"/>
          </a:xfrm>
          <a:prstGeom prst="roundRect">
            <a:avLst/>
          </a:prstGeom>
          <a:solidFill>
            <a:srgbClr val="4F81BD"/>
          </a:solidFill>
          <a:ln w="12700">
            <a:solidFill>
              <a:srgbClr val="4F81BD"/>
            </a:solidFill>
            <a:prstDash val="solid"/>
          </a:ln>
        </p:spPr>
      </p:sp>
      <p:sp>
        <p:nvSpPr>
          <p:cNvPr id="13" name="Text 10"/>
          <p:cNvSpPr txBox="1"/>
          <p:nvPr/>
        </p:nvSpPr>
        <p:spPr>
          <a:xfrm>
            <a:off x="3557016"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During</a:t>
            </a:r>
            <a:endParaRPr lang="en-US" sz="1100" dirty="0"/>
          </a:p>
        </p:txBody>
      </p:sp>
      <p:sp>
        <p:nvSpPr>
          <p:cNvPr id="14" name="Text 11"/>
          <p:cNvSpPr txBox="1"/>
          <p:nvPr/>
        </p:nvSpPr>
        <p:spPr>
          <a:xfrm>
            <a:off x="3557016"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named account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jump host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recorded session</a:t>
            </a:r>
            <a:endParaRPr lang="en-US" sz="1300" dirty="0"/>
          </a:p>
        </p:txBody>
      </p:sp>
      <p:sp>
        <p:nvSpPr>
          <p:cNvPr id="15" name="Shape 12"/>
          <p:cNvSpPr/>
          <p:nvPr/>
        </p:nvSpPr>
        <p:spPr>
          <a:xfrm>
            <a:off x="5843016" y="3035808"/>
            <a:ext cx="347472" cy="0"/>
          </a:xfrm>
          <a:prstGeom prst="line">
            <a:avLst/>
          </a:prstGeom>
          <a:noFill/>
          <a:ln w="25400">
            <a:solidFill>
              <a:srgbClr val="94A3B8"/>
            </a:solidFill>
            <a:prstDash val="solid"/>
            <a:headEnd type="none"/>
            <a:tailEnd type="triangle"/>
          </a:ln>
        </p:spPr>
      </p:sp>
      <p:sp>
        <p:nvSpPr>
          <p:cNvPr id="16" name="Shape 13"/>
          <p:cNvSpPr/>
          <p:nvPr/>
        </p:nvSpPr>
        <p:spPr>
          <a:xfrm>
            <a:off x="6300216" y="2011680"/>
            <a:ext cx="2286000" cy="2148840"/>
          </a:xfrm>
          <a:prstGeom prst="roundRect">
            <a:avLst/>
          </a:prstGeom>
          <a:solidFill>
            <a:srgbClr val="FFFFFF"/>
          </a:solidFill>
          <a:ln w="12700">
            <a:solidFill>
              <a:srgbClr val="CBD5E1"/>
            </a:solidFill>
            <a:prstDash val="solid"/>
          </a:ln>
        </p:spPr>
      </p:sp>
      <p:sp>
        <p:nvSpPr>
          <p:cNvPr id="17" name="Shape 14"/>
          <p:cNvSpPr/>
          <p:nvPr/>
        </p:nvSpPr>
        <p:spPr>
          <a:xfrm>
            <a:off x="6300216" y="2011680"/>
            <a:ext cx="2286000" cy="292608"/>
          </a:xfrm>
          <a:prstGeom prst="roundRect">
            <a:avLst/>
          </a:prstGeom>
          <a:solidFill>
            <a:srgbClr val="F79646"/>
          </a:solidFill>
          <a:ln w="12700">
            <a:solidFill>
              <a:srgbClr val="F79646"/>
            </a:solidFill>
            <a:prstDash val="solid"/>
          </a:ln>
        </p:spPr>
      </p:sp>
      <p:sp>
        <p:nvSpPr>
          <p:cNvPr id="18" name="Text 15"/>
          <p:cNvSpPr txBox="1"/>
          <p:nvPr/>
        </p:nvSpPr>
        <p:spPr>
          <a:xfrm>
            <a:off x="6409944"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Review</a:t>
            </a:r>
            <a:endParaRPr lang="en-US" sz="1100" dirty="0"/>
          </a:p>
        </p:txBody>
      </p:sp>
      <p:sp>
        <p:nvSpPr>
          <p:cNvPr id="19" name="Text 16"/>
          <p:cNvSpPr txBox="1"/>
          <p:nvPr/>
        </p:nvSpPr>
        <p:spPr>
          <a:xfrm>
            <a:off x="6409944"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quarterly access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owner attestation</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incident triggers</a:t>
            </a:r>
            <a:endParaRPr lang="en-US" sz="1300" dirty="0"/>
          </a:p>
        </p:txBody>
      </p:sp>
      <p:sp>
        <p:nvSpPr>
          <p:cNvPr id="20" name="Shape 17"/>
          <p:cNvSpPr/>
          <p:nvPr/>
        </p:nvSpPr>
        <p:spPr>
          <a:xfrm>
            <a:off x="8695944" y="3035808"/>
            <a:ext cx="347472" cy="0"/>
          </a:xfrm>
          <a:prstGeom prst="line">
            <a:avLst/>
          </a:prstGeom>
          <a:noFill/>
          <a:ln w="25400">
            <a:solidFill>
              <a:srgbClr val="94A3B8"/>
            </a:solidFill>
            <a:prstDash val="solid"/>
            <a:headEnd type="none"/>
            <a:tailEnd type="triangle"/>
          </a:ln>
        </p:spPr>
      </p:sp>
      <p:sp>
        <p:nvSpPr>
          <p:cNvPr id="21" name="Shape 18"/>
          <p:cNvSpPr/>
          <p:nvPr/>
        </p:nvSpPr>
        <p:spPr>
          <a:xfrm>
            <a:off x="9153144" y="2011680"/>
            <a:ext cx="2286000" cy="2148840"/>
          </a:xfrm>
          <a:prstGeom prst="roundRect">
            <a:avLst/>
          </a:prstGeom>
          <a:solidFill>
            <a:srgbClr val="FFFFFF"/>
          </a:solidFill>
          <a:ln w="12700">
            <a:solidFill>
              <a:srgbClr val="CBD5E1"/>
            </a:solidFill>
            <a:prstDash val="solid"/>
          </a:ln>
        </p:spPr>
      </p:sp>
      <p:sp>
        <p:nvSpPr>
          <p:cNvPr id="22" name="Shape 19"/>
          <p:cNvSpPr/>
          <p:nvPr/>
        </p:nvSpPr>
        <p:spPr>
          <a:xfrm>
            <a:off x="9153144" y="2011680"/>
            <a:ext cx="2286000" cy="292608"/>
          </a:xfrm>
          <a:prstGeom prst="roundRect">
            <a:avLst/>
          </a:prstGeom>
          <a:solidFill>
            <a:srgbClr val="C0504D"/>
          </a:solidFill>
          <a:ln w="12700">
            <a:solidFill>
              <a:srgbClr val="C0504D"/>
            </a:solidFill>
            <a:prstDash val="solid"/>
          </a:ln>
        </p:spPr>
      </p:sp>
      <p:sp>
        <p:nvSpPr>
          <p:cNvPr id="23" name="Text 20"/>
          <p:cNvSpPr txBox="1"/>
          <p:nvPr/>
        </p:nvSpPr>
        <p:spPr>
          <a:xfrm>
            <a:off x="9262872"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End</a:t>
            </a:r>
            <a:endParaRPr lang="en-US" sz="1100" dirty="0"/>
          </a:p>
        </p:txBody>
      </p:sp>
      <p:sp>
        <p:nvSpPr>
          <p:cNvPr id="24" name="Text 21"/>
          <p:cNvSpPr txBox="1"/>
          <p:nvPr/>
        </p:nvSpPr>
        <p:spPr>
          <a:xfrm>
            <a:off x="9262872"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disable account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revoke keys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archive evidence</a:t>
            </a:r>
            <a:endParaRPr lang="en-US" sz="1300" dirty="0"/>
          </a:p>
        </p:txBody>
      </p:sp>
      <p:sp>
        <p:nvSpPr>
          <p:cNvPr id="25" name="Shape 22"/>
          <p:cNvSpPr/>
          <p:nvPr/>
        </p:nvSpPr>
        <p:spPr>
          <a:xfrm>
            <a:off x="1005840" y="4754880"/>
            <a:ext cx="10104120" cy="621792"/>
          </a:xfrm>
          <a:prstGeom prst="roundRect">
            <a:avLst/>
          </a:prstGeom>
          <a:solidFill>
            <a:srgbClr val="FFFFFF"/>
          </a:solidFill>
          <a:ln w="12700">
            <a:solidFill>
              <a:srgbClr val="F79646"/>
            </a:solidFill>
            <a:prstDash val="solid"/>
          </a:ln>
        </p:spPr>
      </p:sp>
      <p:sp>
        <p:nvSpPr>
          <p:cNvPr id="26" name="Shape 23"/>
          <p:cNvSpPr/>
          <p:nvPr/>
        </p:nvSpPr>
        <p:spPr>
          <a:xfrm>
            <a:off x="1005840" y="4754880"/>
            <a:ext cx="100584" cy="621792"/>
          </a:xfrm>
          <a:prstGeom prst="rect">
            <a:avLst/>
          </a:prstGeom>
          <a:solidFill>
            <a:srgbClr val="F79646"/>
          </a:solidFill>
          <a:ln w="12700">
            <a:solidFill>
              <a:srgbClr val="F79646"/>
            </a:solidFill>
            <a:prstDash val="solid"/>
          </a:ln>
        </p:spPr>
      </p:sp>
      <p:sp>
        <p:nvSpPr>
          <p:cNvPr id="27" name="Text 24"/>
          <p:cNvSpPr txBox="1"/>
          <p:nvPr/>
        </p:nvSpPr>
        <p:spPr>
          <a:xfrm>
            <a:off x="1243584" y="486460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Discussion</a:t>
            </a:r>
            <a:endParaRPr lang="en-US" sz="1400" dirty="0"/>
          </a:p>
        </p:txBody>
      </p:sp>
      <p:sp>
        <p:nvSpPr>
          <p:cNvPr id="28" name="Text 25"/>
          <p:cNvSpPr txBox="1"/>
          <p:nvPr/>
        </p:nvSpPr>
        <p:spPr>
          <a:xfrm>
            <a:off x="1243584" y="5166360"/>
            <a:ext cx="9756648" cy="11887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event should immediately revoke a vendor account?</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ZERO TRUST ALIGNMENT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Map the policy package to five pillars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good policy package admits where it is weak.</a:t>
            </a:r>
            <a:endParaRPr lang="en-US" sz="1250" dirty="0"/>
          </a:p>
        </p:txBody>
      </p:sp>
      <p:sp>
        <p:nvSpPr>
          <p:cNvPr id="6" name="Shape 3"/>
          <p:cNvSpPr/>
          <p:nvPr/>
        </p:nvSpPr>
        <p:spPr>
          <a:xfrm>
            <a:off x="777240" y="1700784"/>
            <a:ext cx="1828800" cy="457200"/>
          </a:xfrm>
          <a:prstGeom prst="roundRect">
            <a:avLst/>
          </a:prstGeom>
          <a:solidFill>
            <a:srgbClr val="4BACC6"/>
          </a:solidFill>
          <a:ln w="12700">
            <a:solidFill>
              <a:srgbClr val="4BACC6"/>
            </a:solidFill>
            <a:prstDash val="solid"/>
          </a:ln>
        </p:spPr>
      </p:sp>
      <p:sp>
        <p:nvSpPr>
          <p:cNvPr id="7" name="Text 4"/>
          <p:cNvSpPr txBox="1"/>
          <p:nvPr/>
        </p:nvSpPr>
        <p:spPr>
          <a:xfrm>
            <a:off x="896112" y="1837944"/>
            <a:ext cx="1591056"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Identity</a:t>
            </a:r>
            <a:endParaRPr lang="en-US" sz="1150" dirty="0"/>
          </a:p>
        </p:txBody>
      </p:sp>
      <p:sp>
        <p:nvSpPr>
          <p:cNvPr id="8" name="Shape 5"/>
          <p:cNvSpPr/>
          <p:nvPr/>
        </p:nvSpPr>
        <p:spPr>
          <a:xfrm>
            <a:off x="2880360" y="1700784"/>
            <a:ext cx="8001000" cy="457200"/>
          </a:xfrm>
          <a:prstGeom prst="roundRect">
            <a:avLst/>
          </a:prstGeom>
          <a:solidFill>
            <a:srgbClr val="FFFFFF"/>
          </a:solidFill>
          <a:ln w="12700">
            <a:solidFill>
              <a:srgbClr val="CBD5E1"/>
            </a:solidFill>
            <a:prstDash val="solid"/>
          </a:ln>
        </p:spPr>
      </p:sp>
      <p:sp>
        <p:nvSpPr>
          <p:cNvPr id="9" name="Text 6"/>
          <p:cNvSpPr txBox="1"/>
          <p:nvPr/>
        </p:nvSpPr>
        <p:spPr>
          <a:xfrm>
            <a:off x="3063240" y="1828800"/>
            <a:ext cx="763524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named accounts, MFA, employee terms</a:t>
            </a:r>
            <a:endParaRPr lang="en-US" sz="1250" dirty="0"/>
          </a:p>
        </p:txBody>
      </p:sp>
      <p:sp>
        <p:nvSpPr>
          <p:cNvPr id="10" name="Shape 7"/>
          <p:cNvSpPr/>
          <p:nvPr/>
        </p:nvSpPr>
        <p:spPr>
          <a:xfrm>
            <a:off x="777240" y="2359152"/>
            <a:ext cx="1828800" cy="457200"/>
          </a:xfrm>
          <a:prstGeom prst="roundRect">
            <a:avLst/>
          </a:prstGeom>
          <a:solidFill>
            <a:srgbClr val="4F81BD"/>
          </a:solidFill>
          <a:ln w="12700">
            <a:solidFill>
              <a:srgbClr val="4F81BD"/>
            </a:solidFill>
            <a:prstDash val="solid"/>
          </a:ln>
        </p:spPr>
      </p:sp>
      <p:sp>
        <p:nvSpPr>
          <p:cNvPr id="11" name="Text 8"/>
          <p:cNvSpPr txBox="1"/>
          <p:nvPr/>
        </p:nvSpPr>
        <p:spPr>
          <a:xfrm>
            <a:off x="896112" y="2496312"/>
            <a:ext cx="1591056"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Device</a:t>
            </a:r>
            <a:endParaRPr lang="en-US" sz="1150" dirty="0"/>
          </a:p>
        </p:txBody>
      </p:sp>
      <p:sp>
        <p:nvSpPr>
          <p:cNvPr id="12" name="Shape 9"/>
          <p:cNvSpPr/>
          <p:nvPr/>
        </p:nvSpPr>
        <p:spPr>
          <a:xfrm>
            <a:off x="2880360" y="2359152"/>
            <a:ext cx="8001000" cy="457200"/>
          </a:xfrm>
          <a:prstGeom prst="roundRect">
            <a:avLst/>
          </a:prstGeom>
          <a:solidFill>
            <a:srgbClr val="FFFFFF"/>
          </a:solidFill>
          <a:ln w="12700">
            <a:solidFill>
              <a:srgbClr val="CBD5E1"/>
            </a:solidFill>
            <a:prstDash val="solid"/>
          </a:ln>
        </p:spPr>
      </p:sp>
      <p:sp>
        <p:nvSpPr>
          <p:cNvPr id="13" name="Text 10"/>
          <p:cNvSpPr txBox="1"/>
          <p:nvPr/>
        </p:nvSpPr>
        <p:spPr>
          <a:xfrm>
            <a:off x="3063240" y="2487168"/>
            <a:ext cx="763524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MDM, EDR, encryption, lost-device response</a:t>
            </a:r>
            <a:endParaRPr lang="en-US" sz="1250" dirty="0"/>
          </a:p>
        </p:txBody>
      </p:sp>
      <p:sp>
        <p:nvSpPr>
          <p:cNvPr id="14" name="Shape 11"/>
          <p:cNvSpPr/>
          <p:nvPr/>
        </p:nvSpPr>
        <p:spPr>
          <a:xfrm>
            <a:off x="777240" y="3017520"/>
            <a:ext cx="1828800" cy="457200"/>
          </a:xfrm>
          <a:prstGeom prst="roundRect">
            <a:avLst/>
          </a:prstGeom>
          <a:solidFill>
            <a:srgbClr val="F79646"/>
          </a:solidFill>
          <a:ln w="12700">
            <a:solidFill>
              <a:srgbClr val="F79646"/>
            </a:solidFill>
            <a:prstDash val="solid"/>
          </a:ln>
        </p:spPr>
      </p:sp>
      <p:sp>
        <p:nvSpPr>
          <p:cNvPr id="15" name="Text 12"/>
          <p:cNvSpPr txBox="1"/>
          <p:nvPr/>
        </p:nvSpPr>
        <p:spPr>
          <a:xfrm>
            <a:off x="896112" y="3154680"/>
            <a:ext cx="1591056"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p>
        </p:txBody>
      </p:sp>
      <p:sp>
        <p:nvSpPr>
          <p:cNvPr id="16" name="Shape 13"/>
          <p:cNvSpPr/>
          <p:nvPr/>
        </p:nvSpPr>
        <p:spPr>
          <a:xfrm>
            <a:off x="2880360" y="3017520"/>
            <a:ext cx="8001000" cy="457200"/>
          </a:xfrm>
          <a:prstGeom prst="roundRect">
            <a:avLst/>
          </a:prstGeom>
          <a:solidFill>
            <a:srgbClr val="FFFFFF"/>
          </a:solidFill>
          <a:ln w="12700">
            <a:solidFill>
              <a:srgbClr val="CBD5E1"/>
            </a:solidFill>
            <a:prstDash val="solid"/>
          </a:ln>
        </p:spPr>
      </p:sp>
      <p:sp>
        <p:nvSpPr>
          <p:cNvPr id="17" name="Text 14"/>
          <p:cNvSpPr txBox="1"/>
          <p:nvPr/>
        </p:nvSpPr>
        <p:spPr>
          <a:xfrm>
            <a:off x="3063240" y="3145536"/>
            <a:ext cx="763524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VPN, VDI, jump host, segmentation</a:t>
            </a:r>
            <a:endParaRPr lang="en-US" sz="1250" dirty="0"/>
          </a:p>
        </p:txBody>
      </p:sp>
      <p:sp>
        <p:nvSpPr>
          <p:cNvPr id="18" name="Shape 15"/>
          <p:cNvSpPr/>
          <p:nvPr/>
        </p:nvSpPr>
        <p:spPr>
          <a:xfrm>
            <a:off x="777240" y="3675888"/>
            <a:ext cx="1828800" cy="457200"/>
          </a:xfrm>
          <a:prstGeom prst="roundRect">
            <a:avLst/>
          </a:prstGeom>
          <a:solidFill>
            <a:srgbClr val="8064A2"/>
          </a:solidFill>
          <a:ln w="12700">
            <a:solidFill>
              <a:srgbClr val="8064A2"/>
            </a:solidFill>
            <a:prstDash val="solid"/>
          </a:ln>
        </p:spPr>
      </p:sp>
      <p:sp>
        <p:nvSpPr>
          <p:cNvPr id="19" name="Text 16"/>
          <p:cNvSpPr txBox="1"/>
          <p:nvPr/>
        </p:nvSpPr>
        <p:spPr>
          <a:xfrm>
            <a:off x="896112" y="3813048"/>
            <a:ext cx="1591056"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Application</a:t>
            </a:r>
            <a:endParaRPr lang="en-US" sz="1150" dirty="0"/>
          </a:p>
        </p:txBody>
      </p:sp>
      <p:sp>
        <p:nvSpPr>
          <p:cNvPr id="20" name="Shape 17"/>
          <p:cNvSpPr/>
          <p:nvPr/>
        </p:nvSpPr>
        <p:spPr>
          <a:xfrm>
            <a:off x="2880360" y="3675888"/>
            <a:ext cx="8001000" cy="457200"/>
          </a:xfrm>
          <a:prstGeom prst="roundRect">
            <a:avLst/>
          </a:prstGeom>
          <a:solidFill>
            <a:srgbClr val="FFFFFF"/>
          </a:solidFill>
          <a:ln w="12700">
            <a:solidFill>
              <a:srgbClr val="CBD5E1"/>
            </a:solidFill>
            <a:prstDash val="solid"/>
          </a:ln>
        </p:spPr>
      </p:sp>
      <p:sp>
        <p:nvSpPr>
          <p:cNvPr id="21" name="Text 18"/>
          <p:cNvSpPr txBox="1"/>
          <p:nvPr/>
        </p:nvSpPr>
        <p:spPr>
          <a:xfrm>
            <a:off x="3063240" y="3803904"/>
            <a:ext cx="763524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least privilege, session recording, command scope</a:t>
            </a:r>
            <a:endParaRPr lang="en-US" sz="1250" dirty="0"/>
          </a:p>
        </p:txBody>
      </p:sp>
      <p:sp>
        <p:nvSpPr>
          <p:cNvPr id="22" name="Shape 19"/>
          <p:cNvSpPr/>
          <p:nvPr/>
        </p:nvSpPr>
        <p:spPr>
          <a:xfrm>
            <a:off x="777240" y="4334256"/>
            <a:ext cx="1828800" cy="457200"/>
          </a:xfrm>
          <a:prstGeom prst="roundRect">
            <a:avLst/>
          </a:prstGeom>
          <a:solidFill>
            <a:srgbClr val="70AD47"/>
          </a:solidFill>
          <a:ln w="12700">
            <a:solidFill>
              <a:srgbClr val="70AD47"/>
            </a:solidFill>
            <a:prstDash val="solid"/>
          </a:ln>
        </p:spPr>
      </p:sp>
      <p:sp>
        <p:nvSpPr>
          <p:cNvPr id="23" name="Text 20"/>
          <p:cNvSpPr txBox="1"/>
          <p:nvPr/>
        </p:nvSpPr>
        <p:spPr>
          <a:xfrm>
            <a:off x="896112" y="4471416"/>
            <a:ext cx="1591056"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Data</a:t>
            </a:r>
            <a:endParaRPr lang="en-US" sz="1150" dirty="0"/>
          </a:p>
        </p:txBody>
      </p:sp>
      <p:sp>
        <p:nvSpPr>
          <p:cNvPr id="24" name="Shape 21"/>
          <p:cNvSpPr/>
          <p:nvPr/>
        </p:nvSpPr>
        <p:spPr>
          <a:xfrm>
            <a:off x="2880360" y="4334256"/>
            <a:ext cx="8001000" cy="457200"/>
          </a:xfrm>
          <a:prstGeom prst="roundRect">
            <a:avLst/>
          </a:prstGeom>
          <a:solidFill>
            <a:srgbClr val="FFFFFF"/>
          </a:solidFill>
          <a:ln w="12700">
            <a:solidFill>
              <a:srgbClr val="CBD5E1"/>
            </a:solidFill>
            <a:prstDash val="solid"/>
          </a:ln>
        </p:spPr>
      </p:sp>
      <p:sp>
        <p:nvSpPr>
          <p:cNvPr id="25" name="Text 22"/>
          <p:cNvSpPr txBox="1"/>
          <p:nvPr/>
        </p:nvSpPr>
        <p:spPr>
          <a:xfrm>
            <a:off x="3063240" y="4462272"/>
            <a:ext cx="7635240" cy="182880"/>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classification, NPI restrictions, vendor agreements</a:t>
            </a:r>
            <a:endParaRPr lang="en-US" sz="1250" dirty="0"/>
          </a:p>
        </p:txBody>
      </p:sp>
      <p:sp>
        <p:nvSpPr>
          <p:cNvPr id="26" name="Shape 23"/>
          <p:cNvSpPr/>
          <p:nvPr/>
        </p:nvSpPr>
        <p:spPr>
          <a:xfrm>
            <a:off x="2011680" y="4983480"/>
            <a:ext cx="8138160" cy="274320"/>
          </a:xfrm>
          <a:prstGeom prst="roundRect">
            <a:avLst/>
          </a:prstGeom>
          <a:solidFill>
            <a:srgbClr val="C0504D"/>
          </a:solidFill>
          <a:ln w="12700">
            <a:solidFill>
              <a:srgbClr val="C0504D"/>
            </a:solidFill>
            <a:prstDash val="solid"/>
          </a:ln>
        </p:spPr>
      </p:sp>
      <p:sp>
        <p:nvSpPr>
          <p:cNvPr id="27" name="Text 24"/>
          <p:cNvSpPr txBox="1"/>
          <p:nvPr/>
        </p:nvSpPr>
        <p:spPr>
          <a:xfrm>
            <a:off x="2084832" y="5001768"/>
            <a:ext cx="799185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NAME THE WEAKEST PILLAR AND ADD THE MISSING CONTROL</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EXCEPTIONS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exception is a time-bounded risk decision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“We cannot meet the control” is the beginning of the form, not the end.</a:t>
            </a:r>
            <a:endParaRPr lang="en-US" sz="1250" dirty="0"/>
          </a:p>
        </p:txBody>
      </p:sp>
      <p:sp>
        <p:nvSpPr>
          <p:cNvPr id="6" name="Shape 3"/>
          <p:cNvSpPr/>
          <p:nvPr/>
        </p:nvSpPr>
        <p:spPr>
          <a:xfrm>
            <a:off x="1344168" y="187452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Request</a:t>
            </a:r>
            <a:endParaRPr lang="en-US" sz="1700" dirty="0"/>
          </a:p>
        </p:txBody>
      </p:sp>
      <p:sp>
        <p:nvSpPr>
          <p:cNvPr id="9" name="Text 6"/>
          <p:cNvSpPr txBox="1"/>
          <p:nvPr/>
        </p:nvSpPr>
        <p:spPr>
          <a:xfrm>
            <a:off x="594360"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cannot be met?</a:t>
            </a:r>
            <a:endParaRPr lang="en-US" sz="1250" dirty="0"/>
          </a:p>
        </p:txBody>
      </p:sp>
      <p:sp>
        <p:nvSpPr>
          <p:cNvPr id="10" name="Shape 7"/>
          <p:cNvSpPr/>
          <p:nvPr/>
        </p:nvSpPr>
        <p:spPr>
          <a:xfrm>
            <a:off x="2011680" y="2157984"/>
            <a:ext cx="640080" cy="0"/>
          </a:xfrm>
          <a:prstGeom prst="line">
            <a:avLst/>
          </a:prstGeom>
          <a:noFill/>
          <a:ln w="25400">
            <a:solidFill>
              <a:srgbClr val="94A3B8"/>
            </a:solidFill>
            <a:prstDash val="solid"/>
            <a:headEnd type="none"/>
            <a:tailEnd type="triangle"/>
          </a:ln>
        </p:spPr>
      </p:sp>
      <p:sp>
        <p:nvSpPr>
          <p:cNvPr id="11" name="Shape 8"/>
          <p:cNvSpPr/>
          <p:nvPr/>
        </p:nvSpPr>
        <p:spPr>
          <a:xfrm>
            <a:off x="3648456" y="1874520"/>
            <a:ext cx="566928" cy="566928"/>
          </a:xfrm>
          <a:prstGeom prst="ellipse">
            <a:avLst/>
          </a:prstGeom>
          <a:solidFill>
            <a:srgbClr val="F79646"/>
          </a:solidFill>
          <a:ln w="12700">
            <a:solidFill>
              <a:srgbClr val="F79646"/>
            </a:solidFill>
            <a:prstDash val="solid"/>
          </a:ln>
        </p:spPr>
      </p:sp>
      <p:sp>
        <p:nvSpPr>
          <p:cNvPr id="12" name="Text 9"/>
          <p:cNvSpPr txBox="1"/>
          <p:nvPr/>
        </p:nvSpPr>
        <p:spPr>
          <a:xfrm>
            <a:off x="3648456"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Assess</a:t>
            </a:r>
            <a:endParaRPr lang="en-US" sz="1700" dirty="0"/>
          </a:p>
        </p:txBody>
      </p:sp>
      <p:sp>
        <p:nvSpPr>
          <p:cNvPr id="14" name="Text 11"/>
          <p:cNvSpPr txBox="1"/>
          <p:nvPr/>
        </p:nvSpPr>
        <p:spPr>
          <a:xfrm>
            <a:off x="2898648"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likelihood and impact</a:t>
            </a:r>
            <a:endParaRPr lang="en-US" sz="1250" dirty="0"/>
          </a:p>
        </p:txBody>
      </p:sp>
      <p:sp>
        <p:nvSpPr>
          <p:cNvPr id="15" name="Shape 12"/>
          <p:cNvSpPr/>
          <p:nvPr/>
        </p:nvSpPr>
        <p:spPr>
          <a:xfrm>
            <a:off x="4315968" y="2157984"/>
            <a:ext cx="640080" cy="0"/>
          </a:xfrm>
          <a:prstGeom prst="line">
            <a:avLst/>
          </a:prstGeom>
          <a:noFill/>
          <a:ln w="25400">
            <a:solidFill>
              <a:srgbClr val="94A3B8"/>
            </a:solidFill>
            <a:prstDash val="solid"/>
            <a:headEnd type="none"/>
            <a:tailEnd type="triangle"/>
          </a:ln>
        </p:spPr>
      </p:sp>
      <p:sp>
        <p:nvSpPr>
          <p:cNvPr id="16" name="Shape 13"/>
          <p:cNvSpPr/>
          <p:nvPr/>
        </p:nvSpPr>
        <p:spPr>
          <a:xfrm>
            <a:off x="5952744" y="1874520"/>
            <a:ext cx="566928" cy="566928"/>
          </a:xfrm>
          <a:prstGeom prst="ellipse">
            <a:avLst/>
          </a:prstGeom>
          <a:solidFill>
            <a:srgbClr val="4F81BD"/>
          </a:solidFill>
          <a:ln w="12700">
            <a:solidFill>
              <a:srgbClr val="4F81BD"/>
            </a:solidFill>
            <a:prstDash val="solid"/>
          </a:ln>
        </p:spPr>
      </p:sp>
      <p:sp>
        <p:nvSpPr>
          <p:cNvPr id="17" name="Text 14"/>
          <p:cNvSpPr txBox="1"/>
          <p:nvPr/>
        </p:nvSpPr>
        <p:spPr>
          <a:xfrm>
            <a:off x="5952744"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Offset</a:t>
            </a:r>
            <a:endParaRPr lang="en-US" sz="1700" dirty="0"/>
          </a:p>
        </p:txBody>
      </p:sp>
      <p:sp>
        <p:nvSpPr>
          <p:cNvPr id="19" name="Text 16"/>
          <p:cNvSpPr txBox="1"/>
          <p:nvPr/>
        </p:nvSpPr>
        <p:spPr>
          <a:xfrm>
            <a:off x="5202936"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compensating controls</a:t>
            </a:r>
            <a:endParaRPr lang="en-US" sz="1250" dirty="0"/>
          </a:p>
        </p:txBody>
      </p:sp>
      <p:sp>
        <p:nvSpPr>
          <p:cNvPr id="20" name="Shape 17"/>
          <p:cNvSpPr/>
          <p:nvPr/>
        </p:nvSpPr>
        <p:spPr>
          <a:xfrm>
            <a:off x="6620256" y="2157984"/>
            <a:ext cx="640080" cy="0"/>
          </a:xfrm>
          <a:prstGeom prst="line">
            <a:avLst/>
          </a:prstGeom>
          <a:noFill/>
          <a:ln w="25400">
            <a:solidFill>
              <a:srgbClr val="94A3B8"/>
            </a:solidFill>
            <a:prstDash val="solid"/>
            <a:headEnd type="none"/>
            <a:tailEnd type="triangle"/>
          </a:ln>
        </p:spPr>
      </p:sp>
      <p:sp>
        <p:nvSpPr>
          <p:cNvPr id="21" name="Shape 18"/>
          <p:cNvSpPr/>
          <p:nvPr/>
        </p:nvSpPr>
        <p:spPr>
          <a:xfrm>
            <a:off x="8257032" y="187452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57032"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Approve</a:t>
            </a:r>
            <a:endParaRPr lang="en-US" sz="1700" dirty="0"/>
          </a:p>
        </p:txBody>
      </p:sp>
      <p:sp>
        <p:nvSpPr>
          <p:cNvPr id="24" name="Text 21"/>
          <p:cNvSpPr txBox="1"/>
          <p:nvPr/>
        </p:nvSpPr>
        <p:spPr>
          <a:xfrm>
            <a:off x="7507224"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risk owner signs</a:t>
            </a:r>
            <a:endParaRPr lang="en-US" sz="1250" dirty="0"/>
          </a:p>
        </p:txBody>
      </p:sp>
      <p:sp>
        <p:nvSpPr>
          <p:cNvPr id="25" name="Shape 22"/>
          <p:cNvSpPr/>
          <p:nvPr/>
        </p:nvSpPr>
        <p:spPr>
          <a:xfrm>
            <a:off x="8924544" y="2157984"/>
            <a:ext cx="640080" cy="0"/>
          </a:xfrm>
          <a:prstGeom prst="line">
            <a:avLst/>
          </a:prstGeom>
          <a:noFill/>
          <a:ln w="25400">
            <a:solidFill>
              <a:srgbClr val="94A3B8"/>
            </a:solidFill>
            <a:prstDash val="solid"/>
            <a:headEnd type="none"/>
            <a:tailEnd type="triangle"/>
          </a:ln>
        </p:spPr>
      </p:sp>
      <p:sp>
        <p:nvSpPr>
          <p:cNvPr id="26" name="Shape 23"/>
          <p:cNvSpPr/>
          <p:nvPr/>
        </p:nvSpPr>
        <p:spPr>
          <a:xfrm>
            <a:off x="10561320" y="1874520"/>
            <a:ext cx="566928" cy="566928"/>
          </a:xfrm>
          <a:prstGeom prst="ellipse">
            <a:avLst/>
          </a:prstGeom>
          <a:solidFill>
            <a:srgbClr val="C0504D"/>
          </a:solidFill>
          <a:ln w="12700">
            <a:solidFill>
              <a:srgbClr val="C0504D"/>
            </a:solidFill>
            <a:prstDash val="solid"/>
          </a:ln>
        </p:spPr>
      </p:sp>
      <p:sp>
        <p:nvSpPr>
          <p:cNvPr id="27" name="Text 24"/>
          <p:cNvSpPr txBox="1"/>
          <p:nvPr/>
        </p:nvSpPr>
        <p:spPr>
          <a:xfrm>
            <a:off x="10561320"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Expire</a:t>
            </a:r>
            <a:endParaRPr lang="en-US" sz="1700" dirty="0"/>
          </a:p>
        </p:txBody>
      </p:sp>
      <p:sp>
        <p:nvSpPr>
          <p:cNvPr id="29" name="Text 26"/>
          <p:cNvSpPr txBox="1"/>
          <p:nvPr/>
        </p:nvSpPr>
        <p:spPr>
          <a:xfrm>
            <a:off x="9811512"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review or close</a:t>
            </a:r>
            <a:endParaRPr lang="en-US" sz="1250" dirty="0"/>
          </a:p>
        </p:txBody>
      </p:sp>
      <p:sp>
        <p:nvSpPr>
          <p:cNvPr id="30" name="Shape 27"/>
          <p:cNvSpPr/>
          <p:nvPr/>
        </p:nvSpPr>
        <p:spPr>
          <a:xfrm>
            <a:off x="2743200" y="4754880"/>
            <a:ext cx="6720840" cy="274320"/>
          </a:xfrm>
          <a:prstGeom prst="roundRect">
            <a:avLst/>
          </a:prstGeom>
          <a:solidFill>
            <a:srgbClr val="C0504D"/>
          </a:solidFill>
          <a:ln w="12700">
            <a:solidFill>
              <a:srgbClr val="C0504D"/>
            </a:solidFill>
            <a:prstDash val="solid"/>
          </a:ln>
        </p:spPr>
      </p:sp>
      <p:sp>
        <p:nvSpPr>
          <p:cNvPr id="31" name="Text 28"/>
          <p:cNvSpPr txBox="1"/>
          <p:nvPr/>
        </p:nvSpPr>
        <p:spPr>
          <a:xfrm>
            <a:off x="2816352" y="4773168"/>
            <a:ext cx="657453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EXCEPTION ≠ EXEMPTION FROM ACCOUNTABILITY</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EXCEPTION EXERCISE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Worked example: build server without full-disk encryption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Business pressure changes the control choice, not the need for accountability.</a:t>
            </a:r>
            <a:endParaRPr lang="en-US" sz="1250" dirty="0"/>
          </a:p>
        </p:txBody>
      </p:sp>
      <p:sp>
        <p:nvSpPr>
          <p:cNvPr id="6" name="Shape 3"/>
          <p:cNvSpPr/>
          <p:nvPr/>
        </p:nvSpPr>
        <p:spPr>
          <a:xfrm>
            <a:off x="777240" y="1828800"/>
            <a:ext cx="4800600" cy="987552"/>
          </a:xfrm>
          <a:prstGeom prst="roundRect">
            <a:avLst/>
          </a:prstGeom>
          <a:solidFill>
            <a:srgbClr val="FFFFFF"/>
          </a:solidFill>
          <a:ln w="12700">
            <a:solidFill>
              <a:srgbClr val="C0504D"/>
            </a:solidFill>
            <a:prstDash val="solid"/>
          </a:ln>
        </p:spPr>
      </p:sp>
      <p:sp>
        <p:nvSpPr>
          <p:cNvPr id="7" name="Shape 4"/>
          <p:cNvSpPr/>
          <p:nvPr/>
        </p:nvSpPr>
        <p:spPr>
          <a:xfrm>
            <a:off x="777240" y="1828800"/>
            <a:ext cx="100584" cy="987552"/>
          </a:xfrm>
          <a:prstGeom prst="rect">
            <a:avLst/>
          </a:prstGeom>
          <a:solidFill>
            <a:srgbClr val="C0504D"/>
          </a:solidFill>
          <a:ln w="12700">
            <a:solidFill>
              <a:srgbClr val="C0504D"/>
            </a:solidFill>
            <a:prstDash val="solid"/>
          </a:ln>
        </p:spPr>
      </p:sp>
      <p:sp>
        <p:nvSpPr>
          <p:cNvPr id="8" name="Text 5"/>
          <p:cNvSpPr txBox="1"/>
          <p:nvPr/>
        </p:nvSpPr>
        <p:spPr>
          <a:xfrm>
            <a:off x="1014984" y="193852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Requirement</a:t>
            </a:r>
            <a:endParaRPr lang="en-US" sz="1400" dirty="0"/>
          </a:p>
        </p:txBody>
      </p:sp>
      <p:sp>
        <p:nvSpPr>
          <p:cNvPr id="9" name="Text 6"/>
          <p:cNvSpPr txBox="1"/>
          <p:nvPr/>
        </p:nvSpPr>
        <p:spPr>
          <a:xfrm>
            <a:off x="1014984" y="2240280"/>
            <a:ext cx="445312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full-disk encryption</a:t>
            </a:r>
            <a:endParaRPr lang="en-US" sz="1250" dirty="0"/>
          </a:p>
        </p:txBody>
      </p:sp>
      <p:sp>
        <p:nvSpPr>
          <p:cNvPr id="10" name="Shape 7"/>
          <p:cNvSpPr/>
          <p:nvPr/>
        </p:nvSpPr>
        <p:spPr>
          <a:xfrm>
            <a:off x="6309360" y="1828800"/>
            <a:ext cx="4800600" cy="987552"/>
          </a:xfrm>
          <a:prstGeom prst="roundRect">
            <a:avLst/>
          </a:prstGeom>
          <a:solidFill>
            <a:srgbClr val="FFFFFF"/>
          </a:solidFill>
          <a:ln w="12700">
            <a:solidFill>
              <a:srgbClr val="F79646"/>
            </a:solidFill>
            <a:prstDash val="solid"/>
          </a:ln>
        </p:spPr>
      </p:sp>
      <p:sp>
        <p:nvSpPr>
          <p:cNvPr id="11" name="Shape 8"/>
          <p:cNvSpPr/>
          <p:nvPr/>
        </p:nvSpPr>
        <p:spPr>
          <a:xfrm>
            <a:off x="6309360" y="1828800"/>
            <a:ext cx="100584" cy="987552"/>
          </a:xfrm>
          <a:prstGeom prst="rect">
            <a:avLst/>
          </a:prstGeom>
          <a:solidFill>
            <a:srgbClr val="F79646"/>
          </a:solidFill>
          <a:ln w="12700">
            <a:solidFill>
              <a:srgbClr val="F79646"/>
            </a:solidFill>
            <a:prstDash val="solid"/>
          </a:ln>
        </p:spPr>
      </p:sp>
      <p:sp>
        <p:nvSpPr>
          <p:cNvPr id="12" name="Text 9"/>
          <p:cNvSpPr txBox="1"/>
          <p:nvPr/>
        </p:nvSpPr>
        <p:spPr>
          <a:xfrm>
            <a:off x="6547104" y="193852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Reason</a:t>
            </a:r>
            <a:endParaRPr lang="en-US" sz="1400" dirty="0"/>
          </a:p>
        </p:txBody>
      </p:sp>
      <p:sp>
        <p:nvSpPr>
          <p:cNvPr id="13" name="Text 10"/>
          <p:cNvSpPr txBox="1"/>
          <p:nvPr/>
        </p:nvSpPr>
        <p:spPr>
          <a:xfrm>
            <a:off x="6547104" y="2240280"/>
            <a:ext cx="445312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performance and CI/CD SLA</a:t>
            </a:r>
            <a:endParaRPr lang="en-US" sz="1250" dirty="0"/>
          </a:p>
        </p:txBody>
      </p:sp>
      <p:sp>
        <p:nvSpPr>
          <p:cNvPr id="14" name="Shape 11"/>
          <p:cNvSpPr/>
          <p:nvPr/>
        </p:nvSpPr>
        <p:spPr>
          <a:xfrm>
            <a:off x="777240" y="3154680"/>
            <a:ext cx="4800600" cy="987552"/>
          </a:xfrm>
          <a:prstGeom prst="roundRect">
            <a:avLst/>
          </a:prstGeom>
          <a:solidFill>
            <a:srgbClr val="FFFFFF"/>
          </a:solidFill>
          <a:ln w="12700">
            <a:solidFill>
              <a:srgbClr val="4F81BD"/>
            </a:solidFill>
            <a:prstDash val="solid"/>
          </a:ln>
        </p:spPr>
      </p:sp>
      <p:sp>
        <p:nvSpPr>
          <p:cNvPr id="15" name="Shape 12"/>
          <p:cNvSpPr/>
          <p:nvPr/>
        </p:nvSpPr>
        <p:spPr>
          <a:xfrm>
            <a:off x="777240" y="3154680"/>
            <a:ext cx="100584" cy="987552"/>
          </a:xfrm>
          <a:prstGeom prst="rect">
            <a:avLst/>
          </a:prstGeom>
          <a:solidFill>
            <a:srgbClr val="4F81BD"/>
          </a:solidFill>
          <a:ln w="12700">
            <a:solidFill>
              <a:srgbClr val="4F81BD"/>
            </a:solidFill>
            <a:prstDash val="solid"/>
          </a:ln>
        </p:spPr>
      </p:sp>
      <p:sp>
        <p:nvSpPr>
          <p:cNvPr id="16" name="Text 13"/>
          <p:cNvSpPr txBox="1"/>
          <p:nvPr/>
        </p:nvSpPr>
        <p:spPr>
          <a:xfrm>
            <a:off x="1014984" y="326440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Controls</a:t>
            </a:r>
            <a:endParaRPr lang="en-US" sz="1400" dirty="0"/>
          </a:p>
        </p:txBody>
      </p:sp>
      <p:sp>
        <p:nvSpPr>
          <p:cNvPr id="17" name="Text 14"/>
          <p:cNvSpPr txBox="1"/>
          <p:nvPr/>
        </p:nvSpPr>
        <p:spPr>
          <a:xfrm>
            <a:off x="1014984" y="3566160"/>
            <a:ext cx="445312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isolation, logging, physical access, encrypted data</a:t>
            </a:r>
            <a:endParaRPr lang="en-US" sz="1250" dirty="0"/>
          </a:p>
        </p:txBody>
      </p:sp>
      <p:sp>
        <p:nvSpPr>
          <p:cNvPr id="18" name="Shape 15"/>
          <p:cNvSpPr/>
          <p:nvPr/>
        </p:nvSpPr>
        <p:spPr>
          <a:xfrm>
            <a:off x="6309360" y="3154680"/>
            <a:ext cx="4800600" cy="987552"/>
          </a:xfrm>
          <a:prstGeom prst="roundRect">
            <a:avLst/>
          </a:prstGeom>
          <a:solidFill>
            <a:srgbClr val="FFFFFF"/>
          </a:solidFill>
          <a:ln w="12700">
            <a:solidFill>
              <a:srgbClr val="70AD47"/>
            </a:solidFill>
            <a:prstDash val="solid"/>
          </a:ln>
        </p:spPr>
      </p:sp>
      <p:sp>
        <p:nvSpPr>
          <p:cNvPr id="19" name="Shape 16"/>
          <p:cNvSpPr/>
          <p:nvPr/>
        </p:nvSpPr>
        <p:spPr>
          <a:xfrm>
            <a:off x="6309360" y="3154680"/>
            <a:ext cx="100584" cy="987552"/>
          </a:xfrm>
          <a:prstGeom prst="rect">
            <a:avLst/>
          </a:prstGeom>
          <a:solidFill>
            <a:srgbClr val="70AD47"/>
          </a:solidFill>
          <a:ln w="12700">
            <a:solidFill>
              <a:srgbClr val="70AD47"/>
            </a:solidFill>
            <a:prstDash val="solid"/>
          </a:ln>
        </p:spPr>
      </p:sp>
      <p:sp>
        <p:nvSpPr>
          <p:cNvPr id="20" name="Text 17"/>
          <p:cNvSpPr txBox="1"/>
          <p:nvPr/>
        </p:nvSpPr>
        <p:spPr>
          <a:xfrm>
            <a:off x="6547104" y="326440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Decision</a:t>
            </a:r>
            <a:endParaRPr lang="en-US" sz="1400" dirty="0"/>
          </a:p>
        </p:txBody>
      </p:sp>
      <p:sp>
        <p:nvSpPr>
          <p:cNvPr id="21" name="Text 18"/>
          <p:cNvSpPr txBox="1"/>
          <p:nvPr/>
        </p:nvSpPr>
        <p:spPr>
          <a:xfrm>
            <a:off x="6547104" y="3566160"/>
            <a:ext cx="4453128" cy="48463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named approver, residual risk, expiry date</a:t>
            </a:r>
            <a:endParaRPr lang="en-US" sz="1250" dirty="0"/>
          </a:p>
        </p:txBody>
      </p:sp>
      <p:sp>
        <p:nvSpPr>
          <p:cNvPr id="22" name="Shape 19"/>
          <p:cNvSpPr/>
          <p:nvPr/>
        </p:nvSpPr>
        <p:spPr>
          <a:xfrm>
            <a:off x="3154680" y="5029200"/>
            <a:ext cx="5806440" cy="274320"/>
          </a:xfrm>
          <a:prstGeom prst="roundRect">
            <a:avLst/>
          </a:prstGeom>
          <a:solidFill>
            <a:srgbClr val="F79646"/>
          </a:solidFill>
          <a:ln w="12700">
            <a:solidFill>
              <a:srgbClr val="F79646"/>
            </a:solidFill>
            <a:prstDash val="solid"/>
          </a:ln>
        </p:spPr>
      </p:sp>
      <p:sp>
        <p:nvSpPr>
          <p:cNvPr id="23" name="Text 20"/>
          <p:cNvSpPr txBox="1"/>
          <p:nvPr/>
        </p:nvSpPr>
        <p:spPr>
          <a:xfrm>
            <a:off x="3227832" y="5047488"/>
            <a:ext cx="566013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DISCUSS · APPROVE, REJECT, OR REDESIGN?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LIFECYCLE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Policy maintenance is an operational control</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policy that is never reviewed becomes a historical document.</a:t>
            </a:r>
            <a:endParaRPr lang="en-US" sz="1250" dirty="0"/>
          </a:p>
        </p:txBody>
      </p:sp>
      <p:sp>
        <p:nvSpPr>
          <p:cNvPr id="6" name="Shape 3"/>
          <p:cNvSpPr/>
          <p:nvPr/>
        </p:nvSpPr>
        <p:spPr>
          <a:xfrm>
            <a:off x="5696712" y="1444752"/>
            <a:ext cx="768096" cy="768096"/>
          </a:xfrm>
          <a:prstGeom prst="ellipse">
            <a:avLst/>
          </a:prstGeom>
          <a:solidFill>
            <a:srgbClr val="4BACC6"/>
          </a:solidFill>
          <a:ln w="12700">
            <a:solidFill>
              <a:srgbClr val="4BACC6"/>
            </a:solidFill>
            <a:prstDash val="solid"/>
          </a:ln>
        </p:spPr>
      </p:sp>
      <p:sp>
        <p:nvSpPr>
          <p:cNvPr id="7" name="Text 4"/>
          <p:cNvSpPr txBox="1"/>
          <p:nvPr/>
        </p:nvSpPr>
        <p:spPr>
          <a:xfrm>
            <a:off x="5394960" y="2395728"/>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Draft</a:t>
            </a:r>
            <a:endParaRPr lang="en-US" sz="1400" dirty="0"/>
          </a:p>
        </p:txBody>
      </p:sp>
      <p:sp>
        <p:nvSpPr>
          <p:cNvPr id="8" name="Text 5"/>
          <p:cNvSpPr txBox="1"/>
          <p:nvPr/>
        </p:nvSpPr>
        <p:spPr>
          <a:xfrm>
            <a:off x="5303520" y="2697480"/>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owner writes</a:t>
            </a:r>
            <a:endParaRPr lang="en-US" sz="1050" dirty="0"/>
          </a:p>
        </p:txBody>
      </p:sp>
      <p:sp>
        <p:nvSpPr>
          <p:cNvPr id="9" name="Shape 6"/>
          <p:cNvSpPr/>
          <p:nvPr/>
        </p:nvSpPr>
        <p:spPr>
          <a:xfrm>
            <a:off x="8392615" y="2360913"/>
            <a:ext cx="768096" cy="768096"/>
          </a:xfrm>
          <a:prstGeom prst="ellipse">
            <a:avLst/>
          </a:prstGeom>
          <a:solidFill>
            <a:srgbClr val="4F81BD"/>
          </a:solidFill>
          <a:ln w="12700">
            <a:solidFill>
              <a:srgbClr val="4F81BD"/>
            </a:solidFill>
            <a:prstDash val="solid"/>
          </a:ln>
        </p:spPr>
      </p:sp>
      <p:sp>
        <p:nvSpPr>
          <p:cNvPr id="10" name="Text 7"/>
          <p:cNvSpPr txBox="1"/>
          <p:nvPr/>
        </p:nvSpPr>
        <p:spPr>
          <a:xfrm>
            <a:off x="8090863" y="3311889"/>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Approve</a:t>
            </a:r>
            <a:endParaRPr lang="en-US" sz="1400" dirty="0"/>
          </a:p>
        </p:txBody>
      </p:sp>
      <p:sp>
        <p:nvSpPr>
          <p:cNvPr id="11" name="Text 8"/>
          <p:cNvSpPr txBox="1"/>
          <p:nvPr/>
        </p:nvSpPr>
        <p:spPr>
          <a:xfrm>
            <a:off x="7999423" y="3613641"/>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risk owner signs</a:t>
            </a:r>
            <a:endParaRPr lang="en-US" sz="1050" dirty="0"/>
          </a:p>
        </p:txBody>
      </p:sp>
      <p:sp>
        <p:nvSpPr>
          <p:cNvPr id="12" name="Shape 9"/>
          <p:cNvSpPr/>
          <p:nvPr/>
        </p:nvSpPr>
        <p:spPr>
          <a:xfrm>
            <a:off x="7362872" y="3843291"/>
            <a:ext cx="768096" cy="768096"/>
          </a:xfrm>
          <a:prstGeom prst="ellipse">
            <a:avLst/>
          </a:prstGeom>
          <a:solidFill>
            <a:srgbClr val="F79646"/>
          </a:solidFill>
          <a:ln w="12700">
            <a:solidFill>
              <a:srgbClr val="F79646"/>
            </a:solidFill>
            <a:prstDash val="solid"/>
          </a:ln>
        </p:spPr>
      </p:sp>
      <p:sp>
        <p:nvSpPr>
          <p:cNvPr id="13" name="Text 10"/>
          <p:cNvSpPr txBox="1"/>
          <p:nvPr/>
        </p:nvSpPr>
        <p:spPr>
          <a:xfrm>
            <a:off x="7061120" y="4794267"/>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Publish</a:t>
            </a:r>
            <a:endParaRPr lang="en-US" sz="1400" dirty="0"/>
          </a:p>
        </p:txBody>
      </p:sp>
      <p:sp>
        <p:nvSpPr>
          <p:cNvPr id="14" name="Text 11"/>
          <p:cNvSpPr txBox="1"/>
          <p:nvPr/>
        </p:nvSpPr>
        <p:spPr>
          <a:xfrm>
            <a:off x="6969680" y="5096019"/>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users can find it</a:t>
            </a:r>
            <a:endParaRPr lang="en-US" sz="1050" dirty="0"/>
          </a:p>
        </p:txBody>
      </p:sp>
      <p:sp>
        <p:nvSpPr>
          <p:cNvPr id="15" name="Shape 12"/>
          <p:cNvSpPr/>
          <p:nvPr/>
        </p:nvSpPr>
        <p:spPr>
          <a:xfrm>
            <a:off x="4030552" y="3843291"/>
            <a:ext cx="768096" cy="768096"/>
          </a:xfrm>
          <a:prstGeom prst="ellipse">
            <a:avLst/>
          </a:prstGeom>
          <a:solidFill>
            <a:srgbClr val="8064A2"/>
          </a:solidFill>
          <a:ln w="12700">
            <a:solidFill>
              <a:srgbClr val="8064A2"/>
            </a:solidFill>
            <a:prstDash val="solid"/>
          </a:ln>
        </p:spPr>
      </p:sp>
      <p:sp>
        <p:nvSpPr>
          <p:cNvPr id="16" name="Text 13"/>
          <p:cNvSpPr txBox="1"/>
          <p:nvPr/>
        </p:nvSpPr>
        <p:spPr>
          <a:xfrm>
            <a:off x="3728800" y="4794267"/>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Measure</a:t>
            </a:r>
            <a:endParaRPr lang="en-US" sz="1400" dirty="0"/>
          </a:p>
        </p:txBody>
      </p:sp>
      <p:sp>
        <p:nvSpPr>
          <p:cNvPr id="17" name="Text 14"/>
          <p:cNvSpPr txBox="1"/>
          <p:nvPr/>
        </p:nvSpPr>
        <p:spPr>
          <a:xfrm>
            <a:off x="3637360" y="5096019"/>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evidence and review</a:t>
            </a:r>
            <a:endParaRPr lang="en-US" sz="1050" dirty="0"/>
          </a:p>
        </p:txBody>
      </p:sp>
      <p:sp>
        <p:nvSpPr>
          <p:cNvPr id="18" name="Shape 15"/>
          <p:cNvSpPr/>
          <p:nvPr/>
        </p:nvSpPr>
        <p:spPr>
          <a:xfrm>
            <a:off x="3000809" y="2360913"/>
            <a:ext cx="768096" cy="768096"/>
          </a:xfrm>
          <a:prstGeom prst="ellipse">
            <a:avLst/>
          </a:prstGeom>
          <a:solidFill>
            <a:srgbClr val="70AD47"/>
          </a:solidFill>
          <a:ln w="12700">
            <a:solidFill>
              <a:srgbClr val="70AD47"/>
            </a:solidFill>
            <a:prstDash val="solid"/>
          </a:ln>
        </p:spPr>
      </p:sp>
      <p:sp>
        <p:nvSpPr>
          <p:cNvPr id="19" name="Text 16"/>
          <p:cNvSpPr txBox="1"/>
          <p:nvPr/>
        </p:nvSpPr>
        <p:spPr>
          <a:xfrm>
            <a:off x="2699057" y="3311889"/>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Revise</a:t>
            </a:r>
            <a:endParaRPr lang="en-US" sz="1400" dirty="0"/>
          </a:p>
        </p:txBody>
      </p:sp>
      <p:sp>
        <p:nvSpPr>
          <p:cNvPr id="20" name="Text 17"/>
          <p:cNvSpPr txBox="1"/>
          <p:nvPr/>
        </p:nvSpPr>
        <p:spPr>
          <a:xfrm>
            <a:off x="2607617" y="3613641"/>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lessons and change</a:t>
            </a:r>
            <a:endParaRPr lang="en-US" sz="1050" dirty="0"/>
          </a:p>
        </p:txBody>
      </p:sp>
      <p:sp>
        <p:nvSpPr>
          <p:cNvPr id="21" name="Shape 18"/>
          <p:cNvSpPr/>
          <p:nvPr/>
        </p:nvSpPr>
        <p:spPr>
          <a:xfrm>
            <a:off x="5650992" y="2724912"/>
            <a:ext cx="859536" cy="859536"/>
          </a:xfrm>
          <a:prstGeom prst="ellipse">
            <a:avLst/>
          </a:prstGeom>
          <a:solidFill>
            <a:srgbClr val="1F497D"/>
          </a:solidFill>
          <a:ln w="12700">
            <a:solidFill>
              <a:srgbClr val="1F497D"/>
            </a:solidFill>
            <a:prstDash val="solid"/>
          </a:ln>
        </p:spPr>
      </p:sp>
      <p:sp>
        <p:nvSpPr>
          <p:cNvPr id="22" name="Text 19"/>
          <p:cNvSpPr txBox="1"/>
          <p:nvPr/>
        </p:nvSpPr>
        <p:spPr>
          <a:xfrm>
            <a:off x="5650992" y="3035808"/>
            <a:ext cx="859536" cy="155448"/>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REVIEW</a:t>
            </a:r>
            <a:endParaRPr lang="en-US" sz="11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MEDIA SLOT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When the exception becomes the architecture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Suggested search: “temporary workaround becomes permanent meme” or use a short policy debt reel.</a:t>
            </a:r>
            <a:endParaRPr lang="en-US" sz="1250" dirty="0"/>
          </a:p>
        </p:txBody>
      </p:sp>
      <p:sp>
        <p:nvSpPr>
          <p:cNvPr id="6" name="Shape 3"/>
          <p:cNvSpPr/>
          <p:nvPr/>
        </p:nvSpPr>
        <p:spPr>
          <a:xfrm>
            <a:off x="914400" y="1828800"/>
            <a:ext cx="10241280" cy="3246120"/>
          </a:xfrm>
          <a:prstGeom prst="roundRect">
            <a:avLst/>
          </a:prstGeom>
          <a:solidFill>
            <a:srgbClr val="EEF2F7"/>
          </a:solidFill>
          <a:ln w="12700">
            <a:solidFill>
              <a:srgbClr val="F79646"/>
            </a:solidFill>
            <a:prstDash val="solid"/>
          </a:ln>
        </p:spPr>
      </p:sp>
      <p:sp>
        <p:nvSpPr>
          <p:cNvPr id="7" name="Shape 4"/>
          <p:cNvSpPr/>
          <p:nvPr/>
        </p:nvSpPr>
        <p:spPr>
          <a:xfrm>
            <a:off x="1024128" y="1938528"/>
            <a:ext cx="10021824" cy="3026664"/>
          </a:xfrm>
          <a:prstGeom prst="line">
            <a:avLst/>
          </a:prstGeom>
          <a:noFill/>
          <a:ln w="15240">
            <a:solidFill>
              <a:srgbClr val="D8A36A"/>
            </a:solidFill>
            <a:prstDash val="solid"/>
            <a:headEnd type="none"/>
            <a:tailEnd type="none"/>
          </a:ln>
        </p:spPr>
      </p:sp>
      <p:sp>
        <p:nvSpPr>
          <p:cNvPr id="8" name="Shape 5"/>
          <p:cNvSpPr/>
          <p:nvPr/>
        </p:nvSpPr>
        <p:spPr>
          <a:xfrm>
            <a:off x="11045952" y="1938528"/>
            <a:ext cx="-10021824" cy="3026664"/>
          </a:xfrm>
          <a:prstGeom prst="line">
            <a:avLst/>
          </a:prstGeom>
          <a:noFill/>
          <a:ln w="15240">
            <a:solidFill>
              <a:srgbClr val="D8A36A"/>
            </a:solidFill>
            <a:prstDash val="solid"/>
            <a:headEnd type="none"/>
            <a:tailEnd type="none"/>
          </a:ln>
        </p:spPr>
      </p:sp>
      <p:sp>
        <p:nvSpPr>
          <p:cNvPr id="9" name="Shape 6"/>
          <p:cNvSpPr/>
          <p:nvPr/>
        </p:nvSpPr>
        <p:spPr>
          <a:xfrm>
            <a:off x="5376672" y="2075688"/>
            <a:ext cx="1316736" cy="274320"/>
          </a:xfrm>
          <a:prstGeom prst="roundRect">
            <a:avLst/>
          </a:prstGeom>
          <a:solidFill>
            <a:srgbClr val="F79646"/>
          </a:solidFill>
          <a:ln w="12700">
            <a:solidFill>
              <a:srgbClr val="F79646"/>
            </a:solidFill>
            <a:prstDash val="solid"/>
          </a:ln>
        </p:spPr>
      </p:sp>
      <p:sp>
        <p:nvSpPr>
          <p:cNvPr id="10" name="Text 7"/>
          <p:cNvSpPr txBox="1"/>
          <p:nvPr/>
        </p:nvSpPr>
        <p:spPr>
          <a:xfrm>
            <a:off x="5449824" y="2093976"/>
            <a:ext cx="1170432"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MEDIA SLOT</a:t>
            </a:r>
            <a:endParaRPr lang="en-US" sz="1000" dirty="0"/>
          </a:p>
        </p:txBody>
      </p:sp>
      <p:sp>
        <p:nvSpPr>
          <p:cNvPr id="11" name="Text 8"/>
          <p:cNvSpPr txBox="1"/>
          <p:nvPr/>
        </p:nvSpPr>
        <p:spPr>
          <a:xfrm>
            <a:off x="1234440" y="2743200"/>
            <a:ext cx="9601200" cy="457200"/>
          </a:xfrm>
          <a:prstGeom prst="rect">
            <a:avLst/>
          </a:prstGeom>
          <a:noFill/>
          <a:ln/>
        </p:spPr>
        <p:txBody>
          <a:bodyPr wrap="square" lIns="508" tIns="508" rIns="508" bIns="508" rtlCol="0" anchor="ctr">
            <a:normAutofit/>
          </a:bodyPr>
          <a:lstStyle/>
          <a:p>
            <a:pPr algn="ctr" indent="0" marL="0">
              <a:buNone/>
            </a:pPr>
            <a:r>
              <a:rPr lang="en-US" sz="2200" b="1" dirty="0">
                <a:solidFill>
                  <a:srgbClr val="1F497D"/>
                </a:solidFill>
                <a:latin typeface="Calibri" pitchFamily="34" charset="0"/>
                <a:ea typeface="Calibri" pitchFamily="34" charset="-122"/>
                <a:cs typeface="Calibri" pitchFamily="34" charset="-120"/>
              </a:rPr>
              <a:t>JUST ONE MORE EXCEPTION</a:t>
            </a:r>
            <a:endParaRPr lang="en-US" sz="2200" dirty="0"/>
          </a:p>
        </p:txBody>
      </p:sp>
      <p:sp>
        <p:nvSpPr>
          <p:cNvPr id="12" name="Text 9"/>
          <p:cNvSpPr txBox="1"/>
          <p:nvPr/>
        </p:nvSpPr>
        <p:spPr>
          <a:xfrm>
            <a:off x="1325880" y="3401568"/>
            <a:ext cx="9418320" cy="566928"/>
          </a:xfrm>
          <a:prstGeom prst="rect">
            <a:avLst/>
          </a:prstGeom>
          <a:noFill/>
          <a:ln/>
        </p:spPr>
        <p:txBody>
          <a:bodyPr wrap="square" lIns="508" tIns="508" rIns="508" bIns="508" rtlCol="0" anchor="ctr">
            <a:normAutofit/>
          </a:bodyPr>
          <a:lstStyle/>
          <a:p>
            <a:pPr algn="ctr" indent="0" marL="0">
              <a:buNone/>
            </a:pPr>
            <a:r>
              <a:rPr lang="en-US" sz="1300" i="1" dirty="0">
                <a:solidFill>
                  <a:srgbClr val="64748B"/>
                </a:solidFill>
                <a:latin typeface="Calibri" pitchFamily="34" charset="0"/>
                <a:ea typeface="Calibri" pitchFamily="34" charset="-122"/>
                <a:cs typeface="Calibri" pitchFamily="34" charset="-120"/>
              </a:rPr>
              <a:t>Caption: “Temporary until the next audit, incident, or architecture review.”</a:t>
            </a:r>
            <a:endParaRPr lang="en-US" sz="13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SYNTHESIS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Troubleshoot the control in the right order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Start with identity, then authorization, then evidence.</a:t>
            </a:r>
            <a:endParaRPr lang="en-US" sz="1250" dirty="0"/>
          </a:p>
        </p:txBody>
      </p:sp>
      <p:sp>
        <p:nvSpPr>
          <p:cNvPr id="6" name="Shape 3"/>
          <p:cNvSpPr/>
          <p:nvPr/>
        </p:nvSpPr>
        <p:spPr>
          <a:xfrm>
            <a:off x="822960" y="1783080"/>
            <a:ext cx="347472" cy="347472"/>
          </a:xfrm>
          <a:prstGeom prst="ellipse">
            <a:avLst/>
          </a:prstGeom>
          <a:solidFill>
            <a:srgbClr val="4BACC6"/>
          </a:solidFill>
          <a:ln w="12700">
            <a:solidFill>
              <a:srgbClr val="4BACC6"/>
            </a:solidFill>
            <a:prstDash val="solid"/>
          </a:ln>
        </p:spPr>
      </p:sp>
      <p:sp>
        <p:nvSpPr>
          <p:cNvPr id="7" name="Text 4"/>
          <p:cNvSpPr txBox="1"/>
          <p:nvPr/>
        </p:nvSpPr>
        <p:spPr>
          <a:xfrm>
            <a:off x="822960" y="187452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txBox="1"/>
          <p:nvPr/>
        </p:nvSpPr>
        <p:spPr>
          <a:xfrm>
            <a:off x="1371600" y="181965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Identity</a:t>
            </a:r>
            <a:endParaRPr lang="en-US" sz="1500" dirty="0"/>
          </a:p>
        </p:txBody>
      </p:sp>
      <p:sp>
        <p:nvSpPr>
          <p:cNvPr id="9" name="Text 6"/>
          <p:cNvSpPr txBox="1"/>
          <p:nvPr/>
        </p:nvSpPr>
        <p:spPr>
          <a:xfrm>
            <a:off x="2971800" y="181965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Which account and factor were presented?</a:t>
            </a:r>
            <a:endParaRPr lang="en-US" sz="1400" dirty="0"/>
          </a:p>
        </p:txBody>
      </p:sp>
      <p:sp>
        <p:nvSpPr>
          <p:cNvPr id="10" name="Shape 7"/>
          <p:cNvSpPr/>
          <p:nvPr/>
        </p:nvSpPr>
        <p:spPr>
          <a:xfrm>
            <a:off x="8458200" y="1947672"/>
            <a:ext cx="2423160" cy="0"/>
          </a:xfrm>
          <a:prstGeom prst="line">
            <a:avLst/>
          </a:prstGeom>
          <a:noFill/>
          <a:ln w="12700">
            <a:solidFill>
              <a:srgbClr val="CBD5E1"/>
            </a:solidFill>
            <a:prstDash val="solid"/>
            <a:headEnd type="none"/>
            <a:tailEnd type="none"/>
          </a:ln>
        </p:spPr>
      </p:sp>
      <p:sp>
        <p:nvSpPr>
          <p:cNvPr id="11" name="Shape 8"/>
          <p:cNvSpPr/>
          <p:nvPr/>
        </p:nvSpPr>
        <p:spPr>
          <a:xfrm>
            <a:off x="822960" y="2423160"/>
            <a:ext cx="347472" cy="347472"/>
          </a:xfrm>
          <a:prstGeom prst="ellipse">
            <a:avLst/>
          </a:prstGeom>
          <a:solidFill>
            <a:srgbClr val="4F81BD"/>
          </a:solidFill>
          <a:ln w="12700">
            <a:solidFill>
              <a:srgbClr val="4F81BD"/>
            </a:solidFill>
            <a:prstDash val="solid"/>
          </a:ln>
        </p:spPr>
      </p:sp>
      <p:sp>
        <p:nvSpPr>
          <p:cNvPr id="12" name="Text 9"/>
          <p:cNvSpPr txBox="1"/>
          <p:nvPr/>
        </p:nvSpPr>
        <p:spPr>
          <a:xfrm>
            <a:off x="822960" y="251460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txBox="1"/>
          <p:nvPr/>
        </p:nvSpPr>
        <p:spPr>
          <a:xfrm>
            <a:off x="1371600" y="245973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Account</a:t>
            </a:r>
            <a:endParaRPr lang="en-US" sz="1500" dirty="0"/>
          </a:p>
        </p:txBody>
      </p:sp>
      <p:sp>
        <p:nvSpPr>
          <p:cNvPr id="14" name="Text 11"/>
          <p:cNvSpPr txBox="1"/>
          <p:nvPr/>
        </p:nvSpPr>
        <p:spPr>
          <a:xfrm>
            <a:off x="2971800" y="245973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Is the account active and allowed?</a:t>
            </a:r>
            <a:endParaRPr lang="en-US" sz="1400" dirty="0"/>
          </a:p>
        </p:txBody>
      </p:sp>
      <p:sp>
        <p:nvSpPr>
          <p:cNvPr id="15" name="Shape 12"/>
          <p:cNvSpPr/>
          <p:nvPr/>
        </p:nvSpPr>
        <p:spPr>
          <a:xfrm>
            <a:off x="8458200" y="2587752"/>
            <a:ext cx="2423160" cy="0"/>
          </a:xfrm>
          <a:prstGeom prst="line">
            <a:avLst/>
          </a:prstGeom>
          <a:noFill/>
          <a:ln w="12700">
            <a:solidFill>
              <a:srgbClr val="CBD5E1"/>
            </a:solidFill>
            <a:prstDash val="solid"/>
            <a:headEnd type="none"/>
            <a:tailEnd type="none"/>
          </a:ln>
        </p:spPr>
      </p:sp>
      <p:sp>
        <p:nvSpPr>
          <p:cNvPr id="16" name="Shape 13"/>
          <p:cNvSpPr/>
          <p:nvPr/>
        </p:nvSpPr>
        <p:spPr>
          <a:xfrm>
            <a:off x="822960" y="3063240"/>
            <a:ext cx="347472" cy="347472"/>
          </a:xfrm>
          <a:prstGeom prst="ellipse">
            <a:avLst/>
          </a:prstGeom>
          <a:solidFill>
            <a:srgbClr val="F79646"/>
          </a:solidFill>
          <a:ln w="12700">
            <a:solidFill>
              <a:srgbClr val="F79646"/>
            </a:solidFill>
            <a:prstDash val="solid"/>
          </a:ln>
        </p:spPr>
      </p:sp>
      <p:sp>
        <p:nvSpPr>
          <p:cNvPr id="17" name="Text 14"/>
          <p:cNvSpPr txBox="1"/>
          <p:nvPr/>
        </p:nvSpPr>
        <p:spPr>
          <a:xfrm>
            <a:off x="822960" y="315468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5"/>
          <p:cNvSpPr txBox="1"/>
          <p:nvPr/>
        </p:nvSpPr>
        <p:spPr>
          <a:xfrm>
            <a:off x="1371600" y="309981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Scope</a:t>
            </a:r>
            <a:endParaRPr lang="en-US" sz="1500" dirty="0"/>
          </a:p>
        </p:txBody>
      </p:sp>
      <p:sp>
        <p:nvSpPr>
          <p:cNvPr id="19" name="Text 16"/>
          <p:cNvSpPr txBox="1"/>
          <p:nvPr/>
        </p:nvSpPr>
        <p:spPr>
          <a:xfrm>
            <a:off x="2971800" y="309981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Does the requested action match policy?</a:t>
            </a:r>
            <a:endParaRPr lang="en-US" sz="1400" dirty="0"/>
          </a:p>
        </p:txBody>
      </p:sp>
      <p:sp>
        <p:nvSpPr>
          <p:cNvPr id="20" name="Shape 17"/>
          <p:cNvSpPr/>
          <p:nvPr/>
        </p:nvSpPr>
        <p:spPr>
          <a:xfrm>
            <a:off x="8458200" y="3227832"/>
            <a:ext cx="2423160" cy="0"/>
          </a:xfrm>
          <a:prstGeom prst="line">
            <a:avLst/>
          </a:prstGeom>
          <a:noFill/>
          <a:ln w="12700">
            <a:solidFill>
              <a:srgbClr val="CBD5E1"/>
            </a:solidFill>
            <a:prstDash val="solid"/>
            <a:headEnd type="none"/>
            <a:tailEnd type="none"/>
          </a:ln>
        </p:spPr>
      </p:sp>
      <p:sp>
        <p:nvSpPr>
          <p:cNvPr id="21" name="Shape 18"/>
          <p:cNvSpPr/>
          <p:nvPr/>
        </p:nvSpPr>
        <p:spPr>
          <a:xfrm>
            <a:off x="822960" y="3703320"/>
            <a:ext cx="347472" cy="347472"/>
          </a:xfrm>
          <a:prstGeom prst="ellipse">
            <a:avLst/>
          </a:prstGeom>
          <a:solidFill>
            <a:srgbClr val="8064A2"/>
          </a:solidFill>
          <a:ln w="12700">
            <a:solidFill>
              <a:srgbClr val="8064A2"/>
            </a:solidFill>
            <a:prstDash val="solid"/>
          </a:ln>
        </p:spPr>
      </p:sp>
      <p:sp>
        <p:nvSpPr>
          <p:cNvPr id="22" name="Text 19"/>
          <p:cNvSpPr txBox="1"/>
          <p:nvPr/>
        </p:nvSpPr>
        <p:spPr>
          <a:xfrm>
            <a:off x="822960" y="379476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0"/>
          <p:cNvSpPr txBox="1"/>
          <p:nvPr/>
        </p:nvSpPr>
        <p:spPr>
          <a:xfrm>
            <a:off x="1371600" y="373989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Exception</a:t>
            </a:r>
            <a:endParaRPr lang="en-US" sz="1500" dirty="0"/>
          </a:p>
        </p:txBody>
      </p:sp>
      <p:sp>
        <p:nvSpPr>
          <p:cNvPr id="24" name="Text 21"/>
          <p:cNvSpPr txBox="1"/>
          <p:nvPr/>
        </p:nvSpPr>
        <p:spPr>
          <a:xfrm>
            <a:off x="2971800" y="373989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Is there a current approved exception?</a:t>
            </a:r>
            <a:endParaRPr lang="en-US" sz="1400" dirty="0"/>
          </a:p>
        </p:txBody>
      </p:sp>
      <p:sp>
        <p:nvSpPr>
          <p:cNvPr id="25" name="Shape 22"/>
          <p:cNvSpPr/>
          <p:nvPr/>
        </p:nvSpPr>
        <p:spPr>
          <a:xfrm>
            <a:off x="8458200" y="3867912"/>
            <a:ext cx="2423160" cy="0"/>
          </a:xfrm>
          <a:prstGeom prst="line">
            <a:avLst/>
          </a:prstGeom>
          <a:noFill/>
          <a:ln w="12700">
            <a:solidFill>
              <a:srgbClr val="CBD5E1"/>
            </a:solidFill>
            <a:prstDash val="solid"/>
            <a:headEnd type="none"/>
            <a:tailEnd type="none"/>
          </a:ln>
        </p:spPr>
      </p:sp>
      <p:sp>
        <p:nvSpPr>
          <p:cNvPr id="26" name="Shape 23"/>
          <p:cNvSpPr/>
          <p:nvPr/>
        </p:nvSpPr>
        <p:spPr>
          <a:xfrm>
            <a:off x="822960" y="4343400"/>
            <a:ext cx="347472" cy="347472"/>
          </a:xfrm>
          <a:prstGeom prst="ellipse">
            <a:avLst/>
          </a:prstGeom>
          <a:solidFill>
            <a:srgbClr val="70AD47"/>
          </a:solidFill>
          <a:ln w="12700">
            <a:solidFill>
              <a:srgbClr val="70AD47"/>
            </a:solidFill>
            <a:prstDash val="solid"/>
          </a:ln>
        </p:spPr>
      </p:sp>
      <p:sp>
        <p:nvSpPr>
          <p:cNvPr id="27" name="Text 24"/>
          <p:cNvSpPr txBox="1"/>
          <p:nvPr/>
        </p:nvSpPr>
        <p:spPr>
          <a:xfrm>
            <a:off x="822960" y="443484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1371600" y="437997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Evidence</a:t>
            </a:r>
            <a:endParaRPr lang="en-US" sz="1500" dirty="0"/>
          </a:p>
        </p:txBody>
      </p:sp>
      <p:sp>
        <p:nvSpPr>
          <p:cNvPr id="29" name="Text 26"/>
          <p:cNvSpPr txBox="1"/>
          <p:nvPr/>
        </p:nvSpPr>
        <p:spPr>
          <a:xfrm>
            <a:off x="2971800" y="437997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What do logs prove?</a:t>
            </a:r>
            <a:endParaRPr lang="en-US" sz="1400" dirty="0"/>
          </a:p>
        </p:txBody>
      </p:sp>
      <p:sp>
        <p:nvSpPr>
          <p:cNvPr id="30" name="Shape 27"/>
          <p:cNvSpPr/>
          <p:nvPr/>
        </p:nvSpPr>
        <p:spPr>
          <a:xfrm>
            <a:off x="8458200" y="4507992"/>
            <a:ext cx="2423160" cy="0"/>
          </a:xfrm>
          <a:prstGeom prst="line">
            <a:avLst/>
          </a:prstGeom>
          <a:noFill/>
          <a:ln w="12700">
            <a:solidFill>
              <a:srgbClr val="CBD5E1"/>
            </a:solidFill>
            <a:prstDash val="solid"/>
            <a:headEnd type="none"/>
            <a:tailEnd type="none"/>
          </a:ln>
        </p:spPr>
      </p:sp>
      <p:sp>
        <p:nvSpPr>
          <p:cNvPr id="31" name="Shape 28"/>
          <p:cNvSpPr/>
          <p:nvPr/>
        </p:nvSpPr>
        <p:spPr>
          <a:xfrm>
            <a:off x="8458200" y="1828800"/>
            <a:ext cx="2560320" cy="1828800"/>
          </a:xfrm>
          <a:prstGeom prst="roundRect">
            <a:avLst/>
          </a:prstGeom>
          <a:solidFill>
            <a:srgbClr val="FFFFFF"/>
          </a:solidFill>
          <a:ln w="12700">
            <a:solidFill>
              <a:srgbClr val="1F497D"/>
            </a:solidFill>
            <a:prstDash val="solid"/>
          </a:ln>
        </p:spPr>
      </p:sp>
      <p:sp>
        <p:nvSpPr>
          <p:cNvPr id="32" name="Shape 29"/>
          <p:cNvSpPr/>
          <p:nvPr/>
        </p:nvSpPr>
        <p:spPr>
          <a:xfrm>
            <a:off x="8458200" y="1828800"/>
            <a:ext cx="100584" cy="1828800"/>
          </a:xfrm>
          <a:prstGeom prst="rect">
            <a:avLst/>
          </a:prstGeom>
          <a:solidFill>
            <a:srgbClr val="1F497D"/>
          </a:solidFill>
          <a:ln w="12700">
            <a:solidFill>
              <a:srgbClr val="1F497D"/>
            </a:solidFill>
            <a:prstDash val="solid"/>
          </a:ln>
        </p:spPr>
      </p:sp>
      <p:sp>
        <p:nvSpPr>
          <p:cNvPr id="33" name="Text 30"/>
          <p:cNvSpPr txBox="1"/>
          <p:nvPr/>
        </p:nvSpPr>
        <p:spPr>
          <a:xfrm>
            <a:off x="8695944" y="1938528"/>
            <a:ext cx="22128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Instructor move</a:t>
            </a:r>
            <a:endParaRPr lang="en-US" sz="1400" dirty="0"/>
          </a:p>
        </p:txBody>
      </p:sp>
      <p:sp>
        <p:nvSpPr>
          <p:cNvPr id="34" name="Text 31"/>
          <p:cNvSpPr txBox="1"/>
          <p:nvPr/>
        </p:nvSpPr>
        <p:spPr>
          <a:xfrm>
            <a:off x="8695944" y="2240280"/>
            <a:ext cx="2212848" cy="132588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When someone says “the key is valid,” ask: valid according to which check?</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CAPSTONE DISCUSSION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Choose the control that changes the outcome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Teams solve one scenario and defend the tradeoff.</a:t>
            </a:r>
            <a:endParaRPr lang="en-US" sz="1250" dirty="0"/>
          </a:p>
        </p:txBody>
      </p:sp>
      <p:sp>
        <p:nvSpPr>
          <p:cNvPr id="6" name="Shape 3"/>
          <p:cNvSpPr/>
          <p:nvPr/>
        </p:nvSpPr>
        <p:spPr>
          <a:xfrm>
            <a:off x="594360" y="2057400"/>
            <a:ext cx="2057400" cy="2103120"/>
          </a:xfrm>
          <a:prstGeom prst="roundRect">
            <a:avLst/>
          </a:prstGeom>
          <a:solidFill>
            <a:srgbClr val="FFFFFF"/>
          </a:solidFill>
          <a:ln w="12700">
            <a:solidFill>
              <a:srgbClr val="F79646"/>
            </a:solidFill>
            <a:prstDash val="solid"/>
          </a:ln>
        </p:spPr>
      </p:sp>
      <p:sp>
        <p:nvSpPr>
          <p:cNvPr id="7" name="Shape 4"/>
          <p:cNvSpPr/>
          <p:nvPr/>
        </p:nvSpPr>
        <p:spPr>
          <a:xfrm>
            <a:off x="1344168" y="2331720"/>
            <a:ext cx="530352" cy="530352"/>
          </a:xfrm>
          <a:prstGeom prst="ellipse">
            <a:avLst/>
          </a:prstGeom>
          <a:solidFill>
            <a:srgbClr val="F79646"/>
          </a:solidFill>
          <a:ln w="12700">
            <a:solidFill>
              <a:srgbClr val="F79646"/>
            </a:solidFill>
            <a:prstDash val="solid"/>
          </a:ln>
        </p:spPr>
      </p:sp>
      <p:sp>
        <p:nvSpPr>
          <p:cNvPr id="8" name="Text 5"/>
          <p:cNvSpPr txBox="1"/>
          <p:nvPr/>
        </p:nvSpPr>
        <p:spPr>
          <a:xfrm>
            <a:off x="1344168"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731520"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MFA outage</a:t>
            </a:r>
            <a:endParaRPr lang="en-US" sz="1500" dirty="0"/>
          </a:p>
        </p:txBody>
      </p:sp>
      <p:sp>
        <p:nvSpPr>
          <p:cNvPr id="10" name="Text 7"/>
          <p:cNvSpPr txBox="1"/>
          <p:nvPr/>
        </p:nvSpPr>
        <p:spPr>
          <a:xfrm>
            <a:off x="758952"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safe recovery path</a:t>
            </a:r>
            <a:endParaRPr lang="en-US" sz="1150" dirty="0"/>
          </a:p>
        </p:txBody>
      </p:sp>
      <p:sp>
        <p:nvSpPr>
          <p:cNvPr id="11" name="Shape 8"/>
          <p:cNvSpPr/>
          <p:nvPr/>
        </p:nvSpPr>
        <p:spPr>
          <a:xfrm>
            <a:off x="2898648" y="2057400"/>
            <a:ext cx="2057400" cy="2103120"/>
          </a:xfrm>
          <a:prstGeom prst="roundRect">
            <a:avLst/>
          </a:prstGeom>
          <a:solidFill>
            <a:srgbClr val="FFFFFF"/>
          </a:solidFill>
          <a:ln w="12700">
            <a:solidFill>
              <a:srgbClr val="4F81BD"/>
            </a:solidFill>
            <a:prstDash val="solid"/>
          </a:ln>
        </p:spPr>
      </p:sp>
      <p:sp>
        <p:nvSpPr>
          <p:cNvPr id="12" name="Shape 9"/>
          <p:cNvSpPr/>
          <p:nvPr/>
        </p:nvSpPr>
        <p:spPr>
          <a:xfrm>
            <a:off x="3648456" y="2331720"/>
            <a:ext cx="530352" cy="530352"/>
          </a:xfrm>
          <a:prstGeom prst="ellipse">
            <a:avLst/>
          </a:prstGeom>
          <a:solidFill>
            <a:srgbClr val="4F81BD"/>
          </a:solidFill>
          <a:ln w="12700">
            <a:solidFill>
              <a:srgbClr val="4F81BD"/>
            </a:solidFill>
            <a:prstDash val="solid"/>
          </a:ln>
        </p:spPr>
      </p:sp>
      <p:sp>
        <p:nvSpPr>
          <p:cNvPr id="13" name="Text 10"/>
          <p:cNvSpPr txBox="1"/>
          <p:nvPr/>
        </p:nvSpPr>
        <p:spPr>
          <a:xfrm>
            <a:off x="3648456"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3035808"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Vendor access</a:t>
            </a:r>
            <a:endParaRPr lang="en-US" sz="1500" dirty="0"/>
          </a:p>
        </p:txBody>
      </p:sp>
      <p:sp>
        <p:nvSpPr>
          <p:cNvPr id="15" name="Text 12"/>
          <p:cNvSpPr txBox="1"/>
          <p:nvPr/>
        </p:nvSpPr>
        <p:spPr>
          <a:xfrm>
            <a:off x="3063240"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disable and review</a:t>
            </a:r>
            <a:endParaRPr lang="en-US" sz="1150" dirty="0"/>
          </a:p>
        </p:txBody>
      </p:sp>
      <p:sp>
        <p:nvSpPr>
          <p:cNvPr id="16" name="Shape 13"/>
          <p:cNvSpPr/>
          <p:nvPr/>
        </p:nvSpPr>
        <p:spPr>
          <a:xfrm>
            <a:off x="5202936" y="2057400"/>
            <a:ext cx="2057400" cy="2103120"/>
          </a:xfrm>
          <a:prstGeom prst="roundRect">
            <a:avLst/>
          </a:prstGeom>
          <a:solidFill>
            <a:srgbClr val="FFFFFF"/>
          </a:solidFill>
          <a:ln w="12700">
            <a:solidFill>
              <a:srgbClr val="8064A2"/>
            </a:solidFill>
            <a:prstDash val="solid"/>
          </a:ln>
        </p:spPr>
      </p:sp>
      <p:sp>
        <p:nvSpPr>
          <p:cNvPr id="17" name="Shape 14"/>
          <p:cNvSpPr/>
          <p:nvPr/>
        </p:nvSpPr>
        <p:spPr>
          <a:xfrm>
            <a:off x="5952744" y="2331720"/>
            <a:ext cx="530352" cy="530352"/>
          </a:xfrm>
          <a:prstGeom prst="ellipse">
            <a:avLst/>
          </a:prstGeom>
          <a:solidFill>
            <a:srgbClr val="8064A2"/>
          </a:solidFill>
          <a:ln w="12700">
            <a:solidFill>
              <a:srgbClr val="8064A2"/>
            </a:solidFill>
            <a:prstDash val="solid"/>
          </a:ln>
        </p:spPr>
      </p:sp>
      <p:sp>
        <p:nvSpPr>
          <p:cNvPr id="18" name="Text 15"/>
          <p:cNvSpPr txBox="1"/>
          <p:nvPr/>
        </p:nvSpPr>
        <p:spPr>
          <a:xfrm>
            <a:off x="5952744"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340096"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BYOD loss</a:t>
            </a:r>
            <a:endParaRPr lang="en-US" sz="1500" dirty="0"/>
          </a:p>
        </p:txBody>
      </p:sp>
      <p:sp>
        <p:nvSpPr>
          <p:cNvPr id="20" name="Text 17"/>
          <p:cNvSpPr txBox="1"/>
          <p:nvPr/>
        </p:nvSpPr>
        <p:spPr>
          <a:xfrm>
            <a:off x="5367528"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revoke and contain</a:t>
            </a:r>
            <a:endParaRPr lang="en-US" sz="1150" dirty="0"/>
          </a:p>
        </p:txBody>
      </p:sp>
      <p:sp>
        <p:nvSpPr>
          <p:cNvPr id="21" name="Shape 18"/>
          <p:cNvSpPr/>
          <p:nvPr/>
        </p:nvSpPr>
        <p:spPr>
          <a:xfrm>
            <a:off x="7507224" y="2057400"/>
            <a:ext cx="2057400" cy="2103120"/>
          </a:xfrm>
          <a:prstGeom prst="roundRect">
            <a:avLst/>
          </a:prstGeom>
          <a:solidFill>
            <a:srgbClr val="FFFFFF"/>
          </a:solidFill>
          <a:ln w="12700">
            <a:solidFill>
              <a:srgbClr val="C0504D"/>
            </a:solidFill>
            <a:prstDash val="solid"/>
          </a:ln>
        </p:spPr>
      </p:sp>
      <p:sp>
        <p:nvSpPr>
          <p:cNvPr id="22" name="Shape 19"/>
          <p:cNvSpPr/>
          <p:nvPr/>
        </p:nvSpPr>
        <p:spPr>
          <a:xfrm>
            <a:off x="8257032" y="2331720"/>
            <a:ext cx="530352" cy="530352"/>
          </a:xfrm>
          <a:prstGeom prst="ellipse">
            <a:avLst/>
          </a:prstGeom>
          <a:solidFill>
            <a:srgbClr val="C0504D"/>
          </a:solidFill>
          <a:ln w="12700">
            <a:solidFill>
              <a:srgbClr val="C0504D"/>
            </a:solidFill>
            <a:prstDash val="solid"/>
          </a:ln>
        </p:spPr>
      </p:sp>
      <p:sp>
        <p:nvSpPr>
          <p:cNvPr id="23" name="Text 20"/>
          <p:cNvSpPr txBox="1"/>
          <p:nvPr/>
        </p:nvSpPr>
        <p:spPr>
          <a:xfrm>
            <a:off x="8257032"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7644384"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Service misuse</a:t>
            </a:r>
            <a:endParaRPr lang="en-US" sz="1500" dirty="0"/>
          </a:p>
        </p:txBody>
      </p:sp>
      <p:sp>
        <p:nvSpPr>
          <p:cNvPr id="25" name="Text 22"/>
          <p:cNvSpPr txBox="1"/>
          <p:nvPr/>
        </p:nvSpPr>
        <p:spPr>
          <a:xfrm>
            <a:off x="7671816"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scope and investigate</a:t>
            </a:r>
            <a:endParaRPr lang="en-US" sz="1150" dirty="0"/>
          </a:p>
        </p:txBody>
      </p:sp>
      <p:sp>
        <p:nvSpPr>
          <p:cNvPr id="26" name="Shape 23"/>
          <p:cNvSpPr/>
          <p:nvPr/>
        </p:nvSpPr>
        <p:spPr>
          <a:xfrm>
            <a:off x="9811512" y="2057400"/>
            <a:ext cx="2057400" cy="2103120"/>
          </a:xfrm>
          <a:prstGeom prst="roundRect">
            <a:avLst/>
          </a:prstGeom>
          <a:solidFill>
            <a:srgbClr val="FFFFFF"/>
          </a:solidFill>
          <a:ln w="12700">
            <a:solidFill>
              <a:srgbClr val="70AD47"/>
            </a:solidFill>
            <a:prstDash val="solid"/>
          </a:ln>
        </p:spPr>
      </p:sp>
      <p:sp>
        <p:nvSpPr>
          <p:cNvPr id="27" name="Shape 24"/>
          <p:cNvSpPr/>
          <p:nvPr/>
        </p:nvSpPr>
        <p:spPr>
          <a:xfrm>
            <a:off x="10561320" y="2331720"/>
            <a:ext cx="530352" cy="530352"/>
          </a:xfrm>
          <a:prstGeom prst="ellipse">
            <a:avLst/>
          </a:prstGeom>
          <a:solidFill>
            <a:srgbClr val="70AD47"/>
          </a:solidFill>
          <a:ln w="12700">
            <a:solidFill>
              <a:srgbClr val="70AD47"/>
            </a:solidFill>
            <a:prstDash val="solid"/>
          </a:ln>
        </p:spPr>
      </p:sp>
      <p:sp>
        <p:nvSpPr>
          <p:cNvPr id="28" name="Text 25"/>
          <p:cNvSpPr txBox="1"/>
          <p:nvPr/>
        </p:nvSpPr>
        <p:spPr>
          <a:xfrm>
            <a:off x="10561320"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9948672"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Policy debt</a:t>
            </a:r>
            <a:endParaRPr lang="en-US" sz="1500" dirty="0"/>
          </a:p>
        </p:txBody>
      </p:sp>
      <p:sp>
        <p:nvSpPr>
          <p:cNvPr id="30" name="Text 27"/>
          <p:cNvSpPr txBox="1"/>
          <p:nvPr/>
        </p:nvSpPr>
        <p:spPr>
          <a:xfrm>
            <a:off x="9976104"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owner and expiry</a:t>
            </a:r>
            <a:endParaRPr lang="en-US" sz="1150" dirty="0"/>
          </a:p>
        </p:txBody>
      </p:sp>
      <p:sp>
        <p:nvSpPr>
          <p:cNvPr id="31" name="Shape 28"/>
          <p:cNvSpPr/>
          <p:nvPr/>
        </p:nvSpPr>
        <p:spPr>
          <a:xfrm>
            <a:off x="3886200" y="4892040"/>
            <a:ext cx="4389120" cy="274320"/>
          </a:xfrm>
          <a:prstGeom prst="roundRect">
            <a:avLst/>
          </a:prstGeom>
          <a:solidFill>
            <a:srgbClr val="F79646"/>
          </a:solidFill>
          <a:ln w="12700">
            <a:solidFill>
              <a:srgbClr val="F79646"/>
            </a:solidFill>
            <a:prstDash val="solid"/>
          </a:ln>
        </p:spPr>
      </p:sp>
      <p:sp>
        <p:nvSpPr>
          <p:cNvPr id="32" name="Text 29"/>
          <p:cNvSpPr txBox="1"/>
          <p:nvPr/>
        </p:nvSpPr>
        <p:spPr>
          <a:xfrm>
            <a:off x="3959352" y="4910328"/>
            <a:ext cx="424281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GROUP DISCUSSION · 8 MIN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EXIT TICKET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Six questions to leave with</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Answer in one sentence each.</a:t>
            </a:r>
            <a:endParaRPr lang="en-US" sz="1250" dirty="0"/>
          </a:p>
        </p:txBody>
      </p:sp>
      <p:sp>
        <p:nvSpPr>
          <p:cNvPr id="6" name="Shape 3"/>
          <p:cNvSpPr/>
          <p:nvPr/>
        </p:nvSpPr>
        <p:spPr>
          <a:xfrm>
            <a:off x="731520" y="1847088"/>
            <a:ext cx="347472" cy="347472"/>
          </a:xfrm>
          <a:prstGeom prst="ellipse">
            <a:avLst/>
          </a:prstGeom>
          <a:solidFill>
            <a:srgbClr val="4BACC6"/>
          </a:solidFill>
          <a:ln w="12700">
            <a:solidFill>
              <a:srgbClr val="4BACC6"/>
            </a:solidFill>
            <a:prstDash val="solid"/>
          </a:ln>
        </p:spPr>
      </p:sp>
      <p:sp>
        <p:nvSpPr>
          <p:cNvPr id="7" name="Text 4"/>
          <p:cNvSpPr txBox="1"/>
          <p:nvPr/>
        </p:nvSpPr>
        <p:spPr>
          <a:xfrm>
            <a:off x="731520" y="194767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txBox="1"/>
          <p:nvPr/>
        </p:nvSpPr>
        <p:spPr>
          <a:xfrm>
            <a:off x="1261872" y="178308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does authentication prove?</a:t>
            </a:r>
            <a:endParaRPr lang="en-US" sz="1650" dirty="0"/>
          </a:p>
        </p:txBody>
      </p:sp>
      <p:sp>
        <p:nvSpPr>
          <p:cNvPr id="9" name="Shape 6"/>
          <p:cNvSpPr/>
          <p:nvPr/>
        </p:nvSpPr>
        <p:spPr>
          <a:xfrm>
            <a:off x="1261872" y="2313432"/>
            <a:ext cx="4544568" cy="0"/>
          </a:xfrm>
          <a:prstGeom prst="line">
            <a:avLst/>
          </a:prstGeom>
          <a:noFill/>
          <a:ln w="12700">
            <a:solidFill>
              <a:srgbClr val="CBD5E1"/>
            </a:solidFill>
            <a:prstDash val="solid"/>
            <a:headEnd type="none"/>
            <a:tailEnd type="none"/>
          </a:ln>
        </p:spPr>
      </p:sp>
      <p:sp>
        <p:nvSpPr>
          <p:cNvPr id="10" name="Shape 7"/>
          <p:cNvSpPr/>
          <p:nvPr/>
        </p:nvSpPr>
        <p:spPr>
          <a:xfrm>
            <a:off x="6217920" y="1847088"/>
            <a:ext cx="347472" cy="347472"/>
          </a:xfrm>
          <a:prstGeom prst="ellipse">
            <a:avLst/>
          </a:prstGeom>
          <a:solidFill>
            <a:srgbClr val="4F81BD"/>
          </a:solidFill>
          <a:ln w="12700">
            <a:solidFill>
              <a:srgbClr val="4F81BD"/>
            </a:solidFill>
            <a:prstDash val="solid"/>
          </a:ln>
        </p:spPr>
      </p:sp>
      <p:sp>
        <p:nvSpPr>
          <p:cNvPr id="11" name="Text 8"/>
          <p:cNvSpPr txBox="1"/>
          <p:nvPr/>
        </p:nvSpPr>
        <p:spPr>
          <a:xfrm>
            <a:off x="6217920" y="194767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txBox="1"/>
          <p:nvPr/>
        </p:nvSpPr>
        <p:spPr>
          <a:xfrm>
            <a:off x="6748272" y="178308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does authorization add?</a:t>
            </a:r>
            <a:endParaRPr lang="en-US" sz="1650" dirty="0"/>
          </a:p>
        </p:txBody>
      </p:sp>
      <p:sp>
        <p:nvSpPr>
          <p:cNvPr id="13" name="Shape 10"/>
          <p:cNvSpPr/>
          <p:nvPr/>
        </p:nvSpPr>
        <p:spPr>
          <a:xfrm>
            <a:off x="6748272" y="2313432"/>
            <a:ext cx="4544568" cy="0"/>
          </a:xfrm>
          <a:prstGeom prst="line">
            <a:avLst/>
          </a:prstGeom>
          <a:noFill/>
          <a:ln w="12700">
            <a:solidFill>
              <a:srgbClr val="CBD5E1"/>
            </a:solidFill>
            <a:prstDash val="solid"/>
            <a:headEnd type="none"/>
            <a:tailEnd type="none"/>
          </a:ln>
        </p:spPr>
      </p:sp>
      <p:sp>
        <p:nvSpPr>
          <p:cNvPr id="14" name="Shape 11"/>
          <p:cNvSpPr/>
          <p:nvPr/>
        </p:nvSpPr>
        <p:spPr>
          <a:xfrm>
            <a:off x="731520" y="2944368"/>
            <a:ext cx="347472" cy="347472"/>
          </a:xfrm>
          <a:prstGeom prst="ellipse">
            <a:avLst/>
          </a:prstGeom>
          <a:solidFill>
            <a:srgbClr val="F79646"/>
          </a:solidFill>
          <a:ln w="12700">
            <a:solidFill>
              <a:srgbClr val="F79646"/>
            </a:solidFill>
            <a:prstDash val="solid"/>
          </a:ln>
        </p:spPr>
      </p:sp>
      <p:sp>
        <p:nvSpPr>
          <p:cNvPr id="15" name="Text 12"/>
          <p:cNvSpPr txBox="1"/>
          <p:nvPr/>
        </p:nvSpPr>
        <p:spPr>
          <a:xfrm>
            <a:off x="731520" y="304495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txBox="1"/>
          <p:nvPr/>
        </p:nvSpPr>
        <p:spPr>
          <a:xfrm>
            <a:off x="1261872" y="288036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Why is enrollment part of MFA security?</a:t>
            </a:r>
            <a:endParaRPr lang="en-US" sz="1650" dirty="0"/>
          </a:p>
        </p:txBody>
      </p:sp>
      <p:sp>
        <p:nvSpPr>
          <p:cNvPr id="17" name="Shape 14"/>
          <p:cNvSpPr/>
          <p:nvPr/>
        </p:nvSpPr>
        <p:spPr>
          <a:xfrm>
            <a:off x="1261872" y="3410712"/>
            <a:ext cx="4544568" cy="0"/>
          </a:xfrm>
          <a:prstGeom prst="line">
            <a:avLst/>
          </a:prstGeom>
          <a:noFill/>
          <a:ln w="12700">
            <a:solidFill>
              <a:srgbClr val="CBD5E1"/>
            </a:solidFill>
            <a:prstDash val="solid"/>
            <a:headEnd type="none"/>
            <a:tailEnd type="none"/>
          </a:ln>
        </p:spPr>
      </p:sp>
      <p:sp>
        <p:nvSpPr>
          <p:cNvPr id="18" name="Shape 15"/>
          <p:cNvSpPr/>
          <p:nvPr/>
        </p:nvSpPr>
        <p:spPr>
          <a:xfrm>
            <a:off x="6217920" y="2944368"/>
            <a:ext cx="347472" cy="347472"/>
          </a:xfrm>
          <a:prstGeom prst="ellipse">
            <a:avLst/>
          </a:prstGeom>
          <a:solidFill>
            <a:srgbClr val="8064A2"/>
          </a:solidFill>
          <a:ln w="12700">
            <a:solidFill>
              <a:srgbClr val="8064A2"/>
            </a:solidFill>
            <a:prstDash val="solid"/>
          </a:ln>
        </p:spPr>
      </p:sp>
      <p:sp>
        <p:nvSpPr>
          <p:cNvPr id="19" name="Text 16"/>
          <p:cNvSpPr txBox="1"/>
          <p:nvPr/>
        </p:nvSpPr>
        <p:spPr>
          <a:xfrm>
            <a:off x="6217920" y="304495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txBox="1"/>
          <p:nvPr/>
        </p:nvSpPr>
        <p:spPr>
          <a:xfrm>
            <a:off x="6748272" y="288036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How does least privilege become enforceable?</a:t>
            </a:r>
            <a:endParaRPr lang="en-US" sz="1650" dirty="0"/>
          </a:p>
        </p:txBody>
      </p:sp>
      <p:sp>
        <p:nvSpPr>
          <p:cNvPr id="21" name="Shape 18"/>
          <p:cNvSpPr/>
          <p:nvPr/>
        </p:nvSpPr>
        <p:spPr>
          <a:xfrm>
            <a:off x="6748272" y="3410712"/>
            <a:ext cx="4544568" cy="0"/>
          </a:xfrm>
          <a:prstGeom prst="line">
            <a:avLst/>
          </a:prstGeom>
          <a:noFill/>
          <a:ln w="12700">
            <a:solidFill>
              <a:srgbClr val="CBD5E1"/>
            </a:solidFill>
            <a:prstDash val="solid"/>
            <a:headEnd type="none"/>
            <a:tailEnd type="none"/>
          </a:ln>
        </p:spPr>
      </p:sp>
      <p:sp>
        <p:nvSpPr>
          <p:cNvPr id="22" name="Shape 19"/>
          <p:cNvSpPr/>
          <p:nvPr/>
        </p:nvSpPr>
        <p:spPr>
          <a:xfrm>
            <a:off x="731520" y="4041648"/>
            <a:ext cx="347472" cy="347472"/>
          </a:xfrm>
          <a:prstGeom prst="ellipse">
            <a:avLst/>
          </a:prstGeom>
          <a:solidFill>
            <a:srgbClr val="70AD47"/>
          </a:solidFill>
          <a:ln w="12700">
            <a:solidFill>
              <a:srgbClr val="70AD47"/>
            </a:solidFill>
            <a:prstDash val="solid"/>
          </a:ln>
        </p:spPr>
      </p:sp>
      <p:sp>
        <p:nvSpPr>
          <p:cNvPr id="23" name="Text 20"/>
          <p:cNvSpPr txBox="1"/>
          <p:nvPr/>
        </p:nvSpPr>
        <p:spPr>
          <a:xfrm>
            <a:off x="731520" y="414223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txBox="1"/>
          <p:nvPr/>
        </p:nvSpPr>
        <p:spPr>
          <a:xfrm>
            <a:off x="1261872" y="397764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makes policy language testable?</a:t>
            </a:r>
            <a:endParaRPr lang="en-US" sz="1650" dirty="0"/>
          </a:p>
        </p:txBody>
      </p:sp>
      <p:sp>
        <p:nvSpPr>
          <p:cNvPr id="25" name="Shape 22"/>
          <p:cNvSpPr/>
          <p:nvPr/>
        </p:nvSpPr>
        <p:spPr>
          <a:xfrm>
            <a:off x="1261872" y="4507992"/>
            <a:ext cx="4544568" cy="0"/>
          </a:xfrm>
          <a:prstGeom prst="line">
            <a:avLst/>
          </a:prstGeom>
          <a:noFill/>
          <a:ln w="12700">
            <a:solidFill>
              <a:srgbClr val="CBD5E1"/>
            </a:solidFill>
            <a:prstDash val="solid"/>
            <a:headEnd type="none"/>
            <a:tailEnd type="none"/>
          </a:ln>
        </p:spPr>
      </p:sp>
      <p:sp>
        <p:nvSpPr>
          <p:cNvPr id="26" name="Shape 23"/>
          <p:cNvSpPr/>
          <p:nvPr/>
        </p:nvSpPr>
        <p:spPr>
          <a:xfrm>
            <a:off x="6217920" y="4041648"/>
            <a:ext cx="347472" cy="347472"/>
          </a:xfrm>
          <a:prstGeom prst="ellipse">
            <a:avLst/>
          </a:prstGeom>
          <a:solidFill>
            <a:srgbClr val="C0504D"/>
          </a:solidFill>
          <a:ln w="12700">
            <a:solidFill>
              <a:srgbClr val="C0504D"/>
            </a:solidFill>
            <a:prstDash val="solid"/>
          </a:ln>
        </p:spPr>
      </p:sp>
      <p:sp>
        <p:nvSpPr>
          <p:cNvPr id="27" name="Text 24"/>
          <p:cNvSpPr txBox="1"/>
          <p:nvPr/>
        </p:nvSpPr>
        <p:spPr>
          <a:xfrm>
            <a:off x="6217920" y="414223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txBox="1"/>
          <p:nvPr/>
        </p:nvSpPr>
        <p:spPr>
          <a:xfrm>
            <a:off x="6748272" y="397764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makes an exception accountable?</a:t>
            </a:r>
            <a:endParaRPr lang="en-US" sz="1650" dirty="0"/>
          </a:p>
        </p:txBody>
      </p:sp>
      <p:sp>
        <p:nvSpPr>
          <p:cNvPr id="29" name="Shape 26"/>
          <p:cNvSpPr/>
          <p:nvPr/>
        </p:nvSpPr>
        <p:spPr>
          <a:xfrm>
            <a:off x="6748272" y="4507992"/>
            <a:ext cx="4544568" cy="0"/>
          </a:xfrm>
          <a:prstGeom prst="line">
            <a:avLst/>
          </a:prstGeom>
          <a:noFill/>
          <a:ln w="12700">
            <a:solidFill>
              <a:srgbClr val="CBD5E1"/>
            </a:solidFill>
            <a:prstDash val="solid"/>
            <a:headEnd type="none"/>
            <a:tailEnd type="none"/>
          </a:ln>
        </p:spPr>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REFERENCES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Primary sources for the instructor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 the standards as the why, configuration as the how, and logs as the evidence.</a:t>
            </a:r>
            <a:endParaRPr lang="en-US" sz="1250" dirty="0"/>
          </a:p>
        </p:txBody>
      </p:sp>
      <p:sp>
        <p:nvSpPr>
          <p:cNvPr id="6" name="Shape 3"/>
          <p:cNvSpPr/>
          <p:nvPr/>
        </p:nvSpPr>
        <p:spPr>
          <a:xfrm>
            <a:off x="640080" y="1700784"/>
            <a:ext cx="5074920" cy="530352"/>
          </a:xfrm>
          <a:prstGeom prst="roundRect">
            <a:avLst/>
          </a:prstGeom>
          <a:solidFill>
            <a:srgbClr val="FFFFFF"/>
          </a:solidFill>
          <a:ln w="12700">
            <a:solidFill>
              <a:srgbClr val="4BACC6"/>
            </a:solidFill>
            <a:prstDash val="solid"/>
          </a:ln>
        </p:spPr>
      </p:sp>
      <p:sp>
        <p:nvSpPr>
          <p:cNvPr id="7" name="Text 4"/>
          <p:cNvSpPr txBox="1"/>
          <p:nvPr/>
        </p:nvSpPr>
        <p:spPr>
          <a:xfrm>
            <a:off x="777240" y="1792224"/>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Zero Trust</a:t>
            </a:r>
            <a:endParaRPr lang="en-US" sz="1150" dirty="0"/>
          </a:p>
        </p:txBody>
      </p:sp>
      <p:sp>
        <p:nvSpPr>
          <p:cNvPr id="8" name="Text 5"/>
          <p:cNvSpPr txBox="1"/>
          <p:nvPr/>
        </p:nvSpPr>
        <p:spPr>
          <a:xfrm>
            <a:off x="2240280" y="1792224"/>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NIST SP 800-207</a:t>
            </a:r>
            <a:endParaRPr lang="en-US" sz="1150" dirty="0"/>
          </a:p>
        </p:txBody>
      </p:sp>
      <p:sp>
        <p:nvSpPr>
          <p:cNvPr id="9" name="Text 6"/>
          <p:cNvSpPr txBox="1"/>
          <p:nvPr/>
        </p:nvSpPr>
        <p:spPr>
          <a:xfrm>
            <a:off x="3794760" y="1792224"/>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csrc.nist.gov/pubs/sp/800/207/final</a:t>
            </a:r>
            <a:endParaRPr lang="en-US" sz="950" dirty="0"/>
          </a:p>
        </p:txBody>
      </p:sp>
      <p:sp>
        <p:nvSpPr>
          <p:cNvPr id="10" name="Shape 7"/>
          <p:cNvSpPr/>
          <p:nvPr/>
        </p:nvSpPr>
        <p:spPr>
          <a:xfrm>
            <a:off x="6263640" y="1700784"/>
            <a:ext cx="5074920" cy="530352"/>
          </a:xfrm>
          <a:prstGeom prst="roundRect">
            <a:avLst/>
          </a:prstGeom>
          <a:solidFill>
            <a:srgbClr val="FFFFFF"/>
          </a:solidFill>
          <a:ln w="12700">
            <a:solidFill>
              <a:srgbClr val="4F81BD"/>
            </a:solidFill>
            <a:prstDash val="solid"/>
          </a:ln>
        </p:spPr>
      </p:sp>
      <p:sp>
        <p:nvSpPr>
          <p:cNvPr id="11" name="Text 8"/>
          <p:cNvSpPr txBox="1"/>
          <p:nvPr/>
        </p:nvSpPr>
        <p:spPr>
          <a:xfrm>
            <a:off x="6400800" y="1792224"/>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Authentication</a:t>
            </a:r>
            <a:endParaRPr lang="en-US" sz="1150" dirty="0"/>
          </a:p>
        </p:txBody>
      </p:sp>
      <p:sp>
        <p:nvSpPr>
          <p:cNvPr id="12" name="Text 9"/>
          <p:cNvSpPr txBox="1"/>
          <p:nvPr/>
        </p:nvSpPr>
        <p:spPr>
          <a:xfrm>
            <a:off x="7863840" y="1792224"/>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NIST SP 800-63B</a:t>
            </a:r>
            <a:endParaRPr lang="en-US" sz="1150" dirty="0"/>
          </a:p>
        </p:txBody>
      </p:sp>
      <p:sp>
        <p:nvSpPr>
          <p:cNvPr id="13" name="Text 10"/>
          <p:cNvSpPr txBox="1"/>
          <p:nvPr/>
        </p:nvSpPr>
        <p:spPr>
          <a:xfrm>
            <a:off x="9418320" y="1792224"/>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pages.nist.gov/800-63-4/sp800-63b.html</a:t>
            </a:r>
            <a:endParaRPr lang="en-US" sz="950" dirty="0"/>
          </a:p>
        </p:txBody>
      </p:sp>
      <p:sp>
        <p:nvSpPr>
          <p:cNvPr id="14" name="Shape 11"/>
          <p:cNvSpPr/>
          <p:nvPr/>
        </p:nvSpPr>
        <p:spPr>
          <a:xfrm>
            <a:off x="640080" y="2542032"/>
            <a:ext cx="5074920" cy="530352"/>
          </a:xfrm>
          <a:prstGeom prst="roundRect">
            <a:avLst/>
          </a:prstGeom>
          <a:solidFill>
            <a:srgbClr val="FFFFFF"/>
          </a:solidFill>
          <a:ln w="12700">
            <a:solidFill>
              <a:srgbClr val="F79646"/>
            </a:solidFill>
            <a:prstDash val="solid"/>
          </a:ln>
        </p:spPr>
      </p:sp>
      <p:sp>
        <p:nvSpPr>
          <p:cNvPr id="15" name="Text 12"/>
          <p:cNvSpPr txBox="1"/>
          <p:nvPr/>
        </p:nvSpPr>
        <p:spPr>
          <a:xfrm>
            <a:off x="777240" y="2633472"/>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Internal policy</a:t>
            </a:r>
            <a:endParaRPr lang="en-US" sz="1150" dirty="0"/>
          </a:p>
        </p:txBody>
      </p:sp>
      <p:sp>
        <p:nvSpPr>
          <p:cNvPr id="16" name="Text 13"/>
          <p:cNvSpPr txBox="1"/>
          <p:nvPr/>
        </p:nvSpPr>
        <p:spPr>
          <a:xfrm>
            <a:off x="2240280" y="2633472"/>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GitLab Internal AUP</a:t>
            </a:r>
            <a:endParaRPr lang="en-US" sz="1150" dirty="0"/>
          </a:p>
        </p:txBody>
      </p:sp>
      <p:sp>
        <p:nvSpPr>
          <p:cNvPr id="17" name="Text 14"/>
          <p:cNvSpPr txBox="1"/>
          <p:nvPr/>
        </p:nvSpPr>
        <p:spPr>
          <a:xfrm>
            <a:off x="3794760" y="2633472"/>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handbook.gitlab.com/handbook/people-group/acceptable-use-policy</a:t>
            </a:r>
            <a:endParaRPr lang="en-US" sz="950" dirty="0"/>
          </a:p>
        </p:txBody>
      </p:sp>
      <p:sp>
        <p:nvSpPr>
          <p:cNvPr id="18" name="Shape 15"/>
          <p:cNvSpPr/>
          <p:nvPr/>
        </p:nvSpPr>
        <p:spPr>
          <a:xfrm>
            <a:off x="6263640" y="2542032"/>
            <a:ext cx="5074920" cy="530352"/>
          </a:xfrm>
          <a:prstGeom prst="roundRect">
            <a:avLst/>
          </a:prstGeom>
          <a:solidFill>
            <a:srgbClr val="FFFFFF"/>
          </a:solidFill>
          <a:ln w="12700">
            <a:solidFill>
              <a:srgbClr val="8064A2"/>
            </a:solidFill>
            <a:prstDash val="solid"/>
          </a:ln>
        </p:spPr>
      </p:sp>
      <p:sp>
        <p:nvSpPr>
          <p:cNvPr id="19" name="Text 16"/>
          <p:cNvSpPr txBox="1"/>
          <p:nvPr/>
        </p:nvSpPr>
        <p:spPr>
          <a:xfrm>
            <a:off x="6400800" y="2633472"/>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Security controls</a:t>
            </a:r>
            <a:endParaRPr lang="en-US" sz="1150" dirty="0"/>
          </a:p>
        </p:txBody>
      </p:sp>
      <p:sp>
        <p:nvSpPr>
          <p:cNvPr id="20" name="Text 17"/>
          <p:cNvSpPr txBox="1"/>
          <p:nvPr/>
        </p:nvSpPr>
        <p:spPr>
          <a:xfrm>
            <a:off x="7863840" y="2633472"/>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NIST SP 800-53</a:t>
            </a:r>
            <a:endParaRPr lang="en-US" sz="1150" dirty="0"/>
          </a:p>
        </p:txBody>
      </p:sp>
      <p:sp>
        <p:nvSpPr>
          <p:cNvPr id="21" name="Text 18"/>
          <p:cNvSpPr txBox="1"/>
          <p:nvPr/>
        </p:nvSpPr>
        <p:spPr>
          <a:xfrm>
            <a:off x="9418320" y="2633472"/>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csrc.nist.gov/pubs/sp/800/53/rev-5/final</a:t>
            </a:r>
            <a:endParaRPr lang="en-US" sz="950" dirty="0"/>
          </a:p>
        </p:txBody>
      </p:sp>
      <p:sp>
        <p:nvSpPr>
          <p:cNvPr id="22" name="Shape 19"/>
          <p:cNvSpPr/>
          <p:nvPr/>
        </p:nvSpPr>
        <p:spPr>
          <a:xfrm>
            <a:off x="640080" y="3383280"/>
            <a:ext cx="5074920" cy="530352"/>
          </a:xfrm>
          <a:prstGeom prst="roundRect">
            <a:avLst/>
          </a:prstGeom>
          <a:solidFill>
            <a:srgbClr val="FFFFFF"/>
          </a:solidFill>
          <a:ln w="12700">
            <a:solidFill>
              <a:srgbClr val="4BACC6"/>
            </a:solidFill>
            <a:prstDash val="solid"/>
          </a:ln>
        </p:spPr>
      </p:sp>
      <p:sp>
        <p:nvSpPr>
          <p:cNvPr id="23" name="Text 20"/>
          <p:cNvSpPr txBox="1"/>
          <p:nvPr/>
        </p:nvSpPr>
        <p:spPr>
          <a:xfrm>
            <a:off x="777240" y="3474720"/>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Healthcare</a:t>
            </a:r>
            <a:endParaRPr lang="en-US" sz="1150" dirty="0"/>
          </a:p>
        </p:txBody>
      </p:sp>
      <p:sp>
        <p:nvSpPr>
          <p:cNvPr id="24" name="Text 21"/>
          <p:cNvSpPr txBox="1"/>
          <p:nvPr/>
        </p:nvSpPr>
        <p:spPr>
          <a:xfrm>
            <a:off x="2240280" y="3474720"/>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HHS Security Rule</a:t>
            </a:r>
            <a:endParaRPr lang="en-US" sz="1150" dirty="0"/>
          </a:p>
        </p:txBody>
      </p:sp>
      <p:sp>
        <p:nvSpPr>
          <p:cNvPr id="25" name="Text 22"/>
          <p:cNvSpPr txBox="1"/>
          <p:nvPr/>
        </p:nvSpPr>
        <p:spPr>
          <a:xfrm>
            <a:off x="3794760" y="3474720"/>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hhs.gov/hipaa/for-professionals/security</a:t>
            </a:r>
            <a:endParaRPr lang="en-US" sz="950" dirty="0"/>
          </a:p>
        </p:txBody>
      </p:sp>
      <p:sp>
        <p:nvSpPr>
          <p:cNvPr id="26" name="Shape 23"/>
          <p:cNvSpPr/>
          <p:nvPr/>
        </p:nvSpPr>
        <p:spPr>
          <a:xfrm>
            <a:off x="6263640" y="3383280"/>
            <a:ext cx="5074920" cy="530352"/>
          </a:xfrm>
          <a:prstGeom prst="roundRect">
            <a:avLst/>
          </a:prstGeom>
          <a:solidFill>
            <a:srgbClr val="FFFFFF"/>
          </a:solidFill>
          <a:ln w="12700">
            <a:solidFill>
              <a:srgbClr val="4F81BD"/>
            </a:solidFill>
            <a:prstDash val="solid"/>
          </a:ln>
        </p:spPr>
      </p:sp>
      <p:sp>
        <p:nvSpPr>
          <p:cNvPr id="27" name="Text 24"/>
          <p:cNvSpPr txBox="1"/>
          <p:nvPr/>
        </p:nvSpPr>
        <p:spPr>
          <a:xfrm>
            <a:off x="6400800" y="3474720"/>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Payment cards</a:t>
            </a:r>
            <a:endParaRPr lang="en-US" sz="1150" dirty="0"/>
          </a:p>
        </p:txBody>
      </p:sp>
      <p:sp>
        <p:nvSpPr>
          <p:cNvPr id="28" name="Text 25"/>
          <p:cNvSpPr txBox="1"/>
          <p:nvPr/>
        </p:nvSpPr>
        <p:spPr>
          <a:xfrm>
            <a:off x="7863840" y="3474720"/>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PCI DSS</a:t>
            </a:r>
            <a:endParaRPr lang="en-US" sz="1150" dirty="0"/>
          </a:p>
        </p:txBody>
      </p:sp>
      <p:sp>
        <p:nvSpPr>
          <p:cNvPr id="29" name="Text 26"/>
          <p:cNvSpPr txBox="1"/>
          <p:nvPr/>
        </p:nvSpPr>
        <p:spPr>
          <a:xfrm>
            <a:off x="9418320" y="3474720"/>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pcisecuritystandards.org/standards/pci-dss</a:t>
            </a:r>
            <a:endParaRPr lang="en-US" sz="950" dirty="0"/>
          </a:p>
        </p:txBody>
      </p:sp>
      <p:sp>
        <p:nvSpPr>
          <p:cNvPr id="30" name="Shape 27"/>
          <p:cNvSpPr/>
          <p:nvPr/>
        </p:nvSpPr>
        <p:spPr>
          <a:xfrm>
            <a:off x="640080" y="4224528"/>
            <a:ext cx="5074920" cy="530352"/>
          </a:xfrm>
          <a:prstGeom prst="roundRect">
            <a:avLst/>
          </a:prstGeom>
          <a:solidFill>
            <a:srgbClr val="FFFFFF"/>
          </a:solidFill>
          <a:ln w="12700">
            <a:solidFill>
              <a:srgbClr val="F79646"/>
            </a:solidFill>
            <a:prstDash val="solid"/>
          </a:ln>
        </p:spPr>
      </p:sp>
      <p:sp>
        <p:nvSpPr>
          <p:cNvPr id="31" name="Text 28"/>
          <p:cNvSpPr txBox="1"/>
          <p:nvPr/>
        </p:nvSpPr>
        <p:spPr>
          <a:xfrm>
            <a:off x="777240" y="4315968"/>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Privacy</a:t>
            </a:r>
            <a:endParaRPr lang="en-US" sz="1150" dirty="0"/>
          </a:p>
        </p:txBody>
      </p:sp>
      <p:sp>
        <p:nvSpPr>
          <p:cNvPr id="32" name="Text 29"/>
          <p:cNvSpPr txBox="1"/>
          <p:nvPr/>
        </p:nvSpPr>
        <p:spPr>
          <a:xfrm>
            <a:off x="2240280" y="4315968"/>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EUR-Lex GDPR</a:t>
            </a:r>
            <a:endParaRPr lang="en-US" sz="1150" dirty="0"/>
          </a:p>
        </p:txBody>
      </p:sp>
      <p:sp>
        <p:nvSpPr>
          <p:cNvPr id="33" name="Text 30"/>
          <p:cNvSpPr txBox="1"/>
          <p:nvPr/>
        </p:nvSpPr>
        <p:spPr>
          <a:xfrm>
            <a:off x="3794760" y="4315968"/>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eur-lex.europa.eu/eli/reg/2016/679/oj</a:t>
            </a:r>
            <a:endParaRPr lang="en-US" sz="950" dirty="0"/>
          </a:p>
        </p:txBody>
      </p:sp>
      <p:sp>
        <p:nvSpPr>
          <p:cNvPr id="34" name="Shape 31"/>
          <p:cNvSpPr/>
          <p:nvPr/>
        </p:nvSpPr>
        <p:spPr>
          <a:xfrm>
            <a:off x="6263640" y="4224528"/>
            <a:ext cx="5074920" cy="530352"/>
          </a:xfrm>
          <a:prstGeom prst="roundRect">
            <a:avLst/>
          </a:prstGeom>
          <a:solidFill>
            <a:srgbClr val="FFFFFF"/>
          </a:solidFill>
          <a:ln w="12700">
            <a:solidFill>
              <a:srgbClr val="8064A2"/>
            </a:solidFill>
            <a:prstDash val="solid"/>
          </a:ln>
        </p:spPr>
      </p:sp>
      <p:sp>
        <p:nvSpPr>
          <p:cNvPr id="35" name="Text 32"/>
          <p:cNvSpPr txBox="1"/>
          <p:nvPr/>
        </p:nvSpPr>
        <p:spPr>
          <a:xfrm>
            <a:off x="6400800" y="4315968"/>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Policy templates</a:t>
            </a:r>
            <a:endParaRPr lang="en-US" sz="1150" dirty="0"/>
          </a:p>
        </p:txBody>
      </p:sp>
      <p:sp>
        <p:nvSpPr>
          <p:cNvPr id="36" name="Text 33"/>
          <p:cNvSpPr txBox="1"/>
          <p:nvPr/>
        </p:nvSpPr>
        <p:spPr>
          <a:xfrm>
            <a:off x="7863840" y="4315968"/>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SANS resources</a:t>
            </a:r>
            <a:endParaRPr lang="en-US" sz="1150" dirty="0"/>
          </a:p>
        </p:txBody>
      </p:sp>
      <p:sp>
        <p:nvSpPr>
          <p:cNvPr id="37" name="Text 34"/>
          <p:cNvSpPr txBox="1"/>
          <p:nvPr/>
        </p:nvSpPr>
        <p:spPr>
          <a:xfrm>
            <a:off x="9418320" y="4315968"/>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sans.org/information-security-policy</a:t>
            </a:r>
            <a:endParaRPr lang="en-US" sz="950" dirty="0"/>
          </a:p>
        </p:txBody>
      </p:sp>
      <p:sp>
        <p:nvSpPr>
          <p:cNvPr id="38" name="Shape 35"/>
          <p:cNvSpPr/>
          <p:nvPr/>
        </p:nvSpPr>
        <p:spPr>
          <a:xfrm>
            <a:off x="640080" y="5065776"/>
            <a:ext cx="5074920" cy="530352"/>
          </a:xfrm>
          <a:prstGeom prst="roundRect">
            <a:avLst/>
          </a:prstGeom>
          <a:solidFill>
            <a:srgbClr val="FFFFFF"/>
          </a:solidFill>
          <a:ln w="12700">
            <a:solidFill>
              <a:srgbClr val="4BACC6"/>
            </a:solidFill>
            <a:prstDash val="solid"/>
          </a:ln>
        </p:spPr>
      </p:sp>
      <p:sp>
        <p:nvSpPr>
          <p:cNvPr id="39" name="Text 36"/>
          <p:cNvSpPr txBox="1"/>
          <p:nvPr/>
        </p:nvSpPr>
        <p:spPr>
          <a:xfrm>
            <a:off x="777240" y="5157216"/>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ISMS</a:t>
            </a:r>
            <a:endParaRPr lang="en-US" sz="1150" dirty="0"/>
          </a:p>
        </p:txBody>
      </p:sp>
      <p:sp>
        <p:nvSpPr>
          <p:cNvPr id="40" name="Text 37"/>
          <p:cNvSpPr txBox="1"/>
          <p:nvPr/>
        </p:nvSpPr>
        <p:spPr>
          <a:xfrm>
            <a:off x="2240280" y="5157216"/>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ISO/IEC 27001:2022</a:t>
            </a:r>
            <a:endParaRPr lang="en-US" sz="1150" dirty="0"/>
          </a:p>
        </p:txBody>
      </p:sp>
      <p:sp>
        <p:nvSpPr>
          <p:cNvPr id="41" name="Text 38"/>
          <p:cNvSpPr txBox="1"/>
          <p:nvPr/>
        </p:nvSpPr>
        <p:spPr>
          <a:xfrm>
            <a:off x="3794760" y="5157216"/>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iso.org/standard/27001.html</a:t>
            </a:r>
            <a:endParaRPr lang="en-US" sz="950" dirty="0"/>
          </a:p>
        </p:txBody>
      </p:sp>
      <p:sp>
        <p:nvSpPr>
          <p:cNvPr id="42" name="Shape 39"/>
          <p:cNvSpPr/>
          <p:nvPr/>
        </p:nvSpPr>
        <p:spPr>
          <a:xfrm>
            <a:off x="6263640" y="5065776"/>
            <a:ext cx="5074920" cy="530352"/>
          </a:xfrm>
          <a:prstGeom prst="roundRect">
            <a:avLst/>
          </a:prstGeom>
          <a:solidFill>
            <a:srgbClr val="FFFFFF"/>
          </a:solidFill>
          <a:ln w="12700">
            <a:solidFill>
              <a:srgbClr val="4F81BD"/>
            </a:solidFill>
            <a:prstDash val="solid"/>
          </a:ln>
        </p:spPr>
      </p:sp>
      <p:sp>
        <p:nvSpPr>
          <p:cNvPr id="43" name="Text 40"/>
          <p:cNvSpPr txBox="1"/>
          <p:nvPr/>
        </p:nvSpPr>
        <p:spPr>
          <a:xfrm>
            <a:off x="6400800" y="5157216"/>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Financial data</a:t>
            </a:r>
            <a:endParaRPr lang="en-US" sz="1150" dirty="0"/>
          </a:p>
        </p:txBody>
      </p:sp>
      <p:sp>
        <p:nvSpPr>
          <p:cNvPr id="44" name="Text 41"/>
          <p:cNvSpPr txBox="1"/>
          <p:nvPr/>
        </p:nvSpPr>
        <p:spPr>
          <a:xfrm>
            <a:off x="7863840" y="5157216"/>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FTC GLBA guidance</a:t>
            </a:r>
            <a:endParaRPr lang="en-US" sz="1150" dirty="0"/>
          </a:p>
        </p:txBody>
      </p:sp>
      <p:sp>
        <p:nvSpPr>
          <p:cNvPr id="45" name="Text 42"/>
          <p:cNvSpPr txBox="1"/>
          <p:nvPr/>
        </p:nvSpPr>
        <p:spPr>
          <a:xfrm>
            <a:off x="9418320" y="5157216"/>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ftc.gov/business-guidance/privacy-security/gramm-leach-bliley-act</a:t>
            </a:r>
            <a:endParaRPr lang="en-US" sz="950" dirty="0"/>
          </a:p>
        </p:txBody>
      </p:sp>
      <p:sp>
        <p:nvSpPr>
          <p:cNvPr id="46" name="Shape 43"/>
          <p:cNvSpPr/>
          <p:nvPr/>
        </p:nvSpPr>
        <p:spPr>
          <a:xfrm>
            <a:off x="640080" y="5907024"/>
            <a:ext cx="5074920" cy="530352"/>
          </a:xfrm>
          <a:prstGeom prst="roundRect">
            <a:avLst/>
          </a:prstGeom>
          <a:solidFill>
            <a:srgbClr val="FFFFFF"/>
          </a:solidFill>
          <a:ln w="12700">
            <a:solidFill>
              <a:srgbClr val="F79646"/>
            </a:solidFill>
            <a:prstDash val="solid"/>
          </a:ln>
        </p:spPr>
      </p:sp>
      <p:sp>
        <p:nvSpPr>
          <p:cNvPr id="47" name="Text 44"/>
          <p:cNvSpPr txBox="1"/>
          <p:nvPr/>
        </p:nvSpPr>
        <p:spPr>
          <a:xfrm>
            <a:off x="777240" y="5998464"/>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Public AUP</a:t>
            </a:r>
            <a:endParaRPr lang="en-US" sz="1150" dirty="0"/>
          </a:p>
        </p:txBody>
      </p:sp>
      <p:sp>
        <p:nvSpPr>
          <p:cNvPr id="48" name="Text 45"/>
          <p:cNvSpPr txBox="1"/>
          <p:nvPr/>
        </p:nvSpPr>
        <p:spPr>
          <a:xfrm>
            <a:off x="2240280" y="5998464"/>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GitLab and Atlassian</a:t>
            </a:r>
            <a:endParaRPr lang="en-US" sz="1150" dirty="0"/>
          </a:p>
        </p:txBody>
      </p:sp>
      <p:sp>
        <p:nvSpPr>
          <p:cNvPr id="49" name="Text 46"/>
          <p:cNvSpPr txBox="1"/>
          <p:nvPr/>
        </p:nvSpPr>
        <p:spPr>
          <a:xfrm>
            <a:off x="3794760" y="5998464"/>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handbook.gitlab.com/handbook/legal/acceptable-use-policy</a:t>
            </a:r>
            <a:endParaRPr lang="en-US" sz="950" dirty="0"/>
          </a:p>
        </p:txBody>
      </p:sp>
      <p:sp>
        <p:nvSpPr>
          <p:cNvPr id="50" name="Shape 47"/>
          <p:cNvSpPr/>
          <p:nvPr/>
        </p:nvSpPr>
        <p:spPr>
          <a:xfrm>
            <a:off x="6263640" y="5907024"/>
            <a:ext cx="5074920" cy="530352"/>
          </a:xfrm>
          <a:prstGeom prst="roundRect">
            <a:avLst/>
          </a:prstGeom>
          <a:solidFill>
            <a:srgbClr val="FFFFFF"/>
          </a:solidFill>
          <a:ln w="12700">
            <a:solidFill>
              <a:srgbClr val="8064A2"/>
            </a:solidFill>
            <a:prstDash val="solid"/>
          </a:ln>
        </p:spPr>
      </p:sp>
      <p:sp>
        <p:nvSpPr>
          <p:cNvPr id="51" name="Text 48"/>
          <p:cNvSpPr txBox="1"/>
          <p:nvPr/>
        </p:nvSpPr>
        <p:spPr>
          <a:xfrm>
            <a:off x="6400800" y="5998464"/>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Policy critique</a:t>
            </a:r>
            <a:endParaRPr lang="en-US" sz="1150" dirty="0"/>
          </a:p>
        </p:txBody>
      </p:sp>
      <p:sp>
        <p:nvSpPr>
          <p:cNvPr id="52" name="Text 49"/>
          <p:cNvSpPr txBox="1"/>
          <p:nvPr/>
        </p:nvSpPr>
        <p:spPr>
          <a:xfrm>
            <a:off x="7863840" y="5998464"/>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Trinity Code of Conduct</a:t>
            </a:r>
            <a:endParaRPr lang="en-US" sz="1150" dirty="0"/>
          </a:p>
        </p:txBody>
      </p:sp>
      <p:sp>
        <p:nvSpPr>
          <p:cNvPr id="53" name="Text 50"/>
          <p:cNvSpPr txBox="1"/>
          <p:nvPr/>
        </p:nvSpPr>
        <p:spPr>
          <a:xfrm>
            <a:off x="9418320" y="5998464"/>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s25.q4cdn.com/.../Trinity-Code-of-Conduct_English.pdf</a:t>
            </a:r>
            <a:endParaRPr lang="en-US" sz="9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CYBER 444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 444 - PAM, MFA, Privileged Access, and Enterprise Policy</dc:title>
  <dc:subject>PAM, MFA, Privileged Access, and Enterprise Policy</dc:subject>
  <dc:creator>CYBER 444</dc:creator>
  <cp:lastModifiedBy>CYBER 444</cp:lastModifiedBy>
  <cp:revision>1</cp:revision>
  <dcterms:created xsi:type="dcterms:W3CDTF">2026-10-06T07:53:46Z</dcterms:created>
  <dcterms:modified xsi:type="dcterms:W3CDTF">2026-10-06T07:53:46Z</dcterms:modified>
</cp:coreProperties>
</file>