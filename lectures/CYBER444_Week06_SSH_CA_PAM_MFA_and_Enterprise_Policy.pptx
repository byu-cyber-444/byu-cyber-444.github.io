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intent: Week 5 established certificates and TLS. Week 6 moves the same trust ideas into administrator access and organizational policy.
Ask: What has to be true before a privileged SSH session should begin?
Expected themes: authenticated identity, trusted device, authorized action, monitored session, and policy-backed accountability.
Citations:
- NIST SP 800-207, https://csrc.nist.gov/pubs/sp/800/207/final
- OpenBSD ssh-keygen manual, https://man.openbsd.org/ssh-keygen.1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for a one-sentence definition before revealing the model.
Model answer: network location is not enough to grant trust. Access decisions should authenticate and authorize the subject and device for the requested resource, then continue monitoring the session.
Citations: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self-check. Ask which objective is easiest to demonstrate and which is easiest to get wrong operationally.
Model answer: the strongest design connects all of them. Authentication without authorization is not least privilege; policy without enforcement is not control.
Citations:
- NIST SP 800-207, https://csrc.nist.gov/pubs/sp/800/207/final
- OpenBSD ssh-keygen manual, https://man.openbsd.org/ssh-keygen.1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five-pillar framing is a teaching model. NIST SP 800-207 emphasizes resources, identities, devices, policy, and continuous evaluation rather than a trusted network perimeter.
Discussion: Which pillar is strongest in the current campus lab? Which is weakest?
Citations: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example: Alice proves control of a private key and a TOTP authenticator. That does not automatically permit root access, database access, or a command.
Ask groups to write one authentication fact and one authorization fact for an administrator.
Citations:
- NIST SP 800-207, https://csrc.nist.gov/pubs/sp/800/207/final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Trust on First Use: the client remembers a host key after the first connection, but the first observation is vulnerable to interception or operator error.
SSH host certificates let clients trust a CA key and validate signed host identities. They do not remove the need for key protection or correct principals.
Citations:
- OpenBSD ssh-keygen manual, https://man.openbsd.org/ssh-keygen.1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match each algorithm to a job before revealing the cards.
Clarify that Ed25519 and RSA are key or signature choices, SHA-2 is a hash family, HMAC is a keyed integrity primitive, and TOTP is a protocol built from a shared secret plus time and HMAC.
The algorithm choice is only one part of the policy. Key handling, validity, scope, and monitoring matter too.
Citations:
- OpenBSD ssh-keygen manual, https://man.openbsd.org/ssh-keygen.1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Prevent a common transfer error from Week 5. OpenSSH certificates are simple signed credentials containing a public key, identity information, principals, validity, and options. X.509 is a different certificate format used by TLS and many other systems.
Ask: What would break if you copied an X.509 mental model directly into `ssh-keygen`?
Citations:
- OpenBSD ssh-keygen manual, https://man.openbsd.org/ssh-keygen.1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fields to ask what a compromised user certificate can and cannot do. Emphasize that a principal is not the same as a Unix username unless the server policy maps it that way.
Citations:
- OpenBSD ssh-keygen manual, https://man.openbsd.org/ssh-keygen.1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direction of trust: user certificates authenticate users to servers; host certificates authenticate servers to users.
Ask: Why does a host certificate still need correct host principals? Because the CA signature alone does not prove the certificate is for the hostname the client intended to reach.
Citations:
- OpenBSD ssh-keygen manual, https://man.openbsd.org/ssh-keygen.1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CA key can technically sign both types, but separating roles makes policy, audit, and emergency replacement clearer.
Ask groups to decide which CA key should be trusted on servers, which on clients, and what compromise each one exposes.
Citations:
- OpenBSD ssh-keygen manual, https://man.openbsd.org/ssh-keygen.1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lifecycle in four verbs. The requester generates the key and proves possession. The issuer validates identity and policy, then signs the certificate with the intended principals, validity, and options. Delivery should include only what the verifier needs.
Citations:
- OpenBSD ssh-keygen manual, https://man.openbsd.org/ssh-keygen.1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usual pattern: `TrustedUserCAKeys` establishes which CA keys can sign; `AuthorizedPrincipalsFile` maps accepted principals to a local account.
Ask: If Alice has a valid certificate with principal `bob`, should she be able to log in as Bob? No, unless policy explicitly allows that principal mapping.
Citations: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groups rank the controls from strongest to weakest if a user credential is stolen. The correct answer depends on the threat model, but short validity, narrow principals, source restrictions, disabled forwarding, and forced commands reduce different attack paths.
Citations:
- OpenBSD ssh-keygen manual, https://man.openbsd.org/ssh-keygen.1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difference between a certificate reaching NotAfter and an administrator revoking it early. KRLs can revoke by certificate serial, key ID, or key material.
Ask: What evidence should trigger immediate revocation? Lost private key, suspected key theft, employee departure, CA compromise, or a principal mapping error.
Citations:
- OpenBSD ssh-keygen manual, https://man.openbsd.org/ssh-keygen.1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configuration-reading exercise. On the server, inspect the CA trust file, principal mapping, revoked-key file, and authentication methods. On the client, inspect host CA trust and host certificate behavior.
Ask students which file they would check first for each symptom.
Citations: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groups five minutes. Require each design to name: user CA, host CA, key custody, certificate lifetime, principal strategy, revocation path, and what happens during CA compromise.
Model answer should separate user and host trust, keep CA keys out of routine host administration, use short-lived credentials, centralize issuance logs, and define rollover before deployment.
Citations:
- OpenBSD ssh-keygen manual, https://man.openbsd.org/ssh-keygen.1
- NIST SP 800-53 Rev. 5, https://csrc.nist.gov/pubs/sp/800/53/rev-5/final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checkpoint. Show a sanitized `ssh-keygen -L` output. Ask students to point to key ID, serial, principals, validity, critical options, extensions, and signing CA.
Model answer: the output is evidence for the signed claim, but server configuration still determines whether the CA and principal are accepted.
Citations:
- OpenBSD ssh-keygen manual, https://man.openbsd.org/ssh-keygen.1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 placeholder. Debrief the difference between a remembered key and a CA-backed identity claim.
Prompt: What evidence would you want before accepting a changed host key in production?
Expected themes: out-of-band fingerprint, host certificate validation, incident context, and change record.
Citations: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PAM is not itself MFA. PAM provides a stack where modules can check credentials, account status, session setup, and more.
Ask students to identify which failure should stop access immediately and which should be logged for follow-up.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factor categories: knowledge, possession, and inherence. Then make the operational point: a factor can be strong in theory but weak in enrollment, recovery, or help-desk handling.
Ask: Is an SSH private key plus a TOTP code two factors? Yes, possession of the key plus possession of the authenticator secret or device, assuming they are managed separately.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moving parts without overclaiming: the prover and verifier share a secret, derive a time step, and calculate a code. The verifier should rate-limit attempts and handle clock drift deliberately.
Ask: What happens if the secret is copied during enrollment? The attacker can generate valid codes until the secret is revoked or replaced.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FIDO2 with TOTP. TOTP can be phished because a user can type the code into an impostor site. WebAuthn uses public-key cryptography and verifier name binding, so the authenticator will not normally produce a valid response for a different origin.
Avoid saying “unbreakable.” Hardware, account recovery, and endpoint compromise still matter.
Citations:
- NIST SP 800-63B, https://pages.nist.gov/800-63-4/sp800-63b.html
- W3C WebAuthn, https://www.w3.org/TR/webauthn-3/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the table verbally. Avoid declaring one method universally best.
Suggested model: FIDO2 is strongest for phishing resistance; TOTP is broadly deployable and can work offline; push is easy to use but needs anti-fatigue controls and careful approval messaging.
Tie the choice to the resource and user population.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lifecycle: proof identity, bind authenticator, verify possession, record the event, deliver recovery material safely, and rehearse replacement.
Ask: Who is allowed to reset an administrator authenticator, and what evidence should that person require?
Citations: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these failure cases: phone lost, clock drift, push outage, FIDO2 key lost, user denies a prompt, help desk social engineering, and emergency break-glass.
Model answer: use documented recovery, independent verification, rate limiting, time-bounded exception access, and post-event review. Do not normalize bypass as the default support path.
Citations: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syntax conceptually: `publickey,keyboard-interactive` means both methods must succeed, in that order.
Clarify that the exact PAM module and keyboard-interactive configuration must match the deployment. Test with a non-production account before enforcing globally.
Citations:
- OpenBSD sshd_config manual, https://man.openbsd.org/sshd_config.5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architecture: administrators authenticate to a hardened entry point, then receive narrowly scoped access to internal targets. The bastion should enforce MFA, certificate trust, session logging, network restrictions, and administrative policy.
Ask: What new risk does the bastion create? It becomes a high-value control point and must be hardened, monitored, backed up, and recoverable.
Citations:
- NIST SP 800-207, https://csrc.nist.gov/pubs/sp/800/207/final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what makes a sudo rule narrow: named account, exact command path, exact arguments where practical, target host, time window, and logging.
Ask: What is wrong with granting unrestricted sudo to every member of an operations group? Model answer: it collapses authentication, authorization, accountability, and blast radius into one broad permission.
Citations: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two enforcement points: a server-side `Match` block can force behavior for a user, and a certificate option can carry a forced command.
Ask: What must also be disabled for a restricted account? Unneeded forwarding, PTY access, agent forwarding, and interactive shell paths.
Citations:
- OpenBSD ssh-keygen manual, https://man.openbsd.org/ssh-keygen.1
- OpenBSD sshd_config manual, https://man.openbsd.org/sshd_config.5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prevention from detection. Session recording can help investigate misuse, but it does not replace least privilege, MFA, or approval.
Discuss the privacy and retention questions: who may view recordings, how long are they kept, how are sensitive inputs protected, and how is time synchronized?
Citations:
- NIST SP 800-53 Rev. 5, https://csrc.nist.gov/pubs/sp/800/53/rev-5/final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owns the service account? What resource does it need? How is its key rotated? How is use distinguished from a human operator?
Model answer: named owner, narrow scope, managed secret storage, short-lived or rotated credentials, no interactive shell, logs with workload identity, and an emergency disable path.
Citations:
- NIST SP 800-207, https://csrc.nist.gov/pubs/sp/800/207/final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a production bastion log shows a valid administrator certificate used from an unusual source address. Groups must name the first five actions.
Model answer: preserve evidence, disable or revoke the credential, identify scope and CA, restrict the account or network path, notify the owner and incident process, and reissue only after containment. Do not delete logs or blindly rotate every key without a plan.
Citations:
- OpenBSD ssh-keygen manual, https://man.openbsd.org/ssh-keygen.1
- NIST SP 800-53 Rev. 5, https://csrc.nist.gov/pubs/sp/800/53/rev-5/final
- NIST SP 800-207, https://csrc.nist.gov/pubs/sp/800/207/final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 placeholder. Debrief the system design response: number matching, clear origin details, rate limits, user reporting, FIDO2 for high-risk access, and response playbooks.
Avoid blaming users for a workflow that trains them to approve prompts quickly.
Citations:
- NIST SP 800-63B, https://pages.nist.gov/800-63-4/sp800-63b.html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four-layer model: policy states intent and authority; standard states mandatory technical requirements; guideline gives recommendations; procedure gives repeatable steps.
Ask groups to classify examples: “MFA required for remote admin access” is policy; “FIDO2 or TOTP plus public key” is a standard; “prefer FIDO2” is a guideline; “enroll a token using these steps” is a procedure.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how to turn “systems should be secured appropriately” into a testable requirement.
Model answer: name the system population, responsible role, required control, evidence source, review interval, exception authority, and expiration.
Ask: Which words create ambiguity? “Appropriate,” “regularly,” “as needed,” and “securely” unless defined.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what an AUP should make explicit: authorized use, prohibited behavior, monitoring disclosure, credential handling, software installation, AI and data handling if applicable, reporting, and consequences.
For password and authentication policy, connect the technical controls to account types, privileged access, MFA, service accounts, exceptions, and review.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endpoint to resource: managed device posture, approved network path, strong authentication, bastion or VDI, least privilege, logging, and incident reporting for lost devices.
Ask: What changes for BYOD? The organization may control less of the device, so access must be narrower or require additional controls.
Citations:
- NIST SP 800-207, https://csrc.nist.gov/pubs/sp/800/207/final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four example tiers: Public, Internal, Confidential, Restricted. Ask students to place an SSH private key, customer record, public course page, and incident log into a tier.
Model answer: the exact tier depends on the organization’s scheme, but secrets and regulated personal data require stronger access, storage, transmission, retention, and disposal controls.
Citations:
- NIST SP 800-53 Rev. 5, https://csrc.nist.gov/pubs/sp/800/53/rev-5/final
- HHS Security Rule, https://www.hhs.gov/hipaa/for-professionals/security/laws-regulations/index.html
- PCI Security Standards Council, https://www.pcisecuritystandards.org/standards/pci-dss/
- EUR-Lex GDPR text, https://eur-lex.europa.eu/eli/reg/2016/679/oj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as a conceptual mapping, not legal advice.
HIPAA Security Rule examples include access control, audit controls, integrity, person or entity authentication, and transmission security. PCI DSS has payment-card-specific requirements. GDPR affects personal-data processing, security, and processor relationships.
Ask: Which technical control supports more than one obligation?
Citations:
- HHS Security Rule, https://www.hhs.gov/hipaa/for-professionals/security/laws-regulations/index.html
- PCI Security Standards Council, https://www.pcisecuritystandards.org/standards/pci-dss/
- EUR-Lex GDPR text, https://eur-lex.europa.eu/eli/reg/2016/679/oj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minimum vendor controls: named accounts, MFA, approved remote path, least privilege, logging, incident notification, access review, data-sharing terms, and termination steps.
Explain the role of SLA, OLA, BAA, and DPA as different kinds of agreements. Do not treat a SOC report as a substitute for scoped access design.
Citations:
- NIST SP 800-207, https://csrc.nist.gov/pubs/sp/800/207/final
- NIST SP 800-53 Rev. 5, https://csrc.nist.gov/pubs/sp/800/53/rev-5/final
- HHS Security Rule, https://www.hhs.gov/hipaa/for-professionals/security/laws-regulations/index.html
- EUR-Lex GDPR text, https://eur-lex.europa.eu/eli/reg/2016/679/oj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minimum exception fields: requirement, business reason, risk, compensating controls, owner, approver, expiration, and review trigger.
Ask why “temporary” needs a date. Model answer: without an expiry, an exception becomes an undocumented permanent architecture.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what should trigger an ad hoc review: breach, regulatory change, technology change, major vendor change, audit finding, or repeated exception.
Model answer: use both a calendar and event triggers. Assign an owner, version, effective date, review date, approval record, and change history.
Citations:
- SANS Information Security Policy Templates, https://www.sans.org/information-security-policy/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 placeholder. Debrief with two questions: Who owns the risk now? What evidence would show the exception is ready to close?
Use this to transition from policy language to operational discipline.
Citations:
- SANS Information Security Policy Templates, https://www.sans.org/information-security-policy/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final troubleshooting framework.
For an SSH failure, check: client is using the intended key or certificate, certificate is within validity, CA is trusted, principal is accepted, source or options are allowed, PAM methods are available, account is permitted, and logs show the decision.
For policy failures, check owner, scope, standard, evidence, exception, and expiry.
Citations:
- OpenBSD ssh-keygen manual, https://man.openbsd.org/ssh-keygen.1
- OpenBSD sshd_config manual, https://man.openbsd.org/sshd_config.5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each group one scenario: CA key compromise, MFA provider outage, vendor account left active, BYOD device loss, or repeated policy exceptions.
Require four answers: immediate containment, evidence to collect, long-term control, and policy sentence that makes the control enforceable.
Listen for answers that connect technical controls to ownership and recovery.
Citations:
- NIST SP 800-207, https://csrc.nist.gov/pubs/sp/800/207/final
- NIST SP 800-53 Rev. 5, https://csrc.nist.gov/pubs/sp/800/53/rev-5/final
- OpenBSD ssh-keygen manual, https://man.openbsd.org/ssh-keygen.1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written exit ticket or final verbal check.
Expected answers: 1) authentication proves control of an authenticator; 2) authorization defines allowed action; 3) SSH certificates are signed claims with principals and options; 4) MFA enrollment and recovery are security boundaries; 5) least privilege needs technical and policy enforcement; 6) an exception requires owner, evidence, compensating controls, and expiry.
Citations:
- NIST SP 800-207, https://csrc.nist.gov/pubs/sp/800/207/final
- OpenBSD ssh-keygen manual, https://man.openbsd.org/ssh-keygen.1
- NIST SP 800-63B, https://pages.nist.gov/800-63-4/sp800-63b.html
- NIST SP 800-53 Rev. 5, https://csrc.nist.gov/pubs/sp/800/53/rev-5/final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intentionally compact. Full citations are embedded in speaker notes throughout the deck. Verify current organizational and regulatory requirements before teaching them as policy.
The deck deliberately avoids visible source footers and keeps the references in notes and this final reference map.
Citations:
- NIST SP 800-207, https://csrc.nist.gov/pubs/sp/800/207/final
- NIST SP 800-63B, https://pages.nist.gov/800-63-4/sp800-63b.html
- OpenBSD ssh-keygen manual, https://man.openbsd.org/ssh-keygen.1
- OpenBSD sshd_config manual, https://man.openbsd.org/sshd_config.5
- NIST SP 800-53 Rev. 5, https://csrc.nist.gov/pubs/sp/800/53/rev-5/final
- HHS Security Rule, https://www.hhs.gov/hipaa/for-professionals/security/laws-regulations/index.html
- PCI Security Standards Council, https://www.pcisecuritystandards.org/standards/pci-dss/
- EUR-Lex GDPR text, https://eur-lex.europa.eu/eli/reg/2016/679/oj
- SANS Information Security Policy Templates, https://www.sans.org/information-security-policy/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YBER44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1F497D"/>
          </a:solidFill>
          <a:ln w="12700">
            <a:solidFill>
              <a:srgbClr val="1F497D"/>
            </a:solidFill>
            <a:prstDash val="solid"/>
          </a:ln>
        </p:spPr>
      </p:sp>
      <p:sp>
        <p:nvSpPr>
          <p:cNvPr id="3" name="Text 1"/>
          <p:cNvSpPr/>
          <p:nvPr/>
        </p:nvSpPr>
        <p:spPr>
          <a:xfrm>
            <a:off x="411480" y="6565392"/>
            <a:ext cx="5303520"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CYBER 444  ·  SSH CA / PAM / POLICY</a:t>
            </a:r>
            <a:endParaRPr lang="en-US" sz="800" dirty="0"/>
          </a:p>
        </p:txBody>
      </p:sp>
      <p:sp>
        <p:nvSpPr>
          <p:cNvPr id="4" name="Text 2"/>
          <p:cNvSpPr/>
          <p:nvPr/>
        </p:nvSpPr>
        <p:spPr>
          <a:xfrm>
            <a:off x="10561320" y="6565392"/>
            <a:ext cx="1143000" cy="164592"/>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Fall 2026</a:t>
            </a:r>
            <a:endParaRPr lang="en-US" sz="8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97D"/>
        </a:solidFill>
      </p:bgPr>
    </p:bg>
    <p:spTree>
      <p:nvGrpSpPr>
        <p:cNvPr id="1" name=""/>
        <p:cNvGrpSpPr/>
        <p:nvPr/>
      </p:nvGrpSpPr>
      <p:grpSpPr>
        <a:xfrm>
          <a:off x="0" y="0"/>
          <a:ext cx="0" cy="0"/>
          <a:chOff x="0" y="0"/>
          <a:chExt cx="0" cy="0"/>
        </a:xfrm>
      </p:grpSpPr>
      <p:sp>
        <p:nvSpPr>
          <p:cNvPr id="2" name="Shape 0"/>
          <p:cNvSpPr/>
          <p:nvPr/>
        </p:nvSpPr>
        <p:spPr>
          <a:xfrm>
            <a:off x="0" y="0"/>
            <a:ext cx="12191695" cy="137160"/>
          </a:xfrm>
          <a:prstGeom prst="rect">
            <a:avLst/>
          </a:prstGeom>
          <a:solidFill>
            <a:srgbClr val="4BACC6"/>
          </a:solidFill>
          <a:ln w="12700">
            <a:solidFill>
              <a:srgbClr val="4BACC6"/>
            </a:solidFill>
            <a:prstDash val="solid"/>
          </a:ln>
        </p:spPr>
      </p:sp>
      <p:sp>
        <p:nvSpPr>
          <p:cNvPr id="3" name="Text 1"/>
          <p:cNvSpPr txBox="1"/>
          <p:nvPr/>
        </p:nvSpPr>
        <p:spPr>
          <a:xfrm>
            <a:off x="621792" y="566928"/>
            <a:ext cx="2011680" cy="274320"/>
          </a:xfrm>
          <a:prstGeom prst="rect">
            <a:avLst/>
          </a:prstGeom>
          <a:noFill/>
          <a:ln/>
        </p:spPr>
        <p:txBody>
          <a:bodyPr wrap="square" lIns="508" tIns="508" rIns="508" bIns="508" rtlCol="0" anchor="ctr">
            <a:normAutofit/>
          </a:bodyPr>
          <a:lstStyle/>
          <a:p>
            <a:pPr algn="l" indent="0" marL="0">
              <a:buNone/>
            </a:pPr>
            <a:r>
              <a:rPr lang="en-US" sz="1400" b="1" spc="200" kern="0" dirty="0">
                <a:solidFill>
                  <a:srgbClr val="BFE4EE"/>
                </a:solidFill>
                <a:latin typeface="Calibri" pitchFamily="34" charset="0"/>
                <a:ea typeface="Calibri" pitchFamily="34" charset="-122"/>
                <a:cs typeface="Calibri" pitchFamily="34" charset="-120"/>
              </a:rPr>
              <a:t>WEEK 6</a:t>
            </a:r>
            <a:endParaRPr lang="en-US" sz="1400" dirty="0"/>
          </a:p>
        </p:txBody>
      </p:sp>
      <p:sp>
        <p:nvSpPr>
          <p:cNvPr id="4" name="Text 2"/>
          <p:cNvSpPr txBox="1"/>
          <p:nvPr/>
        </p:nvSpPr>
        <p:spPr>
          <a:xfrm>
            <a:off x="621792" y="1170432"/>
            <a:ext cx="10698480" cy="777240"/>
          </a:xfrm>
          <a:prstGeom prst="rect">
            <a:avLst/>
          </a:prstGeom>
          <a:noFill/>
          <a:ln/>
        </p:spPr>
        <p:txBody>
          <a:bodyPr wrap="square" lIns="508" tIns="508" rIns="508" bIns="508" rtlCol="0" anchor="ctr">
            <a:normAutofit/>
          </a:bodyPr>
          <a:lstStyle/>
          <a:p>
            <a:pPr algn="l" indent="0" marL="0">
              <a:buNone/>
            </a:pPr>
            <a:r>
              <a:rPr lang="en-US" sz="3500" b="1" dirty="0">
                <a:solidFill>
                  <a:srgbClr val="FFFFFF"/>
                </a:solidFill>
                <a:latin typeface="Calibri" pitchFamily="34" charset="0"/>
                <a:ea typeface="Calibri" pitchFamily="34" charset="-122"/>
                <a:cs typeface="Calibri" pitchFamily="34" charset="-120"/>
              </a:rPr>
              <a:t>SSH CA, PAM MFA, and Enterprise Policy</a:t>
            </a:r>
            <a:endParaRPr lang="en-US" sz="3500" dirty="0"/>
          </a:p>
        </p:txBody>
      </p:sp>
      <p:sp>
        <p:nvSpPr>
          <p:cNvPr id="5" name="Text 3"/>
          <p:cNvSpPr txBox="1"/>
          <p:nvPr/>
        </p:nvSpPr>
        <p:spPr>
          <a:xfrm>
            <a:off x="658368" y="2148840"/>
            <a:ext cx="9235440" cy="365760"/>
          </a:xfrm>
          <a:prstGeom prst="rect">
            <a:avLst/>
          </a:prstGeom>
          <a:noFill/>
          <a:ln/>
        </p:spPr>
        <p:txBody>
          <a:bodyPr wrap="square" lIns="508" tIns="508" rIns="508" bIns="508" rtlCol="0" anchor="ctr">
            <a:normAutofit/>
          </a:bodyPr>
          <a:lstStyle/>
          <a:p>
            <a:pPr algn="l" indent="0" marL="0">
              <a:buNone/>
            </a:pPr>
            <a:r>
              <a:rPr lang="en-US" sz="1800" dirty="0">
                <a:solidFill>
                  <a:srgbClr val="DCEAF5"/>
                </a:solidFill>
                <a:latin typeface="Calibri" pitchFamily="34" charset="0"/>
                <a:ea typeface="Calibri" pitchFamily="34" charset="-122"/>
                <a:cs typeface="Calibri" pitchFamily="34" charset="-120"/>
              </a:rPr>
              <a:t>Identity · privileged access · policy as an enforcement mechanism</a:t>
            </a:r>
            <a:endParaRPr lang="en-US" sz="1800" dirty="0"/>
          </a:p>
        </p:txBody>
      </p:sp>
      <p:sp>
        <p:nvSpPr>
          <p:cNvPr id="6" name="Shape 4"/>
          <p:cNvSpPr/>
          <p:nvPr/>
        </p:nvSpPr>
        <p:spPr>
          <a:xfrm>
            <a:off x="658368" y="2834640"/>
            <a:ext cx="3776472" cy="0"/>
          </a:xfrm>
          <a:prstGeom prst="line">
            <a:avLst/>
          </a:prstGeom>
          <a:noFill/>
          <a:ln w="38100">
            <a:solidFill>
              <a:srgbClr val="4BACC6"/>
            </a:solidFill>
            <a:prstDash val="solid"/>
            <a:headEnd type="none"/>
            <a:tailEnd type="none"/>
          </a:ln>
        </p:spPr>
      </p:sp>
      <p:sp>
        <p:nvSpPr>
          <p:cNvPr id="7" name="Text 5"/>
          <p:cNvSpPr txBox="1"/>
          <p:nvPr/>
        </p:nvSpPr>
        <p:spPr>
          <a:xfrm>
            <a:off x="658368" y="5349240"/>
            <a:ext cx="5486400" cy="256032"/>
          </a:xfrm>
          <a:prstGeom prst="rect">
            <a:avLst/>
          </a:prstGeom>
          <a:noFill/>
          <a:ln/>
        </p:spPr>
        <p:txBody>
          <a:bodyPr wrap="square" lIns="508" tIns="508" rIns="508" bIns="508" rtlCol="0" anchor="ctr">
            <a:normAutofit/>
          </a:bodyPr>
          <a:lstStyle/>
          <a:p>
            <a:pPr algn="l" indent="0" marL="0">
              <a:buNone/>
            </a:pPr>
            <a:r>
              <a:rPr lang="en-US" sz="1300" dirty="0">
                <a:solidFill>
                  <a:srgbClr val="DCEAF5"/>
                </a:solidFill>
                <a:latin typeface="Calibri" pitchFamily="34" charset="0"/>
                <a:ea typeface="Calibri" pitchFamily="34" charset="-122"/>
                <a:cs typeface="Calibri" pitchFamily="34" charset="-120"/>
              </a:rPr>
              <a:t>CYBER 444  ·  Systems &amp; Network Administration</a:t>
            </a:r>
            <a:endParaRPr lang="en-US" sz="1300" dirty="0"/>
          </a:p>
        </p:txBody>
      </p:sp>
      <p:sp>
        <p:nvSpPr>
          <p:cNvPr id="8" name="Text 6"/>
          <p:cNvSpPr txBox="1"/>
          <p:nvPr/>
        </p:nvSpPr>
        <p:spPr>
          <a:xfrm>
            <a:off x="658368" y="5669280"/>
            <a:ext cx="4572000" cy="228600"/>
          </a:xfrm>
          <a:prstGeom prst="rect">
            <a:avLst/>
          </a:prstGeom>
          <a:noFill/>
          <a:ln/>
        </p:spPr>
        <p:txBody>
          <a:bodyPr wrap="square" lIns="508" tIns="508" rIns="508" bIns="508" rtlCol="0" anchor="ctr">
            <a:normAutofit/>
          </a:bodyPr>
          <a:lstStyle/>
          <a:p>
            <a:pPr algn="l" indent="0" marL="0">
              <a:buNone/>
            </a:pPr>
            <a:r>
              <a:rPr lang="en-US" sz="1200" dirty="0">
                <a:solidFill>
                  <a:srgbClr val="BFE4EE"/>
                </a:solidFill>
                <a:latin typeface="Calibri" pitchFamily="34" charset="0"/>
                <a:ea typeface="Calibri" pitchFamily="34" charset="-122"/>
                <a:cs typeface="Calibri" pitchFamily="34" charset="-120"/>
              </a:rPr>
              <a:t>Fall 2026</a:t>
            </a:r>
            <a:endParaRPr lang="en-US" sz="1200" dirty="0"/>
          </a:p>
        </p:txBody>
      </p:sp>
      <p:sp>
        <p:nvSpPr>
          <p:cNvPr id="9" name="Shape 7"/>
          <p:cNvSpPr/>
          <p:nvPr/>
        </p:nvSpPr>
        <p:spPr>
          <a:xfrm>
            <a:off x="7635240" y="3611880"/>
            <a:ext cx="475488" cy="475488"/>
          </a:xfrm>
          <a:prstGeom prst="ellipse">
            <a:avLst/>
          </a:prstGeom>
          <a:solidFill>
            <a:srgbClr val="F79646"/>
          </a:solidFill>
          <a:ln w="12700">
            <a:solidFill>
              <a:srgbClr val="F79646"/>
            </a:solidFill>
            <a:prstDash val="solid"/>
          </a:ln>
        </p:spPr>
      </p:sp>
      <p:sp>
        <p:nvSpPr>
          <p:cNvPr id="10" name="Shape 8"/>
          <p:cNvSpPr/>
          <p:nvPr/>
        </p:nvSpPr>
        <p:spPr>
          <a:xfrm>
            <a:off x="8348472" y="3355848"/>
            <a:ext cx="475488" cy="475488"/>
          </a:xfrm>
          <a:prstGeom prst="ellipse">
            <a:avLst/>
          </a:prstGeom>
          <a:solidFill>
            <a:srgbClr val="4BACC6"/>
          </a:solidFill>
          <a:ln w="12700">
            <a:solidFill>
              <a:srgbClr val="4BACC6"/>
            </a:solidFill>
            <a:prstDash val="solid"/>
          </a:ln>
        </p:spPr>
      </p:sp>
      <p:sp>
        <p:nvSpPr>
          <p:cNvPr id="11" name="Shape 9"/>
          <p:cNvSpPr/>
          <p:nvPr/>
        </p:nvSpPr>
        <p:spPr>
          <a:xfrm>
            <a:off x="9061704" y="3611880"/>
            <a:ext cx="475488" cy="475488"/>
          </a:xfrm>
          <a:prstGeom prst="ellipse">
            <a:avLst/>
          </a:prstGeom>
          <a:solidFill>
            <a:srgbClr val="4F81BD"/>
          </a:solidFill>
          <a:ln w="12700">
            <a:solidFill>
              <a:srgbClr val="4F81BD"/>
            </a:solidFill>
            <a:prstDash val="solid"/>
          </a:ln>
        </p:spPr>
      </p:sp>
      <p:sp>
        <p:nvSpPr>
          <p:cNvPr id="12" name="Shape 10"/>
          <p:cNvSpPr/>
          <p:nvPr/>
        </p:nvSpPr>
        <p:spPr>
          <a:xfrm>
            <a:off x="9774936" y="3355848"/>
            <a:ext cx="475488" cy="475488"/>
          </a:xfrm>
          <a:prstGeom prst="ellipse">
            <a:avLst/>
          </a:prstGeom>
          <a:solidFill>
            <a:srgbClr val="70AD47"/>
          </a:solidFill>
          <a:ln w="12700">
            <a:solidFill>
              <a:srgbClr val="70AD47"/>
            </a:solidFill>
            <a:prstDash val="solid"/>
          </a:ln>
        </p:spPr>
      </p:sp>
      <p:sp>
        <p:nvSpPr>
          <p:cNvPr id="13" name="Shape 11"/>
          <p:cNvSpPr/>
          <p:nvPr/>
        </p:nvSpPr>
        <p:spPr>
          <a:xfrm>
            <a:off x="8092440" y="3840480"/>
            <a:ext cx="246888" cy="0"/>
          </a:xfrm>
          <a:prstGeom prst="line">
            <a:avLst/>
          </a:prstGeom>
          <a:noFill/>
          <a:ln w="38100">
            <a:solidFill>
              <a:srgbClr val="FFFFFF"/>
            </a:solidFill>
            <a:prstDash val="solid"/>
            <a:headEnd type="none"/>
            <a:tailEnd type="triangle"/>
          </a:ln>
        </p:spPr>
      </p:sp>
      <p:sp>
        <p:nvSpPr>
          <p:cNvPr id="14" name="Shape 12"/>
          <p:cNvSpPr/>
          <p:nvPr/>
        </p:nvSpPr>
        <p:spPr>
          <a:xfrm>
            <a:off x="8805672" y="3584448"/>
            <a:ext cx="246888" cy="0"/>
          </a:xfrm>
          <a:prstGeom prst="line">
            <a:avLst/>
          </a:prstGeom>
          <a:noFill/>
          <a:ln w="38100">
            <a:solidFill>
              <a:srgbClr val="FFFFFF"/>
            </a:solidFill>
            <a:prstDash val="solid"/>
            <a:headEnd type="none"/>
            <a:tailEnd type="triangle"/>
          </a:ln>
        </p:spPr>
      </p:sp>
      <p:sp>
        <p:nvSpPr>
          <p:cNvPr id="15" name="Shape 13"/>
          <p:cNvSpPr/>
          <p:nvPr/>
        </p:nvSpPr>
        <p:spPr>
          <a:xfrm>
            <a:off x="9518904" y="3840480"/>
            <a:ext cx="246888" cy="0"/>
          </a:xfrm>
          <a:prstGeom prst="line">
            <a:avLst/>
          </a:prstGeom>
          <a:noFill/>
          <a:ln w="38100">
            <a:solidFill>
              <a:srgbClr val="FFFFFF"/>
            </a:solidFill>
            <a:prstDash val="solid"/>
            <a:headEnd type="none"/>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HOOK</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What changes when the network no longer counts as trusted?</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Zero Trust turns access into a decision made for a specific subject, device, resource, and action.</a:t>
            </a:r>
            <a:endParaRPr lang="en-US" sz="1250" dirty="0"/>
          </a:p>
        </p:txBody>
      </p:sp>
      <p:sp>
        <p:nvSpPr>
          <p:cNvPr id="6" name="Shape 3"/>
          <p:cNvSpPr/>
          <p:nvPr/>
        </p:nvSpPr>
        <p:spPr>
          <a:xfrm>
            <a:off x="1362456" y="196596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62456"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Identity</a:t>
            </a:r>
            <a:endParaRPr lang="en-US" sz="1900" dirty="0"/>
          </a:p>
        </p:txBody>
      </p:sp>
      <p:sp>
        <p:nvSpPr>
          <p:cNvPr id="9" name="Text 6"/>
          <p:cNvSpPr txBox="1"/>
          <p:nvPr/>
        </p:nvSpPr>
        <p:spPr>
          <a:xfrm>
            <a:off x="640080"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Who is asking?</a:t>
            </a:r>
            <a:endParaRPr lang="en-US" sz="1250" dirty="0"/>
          </a:p>
        </p:txBody>
      </p:sp>
      <p:sp>
        <p:nvSpPr>
          <p:cNvPr id="10" name="Shape 7"/>
          <p:cNvSpPr/>
          <p:nvPr/>
        </p:nvSpPr>
        <p:spPr>
          <a:xfrm>
            <a:off x="2039112" y="2249424"/>
            <a:ext cx="612648" cy="0"/>
          </a:xfrm>
          <a:prstGeom prst="line">
            <a:avLst/>
          </a:prstGeom>
          <a:noFill/>
          <a:ln w="25400">
            <a:solidFill>
              <a:srgbClr val="94A3B8"/>
            </a:solidFill>
            <a:prstDash val="solid"/>
            <a:headEnd type="none"/>
            <a:tailEnd type="triangle"/>
          </a:ln>
        </p:spPr>
      </p:sp>
      <p:sp>
        <p:nvSpPr>
          <p:cNvPr id="11" name="Shape 8"/>
          <p:cNvSpPr/>
          <p:nvPr/>
        </p:nvSpPr>
        <p:spPr>
          <a:xfrm>
            <a:off x="3666744" y="1965960"/>
            <a:ext cx="566928" cy="566928"/>
          </a:xfrm>
          <a:prstGeom prst="ellipse">
            <a:avLst/>
          </a:prstGeom>
          <a:solidFill>
            <a:srgbClr val="4F81BD"/>
          </a:solidFill>
          <a:ln w="12700">
            <a:solidFill>
              <a:srgbClr val="4F81BD"/>
            </a:solidFill>
            <a:prstDash val="solid"/>
          </a:ln>
        </p:spPr>
      </p:sp>
      <p:sp>
        <p:nvSpPr>
          <p:cNvPr id="12" name="Text 9"/>
          <p:cNvSpPr txBox="1"/>
          <p:nvPr/>
        </p:nvSpPr>
        <p:spPr>
          <a:xfrm>
            <a:off x="3666744"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Device</a:t>
            </a:r>
            <a:endParaRPr lang="en-US" sz="1900" dirty="0"/>
          </a:p>
        </p:txBody>
      </p:sp>
      <p:sp>
        <p:nvSpPr>
          <p:cNvPr id="14" name="Text 11"/>
          <p:cNvSpPr txBox="1"/>
          <p:nvPr/>
        </p:nvSpPr>
        <p:spPr>
          <a:xfrm>
            <a:off x="2944368"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is asking?</a:t>
            </a:r>
            <a:endParaRPr lang="en-US" sz="1250" dirty="0"/>
          </a:p>
        </p:txBody>
      </p:sp>
      <p:sp>
        <p:nvSpPr>
          <p:cNvPr id="15" name="Shape 12"/>
          <p:cNvSpPr/>
          <p:nvPr/>
        </p:nvSpPr>
        <p:spPr>
          <a:xfrm>
            <a:off x="4343400" y="2249424"/>
            <a:ext cx="612648" cy="0"/>
          </a:xfrm>
          <a:prstGeom prst="line">
            <a:avLst/>
          </a:prstGeom>
          <a:noFill/>
          <a:ln w="25400">
            <a:solidFill>
              <a:srgbClr val="94A3B8"/>
            </a:solidFill>
            <a:prstDash val="solid"/>
            <a:headEnd type="none"/>
            <a:tailEnd type="triangle"/>
          </a:ln>
        </p:spPr>
      </p:sp>
      <p:sp>
        <p:nvSpPr>
          <p:cNvPr id="16" name="Shape 13"/>
          <p:cNvSpPr/>
          <p:nvPr/>
        </p:nvSpPr>
        <p:spPr>
          <a:xfrm>
            <a:off x="5971032" y="1965960"/>
            <a:ext cx="566928" cy="566928"/>
          </a:xfrm>
          <a:prstGeom prst="ellipse">
            <a:avLst/>
          </a:prstGeom>
          <a:solidFill>
            <a:srgbClr val="F79646"/>
          </a:solidFill>
          <a:ln w="12700">
            <a:solidFill>
              <a:srgbClr val="F79646"/>
            </a:solidFill>
            <a:prstDash val="solid"/>
          </a:ln>
        </p:spPr>
      </p:sp>
      <p:sp>
        <p:nvSpPr>
          <p:cNvPr id="17" name="Text 14"/>
          <p:cNvSpPr txBox="1"/>
          <p:nvPr/>
        </p:nvSpPr>
        <p:spPr>
          <a:xfrm>
            <a:off x="5971032"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Resource</a:t>
            </a:r>
            <a:endParaRPr lang="en-US" sz="1900" dirty="0"/>
          </a:p>
        </p:txBody>
      </p:sp>
      <p:sp>
        <p:nvSpPr>
          <p:cNvPr id="19" name="Text 16"/>
          <p:cNvSpPr txBox="1"/>
          <p:nvPr/>
        </p:nvSpPr>
        <p:spPr>
          <a:xfrm>
            <a:off x="5248656"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is being accessed?</a:t>
            </a:r>
            <a:endParaRPr lang="en-US" sz="1250" dirty="0"/>
          </a:p>
        </p:txBody>
      </p:sp>
      <p:sp>
        <p:nvSpPr>
          <p:cNvPr id="20" name="Shape 17"/>
          <p:cNvSpPr/>
          <p:nvPr/>
        </p:nvSpPr>
        <p:spPr>
          <a:xfrm>
            <a:off x="6647688" y="2249424"/>
            <a:ext cx="612648" cy="0"/>
          </a:xfrm>
          <a:prstGeom prst="line">
            <a:avLst/>
          </a:prstGeom>
          <a:noFill/>
          <a:ln w="25400">
            <a:solidFill>
              <a:srgbClr val="94A3B8"/>
            </a:solidFill>
            <a:prstDash val="solid"/>
            <a:headEnd type="none"/>
            <a:tailEnd type="triangle"/>
          </a:ln>
        </p:spPr>
      </p:sp>
      <p:sp>
        <p:nvSpPr>
          <p:cNvPr id="21" name="Shape 18"/>
          <p:cNvSpPr/>
          <p:nvPr/>
        </p:nvSpPr>
        <p:spPr>
          <a:xfrm>
            <a:off x="8275320" y="196596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75320"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Action</a:t>
            </a:r>
            <a:endParaRPr lang="en-US" sz="1900" dirty="0"/>
          </a:p>
        </p:txBody>
      </p:sp>
      <p:sp>
        <p:nvSpPr>
          <p:cNvPr id="24" name="Text 21"/>
          <p:cNvSpPr txBox="1"/>
          <p:nvPr/>
        </p:nvSpPr>
        <p:spPr>
          <a:xfrm>
            <a:off x="7552944"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may happen?</a:t>
            </a:r>
            <a:endParaRPr lang="en-US" sz="1250" dirty="0"/>
          </a:p>
        </p:txBody>
      </p:sp>
      <p:sp>
        <p:nvSpPr>
          <p:cNvPr id="25" name="Shape 22"/>
          <p:cNvSpPr/>
          <p:nvPr/>
        </p:nvSpPr>
        <p:spPr>
          <a:xfrm>
            <a:off x="8951976" y="2249424"/>
            <a:ext cx="612648" cy="0"/>
          </a:xfrm>
          <a:prstGeom prst="line">
            <a:avLst/>
          </a:prstGeom>
          <a:noFill/>
          <a:ln w="25400">
            <a:solidFill>
              <a:srgbClr val="94A3B8"/>
            </a:solidFill>
            <a:prstDash val="solid"/>
            <a:headEnd type="none"/>
            <a:tailEnd type="triangle"/>
          </a:ln>
        </p:spPr>
      </p:sp>
      <p:sp>
        <p:nvSpPr>
          <p:cNvPr id="26" name="Shape 23"/>
          <p:cNvSpPr/>
          <p:nvPr/>
        </p:nvSpPr>
        <p:spPr>
          <a:xfrm>
            <a:off x="10579608" y="1965960"/>
            <a:ext cx="566928" cy="566928"/>
          </a:xfrm>
          <a:prstGeom prst="ellipse">
            <a:avLst/>
          </a:prstGeom>
          <a:solidFill>
            <a:srgbClr val="70AD47"/>
          </a:solidFill>
          <a:ln w="12700">
            <a:solidFill>
              <a:srgbClr val="70AD47"/>
            </a:solidFill>
            <a:prstDash val="solid"/>
          </a:ln>
        </p:spPr>
      </p:sp>
      <p:sp>
        <p:nvSpPr>
          <p:cNvPr id="27" name="Text 24"/>
          <p:cNvSpPr txBox="1"/>
          <p:nvPr/>
        </p:nvSpPr>
        <p:spPr>
          <a:xfrm>
            <a:off x="10579608" y="2139696"/>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788920"/>
            <a:ext cx="2103120" cy="274320"/>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Evidence</a:t>
            </a:r>
            <a:endParaRPr lang="en-US" sz="1900" dirty="0"/>
          </a:p>
        </p:txBody>
      </p:sp>
      <p:sp>
        <p:nvSpPr>
          <p:cNvPr id="29" name="Text 26"/>
          <p:cNvSpPr txBox="1"/>
          <p:nvPr/>
        </p:nvSpPr>
        <p:spPr>
          <a:xfrm>
            <a:off x="9857232" y="3218688"/>
            <a:ext cx="2011680" cy="237744"/>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proves it?</a:t>
            </a:r>
            <a:endParaRPr lang="en-US" sz="1250" dirty="0"/>
          </a:p>
        </p:txBody>
      </p:sp>
      <p:sp>
        <p:nvSpPr>
          <p:cNvPr id="30" name="Shape 27"/>
          <p:cNvSpPr/>
          <p:nvPr/>
        </p:nvSpPr>
        <p:spPr>
          <a:xfrm>
            <a:off x="914400" y="4572000"/>
            <a:ext cx="10241280" cy="731520"/>
          </a:xfrm>
          <a:prstGeom prst="roundRect">
            <a:avLst/>
          </a:prstGeom>
          <a:solidFill>
            <a:srgbClr val="FFFFFF"/>
          </a:solidFill>
          <a:ln w="12700">
            <a:solidFill>
              <a:srgbClr val="1F497D"/>
            </a:solidFill>
            <a:prstDash val="solid"/>
          </a:ln>
        </p:spPr>
      </p:sp>
      <p:sp>
        <p:nvSpPr>
          <p:cNvPr id="31" name="Shape 28"/>
          <p:cNvSpPr/>
          <p:nvPr/>
        </p:nvSpPr>
        <p:spPr>
          <a:xfrm>
            <a:off x="914400" y="4572000"/>
            <a:ext cx="100584" cy="731520"/>
          </a:xfrm>
          <a:prstGeom prst="rect">
            <a:avLst/>
          </a:prstGeom>
          <a:solidFill>
            <a:srgbClr val="1F497D"/>
          </a:solidFill>
          <a:ln w="12700">
            <a:solidFill>
              <a:srgbClr val="1F497D"/>
            </a:solidFill>
            <a:prstDash val="solid"/>
          </a:ln>
        </p:spPr>
      </p:sp>
      <p:sp>
        <p:nvSpPr>
          <p:cNvPr id="32" name="Text 29"/>
          <p:cNvSpPr txBox="1"/>
          <p:nvPr/>
        </p:nvSpPr>
        <p:spPr>
          <a:xfrm>
            <a:off x="1152144" y="4681728"/>
            <a:ext cx="989380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Core idea</a:t>
            </a:r>
            <a:endParaRPr lang="en-US" sz="1400" dirty="0"/>
          </a:p>
        </p:txBody>
      </p:sp>
      <p:sp>
        <p:nvSpPr>
          <p:cNvPr id="33" name="Text 30"/>
          <p:cNvSpPr txBox="1"/>
          <p:nvPr/>
        </p:nvSpPr>
        <p:spPr>
          <a:xfrm>
            <a:off x="1152144" y="4983480"/>
            <a:ext cx="989380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The access decision is the control plane. SSH CA, MFA, PAM, logging, and policy are ways to make that decision explicit.</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OBJECTIVES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By the end, students can explain and design...</a:t>
            </a:r>
            <a:endParaRPr lang="en-US" sz="2700" dirty="0"/>
          </a:p>
        </p:txBody>
      </p:sp>
      <p:sp>
        <p:nvSpPr>
          <p:cNvPr id="5" name="Shape 2"/>
          <p:cNvSpPr/>
          <p:nvPr/>
        </p:nvSpPr>
        <p:spPr>
          <a:xfrm>
            <a:off x="777240" y="1929384"/>
            <a:ext cx="118872" cy="118872"/>
          </a:xfrm>
          <a:prstGeom prst="ellipse">
            <a:avLst/>
          </a:prstGeom>
          <a:solidFill>
            <a:srgbClr val="4BACC6"/>
          </a:solidFill>
          <a:ln w="12700">
            <a:solidFill>
              <a:srgbClr val="4BACC6"/>
            </a:solidFill>
            <a:prstDash val="solid"/>
          </a:ln>
        </p:spPr>
      </p:sp>
      <p:sp>
        <p:nvSpPr>
          <p:cNvPr id="6" name="Text 3"/>
          <p:cNvSpPr txBox="1"/>
          <p:nvPr/>
        </p:nvSpPr>
        <p:spPr>
          <a:xfrm>
            <a:off x="1005840" y="1828800"/>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SSH certificates replace per-server key sprawl with CA-backed trust</a:t>
            </a:r>
            <a:endParaRPr lang="en-US" sz="1750" dirty="0"/>
          </a:p>
        </p:txBody>
      </p:sp>
      <p:sp>
        <p:nvSpPr>
          <p:cNvPr id="7" name="Shape 4"/>
          <p:cNvSpPr/>
          <p:nvPr/>
        </p:nvSpPr>
        <p:spPr>
          <a:xfrm>
            <a:off x="777240" y="2514600"/>
            <a:ext cx="118872" cy="118872"/>
          </a:xfrm>
          <a:prstGeom prst="ellipse">
            <a:avLst/>
          </a:prstGeom>
          <a:solidFill>
            <a:srgbClr val="4BACC6"/>
          </a:solidFill>
          <a:ln w="12700">
            <a:solidFill>
              <a:srgbClr val="4BACC6"/>
            </a:solidFill>
            <a:prstDash val="solid"/>
          </a:ln>
        </p:spPr>
      </p:sp>
      <p:sp>
        <p:nvSpPr>
          <p:cNvPr id="8" name="Text 5"/>
          <p:cNvSpPr txBox="1"/>
          <p:nvPr/>
        </p:nvSpPr>
        <p:spPr>
          <a:xfrm>
            <a:off x="1005840" y="2414016"/>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principals, validity, options, and KRLs constrain SSH credentials</a:t>
            </a:r>
            <a:endParaRPr lang="en-US" sz="1750" dirty="0"/>
          </a:p>
        </p:txBody>
      </p:sp>
      <p:sp>
        <p:nvSpPr>
          <p:cNvPr id="9" name="Shape 6"/>
          <p:cNvSpPr/>
          <p:nvPr/>
        </p:nvSpPr>
        <p:spPr>
          <a:xfrm>
            <a:off x="777240" y="3099816"/>
            <a:ext cx="118872" cy="118872"/>
          </a:xfrm>
          <a:prstGeom prst="ellipse">
            <a:avLst/>
          </a:prstGeom>
          <a:solidFill>
            <a:srgbClr val="4BACC6"/>
          </a:solidFill>
          <a:ln w="12700">
            <a:solidFill>
              <a:srgbClr val="4BACC6"/>
            </a:solidFill>
            <a:prstDash val="solid"/>
          </a:ln>
        </p:spPr>
      </p:sp>
      <p:sp>
        <p:nvSpPr>
          <p:cNvPr id="10" name="Text 7"/>
          <p:cNvSpPr txBox="1"/>
          <p:nvPr/>
        </p:nvSpPr>
        <p:spPr>
          <a:xfrm>
            <a:off x="1005840" y="2999232"/>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PAM composes public-key authentication with MFA</a:t>
            </a:r>
            <a:endParaRPr lang="en-US" sz="1750" dirty="0"/>
          </a:p>
        </p:txBody>
      </p:sp>
      <p:sp>
        <p:nvSpPr>
          <p:cNvPr id="11" name="Shape 8"/>
          <p:cNvSpPr/>
          <p:nvPr/>
        </p:nvSpPr>
        <p:spPr>
          <a:xfrm>
            <a:off x="777240" y="3685032"/>
            <a:ext cx="118872" cy="118872"/>
          </a:xfrm>
          <a:prstGeom prst="ellipse">
            <a:avLst/>
          </a:prstGeom>
          <a:solidFill>
            <a:srgbClr val="4BACC6"/>
          </a:solidFill>
          <a:ln w="12700">
            <a:solidFill>
              <a:srgbClr val="4BACC6"/>
            </a:solidFill>
            <a:prstDash val="solid"/>
          </a:ln>
        </p:spPr>
      </p:sp>
      <p:sp>
        <p:nvSpPr>
          <p:cNvPr id="12" name="Text 9"/>
          <p:cNvSpPr txBox="1"/>
          <p:nvPr/>
        </p:nvSpPr>
        <p:spPr>
          <a:xfrm>
            <a:off x="1005840" y="3584448"/>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privileged access controls reduce command and session risk</a:t>
            </a:r>
            <a:endParaRPr lang="en-US" sz="1750" dirty="0"/>
          </a:p>
        </p:txBody>
      </p:sp>
      <p:sp>
        <p:nvSpPr>
          <p:cNvPr id="13" name="Shape 10"/>
          <p:cNvSpPr/>
          <p:nvPr/>
        </p:nvSpPr>
        <p:spPr>
          <a:xfrm>
            <a:off x="777240" y="4270248"/>
            <a:ext cx="118872" cy="118872"/>
          </a:xfrm>
          <a:prstGeom prst="ellipse">
            <a:avLst/>
          </a:prstGeom>
          <a:solidFill>
            <a:srgbClr val="4BACC6"/>
          </a:solidFill>
          <a:ln w="12700">
            <a:solidFill>
              <a:srgbClr val="4BACC6"/>
            </a:solidFill>
            <a:prstDash val="solid"/>
          </a:ln>
        </p:spPr>
      </p:sp>
      <p:sp>
        <p:nvSpPr>
          <p:cNvPr id="14" name="Text 11"/>
          <p:cNvSpPr txBox="1"/>
          <p:nvPr/>
        </p:nvSpPr>
        <p:spPr>
          <a:xfrm>
            <a:off x="1005840" y="4169664"/>
            <a:ext cx="6172200" cy="658368"/>
          </a:xfrm>
          <a:prstGeom prst="rect">
            <a:avLst/>
          </a:prstGeom>
          <a:noFill/>
          <a:ln/>
        </p:spPr>
        <p:txBody>
          <a:bodyPr wrap="square" lIns="508" tIns="508" rIns="508" bIns="508" rtlCol="0" anchor="ctr">
            <a:normAutofit/>
          </a:bodyPr>
          <a:lstStyle/>
          <a:p>
            <a:pPr algn="l" indent="0" marL="0">
              <a:buNone/>
            </a:pPr>
            <a:r>
              <a:rPr lang="en-US" sz="1750" dirty="0">
                <a:solidFill>
                  <a:srgbClr val="203040"/>
                </a:solidFill>
                <a:latin typeface="Calibri" pitchFamily="34" charset="0"/>
                <a:ea typeface="Calibri" pitchFamily="34" charset="-122"/>
                <a:cs typeface="Calibri" pitchFamily="34" charset="-120"/>
              </a:rPr>
              <a:t>How enterprise policies become measurable technical requirements</a:t>
            </a:r>
            <a:endParaRPr lang="en-US" sz="1750" dirty="0"/>
          </a:p>
        </p:txBody>
      </p:sp>
      <p:sp>
        <p:nvSpPr>
          <p:cNvPr id="15" name="Shape 12"/>
          <p:cNvSpPr/>
          <p:nvPr/>
        </p:nvSpPr>
        <p:spPr>
          <a:xfrm>
            <a:off x="7498080" y="1965960"/>
            <a:ext cx="3566160" cy="2011680"/>
          </a:xfrm>
          <a:prstGeom prst="roundRect">
            <a:avLst/>
          </a:prstGeom>
          <a:solidFill>
            <a:srgbClr val="FFFFFF"/>
          </a:solidFill>
          <a:ln w="12700">
            <a:solidFill>
              <a:srgbClr val="70AD47"/>
            </a:solidFill>
            <a:prstDash val="solid"/>
          </a:ln>
        </p:spPr>
      </p:sp>
      <p:sp>
        <p:nvSpPr>
          <p:cNvPr id="16" name="Shape 13"/>
          <p:cNvSpPr/>
          <p:nvPr/>
        </p:nvSpPr>
        <p:spPr>
          <a:xfrm>
            <a:off x="7498080" y="1965960"/>
            <a:ext cx="100584" cy="2011680"/>
          </a:xfrm>
          <a:prstGeom prst="rect">
            <a:avLst/>
          </a:prstGeom>
          <a:solidFill>
            <a:srgbClr val="70AD47"/>
          </a:solidFill>
          <a:ln w="12700">
            <a:solidFill>
              <a:srgbClr val="70AD47"/>
            </a:solidFill>
            <a:prstDash val="solid"/>
          </a:ln>
        </p:spPr>
      </p:sp>
      <p:sp>
        <p:nvSpPr>
          <p:cNvPr id="17" name="Text 14"/>
          <p:cNvSpPr txBox="1"/>
          <p:nvPr/>
        </p:nvSpPr>
        <p:spPr>
          <a:xfrm>
            <a:off x="7735824" y="2075688"/>
            <a:ext cx="321868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Definition of done</a:t>
            </a:r>
            <a:endParaRPr lang="en-US" sz="1400" dirty="0"/>
          </a:p>
        </p:txBody>
      </p:sp>
      <p:sp>
        <p:nvSpPr>
          <p:cNvPr id="18" name="Text 15"/>
          <p:cNvSpPr txBox="1"/>
          <p:nvPr/>
        </p:nvSpPr>
        <p:spPr>
          <a:xfrm>
            <a:off x="7735824" y="2377440"/>
            <a:ext cx="3218688" cy="150876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You can name the identity proof, authorization decision, enforcement point, evidence source, and recovery path for a privileged access workflow.</a:t>
            </a:r>
            <a:endParaRPr lang="en-US" sz="1250" dirty="0"/>
          </a:p>
        </p:txBody>
      </p:sp>
      <p:sp>
        <p:nvSpPr>
          <p:cNvPr id="19" name="Shape 16"/>
          <p:cNvSpPr/>
          <p:nvPr/>
        </p:nvSpPr>
        <p:spPr>
          <a:xfrm>
            <a:off x="7498080" y="4315968"/>
            <a:ext cx="3566160" cy="1005840"/>
          </a:xfrm>
          <a:prstGeom prst="roundRect">
            <a:avLst/>
          </a:prstGeom>
          <a:solidFill>
            <a:srgbClr val="FFFFFF"/>
          </a:solidFill>
          <a:ln w="12700">
            <a:solidFill>
              <a:srgbClr val="F79646"/>
            </a:solidFill>
            <a:prstDash val="solid"/>
          </a:ln>
        </p:spPr>
      </p:sp>
      <p:sp>
        <p:nvSpPr>
          <p:cNvPr id="20" name="Shape 17"/>
          <p:cNvSpPr/>
          <p:nvPr/>
        </p:nvSpPr>
        <p:spPr>
          <a:xfrm>
            <a:off x="7498080" y="4315968"/>
            <a:ext cx="100584" cy="1005840"/>
          </a:xfrm>
          <a:prstGeom prst="rect">
            <a:avLst/>
          </a:prstGeom>
          <a:solidFill>
            <a:srgbClr val="F79646"/>
          </a:solidFill>
          <a:ln w="12700">
            <a:solidFill>
              <a:srgbClr val="F79646"/>
            </a:solidFill>
            <a:prstDash val="solid"/>
          </a:ln>
        </p:spPr>
      </p:sp>
      <p:sp>
        <p:nvSpPr>
          <p:cNvPr id="21" name="Text 18"/>
          <p:cNvSpPr txBox="1"/>
          <p:nvPr/>
        </p:nvSpPr>
        <p:spPr>
          <a:xfrm>
            <a:off x="7735824" y="4425696"/>
            <a:ext cx="321868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Instructor cue</a:t>
            </a:r>
            <a:endParaRPr lang="en-US" sz="1400" dirty="0"/>
          </a:p>
        </p:txBody>
      </p:sp>
      <p:sp>
        <p:nvSpPr>
          <p:cNvPr id="22" name="Text 19"/>
          <p:cNvSpPr txBox="1"/>
          <p:nvPr/>
        </p:nvSpPr>
        <p:spPr>
          <a:xfrm>
            <a:off x="7735824" y="4727448"/>
            <a:ext cx="3218688" cy="50292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Keep asking: “What would the system check?”</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ZERO TRUST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Five pillars, one access decision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 the pillars to organize the rest of the lecture.</a:t>
            </a:r>
            <a:endParaRPr lang="en-US" sz="1250" dirty="0"/>
          </a:p>
        </p:txBody>
      </p:sp>
      <p:sp>
        <p:nvSpPr>
          <p:cNvPr id="6" name="Shape 3"/>
          <p:cNvSpPr/>
          <p:nvPr/>
        </p:nvSpPr>
        <p:spPr>
          <a:xfrm>
            <a:off x="594360" y="2011680"/>
            <a:ext cx="2057400" cy="2057400"/>
          </a:xfrm>
          <a:prstGeom prst="roundRect">
            <a:avLst/>
          </a:prstGeom>
          <a:solidFill>
            <a:srgbClr val="FFFFFF"/>
          </a:solidFill>
          <a:ln w="12700">
            <a:solidFill>
              <a:srgbClr val="4BACC6"/>
            </a:solidFill>
            <a:prstDash val="solid"/>
          </a:ln>
        </p:spPr>
      </p:sp>
      <p:sp>
        <p:nvSpPr>
          <p:cNvPr id="7" name="Shape 4"/>
          <p:cNvSpPr/>
          <p:nvPr/>
        </p:nvSpPr>
        <p:spPr>
          <a:xfrm>
            <a:off x="594360" y="2011680"/>
            <a:ext cx="2057400" cy="393192"/>
          </a:xfrm>
          <a:prstGeom prst="roundRect">
            <a:avLst/>
          </a:prstGeom>
          <a:solidFill>
            <a:srgbClr val="4BACC6"/>
          </a:solidFill>
          <a:ln w="12700">
            <a:solidFill>
              <a:srgbClr val="4BACC6"/>
            </a:solidFill>
            <a:prstDash val="solid"/>
          </a:ln>
        </p:spPr>
      </p:sp>
      <p:sp>
        <p:nvSpPr>
          <p:cNvPr id="8" name="Text 5"/>
          <p:cNvSpPr txBox="1"/>
          <p:nvPr/>
        </p:nvSpPr>
        <p:spPr>
          <a:xfrm>
            <a:off x="685800"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9" name="Text 6"/>
          <p:cNvSpPr txBox="1"/>
          <p:nvPr/>
        </p:nvSpPr>
        <p:spPr>
          <a:xfrm>
            <a:off x="758952"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user, service, CA, MFA</a:t>
            </a:r>
            <a:endParaRPr lang="en-US" sz="1500" dirty="0"/>
          </a:p>
        </p:txBody>
      </p:sp>
      <p:sp>
        <p:nvSpPr>
          <p:cNvPr id="10" name="Shape 7"/>
          <p:cNvSpPr/>
          <p:nvPr/>
        </p:nvSpPr>
        <p:spPr>
          <a:xfrm>
            <a:off x="2898648" y="2011680"/>
            <a:ext cx="2057400" cy="2057400"/>
          </a:xfrm>
          <a:prstGeom prst="roundRect">
            <a:avLst/>
          </a:prstGeom>
          <a:solidFill>
            <a:srgbClr val="FFFFFF"/>
          </a:solidFill>
          <a:ln w="12700">
            <a:solidFill>
              <a:srgbClr val="4F81BD"/>
            </a:solidFill>
            <a:prstDash val="solid"/>
          </a:ln>
        </p:spPr>
      </p:sp>
      <p:sp>
        <p:nvSpPr>
          <p:cNvPr id="11" name="Shape 8"/>
          <p:cNvSpPr/>
          <p:nvPr/>
        </p:nvSpPr>
        <p:spPr>
          <a:xfrm>
            <a:off x="2898648" y="2011680"/>
            <a:ext cx="2057400" cy="393192"/>
          </a:xfrm>
          <a:prstGeom prst="roundRect">
            <a:avLst/>
          </a:prstGeom>
          <a:solidFill>
            <a:srgbClr val="4F81BD"/>
          </a:solidFill>
          <a:ln w="12700">
            <a:solidFill>
              <a:srgbClr val="4F81BD"/>
            </a:solidFill>
            <a:prstDash val="solid"/>
          </a:ln>
        </p:spPr>
      </p:sp>
      <p:sp>
        <p:nvSpPr>
          <p:cNvPr id="12" name="Text 9"/>
          <p:cNvSpPr txBox="1"/>
          <p:nvPr/>
        </p:nvSpPr>
        <p:spPr>
          <a:xfrm>
            <a:off x="2990088"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DEVICE</a:t>
            </a:r>
            <a:endParaRPr lang="en-US" sz="1100" dirty="0"/>
          </a:p>
        </p:txBody>
      </p:sp>
      <p:sp>
        <p:nvSpPr>
          <p:cNvPr id="13" name="Text 10"/>
          <p:cNvSpPr txBox="1"/>
          <p:nvPr/>
        </p:nvSpPr>
        <p:spPr>
          <a:xfrm>
            <a:off x="3063240"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endpoint posture, keys</a:t>
            </a:r>
            <a:endParaRPr lang="en-US" sz="1500" dirty="0"/>
          </a:p>
        </p:txBody>
      </p:sp>
      <p:sp>
        <p:nvSpPr>
          <p:cNvPr id="14" name="Shape 11"/>
          <p:cNvSpPr/>
          <p:nvPr/>
        </p:nvSpPr>
        <p:spPr>
          <a:xfrm>
            <a:off x="5202936" y="2011680"/>
            <a:ext cx="2057400" cy="2057400"/>
          </a:xfrm>
          <a:prstGeom prst="roundRect">
            <a:avLst/>
          </a:prstGeom>
          <a:solidFill>
            <a:srgbClr val="FFFFFF"/>
          </a:solidFill>
          <a:ln w="12700">
            <a:solidFill>
              <a:srgbClr val="F79646"/>
            </a:solidFill>
            <a:prstDash val="solid"/>
          </a:ln>
        </p:spPr>
      </p:sp>
      <p:sp>
        <p:nvSpPr>
          <p:cNvPr id="15" name="Shape 12"/>
          <p:cNvSpPr/>
          <p:nvPr/>
        </p:nvSpPr>
        <p:spPr>
          <a:xfrm>
            <a:off x="5202936" y="2011680"/>
            <a:ext cx="2057400" cy="393192"/>
          </a:xfrm>
          <a:prstGeom prst="roundRect">
            <a:avLst/>
          </a:prstGeom>
          <a:solidFill>
            <a:srgbClr val="F79646"/>
          </a:solidFill>
          <a:ln w="12700">
            <a:solidFill>
              <a:srgbClr val="F79646"/>
            </a:solidFill>
            <a:prstDash val="solid"/>
          </a:ln>
        </p:spPr>
      </p:sp>
      <p:sp>
        <p:nvSpPr>
          <p:cNvPr id="16" name="Text 13"/>
          <p:cNvSpPr txBox="1"/>
          <p:nvPr/>
        </p:nvSpPr>
        <p:spPr>
          <a:xfrm>
            <a:off x="5294376"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NETWORK</a:t>
            </a:r>
            <a:endParaRPr lang="en-US" sz="1100" dirty="0"/>
          </a:p>
        </p:txBody>
      </p:sp>
      <p:sp>
        <p:nvSpPr>
          <p:cNvPr id="17" name="Text 14"/>
          <p:cNvSpPr txBox="1"/>
          <p:nvPr/>
        </p:nvSpPr>
        <p:spPr>
          <a:xfrm>
            <a:off x="5367528"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bastion, segmentation</a:t>
            </a:r>
            <a:endParaRPr lang="en-US" sz="1500" dirty="0"/>
          </a:p>
        </p:txBody>
      </p:sp>
      <p:sp>
        <p:nvSpPr>
          <p:cNvPr id="18" name="Shape 15"/>
          <p:cNvSpPr/>
          <p:nvPr/>
        </p:nvSpPr>
        <p:spPr>
          <a:xfrm>
            <a:off x="7507224" y="2011680"/>
            <a:ext cx="2057400" cy="2057400"/>
          </a:xfrm>
          <a:prstGeom prst="roundRect">
            <a:avLst/>
          </a:prstGeom>
          <a:solidFill>
            <a:srgbClr val="FFFFFF"/>
          </a:solidFill>
          <a:ln w="12700">
            <a:solidFill>
              <a:srgbClr val="8064A2"/>
            </a:solidFill>
            <a:prstDash val="solid"/>
          </a:ln>
        </p:spPr>
      </p:sp>
      <p:sp>
        <p:nvSpPr>
          <p:cNvPr id="19" name="Shape 16"/>
          <p:cNvSpPr/>
          <p:nvPr/>
        </p:nvSpPr>
        <p:spPr>
          <a:xfrm>
            <a:off x="7507224" y="2011680"/>
            <a:ext cx="2057400" cy="393192"/>
          </a:xfrm>
          <a:prstGeom prst="roundRect">
            <a:avLst/>
          </a:prstGeom>
          <a:solidFill>
            <a:srgbClr val="8064A2"/>
          </a:solidFill>
          <a:ln w="12700">
            <a:solidFill>
              <a:srgbClr val="8064A2"/>
            </a:solidFill>
            <a:prstDash val="solid"/>
          </a:ln>
        </p:spPr>
      </p:sp>
      <p:sp>
        <p:nvSpPr>
          <p:cNvPr id="20" name="Text 17"/>
          <p:cNvSpPr txBox="1"/>
          <p:nvPr/>
        </p:nvSpPr>
        <p:spPr>
          <a:xfrm>
            <a:off x="7598664"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21" name="Text 18"/>
          <p:cNvSpPr txBox="1"/>
          <p:nvPr/>
        </p:nvSpPr>
        <p:spPr>
          <a:xfrm>
            <a:off x="7671816"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SSH, PAM, sudo</a:t>
            </a:r>
            <a:endParaRPr lang="en-US" sz="1500" dirty="0"/>
          </a:p>
        </p:txBody>
      </p:sp>
      <p:sp>
        <p:nvSpPr>
          <p:cNvPr id="22" name="Shape 19"/>
          <p:cNvSpPr/>
          <p:nvPr/>
        </p:nvSpPr>
        <p:spPr>
          <a:xfrm>
            <a:off x="9811512" y="2011680"/>
            <a:ext cx="2057400" cy="2057400"/>
          </a:xfrm>
          <a:prstGeom prst="roundRect">
            <a:avLst/>
          </a:prstGeom>
          <a:solidFill>
            <a:srgbClr val="FFFFFF"/>
          </a:solidFill>
          <a:ln w="12700">
            <a:solidFill>
              <a:srgbClr val="70AD47"/>
            </a:solidFill>
            <a:prstDash val="solid"/>
          </a:ln>
        </p:spPr>
      </p:sp>
      <p:sp>
        <p:nvSpPr>
          <p:cNvPr id="23" name="Shape 20"/>
          <p:cNvSpPr/>
          <p:nvPr/>
        </p:nvSpPr>
        <p:spPr>
          <a:xfrm>
            <a:off x="9811512" y="2011680"/>
            <a:ext cx="2057400" cy="393192"/>
          </a:xfrm>
          <a:prstGeom prst="roundRect">
            <a:avLst/>
          </a:prstGeom>
          <a:solidFill>
            <a:srgbClr val="70AD47"/>
          </a:solidFill>
          <a:ln w="12700">
            <a:solidFill>
              <a:srgbClr val="70AD47"/>
            </a:solidFill>
            <a:prstDash val="solid"/>
          </a:ln>
        </p:spPr>
      </p:sp>
      <p:sp>
        <p:nvSpPr>
          <p:cNvPr id="24" name="Text 21"/>
          <p:cNvSpPr txBox="1"/>
          <p:nvPr/>
        </p:nvSpPr>
        <p:spPr>
          <a:xfrm>
            <a:off x="9902952" y="2112264"/>
            <a:ext cx="1874520" cy="182880"/>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DATA</a:t>
            </a:r>
            <a:endParaRPr lang="en-US" sz="1100" dirty="0"/>
          </a:p>
        </p:txBody>
      </p:sp>
      <p:sp>
        <p:nvSpPr>
          <p:cNvPr id="25" name="Text 22"/>
          <p:cNvSpPr txBox="1"/>
          <p:nvPr/>
        </p:nvSpPr>
        <p:spPr>
          <a:xfrm>
            <a:off x="9976104" y="2743200"/>
            <a:ext cx="1737360" cy="640080"/>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classification, logging</a:t>
            </a:r>
            <a:endParaRPr lang="en-US" sz="1500" dirty="0"/>
          </a:p>
        </p:txBody>
      </p:sp>
      <p:sp>
        <p:nvSpPr>
          <p:cNvPr id="26" name="Shape 23"/>
          <p:cNvSpPr/>
          <p:nvPr/>
        </p:nvSpPr>
        <p:spPr>
          <a:xfrm>
            <a:off x="1097280" y="4754880"/>
            <a:ext cx="9875520" cy="0"/>
          </a:xfrm>
          <a:prstGeom prst="line">
            <a:avLst/>
          </a:prstGeom>
          <a:noFill/>
          <a:ln w="25400">
            <a:solidFill>
              <a:srgbClr val="94A3B8"/>
            </a:solidFill>
            <a:prstDash val="solid"/>
            <a:headEnd type="none"/>
            <a:tailEnd type="triangle"/>
          </a:ln>
        </p:spPr>
      </p:sp>
      <p:sp>
        <p:nvSpPr>
          <p:cNvPr id="27" name="Text 24"/>
          <p:cNvSpPr txBox="1"/>
          <p:nvPr/>
        </p:nvSpPr>
        <p:spPr>
          <a:xfrm>
            <a:off x="1143000" y="5010912"/>
            <a:ext cx="9875520" cy="274320"/>
          </a:xfrm>
          <a:prstGeom prst="rect">
            <a:avLst/>
          </a:prstGeom>
          <a:noFill/>
          <a:ln/>
        </p:spPr>
        <p:txBody>
          <a:bodyPr wrap="square" lIns="508" tIns="508" rIns="508" bIns="508" rtlCol="0" anchor="ctr">
            <a:normAutofit/>
          </a:bodyPr>
          <a:lstStyle/>
          <a:p>
            <a:pPr algn="ctr" indent="0" marL="0">
              <a:buNone/>
            </a:pPr>
            <a:r>
              <a:rPr lang="en-US" sz="1800" b="1" dirty="0">
                <a:solidFill>
                  <a:srgbClr val="1F497D"/>
                </a:solidFill>
                <a:latin typeface="Calibri" pitchFamily="34" charset="0"/>
                <a:ea typeface="Calibri" pitchFamily="34" charset="-122"/>
                <a:cs typeface="Calibri" pitchFamily="34" charset="-120"/>
              </a:rPr>
              <a:t>Policy evaluates the request before access, during the session, and after the event.</a:t>
            </a:r>
            <a:endParaRPr lang="en-US" sz="18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IDENTITY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Authentication is not authorization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Proof of control answers one question. Permission answers another.</a:t>
            </a:r>
            <a:endParaRPr lang="en-US" sz="1250" dirty="0"/>
          </a:p>
        </p:txBody>
      </p:sp>
      <p:sp>
        <p:nvSpPr>
          <p:cNvPr id="6" name="Shape 3"/>
          <p:cNvSpPr/>
          <p:nvPr/>
        </p:nvSpPr>
        <p:spPr>
          <a:xfrm>
            <a:off x="822960" y="1965960"/>
            <a:ext cx="3108960" cy="1965960"/>
          </a:xfrm>
          <a:prstGeom prst="roundRect">
            <a:avLst/>
          </a:prstGeom>
          <a:solidFill>
            <a:srgbClr val="FFFFFF"/>
          </a:solidFill>
          <a:ln w="12700">
            <a:solidFill>
              <a:srgbClr val="CBD5E1"/>
            </a:solidFill>
            <a:prstDash val="solid"/>
          </a:ln>
        </p:spPr>
      </p:sp>
      <p:sp>
        <p:nvSpPr>
          <p:cNvPr id="7" name="Shape 4"/>
          <p:cNvSpPr/>
          <p:nvPr/>
        </p:nvSpPr>
        <p:spPr>
          <a:xfrm>
            <a:off x="822960" y="1965960"/>
            <a:ext cx="3108960" cy="292608"/>
          </a:xfrm>
          <a:prstGeom prst="roundRect">
            <a:avLst/>
          </a:prstGeom>
          <a:solidFill>
            <a:srgbClr val="4BACC6"/>
          </a:solidFill>
          <a:ln w="12700">
            <a:solidFill>
              <a:srgbClr val="4BACC6"/>
            </a:solidFill>
            <a:prstDash val="solid"/>
          </a:ln>
        </p:spPr>
      </p:sp>
      <p:sp>
        <p:nvSpPr>
          <p:cNvPr id="8" name="Text 5"/>
          <p:cNvSpPr txBox="1"/>
          <p:nvPr/>
        </p:nvSpPr>
        <p:spPr>
          <a:xfrm>
            <a:off x="932688" y="2002536"/>
            <a:ext cx="28895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AUTHENTICATION</a:t>
            </a:r>
            <a:endParaRPr lang="en-US" sz="1100" dirty="0"/>
          </a:p>
        </p:txBody>
      </p:sp>
      <p:sp>
        <p:nvSpPr>
          <p:cNvPr id="9" name="Text 6"/>
          <p:cNvSpPr txBox="1"/>
          <p:nvPr/>
        </p:nvSpPr>
        <p:spPr>
          <a:xfrm>
            <a:off x="932688" y="2377440"/>
            <a:ext cx="2889504" cy="14630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 are you?</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What authenticator do you control?</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Example: SSH cert + TOTP</a:t>
            </a:r>
            <a:endParaRPr lang="en-US" sz="1300" dirty="0"/>
          </a:p>
        </p:txBody>
      </p:sp>
      <p:sp>
        <p:nvSpPr>
          <p:cNvPr id="10" name="Shape 7"/>
          <p:cNvSpPr/>
          <p:nvPr/>
        </p:nvSpPr>
        <p:spPr>
          <a:xfrm>
            <a:off x="4526280" y="1965960"/>
            <a:ext cx="3108960" cy="1965960"/>
          </a:xfrm>
          <a:prstGeom prst="roundRect">
            <a:avLst/>
          </a:prstGeom>
          <a:solidFill>
            <a:srgbClr val="FFFFFF"/>
          </a:solidFill>
          <a:ln w="12700">
            <a:solidFill>
              <a:srgbClr val="CBD5E1"/>
            </a:solidFill>
            <a:prstDash val="solid"/>
          </a:ln>
        </p:spPr>
      </p:sp>
      <p:sp>
        <p:nvSpPr>
          <p:cNvPr id="11" name="Shape 8"/>
          <p:cNvSpPr/>
          <p:nvPr/>
        </p:nvSpPr>
        <p:spPr>
          <a:xfrm>
            <a:off x="4526280" y="1965960"/>
            <a:ext cx="3108960" cy="292608"/>
          </a:xfrm>
          <a:prstGeom prst="roundRect">
            <a:avLst/>
          </a:prstGeom>
          <a:solidFill>
            <a:srgbClr val="F79646"/>
          </a:solidFill>
          <a:ln w="12700">
            <a:solidFill>
              <a:srgbClr val="F79646"/>
            </a:solidFill>
            <a:prstDash val="solid"/>
          </a:ln>
        </p:spPr>
      </p:sp>
      <p:sp>
        <p:nvSpPr>
          <p:cNvPr id="12" name="Text 9"/>
          <p:cNvSpPr txBox="1"/>
          <p:nvPr/>
        </p:nvSpPr>
        <p:spPr>
          <a:xfrm>
            <a:off x="4636008" y="2002536"/>
            <a:ext cx="28895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13" name="Text 10"/>
          <p:cNvSpPr txBox="1"/>
          <p:nvPr/>
        </p:nvSpPr>
        <p:spPr>
          <a:xfrm>
            <a:off x="4636008" y="2377440"/>
            <a:ext cx="2889504" cy="14630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may you do?</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On which resource?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Example: restart one service</a:t>
            </a:r>
            <a:endParaRPr lang="en-US" sz="1300" dirty="0"/>
          </a:p>
        </p:txBody>
      </p:sp>
      <p:sp>
        <p:nvSpPr>
          <p:cNvPr id="14" name="Shape 11"/>
          <p:cNvSpPr/>
          <p:nvPr/>
        </p:nvSpPr>
        <p:spPr>
          <a:xfrm>
            <a:off x="8229600" y="1965960"/>
            <a:ext cx="3108960" cy="1965960"/>
          </a:xfrm>
          <a:prstGeom prst="roundRect">
            <a:avLst/>
          </a:prstGeom>
          <a:solidFill>
            <a:srgbClr val="FFFFFF"/>
          </a:solidFill>
          <a:ln w="12700">
            <a:solidFill>
              <a:srgbClr val="CBD5E1"/>
            </a:solidFill>
            <a:prstDash val="solid"/>
          </a:ln>
        </p:spPr>
      </p:sp>
      <p:sp>
        <p:nvSpPr>
          <p:cNvPr id="15" name="Shape 12"/>
          <p:cNvSpPr/>
          <p:nvPr/>
        </p:nvSpPr>
        <p:spPr>
          <a:xfrm>
            <a:off x="8229600" y="1965960"/>
            <a:ext cx="3108960" cy="292608"/>
          </a:xfrm>
          <a:prstGeom prst="roundRect">
            <a:avLst/>
          </a:prstGeom>
          <a:solidFill>
            <a:srgbClr val="8064A2"/>
          </a:solidFill>
          <a:ln w="12700">
            <a:solidFill>
              <a:srgbClr val="8064A2"/>
            </a:solidFill>
            <a:prstDash val="solid"/>
          </a:ln>
        </p:spPr>
      </p:sp>
      <p:sp>
        <p:nvSpPr>
          <p:cNvPr id="16" name="Text 13"/>
          <p:cNvSpPr txBox="1"/>
          <p:nvPr/>
        </p:nvSpPr>
        <p:spPr>
          <a:xfrm>
            <a:off x="8339328" y="2002536"/>
            <a:ext cx="28895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ACCOUNTABILITY</a:t>
            </a:r>
            <a:endParaRPr lang="en-US" sz="1100" dirty="0"/>
          </a:p>
        </p:txBody>
      </p:sp>
      <p:sp>
        <p:nvSpPr>
          <p:cNvPr id="17" name="Text 14"/>
          <p:cNvSpPr txBox="1"/>
          <p:nvPr/>
        </p:nvSpPr>
        <p:spPr>
          <a:xfrm>
            <a:off x="8339328" y="2377440"/>
            <a:ext cx="2889504" cy="14630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happened?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Can we reconstruct it?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Example: recorded sudo event</a:t>
            </a:r>
            <a:endParaRPr lang="en-US" sz="1300" dirty="0"/>
          </a:p>
        </p:txBody>
      </p:sp>
      <p:sp>
        <p:nvSpPr>
          <p:cNvPr id="18" name="Shape 15"/>
          <p:cNvSpPr/>
          <p:nvPr/>
        </p:nvSpPr>
        <p:spPr>
          <a:xfrm>
            <a:off x="4041648" y="2944368"/>
            <a:ext cx="365760" cy="0"/>
          </a:xfrm>
          <a:prstGeom prst="line">
            <a:avLst/>
          </a:prstGeom>
          <a:noFill/>
          <a:ln w="25400">
            <a:solidFill>
              <a:srgbClr val="94A3B8"/>
            </a:solidFill>
            <a:prstDash val="solid"/>
            <a:headEnd type="none"/>
            <a:tailEnd type="triangle"/>
          </a:ln>
        </p:spPr>
      </p:sp>
      <p:sp>
        <p:nvSpPr>
          <p:cNvPr id="19" name="Shape 16"/>
          <p:cNvSpPr/>
          <p:nvPr/>
        </p:nvSpPr>
        <p:spPr>
          <a:xfrm>
            <a:off x="7744968" y="2944368"/>
            <a:ext cx="365760" cy="0"/>
          </a:xfrm>
          <a:prstGeom prst="line">
            <a:avLst/>
          </a:prstGeom>
          <a:noFill/>
          <a:ln w="25400">
            <a:solidFill>
              <a:srgbClr val="94A3B8"/>
            </a:solidFill>
            <a:prstDash val="solid"/>
            <a:headEnd type="none"/>
            <a:tailEnd type="triangle"/>
          </a:ln>
        </p:spPr>
      </p:sp>
      <p:sp>
        <p:nvSpPr>
          <p:cNvPr id="20" name="Shape 17"/>
          <p:cNvSpPr/>
          <p:nvPr/>
        </p:nvSpPr>
        <p:spPr>
          <a:xfrm>
            <a:off x="1097280" y="4663440"/>
            <a:ext cx="10012680" cy="713232"/>
          </a:xfrm>
          <a:prstGeom prst="roundRect">
            <a:avLst/>
          </a:prstGeom>
          <a:solidFill>
            <a:srgbClr val="FFFFFF"/>
          </a:solidFill>
          <a:ln w="12700">
            <a:solidFill>
              <a:srgbClr val="C0504D"/>
            </a:solidFill>
            <a:prstDash val="solid"/>
          </a:ln>
        </p:spPr>
      </p:sp>
      <p:sp>
        <p:nvSpPr>
          <p:cNvPr id="21" name="Shape 18"/>
          <p:cNvSpPr/>
          <p:nvPr/>
        </p:nvSpPr>
        <p:spPr>
          <a:xfrm>
            <a:off x="1097280" y="4663440"/>
            <a:ext cx="100584" cy="713232"/>
          </a:xfrm>
          <a:prstGeom prst="rect">
            <a:avLst/>
          </a:prstGeom>
          <a:solidFill>
            <a:srgbClr val="C0504D"/>
          </a:solidFill>
          <a:ln w="12700">
            <a:solidFill>
              <a:srgbClr val="C0504D"/>
            </a:solidFill>
            <a:prstDash val="solid"/>
          </a:ln>
        </p:spPr>
      </p:sp>
      <p:sp>
        <p:nvSpPr>
          <p:cNvPr id="22" name="Text 19"/>
          <p:cNvSpPr txBox="1"/>
          <p:nvPr/>
        </p:nvSpPr>
        <p:spPr>
          <a:xfrm>
            <a:off x="1335024" y="4773168"/>
            <a:ext cx="966520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Failure mode</a:t>
            </a:r>
            <a:endParaRPr lang="en-US" sz="1400" dirty="0"/>
          </a:p>
        </p:txBody>
      </p:sp>
      <p:sp>
        <p:nvSpPr>
          <p:cNvPr id="23" name="Text 20"/>
          <p:cNvSpPr txBox="1"/>
          <p:nvPr/>
        </p:nvSpPr>
        <p:spPr>
          <a:xfrm>
            <a:off x="1335024" y="5074920"/>
            <a:ext cx="966520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valid credential can still be used for an unauthorized action.</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SSH TRUST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TOFU versus an SSH Certificate Authority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Both models can work. They scale differently.</a:t>
            </a:r>
            <a:endParaRPr lang="en-US" sz="1250" dirty="0"/>
          </a:p>
        </p:txBody>
      </p:sp>
      <p:sp>
        <p:nvSpPr>
          <p:cNvPr id="6" name="Shape 3"/>
          <p:cNvSpPr/>
          <p:nvPr/>
        </p:nvSpPr>
        <p:spPr>
          <a:xfrm>
            <a:off x="777240" y="1874520"/>
            <a:ext cx="4937760" cy="2926080"/>
          </a:xfrm>
          <a:prstGeom prst="roundRect">
            <a:avLst/>
          </a:prstGeom>
          <a:solidFill>
            <a:srgbClr val="FFF3E7"/>
          </a:solidFill>
          <a:ln w="12700">
            <a:solidFill>
              <a:srgbClr val="F79646"/>
            </a:solidFill>
            <a:prstDash val="solid"/>
          </a:ln>
        </p:spPr>
      </p:sp>
      <p:sp>
        <p:nvSpPr>
          <p:cNvPr id="7" name="Text 4"/>
          <p:cNvSpPr txBox="1"/>
          <p:nvPr/>
        </p:nvSpPr>
        <p:spPr>
          <a:xfrm>
            <a:off x="1097280" y="2212848"/>
            <a:ext cx="4297680" cy="274320"/>
          </a:xfrm>
          <a:prstGeom prst="rect">
            <a:avLst/>
          </a:prstGeom>
          <a:noFill/>
          <a:ln/>
        </p:spPr>
        <p:txBody>
          <a:bodyPr wrap="square" lIns="508" tIns="508" rIns="508" bIns="508" rtlCol="0" anchor="ctr">
            <a:normAutofit/>
          </a:bodyPr>
          <a:lstStyle/>
          <a:p>
            <a:pPr algn="ctr" indent="0" marL="0">
              <a:buNone/>
            </a:pPr>
            <a:r>
              <a:rPr lang="en-US" sz="2400" b="1" dirty="0">
                <a:solidFill>
                  <a:srgbClr val="F79646"/>
                </a:solidFill>
                <a:latin typeface="Calibri" pitchFamily="34" charset="0"/>
                <a:ea typeface="Calibri" pitchFamily="34" charset="-122"/>
                <a:cs typeface="Calibri" pitchFamily="34" charset="-120"/>
              </a:rPr>
              <a:t>TOFU</a:t>
            </a:r>
            <a:endParaRPr lang="en-US" sz="2400" dirty="0"/>
          </a:p>
        </p:txBody>
      </p:sp>
      <p:sp>
        <p:nvSpPr>
          <p:cNvPr id="8" name="Text 5"/>
          <p:cNvSpPr txBox="1"/>
          <p:nvPr/>
        </p:nvSpPr>
        <p:spPr>
          <a:xfrm>
            <a:off x="1143000" y="2926080"/>
            <a:ext cx="4206240" cy="1078992"/>
          </a:xfrm>
          <a:prstGeom prst="rect">
            <a:avLst/>
          </a:prstGeom>
          <a:noFill/>
          <a:ln/>
        </p:spPr>
        <p:txBody>
          <a:bodyPr wrap="square" lIns="508" tIns="508" rIns="508" bIns="508" rtlCol="0" anchor="ctr">
            <a:normAutofit/>
          </a:bodyPr>
          <a:lstStyle/>
          <a:p>
            <a:pPr algn="ctr" indent="0" marL="0">
              <a:buNone/>
            </a:pPr>
            <a:r>
              <a:rPr lang="en-US" sz="1700" dirty="0">
                <a:solidFill>
                  <a:srgbClr val="203040"/>
                </a:solidFill>
                <a:latin typeface="Calibri" pitchFamily="34" charset="0"/>
                <a:ea typeface="Calibri" pitchFamily="34" charset="-122"/>
                <a:cs typeface="Calibri" pitchFamily="34" charset="-120"/>
              </a:rPr>
              <a:t>Client sees host key</a:t>
            </a:r>
            <a:endParaRPr lang="en-US" sz="1700" dirty="0"/>
          </a:p>
          <a:p>
            <a:pPr algn="ctr" indent="0" marL="0">
              <a:buNone/>
            </a:pPr>
            <a:endParaRPr lang="en-US" sz="1700" dirty="0"/>
          </a:p>
          <a:p>
            <a:pPr algn="ctr" indent="0" marL="0">
              <a:buNone/>
            </a:pPr>
            <a:r>
              <a:rPr lang="en-US" sz="1700" dirty="0">
                <a:solidFill>
                  <a:srgbClr val="203040"/>
                </a:solidFill>
                <a:latin typeface="Calibri" pitchFamily="34" charset="0"/>
                <a:ea typeface="Calibri" pitchFamily="34" charset="-122"/>
                <a:cs typeface="Calibri" pitchFamily="34" charset="-120"/>
              </a:rPr>
              <a:t>User accepts fingerprint</a:t>
            </a:r>
            <a:endParaRPr lang="en-US" sz="1700" dirty="0"/>
          </a:p>
          <a:p>
            <a:pPr algn="ctr" indent="0" marL="0">
              <a:buNone/>
            </a:pPr>
            <a:endParaRPr lang="en-US" sz="1700" dirty="0"/>
          </a:p>
          <a:p>
            <a:pPr algn="ctr" indent="0" marL="0">
              <a:buNone/>
            </a:pPr>
            <a:r>
              <a:rPr lang="en-US" sz="1700" dirty="0">
                <a:solidFill>
                  <a:srgbClr val="203040"/>
                </a:solidFill>
                <a:latin typeface="Calibri" pitchFamily="34" charset="0"/>
                <a:ea typeface="Calibri" pitchFamily="34" charset="-122"/>
                <a:cs typeface="Calibri" pitchFamily="34" charset="-120"/>
              </a:rPr>
              <a:t>Known host key stored locally</a:t>
            </a:r>
            <a:endParaRPr lang="en-US" sz="1700" dirty="0"/>
          </a:p>
        </p:txBody>
      </p:sp>
      <p:sp>
        <p:nvSpPr>
          <p:cNvPr id="9" name="Shape 6"/>
          <p:cNvSpPr/>
          <p:nvPr/>
        </p:nvSpPr>
        <p:spPr>
          <a:xfrm>
            <a:off x="1353312" y="4251960"/>
            <a:ext cx="3749040" cy="274320"/>
          </a:xfrm>
          <a:prstGeom prst="roundRect">
            <a:avLst/>
          </a:prstGeom>
          <a:solidFill>
            <a:srgbClr val="F79646"/>
          </a:solidFill>
          <a:ln w="12700">
            <a:solidFill>
              <a:srgbClr val="F79646"/>
            </a:solidFill>
            <a:prstDash val="solid"/>
          </a:ln>
        </p:spPr>
      </p:sp>
      <p:sp>
        <p:nvSpPr>
          <p:cNvPr id="10" name="Text 7"/>
          <p:cNvSpPr txBox="1"/>
          <p:nvPr/>
        </p:nvSpPr>
        <p:spPr>
          <a:xfrm>
            <a:off x="1426464" y="4270248"/>
            <a:ext cx="360273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LOW SCALE · HIGH OPERATOR DEPENDENCE</a:t>
            </a:r>
            <a:endParaRPr lang="en-US" sz="1000" dirty="0"/>
          </a:p>
        </p:txBody>
      </p:sp>
      <p:sp>
        <p:nvSpPr>
          <p:cNvPr id="11" name="Shape 8"/>
          <p:cNvSpPr/>
          <p:nvPr/>
        </p:nvSpPr>
        <p:spPr>
          <a:xfrm>
            <a:off x="6446520" y="1874520"/>
            <a:ext cx="4937760" cy="2926080"/>
          </a:xfrm>
          <a:prstGeom prst="roundRect">
            <a:avLst/>
          </a:prstGeom>
          <a:solidFill>
            <a:srgbClr val="EAF7F9"/>
          </a:solidFill>
          <a:ln w="12700">
            <a:solidFill>
              <a:srgbClr val="4BACC6"/>
            </a:solidFill>
            <a:prstDash val="solid"/>
          </a:ln>
        </p:spPr>
      </p:sp>
      <p:sp>
        <p:nvSpPr>
          <p:cNvPr id="12" name="Text 9"/>
          <p:cNvSpPr txBox="1"/>
          <p:nvPr/>
        </p:nvSpPr>
        <p:spPr>
          <a:xfrm>
            <a:off x="6748272" y="2212848"/>
            <a:ext cx="4343400" cy="274320"/>
          </a:xfrm>
          <a:prstGeom prst="rect">
            <a:avLst/>
          </a:prstGeom>
          <a:noFill/>
          <a:ln/>
        </p:spPr>
        <p:txBody>
          <a:bodyPr wrap="square" lIns="508" tIns="508" rIns="508" bIns="508" rtlCol="0" anchor="ctr">
            <a:normAutofit/>
          </a:bodyPr>
          <a:lstStyle/>
          <a:p>
            <a:pPr algn="ctr" indent="0" marL="0">
              <a:buNone/>
            </a:pPr>
            <a:r>
              <a:rPr lang="en-US" sz="2200" b="1" dirty="0">
                <a:solidFill>
                  <a:srgbClr val="4BACC6"/>
                </a:solidFill>
                <a:latin typeface="Calibri" pitchFamily="34" charset="0"/>
                <a:ea typeface="Calibri" pitchFamily="34" charset="-122"/>
                <a:cs typeface="Calibri" pitchFamily="34" charset="-120"/>
              </a:rPr>
              <a:t>CA-BACKED HOST TRUST</a:t>
            </a:r>
            <a:endParaRPr lang="en-US" sz="2200" dirty="0"/>
          </a:p>
        </p:txBody>
      </p:sp>
      <p:sp>
        <p:nvSpPr>
          <p:cNvPr id="13" name="Text 10"/>
          <p:cNvSpPr txBox="1"/>
          <p:nvPr/>
        </p:nvSpPr>
        <p:spPr>
          <a:xfrm>
            <a:off x="6748272" y="2926080"/>
            <a:ext cx="4343400" cy="1078992"/>
          </a:xfrm>
          <a:prstGeom prst="rect">
            <a:avLst/>
          </a:prstGeom>
          <a:noFill/>
          <a:ln/>
        </p:spPr>
        <p:txBody>
          <a:bodyPr wrap="square" lIns="508" tIns="508" rIns="508" bIns="508" rtlCol="0" anchor="ctr">
            <a:normAutofit/>
          </a:bodyPr>
          <a:lstStyle/>
          <a:p>
            <a:pPr algn="ctr" indent="0" marL="0">
              <a:buNone/>
            </a:pPr>
            <a:r>
              <a:rPr lang="en-US" sz="1700" dirty="0">
                <a:solidFill>
                  <a:srgbClr val="203040"/>
                </a:solidFill>
                <a:latin typeface="Calibri" pitchFamily="34" charset="0"/>
                <a:ea typeface="Calibri" pitchFamily="34" charset="-122"/>
                <a:cs typeface="Calibri" pitchFamily="34" charset="-120"/>
              </a:rPr>
              <a:t>Client trusts CA public key</a:t>
            </a:r>
            <a:endParaRPr lang="en-US" sz="1700" dirty="0"/>
          </a:p>
          <a:p>
            <a:pPr algn="ctr" indent="0" marL="0">
              <a:buNone/>
            </a:pPr>
            <a:endParaRPr lang="en-US" sz="1700" dirty="0"/>
          </a:p>
          <a:p>
            <a:pPr algn="ctr" indent="0" marL="0">
              <a:buNone/>
            </a:pPr>
            <a:r>
              <a:rPr lang="en-US" sz="1700" dirty="0">
                <a:solidFill>
                  <a:srgbClr val="203040"/>
                </a:solidFill>
                <a:latin typeface="Calibri" pitchFamily="34" charset="0"/>
                <a:ea typeface="Calibri" pitchFamily="34" charset="-122"/>
                <a:cs typeface="Calibri" pitchFamily="34" charset="-120"/>
              </a:rPr>
              <a:t>Server presents host certificate</a:t>
            </a:r>
            <a:endParaRPr lang="en-US" sz="1700" dirty="0"/>
          </a:p>
          <a:p>
            <a:pPr algn="ctr" indent="0" marL="0">
              <a:buNone/>
            </a:pPr>
            <a:endParaRPr lang="en-US" sz="1700" dirty="0"/>
          </a:p>
          <a:p>
            <a:pPr algn="ctr" indent="0" marL="0">
              <a:buNone/>
            </a:pPr>
            <a:r>
              <a:rPr lang="en-US" sz="1700" dirty="0">
                <a:solidFill>
                  <a:srgbClr val="203040"/>
                </a:solidFill>
                <a:latin typeface="Calibri" pitchFamily="34" charset="0"/>
                <a:ea typeface="Calibri" pitchFamily="34" charset="-122"/>
                <a:cs typeface="Calibri" pitchFamily="34" charset="-120"/>
              </a:rPr>
              <a:t>Certificate names are validated</a:t>
            </a:r>
            <a:endParaRPr lang="en-US" sz="1700" dirty="0"/>
          </a:p>
        </p:txBody>
      </p:sp>
      <p:sp>
        <p:nvSpPr>
          <p:cNvPr id="14" name="Shape 11"/>
          <p:cNvSpPr/>
          <p:nvPr/>
        </p:nvSpPr>
        <p:spPr>
          <a:xfrm>
            <a:off x="7086600" y="4251960"/>
            <a:ext cx="3657600" cy="274320"/>
          </a:xfrm>
          <a:prstGeom prst="roundRect">
            <a:avLst/>
          </a:prstGeom>
          <a:solidFill>
            <a:srgbClr val="4BACC6"/>
          </a:solidFill>
          <a:ln w="12700">
            <a:solidFill>
              <a:srgbClr val="4BACC6"/>
            </a:solidFill>
            <a:prstDash val="solid"/>
          </a:ln>
        </p:spPr>
      </p:sp>
      <p:sp>
        <p:nvSpPr>
          <p:cNvPr id="15" name="Text 12"/>
          <p:cNvSpPr txBox="1"/>
          <p:nvPr/>
        </p:nvSpPr>
        <p:spPr>
          <a:xfrm>
            <a:off x="7159752" y="4270248"/>
            <a:ext cx="351129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HIGHER SCALE · CENTRAL CONTROL</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ALGORITHMS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Algorithms have jobs, not vibes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secure design names the primitive and the job it performs.</a:t>
            </a:r>
            <a:endParaRPr lang="en-US" sz="1250" dirty="0"/>
          </a:p>
        </p:txBody>
      </p:sp>
      <p:sp>
        <p:nvSpPr>
          <p:cNvPr id="6" name="Shape 3"/>
          <p:cNvSpPr/>
          <p:nvPr/>
        </p:nvSpPr>
        <p:spPr>
          <a:xfrm>
            <a:off x="594360" y="1965960"/>
            <a:ext cx="2057400" cy="2103120"/>
          </a:xfrm>
          <a:prstGeom prst="roundRect">
            <a:avLst/>
          </a:prstGeom>
          <a:solidFill>
            <a:srgbClr val="FFFFFF"/>
          </a:solidFill>
          <a:ln w="12700">
            <a:solidFill>
              <a:srgbClr val="CBD5E1"/>
            </a:solidFill>
            <a:prstDash val="solid"/>
          </a:ln>
        </p:spPr>
      </p:sp>
      <p:sp>
        <p:nvSpPr>
          <p:cNvPr id="7" name="Shape 4"/>
          <p:cNvSpPr/>
          <p:nvPr/>
        </p:nvSpPr>
        <p:spPr>
          <a:xfrm>
            <a:off x="594360" y="196596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0253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Ed25519</a:t>
            </a:r>
            <a:endParaRPr lang="en-US" sz="1100" dirty="0"/>
          </a:p>
        </p:txBody>
      </p:sp>
      <p:sp>
        <p:nvSpPr>
          <p:cNvPr id="9" name="Text 6"/>
          <p:cNvSpPr txBox="1"/>
          <p:nvPr/>
        </p:nvSpPr>
        <p:spPr>
          <a:xfrm>
            <a:off x="704088" y="2377440"/>
            <a:ext cx="1837944" cy="16002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SSH keys and signatures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compact modern default</a:t>
            </a:r>
            <a:endParaRPr lang="en-US" sz="1300" dirty="0"/>
          </a:p>
        </p:txBody>
      </p:sp>
      <p:sp>
        <p:nvSpPr>
          <p:cNvPr id="10" name="Shape 7"/>
          <p:cNvSpPr/>
          <p:nvPr/>
        </p:nvSpPr>
        <p:spPr>
          <a:xfrm>
            <a:off x="2898648" y="1965960"/>
            <a:ext cx="2057400" cy="2103120"/>
          </a:xfrm>
          <a:prstGeom prst="roundRect">
            <a:avLst/>
          </a:prstGeom>
          <a:solidFill>
            <a:srgbClr val="FFFFFF"/>
          </a:solidFill>
          <a:ln w="12700">
            <a:solidFill>
              <a:srgbClr val="CBD5E1"/>
            </a:solidFill>
            <a:prstDash val="solid"/>
          </a:ln>
        </p:spPr>
      </p:sp>
      <p:sp>
        <p:nvSpPr>
          <p:cNvPr id="11" name="Shape 8"/>
          <p:cNvSpPr/>
          <p:nvPr/>
        </p:nvSpPr>
        <p:spPr>
          <a:xfrm>
            <a:off x="2898648" y="1965960"/>
            <a:ext cx="2057400" cy="292608"/>
          </a:xfrm>
          <a:prstGeom prst="roundRect">
            <a:avLst/>
          </a:prstGeom>
          <a:solidFill>
            <a:srgbClr val="4F81BD"/>
          </a:solidFill>
          <a:ln w="12700">
            <a:solidFill>
              <a:srgbClr val="4F81BD"/>
            </a:solidFill>
            <a:prstDash val="solid"/>
          </a:ln>
        </p:spPr>
      </p:sp>
      <p:sp>
        <p:nvSpPr>
          <p:cNvPr id="12" name="Text 9"/>
          <p:cNvSpPr txBox="1"/>
          <p:nvPr/>
        </p:nvSpPr>
        <p:spPr>
          <a:xfrm>
            <a:off x="3008376" y="200253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RSA</a:t>
            </a:r>
            <a:endParaRPr lang="en-US" sz="1100" dirty="0"/>
          </a:p>
        </p:txBody>
      </p:sp>
      <p:sp>
        <p:nvSpPr>
          <p:cNvPr id="13" name="Text 10"/>
          <p:cNvSpPr txBox="1"/>
          <p:nvPr/>
        </p:nvSpPr>
        <p:spPr>
          <a:xfrm>
            <a:off x="3008376" y="2377440"/>
            <a:ext cx="1837944" cy="16002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compatibility and signatures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use modern RSA-SHA2</a:t>
            </a:r>
            <a:endParaRPr lang="en-US" sz="1300" dirty="0"/>
          </a:p>
        </p:txBody>
      </p:sp>
      <p:sp>
        <p:nvSpPr>
          <p:cNvPr id="14" name="Shape 11"/>
          <p:cNvSpPr/>
          <p:nvPr/>
        </p:nvSpPr>
        <p:spPr>
          <a:xfrm>
            <a:off x="5202936" y="1965960"/>
            <a:ext cx="2057400" cy="2103120"/>
          </a:xfrm>
          <a:prstGeom prst="roundRect">
            <a:avLst/>
          </a:prstGeom>
          <a:solidFill>
            <a:srgbClr val="FFFFFF"/>
          </a:solidFill>
          <a:ln w="12700">
            <a:solidFill>
              <a:srgbClr val="CBD5E1"/>
            </a:solidFill>
            <a:prstDash val="solid"/>
          </a:ln>
        </p:spPr>
      </p:sp>
      <p:sp>
        <p:nvSpPr>
          <p:cNvPr id="15" name="Shape 12"/>
          <p:cNvSpPr/>
          <p:nvPr/>
        </p:nvSpPr>
        <p:spPr>
          <a:xfrm>
            <a:off x="5202936" y="1965960"/>
            <a:ext cx="2057400" cy="292608"/>
          </a:xfrm>
          <a:prstGeom prst="roundRect">
            <a:avLst/>
          </a:prstGeom>
          <a:solidFill>
            <a:srgbClr val="F79646"/>
          </a:solidFill>
          <a:ln w="12700">
            <a:solidFill>
              <a:srgbClr val="F79646"/>
            </a:solidFill>
            <a:prstDash val="solid"/>
          </a:ln>
        </p:spPr>
      </p:sp>
      <p:sp>
        <p:nvSpPr>
          <p:cNvPr id="16" name="Text 13"/>
          <p:cNvSpPr txBox="1"/>
          <p:nvPr/>
        </p:nvSpPr>
        <p:spPr>
          <a:xfrm>
            <a:off x="5312664" y="200253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SHA-2</a:t>
            </a:r>
            <a:endParaRPr lang="en-US" sz="1100" dirty="0"/>
          </a:p>
        </p:txBody>
      </p:sp>
      <p:sp>
        <p:nvSpPr>
          <p:cNvPr id="17" name="Text 14"/>
          <p:cNvSpPr txBox="1"/>
          <p:nvPr/>
        </p:nvSpPr>
        <p:spPr>
          <a:xfrm>
            <a:off x="5312664" y="2377440"/>
            <a:ext cx="1837944" cy="16002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hashes and fingerprints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not encryption</a:t>
            </a:r>
            <a:endParaRPr lang="en-US" sz="1300" dirty="0"/>
          </a:p>
        </p:txBody>
      </p:sp>
      <p:sp>
        <p:nvSpPr>
          <p:cNvPr id="18" name="Shape 15"/>
          <p:cNvSpPr/>
          <p:nvPr/>
        </p:nvSpPr>
        <p:spPr>
          <a:xfrm>
            <a:off x="7507224" y="1965960"/>
            <a:ext cx="2057400" cy="2103120"/>
          </a:xfrm>
          <a:prstGeom prst="roundRect">
            <a:avLst/>
          </a:prstGeom>
          <a:solidFill>
            <a:srgbClr val="FFFFFF"/>
          </a:solidFill>
          <a:ln w="12700">
            <a:solidFill>
              <a:srgbClr val="CBD5E1"/>
            </a:solidFill>
            <a:prstDash val="solid"/>
          </a:ln>
        </p:spPr>
      </p:sp>
      <p:sp>
        <p:nvSpPr>
          <p:cNvPr id="19" name="Shape 16"/>
          <p:cNvSpPr/>
          <p:nvPr/>
        </p:nvSpPr>
        <p:spPr>
          <a:xfrm>
            <a:off x="7507224" y="1965960"/>
            <a:ext cx="2057400" cy="292608"/>
          </a:xfrm>
          <a:prstGeom prst="roundRect">
            <a:avLst/>
          </a:prstGeom>
          <a:solidFill>
            <a:srgbClr val="8064A2"/>
          </a:solidFill>
          <a:ln w="12700">
            <a:solidFill>
              <a:srgbClr val="8064A2"/>
            </a:solidFill>
            <a:prstDash val="solid"/>
          </a:ln>
        </p:spPr>
      </p:sp>
      <p:sp>
        <p:nvSpPr>
          <p:cNvPr id="20" name="Text 17"/>
          <p:cNvSpPr txBox="1"/>
          <p:nvPr/>
        </p:nvSpPr>
        <p:spPr>
          <a:xfrm>
            <a:off x="7616952" y="200253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HMAC</a:t>
            </a:r>
            <a:endParaRPr lang="en-US" sz="1100" dirty="0"/>
          </a:p>
        </p:txBody>
      </p:sp>
      <p:sp>
        <p:nvSpPr>
          <p:cNvPr id="21" name="Text 18"/>
          <p:cNvSpPr txBox="1"/>
          <p:nvPr/>
        </p:nvSpPr>
        <p:spPr>
          <a:xfrm>
            <a:off x="7616952" y="2377440"/>
            <a:ext cx="1837944" cy="16002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keyed integrity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inside TOTP and protocols</a:t>
            </a:r>
            <a:endParaRPr lang="en-US" sz="1300" dirty="0"/>
          </a:p>
        </p:txBody>
      </p:sp>
      <p:sp>
        <p:nvSpPr>
          <p:cNvPr id="22" name="Shape 19"/>
          <p:cNvSpPr/>
          <p:nvPr/>
        </p:nvSpPr>
        <p:spPr>
          <a:xfrm>
            <a:off x="9811512" y="1965960"/>
            <a:ext cx="2057400" cy="2103120"/>
          </a:xfrm>
          <a:prstGeom prst="roundRect">
            <a:avLst/>
          </a:prstGeom>
          <a:solidFill>
            <a:srgbClr val="FFFFFF"/>
          </a:solidFill>
          <a:ln w="12700">
            <a:solidFill>
              <a:srgbClr val="CBD5E1"/>
            </a:solidFill>
            <a:prstDash val="solid"/>
          </a:ln>
        </p:spPr>
      </p:sp>
      <p:sp>
        <p:nvSpPr>
          <p:cNvPr id="23" name="Shape 20"/>
          <p:cNvSpPr/>
          <p:nvPr/>
        </p:nvSpPr>
        <p:spPr>
          <a:xfrm>
            <a:off x="9811512" y="1965960"/>
            <a:ext cx="2057400" cy="292608"/>
          </a:xfrm>
          <a:prstGeom prst="roundRect">
            <a:avLst/>
          </a:prstGeom>
          <a:solidFill>
            <a:srgbClr val="70AD47"/>
          </a:solidFill>
          <a:ln w="12700">
            <a:solidFill>
              <a:srgbClr val="70AD47"/>
            </a:solidFill>
            <a:prstDash val="solid"/>
          </a:ln>
        </p:spPr>
      </p:sp>
      <p:sp>
        <p:nvSpPr>
          <p:cNvPr id="24" name="Text 21"/>
          <p:cNvSpPr txBox="1"/>
          <p:nvPr/>
        </p:nvSpPr>
        <p:spPr>
          <a:xfrm>
            <a:off x="9921240" y="200253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TOTP</a:t>
            </a:r>
            <a:endParaRPr lang="en-US" sz="1100" dirty="0"/>
          </a:p>
        </p:txBody>
      </p:sp>
      <p:sp>
        <p:nvSpPr>
          <p:cNvPr id="25" name="Text 22"/>
          <p:cNvSpPr txBox="1"/>
          <p:nvPr/>
        </p:nvSpPr>
        <p:spPr>
          <a:xfrm>
            <a:off x="9921240" y="2377440"/>
            <a:ext cx="1837944" cy="16002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time-based one-time code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shared secret plus clock</a:t>
            </a:r>
            <a:endParaRPr lang="en-US" sz="1300" dirty="0"/>
          </a:p>
        </p:txBody>
      </p:sp>
      <p:sp>
        <p:nvSpPr>
          <p:cNvPr id="26" name="Shape 23"/>
          <p:cNvSpPr/>
          <p:nvPr/>
        </p:nvSpPr>
        <p:spPr>
          <a:xfrm>
            <a:off x="960120" y="4736592"/>
            <a:ext cx="10149840" cy="658368"/>
          </a:xfrm>
          <a:prstGeom prst="roundRect">
            <a:avLst/>
          </a:prstGeom>
          <a:solidFill>
            <a:srgbClr val="FFFFFF"/>
          </a:solidFill>
          <a:ln w="12700">
            <a:solidFill>
              <a:srgbClr val="1F497D"/>
            </a:solidFill>
            <a:prstDash val="solid"/>
          </a:ln>
        </p:spPr>
      </p:sp>
      <p:sp>
        <p:nvSpPr>
          <p:cNvPr id="27" name="Shape 24"/>
          <p:cNvSpPr/>
          <p:nvPr/>
        </p:nvSpPr>
        <p:spPr>
          <a:xfrm>
            <a:off x="960120" y="4736592"/>
            <a:ext cx="100584" cy="658368"/>
          </a:xfrm>
          <a:prstGeom prst="rect">
            <a:avLst/>
          </a:prstGeom>
          <a:solidFill>
            <a:srgbClr val="1F497D"/>
          </a:solidFill>
          <a:ln w="12700">
            <a:solidFill>
              <a:srgbClr val="1F497D"/>
            </a:solidFill>
            <a:prstDash val="solid"/>
          </a:ln>
        </p:spPr>
      </p:sp>
      <p:sp>
        <p:nvSpPr>
          <p:cNvPr id="28" name="Text 25"/>
          <p:cNvSpPr txBox="1"/>
          <p:nvPr/>
        </p:nvSpPr>
        <p:spPr>
          <a:xfrm>
            <a:off x="1197864" y="4846320"/>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Rule of thumb</a:t>
            </a:r>
            <a:endParaRPr lang="en-US" sz="1400" dirty="0"/>
          </a:p>
        </p:txBody>
      </p:sp>
      <p:sp>
        <p:nvSpPr>
          <p:cNvPr id="29" name="Text 26"/>
          <p:cNvSpPr txBox="1"/>
          <p:nvPr/>
        </p:nvSpPr>
        <p:spPr>
          <a:xfrm>
            <a:off x="1197864" y="5148072"/>
            <a:ext cx="9802368" cy="15544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Name the security property first, then choose the primitive that supplies it.</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OPENSSH</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OpenSSH certificates are not X.509 certificates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Similar trust idea, different certificate format and validator.</a:t>
            </a:r>
            <a:endParaRPr lang="en-US" sz="1250" dirty="0"/>
          </a:p>
        </p:txBody>
      </p:sp>
      <p:sp>
        <p:nvSpPr>
          <p:cNvPr id="6" name="Shape 3"/>
          <p:cNvSpPr/>
          <p:nvPr/>
        </p:nvSpPr>
        <p:spPr>
          <a:xfrm>
            <a:off x="822960" y="1920240"/>
            <a:ext cx="4709160" cy="2651760"/>
          </a:xfrm>
          <a:prstGeom prst="roundRect">
            <a:avLst/>
          </a:prstGeom>
          <a:solidFill>
            <a:srgbClr val="FFFFFF"/>
          </a:solidFill>
          <a:ln w="12700">
            <a:solidFill>
              <a:srgbClr val="CBD5E1"/>
            </a:solidFill>
            <a:prstDash val="solid"/>
          </a:ln>
        </p:spPr>
      </p:sp>
      <p:sp>
        <p:nvSpPr>
          <p:cNvPr id="7" name="Shape 4"/>
          <p:cNvSpPr/>
          <p:nvPr/>
        </p:nvSpPr>
        <p:spPr>
          <a:xfrm>
            <a:off x="822960" y="1920240"/>
            <a:ext cx="4709160" cy="292608"/>
          </a:xfrm>
          <a:prstGeom prst="roundRect">
            <a:avLst/>
          </a:prstGeom>
          <a:solidFill>
            <a:srgbClr val="4BACC6"/>
          </a:solidFill>
          <a:ln w="12700">
            <a:solidFill>
              <a:srgbClr val="4BACC6"/>
            </a:solidFill>
            <a:prstDash val="solid"/>
          </a:ln>
        </p:spPr>
      </p:sp>
      <p:sp>
        <p:nvSpPr>
          <p:cNvPr id="8" name="Text 5"/>
          <p:cNvSpPr txBox="1"/>
          <p:nvPr/>
        </p:nvSpPr>
        <p:spPr>
          <a:xfrm>
            <a:off x="932688" y="1956816"/>
            <a:ext cx="44897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OPENSSH CERTIFICATE</a:t>
            </a:r>
            <a:endParaRPr lang="en-US" sz="1100" dirty="0"/>
          </a:p>
        </p:txBody>
      </p:sp>
      <p:sp>
        <p:nvSpPr>
          <p:cNvPr id="9" name="Text 6"/>
          <p:cNvSpPr txBox="1"/>
          <p:nvPr/>
        </p:nvSpPr>
        <p:spPr>
          <a:xfrm>
            <a:off x="932688" y="2331720"/>
            <a:ext cx="4489704" cy="21488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Signed by an SSH CA</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User or host certificate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Principals and options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Validated by sshd or SSH client</a:t>
            </a:r>
            <a:endParaRPr lang="en-US" sz="1300" dirty="0"/>
          </a:p>
        </p:txBody>
      </p:sp>
      <p:sp>
        <p:nvSpPr>
          <p:cNvPr id="10" name="Shape 7"/>
          <p:cNvSpPr/>
          <p:nvPr/>
        </p:nvSpPr>
        <p:spPr>
          <a:xfrm>
            <a:off x="6583680" y="1920240"/>
            <a:ext cx="4709160" cy="2651760"/>
          </a:xfrm>
          <a:prstGeom prst="roundRect">
            <a:avLst/>
          </a:prstGeom>
          <a:solidFill>
            <a:srgbClr val="FFFFFF"/>
          </a:solidFill>
          <a:ln w="12700">
            <a:solidFill>
              <a:srgbClr val="CBD5E1"/>
            </a:solidFill>
            <a:prstDash val="solid"/>
          </a:ln>
        </p:spPr>
      </p:sp>
      <p:sp>
        <p:nvSpPr>
          <p:cNvPr id="11" name="Shape 8"/>
          <p:cNvSpPr/>
          <p:nvPr/>
        </p:nvSpPr>
        <p:spPr>
          <a:xfrm>
            <a:off x="6583680" y="1920240"/>
            <a:ext cx="4709160" cy="292608"/>
          </a:xfrm>
          <a:prstGeom prst="roundRect">
            <a:avLst/>
          </a:prstGeom>
          <a:solidFill>
            <a:srgbClr val="4F81BD"/>
          </a:solidFill>
          <a:ln w="12700">
            <a:solidFill>
              <a:srgbClr val="4F81BD"/>
            </a:solidFill>
            <a:prstDash val="solid"/>
          </a:ln>
        </p:spPr>
      </p:sp>
      <p:sp>
        <p:nvSpPr>
          <p:cNvPr id="12" name="Text 9"/>
          <p:cNvSpPr txBox="1"/>
          <p:nvPr/>
        </p:nvSpPr>
        <p:spPr>
          <a:xfrm>
            <a:off x="6693408" y="1956816"/>
            <a:ext cx="44897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X.509 CERTIFICATE</a:t>
            </a:r>
            <a:endParaRPr lang="en-US" sz="1100" dirty="0"/>
          </a:p>
        </p:txBody>
      </p:sp>
      <p:sp>
        <p:nvSpPr>
          <p:cNvPr id="13" name="Text 10"/>
          <p:cNvSpPr txBox="1"/>
          <p:nvPr/>
        </p:nvSpPr>
        <p:spPr>
          <a:xfrm>
            <a:off x="6693408" y="2331720"/>
            <a:ext cx="4489704" cy="21488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Signed by an X.509 CA</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TLS, web, mTLS, code signing</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SANs and EKU</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Validated by X.509 libraries</a:t>
            </a:r>
            <a:endParaRPr lang="en-US" sz="1300" dirty="0"/>
          </a:p>
        </p:txBody>
      </p:sp>
      <p:sp>
        <p:nvSpPr>
          <p:cNvPr id="14" name="Shape 11"/>
          <p:cNvSpPr/>
          <p:nvPr/>
        </p:nvSpPr>
        <p:spPr>
          <a:xfrm>
            <a:off x="5715000" y="3246120"/>
            <a:ext cx="685800" cy="0"/>
          </a:xfrm>
          <a:prstGeom prst="line">
            <a:avLst/>
          </a:prstGeom>
          <a:noFill/>
          <a:ln w="25400">
            <a:solidFill>
              <a:srgbClr val="94A3B8"/>
            </a:solidFill>
            <a:prstDash val="solid"/>
            <a:headEnd type="none"/>
            <a:tailEnd type="none"/>
          </a:ln>
        </p:spPr>
      </p:sp>
      <p:sp>
        <p:nvSpPr>
          <p:cNvPr id="15" name="Text 12"/>
          <p:cNvSpPr txBox="1"/>
          <p:nvPr/>
        </p:nvSpPr>
        <p:spPr>
          <a:xfrm>
            <a:off x="1920240" y="5047488"/>
            <a:ext cx="841248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Same trust pattern, different wire format and policy engine</a:t>
            </a:r>
            <a:endParaRPr lang="en-US" sz="17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USER CERTIFICATES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 user certificate is a scoped access claim</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CA signs more than a key. It signs identity, scope, and limits.</a:t>
            </a:r>
            <a:endParaRPr lang="en-US" sz="1250" dirty="0"/>
          </a:p>
        </p:txBody>
      </p:sp>
      <p:sp>
        <p:nvSpPr>
          <p:cNvPr id="6" name="Shape 3"/>
          <p:cNvSpPr/>
          <p:nvPr/>
        </p:nvSpPr>
        <p:spPr>
          <a:xfrm>
            <a:off x="822960" y="1828800"/>
            <a:ext cx="10515600" cy="3246120"/>
          </a:xfrm>
          <a:prstGeom prst="roundRect">
            <a:avLst/>
          </a:prstGeom>
          <a:solidFill>
            <a:srgbClr val="FFFFFF"/>
          </a:solidFill>
          <a:ln w="12700">
            <a:solidFill>
              <a:srgbClr val="4F81BD"/>
            </a:solidFill>
            <a:prstDash val="solid"/>
          </a:ln>
        </p:spPr>
      </p:sp>
      <p:sp>
        <p:nvSpPr>
          <p:cNvPr id="7" name="Shape 4"/>
          <p:cNvSpPr/>
          <p:nvPr/>
        </p:nvSpPr>
        <p:spPr>
          <a:xfrm>
            <a:off x="1143000" y="2121408"/>
            <a:ext cx="2057400" cy="292608"/>
          </a:xfrm>
          <a:prstGeom prst="roundRect">
            <a:avLst/>
          </a:prstGeom>
          <a:solidFill>
            <a:srgbClr val="EAF7F9"/>
          </a:solidFill>
          <a:ln w="12700">
            <a:solidFill>
              <a:srgbClr val="CBD5E1"/>
            </a:solidFill>
            <a:prstDash val="solid"/>
          </a:ln>
        </p:spPr>
      </p:sp>
      <p:sp>
        <p:nvSpPr>
          <p:cNvPr id="8" name="Text 5"/>
          <p:cNvSpPr txBox="1"/>
          <p:nvPr/>
        </p:nvSpPr>
        <p:spPr>
          <a:xfrm>
            <a:off x="1261872" y="2176272"/>
            <a:ext cx="1828800" cy="164592"/>
          </a:xfrm>
          <a:prstGeom prst="rect">
            <a:avLst/>
          </a:prstGeom>
          <a:noFill/>
          <a:ln/>
        </p:spPr>
        <p:txBody>
          <a:bodyPr wrap="square" lIns="508" tIns="508" rIns="508" bIns="508" rtlCol="0" anchor="ctr">
            <a:normAutofit/>
          </a:bodyPr>
          <a:lstStyle/>
          <a:p>
            <a:pPr algn="l" indent="0" marL="0">
              <a:buNone/>
            </a:pPr>
            <a:r>
              <a:rPr lang="en-US" sz="1100" b="1" dirty="0">
                <a:solidFill>
                  <a:srgbClr val="1F497D"/>
                </a:solidFill>
                <a:latin typeface="Calibri" pitchFamily="34" charset="0"/>
                <a:ea typeface="Calibri" pitchFamily="34" charset="-122"/>
                <a:cs typeface="Calibri" pitchFamily="34" charset="-120"/>
              </a:rPr>
              <a:t>Key ID</a:t>
            </a:r>
            <a:endParaRPr lang="en-US" sz="1100" dirty="0"/>
          </a:p>
        </p:txBody>
      </p:sp>
      <p:sp>
        <p:nvSpPr>
          <p:cNvPr id="9" name="Text 6"/>
          <p:cNvSpPr txBox="1"/>
          <p:nvPr/>
        </p:nvSpPr>
        <p:spPr>
          <a:xfrm>
            <a:off x="3429000" y="2176272"/>
            <a:ext cx="576072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who or what issued it for logging</a:t>
            </a:r>
            <a:endParaRPr lang="en-US" sz="1150" dirty="0"/>
          </a:p>
        </p:txBody>
      </p:sp>
      <p:sp>
        <p:nvSpPr>
          <p:cNvPr id="10" name="Shape 7"/>
          <p:cNvSpPr/>
          <p:nvPr/>
        </p:nvSpPr>
        <p:spPr>
          <a:xfrm>
            <a:off x="1143000" y="2551176"/>
            <a:ext cx="2057400" cy="292608"/>
          </a:xfrm>
          <a:prstGeom prst="roundRect">
            <a:avLst/>
          </a:prstGeom>
          <a:solidFill>
            <a:srgbClr val="EEF2FA"/>
          </a:solidFill>
          <a:ln w="12700">
            <a:solidFill>
              <a:srgbClr val="CBD5E1"/>
            </a:solidFill>
            <a:prstDash val="solid"/>
          </a:ln>
        </p:spPr>
      </p:sp>
      <p:sp>
        <p:nvSpPr>
          <p:cNvPr id="11" name="Text 8"/>
          <p:cNvSpPr txBox="1"/>
          <p:nvPr/>
        </p:nvSpPr>
        <p:spPr>
          <a:xfrm>
            <a:off x="1261872" y="2606040"/>
            <a:ext cx="1828800" cy="164592"/>
          </a:xfrm>
          <a:prstGeom prst="rect">
            <a:avLst/>
          </a:prstGeom>
          <a:noFill/>
          <a:ln/>
        </p:spPr>
        <p:txBody>
          <a:bodyPr wrap="square" lIns="508" tIns="508" rIns="508" bIns="508" rtlCol="0" anchor="ctr">
            <a:normAutofit/>
          </a:bodyPr>
          <a:lstStyle/>
          <a:p>
            <a:pPr algn="l" indent="0" marL="0">
              <a:buNone/>
            </a:pPr>
            <a:r>
              <a:rPr lang="en-US" sz="1100" b="1" dirty="0">
                <a:solidFill>
                  <a:srgbClr val="1F497D"/>
                </a:solidFill>
                <a:latin typeface="Calibri" pitchFamily="34" charset="0"/>
                <a:ea typeface="Calibri" pitchFamily="34" charset="-122"/>
                <a:cs typeface="Calibri" pitchFamily="34" charset="-120"/>
              </a:rPr>
              <a:t>Principals</a:t>
            </a:r>
            <a:endParaRPr lang="en-US" sz="1100" dirty="0"/>
          </a:p>
        </p:txBody>
      </p:sp>
      <p:sp>
        <p:nvSpPr>
          <p:cNvPr id="12" name="Text 9"/>
          <p:cNvSpPr txBox="1"/>
          <p:nvPr/>
        </p:nvSpPr>
        <p:spPr>
          <a:xfrm>
            <a:off x="3429000" y="2606040"/>
            <a:ext cx="576072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which user or host identities are represented</a:t>
            </a:r>
            <a:endParaRPr lang="en-US" sz="1150" dirty="0"/>
          </a:p>
        </p:txBody>
      </p:sp>
      <p:sp>
        <p:nvSpPr>
          <p:cNvPr id="13" name="Shape 10"/>
          <p:cNvSpPr/>
          <p:nvPr/>
        </p:nvSpPr>
        <p:spPr>
          <a:xfrm>
            <a:off x="1143000" y="2980944"/>
            <a:ext cx="2057400" cy="292608"/>
          </a:xfrm>
          <a:prstGeom prst="roundRect">
            <a:avLst/>
          </a:prstGeom>
          <a:solidFill>
            <a:srgbClr val="EAF7F9"/>
          </a:solidFill>
          <a:ln w="12700">
            <a:solidFill>
              <a:srgbClr val="CBD5E1"/>
            </a:solidFill>
            <a:prstDash val="solid"/>
          </a:ln>
        </p:spPr>
      </p:sp>
      <p:sp>
        <p:nvSpPr>
          <p:cNvPr id="14" name="Text 11"/>
          <p:cNvSpPr txBox="1"/>
          <p:nvPr/>
        </p:nvSpPr>
        <p:spPr>
          <a:xfrm>
            <a:off x="1261872" y="3035808"/>
            <a:ext cx="1828800" cy="164592"/>
          </a:xfrm>
          <a:prstGeom prst="rect">
            <a:avLst/>
          </a:prstGeom>
          <a:noFill/>
          <a:ln/>
        </p:spPr>
        <p:txBody>
          <a:bodyPr wrap="square" lIns="508" tIns="508" rIns="508" bIns="508" rtlCol="0" anchor="ctr">
            <a:normAutofit/>
          </a:bodyPr>
          <a:lstStyle/>
          <a:p>
            <a:pPr algn="l" indent="0" marL="0">
              <a:buNone/>
            </a:pPr>
            <a:r>
              <a:rPr lang="en-US" sz="1100" b="1" dirty="0">
                <a:solidFill>
                  <a:srgbClr val="1F497D"/>
                </a:solidFill>
                <a:latin typeface="Calibri" pitchFamily="34" charset="0"/>
                <a:ea typeface="Calibri" pitchFamily="34" charset="-122"/>
                <a:cs typeface="Calibri" pitchFamily="34" charset="-120"/>
              </a:rPr>
              <a:t>Validity</a:t>
            </a:r>
            <a:endParaRPr lang="en-US" sz="1100" dirty="0"/>
          </a:p>
        </p:txBody>
      </p:sp>
      <p:sp>
        <p:nvSpPr>
          <p:cNvPr id="15" name="Text 12"/>
          <p:cNvSpPr txBox="1"/>
          <p:nvPr/>
        </p:nvSpPr>
        <p:spPr>
          <a:xfrm>
            <a:off x="3429000" y="3035808"/>
            <a:ext cx="576072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when the claim can be used</a:t>
            </a:r>
            <a:endParaRPr lang="en-US" sz="1150" dirty="0"/>
          </a:p>
        </p:txBody>
      </p:sp>
      <p:sp>
        <p:nvSpPr>
          <p:cNvPr id="16" name="Shape 13"/>
          <p:cNvSpPr/>
          <p:nvPr/>
        </p:nvSpPr>
        <p:spPr>
          <a:xfrm>
            <a:off x="1143000" y="3410712"/>
            <a:ext cx="2057400" cy="292608"/>
          </a:xfrm>
          <a:prstGeom prst="roundRect">
            <a:avLst/>
          </a:prstGeom>
          <a:solidFill>
            <a:srgbClr val="EEF2FA"/>
          </a:solidFill>
          <a:ln w="12700">
            <a:solidFill>
              <a:srgbClr val="CBD5E1"/>
            </a:solidFill>
            <a:prstDash val="solid"/>
          </a:ln>
        </p:spPr>
      </p:sp>
      <p:sp>
        <p:nvSpPr>
          <p:cNvPr id="17" name="Text 14"/>
          <p:cNvSpPr txBox="1"/>
          <p:nvPr/>
        </p:nvSpPr>
        <p:spPr>
          <a:xfrm>
            <a:off x="1261872" y="3465576"/>
            <a:ext cx="1828800" cy="164592"/>
          </a:xfrm>
          <a:prstGeom prst="rect">
            <a:avLst/>
          </a:prstGeom>
          <a:noFill/>
          <a:ln/>
        </p:spPr>
        <p:txBody>
          <a:bodyPr wrap="square" lIns="508" tIns="508" rIns="508" bIns="508" rtlCol="0" anchor="ctr">
            <a:normAutofit/>
          </a:bodyPr>
          <a:lstStyle/>
          <a:p>
            <a:pPr algn="l" indent="0" marL="0">
              <a:buNone/>
            </a:pPr>
            <a:r>
              <a:rPr lang="en-US" sz="1100" b="1" dirty="0">
                <a:solidFill>
                  <a:srgbClr val="1F497D"/>
                </a:solidFill>
                <a:latin typeface="Calibri" pitchFamily="34" charset="0"/>
                <a:ea typeface="Calibri" pitchFamily="34" charset="-122"/>
                <a:cs typeface="Calibri" pitchFamily="34" charset="-120"/>
              </a:rPr>
              <a:t>Critical options</a:t>
            </a:r>
            <a:endParaRPr lang="en-US" sz="1100" dirty="0"/>
          </a:p>
        </p:txBody>
      </p:sp>
      <p:sp>
        <p:nvSpPr>
          <p:cNvPr id="18" name="Text 15"/>
          <p:cNvSpPr txBox="1"/>
          <p:nvPr/>
        </p:nvSpPr>
        <p:spPr>
          <a:xfrm>
            <a:off x="3429000" y="3465576"/>
            <a:ext cx="576072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source address, forced command, restrictions</a:t>
            </a:r>
            <a:endParaRPr lang="en-US" sz="1150" dirty="0"/>
          </a:p>
        </p:txBody>
      </p:sp>
      <p:sp>
        <p:nvSpPr>
          <p:cNvPr id="19" name="Shape 16"/>
          <p:cNvSpPr/>
          <p:nvPr/>
        </p:nvSpPr>
        <p:spPr>
          <a:xfrm>
            <a:off x="1143000" y="3840480"/>
            <a:ext cx="2057400" cy="292608"/>
          </a:xfrm>
          <a:prstGeom prst="roundRect">
            <a:avLst/>
          </a:prstGeom>
          <a:solidFill>
            <a:srgbClr val="EAF7F9"/>
          </a:solidFill>
          <a:ln w="12700">
            <a:solidFill>
              <a:srgbClr val="CBD5E1"/>
            </a:solidFill>
            <a:prstDash val="solid"/>
          </a:ln>
        </p:spPr>
      </p:sp>
      <p:sp>
        <p:nvSpPr>
          <p:cNvPr id="20" name="Text 17"/>
          <p:cNvSpPr txBox="1"/>
          <p:nvPr/>
        </p:nvSpPr>
        <p:spPr>
          <a:xfrm>
            <a:off x="1261872" y="3895344"/>
            <a:ext cx="1828800" cy="164592"/>
          </a:xfrm>
          <a:prstGeom prst="rect">
            <a:avLst/>
          </a:prstGeom>
          <a:noFill/>
          <a:ln/>
        </p:spPr>
        <p:txBody>
          <a:bodyPr wrap="square" lIns="508" tIns="508" rIns="508" bIns="508" rtlCol="0" anchor="ctr">
            <a:normAutofit/>
          </a:bodyPr>
          <a:lstStyle/>
          <a:p>
            <a:pPr algn="l" indent="0" marL="0">
              <a:buNone/>
            </a:pPr>
            <a:r>
              <a:rPr lang="en-US" sz="1100" b="1" dirty="0">
                <a:solidFill>
                  <a:srgbClr val="1F497D"/>
                </a:solidFill>
                <a:latin typeface="Calibri" pitchFamily="34" charset="0"/>
                <a:ea typeface="Calibri" pitchFamily="34" charset="-122"/>
                <a:cs typeface="Calibri" pitchFamily="34" charset="-120"/>
              </a:rPr>
              <a:t>Extensions</a:t>
            </a:r>
            <a:endParaRPr lang="en-US" sz="1100" dirty="0"/>
          </a:p>
        </p:txBody>
      </p:sp>
      <p:sp>
        <p:nvSpPr>
          <p:cNvPr id="21" name="Text 18"/>
          <p:cNvSpPr txBox="1"/>
          <p:nvPr/>
        </p:nvSpPr>
        <p:spPr>
          <a:xfrm>
            <a:off x="3429000" y="3895344"/>
            <a:ext cx="576072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what session capabilities are allowed</a:t>
            </a:r>
            <a:endParaRPr lang="en-US" sz="1150" dirty="0"/>
          </a:p>
        </p:txBody>
      </p:sp>
      <p:sp>
        <p:nvSpPr>
          <p:cNvPr id="22" name="Shape 19"/>
          <p:cNvSpPr/>
          <p:nvPr/>
        </p:nvSpPr>
        <p:spPr>
          <a:xfrm>
            <a:off x="1143000" y="4270248"/>
            <a:ext cx="2057400" cy="292608"/>
          </a:xfrm>
          <a:prstGeom prst="roundRect">
            <a:avLst/>
          </a:prstGeom>
          <a:solidFill>
            <a:srgbClr val="EEF2FA"/>
          </a:solidFill>
          <a:ln w="12700">
            <a:solidFill>
              <a:srgbClr val="CBD5E1"/>
            </a:solidFill>
            <a:prstDash val="solid"/>
          </a:ln>
        </p:spPr>
      </p:sp>
      <p:sp>
        <p:nvSpPr>
          <p:cNvPr id="23" name="Text 20"/>
          <p:cNvSpPr txBox="1"/>
          <p:nvPr/>
        </p:nvSpPr>
        <p:spPr>
          <a:xfrm>
            <a:off x="1261872" y="4325112"/>
            <a:ext cx="1828800" cy="164592"/>
          </a:xfrm>
          <a:prstGeom prst="rect">
            <a:avLst/>
          </a:prstGeom>
          <a:noFill/>
          <a:ln/>
        </p:spPr>
        <p:txBody>
          <a:bodyPr wrap="square" lIns="508" tIns="508" rIns="508" bIns="508" rtlCol="0" anchor="ctr">
            <a:normAutofit/>
          </a:bodyPr>
          <a:lstStyle/>
          <a:p>
            <a:pPr algn="l" indent="0" marL="0">
              <a:buNone/>
            </a:pPr>
            <a:r>
              <a:rPr lang="en-US" sz="1100" b="1" dirty="0">
                <a:solidFill>
                  <a:srgbClr val="1F497D"/>
                </a:solidFill>
                <a:latin typeface="Calibri" pitchFamily="34" charset="0"/>
                <a:ea typeface="Calibri" pitchFamily="34" charset="-122"/>
                <a:cs typeface="Calibri" pitchFamily="34" charset="-120"/>
              </a:rPr>
              <a:t>Signature</a:t>
            </a:r>
            <a:endParaRPr lang="en-US" sz="1100" dirty="0"/>
          </a:p>
        </p:txBody>
      </p:sp>
      <p:sp>
        <p:nvSpPr>
          <p:cNvPr id="24" name="Text 21"/>
          <p:cNvSpPr txBox="1"/>
          <p:nvPr/>
        </p:nvSpPr>
        <p:spPr>
          <a:xfrm>
            <a:off x="3429000" y="4325112"/>
            <a:ext cx="576072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which CA key vouched for the claim</a:t>
            </a:r>
            <a:endParaRPr lang="en-US" sz="1150" dirty="0"/>
          </a:p>
        </p:txBody>
      </p:sp>
      <p:sp>
        <p:nvSpPr>
          <p:cNvPr id="25" name="Shape 22"/>
          <p:cNvSpPr/>
          <p:nvPr/>
        </p:nvSpPr>
        <p:spPr>
          <a:xfrm>
            <a:off x="3017520" y="4590288"/>
            <a:ext cx="6172200" cy="274320"/>
          </a:xfrm>
          <a:prstGeom prst="roundRect">
            <a:avLst/>
          </a:prstGeom>
          <a:solidFill>
            <a:srgbClr val="F79646"/>
          </a:solidFill>
          <a:ln w="12700">
            <a:solidFill>
              <a:srgbClr val="F79646"/>
            </a:solidFill>
            <a:prstDash val="solid"/>
          </a:ln>
        </p:spPr>
      </p:sp>
      <p:sp>
        <p:nvSpPr>
          <p:cNvPr id="26" name="Text 23"/>
          <p:cNvSpPr txBox="1"/>
          <p:nvPr/>
        </p:nvSpPr>
        <p:spPr>
          <a:xfrm>
            <a:off x="3090672" y="4608576"/>
            <a:ext cx="602589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THE SERVER STILL MAKES THE FINAL ACCESS DECISION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HOST CERTIFICATES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Host certificates reduce fingerprint sprawl</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client can trust a CA instead of memorizing every server key.</a:t>
            </a:r>
            <a:endParaRPr lang="en-US" sz="1250" dirty="0"/>
          </a:p>
        </p:txBody>
      </p:sp>
      <p:sp>
        <p:nvSpPr>
          <p:cNvPr id="6" name="Shape 3"/>
          <p:cNvSpPr/>
          <p:nvPr/>
        </p:nvSpPr>
        <p:spPr>
          <a:xfrm>
            <a:off x="658368" y="2148840"/>
            <a:ext cx="2212848" cy="1600200"/>
          </a:xfrm>
          <a:prstGeom prst="roundRect">
            <a:avLst/>
          </a:prstGeom>
          <a:solidFill>
            <a:srgbClr val="FFFFFF"/>
          </a:solidFill>
          <a:ln w="12700">
            <a:solidFill>
              <a:srgbClr val="CBD5E1"/>
            </a:solidFill>
            <a:prstDash val="solid"/>
          </a:ln>
        </p:spPr>
      </p:sp>
      <p:sp>
        <p:nvSpPr>
          <p:cNvPr id="7" name="Shape 4"/>
          <p:cNvSpPr/>
          <p:nvPr/>
        </p:nvSpPr>
        <p:spPr>
          <a:xfrm>
            <a:off x="658368" y="2148840"/>
            <a:ext cx="2212848" cy="292608"/>
          </a:xfrm>
          <a:prstGeom prst="roundRect">
            <a:avLst/>
          </a:prstGeom>
          <a:solidFill>
            <a:srgbClr val="C0504D"/>
          </a:solidFill>
          <a:ln w="12700">
            <a:solidFill>
              <a:srgbClr val="C0504D"/>
            </a:solidFill>
            <a:prstDash val="solid"/>
          </a:ln>
        </p:spPr>
      </p:sp>
      <p:sp>
        <p:nvSpPr>
          <p:cNvPr id="8" name="Text 5"/>
          <p:cNvSpPr txBox="1"/>
          <p:nvPr/>
        </p:nvSpPr>
        <p:spPr>
          <a:xfrm>
            <a:off x="768096" y="2185416"/>
            <a:ext cx="1993392"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 key</a:t>
            </a:r>
            <a:endParaRPr lang="en-US" sz="1100" dirty="0"/>
          </a:p>
        </p:txBody>
      </p:sp>
      <p:sp>
        <p:nvSpPr>
          <p:cNvPr id="9" name="Text 6"/>
          <p:cNvSpPr txBox="1"/>
          <p:nvPr/>
        </p:nvSpPr>
        <p:spPr>
          <a:xfrm>
            <a:off x="768096" y="2560320"/>
            <a:ext cx="1993392" cy="10972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server private key</a:t>
            </a:r>
            <a:endParaRPr lang="en-US" sz="1300" dirty="0"/>
          </a:p>
        </p:txBody>
      </p:sp>
      <p:sp>
        <p:nvSpPr>
          <p:cNvPr id="10" name="Shape 7"/>
          <p:cNvSpPr/>
          <p:nvPr/>
        </p:nvSpPr>
        <p:spPr>
          <a:xfrm>
            <a:off x="2990088" y="2944368"/>
            <a:ext cx="411480" cy="0"/>
          </a:xfrm>
          <a:prstGeom prst="line">
            <a:avLst/>
          </a:prstGeom>
          <a:noFill/>
          <a:ln w="25400">
            <a:solidFill>
              <a:srgbClr val="94A3B8"/>
            </a:solidFill>
            <a:prstDash val="solid"/>
            <a:headEnd type="none"/>
            <a:tailEnd type="triangle"/>
          </a:ln>
        </p:spPr>
      </p:sp>
      <p:sp>
        <p:nvSpPr>
          <p:cNvPr id="11" name="Shape 8"/>
          <p:cNvSpPr/>
          <p:nvPr/>
        </p:nvSpPr>
        <p:spPr>
          <a:xfrm>
            <a:off x="3511296" y="2148840"/>
            <a:ext cx="2212848" cy="1600200"/>
          </a:xfrm>
          <a:prstGeom prst="roundRect">
            <a:avLst/>
          </a:prstGeom>
          <a:solidFill>
            <a:srgbClr val="FFFFFF"/>
          </a:solidFill>
          <a:ln w="12700">
            <a:solidFill>
              <a:srgbClr val="CBD5E1"/>
            </a:solidFill>
            <a:prstDash val="solid"/>
          </a:ln>
        </p:spPr>
      </p:sp>
      <p:sp>
        <p:nvSpPr>
          <p:cNvPr id="12" name="Shape 9"/>
          <p:cNvSpPr/>
          <p:nvPr/>
        </p:nvSpPr>
        <p:spPr>
          <a:xfrm>
            <a:off x="3511296" y="2148840"/>
            <a:ext cx="2212848" cy="292608"/>
          </a:xfrm>
          <a:prstGeom prst="roundRect">
            <a:avLst/>
          </a:prstGeom>
          <a:solidFill>
            <a:srgbClr val="F79646"/>
          </a:solidFill>
          <a:ln w="12700">
            <a:solidFill>
              <a:srgbClr val="F79646"/>
            </a:solidFill>
            <a:prstDash val="solid"/>
          </a:ln>
        </p:spPr>
      </p:sp>
      <p:sp>
        <p:nvSpPr>
          <p:cNvPr id="13" name="Text 10"/>
          <p:cNvSpPr txBox="1"/>
          <p:nvPr/>
        </p:nvSpPr>
        <p:spPr>
          <a:xfrm>
            <a:off x="3621024" y="2185416"/>
            <a:ext cx="1993392"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 cert</a:t>
            </a:r>
            <a:endParaRPr lang="en-US" sz="1100" dirty="0"/>
          </a:p>
        </p:txBody>
      </p:sp>
      <p:sp>
        <p:nvSpPr>
          <p:cNvPr id="14" name="Text 11"/>
          <p:cNvSpPr txBox="1"/>
          <p:nvPr/>
        </p:nvSpPr>
        <p:spPr>
          <a:xfrm>
            <a:off x="3621024" y="2560320"/>
            <a:ext cx="1993392" cy="10972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CA signs hostname claim</a:t>
            </a:r>
            <a:endParaRPr lang="en-US" sz="1300" dirty="0"/>
          </a:p>
        </p:txBody>
      </p:sp>
      <p:sp>
        <p:nvSpPr>
          <p:cNvPr id="15" name="Shape 12"/>
          <p:cNvSpPr/>
          <p:nvPr/>
        </p:nvSpPr>
        <p:spPr>
          <a:xfrm>
            <a:off x="5843016" y="2944368"/>
            <a:ext cx="411480" cy="0"/>
          </a:xfrm>
          <a:prstGeom prst="line">
            <a:avLst/>
          </a:prstGeom>
          <a:noFill/>
          <a:ln w="25400">
            <a:solidFill>
              <a:srgbClr val="94A3B8"/>
            </a:solidFill>
            <a:prstDash val="solid"/>
            <a:headEnd type="none"/>
            <a:tailEnd type="triangle"/>
          </a:ln>
        </p:spPr>
      </p:sp>
      <p:sp>
        <p:nvSpPr>
          <p:cNvPr id="16" name="Shape 13"/>
          <p:cNvSpPr/>
          <p:nvPr/>
        </p:nvSpPr>
        <p:spPr>
          <a:xfrm>
            <a:off x="6364224" y="2148840"/>
            <a:ext cx="2212848" cy="1600200"/>
          </a:xfrm>
          <a:prstGeom prst="roundRect">
            <a:avLst/>
          </a:prstGeom>
          <a:solidFill>
            <a:srgbClr val="FFFFFF"/>
          </a:solidFill>
          <a:ln w="12700">
            <a:solidFill>
              <a:srgbClr val="CBD5E1"/>
            </a:solidFill>
            <a:prstDash val="solid"/>
          </a:ln>
        </p:spPr>
      </p:sp>
      <p:sp>
        <p:nvSpPr>
          <p:cNvPr id="17" name="Shape 14"/>
          <p:cNvSpPr/>
          <p:nvPr/>
        </p:nvSpPr>
        <p:spPr>
          <a:xfrm>
            <a:off x="6364224" y="2148840"/>
            <a:ext cx="2212848" cy="292608"/>
          </a:xfrm>
          <a:prstGeom prst="roundRect">
            <a:avLst/>
          </a:prstGeom>
          <a:solidFill>
            <a:srgbClr val="4BACC6"/>
          </a:solidFill>
          <a:ln w="12700">
            <a:solidFill>
              <a:srgbClr val="4BACC6"/>
            </a:solidFill>
            <a:prstDash val="solid"/>
          </a:ln>
        </p:spPr>
      </p:sp>
      <p:sp>
        <p:nvSpPr>
          <p:cNvPr id="18" name="Text 15"/>
          <p:cNvSpPr txBox="1"/>
          <p:nvPr/>
        </p:nvSpPr>
        <p:spPr>
          <a:xfrm>
            <a:off x="6473952" y="2185416"/>
            <a:ext cx="1993392"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Client trust</a:t>
            </a:r>
            <a:endParaRPr lang="en-US" sz="1100" dirty="0"/>
          </a:p>
        </p:txBody>
      </p:sp>
      <p:sp>
        <p:nvSpPr>
          <p:cNvPr id="19" name="Text 16"/>
          <p:cNvSpPr txBox="1"/>
          <p:nvPr/>
        </p:nvSpPr>
        <p:spPr>
          <a:xfrm>
            <a:off x="6473952" y="2560320"/>
            <a:ext cx="1993392" cy="10972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CA public key in known_hosts</a:t>
            </a:r>
            <a:endParaRPr lang="en-US" sz="1300" dirty="0"/>
          </a:p>
        </p:txBody>
      </p:sp>
      <p:sp>
        <p:nvSpPr>
          <p:cNvPr id="20" name="Shape 17"/>
          <p:cNvSpPr/>
          <p:nvPr/>
        </p:nvSpPr>
        <p:spPr>
          <a:xfrm>
            <a:off x="8695944" y="2944368"/>
            <a:ext cx="411480" cy="0"/>
          </a:xfrm>
          <a:prstGeom prst="line">
            <a:avLst/>
          </a:prstGeom>
          <a:noFill/>
          <a:ln w="25400">
            <a:solidFill>
              <a:srgbClr val="94A3B8"/>
            </a:solidFill>
            <a:prstDash val="solid"/>
            <a:headEnd type="none"/>
            <a:tailEnd type="triangle"/>
          </a:ln>
        </p:spPr>
      </p:sp>
      <p:sp>
        <p:nvSpPr>
          <p:cNvPr id="21" name="Shape 18"/>
          <p:cNvSpPr/>
          <p:nvPr/>
        </p:nvSpPr>
        <p:spPr>
          <a:xfrm>
            <a:off x="9217152" y="2148840"/>
            <a:ext cx="2212848" cy="1600200"/>
          </a:xfrm>
          <a:prstGeom prst="roundRect">
            <a:avLst/>
          </a:prstGeom>
          <a:solidFill>
            <a:srgbClr val="FFFFFF"/>
          </a:solidFill>
          <a:ln w="12700">
            <a:solidFill>
              <a:srgbClr val="CBD5E1"/>
            </a:solidFill>
            <a:prstDash val="solid"/>
          </a:ln>
        </p:spPr>
      </p:sp>
      <p:sp>
        <p:nvSpPr>
          <p:cNvPr id="22" name="Shape 19"/>
          <p:cNvSpPr/>
          <p:nvPr/>
        </p:nvSpPr>
        <p:spPr>
          <a:xfrm>
            <a:off x="9217152" y="2148840"/>
            <a:ext cx="2212848" cy="292608"/>
          </a:xfrm>
          <a:prstGeom prst="roundRect">
            <a:avLst/>
          </a:prstGeom>
          <a:solidFill>
            <a:srgbClr val="70AD47"/>
          </a:solidFill>
          <a:ln w="12700">
            <a:solidFill>
              <a:srgbClr val="70AD47"/>
            </a:solidFill>
            <a:prstDash val="solid"/>
          </a:ln>
        </p:spPr>
      </p:sp>
      <p:sp>
        <p:nvSpPr>
          <p:cNvPr id="23" name="Text 20"/>
          <p:cNvSpPr txBox="1"/>
          <p:nvPr/>
        </p:nvSpPr>
        <p:spPr>
          <a:xfrm>
            <a:off x="9326880" y="2185416"/>
            <a:ext cx="1993392"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Connection</a:t>
            </a:r>
            <a:endParaRPr lang="en-US" sz="1100" dirty="0"/>
          </a:p>
        </p:txBody>
      </p:sp>
      <p:sp>
        <p:nvSpPr>
          <p:cNvPr id="24" name="Text 21"/>
          <p:cNvSpPr txBox="1"/>
          <p:nvPr/>
        </p:nvSpPr>
        <p:spPr>
          <a:xfrm>
            <a:off x="9326880" y="2560320"/>
            <a:ext cx="1993392" cy="10972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name and signature validate</a:t>
            </a:r>
            <a:endParaRPr lang="en-US" sz="1300" dirty="0"/>
          </a:p>
        </p:txBody>
      </p:sp>
      <p:sp>
        <p:nvSpPr>
          <p:cNvPr id="25" name="Shape 22"/>
          <p:cNvSpPr/>
          <p:nvPr/>
        </p:nvSpPr>
        <p:spPr>
          <a:xfrm>
            <a:off x="1280160" y="4434840"/>
            <a:ext cx="9418320" cy="896112"/>
          </a:xfrm>
          <a:prstGeom prst="roundRect">
            <a:avLst/>
          </a:prstGeom>
          <a:solidFill>
            <a:srgbClr val="16202C"/>
          </a:solidFill>
          <a:ln w="12700">
            <a:solidFill>
              <a:srgbClr val="16202C"/>
            </a:solidFill>
            <a:prstDash val="solid"/>
          </a:ln>
        </p:spPr>
      </p:sp>
      <p:sp>
        <p:nvSpPr>
          <p:cNvPr id="26" name="Shape 23"/>
          <p:cNvSpPr/>
          <p:nvPr/>
        </p:nvSpPr>
        <p:spPr>
          <a:xfrm>
            <a:off x="1280160" y="4434840"/>
            <a:ext cx="91440" cy="896112"/>
          </a:xfrm>
          <a:prstGeom prst="rect">
            <a:avLst/>
          </a:prstGeom>
          <a:solidFill>
            <a:srgbClr val="4BACC6"/>
          </a:solidFill>
          <a:ln w="12700">
            <a:solidFill>
              <a:srgbClr val="4BACC6"/>
            </a:solidFill>
            <a:prstDash val="solid"/>
          </a:ln>
        </p:spPr>
      </p:sp>
      <p:sp>
        <p:nvSpPr>
          <p:cNvPr id="27" name="Text 24"/>
          <p:cNvSpPr txBox="1"/>
          <p:nvPr/>
        </p:nvSpPr>
        <p:spPr>
          <a:xfrm>
            <a:off x="1481328" y="4544568"/>
            <a:ext cx="9107424" cy="694944"/>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@cert-authority *.example.org ssh-ed25519 AAAA...</a:t>
            </a:r>
            <a:endParaRPr lang="en-US" sz="1100" dirty="0"/>
          </a:p>
          <a:p>
            <a:pPr algn="l" indent="0" marL="0">
              <a:buNone/>
            </a:pP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HostCertificate /etc/ssh/ssh_host_ed25519_key-cert.pub</a:t>
            </a:r>
            <a:endParaRPr lang="en-US" sz="11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CA HIERARCHY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User CA and host CA are different trust roles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Separate who can sign users from who can sign hosts.</a:t>
            </a:r>
            <a:endParaRPr lang="en-US" sz="1250" dirty="0"/>
          </a:p>
        </p:txBody>
      </p:sp>
      <p:sp>
        <p:nvSpPr>
          <p:cNvPr id="6" name="Shape 3"/>
          <p:cNvSpPr/>
          <p:nvPr/>
        </p:nvSpPr>
        <p:spPr>
          <a:xfrm>
            <a:off x="685800" y="2057400"/>
            <a:ext cx="2240280" cy="2057400"/>
          </a:xfrm>
          <a:prstGeom prst="roundRect">
            <a:avLst/>
          </a:prstGeom>
          <a:solidFill>
            <a:srgbClr val="FFFFFF"/>
          </a:solidFill>
          <a:ln w="12700">
            <a:solidFill>
              <a:srgbClr val="CBD5E1"/>
            </a:solidFill>
            <a:prstDash val="solid"/>
          </a:ln>
        </p:spPr>
      </p:sp>
      <p:sp>
        <p:nvSpPr>
          <p:cNvPr id="7" name="Shape 4"/>
          <p:cNvSpPr/>
          <p:nvPr/>
        </p:nvSpPr>
        <p:spPr>
          <a:xfrm>
            <a:off x="685800" y="2057400"/>
            <a:ext cx="2240280" cy="292608"/>
          </a:xfrm>
          <a:prstGeom prst="roundRect">
            <a:avLst/>
          </a:prstGeom>
          <a:solidFill>
            <a:srgbClr val="4BACC6"/>
          </a:solidFill>
          <a:ln w="12700">
            <a:solidFill>
              <a:srgbClr val="4BACC6"/>
            </a:solidFill>
            <a:prstDash val="solid"/>
          </a:ln>
        </p:spPr>
      </p:sp>
      <p:sp>
        <p:nvSpPr>
          <p:cNvPr id="8" name="Text 5"/>
          <p:cNvSpPr txBox="1"/>
          <p:nvPr/>
        </p:nvSpPr>
        <p:spPr>
          <a:xfrm>
            <a:off x="795528" y="2093976"/>
            <a:ext cx="20208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USER CA</a:t>
            </a:r>
            <a:endParaRPr lang="en-US" sz="1100" dirty="0"/>
          </a:p>
        </p:txBody>
      </p:sp>
      <p:sp>
        <p:nvSpPr>
          <p:cNvPr id="9" name="Text 6"/>
          <p:cNvSpPr txBox="1"/>
          <p:nvPr/>
        </p:nvSpPr>
        <p:spPr>
          <a:xfrm>
            <a:off x="795528" y="2468880"/>
            <a:ext cx="2020824" cy="15544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signs user certs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trusted by sshd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identity and access</a:t>
            </a:r>
            <a:endParaRPr lang="en-US" sz="1300" dirty="0"/>
          </a:p>
        </p:txBody>
      </p:sp>
      <p:sp>
        <p:nvSpPr>
          <p:cNvPr id="10" name="Shape 7"/>
          <p:cNvSpPr/>
          <p:nvPr/>
        </p:nvSpPr>
        <p:spPr>
          <a:xfrm>
            <a:off x="3703320" y="2057400"/>
            <a:ext cx="2240280" cy="2057400"/>
          </a:xfrm>
          <a:prstGeom prst="roundRect">
            <a:avLst/>
          </a:prstGeom>
          <a:solidFill>
            <a:srgbClr val="FFFFFF"/>
          </a:solidFill>
          <a:ln w="12700">
            <a:solidFill>
              <a:srgbClr val="CBD5E1"/>
            </a:solidFill>
            <a:prstDash val="solid"/>
          </a:ln>
        </p:spPr>
      </p:sp>
      <p:sp>
        <p:nvSpPr>
          <p:cNvPr id="11" name="Shape 8"/>
          <p:cNvSpPr/>
          <p:nvPr/>
        </p:nvSpPr>
        <p:spPr>
          <a:xfrm>
            <a:off x="3703320" y="2057400"/>
            <a:ext cx="2240280" cy="292608"/>
          </a:xfrm>
          <a:prstGeom prst="roundRect">
            <a:avLst/>
          </a:prstGeom>
          <a:solidFill>
            <a:srgbClr val="4F81BD"/>
          </a:solidFill>
          <a:ln w="12700">
            <a:solidFill>
              <a:srgbClr val="4F81BD"/>
            </a:solidFill>
            <a:prstDash val="solid"/>
          </a:ln>
        </p:spPr>
      </p:sp>
      <p:sp>
        <p:nvSpPr>
          <p:cNvPr id="12" name="Text 9"/>
          <p:cNvSpPr txBox="1"/>
          <p:nvPr/>
        </p:nvSpPr>
        <p:spPr>
          <a:xfrm>
            <a:off x="3813048" y="2093976"/>
            <a:ext cx="20208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 CA</a:t>
            </a:r>
            <a:endParaRPr lang="en-US" sz="1100" dirty="0"/>
          </a:p>
        </p:txBody>
      </p:sp>
      <p:sp>
        <p:nvSpPr>
          <p:cNvPr id="13" name="Text 10"/>
          <p:cNvSpPr txBox="1"/>
          <p:nvPr/>
        </p:nvSpPr>
        <p:spPr>
          <a:xfrm>
            <a:off x="3813048" y="2468880"/>
            <a:ext cx="2020824" cy="15544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signs host certs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trusted by clients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server identity</a:t>
            </a:r>
            <a:endParaRPr lang="en-US" sz="1300" dirty="0"/>
          </a:p>
        </p:txBody>
      </p:sp>
      <p:sp>
        <p:nvSpPr>
          <p:cNvPr id="14" name="Shape 11"/>
          <p:cNvSpPr/>
          <p:nvPr/>
        </p:nvSpPr>
        <p:spPr>
          <a:xfrm>
            <a:off x="6720840" y="2057400"/>
            <a:ext cx="2240280" cy="2057400"/>
          </a:xfrm>
          <a:prstGeom prst="roundRect">
            <a:avLst/>
          </a:prstGeom>
          <a:solidFill>
            <a:srgbClr val="FFFFFF"/>
          </a:solidFill>
          <a:ln w="12700">
            <a:solidFill>
              <a:srgbClr val="CBD5E1"/>
            </a:solidFill>
            <a:prstDash val="solid"/>
          </a:ln>
        </p:spPr>
      </p:sp>
      <p:sp>
        <p:nvSpPr>
          <p:cNvPr id="15" name="Shape 12"/>
          <p:cNvSpPr/>
          <p:nvPr/>
        </p:nvSpPr>
        <p:spPr>
          <a:xfrm>
            <a:off x="6720840" y="2057400"/>
            <a:ext cx="2240280" cy="292608"/>
          </a:xfrm>
          <a:prstGeom prst="roundRect">
            <a:avLst/>
          </a:prstGeom>
          <a:solidFill>
            <a:srgbClr val="F79646"/>
          </a:solidFill>
          <a:ln w="12700">
            <a:solidFill>
              <a:srgbClr val="F79646"/>
            </a:solidFill>
            <a:prstDash val="solid"/>
          </a:ln>
        </p:spPr>
      </p:sp>
      <p:sp>
        <p:nvSpPr>
          <p:cNvPr id="16" name="Text 13"/>
          <p:cNvSpPr txBox="1"/>
          <p:nvPr/>
        </p:nvSpPr>
        <p:spPr>
          <a:xfrm>
            <a:off x="6830568" y="2093976"/>
            <a:ext cx="20208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POLICY</a:t>
            </a:r>
            <a:endParaRPr lang="en-US" sz="1100" dirty="0"/>
          </a:p>
        </p:txBody>
      </p:sp>
      <p:sp>
        <p:nvSpPr>
          <p:cNvPr id="17" name="Text 14"/>
          <p:cNvSpPr txBox="1"/>
          <p:nvPr/>
        </p:nvSpPr>
        <p:spPr>
          <a:xfrm>
            <a:off x="6830568" y="2468880"/>
            <a:ext cx="2020824" cy="15544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principals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validity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source limits</a:t>
            </a:r>
            <a:endParaRPr lang="en-US" sz="1300" dirty="0"/>
          </a:p>
        </p:txBody>
      </p:sp>
      <p:sp>
        <p:nvSpPr>
          <p:cNvPr id="18" name="Shape 15"/>
          <p:cNvSpPr/>
          <p:nvPr/>
        </p:nvSpPr>
        <p:spPr>
          <a:xfrm>
            <a:off x="9372600" y="2057400"/>
            <a:ext cx="2240280" cy="2057400"/>
          </a:xfrm>
          <a:prstGeom prst="roundRect">
            <a:avLst/>
          </a:prstGeom>
          <a:solidFill>
            <a:srgbClr val="FFFFFF"/>
          </a:solidFill>
          <a:ln w="12700">
            <a:solidFill>
              <a:srgbClr val="CBD5E1"/>
            </a:solidFill>
            <a:prstDash val="solid"/>
          </a:ln>
        </p:spPr>
      </p:sp>
      <p:sp>
        <p:nvSpPr>
          <p:cNvPr id="19" name="Shape 16"/>
          <p:cNvSpPr/>
          <p:nvPr/>
        </p:nvSpPr>
        <p:spPr>
          <a:xfrm>
            <a:off x="9372600" y="2057400"/>
            <a:ext cx="2240280" cy="292608"/>
          </a:xfrm>
          <a:prstGeom prst="roundRect">
            <a:avLst/>
          </a:prstGeom>
          <a:solidFill>
            <a:srgbClr val="8064A2"/>
          </a:solidFill>
          <a:ln w="12700">
            <a:solidFill>
              <a:srgbClr val="8064A2"/>
            </a:solidFill>
            <a:prstDash val="solid"/>
          </a:ln>
        </p:spPr>
      </p:sp>
      <p:sp>
        <p:nvSpPr>
          <p:cNvPr id="20" name="Text 17"/>
          <p:cNvSpPr txBox="1"/>
          <p:nvPr/>
        </p:nvSpPr>
        <p:spPr>
          <a:xfrm>
            <a:off x="9482328" y="2093976"/>
            <a:ext cx="20208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AUDIT</a:t>
            </a:r>
            <a:endParaRPr lang="en-US" sz="1100" dirty="0"/>
          </a:p>
        </p:txBody>
      </p:sp>
      <p:sp>
        <p:nvSpPr>
          <p:cNvPr id="21" name="Text 18"/>
          <p:cNvSpPr txBox="1"/>
          <p:nvPr/>
        </p:nvSpPr>
        <p:spPr>
          <a:xfrm>
            <a:off x="9482328" y="2468880"/>
            <a:ext cx="2020824" cy="15544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key IDs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serials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revocation</a:t>
            </a:r>
            <a:endParaRPr lang="en-US" sz="1300" dirty="0"/>
          </a:p>
        </p:txBody>
      </p:sp>
      <p:sp>
        <p:nvSpPr>
          <p:cNvPr id="22" name="Shape 19"/>
          <p:cNvSpPr/>
          <p:nvPr/>
        </p:nvSpPr>
        <p:spPr>
          <a:xfrm>
            <a:off x="2971800" y="3081528"/>
            <a:ext cx="640080" cy="0"/>
          </a:xfrm>
          <a:prstGeom prst="line">
            <a:avLst/>
          </a:prstGeom>
          <a:noFill/>
          <a:ln w="25400">
            <a:solidFill>
              <a:srgbClr val="94A3B8"/>
            </a:solidFill>
            <a:prstDash val="solid"/>
            <a:headEnd type="none"/>
            <a:tailEnd type="triangle"/>
          </a:ln>
        </p:spPr>
      </p:sp>
      <p:sp>
        <p:nvSpPr>
          <p:cNvPr id="23" name="Shape 20"/>
          <p:cNvSpPr/>
          <p:nvPr/>
        </p:nvSpPr>
        <p:spPr>
          <a:xfrm>
            <a:off x="5989320" y="3081528"/>
            <a:ext cx="640080" cy="0"/>
          </a:xfrm>
          <a:prstGeom prst="line">
            <a:avLst/>
          </a:prstGeom>
          <a:noFill/>
          <a:ln w="25400">
            <a:solidFill>
              <a:srgbClr val="94A3B8"/>
            </a:solidFill>
            <a:prstDash val="solid"/>
            <a:headEnd type="none"/>
            <a:tailEnd type="triangle"/>
          </a:ln>
        </p:spPr>
      </p:sp>
      <p:sp>
        <p:nvSpPr>
          <p:cNvPr id="24" name="Shape 21"/>
          <p:cNvSpPr/>
          <p:nvPr/>
        </p:nvSpPr>
        <p:spPr>
          <a:xfrm>
            <a:off x="9006840" y="3081528"/>
            <a:ext cx="274320" cy="0"/>
          </a:xfrm>
          <a:prstGeom prst="line">
            <a:avLst/>
          </a:prstGeom>
          <a:noFill/>
          <a:ln w="25400">
            <a:solidFill>
              <a:srgbClr val="94A3B8"/>
            </a:solidFill>
            <a:prstDash val="solid"/>
            <a:headEnd type="none"/>
            <a:tailEnd type="triangle"/>
          </a:ln>
        </p:spPr>
      </p:sp>
      <p:sp>
        <p:nvSpPr>
          <p:cNvPr id="25" name="Shape 22"/>
          <p:cNvSpPr/>
          <p:nvPr/>
        </p:nvSpPr>
        <p:spPr>
          <a:xfrm>
            <a:off x="1143000" y="4754880"/>
            <a:ext cx="9966960" cy="658368"/>
          </a:xfrm>
          <a:prstGeom prst="roundRect">
            <a:avLst/>
          </a:prstGeom>
          <a:solidFill>
            <a:srgbClr val="FFFFFF"/>
          </a:solidFill>
          <a:ln w="12700">
            <a:solidFill>
              <a:srgbClr val="1F497D"/>
            </a:solidFill>
            <a:prstDash val="solid"/>
          </a:ln>
        </p:spPr>
      </p:sp>
      <p:sp>
        <p:nvSpPr>
          <p:cNvPr id="26" name="Shape 23"/>
          <p:cNvSpPr/>
          <p:nvPr/>
        </p:nvSpPr>
        <p:spPr>
          <a:xfrm>
            <a:off x="1143000" y="4754880"/>
            <a:ext cx="100584" cy="658368"/>
          </a:xfrm>
          <a:prstGeom prst="rect">
            <a:avLst/>
          </a:prstGeom>
          <a:solidFill>
            <a:srgbClr val="1F497D"/>
          </a:solidFill>
          <a:ln w="12700">
            <a:solidFill>
              <a:srgbClr val="1F497D"/>
            </a:solidFill>
            <a:prstDash val="solid"/>
          </a:ln>
        </p:spPr>
      </p:sp>
      <p:sp>
        <p:nvSpPr>
          <p:cNvPr id="27" name="Text 24"/>
          <p:cNvSpPr txBox="1"/>
          <p:nvPr/>
        </p:nvSpPr>
        <p:spPr>
          <a:xfrm>
            <a:off x="1380744" y="4864608"/>
            <a:ext cx="961948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Design principle</a:t>
            </a:r>
            <a:endParaRPr lang="en-US" sz="1400" dirty="0"/>
          </a:p>
        </p:txBody>
      </p:sp>
      <p:sp>
        <p:nvSpPr>
          <p:cNvPr id="28" name="Text 25"/>
          <p:cNvSpPr txBox="1"/>
          <p:nvPr/>
        </p:nvSpPr>
        <p:spPr>
          <a:xfrm>
            <a:off x="1380744" y="5166360"/>
            <a:ext cx="9619488" cy="15544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Trust only the CA roles a system actually needs.</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ISSUANCE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Certificate issuance: generate, approve, sign, deliver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CA should sign a policy decision, not blindly copy a request.</a:t>
            </a:r>
            <a:endParaRPr lang="en-US" sz="1250" dirty="0"/>
          </a:p>
        </p:txBody>
      </p:sp>
      <p:sp>
        <p:nvSpPr>
          <p:cNvPr id="6" name="Shape 3"/>
          <p:cNvSpPr/>
          <p:nvPr/>
        </p:nvSpPr>
        <p:spPr>
          <a:xfrm>
            <a:off x="621792" y="2084832"/>
            <a:ext cx="2286000" cy="1737360"/>
          </a:xfrm>
          <a:prstGeom prst="roundRect">
            <a:avLst/>
          </a:prstGeom>
          <a:solidFill>
            <a:srgbClr val="FFFFFF"/>
          </a:solidFill>
          <a:ln w="12700">
            <a:solidFill>
              <a:srgbClr val="CBD5E1"/>
            </a:solidFill>
            <a:prstDash val="solid"/>
          </a:ln>
        </p:spPr>
      </p:sp>
      <p:sp>
        <p:nvSpPr>
          <p:cNvPr id="7" name="Shape 4"/>
          <p:cNvSpPr/>
          <p:nvPr/>
        </p:nvSpPr>
        <p:spPr>
          <a:xfrm>
            <a:off x="621792" y="2084832"/>
            <a:ext cx="2286000" cy="292608"/>
          </a:xfrm>
          <a:prstGeom prst="roundRect">
            <a:avLst/>
          </a:prstGeom>
          <a:solidFill>
            <a:srgbClr val="4BACC6"/>
          </a:solidFill>
          <a:ln w="12700">
            <a:solidFill>
              <a:srgbClr val="4BACC6"/>
            </a:solidFill>
            <a:prstDash val="solid"/>
          </a:ln>
        </p:spPr>
      </p:sp>
      <p:sp>
        <p:nvSpPr>
          <p:cNvPr id="8" name="Text 5"/>
          <p:cNvSpPr txBox="1"/>
          <p:nvPr/>
        </p:nvSpPr>
        <p:spPr>
          <a:xfrm>
            <a:off x="731520" y="212140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Requester</a:t>
            </a:r>
            <a:endParaRPr lang="en-US" sz="1100" dirty="0"/>
          </a:p>
        </p:txBody>
      </p:sp>
      <p:sp>
        <p:nvSpPr>
          <p:cNvPr id="9" name="Text 6"/>
          <p:cNvSpPr txBox="1"/>
          <p:nvPr/>
        </p:nvSpPr>
        <p:spPr>
          <a:xfrm>
            <a:off x="731520" y="2496312"/>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generate key pair</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prove possession</a:t>
            </a:r>
            <a:endParaRPr lang="en-US" sz="1300" dirty="0"/>
          </a:p>
        </p:txBody>
      </p:sp>
      <p:sp>
        <p:nvSpPr>
          <p:cNvPr id="10" name="Shape 7"/>
          <p:cNvSpPr/>
          <p:nvPr/>
        </p:nvSpPr>
        <p:spPr>
          <a:xfrm>
            <a:off x="3017520" y="2971800"/>
            <a:ext cx="365760" cy="0"/>
          </a:xfrm>
          <a:prstGeom prst="line">
            <a:avLst/>
          </a:prstGeom>
          <a:noFill/>
          <a:ln w="25400">
            <a:solidFill>
              <a:srgbClr val="94A3B8"/>
            </a:solidFill>
            <a:prstDash val="solid"/>
            <a:headEnd type="none"/>
            <a:tailEnd type="triangle"/>
          </a:ln>
        </p:spPr>
      </p:sp>
      <p:sp>
        <p:nvSpPr>
          <p:cNvPr id="11" name="Shape 8"/>
          <p:cNvSpPr/>
          <p:nvPr/>
        </p:nvSpPr>
        <p:spPr>
          <a:xfrm>
            <a:off x="3483864" y="2084832"/>
            <a:ext cx="2286000" cy="1737360"/>
          </a:xfrm>
          <a:prstGeom prst="roundRect">
            <a:avLst/>
          </a:prstGeom>
          <a:solidFill>
            <a:srgbClr val="FFFFFF"/>
          </a:solidFill>
          <a:ln w="12700">
            <a:solidFill>
              <a:srgbClr val="CBD5E1"/>
            </a:solidFill>
            <a:prstDash val="solid"/>
          </a:ln>
        </p:spPr>
      </p:sp>
      <p:sp>
        <p:nvSpPr>
          <p:cNvPr id="12" name="Shape 9"/>
          <p:cNvSpPr/>
          <p:nvPr/>
        </p:nvSpPr>
        <p:spPr>
          <a:xfrm>
            <a:off x="3483864" y="2084832"/>
            <a:ext cx="2286000" cy="292608"/>
          </a:xfrm>
          <a:prstGeom prst="roundRect">
            <a:avLst/>
          </a:prstGeom>
          <a:solidFill>
            <a:srgbClr val="F79646"/>
          </a:solidFill>
          <a:ln w="12700">
            <a:solidFill>
              <a:srgbClr val="F79646"/>
            </a:solidFill>
            <a:prstDash val="solid"/>
          </a:ln>
        </p:spPr>
      </p:sp>
      <p:sp>
        <p:nvSpPr>
          <p:cNvPr id="13" name="Text 10"/>
          <p:cNvSpPr txBox="1"/>
          <p:nvPr/>
        </p:nvSpPr>
        <p:spPr>
          <a:xfrm>
            <a:off x="3593592" y="212140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Policy</a:t>
            </a:r>
            <a:endParaRPr lang="en-US" sz="1100" dirty="0"/>
          </a:p>
        </p:txBody>
      </p:sp>
      <p:sp>
        <p:nvSpPr>
          <p:cNvPr id="14" name="Text 11"/>
          <p:cNvSpPr txBox="1"/>
          <p:nvPr/>
        </p:nvSpPr>
        <p:spPr>
          <a:xfrm>
            <a:off x="3593592" y="2496312"/>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approve identity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scope and lifetime</a:t>
            </a:r>
            <a:endParaRPr lang="en-US" sz="1300" dirty="0"/>
          </a:p>
        </p:txBody>
      </p:sp>
      <p:sp>
        <p:nvSpPr>
          <p:cNvPr id="15" name="Shape 12"/>
          <p:cNvSpPr/>
          <p:nvPr/>
        </p:nvSpPr>
        <p:spPr>
          <a:xfrm>
            <a:off x="5879592" y="2971800"/>
            <a:ext cx="365760" cy="0"/>
          </a:xfrm>
          <a:prstGeom prst="line">
            <a:avLst/>
          </a:prstGeom>
          <a:noFill/>
          <a:ln w="25400">
            <a:solidFill>
              <a:srgbClr val="94A3B8"/>
            </a:solidFill>
            <a:prstDash val="solid"/>
            <a:headEnd type="none"/>
            <a:tailEnd type="triangle"/>
          </a:ln>
        </p:spPr>
      </p:sp>
      <p:sp>
        <p:nvSpPr>
          <p:cNvPr id="16" name="Shape 13"/>
          <p:cNvSpPr/>
          <p:nvPr/>
        </p:nvSpPr>
        <p:spPr>
          <a:xfrm>
            <a:off x="6345936" y="2084832"/>
            <a:ext cx="2286000" cy="1737360"/>
          </a:xfrm>
          <a:prstGeom prst="roundRect">
            <a:avLst/>
          </a:prstGeom>
          <a:solidFill>
            <a:srgbClr val="FFFFFF"/>
          </a:solidFill>
          <a:ln w="12700">
            <a:solidFill>
              <a:srgbClr val="CBD5E1"/>
            </a:solidFill>
            <a:prstDash val="solid"/>
          </a:ln>
        </p:spPr>
      </p:sp>
      <p:sp>
        <p:nvSpPr>
          <p:cNvPr id="17" name="Shape 14"/>
          <p:cNvSpPr/>
          <p:nvPr/>
        </p:nvSpPr>
        <p:spPr>
          <a:xfrm>
            <a:off x="6345936" y="2084832"/>
            <a:ext cx="2286000" cy="292608"/>
          </a:xfrm>
          <a:prstGeom prst="roundRect">
            <a:avLst/>
          </a:prstGeom>
          <a:solidFill>
            <a:srgbClr val="C0504D"/>
          </a:solidFill>
          <a:ln w="12700">
            <a:solidFill>
              <a:srgbClr val="C0504D"/>
            </a:solidFill>
            <a:prstDash val="solid"/>
          </a:ln>
        </p:spPr>
      </p:sp>
      <p:sp>
        <p:nvSpPr>
          <p:cNvPr id="18" name="Text 15"/>
          <p:cNvSpPr txBox="1"/>
          <p:nvPr/>
        </p:nvSpPr>
        <p:spPr>
          <a:xfrm>
            <a:off x="6455664" y="212140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a:t>
            </a:r>
            <a:endParaRPr lang="en-US" sz="1100" dirty="0"/>
          </a:p>
        </p:txBody>
      </p:sp>
      <p:sp>
        <p:nvSpPr>
          <p:cNvPr id="19" name="Text 16"/>
          <p:cNvSpPr txBox="1"/>
          <p:nvPr/>
        </p:nvSpPr>
        <p:spPr>
          <a:xfrm>
            <a:off x="6455664" y="2496312"/>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sign certificate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record key ID</a:t>
            </a:r>
            <a:endParaRPr lang="en-US" sz="1300" dirty="0"/>
          </a:p>
        </p:txBody>
      </p:sp>
      <p:sp>
        <p:nvSpPr>
          <p:cNvPr id="20" name="Shape 17"/>
          <p:cNvSpPr/>
          <p:nvPr/>
        </p:nvSpPr>
        <p:spPr>
          <a:xfrm>
            <a:off x="8741664" y="2971800"/>
            <a:ext cx="365760" cy="0"/>
          </a:xfrm>
          <a:prstGeom prst="line">
            <a:avLst/>
          </a:prstGeom>
          <a:noFill/>
          <a:ln w="25400">
            <a:solidFill>
              <a:srgbClr val="94A3B8"/>
            </a:solidFill>
            <a:prstDash val="solid"/>
            <a:headEnd type="none"/>
            <a:tailEnd type="triangle"/>
          </a:ln>
        </p:spPr>
      </p:sp>
      <p:sp>
        <p:nvSpPr>
          <p:cNvPr id="21" name="Shape 18"/>
          <p:cNvSpPr/>
          <p:nvPr/>
        </p:nvSpPr>
        <p:spPr>
          <a:xfrm>
            <a:off x="9208008" y="2084832"/>
            <a:ext cx="2286000" cy="1737360"/>
          </a:xfrm>
          <a:prstGeom prst="roundRect">
            <a:avLst/>
          </a:prstGeom>
          <a:solidFill>
            <a:srgbClr val="FFFFFF"/>
          </a:solidFill>
          <a:ln w="12700">
            <a:solidFill>
              <a:srgbClr val="CBD5E1"/>
            </a:solidFill>
            <a:prstDash val="solid"/>
          </a:ln>
        </p:spPr>
      </p:sp>
      <p:sp>
        <p:nvSpPr>
          <p:cNvPr id="22" name="Shape 19"/>
          <p:cNvSpPr/>
          <p:nvPr/>
        </p:nvSpPr>
        <p:spPr>
          <a:xfrm>
            <a:off x="9208008" y="2084832"/>
            <a:ext cx="2286000" cy="292608"/>
          </a:xfrm>
          <a:prstGeom prst="roundRect">
            <a:avLst/>
          </a:prstGeom>
          <a:solidFill>
            <a:srgbClr val="70AD47"/>
          </a:solidFill>
          <a:ln w="12700">
            <a:solidFill>
              <a:srgbClr val="70AD47"/>
            </a:solidFill>
            <a:prstDash val="solid"/>
          </a:ln>
        </p:spPr>
      </p:sp>
      <p:sp>
        <p:nvSpPr>
          <p:cNvPr id="23" name="Text 20"/>
          <p:cNvSpPr txBox="1"/>
          <p:nvPr/>
        </p:nvSpPr>
        <p:spPr>
          <a:xfrm>
            <a:off x="9317736" y="2121408"/>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Verifier</a:t>
            </a:r>
            <a:endParaRPr lang="en-US" sz="1100" dirty="0"/>
          </a:p>
        </p:txBody>
      </p:sp>
      <p:sp>
        <p:nvSpPr>
          <p:cNvPr id="24" name="Text 21"/>
          <p:cNvSpPr txBox="1"/>
          <p:nvPr/>
        </p:nvSpPr>
        <p:spPr>
          <a:xfrm>
            <a:off x="9317736" y="2496312"/>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validate CA</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name and limits</a:t>
            </a:r>
            <a:endParaRPr lang="en-US" sz="1300" dirty="0"/>
          </a:p>
        </p:txBody>
      </p:sp>
      <p:sp>
        <p:nvSpPr>
          <p:cNvPr id="25" name="Shape 22"/>
          <p:cNvSpPr/>
          <p:nvPr/>
        </p:nvSpPr>
        <p:spPr>
          <a:xfrm>
            <a:off x="1005840" y="4617720"/>
            <a:ext cx="10104120" cy="713232"/>
          </a:xfrm>
          <a:prstGeom prst="roundRect">
            <a:avLst/>
          </a:prstGeom>
          <a:solidFill>
            <a:srgbClr val="FFFFFF"/>
          </a:solidFill>
          <a:ln w="12700">
            <a:solidFill>
              <a:srgbClr val="8064A2"/>
            </a:solidFill>
            <a:prstDash val="solid"/>
          </a:ln>
        </p:spPr>
      </p:sp>
      <p:sp>
        <p:nvSpPr>
          <p:cNvPr id="26" name="Shape 23"/>
          <p:cNvSpPr/>
          <p:nvPr/>
        </p:nvSpPr>
        <p:spPr>
          <a:xfrm>
            <a:off x="1005840" y="4617720"/>
            <a:ext cx="100584" cy="713232"/>
          </a:xfrm>
          <a:prstGeom prst="rect">
            <a:avLst/>
          </a:prstGeom>
          <a:solidFill>
            <a:srgbClr val="8064A2"/>
          </a:solidFill>
          <a:ln w="12700">
            <a:solidFill>
              <a:srgbClr val="8064A2"/>
            </a:solidFill>
            <a:prstDash val="solid"/>
          </a:ln>
        </p:spPr>
      </p:sp>
      <p:sp>
        <p:nvSpPr>
          <p:cNvPr id="27" name="Text 24"/>
          <p:cNvSpPr txBox="1"/>
          <p:nvPr/>
        </p:nvSpPr>
        <p:spPr>
          <a:xfrm>
            <a:off x="1243584" y="472744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8064A2"/>
                </a:solidFill>
                <a:latin typeface="Calibri" pitchFamily="34" charset="0"/>
                <a:ea typeface="Calibri" pitchFamily="34" charset="-122"/>
                <a:cs typeface="Calibri" pitchFamily="34" charset="-120"/>
              </a:rPr>
              <a:t>Operational control</a:t>
            </a:r>
            <a:endParaRPr lang="en-US" sz="1400" dirty="0"/>
          </a:p>
        </p:txBody>
      </p:sp>
      <p:sp>
        <p:nvSpPr>
          <p:cNvPr id="28" name="Text 25"/>
          <p:cNvSpPr txBox="1"/>
          <p:nvPr/>
        </p:nvSpPr>
        <p:spPr>
          <a:xfrm>
            <a:off x="1243584" y="5029200"/>
            <a:ext cx="975664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certificate inventory should connect the key ID, principal, owner, issuer, expiry, and current status.</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PRINCIPALS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Principals connect certificate identity to local policy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name inside the certificate is only useful when the server knows what it means.</a:t>
            </a:r>
            <a:endParaRPr lang="en-US" sz="1250" dirty="0"/>
          </a:p>
        </p:txBody>
      </p:sp>
      <p:sp>
        <p:nvSpPr>
          <p:cNvPr id="6" name="Shape 3"/>
          <p:cNvSpPr/>
          <p:nvPr/>
        </p:nvSpPr>
        <p:spPr>
          <a:xfrm>
            <a:off x="822960" y="1965960"/>
            <a:ext cx="5257800" cy="1005840"/>
          </a:xfrm>
          <a:prstGeom prst="roundRect">
            <a:avLst/>
          </a:prstGeom>
          <a:solidFill>
            <a:srgbClr val="16202C"/>
          </a:solidFill>
          <a:ln w="12700">
            <a:solidFill>
              <a:srgbClr val="16202C"/>
            </a:solidFill>
            <a:prstDash val="solid"/>
          </a:ln>
        </p:spPr>
      </p:sp>
      <p:sp>
        <p:nvSpPr>
          <p:cNvPr id="7" name="Shape 4"/>
          <p:cNvSpPr/>
          <p:nvPr/>
        </p:nvSpPr>
        <p:spPr>
          <a:xfrm>
            <a:off x="822960" y="1965960"/>
            <a:ext cx="91440" cy="1005840"/>
          </a:xfrm>
          <a:prstGeom prst="rect">
            <a:avLst/>
          </a:prstGeom>
          <a:solidFill>
            <a:srgbClr val="4BACC6"/>
          </a:solidFill>
          <a:ln w="12700">
            <a:solidFill>
              <a:srgbClr val="4BACC6"/>
            </a:solidFill>
            <a:prstDash val="solid"/>
          </a:ln>
        </p:spPr>
      </p:sp>
      <p:sp>
        <p:nvSpPr>
          <p:cNvPr id="8" name="Text 5"/>
          <p:cNvSpPr txBox="1"/>
          <p:nvPr/>
        </p:nvSpPr>
        <p:spPr>
          <a:xfrm>
            <a:off x="1024128" y="2075688"/>
            <a:ext cx="4946904" cy="80467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TrustedUserCAKeys /etc/ssh/ca/user_ca_key.pub</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AuthorizedPrincipalsFile /etc/ssh/auth_principals/%u</a:t>
            </a:r>
            <a:endParaRPr lang="en-US" sz="1100" dirty="0"/>
          </a:p>
        </p:txBody>
      </p:sp>
      <p:sp>
        <p:nvSpPr>
          <p:cNvPr id="9" name="Shape 6"/>
          <p:cNvSpPr/>
          <p:nvPr/>
        </p:nvSpPr>
        <p:spPr>
          <a:xfrm>
            <a:off x="6355080" y="2468880"/>
            <a:ext cx="548640" cy="0"/>
          </a:xfrm>
          <a:prstGeom prst="line">
            <a:avLst/>
          </a:prstGeom>
          <a:noFill/>
          <a:ln w="25400">
            <a:solidFill>
              <a:srgbClr val="94A3B8"/>
            </a:solidFill>
            <a:prstDash val="solid"/>
            <a:headEnd type="none"/>
            <a:tailEnd type="triangle"/>
          </a:ln>
        </p:spPr>
      </p:sp>
      <p:sp>
        <p:nvSpPr>
          <p:cNvPr id="10" name="Shape 7"/>
          <p:cNvSpPr/>
          <p:nvPr/>
        </p:nvSpPr>
        <p:spPr>
          <a:xfrm>
            <a:off x="7086600" y="1874520"/>
            <a:ext cx="1874520" cy="1234440"/>
          </a:xfrm>
          <a:prstGeom prst="roundRect">
            <a:avLst/>
          </a:prstGeom>
          <a:solidFill>
            <a:srgbClr val="FFFFFF"/>
          </a:solidFill>
          <a:ln w="12700">
            <a:solidFill>
              <a:srgbClr val="CBD5E1"/>
            </a:solidFill>
            <a:prstDash val="solid"/>
          </a:ln>
        </p:spPr>
      </p:sp>
      <p:sp>
        <p:nvSpPr>
          <p:cNvPr id="11" name="Shape 8"/>
          <p:cNvSpPr/>
          <p:nvPr/>
        </p:nvSpPr>
        <p:spPr>
          <a:xfrm>
            <a:off x="7086600" y="1874520"/>
            <a:ext cx="1874520" cy="292608"/>
          </a:xfrm>
          <a:prstGeom prst="roundRect">
            <a:avLst/>
          </a:prstGeom>
          <a:solidFill>
            <a:srgbClr val="4F81BD"/>
          </a:solidFill>
          <a:ln w="12700">
            <a:solidFill>
              <a:srgbClr val="4F81BD"/>
            </a:solidFill>
            <a:prstDash val="solid"/>
          </a:ln>
        </p:spPr>
      </p:sp>
      <p:sp>
        <p:nvSpPr>
          <p:cNvPr id="12" name="Text 9"/>
          <p:cNvSpPr txBox="1"/>
          <p:nvPr/>
        </p:nvSpPr>
        <p:spPr>
          <a:xfrm>
            <a:off x="7196328" y="1911096"/>
            <a:ext cx="165506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CERTIFICATE</a:t>
            </a:r>
            <a:endParaRPr lang="en-US" sz="1100" dirty="0"/>
          </a:p>
        </p:txBody>
      </p:sp>
      <p:sp>
        <p:nvSpPr>
          <p:cNvPr id="13" name="Text 10"/>
          <p:cNvSpPr txBox="1"/>
          <p:nvPr/>
        </p:nvSpPr>
        <p:spPr>
          <a:xfrm>
            <a:off x="7196328" y="2286000"/>
            <a:ext cx="1655064" cy="7315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principal: alice</a:t>
            </a:r>
            <a:endParaRPr lang="en-US" sz="1300" dirty="0"/>
          </a:p>
        </p:txBody>
      </p:sp>
      <p:sp>
        <p:nvSpPr>
          <p:cNvPr id="14" name="Shape 11"/>
          <p:cNvSpPr/>
          <p:nvPr/>
        </p:nvSpPr>
        <p:spPr>
          <a:xfrm>
            <a:off x="9098280" y="2468880"/>
            <a:ext cx="274320" cy="0"/>
          </a:xfrm>
          <a:prstGeom prst="line">
            <a:avLst/>
          </a:prstGeom>
          <a:noFill/>
          <a:ln w="25400">
            <a:solidFill>
              <a:srgbClr val="94A3B8"/>
            </a:solidFill>
            <a:prstDash val="solid"/>
            <a:headEnd type="none"/>
            <a:tailEnd type="triangle"/>
          </a:ln>
        </p:spPr>
      </p:sp>
      <p:sp>
        <p:nvSpPr>
          <p:cNvPr id="15" name="Shape 12"/>
          <p:cNvSpPr/>
          <p:nvPr/>
        </p:nvSpPr>
        <p:spPr>
          <a:xfrm>
            <a:off x="9555480" y="1874520"/>
            <a:ext cx="1874520" cy="1234440"/>
          </a:xfrm>
          <a:prstGeom prst="roundRect">
            <a:avLst/>
          </a:prstGeom>
          <a:solidFill>
            <a:srgbClr val="FFFFFF"/>
          </a:solidFill>
          <a:ln w="12700">
            <a:solidFill>
              <a:srgbClr val="CBD5E1"/>
            </a:solidFill>
            <a:prstDash val="solid"/>
          </a:ln>
        </p:spPr>
      </p:sp>
      <p:sp>
        <p:nvSpPr>
          <p:cNvPr id="16" name="Shape 13"/>
          <p:cNvSpPr/>
          <p:nvPr/>
        </p:nvSpPr>
        <p:spPr>
          <a:xfrm>
            <a:off x="9555480" y="1874520"/>
            <a:ext cx="1874520" cy="292608"/>
          </a:xfrm>
          <a:prstGeom prst="roundRect">
            <a:avLst/>
          </a:prstGeom>
          <a:solidFill>
            <a:srgbClr val="70AD47"/>
          </a:solidFill>
          <a:ln w="12700">
            <a:solidFill>
              <a:srgbClr val="70AD47"/>
            </a:solidFill>
            <a:prstDash val="solid"/>
          </a:ln>
        </p:spPr>
      </p:sp>
      <p:sp>
        <p:nvSpPr>
          <p:cNvPr id="17" name="Text 14"/>
          <p:cNvSpPr txBox="1"/>
          <p:nvPr/>
        </p:nvSpPr>
        <p:spPr>
          <a:xfrm>
            <a:off x="9665208" y="1911096"/>
            <a:ext cx="165506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ACCOUNT</a:t>
            </a:r>
            <a:endParaRPr lang="en-US" sz="1100" dirty="0"/>
          </a:p>
        </p:txBody>
      </p:sp>
      <p:sp>
        <p:nvSpPr>
          <p:cNvPr id="18" name="Text 15"/>
          <p:cNvSpPr txBox="1"/>
          <p:nvPr/>
        </p:nvSpPr>
        <p:spPr>
          <a:xfrm>
            <a:off x="9665208" y="2286000"/>
            <a:ext cx="1655064" cy="7315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alice</a:t>
            </a:r>
            <a:endParaRPr lang="en-US" sz="1300" dirty="0"/>
          </a:p>
        </p:txBody>
      </p:sp>
      <p:sp>
        <p:nvSpPr>
          <p:cNvPr id="19" name="Shape 16"/>
          <p:cNvSpPr/>
          <p:nvPr/>
        </p:nvSpPr>
        <p:spPr>
          <a:xfrm>
            <a:off x="914400" y="3886200"/>
            <a:ext cx="10332720" cy="1143000"/>
          </a:xfrm>
          <a:prstGeom prst="roundRect">
            <a:avLst/>
          </a:prstGeom>
          <a:solidFill>
            <a:srgbClr val="FFF3E7"/>
          </a:solidFill>
          <a:ln w="12700">
            <a:solidFill>
              <a:srgbClr val="F79646"/>
            </a:solidFill>
            <a:prstDash val="solid"/>
          </a:ln>
        </p:spPr>
      </p:sp>
      <p:sp>
        <p:nvSpPr>
          <p:cNvPr id="20" name="Text 17"/>
          <p:cNvSpPr txBox="1"/>
          <p:nvPr/>
        </p:nvSpPr>
        <p:spPr>
          <a:xfrm>
            <a:off x="1188720" y="4187952"/>
            <a:ext cx="9784080" cy="256032"/>
          </a:xfrm>
          <a:prstGeom prst="rect">
            <a:avLst/>
          </a:prstGeom>
          <a:noFill/>
          <a:ln/>
        </p:spPr>
        <p:txBody>
          <a:bodyPr wrap="square" lIns="508" tIns="508" rIns="508" bIns="508" rtlCol="0" anchor="ctr">
            <a:normAutofit/>
          </a:bodyPr>
          <a:lstStyle/>
          <a:p>
            <a:pPr algn="ctr" indent="0" marL="0">
              <a:buNone/>
            </a:pPr>
            <a:r>
              <a:rPr lang="en-US" sz="2200" b="1" dirty="0">
                <a:solidFill>
                  <a:srgbClr val="C0504D"/>
                </a:solidFill>
                <a:latin typeface="Calibri" pitchFamily="34" charset="0"/>
                <a:ea typeface="Calibri" pitchFamily="34" charset="-122"/>
                <a:cs typeface="Calibri" pitchFamily="34" charset="-120"/>
              </a:rPr>
              <a:t>Valid signature  ≠  valid local authorization</a:t>
            </a:r>
            <a:endParaRPr lang="en-US" sz="22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SCOPE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Validity is only one boundary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SSH certificates can carry several independent limits.</a:t>
            </a:r>
            <a:endParaRPr lang="en-US" sz="1250" dirty="0"/>
          </a:p>
        </p:txBody>
      </p:sp>
      <p:sp>
        <p:nvSpPr>
          <p:cNvPr id="6" name="Shape 3"/>
          <p:cNvSpPr/>
          <p:nvPr/>
        </p:nvSpPr>
        <p:spPr>
          <a:xfrm>
            <a:off x="594360" y="1920240"/>
            <a:ext cx="2057400" cy="2331720"/>
          </a:xfrm>
          <a:prstGeom prst="roundRect">
            <a:avLst/>
          </a:prstGeom>
          <a:solidFill>
            <a:srgbClr val="FFFFFF"/>
          </a:solidFill>
          <a:ln w="12700">
            <a:solidFill>
              <a:srgbClr val="4BACC6"/>
            </a:solidFill>
            <a:prstDash val="solid"/>
          </a:ln>
        </p:spPr>
      </p:sp>
      <p:sp>
        <p:nvSpPr>
          <p:cNvPr id="7" name="Shape 4"/>
          <p:cNvSpPr/>
          <p:nvPr/>
        </p:nvSpPr>
        <p:spPr>
          <a:xfrm>
            <a:off x="1362456" y="2240280"/>
            <a:ext cx="530352" cy="530352"/>
          </a:xfrm>
          <a:prstGeom prst="ellipse">
            <a:avLst/>
          </a:prstGeom>
          <a:solidFill>
            <a:srgbClr val="4BACC6"/>
          </a:solidFill>
          <a:ln w="12700">
            <a:solidFill>
              <a:srgbClr val="4BACC6"/>
            </a:solidFill>
            <a:prstDash val="solid"/>
          </a:ln>
        </p:spPr>
      </p:sp>
      <p:sp>
        <p:nvSpPr>
          <p:cNvPr id="8" name="Text 5"/>
          <p:cNvSpPr txBox="1"/>
          <p:nvPr/>
        </p:nvSpPr>
        <p:spPr>
          <a:xfrm>
            <a:off x="1362456" y="2404872"/>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731520" y="3063240"/>
            <a:ext cx="1783080" cy="256032"/>
          </a:xfrm>
          <a:prstGeom prst="rect">
            <a:avLst/>
          </a:prstGeom>
          <a:noFill/>
          <a:ln/>
        </p:spPr>
        <p:txBody>
          <a:bodyPr wrap="square" lIns="508" tIns="508" rIns="508" bIns="508" rtlCol="0" anchor="ctr">
            <a:normAutofit/>
          </a:bodyPr>
          <a:lstStyle/>
          <a:p>
            <a:pPr algn="ctr" indent="0" marL="0">
              <a:buNone/>
            </a:pPr>
            <a:r>
              <a:rPr lang="en-US" sz="1600" b="1" dirty="0">
                <a:solidFill>
                  <a:srgbClr val="1F497D"/>
                </a:solidFill>
                <a:latin typeface="Calibri" pitchFamily="34" charset="0"/>
                <a:ea typeface="Calibri" pitchFamily="34" charset="-122"/>
                <a:cs typeface="Calibri" pitchFamily="34" charset="-120"/>
              </a:rPr>
              <a:t>Validity</a:t>
            </a:r>
            <a:endParaRPr lang="en-US" sz="1600" dirty="0"/>
          </a:p>
        </p:txBody>
      </p:sp>
      <p:sp>
        <p:nvSpPr>
          <p:cNvPr id="10" name="Text 7"/>
          <p:cNvSpPr txBox="1"/>
          <p:nvPr/>
        </p:nvSpPr>
        <p:spPr>
          <a:xfrm>
            <a:off x="731520" y="3520440"/>
            <a:ext cx="1783080" cy="219456"/>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time window</a:t>
            </a:r>
            <a:endParaRPr lang="en-US" sz="1250" dirty="0"/>
          </a:p>
        </p:txBody>
      </p:sp>
      <p:sp>
        <p:nvSpPr>
          <p:cNvPr id="11" name="Shape 8"/>
          <p:cNvSpPr/>
          <p:nvPr/>
        </p:nvSpPr>
        <p:spPr>
          <a:xfrm>
            <a:off x="2898648" y="1920240"/>
            <a:ext cx="2057400" cy="2331720"/>
          </a:xfrm>
          <a:prstGeom prst="roundRect">
            <a:avLst/>
          </a:prstGeom>
          <a:solidFill>
            <a:srgbClr val="FFFFFF"/>
          </a:solidFill>
          <a:ln w="12700">
            <a:solidFill>
              <a:srgbClr val="4F81BD"/>
            </a:solidFill>
            <a:prstDash val="solid"/>
          </a:ln>
        </p:spPr>
      </p:sp>
      <p:sp>
        <p:nvSpPr>
          <p:cNvPr id="12" name="Shape 9"/>
          <p:cNvSpPr/>
          <p:nvPr/>
        </p:nvSpPr>
        <p:spPr>
          <a:xfrm>
            <a:off x="3666744" y="2240280"/>
            <a:ext cx="530352" cy="530352"/>
          </a:xfrm>
          <a:prstGeom prst="ellipse">
            <a:avLst/>
          </a:prstGeom>
          <a:solidFill>
            <a:srgbClr val="4F81BD"/>
          </a:solidFill>
          <a:ln w="12700">
            <a:solidFill>
              <a:srgbClr val="4F81BD"/>
            </a:solidFill>
            <a:prstDash val="solid"/>
          </a:ln>
        </p:spPr>
      </p:sp>
      <p:sp>
        <p:nvSpPr>
          <p:cNvPr id="13" name="Text 10"/>
          <p:cNvSpPr txBox="1"/>
          <p:nvPr/>
        </p:nvSpPr>
        <p:spPr>
          <a:xfrm>
            <a:off x="3666744" y="2404872"/>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3035808" y="3063240"/>
            <a:ext cx="1783080" cy="256032"/>
          </a:xfrm>
          <a:prstGeom prst="rect">
            <a:avLst/>
          </a:prstGeom>
          <a:noFill/>
          <a:ln/>
        </p:spPr>
        <p:txBody>
          <a:bodyPr wrap="square" lIns="508" tIns="508" rIns="508" bIns="508" rtlCol="0" anchor="ctr">
            <a:normAutofit/>
          </a:bodyPr>
          <a:lstStyle/>
          <a:p>
            <a:pPr algn="ctr" indent="0" marL="0">
              <a:buNone/>
            </a:pPr>
            <a:r>
              <a:rPr lang="en-US" sz="1600" b="1" dirty="0">
                <a:solidFill>
                  <a:srgbClr val="1F497D"/>
                </a:solidFill>
                <a:latin typeface="Calibri" pitchFamily="34" charset="0"/>
                <a:ea typeface="Calibri" pitchFamily="34" charset="-122"/>
                <a:cs typeface="Calibri" pitchFamily="34" charset="-120"/>
              </a:rPr>
              <a:t>Principals</a:t>
            </a:r>
            <a:endParaRPr lang="en-US" sz="1600" dirty="0"/>
          </a:p>
        </p:txBody>
      </p:sp>
      <p:sp>
        <p:nvSpPr>
          <p:cNvPr id="15" name="Text 12"/>
          <p:cNvSpPr txBox="1"/>
          <p:nvPr/>
        </p:nvSpPr>
        <p:spPr>
          <a:xfrm>
            <a:off x="3035808" y="3520440"/>
            <a:ext cx="1783080" cy="219456"/>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identity scope</a:t>
            </a:r>
            <a:endParaRPr lang="en-US" sz="1250" dirty="0"/>
          </a:p>
        </p:txBody>
      </p:sp>
      <p:sp>
        <p:nvSpPr>
          <p:cNvPr id="16" name="Shape 13"/>
          <p:cNvSpPr/>
          <p:nvPr/>
        </p:nvSpPr>
        <p:spPr>
          <a:xfrm>
            <a:off x="5202936" y="1920240"/>
            <a:ext cx="2057400" cy="2331720"/>
          </a:xfrm>
          <a:prstGeom prst="roundRect">
            <a:avLst/>
          </a:prstGeom>
          <a:solidFill>
            <a:srgbClr val="FFFFFF"/>
          </a:solidFill>
          <a:ln w="12700">
            <a:solidFill>
              <a:srgbClr val="F79646"/>
            </a:solidFill>
            <a:prstDash val="solid"/>
          </a:ln>
        </p:spPr>
      </p:sp>
      <p:sp>
        <p:nvSpPr>
          <p:cNvPr id="17" name="Shape 14"/>
          <p:cNvSpPr/>
          <p:nvPr/>
        </p:nvSpPr>
        <p:spPr>
          <a:xfrm>
            <a:off x="5971032" y="2240280"/>
            <a:ext cx="530352" cy="530352"/>
          </a:xfrm>
          <a:prstGeom prst="ellipse">
            <a:avLst/>
          </a:prstGeom>
          <a:solidFill>
            <a:srgbClr val="F79646"/>
          </a:solidFill>
          <a:ln w="12700">
            <a:solidFill>
              <a:srgbClr val="F79646"/>
            </a:solidFill>
            <a:prstDash val="solid"/>
          </a:ln>
        </p:spPr>
      </p:sp>
      <p:sp>
        <p:nvSpPr>
          <p:cNvPr id="18" name="Text 15"/>
          <p:cNvSpPr txBox="1"/>
          <p:nvPr/>
        </p:nvSpPr>
        <p:spPr>
          <a:xfrm>
            <a:off x="5971032" y="2404872"/>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340096" y="3063240"/>
            <a:ext cx="1783080" cy="256032"/>
          </a:xfrm>
          <a:prstGeom prst="rect">
            <a:avLst/>
          </a:prstGeom>
          <a:noFill/>
          <a:ln/>
        </p:spPr>
        <p:txBody>
          <a:bodyPr wrap="square" lIns="508" tIns="508" rIns="508" bIns="508" rtlCol="0" anchor="ctr">
            <a:normAutofit/>
          </a:bodyPr>
          <a:lstStyle/>
          <a:p>
            <a:pPr algn="ctr" indent="0" marL="0">
              <a:buNone/>
            </a:pPr>
            <a:r>
              <a:rPr lang="en-US" sz="1600" b="1" dirty="0">
                <a:solidFill>
                  <a:srgbClr val="1F497D"/>
                </a:solidFill>
                <a:latin typeface="Calibri" pitchFamily="34" charset="0"/>
                <a:ea typeface="Calibri" pitchFamily="34" charset="-122"/>
                <a:cs typeface="Calibri" pitchFamily="34" charset="-120"/>
              </a:rPr>
              <a:t>Source address</a:t>
            </a:r>
            <a:endParaRPr lang="en-US" sz="1600" dirty="0"/>
          </a:p>
        </p:txBody>
      </p:sp>
      <p:sp>
        <p:nvSpPr>
          <p:cNvPr id="20" name="Text 17"/>
          <p:cNvSpPr txBox="1"/>
          <p:nvPr/>
        </p:nvSpPr>
        <p:spPr>
          <a:xfrm>
            <a:off x="5340096" y="3520440"/>
            <a:ext cx="1783080" cy="219456"/>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network origin</a:t>
            </a:r>
            <a:endParaRPr lang="en-US" sz="1250" dirty="0"/>
          </a:p>
        </p:txBody>
      </p:sp>
      <p:sp>
        <p:nvSpPr>
          <p:cNvPr id="21" name="Shape 18"/>
          <p:cNvSpPr/>
          <p:nvPr/>
        </p:nvSpPr>
        <p:spPr>
          <a:xfrm>
            <a:off x="7507224" y="1920240"/>
            <a:ext cx="2057400" cy="2331720"/>
          </a:xfrm>
          <a:prstGeom prst="roundRect">
            <a:avLst/>
          </a:prstGeom>
          <a:solidFill>
            <a:srgbClr val="FFFFFF"/>
          </a:solidFill>
          <a:ln w="12700">
            <a:solidFill>
              <a:srgbClr val="8064A2"/>
            </a:solidFill>
            <a:prstDash val="solid"/>
          </a:ln>
        </p:spPr>
      </p:sp>
      <p:sp>
        <p:nvSpPr>
          <p:cNvPr id="22" name="Shape 19"/>
          <p:cNvSpPr/>
          <p:nvPr/>
        </p:nvSpPr>
        <p:spPr>
          <a:xfrm>
            <a:off x="8275320" y="2240280"/>
            <a:ext cx="530352" cy="530352"/>
          </a:xfrm>
          <a:prstGeom prst="ellipse">
            <a:avLst/>
          </a:prstGeom>
          <a:solidFill>
            <a:srgbClr val="8064A2"/>
          </a:solidFill>
          <a:ln w="12700">
            <a:solidFill>
              <a:srgbClr val="8064A2"/>
            </a:solidFill>
            <a:prstDash val="solid"/>
          </a:ln>
        </p:spPr>
      </p:sp>
      <p:sp>
        <p:nvSpPr>
          <p:cNvPr id="23" name="Text 20"/>
          <p:cNvSpPr txBox="1"/>
          <p:nvPr/>
        </p:nvSpPr>
        <p:spPr>
          <a:xfrm>
            <a:off x="8275320" y="2404872"/>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7644384" y="3063240"/>
            <a:ext cx="1783080" cy="256032"/>
          </a:xfrm>
          <a:prstGeom prst="rect">
            <a:avLst/>
          </a:prstGeom>
          <a:noFill/>
          <a:ln/>
        </p:spPr>
        <p:txBody>
          <a:bodyPr wrap="square" lIns="508" tIns="508" rIns="508" bIns="508" rtlCol="0" anchor="ctr">
            <a:normAutofit/>
          </a:bodyPr>
          <a:lstStyle/>
          <a:p>
            <a:pPr algn="ctr" indent="0" marL="0">
              <a:buNone/>
            </a:pPr>
            <a:r>
              <a:rPr lang="en-US" sz="1600" b="1" dirty="0">
                <a:solidFill>
                  <a:srgbClr val="1F497D"/>
                </a:solidFill>
                <a:latin typeface="Calibri" pitchFamily="34" charset="0"/>
                <a:ea typeface="Calibri" pitchFamily="34" charset="-122"/>
                <a:cs typeface="Calibri" pitchFamily="34" charset="-120"/>
              </a:rPr>
              <a:t>ForceCommand</a:t>
            </a:r>
            <a:endParaRPr lang="en-US" sz="1600" dirty="0"/>
          </a:p>
        </p:txBody>
      </p:sp>
      <p:sp>
        <p:nvSpPr>
          <p:cNvPr id="25" name="Text 22"/>
          <p:cNvSpPr txBox="1"/>
          <p:nvPr/>
        </p:nvSpPr>
        <p:spPr>
          <a:xfrm>
            <a:off x="7644384" y="3520440"/>
            <a:ext cx="1783080" cy="219456"/>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allowed action</a:t>
            </a:r>
            <a:endParaRPr lang="en-US" sz="1250" dirty="0"/>
          </a:p>
        </p:txBody>
      </p:sp>
      <p:sp>
        <p:nvSpPr>
          <p:cNvPr id="26" name="Shape 23"/>
          <p:cNvSpPr/>
          <p:nvPr/>
        </p:nvSpPr>
        <p:spPr>
          <a:xfrm>
            <a:off x="9811512" y="1920240"/>
            <a:ext cx="2057400" cy="2331720"/>
          </a:xfrm>
          <a:prstGeom prst="roundRect">
            <a:avLst/>
          </a:prstGeom>
          <a:solidFill>
            <a:srgbClr val="FFFFFF"/>
          </a:solidFill>
          <a:ln w="12700">
            <a:solidFill>
              <a:srgbClr val="70AD47"/>
            </a:solidFill>
            <a:prstDash val="solid"/>
          </a:ln>
        </p:spPr>
      </p:sp>
      <p:sp>
        <p:nvSpPr>
          <p:cNvPr id="27" name="Shape 24"/>
          <p:cNvSpPr/>
          <p:nvPr/>
        </p:nvSpPr>
        <p:spPr>
          <a:xfrm>
            <a:off x="10579608" y="2240280"/>
            <a:ext cx="530352" cy="530352"/>
          </a:xfrm>
          <a:prstGeom prst="ellipse">
            <a:avLst/>
          </a:prstGeom>
          <a:solidFill>
            <a:srgbClr val="70AD47"/>
          </a:solidFill>
          <a:ln w="12700">
            <a:solidFill>
              <a:srgbClr val="70AD47"/>
            </a:solidFill>
            <a:prstDash val="solid"/>
          </a:ln>
        </p:spPr>
      </p:sp>
      <p:sp>
        <p:nvSpPr>
          <p:cNvPr id="28" name="Text 25"/>
          <p:cNvSpPr txBox="1"/>
          <p:nvPr/>
        </p:nvSpPr>
        <p:spPr>
          <a:xfrm>
            <a:off x="10579608" y="2404872"/>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9948672" y="3063240"/>
            <a:ext cx="1783080" cy="256032"/>
          </a:xfrm>
          <a:prstGeom prst="rect">
            <a:avLst/>
          </a:prstGeom>
          <a:noFill/>
          <a:ln/>
        </p:spPr>
        <p:txBody>
          <a:bodyPr wrap="square" lIns="508" tIns="508" rIns="508" bIns="508" rtlCol="0" anchor="ctr">
            <a:normAutofit/>
          </a:bodyPr>
          <a:lstStyle/>
          <a:p>
            <a:pPr algn="ctr" indent="0" marL="0">
              <a:buNone/>
            </a:pPr>
            <a:r>
              <a:rPr lang="en-US" sz="1600" b="1" dirty="0">
                <a:solidFill>
                  <a:srgbClr val="1F497D"/>
                </a:solidFill>
                <a:latin typeface="Calibri" pitchFamily="34" charset="0"/>
                <a:ea typeface="Calibri" pitchFamily="34" charset="-122"/>
                <a:cs typeface="Calibri" pitchFamily="34" charset="-120"/>
              </a:rPr>
              <a:t>Forwarding</a:t>
            </a:r>
            <a:endParaRPr lang="en-US" sz="1600" dirty="0"/>
          </a:p>
        </p:txBody>
      </p:sp>
      <p:sp>
        <p:nvSpPr>
          <p:cNvPr id="30" name="Text 27"/>
          <p:cNvSpPr txBox="1"/>
          <p:nvPr/>
        </p:nvSpPr>
        <p:spPr>
          <a:xfrm>
            <a:off x="9948672" y="3520440"/>
            <a:ext cx="1783080" cy="219456"/>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session capabilities</a:t>
            </a:r>
            <a:endParaRPr lang="en-US" sz="1250" dirty="0"/>
          </a:p>
        </p:txBody>
      </p:sp>
      <p:sp>
        <p:nvSpPr>
          <p:cNvPr id="31" name="Shape 28"/>
          <p:cNvSpPr/>
          <p:nvPr/>
        </p:nvSpPr>
        <p:spPr>
          <a:xfrm>
            <a:off x="4983480" y="4892040"/>
            <a:ext cx="2240280" cy="274320"/>
          </a:xfrm>
          <a:prstGeom prst="roundRect">
            <a:avLst/>
          </a:prstGeom>
          <a:solidFill>
            <a:srgbClr val="1F497D"/>
          </a:solidFill>
          <a:ln w="12700">
            <a:solidFill>
              <a:srgbClr val="1F497D"/>
            </a:solidFill>
            <a:prstDash val="solid"/>
          </a:ln>
        </p:spPr>
      </p:sp>
      <p:sp>
        <p:nvSpPr>
          <p:cNvPr id="32" name="Text 29"/>
          <p:cNvSpPr txBox="1"/>
          <p:nvPr/>
        </p:nvSpPr>
        <p:spPr>
          <a:xfrm>
            <a:off x="5056632" y="4910328"/>
            <a:ext cx="20939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 IN DEPTH</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REVOCATION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KRLs give SSH a compact revocation mechanism</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Expiration limits future use. Revocation responds to compromise now.</a:t>
            </a:r>
            <a:endParaRPr lang="en-US" sz="1250" dirty="0"/>
          </a:p>
        </p:txBody>
      </p:sp>
      <p:sp>
        <p:nvSpPr>
          <p:cNvPr id="6" name="Shape 3"/>
          <p:cNvSpPr/>
          <p:nvPr/>
        </p:nvSpPr>
        <p:spPr>
          <a:xfrm>
            <a:off x="777240" y="1828800"/>
            <a:ext cx="6080760" cy="2103120"/>
          </a:xfrm>
          <a:prstGeom prst="roundRect">
            <a:avLst/>
          </a:prstGeom>
          <a:solidFill>
            <a:srgbClr val="16202C"/>
          </a:solidFill>
          <a:ln w="12700">
            <a:solidFill>
              <a:srgbClr val="16202C"/>
            </a:solidFill>
            <a:prstDash val="solid"/>
          </a:ln>
        </p:spPr>
      </p:sp>
      <p:sp>
        <p:nvSpPr>
          <p:cNvPr id="7" name="Shape 4"/>
          <p:cNvSpPr/>
          <p:nvPr/>
        </p:nvSpPr>
        <p:spPr>
          <a:xfrm>
            <a:off x="777240" y="1828800"/>
            <a:ext cx="91440" cy="2103120"/>
          </a:xfrm>
          <a:prstGeom prst="rect">
            <a:avLst/>
          </a:prstGeom>
          <a:solidFill>
            <a:srgbClr val="C0504D"/>
          </a:solidFill>
          <a:ln w="12700">
            <a:solidFill>
              <a:srgbClr val="C0504D"/>
            </a:solidFill>
            <a:prstDash val="solid"/>
          </a:ln>
        </p:spPr>
      </p:sp>
      <p:sp>
        <p:nvSpPr>
          <p:cNvPr id="8" name="Text 5"/>
          <p:cNvSpPr txBox="1"/>
          <p:nvPr/>
        </p:nvSpPr>
        <p:spPr>
          <a:xfrm>
            <a:off x="978408" y="1938528"/>
            <a:ext cx="5769864" cy="190195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ssh-keygen -k -f /etc/ssh/revoked_keys.krl</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ssh-keygen -k -u -f /etc/ssh/revoked_keys.krl user-cert.pub</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ssh-keygen -Q -f /etc/ssh/revoked_keys.krl user-cert.pub</a:t>
            </a:r>
            <a:endParaRPr lang="en-US" sz="1100" dirty="0"/>
          </a:p>
        </p:txBody>
      </p:sp>
      <p:sp>
        <p:nvSpPr>
          <p:cNvPr id="9" name="Shape 6"/>
          <p:cNvSpPr/>
          <p:nvPr/>
        </p:nvSpPr>
        <p:spPr>
          <a:xfrm>
            <a:off x="7452360" y="1828800"/>
            <a:ext cx="3611880" cy="2103120"/>
          </a:xfrm>
          <a:prstGeom prst="roundRect">
            <a:avLst/>
          </a:prstGeom>
          <a:solidFill>
            <a:srgbClr val="FFFFFF"/>
          </a:solidFill>
          <a:ln w="12700">
            <a:solidFill>
              <a:srgbClr val="CBD5E1"/>
            </a:solidFill>
            <a:prstDash val="solid"/>
          </a:ln>
        </p:spPr>
      </p:sp>
      <p:sp>
        <p:nvSpPr>
          <p:cNvPr id="10" name="Shape 7"/>
          <p:cNvSpPr/>
          <p:nvPr/>
        </p:nvSpPr>
        <p:spPr>
          <a:xfrm>
            <a:off x="7452360" y="1828800"/>
            <a:ext cx="3611880" cy="292608"/>
          </a:xfrm>
          <a:prstGeom prst="roundRect">
            <a:avLst/>
          </a:prstGeom>
          <a:solidFill>
            <a:srgbClr val="C0504D"/>
          </a:solidFill>
          <a:ln w="12700">
            <a:solidFill>
              <a:srgbClr val="C0504D"/>
            </a:solidFill>
            <a:prstDash val="solid"/>
          </a:ln>
        </p:spPr>
      </p:sp>
      <p:sp>
        <p:nvSpPr>
          <p:cNvPr id="11" name="Text 8"/>
          <p:cNvSpPr txBox="1"/>
          <p:nvPr/>
        </p:nvSpPr>
        <p:spPr>
          <a:xfrm>
            <a:off x="7562088" y="1865376"/>
            <a:ext cx="33924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VERIFIER</a:t>
            </a:r>
            <a:endParaRPr lang="en-US" sz="1100" dirty="0"/>
          </a:p>
        </p:txBody>
      </p:sp>
      <p:sp>
        <p:nvSpPr>
          <p:cNvPr id="12" name="Text 9"/>
          <p:cNvSpPr txBox="1"/>
          <p:nvPr/>
        </p:nvSpPr>
        <p:spPr>
          <a:xfrm>
            <a:off x="7562088" y="2240280"/>
            <a:ext cx="3392424" cy="16002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Revoked certificate</a:t>
            </a:r>
            <a:endParaRPr lang="en-US" sz="1300" dirty="0"/>
          </a:p>
          <a:p>
            <a:pPr algn="ctr" indent="0" marL="0">
              <a:buNone/>
            </a:pP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Reject authentication</a:t>
            </a:r>
            <a:endParaRPr lang="en-US" sz="1300" dirty="0"/>
          </a:p>
          <a:p>
            <a:pPr algn="ctr" indent="0" marL="0">
              <a:buNone/>
            </a:pP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Log the event</a:t>
            </a:r>
            <a:endParaRPr lang="en-US" sz="1300" dirty="0"/>
          </a:p>
        </p:txBody>
      </p:sp>
      <p:sp>
        <p:nvSpPr>
          <p:cNvPr id="13" name="Shape 10"/>
          <p:cNvSpPr/>
          <p:nvPr/>
        </p:nvSpPr>
        <p:spPr>
          <a:xfrm>
            <a:off x="6995160" y="2880360"/>
            <a:ext cx="365760" cy="0"/>
          </a:xfrm>
          <a:prstGeom prst="line">
            <a:avLst/>
          </a:prstGeom>
          <a:noFill/>
          <a:ln w="25400">
            <a:solidFill>
              <a:srgbClr val="94A3B8"/>
            </a:solidFill>
            <a:prstDash val="solid"/>
            <a:headEnd type="none"/>
            <a:tailEnd type="triangle"/>
          </a:ln>
        </p:spPr>
      </p:sp>
      <p:sp>
        <p:nvSpPr>
          <p:cNvPr id="14" name="Shape 11"/>
          <p:cNvSpPr/>
          <p:nvPr/>
        </p:nvSpPr>
        <p:spPr>
          <a:xfrm>
            <a:off x="960120" y="4617720"/>
            <a:ext cx="10149840" cy="713232"/>
          </a:xfrm>
          <a:prstGeom prst="roundRect">
            <a:avLst/>
          </a:prstGeom>
          <a:solidFill>
            <a:srgbClr val="FFFFFF"/>
          </a:solidFill>
          <a:ln w="12700">
            <a:solidFill>
              <a:srgbClr val="F79646"/>
            </a:solidFill>
            <a:prstDash val="solid"/>
          </a:ln>
        </p:spPr>
      </p:sp>
      <p:sp>
        <p:nvSpPr>
          <p:cNvPr id="15" name="Shape 12"/>
          <p:cNvSpPr/>
          <p:nvPr/>
        </p:nvSpPr>
        <p:spPr>
          <a:xfrm>
            <a:off x="960120" y="4617720"/>
            <a:ext cx="100584" cy="713232"/>
          </a:xfrm>
          <a:prstGeom prst="rect">
            <a:avLst/>
          </a:prstGeom>
          <a:solidFill>
            <a:srgbClr val="F79646"/>
          </a:solidFill>
          <a:ln w="12700">
            <a:solidFill>
              <a:srgbClr val="F79646"/>
            </a:solidFill>
            <a:prstDash val="solid"/>
          </a:ln>
        </p:spPr>
      </p:sp>
      <p:sp>
        <p:nvSpPr>
          <p:cNvPr id="16" name="Text 13"/>
          <p:cNvSpPr txBox="1"/>
          <p:nvPr/>
        </p:nvSpPr>
        <p:spPr>
          <a:xfrm>
            <a:off x="1197864" y="4727448"/>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Operational warning</a:t>
            </a:r>
            <a:endParaRPr lang="en-US" sz="1400" dirty="0"/>
          </a:p>
        </p:txBody>
      </p:sp>
      <p:sp>
        <p:nvSpPr>
          <p:cNvPr id="17" name="Text 14"/>
          <p:cNvSpPr txBox="1"/>
          <p:nvPr/>
        </p:nvSpPr>
        <p:spPr>
          <a:xfrm>
            <a:off x="1197864" y="5029200"/>
            <a:ext cx="980236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revocation file only works when the SSH service is configured to use the current file.</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CONFIGURATION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Where does the trust decision live?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Find the enforcement point before changing the credential.</a:t>
            </a:r>
            <a:endParaRPr lang="en-US" sz="1250" dirty="0"/>
          </a:p>
        </p:txBody>
      </p:sp>
      <p:sp>
        <p:nvSpPr>
          <p:cNvPr id="6" name="Shape 3"/>
          <p:cNvSpPr/>
          <p:nvPr/>
        </p:nvSpPr>
        <p:spPr>
          <a:xfrm>
            <a:off x="731520" y="1783080"/>
            <a:ext cx="2011680" cy="475488"/>
          </a:xfrm>
          <a:prstGeom prst="roundRect">
            <a:avLst/>
          </a:prstGeom>
          <a:solidFill>
            <a:srgbClr val="4BACC6"/>
          </a:solidFill>
          <a:ln w="12700">
            <a:solidFill>
              <a:srgbClr val="4BACC6"/>
            </a:solidFill>
            <a:prstDash val="solid"/>
          </a:ln>
        </p:spPr>
      </p:sp>
      <p:sp>
        <p:nvSpPr>
          <p:cNvPr id="7" name="Text 4"/>
          <p:cNvSpPr txBox="1"/>
          <p:nvPr/>
        </p:nvSpPr>
        <p:spPr>
          <a:xfrm>
            <a:off x="868680" y="1920240"/>
            <a:ext cx="173736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User CA trust</a:t>
            </a:r>
            <a:endParaRPr lang="en-US" sz="1150" dirty="0"/>
          </a:p>
        </p:txBody>
      </p:sp>
      <p:sp>
        <p:nvSpPr>
          <p:cNvPr id="8" name="Shape 5"/>
          <p:cNvSpPr/>
          <p:nvPr/>
        </p:nvSpPr>
        <p:spPr>
          <a:xfrm>
            <a:off x="2971800" y="1783080"/>
            <a:ext cx="3017520" cy="475488"/>
          </a:xfrm>
          <a:prstGeom prst="roundRect">
            <a:avLst/>
          </a:prstGeom>
          <a:solidFill>
            <a:srgbClr val="FFFFFF"/>
          </a:solidFill>
          <a:ln w="12700">
            <a:solidFill>
              <a:srgbClr val="CBD5E1"/>
            </a:solidFill>
            <a:prstDash val="solid"/>
          </a:ln>
        </p:spPr>
      </p:sp>
      <p:sp>
        <p:nvSpPr>
          <p:cNvPr id="9" name="Text 6"/>
          <p:cNvSpPr txBox="1"/>
          <p:nvPr/>
        </p:nvSpPr>
        <p:spPr>
          <a:xfrm>
            <a:off x="3108960" y="1920240"/>
            <a:ext cx="2743200" cy="164592"/>
          </a:xfrm>
          <a:prstGeom prst="rect">
            <a:avLst/>
          </a:prstGeom>
          <a:noFill/>
          <a:ln/>
        </p:spPr>
        <p:txBody>
          <a:bodyPr wrap="square" lIns="508" tIns="508" rIns="508" bIns="508" rtlCol="0" anchor="ctr">
            <a:normAutofit/>
          </a:bodyPr>
          <a:lstStyle/>
          <a:p>
            <a:pPr algn="ctr" indent="0" marL="0">
              <a:buNone/>
            </a:pPr>
            <a:r>
              <a:rPr lang="en-US" sz="1150" dirty="0">
                <a:solidFill>
                  <a:srgbClr val="1F497D"/>
                </a:solidFill>
                <a:latin typeface="Courier New" pitchFamily="34" charset="0"/>
                <a:ea typeface="Courier New" pitchFamily="34" charset="-122"/>
                <a:cs typeface="Courier New" pitchFamily="34" charset="-120"/>
              </a:rPr>
              <a:t>TrustedUserCAKeys</a:t>
            </a:r>
            <a:endParaRPr lang="en-US" sz="1150" dirty="0"/>
          </a:p>
        </p:txBody>
      </p:sp>
      <p:sp>
        <p:nvSpPr>
          <p:cNvPr id="10" name="Text 7"/>
          <p:cNvSpPr txBox="1"/>
          <p:nvPr/>
        </p:nvSpPr>
        <p:spPr>
          <a:xfrm>
            <a:off x="6400800" y="1920240"/>
            <a:ext cx="4389120" cy="164592"/>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CA may sign users?</a:t>
            </a:r>
            <a:endParaRPr lang="en-US" sz="1250" dirty="0"/>
          </a:p>
        </p:txBody>
      </p:sp>
      <p:sp>
        <p:nvSpPr>
          <p:cNvPr id="11" name="Shape 8"/>
          <p:cNvSpPr/>
          <p:nvPr/>
        </p:nvSpPr>
        <p:spPr>
          <a:xfrm>
            <a:off x="731520" y="2496312"/>
            <a:ext cx="2011680" cy="475488"/>
          </a:xfrm>
          <a:prstGeom prst="roundRect">
            <a:avLst/>
          </a:prstGeom>
          <a:solidFill>
            <a:srgbClr val="4F81BD"/>
          </a:solidFill>
          <a:ln w="12700">
            <a:solidFill>
              <a:srgbClr val="4F81BD"/>
            </a:solidFill>
            <a:prstDash val="solid"/>
          </a:ln>
        </p:spPr>
      </p:sp>
      <p:sp>
        <p:nvSpPr>
          <p:cNvPr id="12" name="Text 9"/>
          <p:cNvSpPr txBox="1"/>
          <p:nvPr/>
        </p:nvSpPr>
        <p:spPr>
          <a:xfrm>
            <a:off x="868680" y="2633472"/>
            <a:ext cx="173736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Principal policy</a:t>
            </a:r>
            <a:endParaRPr lang="en-US" sz="1150" dirty="0"/>
          </a:p>
        </p:txBody>
      </p:sp>
      <p:sp>
        <p:nvSpPr>
          <p:cNvPr id="13" name="Shape 10"/>
          <p:cNvSpPr/>
          <p:nvPr/>
        </p:nvSpPr>
        <p:spPr>
          <a:xfrm>
            <a:off x="2971800" y="2496312"/>
            <a:ext cx="3017520" cy="475488"/>
          </a:xfrm>
          <a:prstGeom prst="roundRect">
            <a:avLst/>
          </a:prstGeom>
          <a:solidFill>
            <a:srgbClr val="FFFFFF"/>
          </a:solidFill>
          <a:ln w="12700">
            <a:solidFill>
              <a:srgbClr val="CBD5E1"/>
            </a:solidFill>
            <a:prstDash val="solid"/>
          </a:ln>
        </p:spPr>
      </p:sp>
      <p:sp>
        <p:nvSpPr>
          <p:cNvPr id="14" name="Text 11"/>
          <p:cNvSpPr txBox="1"/>
          <p:nvPr/>
        </p:nvSpPr>
        <p:spPr>
          <a:xfrm>
            <a:off x="3108960" y="2633472"/>
            <a:ext cx="2743200" cy="164592"/>
          </a:xfrm>
          <a:prstGeom prst="rect">
            <a:avLst/>
          </a:prstGeom>
          <a:noFill/>
          <a:ln/>
        </p:spPr>
        <p:txBody>
          <a:bodyPr wrap="square" lIns="508" tIns="508" rIns="508" bIns="508" rtlCol="0" anchor="ctr">
            <a:normAutofit/>
          </a:bodyPr>
          <a:lstStyle/>
          <a:p>
            <a:pPr algn="ctr" indent="0" marL="0">
              <a:buNone/>
            </a:pPr>
            <a:r>
              <a:rPr lang="en-US" sz="1150" dirty="0">
                <a:solidFill>
                  <a:srgbClr val="1F497D"/>
                </a:solidFill>
                <a:latin typeface="Courier New" pitchFamily="34" charset="0"/>
                <a:ea typeface="Courier New" pitchFamily="34" charset="-122"/>
                <a:cs typeface="Courier New" pitchFamily="34" charset="-120"/>
              </a:rPr>
              <a:t>AuthorizedPrincipalsFile</a:t>
            </a:r>
            <a:endParaRPr lang="en-US" sz="1150" dirty="0"/>
          </a:p>
        </p:txBody>
      </p:sp>
      <p:sp>
        <p:nvSpPr>
          <p:cNvPr id="15" name="Text 12"/>
          <p:cNvSpPr txBox="1"/>
          <p:nvPr/>
        </p:nvSpPr>
        <p:spPr>
          <a:xfrm>
            <a:off x="6400800" y="2633472"/>
            <a:ext cx="4389120" cy="164592"/>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identities map to account?</a:t>
            </a:r>
            <a:endParaRPr lang="en-US" sz="1250" dirty="0"/>
          </a:p>
        </p:txBody>
      </p:sp>
      <p:sp>
        <p:nvSpPr>
          <p:cNvPr id="16" name="Shape 13"/>
          <p:cNvSpPr/>
          <p:nvPr/>
        </p:nvSpPr>
        <p:spPr>
          <a:xfrm>
            <a:off x="731520" y="3209544"/>
            <a:ext cx="2011680" cy="475488"/>
          </a:xfrm>
          <a:prstGeom prst="roundRect">
            <a:avLst/>
          </a:prstGeom>
          <a:solidFill>
            <a:srgbClr val="F79646"/>
          </a:solidFill>
          <a:ln w="12700">
            <a:solidFill>
              <a:srgbClr val="F79646"/>
            </a:solidFill>
            <a:prstDash val="solid"/>
          </a:ln>
        </p:spPr>
      </p:sp>
      <p:sp>
        <p:nvSpPr>
          <p:cNvPr id="17" name="Text 14"/>
          <p:cNvSpPr txBox="1"/>
          <p:nvPr/>
        </p:nvSpPr>
        <p:spPr>
          <a:xfrm>
            <a:off x="868680" y="3346704"/>
            <a:ext cx="173736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Host identity</a:t>
            </a:r>
            <a:endParaRPr lang="en-US" sz="1150" dirty="0"/>
          </a:p>
        </p:txBody>
      </p:sp>
      <p:sp>
        <p:nvSpPr>
          <p:cNvPr id="18" name="Shape 15"/>
          <p:cNvSpPr/>
          <p:nvPr/>
        </p:nvSpPr>
        <p:spPr>
          <a:xfrm>
            <a:off x="2971800" y="3209544"/>
            <a:ext cx="3017520" cy="475488"/>
          </a:xfrm>
          <a:prstGeom prst="roundRect">
            <a:avLst/>
          </a:prstGeom>
          <a:solidFill>
            <a:srgbClr val="FFFFFF"/>
          </a:solidFill>
          <a:ln w="12700">
            <a:solidFill>
              <a:srgbClr val="CBD5E1"/>
            </a:solidFill>
            <a:prstDash val="solid"/>
          </a:ln>
        </p:spPr>
      </p:sp>
      <p:sp>
        <p:nvSpPr>
          <p:cNvPr id="19" name="Text 16"/>
          <p:cNvSpPr txBox="1"/>
          <p:nvPr/>
        </p:nvSpPr>
        <p:spPr>
          <a:xfrm>
            <a:off x="3108960" y="3346704"/>
            <a:ext cx="2743200" cy="164592"/>
          </a:xfrm>
          <a:prstGeom prst="rect">
            <a:avLst/>
          </a:prstGeom>
          <a:noFill/>
          <a:ln/>
        </p:spPr>
        <p:txBody>
          <a:bodyPr wrap="square" lIns="508" tIns="508" rIns="508" bIns="508" rtlCol="0" anchor="ctr">
            <a:normAutofit/>
          </a:bodyPr>
          <a:lstStyle/>
          <a:p>
            <a:pPr algn="ctr" indent="0" marL="0">
              <a:buNone/>
            </a:pPr>
            <a:r>
              <a:rPr lang="en-US" sz="1150" dirty="0">
                <a:solidFill>
                  <a:srgbClr val="1F497D"/>
                </a:solidFill>
                <a:latin typeface="Courier New" pitchFamily="34" charset="0"/>
                <a:ea typeface="Courier New" pitchFamily="34" charset="-122"/>
                <a:cs typeface="Courier New" pitchFamily="34" charset="-120"/>
              </a:rPr>
              <a:t>HostCertificate</a:t>
            </a:r>
            <a:endParaRPr lang="en-US" sz="1150" dirty="0"/>
          </a:p>
        </p:txBody>
      </p:sp>
      <p:sp>
        <p:nvSpPr>
          <p:cNvPr id="20" name="Text 17"/>
          <p:cNvSpPr txBox="1"/>
          <p:nvPr/>
        </p:nvSpPr>
        <p:spPr>
          <a:xfrm>
            <a:off x="6400800" y="3346704"/>
            <a:ext cx="4389120" cy="164592"/>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certificate does server present?</a:t>
            </a:r>
            <a:endParaRPr lang="en-US" sz="1250" dirty="0"/>
          </a:p>
        </p:txBody>
      </p:sp>
      <p:sp>
        <p:nvSpPr>
          <p:cNvPr id="21" name="Shape 18"/>
          <p:cNvSpPr/>
          <p:nvPr/>
        </p:nvSpPr>
        <p:spPr>
          <a:xfrm>
            <a:off x="731520" y="3922776"/>
            <a:ext cx="2011680" cy="475488"/>
          </a:xfrm>
          <a:prstGeom prst="roundRect">
            <a:avLst/>
          </a:prstGeom>
          <a:solidFill>
            <a:srgbClr val="C0504D"/>
          </a:solidFill>
          <a:ln w="12700">
            <a:solidFill>
              <a:srgbClr val="C0504D"/>
            </a:solidFill>
            <a:prstDash val="solid"/>
          </a:ln>
        </p:spPr>
      </p:sp>
      <p:sp>
        <p:nvSpPr>
          <p:cNvPr id="22" name="Text 19"/>
          <p:cNvSpPr txBox="1"/>
          <p:nvPr/>
        </p:nvSpPr>
        <p:spPr>
          <a:xfrm>
            <a:off x="868680" y="4059936"/>
            <a:ext cx="173736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Revocation</a:t>
            </a:r>
            <a:endParaRPr lang="en-US" sz="1150" dirty="0"/>
          </a:p>
        </p:txBody>
      </p:sp>
      <p:sp>
        <p:nvSpPr>
          <p:cNvPr id="23" name="Shape 20"/>
          <p:cNvSpPr/>
          <p:nvPr/>
        </p:nvSpPr>
        <p:spPr>
          <a:xfrm>
            <a:off x="2971800" y="3922776"/>
            <a:ext cx="3017520" cy="475488"/>
          </a:xfrm>
          <a:prstGeom prst="roundRect">
            <a:avLst/>
          </a:prstGeom>
          <a:solidFill>
            <a:srgbClr val="FFFFFF"/>
          </a:solidFill>
          <a:ln w="12700">
            <a:solidFill>
              <a:srgbClr val="CBD5E1"/>
            </a:solidFill>
            <a:prstDash val="solid"/>
          </a:ln>
        </p:spPr>
      </p:sp>
      <p:sp>
        <p:nvSpPr>
          <p:cNvPr id="24" name="Text 21"/>
          <p:cNvSpPr txBox="1"/>
          <p:nvPr/>
        </p:nvSpPr>
        <p:spPr>
          <a:xfrm>
            <a:off x="3108960" y="4059936"/>
            <a:ext cx="2743200" cy="164592"/>
          </a:xfrm>
          <a:prstGeom prst="rect">
            <a:avLst/>
          </a:prstGeom>
          <a:noFill/>
          <a:ln/>
        </p:spPr>
        <p:txBody>
          <a:bodyPr wrap="square" lIns="508" tIns="508" rIns="508" bIns="508" rtlCol="0" anchor="ctr">
            <a:normAutofit/>
          </a:bodyPr>
          <a:lstStyle/>
          <a:p>
            <a:pPr algn="ctr" indent="0" marL="0">
              <a:buNone/>
            </a:pPr>
            <a:r>
              <a:rPr lang="en-US" sz="1150" dirty="0">
                <a:solidFill>
                  <a:srgbClr val="1F497D"/>
                </a:solidFill>
                <a:latin typeface="Courier New" pitchFamily="34" charset="0"/>
                <a:ea typeface="Courier New" pitchFamily="34" charset="-122"/>
                <a:cs typeface="Courier New" pitchFamily="34" charset="-120"/>
              </a:rPr>
              <a:t>RevokedKeys</a:t>
            </a:r>
            <a:endParaRPr lang="en-US" sz="1150" dirty="0"/>
          </a:p>
        </p:txBody>
      </p:sp>
      <p:sp>
        <p:nvSpPr>
          <p:cNvPr id="25" name="Text 22"/>
          <p:cNvSpPr txBox="1"/>
          <p:nvPr/>
        </p:nvSpPr>
        <p:spPr>
          <a:xfrm>
            <a:off x="6400800" y="4059936"/>
            <a:ext cx="4389120" cy="164592"/>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credentials are rejected?</a:t>
            </a:r>
            <a:endParaRPr lang="en-US" sz="1250" dirty="0"/>
          </a:p>
        </p:txBody>
      </p:sp>
      <p:sp>
        <p:nvSpPr>
          <p:cNvPr id="26" name="Shape 23"/>
          <p:cNvSpPr/>
          <p:nvPr/>
        </p:nvSpPr>
        <p:spPr>
          <a:xfrm>
            <a:off x="731520" y="4636008"/>
            <a:ext cx="2011680" cy="475488"/>
          </a:xfrm>
          <a:prstGeom prst="roundRect">
            <a:avLst/>
          </a:prstGeom>
          <a:solidFill>
            <a:srgbClr val="8064A2"/>
          </a:solidFill>
          <a:ln w="12700">
            <a:solidFill>
              <a:srgbClr val="8064A2"/>
            </a:solidFill>
            <a:prstDash val="solid"/>
          </a:ln>
        </p:spPr>
      </p:sp>
      <p:sp>
        <p:nvSpPr>
          <p:cNvPr id="27" name="Text 24"/>
          <p:cNvSpPr txBox="1"/>
          <p:nvPr/>
        </p:nvSpPr>
        <p:spPr>
          <a:xfrm>
            <a:off x="868680" y="4773168"/>
            <a:ext cx="173736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MFA stack</a:t>
            </a:r>
            <a:endParaRPr lang="en-US" sz="1150" dirty="0"/>
          </a:p>
        </p:txBody>
      </p:sp>
      <p:sp>
        <p:nvSpPr>
          <p:cNvPr id="28" name="Shape 25"/>
          <p:cNvSpPr/>
          <p:nvPr/>
        </p:nvSpPr>
        <p:spPr>
          <a:xfrm>
            <a:off x="2971800" y="4636008"/>
            <a:ext cx="3017520" cy="475488"/>
          </a:xfrm>
          <a:prstGeom prst="roundRect">
            <a:avLst/>
          </a:prstGeom>
          <a:solidFill>
            <a:srgbClr val="FFFFFF"/>
          </a:solidFill>
          <a:ln w="12700">
            <a:solidFill>
              <a:srgbClr val="CBD5E1"/>
            </a:solidFill>
            <a:prstDash val="solid"/>
          </a:ln>
        </p:spPr>
      </p:sp>
      <p:sp>
        <p:nvSpPr>
          <p:cNvPr id="29" name="Text 26"/>
          <p:cNvSpPr txBox="1"/>
          <p:nvPr/>
        </p:nvSpPr>
        <p:spPr>
          <a:xfrm>
            <a:off x="3108960" y="4773168"/>
            <a:ext cx="2743200" cy="164592"/>
          </a:xfrm>
          <a:prstGeom prst="rect">
            <a:avLst/>
          </a:prstGeom>
          <a:noFill/>
          <a:ln/>
        </p:spPr>
        <p:txBody>
          <a:bodyPr wrap="square" lIns="508" tIns="508" rIns="508" bIns="508" rtlCol="0" anchor="ctr">
            <a:normAutofit/>
          </a:bodyPr>
          <a:lstStyle/>
          <a:p>
            <a:pPr algn="ctr" indent="0" marL="0">
              <a:buNone/>
            </a:pPr>
            <a:r>
              <a:rPr lang="en-US" sz="1150" dirty="0">
                <a:solidFill>
                  <a:srgbClr val="1F497D"/>
                </a:solidFill>
                <a:latin typeface="Courier New" pitchFamily="34" charset="0"/>
                <a:ea typeface="Courier New" pitchFamily="34" charset="-122"/>
                <a:cs typeface="Courier New" pitchFamily="34" charset="-120"/>
              </a:rPr>
              <a:t>AuthenticationMethods</a:t>
            </a:r>
            <a:endParaRPr lang="en-US" sz="1150" dirty="0"/>
          </a:p>
        </p:txBody>
      </p:sp>
      <p:sp>
        <p:nvSpPr>
          <p:cNvPr id="30" name="Text 27"/>
          <p:cNvSpPr txBox="1"/>
          <p:nvPr/>
        </p:nvSpPr>
        <p:spPr>
          <a:xfrm>
            <a:off x="6400800" y="4773168"/>
            <a:ext cx="4389120" cy="164592"/>
          </a:xfrm>
          <a:prstGeom prst="rect">
            <a:avLst/>
          </a:prstGeom>
          <a:noFill/>
          <a:ln/>
        </p:spPr>
        <p:txBody>
          <a:bodyPr wrap="square" lIns="508" tIns="508" rIns="508" bIns="508" rtlCol="0" anchor="ctr">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factors must succeed?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DISCUSS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Design an SSH CA for a 200-server fleet</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Small groups choose trust boundaries and recovery actions.</a:t>
            </a:r>
            <a:endParaRPr lang="en-US" sz="1250" dirty="0"/>
          </a:p>
        </p:txBody>
      </p:sp>
      <p:sp>
        <p:nvSpPr>
          <p:cNvPr id="6" name="Shape 3"/>
          <p:cNvSpPr/>
          <p:nvPr/>
        </p:nvSpPr>
        <p:spPr>
          <a:xfrm>
            <a:off x="777240" y="1828800"/>
            <a:ext cx="4800600" cy="932688"/>
          </a:xfrm>
          <a:prstGeom prst="roundRect">
            <a:avLst/>
          </a:prstGeom>
          <a:solidFill>
            <a:srgbClr val="FFFFFF"/>
          </a:solidFill>
          <a:ln w="12700">
            <a:solidFill>
              <a:srgbClr val="4BACC6"/>
            </a:solidFill>
            <a:prstDash val="solid"/>
          </a:ln>
        </p:spPr>
      </p:sp>
      <p:sp>
        <p:nvSpPr>
          <p:cNvPr id="7" name="Shape 4"/>
          <p:cNvSpPr/>
          <p:nvPr/>
        </p:nvSpPr>
        <p:spPr>
          <a:xfrm>
            <a:off x="777240" y="1828800"/>
            <a:ext cx="100584" cy="932688"/>
          </a:xfrm>
          <a:prstGeom prst="rect">
            <a:avLst/>
          </a:prstGeom>
          <a:solidFill>
            <a:srgbClr val="4BACC6"/>
          </a:solidFill>
          <a:ln w="12700">
            <a:solidFill>
              <a:srgbClr val="4BACC6"/>
            </a:solidFill>
            <a:prstDash val="solid"/>
          </a:ln>
        </p:spPr>
      </p:sp>
      <p:sp>
        <p:nvSpPr>
          <p:cNvPr id="8" name="Text 5"/>
          <p:cNvSpPr txBox="1"/>
          <p:nvPr/>
        </p:nvSpPr>
        <p:spPr>
          <a:xfrm>
            <a:off x="1014984" y="193852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4BACC6"/>
                </a:solidFill>
                <a:latin typeface="Calibri" pitchFamily="34" charset="0"/>
                <a:ea typeface="Calibri" pitchFamily="34" charset="-122"/>
                <a:cs typeface="Calibri" pitchFamily="34" charset="-120"/>
              </a:rPr>
              <a:t>Who signs?</a:t>
            </a:r>
            <a:endParaRPr lang="en-US" sz="1400" dirty="0"/>
          </a:p>
        </p:txBody>
      </p:sp>
      <p:sp>
        <p:nvSpPr>
          <p:cNvPr id="9" name="Text 6"/>
          <p:cNvSpPr txBox="1"/>
          <p:nvPr/>
        </p:nvSpPr>
        <p:spPr>
          <a:xfrm>
            <a:off x="1014984" y="2240280"/>
            <a:ext cx="4453128" cy="42976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One CA or separate user and host CAs?</a:t>
            </a:r>
            <a:endParaRPr lang="en-US" sz="1250" dirty="0"/>
          </a:p>
        </p:txBody>
      </p:sp>
      <p:sp>
        <p:nvSpPr>
          <p:cNvPr id="10" name="Shape 7"/>
          <p:cNvSpPr/>
          <p:nvPr/>
        </p:nvSpPr>
        <p:spPr>
          <a:xfrm>
            <a:off x="6355080" y="1828800"/>
            <a:ext cx="4800600" cy="932688"/>
          </a:xfrm>
          <a:prstGeom prst="roundRect">
            <a:avLst/>
          </a:prstGeom>
          <a:solidFill>
            <a:srgbClr val="FFFFFF"/>
          </a:solidFill>
          <a:ln w="12700">
            <a:solidFill>
              <a:srgbClr val="4F81BD"/>
            </a:solidFill>
            <a:prstDash val="solid"/>
          </a:ln>
        </p:spPr>
      </p:sp>
      <p:sp>
        <p:nvSpPr>
          <p:cNvPr id="11" name="Shape 8"/>
          <p:cNvSpPr/>
          <p:nvPr/>
        </p:nvSpPr>
        <p:spPr>
          <a:xfrm>
            <a:off x="6355080" y="1828800"/>
            <a:ext cx="100584" cy="932688"/>
          </a:xfrm>
          <a:prstGeom prst="rect">
            <a:avLst/>
          </a:prstGeom>
          <a:solidFill>
            <a:srgbClr val="4F81BD"/>
          </a:solidFill>
          <a:ln w="12700">
            <a:solidFill>
              <a:srgbClr val="4F81BD"/>
            </a:solidFill>
            <a:prstDash val="solid"/>
          </a:ln>
        </p:spPr>
      </p:sp>
      <p:sp>
        <p:nvSpPr>
          <p:cNvPr id="12" name="Text 9"/>
          <p:cNvSpPr txBox="1"/>
          <p:nvPr/>
        </p:nvSpPr>
        <p:spPr>
          <a:xfrm>
            <a:off x="6592824" y="193852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Who trusts?</a:t>
            </a:r>
            <a:endParaRPr lang="en-US" sz="1400" dirty="0"/>
          </a:p>
        </p:txBody>
      </p:sp>
      <p:sp>
        <p:nvSpPr>
          <p:cNvPr id="13" name="Text 10"/>
          <p:cNvSpPr txBox="1"/>
          <p:nvPr/>
        </p:nvSpPr>
        <p:spPr>
          <a:xfrm>
            <a:off x="6592824" y="2240280"/>
            <a:ext cx="4453128" cy="42976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systems need which CA public keys?</a:t>
            </a:r>
            <a:endParaRPr lang="en-US" sz="1250" dirty="0"/>
          </a:p>
        </p:txBody>
      </p:sp>
      <p:sp>
        <p:nvSpPr>
          <p:cNvPr id="14" name="Shape 11"/>
          <p:cNvSpPr/>
          <p:nvPr/>
        </p:nvSpPr>
        <p:spPr>
          <a:xfrm>
            <a:off x="777240" y="3154680"/>
            <a:ext cx="4800600" cy="932688"/>
          </a:xfrm>
          <a:prstGeom prst="roundRect">
            <a:avLst/>
          </a:prstGeom>
          <a:solidFill>
            <a:srgbClr val="FFFFFF"/>
          </a:solidFill>
          <a:ln w="12700">
            <a:solidFill>
              <a:srgbClr val="F79646"/>
            </a:solidFill>
            <a:prstDash val="solid"/>
          </a:ln>
        </p:spPr>
      </p:sp>
      <p:sp>
        <p:nvSpPr>
          <p:cNvPr id="15" name="Shape 12"/>
          <p:cNvSpPr/>
          <p:nvPr/>
        </p:nvSpPr>
        <p:spPr>
          <a:xfrm>
            <a:off x="777240" y="3154680"/>
            <a:ext cx="100584" cy="932688"/>
          </a:xfrm>
          <a:prstGeom prst="rect">
            <a:avLst/>
          </a:prstGeom>
          <a:solidFill>
            <a:srgbClr val="F79646"/>
          </a:solidFill>
          <a:ln w="12700">
            <a:solidFill>
              <a:srgbClr val="F79646"/>
            </a:solidFill>
            <a:prstDash val="solid"/>
          </a:ln>
        </p:spPr>
      </p:sp>
      <p:sp>
        <p:nvSpPr>
          <p:cNvPr id="16" name="Text 13"/>
          <p:cNvSpPr txBox="1"/>
          <p:nvPr/>
        </p:nvSpPr>
        <p:spPr>
          <a:xfrm>
            <a:off x="1014984" y="326440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How long?</a:t>
            </a:r>
            <a:endParaRPr lang="en-US" sz="1400" dirty="0"/>
          </a:p>
        </p:txBody>
      </p:sp>
      <p:sp>
        <p:nvSpPr>
          <p:cNvPr id="17" name="Text 14"/>
          <p:cNvSpPr txBox="1"/>
          <p:nvPr/>
        </p:nvSpPr>
        <p:spPr>
          <a:xfrm>
            <a:off x="1014984" y="3566160"/>
            <a:ext cx="4453128" cy="42976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is the default credential lifetime?</a:t>
            </a:r>
            <a:endParaRPr lang="en-US" sz="1250" dirty="0"/>
          </a:p>
        </p:txBody>
      </p:sp>
      <p:sp>
        <p:nvSpPr>
          <p:cNvPr id="18" name="Shape 15"/>
          <p:cNvSpPr/>
          <p:nvPr/>
        </p:nvSpPr>
        <p:spPr>
          <a:xfrm>
            <a:off x="6355080" y="3154680"/>
            <a:ext cx="4800600" cy="932688"/>
          </a:xfrm>
          <a:prstGeom prst="roundRect">
            <a:avLst/>
          </a:prstGeom>
          <a:solidFill>
            <a:srgbClr val="FFFFFF"/>
          </a:solidFill>
          <a:ln w="12700">
            <a:solidFill>
              <a:srgbClr val="C0504D"/>
            </a:solidFill>
            <a:prstDash val="solid"/>
          </a:ln>
        </p:spPr>
      </p:sp>
      <p:sp>
        <p:nvSpPr>
          <p:cNvPr id="19" name="Shape 16"/>
          <p:cNvSpPr/>
          <p:nvPr/>
        </p:nvSpPr>
        <p:spPr>
          <a:xfrm>
            <a:off x="6355080" y="3154680"/>
            <a:ext cx="100584" cy="932688"/>
          </a:xfrm>
          <a:prstGeom prst="rect">
            <a:avLst/>
          </a:prstGeom>
          <a:solidFill>
            <a:srgbClr val="C0504D"/>
          </a:solidFill>
          <a:ln w="12700">
            <a:solidFill>
              <a:srgbClr val="C0504D"/>
            </a:solidFill>
            <a:prstDash val="solid"/>
          </a:ln>
        </p:spPr>
      </p:sp>
      <p:sp>
        <p:nvSpPr>
          <p:cNvPr id="20" name="Text 17"/>
          <p:cNvSpPr txBox="1"/>
          <p:nvPr/>
        </p:nvSpPr>
        <p:spPr>
          <a:xfrm>
            <a:off x="6592824" y="326440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How recover?</a:t>
            </a:r>
            <a:endParaRPr lang="en-US" sz="1400" dirty="0"/>
          </a:p>
        </p:txBody>
      </p:sp>
      <p:sp>
        <p:nvSpPr>
          <p:cNvPr id="21" name="Text 18"/>
          <p:cNvSpPr txBox="1"/>
          <p:nvPr/>
        </p:nvSpPr>
        <p:spPr>
          <a:xfrm>
            <a:off x="6592824" y="3566160"/>
            <a:ext cx="4453128" cy="42976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is the emergency path if a CA key leaks?</a:t>
            </a:r>
            <a:endParaRPr lang="en-US" sz="1250" dirty="0"/>
          </a:p>
        </p:txBody>
      </p:sp>
      <p:sp>
        <p:nvSpPr>
          <p:cNvPr id="22" name="Shape 19"/>
          <p:cNvSpPr/>
          <p:nvPr/>
        </p:nvSpPr>
        <p:spPr>
          <a:xfrm>
            <a:off x="3886200" y="5029200"/>
            <a:ext cx="4389120" cy="274320"/>
          </a:xfrm>
          <a:prstGeom prst="roundRect">
            <a:avLst/>
          </a:prstGeom>
          <a:solidFill>
            <a:srgbClr val="F79646"/>
          </a:solidFill>
          <a:ln w="12700">
            <a:solidFill>
              <a:srgbClr val="F79646"/>
            </a:solidFill>
            <a:prstDash val="solid"/>
          </a:ln>
        </p:spPr>
      </p:sp>
      <p:sp>
        <p:nvSpPr>
          <p:cNvPr id="23" name="Text 20"/>
          <p:cNvSpPr txBox="1"/>
          <p:nvPr/>
        </p:nvSpPr>
        <p:spPr>
          <a:xfrm>
            <a:off x="3959352" y="5047488"/>
            <a:ext cx="424281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GROUP DISCUSSION · 5 MIN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DEMO</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Inspect the certificate before trusting it</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Read the fields that drive the access decision.</a:t>
            </a:r>
            <a:endParaRPr lang="en-US" sz="1250" dirty="0"/>
          </a:p>
        </p:txBody>
      </p:sp>
      <p:sp>
        <p:nvSpPr>
          <p:cNvPr id="6" name="Shape 3"/>
          <p:cNvSpPr/>
          <p:nvPr/>
        </p:nvSpPr>
        <p:spPr>
          <a:xfrm>
            <a:off x="731520" y="1783080"/>
            <a:ext cx="6583680" cy="3520440"/>
          </a:xfrm>
          <a:prstGeom prst="roundRect">
            <a:avLst/>
          </a:prstGeom>
          <a:solidFill>
            <a:srgbClr val="16202C"/>
          </a:solidFill>
          <a:ln w="12700">
            <a:solidFill>
              <a:srgbClr val="16202C"/>
            </a:solidFill>
            <a:prstDash val="solid"/>
          </a:ln>
        </p:spPr>
      </p:sp>
      <p:sp>
        <p:nvSpPr>
          <p:cNvPr id="7" name="Shape 4"/>
          <p:cNvSpPr/>
          <p:nvPr/>
        </p:nvSpPr>
        <p:spPr>
          <a:xfrm>
            <a:off x="731520" y="1783080"/>
            <a:ext cx="91440" cy="3520440"/>
          </a:xfrm>
          <a:prstGeom prst="rect">
            <a:avLst/>
          </a:prstGeom>
          <a:solidFill>
            <a:srgbClr val="4BACC6"/>
          </a:solidFill>
          <a:ln w="12700">
            <a:solidFill>
              <a:srgbClr val="4BACC6"/>
            </a:solidFill>
            <a:prstDash val="solid"/>
          </a:ln>
        </p:spPr>
      </p:sp>
      <p:sp>
        <p:nvSpPr>
          <p:cNvPr id="8" name="Text 5"/>
          <p:cNvSpPr txBox="1"/>
          <p:nvPr/>
        </p:nvSpPr>
        <p:spPr>
          <a:xfrm>
            <a:off x="932688" y="1892808"/>
            <a:ext cx="6272784" cy="331927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ssh-keygen -L -f alice_key-cert.pub</a:t>
            </a:r>
            <a:endParaRPr lang="en-US" sz="1100" dirty="0"/>
          </a:p>
          <a:p>
            <a:pPr algn="l" indent="0" marL="0">
              <a:buNone/>
            </a:pP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Type: ssh-ed25519-cert-v01@openssh.com</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Key ID: alice@cyber444</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Serial: 42</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Valid: from 2026-10-01T00:00:00 to 2026-10-31T23:59:59</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Principals: alice</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Critical Options: source-address 192.168.56.0/24</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Extensions: permit-pty</a:t>
            </a:r>
            <a:endParaRPr lang="en-US" sz="1100" dirty="0"/>
          </a:p>
        </p:txBody>
      </p:sp>
      <p:sp>
        <p:nvSpPr>
          <p:cNvPr id="9" name="Shape 6"/>
          <p:cNvSpPr/>
          <p:nvPr/>
        </p:nvSpPr>
        <p:spPr>
          <a:xfrm>
            <a:off x="7772400" y="1920240"/>
            <a:ext cx="3246120" cy="1828800"/>
          </a:xfrm>
          <a:prstGeom prst="roundRect">
            <a:avLst/>
          </a:prstGeom>
          <a:solidFill>
            <a:srgbClr val="FFFFFF"/>
          </a:solidFill>
          <a:ln w="12700">
            <a:solidFill>
              <a:srgbClr val="CBD5E1"/>
            </a:solidFill>
            <a:prstDash val="solid"/>
          </a:ln>
        </p:spPr>
      </p:sp>
      <p:sp>
        <p:nvSpPr>
          <p:cNvPr id="10" name="Shape 7"/>
          <p:cNvSpPr/>
          <p:nvPr/>
        </p:nvSpPr>
        <p:spPr>
          <a:xfrm>
            <a:off x="7772400" y="1920240"/>
            <a:ext cx="3246120" cy="292608"/>
          </a:xfrm>
          <a:prstGeom prst="roundRect">
            <a:avLst/>
          </a:prstGeom>
          <a:solidFill>
            <a:srgbClr val="F79646"/>
          </a:solidFill>
          <a:ln w="12700">
            <a:solidFill>
              <a:srgbClr val="F79646"/>
            </a:solidFill>
            <a:prstDash val="solid"/>
          </a:ln>
        </p:spPr>
      </p:sp>
      <p:sp>
        <p:nvSpPr>
          <p:cNvPr id="11" name="Text 8"/>
          <p:cNvSpPr txBox="1"/>
          <p:nvPr/>
        </p:nvSpPr>
        <p:spPr>
          <a:xfrm>
            <a:off x="7882128" y="1956816"/>
            <a:ext cx="302666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ASK</a:t>
            </a:r>
            <a:endParaRPr lang="en-US" sz="1100" dirty="0"/>
          </a:p>
        </p:txBody>
      </p:sp>
      <p:sp>
        <p:nvSpPr>
          <p:cNvPr id="12" name="Text 9"/>
          <p:cNvSpPr txBox="1"/>
          <p:nvPr/>
        </p:nvSpPr>
        <p:spPr>
          <a:xfrm>
            <a:off x="7882128" y="2331720"/>
            <a:ext cx="302666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is identity?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What is scope?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What is time?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What is the enforcement point?</a:t>
            </a:r>
            <a:endParaRPr lang="en-US" sz="1300" dirty="0"/>
          </a:p>
        </p:txBody>
      </p:sp>
      <p:sp>
        <p:nvSpPr>
          <p:cNvPr id="13" name="Shape 10"/>
          <p:cNvSpPr/>
          <p:nvPr/>
        </p:nvSpPr>
        <p:spPr>
          <a:xfrm>
            <a:off x="7772400" y="4160520"/>
            <a:ext cx="3246120" cy="1051560"/>
          </a:xfrm>
          <a:prstGeom prst="roundRect">
            <a:avLst/>
          </a:prstGeom>
          <a:solidFill>
            <a:srgbClr val="FFFFFF"/>
          </a:solidFill>
          <a:ln w="12700">
            <a:solidFill>
              <a:srgbClr val="1F497D"/>
            </a:solidFill>
            <a:prstDash val="solid"/>
          </a:ln>
        </p:spPr>
      </p:sp>
      <p:sp>
        <p:nvSpPr>
          <p:cNvPr id="14" name="Shape 11"/>
          <p:cNvSpPr/>
          <p:nvPr/>
        </p:nvSpPr>
        <p:spPr>
          <a:xfrm>
            <a:off x="7772400" y="4160520"/>
            <a:ext cx="100584" cy="1051560"/>
          </a:xfrm>
          <a:prstGeom prst="rect">
            <a:avLst/>
          </a:prstGeom>
          <a:solidFill>
            <a:srgbClr val="1F497D"/>
          </a:solidFill>
          <a:ln w="12700">
            <a:solidFill>
              <a:srgbClr val="1F497D"/>
            </a:solidFill>
            <a:prstDash val="solid"/>
          </a:ln>
        </p:spPr>
      </p:sp>
      <p:sp>
        <p:nvSpPr>
          <p:cNvPr id="15" name="Text 12"/>
          <p:cNvSpPr txBox="1"/>
          <p:nvPr/>
        </p:nvSpPr>
        <p:spPr>
          <a:xfrm>
            <a:off x="8010144" y="4270248"/>
            <a:ext cx="28986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Demo habit</a:t>
            </a:r>
            <a:endParaRPr lang="en-US" sz="1400" dirty="0"/>
          </a:p>
        </p:txBody>
      </p:sp>
      <p:sp>
        <p:nvSpPr>
          <p:cNvPr id="16" name="Text 13"/>
          <p:cNvSpPr txBox="1"/>
          <p:nvPr/>
        </p:nvSpPr>
        <p:spPr>
          <a:xfrm>
            <a:off x="8010144" y="4572000"/>
            <a:ext cx="2898648" cy="54864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Never diagnose a certificate from its filename alone.</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MEDIA SLOT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TOFU is fine until the first connection is wrong</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Suggested search: “SSH known hosts warning meme” or use a short TOFU explainer reel.</a:t>
            </a:r>
            <a:endParaRPr lang="en-US" sz="1250" dirty="0"/>
          </a:p>
        </p:txBody>
      </p:sp>
      <p:sp>
        <p:nvSpPr>
          <p:cNvPr id="6" name="Shape 3"/>
          <p:cNvSpPr/>
          <p:nvPr/>
        </p:nvSpPr>
        <p:spPr>
          <a:xfrm>
            <a:off x="914400" y="1828800"/>
            <a:ext cx="10241280" cy="3246120"/>
          </a:xfrm>
          <a:prstGeom prst="roundRect">
            <a:avLst/>
          </a:prstGeom>
          <a:solidFill>
            <a:srgbClr val="EEF2F7"/>
          </a:solidFill>
          <a:ln w="12700">
            <a:solidFill>
              <a:srgbClr val="F79646"/>
            </a:solidFill>
            <a:prstDash val="solid"/>
          </a:ln>
        </p:spPr>
      </p:sp>
      <p:sp>
        <p:nvSpPr>
          <p:cNvPr id="7" name="Shape 4"/>
          <p:cNvSpPr/>
          <p:nvPr/>
        </p:nvSpPr>
        <p:spPr>
          <a:xfrm>
            <a:off x="1024128" y="1938528"/>
            <a:ext cx="10021824" cy="3026664"/>
          </a:xfrm>
          <a:prstGeom prst="line">
            <a:avLst/>
          </a:prstGeom>
          <a:noFill/>
          <a:ln w="15240">
            <a:solidFill>
              <a:srgbClr val="D8A36A"/>
            </a:solidFill>
            <a:prstDash val="solid"/>
            <a:headEnd type="none"/>
            <a:tailEnd type="none"/>
          </a:ln>
        </p:spPr>
      </p:sp>
      <p:sp>
        <p:nvSpPr>
          <p:cNvPr id="8" name="Shape 5"/>
          <p:cNvSpPr/>
          <p:nvPr/>
        </p:nvSpPr>
        <p:spPr>
          <a:xfrm>
            <a:off x="11045952" y="1938528"/>
            <a:ext cx="-10021824" cy="3026664"/>
          </a:xfrm>
          <a:prstGeom prst="line">
            <a:avLst/>
          </a:prstGeom>
          <a:noFill/>
          <a:ln w="15240">
            <a:solidFill>
              <a:srgbClr val="D8A36A"/>
            </a:solidFill>
            <a:prstDash val="solid"/>
            <a:headEnd type="none"/>
            <a:tailEnd type="none"/>
          </a:ln>
        </p:spPr>
      </p:sp>
      <p:sp>
        <p:nvSpPr>
          <p:cNvPr id="9" name="Shape 6"/>
          <p:cNvSpPr/>
          <p:nvPr/>
        </p:nvSpPr>
        <p:spPr>
          <a:xfrm>
            <a:off x="5376672" y="2075688"/>
            <a:ext cx="1316736" cy="274320"/>
          </a:xfrm>
          <a:prstGeom prst="roundRect">
            <a:avLst/>
          </a:prstGeom>
          <a:solidFill>
            <a:srgbClr val="F79646"/>
          </a:solidFill>
          <a:ln w="12700">
            <a:solidFill>
              <a:srgbClr val="F79646"/>
            </a:solidFill>
            <a:prstDash val="solid"/>
          </a:ln>
        </p:spPr>
      </p:sp>
      <p:sp>
        <p:nvSpPr>
          <p:cNvPr id="10" name="Text 7"/>
          <p:cNvSpPr txBox="1"/>
          <p:nvPr/>
        </p:nvSpPr>
        <p:spPr>
          <a:xfrm>
            <a:off x="5449824" y="2093976"/>
            <a:ext cx="1170432"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MEDIA SLOT</a:t>
            </a:r>
            <a:endParaRPr lang="en-US" sz="1000" dirty="0"/>
          </a:p>
        </p:txBody>
      </p:sp>
      <p:sp>
        <p:nvSpPr>
          <p:cNvPr id="11" name="Text 8"/>
          <p:cNvSpPr txBox="1"/>
          <p:nvPr/>
        </p:nvSpPr>
        <p:spPr>
          <a:xfrm>
            <a:off x="1234440" y="2743200"/>
            <a:ext cx="9601200" cy="457200"/>
          </a:xfrm>
          <a:prstGeom prst="rect">
            <a:avLst/>
          </a:prstGeom>
          <a:noFill/>
          <a:ln/>
        </p:spPr>
        <p:txBody>
          <a:bodyPr wrap="square" lIns="508" tIns="508" rIns="508" bIns="508" rtlCol="0" anchor="ctr">
            <a:normAutofit/>
          </a:bodyPr>
          <a:lstStyle/>
          <a:p>
            <a:pPr algn="ctr" indent="0" marL="0">
              <a:buNone/>
            </a:pPr>
            <a:r>
              <a:rPr lang="en-US" sz="2200" b="1" dirty="0">
                <a:solidFill>
                  <a:srgbClr val="1F497D"/>
                </a:solidFill>
                <a:latin typeface="Calibri" pitchFamily="34" charset="0"/>
                <a:ea typeface="Calibri" pitchFamily="34" charset="-122"/>
                <a:cs typeface="Calibri" pitchFamily="34" charset="-120"/>
              </a:rPr>
              <a:t>FIRST CONNECTION</a:t>
            </a:r>
            <a:endParaRPr lang="en-US" sz="2200" dirty="0"/>
          </a:p>
        </p:txBody>
      </p:sp>
      <p:sp>
        <p:nvSpPr>
          <p:cNvPr id="12" name="Text 9"/>
          <p:cNvSpPr txBox="1"/>
          <p:nvPr/>
        </p:nvSpPr>
        <p:spPr>
          <a:xfrm>
            <a:off x="1325880" y="3401568"/>
            <a:ext cx="9418320" cy="566928"/>
          </a:xfrm>
          <a:prstGeom prst="rect">
            <a:avLst/>
          </a:prstGeom>
          <a:noFill/>
          <a:ln/>
        </p:spPr>
        <p:txBody>
          <a:bodyPr wrap="square" lIns="508" tIns="508" rIns="508" bIns="508" rtlCol="0" anchor="ctr">
            <a:normAutofit/>
          </a:bodyPr>
          <a:lstStyle/>
          <a:p>
            <a:pPr algn="ctr" indent="0" marL="0">
              <a:buNone/>
            </a:pPr>
            <a:r>
              <a:rPr lang="en-US" sz="1300" i="1" dirty="0">
                <a:solidFill>
                  <a:srgbClr val="64748B"/>
                </a:solidFill>
                <a:latin typeface="Calibri" pitchFamily="34" charset="0"/>
                <a:ea typeface="Calibri" pitchFamily="34" charset="-122"/>
                <a:cs typeface="Calibri" pitchFamily="34" charset="-120"/>
              </a:rPr>
              <a:t>Caption: “Did you verify the fingerprint, or did you just click yes?”</a:t>
            </a:r>
            <a:endParaRPr lang="en-US" sz="13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PAM</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PAM is a decision pipeline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Pluggable Authentication Modules let the service compose authentication rules.</a:t>
            </a:r>
            <a:endParaRPr lang="en-US" sz="1250" dirty="0"/>
          </a:p>
        </p:txBody>
      </p:sp>
      <p:sp>
        <p:nvSpPr>
          <p:cNvPr id="6" name="Shape 3"/>
          <p:cNvSpPr/>
          <p:nvPr/>
        </p:nvSpPr>
        <p:spPr>
          <a:xfrm>
            <a:off x="594360" y="2057400"/>
            <a:ext cx="2057400" cy="1828800"/>
          </a:xfrm>
          <a:prstGeom prst="roundRect">
            <a:avLst/>
          </a:prstGeom>
          <a:solidFill>
            <a:srgbClr val="FFFFFF"/>
          </a:solidFill>
          <a:ln w="12700">
            <a:solidFill>
              <a:srgbClr val="CBD5E1"/>
            </a:solidFill>
            <a:prstDash val="solid"/>
          </a:ln>
        </p:spPr>
      </p:sp>
      <p:sp>
        <p:nvSpPr>
          <p:cNvPr id="7" name="Shape 4"/>
          <p:cNvSpPr/>
          <p:nvPr/>
        </p:nvSpPr>
        <p:spPr>
          <a:xfrm>
            <a:off x="594360" y="205740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a:t>
            </a:r>
            <a:endParaRPr lang="en-US" sz="1100" dirty="0"/>
          </a:p>
        </p:txBody>
      </p:sp>
      <p:sp>
        <p:nvSpPr>
          <p:cNvPr id="9" name="Text 6"/>
          <p:cNvSpPr txBox="1"/>
          <p:nvPr/>
        </p:nvSpPr>
        <p:spPr>
          <a:xfrm>
            <a:off x="704088"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prove identity</a:t>
            </a:r>
            <a:endParaRPr lang="en-US" sz="1300" dirty="0"/>
          </a:p>
        </p:txBody>
      </p:sp>
      <p:sp>
        <p:nvSpPr>
          <p:cNvPr id="10" name="Shape 7"/>
          <p:cNvSpPr/>
          <p:nvPr/>
        </p:nvSpPr>
        <p:spPr>
          <a:xfrm>
            <a:off x="2770632" y="2953512"/>
            <a:ext cx="91440" cy="0"/>
          </a:xfrm>
          <a:prstGeom prst="line">
            <a:avLst/>
          </a:prstGeom>
          <a:noFill/>
          <a:ln w="25400">
            <a:solidFill>
              <a:srgbClr val="94A3B8"/>
            </a:solidFill>
            <a:prstDash val="solid"/>
            <a:headEnd type="none"/>
            <a:tailEnd type="triangle"/>
          </a:ln>
        </p:spPr>
      </p:sp>
      <p:sp>
        <p:nvSpPr>
          <p:cNvPr id="11" name="Shape 8"/>
          <p:cNvSpPr/>
          <p:nvPr/>
        </p:nvSpPr>
        <p:spPr>
          <a:xfrm>
            <a:off x="2898648" y="2057400"/>
            <a:ext cx="2057400" cy="1828800"/>
          </a:xfrm>
          <a:prstGeom prst="roundRect">
            <a:avLst/>
          </a:prstGeom>
          <a:solidFill>
            <a:srgbClr val="FFFFFF"/>
          </a:solidFill>
          <a:ln w="12700">
            <a:solidFill>
              <a:srgbClr val="CBD5E1"/>
            </a:solidFill>
            <a:prstDash val="solid"/>
          </a:ln>
        </p:spPr>
      </p:sp>
      <p:sp>
        <p:nvSpPr>
          <p:cNvPr id="12" name="Shape 9"/>
          <p:cNvSpPr/>
          <p:nvPr/>
        </p:nvSpPr>
        <p:spPr>
          <a:xfrm>
            <a:off x="2898648" y="2057400"/>
            <a:ext cx="2057400" cy="292608"/>
          </a:xfrm>
          <a:prstGeom prst="roundRect">
            <a:avLst/>
          </a:prstGeom>
          <a:solidFill>
            <a:srgbClr val="4F81BD"/>
          </a:solidFill>
          <a:ln w="12700">
            <a:solidFill>
              <a:srgbClr val="4F81BD"/>
            </a:solidFill>
            <a:prstDash val="solid"/>
          </a:ln>
        </p:spPr>
      </p:sp>
      <p:sp>
        <p:nvSpPr>
          <p:cNvPr id="13" name="Text 10"/>
          <p:cNvSpPr txBox="1"/>
          <p:nvPr/>
        </p:nvSpPr>
        <p:spPr>
          <a:xfrm>
            <a:off x="3008376"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ACCOUNT</a:t>
            </a:r>
            <a:endParaRPr lang="en-US" sz="1100" dirty="0"/>
          </a:p>
        </p:txBody>
      </p:sp>
      <p:sp>
        <p:nvSpPr>
          <p:cNvPr id="14" name="Text 11"/>
          <p:cNvSpPr txBox="1"/>
          <p:nvPr/>
        </p:nvSpPr>
        <p:spPr>
          <a:xfrm>
            <a:off x="3008376"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is account allowed?</a:t>
            </a:r>
            <a:endParaRPr lang="en-US" sz="1300" dirty="0"/>
          </a:p>
        </p:txBody>
      </p:sp>
      <p:sp>
        <p:nvSpPr>
          <p:cNvPr id="15" name="Shape 12"/>
          <p:cNvSpPr/>
          <p:nvPr/>
        </p:nvSpPr>
        <p:spPr>
          <a:xfrm>
            <a:off x="5074920" y="2953512"/>
            <a:ext cx="91440" cy="0"/>
          </a:xfrm>
          <a:prstGeom prst="line">
            <a:avLst/>
          </a:prstGeom>
          <a:noFill/>
          <a:ln w="25400">
            <a:solidFill>
              <a:srgbClr val="94A3B8"/>
            </a:solidFill>
            <a:prstDash val="solid"/>
            <a:headEnd type="none"/>
            <a:tailEnd type="triangle"/>
          </a:ln>
        </p:spPr>
      </p:sp>
      <p:sp>
        <p:nvSpPr>
          <p:cNvPr id="16" name="Shape 13"/>
          <p:cNvSpPr/>
          <p:nvPr/>
        </p:nvSpPr>
        <p:spPr>
          <a:xfrm>
            <a:off x="5202936" y="2057400"/>
            <a:ext cx="2057400" cy="1828800"/>
          </a:xfrm>
          <a:prstGeom prst="roundRect">
            <a:avLst/>
          </a:prstGeom>
          <a:solidFill>
            <a:srgbClr val="FFFFFF"/>
          </a:solidFill>
          <a:ln w="12700">
            <a:solidFill>
              <a:srgbClr val="CBD5E1"/>
            </a:solidFill>
            <a:prstDash val="solid"/>
          </a:ln>
        </p:spPr>
      </p:sp>
      <p:sp>
        <p:nvSpPr>
          <p:cNvPr id="17" name="Shape 14"/>
          <p:cNvSpPr/>
          <p:nvPr/>
        </p:nvSpPr>
        <p:spPr>
          <a:xfrm>
            <a:off x="5202936" y="2057400"/>
            <a:ext cx="2057400" cy="292608"/>
          </a:xfrm>
          <a:prstGeom prst="roundRect">
            <a:avLst/>
          </a:prstGeom>
          <a:solidFill>
            <a:srgbClr val="F79646"/>
          </a:solidFill>
          <a:ln w="12700">
            <a:solidFill>
              <a:srgbClr val="F79646"/>
            </a:solidFill>
            <a:prstDash val="solid"/>
          </a:ln>
        </p:spPr>
      </p:sp>
      <p:sp>
        <p:nvSpPr>
          <p:cNvPr id="18" name="Text 15"/>
          <p:cNvSpPr txBox="1"/>
          <p:nvPr/>
        </p:nvSpPr>
        <p:spPr>
          <a:xfrm>
            <a:off x="5312664"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PASSWORD</a:t>
            </a:r>
            <a:endParaRPr lang="en-US" sz="1100" dirty="0"/>
          </a:p>
        </p:txBody>
      </p:sp>
      <p:sp>
        <p:nvSpPr>
          <p:cNvPr id="19" name="Text 16"/>
          <p:cNvSpPr txBox="1"/>
          <p:nvPr/>
        </p:nvSpPr>
        <p:spPr>
          <a:xfrm>
            <a:off x="5312664"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is secret current?</a:t>
            </a:r>
            <a:endParaRPr lang="en-US" sz="1300" dirty="0"/>
          </a:p>
        </p:txBody>
      </p:sp>
      <p:sp>
        <p:nvSpPr>
          <p:cNvPr id="20" name="Shape 17"/>
          <p:cNvSpPr/>
          <p:nvPr/>
        </p:nvSpPr>
        <p:spPr>
          <a:xfrm>
            <a:off x="7379208" y="2953512"/>
            <a:ext cx="91440" cy="0"/>
          </a:xfrm>
          <a:prstGeom prst="line">
            <a:avLst/>
          </a:prstGeom>
          <a:noFill/>
          <a:ln w="25400">
            <a:solidFill>
              <a:srgbClr val="94A3B8"/>
            </a:solidFill>
            <a:prstDash val="solid"/>
            <a:headEnd type="none"/>
            <a:tailEnd type="triangle"/>
          </a:ln>
        </p:spPr>
      </p:sp>
      <p:sp>
        <p:nvSpPr>
          <p:cNvPr id="21" name="Shape 18"/>
          <p:cNvSpPr/>
          <p:nvPr/>
        </p:nvSpPr>
        <p:spPr>
          <a:xfrm>
            <a:off x="7507224" y="2057400"/>
            <a:ext cx="2057400" cy="1828800"/>
          </a:xfrm>
          <a:prstGeom prst="roundRect">
            <a:avLst/>
          </a:prstGeom>
          <a:solidFill>
            <a:srgbClr val="FFFFFF"/>
          </a:solidFill>
          <a:ln w="12700">
            <a:solidFill>
              <a:srgbClr val="CBD5E1"/>
            </a:solidFill>
            <a:prstDash val="solid"/>
          </a:ln>
        </p:spPr>
      </p:sp>
      <p:sp>
        <p:nvSpPr>
          <p:cNvPr id="22" name="Shape 19"/>
          <p:cNvSpPr/>
          <p:nvPr/>
        </p:nvSpPr>
        <p:spPr>
          <a:xfrm>
            <a:off x="7507224" y="2057400"/>
            <a:ext cx="2057400" cy="292608"/>
          </a:xfrm>
          <a:prstGeom prst="roundRect">
            <a:avLst/>
          </a:prstGeom>
          <a:solidFill>
            <a:srgbClr val="8064A2"/>
          </a:solidFill>
          <a:ln w="12700">
            <a:solidFill>
              <a:srgbClr val="8064A2"/>
            </a:solidFill>
            <a:prstDash val="solid"/>
          </a:ln>
        </p:spPr>
      </p:sp>
      <p:sp>
        <p:nvSpPr>
          <p:cNvPr id="23" name="Text 20"/>
          <p:cNvSpPr txBox="1"/>
          <p:nvPr/>
        </p:nvSpPr>
        <p:spPr>
          <a:xfrm>
            <a:off x="7616952"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24" name="Text 21"/>
          <p:cNvSpPr txBox="1"/>
          <p:nvPr/>
        </p:nvSpPr>
        <p:spPr>
          <a:xfrm>
            <a:off x="7616952"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starts after auth?</a:t>
            </a:r>
            <a:endParaRPr lang="en-US" sz="1300" dirty="0"/>
          </a:p>
        </p:txBody>
      </p:sp>
      <p:sp>
        <p:nvSpPr>
          <p:cNvPr id="25" name="Shape 22"/>
          <p:cNvSpPr/>
          <p:nvPr/>
        </p:nvSpPr>
        <p:spPr>
          <a:xfrm>
            <a:off x="9683496" y="2953512"/>
            <a:ext cx="91440" cy="0"/>
          </a:xfrm>
          <a:prstGeom prst="line">
            <a:avLst/>
          </a:prstGeom>
          <a:noFill/>
          <a:ln w="25400">
            <a:solidFill>
              <a:srgbClr val="94A3B8"/>
            </a:solidFill>
            <a:prstDash val="solid"/>
            <a:headEnd type="none"/>
            <a:tailEnd type="triangle"/>
          </a:ln>
        </p:spPr>
      </p:sp>
      <p:sp>
        <p:nvSpPr>
          <p:cNvPr id="26" name="Shape 23"/>
          <p:cNvSpPr/>
          <p:nvPr/>
        </p:nvSpPr>
        <p:spPr>
          <a:xfrm>
            <a:off x="9811512" y="2057400"/>
            <a:ext cx="2057400" cy="1828800"/>
          </a:xfrm>
          <a:prstGeom prst="roundRect">
            <a:avLst/>
          </a:prstGeom>
          <a:solidFill>
            <a:srgbClr val="FFFFFF"/>
          </a:solidFill>
          <a:ln w="12700">
            <a:solidFill>
              <a:srgbClr val="CBD5E1"/>
            </a:solidFill>
            <a:prstDash val="solid"/>
          </a:ln>
        </p:spPr>
      </p:sp>
      <p:sp>
        <p:nvSpPr>
          <p:cNvPr id="27" name="Shape 24"/>
          <p:cNvSpPr/>
          <p:nvPr/>
        </p:nvSpPr>
        <p:spPr>
          <a:xfrm>
            <a:off x="9811512" y="2057400"/>
            <a:ext cx="2057400" cy="292608"/>
          </a:xfrm>
          <a:prstGeom prst="roundRect">
            <a:avLst/>
          </a:prstGeom>
          <a:solidFill>
            <a:srgbClr val="70AD47"/>
          </a:solidFill>
          <a:ln w="12700">
            <a:solidFill>
              <a:srgbClr val="70AD47"/>
            </a:solidFill>
            <a:prstDash val="solid"/>
          </a:ln>
        </p:spPr>
      </p:sp>
      <p:sp>
        <p:nvSpPr>
          <p:cNvPr id="28" name="Text 25"/>
          <p:cNvSpPr txBox="1"/>
          <p:nvPr/>
        </p:nvSpPr>
        <p:spPr>
          <a:xfrm>
            <a:off x="9921240"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AUDIT</a:t>
            </a:r>
            <a:endParaRPr lang="en-US" sz="1100" dirty="0"/>
          </a:p>
        </p:txBody>
      </p:sp>
      <p:sp>
        <p:nvSpPr>
          <p:cNvPr id="29" name="Text 26"/>
          <p:cNvSpPr txBox="1"/>
          <p:nvPr/>
        </p:nvSpPr>
        <p:spPr>
          <a:xfrm>
            <a:off x="9921240" y="2468880"/>
            <a:ext cx="1837944" cy="13258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evidence remains?</a:t>
            </a:r>
            <a:endParaRPr lang="en-US" sz="1300" dirty="0"/>
          </a:p>
        </p:txBody>
      </p:sp>
      <p:sp>
        <p:nvSpPr>
          <p:cNvPr id="30" name="Shape 27"/>
          <p:cNvSpPr/>
          <p:nvPr/>
        </p:nvSpPr>
        <p:spPr>
          <a:xfrm>
            <a:off x="1005840" y="4572000"/>
            <a:ext cx="10104120" cy="731520"/>
          </a:xfrm>
          <a:prstGeom prst="roundRect">
            <a:avLst/>
          </a:prstGeom>
          <a:solidFill>
            <a:srgbClr val="FFFFFF"/>
          </a:solidFill>
          <a:ln w="12700">
            <a:solidFill>
              <a:srgbClr val="1F497D"/>
            </a:solidFill>
            <a:prstDash val="solid"/>
          </a:ln>
        </p:spPr>
      </p:sp>
      <p:sp>
        <p:nvSpPr>
          <p:cNvPr id="31" name="Shape 28"/>
          <p:cNvSpPr/>
          <p:nvPr/>
        </p:nvSpPr>
        <p:spPr>
          <a:xfrm>
            <a:off x="1005840" y="4572000"/>
            <a:ext cx="100584" cy="731520"/>
          </a:xfrm>
          <a:prstGeom prst="rect">
            <a:avLst/>
          </a:prstGeom>
          <a:solidFill>
            <a:srgbClr val="1F497D"/>
          </a:solidFill>
          <a:ln w="12700">
            <a:solidFill>
              <a:srgbClr val="1F497D"/>
            </a:solidFill>
            <a:prstDash val="solid"/>
          </a:ln>
        </p:spPr>
      </p:sp>
      <p:sp>
        <p:nvSpPr>
          <p:cNvPr id="32" name="Text 29"/>
          <p:cNvSpPr txBox="1"/>
          <p:nvPr/>
        </p:nvSpPr>
        <p:spPr>
          <a:xfrm>
            <a:off x="1243584" y="468172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Key idea</a:t>
            </a:r>
            <a:endParaRPr lang="en-US" sz="1400" dirty="0"/>
          </a:p>
        </p:txBody>
      </p:sp>
      <p:sp>
        <p:nvSpPr>
          <p:cNvPr id="33" name="Text 30"/>
          <p:cNvSpPr txBox="1"/>
          <p:nvPr/>
        </p:nvSpPr>
        <p:spPr>
          <a:xfrm>
            <a:off x="1243584" y="4983480"/>
            <a:ext cx="975664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Authentication success is only one stage in a controlled session lifecycle.</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MFA</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Two factors should add different evidence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second copy of the same factor is not meaningful MFA.</a:t>
            </a:r>
            <a:endParaRPr lang="en-US" sz="1250" dirty="0"/>
          </a:p>
        </p:txBody>
      </p:sp>
      <p:sp>
        <p:nvSpPr>
          <p:cNvPr id="6" name="Shape 3"/>
          <p:cNvSpPr/>
          <p:nvPr/>
        </p:nvSpPr>
        <p:spPr>
          <a:xfrm>
            <a:off x="1965960" y="1828800"/>
            <a:ext cx="731520" cy="731520"/>
          </a:xfrm>
          <a:prstGeom prst="ellipse">
            <a:avLst/>
          </a:prstGeom>
          <a:solidFill>
            <a:srgbClr val="F79646"/>
          </a:solidFill>
          <a:ln w="12700">
            <a:solidFill>
              <a:srgbClr val="F79646"/>
            </a:solidFill>
            <a:prstDash val="solid"/>
          </a:ln>
        </p:spPr>
      </p:sp>
      <p:sp>
        <p:nvSpPr>
          <p:cNvPr id="7" name="Text 4"/>
          <p:cNvSpPr txBox="1"/>
          <p:nvPr/>
        </p:nvSpPr>
        <p:spPr>
          <a:xfrm>
            <a:off x="1965960" y="2075688"/>
            <a:ext cx="731520" cy="182880"/>
          </a:xfrm>
          <a:prstGeom prst="rect">
            <a:avLst/>
          </a:prstGeom>
          <a:noFill/>
          <a:ln/>
        </p:spPr>
        <p:txBody>
          <a:bodyPr wrap="square" lIns="508" tIns="508" rIns="508" bIns="508" rtlCol="0" anchor="ctr">
            <a:normAutofit/>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914400" y="2834640"/>
            <a:ext cx="2834640" cy="310896"/>
          </a:xfrm>
          <a:prstGeom prst="rect">
            <a:avLst/>
          </a:prstGeom>
          <a:noFill/>
          <a:ln/>
        </p:spPr>
        <p:txBody>
          <a:bodyPr wrap="square" lIns="508" tIns="508" rIns="508" bIns="508" rtlCol="0" anchor="ctr">
            <a:normAutofit/>
          </a:bodyPr>
          <a:lstStyle/>
          <a:p>
            <a:pPr algn="ctr" indent="0" marL="0">
              <a:buNone/>
            </a:pPr>
            <a:r>
              <a:rPr lang="en-US" sz="2300" b="1" dirty="0">
                <a:solidFill>
                  <a:srgbClr val="1F497D"/>
                </a:solidFill>
                <a:latin typeface="Calibri" pitchFamily="34" charset="0"/>
                <a:ea typeface="Calibri" pitchFamily="34" charset="-122"/>
                <a:cs typeface="Calibri" pitchFamily="34" charset="-120"/>
              </a:rPr>
              <a:t>Know</a:t>
            </a:r>
            <a:endParaRPr lang="en-US" sz="2300" dirty="0"/>
          </a:p>
        </p:txBody>
      </p:sp>
      <p:sp>
        <p:nvSpPr>
          <p:cNvPr id="9" name="Text 6"/>
          <p:cNvSpPr txBox="1"/>
          <p:nvPr/>
        </p:nvSpPr>
        <p:spPr>
          <a:xfrm>
            <a:off x="914400" y="3310128"/>
            <a:ext cx="2834640" cy="256032"/>
          </a:xfrm>
          <a:prstGeom prst="rect">
            <a:avLst/>
          </a:prstGeom>
          <a:noFill/>
          <a:ln/>
        </p:spPr>
        <p:txBody>
          <a:bodyPr wrap="square" lIns="508" tIns="508" rIns="508" bIns="508" rtlCol="0" anchor="ctr">
            <a:normAutofit/>
          </a:bodyPr>
          <a:lstStyle/>
          <a:p>
            <a:pPr algn="ctr" indent="0" marL="0">
              <a:buNone/>
            </a:pPr>
            <a:r>
              <a:rPr lang="en-US" sz="1400" dirty="0">
                <a:solidFill>
                  <a:srgbClr val="64748B"/>
                </a:solidFill>
                <a:latin typeface="Calibri" pitchFamily="34" charset="0"/>
                <a:ea typeface="Calibri" pitchFamily="34" charset="-122"/>
                <a:cs typeface="Calibri" pitchFamily="34" charset="-120"/>
              </a:rPr>
              <a:t>password or PIN</a:t>
            </a:r>
            <a:endParaRPr lang="en-US" sz="1400" dirty="0"/>
          </a:p>
        </p:txBody>
      </p:sp>
      <p:sp>
        <p:nvSpPr>
          <p:cNvPr id="10" name="Shape 7"/>
          <p:cNvSpPr/>
          <p:nvPr/>
        </p:nvSpPr>
        <p:spPr>
          <a:xfrm>
            <a:off x="5623560" y="1828800"/>
            <a:ext cx="731520" cy="731520"/>
          </a:xfrm>
          <a:prstGeom prst="ellipse">
            <a:avLst/>
          </a:prstGeom>
          <a:solidFill>
            <a:srgbClr val="4BACC6"/>
          </a:solidFill>
          <a:ln w="12700">
            <a:solidFill>
              <a:srgbClr val="4BACC6"/>
            </a:solidFill>
            <a:prstDash val="solid"/>
          </a:ln>
        </p:spPr>
      </p:sp>
      <p:sp>
        <p:nvSpPr>
          <p:cNvPr id="11" name="Text 8"/>
          <p:cNvSpPr txBox="1"/>
          <p:nvPr/>
        </p:nvSpPr>
        <p:spPr>
          <a:xfrm>
            <a:off x="5623560" y="2075688"/>
            <a:ext cx="731520" cy="182880"/>
          </a:xfrm>
          <a:prstGeom prst="rect">
            <a:avLst/>
          </a:prstGeom>
          <a:noFill/>
          <a:ln/>
        </p:spPr>
        <p:txBody>
          <a:bodyPr wrap="square" lIns="508" tIns="508" rIns="508" bIns="508" rtlCol="0" anchor="ctr">
            <a:normAutofit/>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4572000" y="2834640"/>
            <a:ext cx="2834640" cy="310896"/>
          </a:xfrm>
          <a:prstGeom prst="rect">
            <a:avLst/>
          </a:prstGeom>
          <a:noFill/>
          <a:ln/>
        </p:spPr>
        <p:txBody>
          <a:bodyPr wrap="square" lIns="508" tIns="508" rIns="508" bIns="508" rtlCol="0" anchor="ctr">
            <a:normAutofit/>
          </a:bodyPr>
          <a:lstStyle/>
          <a:p>
            <a:pPr algn="ctr" indent="0" marL="0">
              <a:buNone/>
            </a:pPr>
            <a:r>
              <a:rPr lang="en-US" sz="2300" b="1" dirty="0">
                <a:solidFill>
                  <a:srgbClr val="1F497D"/>
                </a:solidFill>
                <a:latin typeface="Calibri" pitchFamily="34" charset="0"/>
                <a:ea typeface="Calibri" pitchFamily="34" charset="-122"/>
                <a:cs typeface="Calibri" pitchFamily="34" charset="-120"/>
              </a:rPr>
              <a:t>Have</a:t>
            </a:r>
            <a:endParaRPr lang="en-US" sz="2300" dirty="0"/>
          </a:p>
        </p:txBody>
      </p:sp>
      <p:sp>
        <p:nvSpPr>
          <p:cNvPr id="13" name="Text 10"/>
          <p:cNvSpPr txBox="1"/>
          <p:nvPr/>
        </p:nvSpPr>
        <p:spPr>
          <a:xfrm>
            <a:off x="4572000" y="3310128"/>
            <a:ext cx="2834640" cy="256032"/>
          </a:xfrm>
          <a:prstGeom prst="rect">
            <a:avLst/>
          </a:prstGeom>
          <a:noFill/>
          <a:ln/>
        </p:spPr>
        <p:txBody>
          <a:bodyPr wrap="square" lIns="508" tIns="508" rIns="508" bIns="508" rtlCol="0" anchor="ctr">
            <a:normAutofit/>
          </a:bodyPr>
          <a:lstStyle/>
          <a:p>
            <a:pPr algn="ctr" indent="0" marL="0">
              <a:buNone/>
            </a:pPr>
            <a:r>
              <a:rPr lang="en-US" sz="1400" dirty="0">
                <a:solidFill>
                  <a:srgbClr val="64748B"/>
                </a:solidFill>
                <a:latin typeface="Calibri" pitchFamily="34" charset="0"/>
                <a:ea typeface="Calibri" pitchFamily="34" charset="-122"/>
                <a:cs typeface="Calibri" pitchFamily="34" charset="-120"/>
              </a:rPr>
              <a:t>key, token, phone</a:t>
            </a:r>
            <a:endParaRPr lang="en-US" sz="1400" dirty="0"/>
          </a:p>
        </p:txBody>
      </p:sp>
      <p:sp>
        <p:nvSpPr>
          <p:cNvPr id="14" name="Shape 11"/>
          <p:cNvSpPr/>
          <p:nvPr/>
        </p:nvSpPr>
        <p:spPr>
          <a:xfrm>
            <a:off x="9281160" y="1828800"/>
            <a:ext cx="731520" cy="731520"/>
          </a:xfrm>
          <a:prstGeom prst="ellipse">
            <a:avLst/>
          </a:prstGeom>
          <a:solidFill>
            <a:srgbClr val="8064A2"/>
          </a:solidFill>
          <a:ln w="12700">
            <a:solidFill>
              <a:srgbClr val="8064A2"/>
            </a:solidFill>
            <a:prstDash val="solid"/>
          </a:ln>
        </p:spPr>
      </p:sp>
      <p:sp>
        <p:nvSpPr>
          <p:cNvPr id="15" name="Text 12"/>
          <p:cNvSpPr txBox="1"/>
          <p:nvPr/>
        </p:nvSpPr>
        <p:spPr>
          <a:xfrm>
            <a:off x="9281160" y="2075688"/>
            <a:ext cx="731520" cy="182880"/>
          </a:xfrm>
          <a:prstGeom prst="rect">
            <a:avLst/>
          </a:prstGeom>
          <a:noFill/>
          <a:ln/>
        </p:spPr>
        <p:txBody>
          <a:bodyPr wrap="square" lIns="508" tIns="508" rIns="508" bIns="508" rtlCol="0" anchor="ctr">
            <a:normAutofit/>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8229600" y="2834640"/>
            <a:ext cx="2834640" cy="310896"/>
          </a:xfrm>
          <a:prstGeom prst="rect">
            <a:avLst/>
          </a:prstGeom>
          <a:noFill/>
          <a:ln/>
        </p:spPr>
        <p:txBody>
          <a:bodyPr wrap="square" lIns="508" tIns="508" rIns="508" bIns="508" rtlCol="0" anchor="ctr">
            <a:normAutofit/>
          </a:bodyPr>
          <a:lstStyle/>
          <a:p>
            <a:pPr algn="ctr" indent="0" marL="0">
              <a:buNone/>
            </a:pPr>
            <a:r>
              <a:rPr lang="en-US" sz="2300" b="1" dirty="0">
                <a:solidFill>
                  <a:srgbClr val="1F497D"/>
                </a:solidFill>
                <a:latin typeface="Calibri" pitchFamily="34" charset="0"/>
                <a:ea typeface="Calibri" pitchFamily="34" charset="-122"/>
                <a:cs typeface="Calibri" pitchFamily="34" charset="-120"/>
              </a:rPr>
              <a:t>Are</a:t>
            </a:r>
            <a:endParaRPr lang="en-US" sz="2300" dirty="0"/>
          </a:p>
        </p:txBody>
      </p:sp>
      <p:sp>
        <p:nvSpPr>
          <p:cNvPr id="17" name="Text 14"/>
          <p:cNvSpPr txBox="1"/>
          <p:nvPr/>
        </p:nvSpPr>
        <p:spPr>
          <a:xfrm>
            <a:off x="8229600" y="3310128"/>
            <a:ext cx="2834640" cy="256032"/>
          </a:xfrm>
          <a:prstGeom prst="rect">
            <a:avLst/>
          </a:prstGeom>
          <a:noFill/>
          <a:ln/>
        </p:spPr>
        <p:txBody>
          <a:bodyPr wrap="square" lIns="508" tIns="508" rIns="508" bIns="508" rtlCol="0" anchor="ctr">
            <a:normAutofit/>
          </a:bodyPr>
          <a:lstStyle/>
          <a:p>
            <a:pPr algn="ctr" indent="0" marL="0">
              <a:buNone/>
            </a:pPr>
            <a:r>
              <a:rPr lang="en-US" sz="1400" dirty="0">
                <a:solidFill>
                  <a:srgbClr val="64748B"/>
                </a:solidFill>
                <a:latin typeface="Calibri" pitchFamily="34" charset="0"/>
                <a:ea typeface="Calibri" pitchFamily="34" charset="-122"/>
                <a:cs typeface="Calibri" pitchFamily="34" charset="-120"/>
              </a:rPr>
              <a:t>biometric signal</a:t>
            </a:r>
            <a:endParaRPr lang="en-US" sz="1400" dirty="0"/>
          </a:p>
        </p:txBody>
      </p:sp>
      <p:sp>
        <p:nvSpPr>
          <p:cNvPr id="18" name="Shape 15"/>
          <p:cNvSpPr/>
          <p:nvPr/>
        </p:nvSpPr>
        <p:spPr>
          <a:xfrm>
            <a:off x="3703320" y="4663440"/>
            <a:ext cx="4754880" cy="274320"/>
          </a:xfrm>
          <a:prstGeom prst="roundRect">
            <a:avLst/>
          </a:prstGeom>
          <a:solidFill>
            <a:srgbClr val="70AD47"/>
          </a:solidFill>
          <a:ln w="12700">
            <a:solidFill>
              <a:srgbClr val="70AD47"/>
            </a:solidFill>
            <a:prstDash val="solid"/>
          </a:ln>
        </p:spPr>
      </p:sp>
      <p:sp>
        <p:nvSpPr>
          <p:cNvPr id="19" name="Text 16"/>
          <p:cNvSpPr txBox="1"/>
          <p:nvPr/>
        </p:nvSpPr>
        <p:spPr>
          <a:xfrm>
            <a:off x="3776472" y="4681728"/>
            <a:ext cx="46085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MFA = INDEPENDENT EVIDENCE</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TOTP</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TOTP turns a shared secret and time into a short-lived code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Useful, widely supported, and not phishing resistant by itself.</a:t>
            </a:r>
            <a:endParaRPr lang="en-US" sz="1250" dirty="0"/>
          </a:p>
        </p:txBody>
      </p:sp>
      <p:sp>
        <p:nvSpPr>
          <p:cNvPr id="6" name="Shape 3"/>
          <p:cNvSpPr/>
          <p:nvPr/>
        </p:nvSpPr>
        <p:spPr>
          <a:xfrm>
            <a:off x="640080" y="2103120"/>
            <a:ext cx="2286000" cy="1737360"/>
          </a:xfrm>
          <a:prstGeom prst="roundRect">
            <a:avLst/>
          </a:prstGeom>
          <a:solidFill>
            <a:srgbClr val="FFFFFF"/>
          </a:solidFill>
          <a:ln w="12700">
            <a:solidFill>
              <a:srgbClr val="CBD5E1"/>
            </a:solidFill>
            <a:prstDash val="solid"/>
          </a:ln>
        </p:spPr>
      </p:sp>
      <p:sp>
        <p:nvSpPr>
          <p:cNvPr id="7" name="Shape 4"/>
          <p:cNvSpPr/>
          <p:nvPr/>
        </p:nvSpPr>
        <p:spPr>
          <a:xfrm>
            <a:off x="640080" y="2103120"/>
            <a:ext cx="2286000" cy="292608"/>
          </a:xfrm>
          <a:prstGeom prst="roundRect">
            <a:avLst/>
          </a:prstGeom>
          <a:solidFill>
            <a:srgbClr val="C0504D"/>
          </a:solidFill>
          <a:ln w="12700">
            <a:solidFill>
              <a:srgbClr val="C0504D"/>
            </a:solidFill>
            <a:prstDash val="solid"/>
          </a:ln>
        </p:spPr>
      </p:sp>
      <p:sp>
        <p:nvSpPr>
          <p:cNvPr id="8" name="Text 5"/>
          <p:cNvSpPr txBox="1"/>
          <p:nvPr/>
        </p:nvSpPr>
        <p:spPr>
          <a:xfrm>
            <a:off x="74980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Shared secret</a:t>
            </a:r>
            <a:endParaRPr lang="en-US" sz="1100" dirty="0"/>
          </a:p>
        </p:txBody>
      </p:sp>
      <p:sp>
        <p:nvSpPr>
          <p:cNvPr id="9" name="Text 6"/>
          <p:cNvSpPr txBox="1"/>
          <p:nvPr/>
        </p:nvSpPr>
        <p:spPr>
          <a:xfrm>
            <a:off x="74980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enrolled once</a:t>
            </a:r>
            <a:endParaRPr lang="en-US" sz="1300" dirty="0"/>
          </a:p>
        </p:txBody>
      </p:sp>
      <p:sp>
        <p:nvSpPr>
          <p:cNvPr id="10" name="Shape 7"/>
          <p:cNvSpPr/>
          <p:nvPr/>
        </p:nvSpPr>
        <p:spPr>
          <a:xfrm>
            <a:off x="3044952" y="2971800"/>
            <a:ext cx="365760" cy="0"/>
          </a:xfrm>
          <a:prstGeom prst="line">
            <a:avLst/>
          </a:prstGeom>
          <a:noFill/>
          <a:ln w="25400">
            <a:solidFill>
              <a:srgbClr val="94A3B8"/>
            </a:solidFill>
            <a:prstDash val="solid"/>
            <a:headEnd type="none"/>
            <a:tailEnd type="triangle"/>
          </a:ln>
        </p:spPr>
      </p:sp>
      <p:sp>
        <p:nvSpPr>
          <p:cNvPr id="11" name="Shape 8"/>
          <p:cNvSpPr/>
          <p:nvPr/>
        </p:nvSpPr>
        <p:spPr>
          <a:xfrm>
            <a:off x="3520440" y="2103120"/>
            <a:ext cx="2286000" cy="1737360"/>
          </a:xfrm>
          <a:prstGeom prst="roundRect">
            <a:avLst/>
          </a:prstGeom>
          <a:solidFill>
            <a:srgbClr val="FFFFFF"/>
          </a:solidFill>
          <a:ln w="12700">
            <a:solidFill>
              <a:srgbClr val="CBD5E1"/>
            </a:solidFill>
            <a:prstDash val="solid"/>
          </a:ln>
        </p:spPr>
      </p:sp>
      <p:sp>
        <p:nvSpPr>
          <p:cNvPr id="12" name="Shape 9"/>
          <p:cNvSpPr/>
          <p:nvPr/>
        </p:nvSpPr>
        <p:spPr>
          <a:xfrm>
            <a:off x="3520440" y="2103120"/>
            <a:ext cx="2286000" cy="292608"/>
          </a:xfrm>
          <a:prstGeom prst="roundRect">
            <a:avLst/>
          </a:prstGeom>
          <a:solidFill>
            <a:srgbClr val="4F81BD"/>
          </a:solidFill>
          <a:ln w="12700">
            <a:solidFill>
              <a:srgbClr val="4F81BD"/>
            </a:solidFill>
            <a:prstDash val="solid"/>
          </a:ln>
        </p:spPr>
      </p:sp>
      <p:sp>
        <p:nvSpPr>
          <p:cNvPr id="13" name="Text 10"/>
          <p:cNvSpPr txBox="1"/>
          <p:nvPr/>
        </p:nvSpPr>
        <p:spPr>
          <a:xfrm>
            <a:off x="363016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Clock step</a:t>
            </a:r>
            <a:endParaRPr lang="en-US" sz="1100" dirty="0"/>
          </a:p>
        </p:txBody>
      </p:sp>
      <p:sp>
        <p:nvSpPr>
          <p:cNvPr id="14" name="Text 11"/>
          <p:cNvSpPr txBox="1"/>
          <p:nvPr/>
        </p:nvSpPr>
        <p:spPr>
          <a:xfrm>
            <a:off x="363016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same time window</a:t>
            </a:r>
            <a:endParaRPr lang="en-US" sz="1300" dirty="0"/>
          </a:p>
        </p:txBody>
      </p:sp>
      <p:sp>
        <p:nvSpPr>
          <p:cNvPr id="15" name="Shape 12"/>
          <p:cNvSpPr/>
          <p:nvPr/>
        </p:nvSpPr>
        <p:spPr>
          <a:xfrm>
            <a:off x="5925312" y="2971800"/>
            <a:ext cx="365760" cy="0"/>
          </a:xfrm>
          <a:prstGeom prst="line">
            <a:avLst/>
          </a:prstGeom>
          <a:noFill/>
          <a:ln w="25400">
            <a:solidFill>
              <a:srgbClr val="94A3B8"/>
            </a:solidFill>
            <a:prstDash val="solid"/>
            <a:headEnd type="none"/>
            <a:tailEnd type="triangle"/>
          </a:ln>
        </p:spPr>
      </p:sp>
      <p:sp>
        <p:nvSpPr>
          <p:cNvPr id="16" name="Shape 13"/>
          <p:cNvSpPr/>
          <p:nvPr/>
        </p:nvSpPr>
        <p:spPr>
          <a:xfrm>
            <a:off x="6400800" y="2103120"/>
            <a:ext cx="2286000" cy="1737360"/>
          </a:xfrm>
          <a:prstGeom prst="roundRect">
            <a:avLst/>
          </a:prstGeom>
          <a:solidFill>
            <a:srgbClr val="FFFFFF"/>
          </a:solidFill>
          <a:ln w="12700">
            <a:solidFill>
              <a:srgbClr val="CBD5E1"/>
            </a:solidFill>
            <a:prstDash val="solid"/>
          </a:ln>
        </p:spPr>
      </p:sp>
      <p:sp>
        <p:nvSpPr>
          <p:cNvPr id="17" name="Shape 14"/>
          <p:cNvSpPr/>
          <p:nvPr/>
        </p:nvSpPr>
        <p:spPr>
          <a:xfrm>
            <a:off x="6400800" y="2103120"/>
            <a:ext cx="2286000" cy="292608"/>
          </a:xfrm>
          <a:prstGeom prst="roundRect">
            <a:avLst/>
          </a:prstGeom>
          <a:solidFill>
            <a:srgbClr val="8064A2"/>
          </a:solidFill>
          <a:ln w="12700">
            <a:solidFill>
              <a:srgbClr val="8064A2"/>
            </a:solidFill>
            <a:prstDash val="solid"/>
          </a:ln>
        </p:spPr>
      </p:sp>
      <p:sp>
        <p:nvSpPr>
          <p:cNvPr id="18" name="Text 15"/>
          <p:cNvSpPr txBox="1"/>
          <p:nvPr/>
        </p:nvSpPr>
        <p:spPr>
          <a:xfrm>
            <a:off x="651052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HMAC</a:t>
            </a:r>
            <a:endParaRPr lang="en-US" sz="1100" dirty="0"/>
          </a:p>
        </p:txBody>
      </p:sp>
      <p:sp>
        <p:nvSpPr>
          <p:cNvPr id="19" name="Text 16"/>
          <p:cNvSpPr txBox="1"/>
          <p:nvPr/>
        </p:nvSpPr>
        <p:spPr>
          <a:xfrm>
            <a:off x="651052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keyed calculation</a:t>
            </a:r>
            <a:endParaRPr lang="en-US" sz="1300" dirty="0"/>
          </a:p>
        </p:txBody>
      </p:sp>
      <p:sp>
        <p:nvSpPr>
          <p:cNvPr id="20" name="Shape 17"/>
          <p:cNvSpPr/>
          <p:nvPr/>
        </p:nvSpPr>
        <p:spPr>
          <a:xfrm>
            <a:off x="8805672" y="2971800"/>
            <a:ext cx="365760" cy="0"/>
          </a:xfrm>
          <a:prstGeom prst="line">
            <a:avLst/>
          </a:prstGeom>
          <a:noFill/>
          <a:ln w="25400">
            <a:solidFill>
              <a:srgbClr val="94A3B8"/>
            </a:solidFill>
            <a:prstDash val="solid"/>
            <a:headEnd type="none"/>
            <a:tailEnd type="triangle"/>
          </a:ln>
        </p:spPr>
      </p:sp>
      <p:sp>
        <p:nvSpPr>
          <p:cNvPr id="21" name="Shape 18"/>
          <p:cNvSpPr/>
          <p:nvPr/>
        </p:nvSpPr>
        <p:spPr>
          <a:xfrm>
            <a:off x="9281160" y="2103120"/>
            <a:ext cx="2286000" cy="1737360"/>
          </a:xfrm>
          <a:prstGeom prst="roundRect">
            <a:avLst/>
          </a:prstGeom>
          <a:solidFill>
            <a:srgbClr val="FFFFFF"/>
          </a:solidFill>
          <a:ln w="12700">
            <a:solidFill>
              <a:srgbClr val="CBD5E1"/>
            </a:solidFill>
            <a:prstDash val="solid"/>
          </a:ln>
        </p:spPr>
      </p:sp>
      <p:sp>
        <p:nvSpPr>
          <p:cNvPr id="22" name="Shape 19"/>
          <p:cNvSpPr/>
          <p:nvPr/>
        </p:nvSpPr>
        <p:spPr>
          <a:xfrm>
            <a:off x="9281160" y="2103120"/>
            <a:ext cx="2286000" cy="292608"/>
          </a:xfrm>
          <a:prstGeom prst="roundRect">
            <a:avLst/>
          </a:prstGeom>
          <a:solidFill>
            <a:srgbClr val="70AD47"/>
          </a:solidFill>
          <a:ln w="12700">
            <a:solidFill>
              <a:srgbClr val="70AD47"/>
            </a:solidFill>
            <a:prstDash val="solid"/>
          </a:ln>
        </p:spPr>
      </p:sp>
      <p:sp>
        <p:nvSpPr>
          <p:cNvPr id="23" name="Text 20"/>
          <p:cNvSpPr txBox="1"/>
          <p:nvPr/>
        </p:nvSpPr>
        <p:spPr>
          <a:xfrm>
            <a:off x="9390888" y="213969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Code</a:t>
            </a:r>
            <a:endParaRPr lang="en-US" sz="1100" dirty="0"/>
          </a:p>
        </p:txBody>
      </p:sp>
      <p:sp>
        <p:nvSpPr>
          <p:cNvPr id="24" name="Text 21"/>
          <p:cNvSpPr txBox="1"/>
          <p:nvPr/>
        </p:nvSpPr>
        <p:spPr>
          <a:xfrm>
            <a:off x="9390888" y="2514600"/>
            <a:ext cx="2066544" cy="123444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short-lived response</a:t>
            </a:r>
            <a:endParaRPr lang="en-US" sz="1300" dirty="0"/>
          </a:p>
        </p:txBody>
      </p:sp>
      <p:sp>
        <p:nvSpPr>
          <p:cNvPr id="25" name="Shape 22"/>
          <p:cNvSpPr/>
          <p:nvPr/>
        </p:nvSpPr>
        <p:spPr>
          <a:xfrm>
            <a:off x="914400" y="4572000"/>
            <a:ext cx="10195560" cy="731520"/>
          </a:xfrm>
          <a:prstGeom prst="roundRect">
            <a:avLst/>
          </a:prstGeom>
          <a:solidFill>
            <a:srgbClr val="FFFFFF"/>
          </a:solidFill>
          <a:ln w="12700">
            <a:solidFill>
              <a:srgbClr val="F79646"/>
            </a:solidFill>
            <a:prstDash val="solid"/>
          </a:ln>
        </p:spPr>
      </p:sp>
      <p:sp>
        <p:nvSpPr>
          <p:cNvPr id="26" name="Shape 23"/>
          <p:cNvSpPr/>
          <p:nvPr/>
        </p:nvSpPr>
        <p:spPr>
          <a:xfrm>
            <a:off x="914400" y="4572000"/>
            <a:ext cx="100584" cy="731520"/>
          </a:xfrm>
          <a:prstGeom prst="rect">
            <a:avLst/>
          </a:prstGeom>
          <a:solidFill>
            <a:srgbClr val="F79646"/>
          </a:solidFill>
          <a:ln w="12700">
            <a:solidFill>
              <a:srgbClr val="F79646"/>
            </a:solidFill>
            <a:prstDash val="solid"/>
          </a:ln>
        </p:spPr>
      </p:sp>
      <p:sp>
        <p:nvSpPr>
          <p:cNvPr id="27" name="Text 24"/>
          <p:cNvSpPr txBox="1"/>
          <p:nvPr/>
        </p:nvSpPr>
        <p:spPr>
          <a:xfrm>
            <a:off x="1152144" y="4681728"/>
            <a:ext cx="984808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Operational controls</a:t>
            </a:r>
            <a:endParaRPr lang="en-US" sz="1400" dirty="0"/>
          </a:p>
        </p:txBody>
      </p:sp>
      <p:sp>
        <p:nvSpPr>
          <p:cNvPr id="28" name="Text 25"/>
          <p:cNvSpPr txBox="1"/>
          <p:nvPr/>
        </p:nvSpPr>
        <p:spPr>
          <a:xfrm>
            <a:off x="1152144" y="4983480"/>
            <a:ext cx="984808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Rate limiting, secure enrollment, clock monitoring, recovery codes, and rapid revocation matter as much as the six-digit code.</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FIDO2</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FIDO2 and WebAuthn bind the authenticator to the verifier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domain name becomes part of the authentication ceremony.</a:t>
            </a:r>
            <a:endParaRPr lang="en-US" sz="1250" dirty="0"/>
          </a:p>
        </p:txBody>
      </p:sp>
      <p:sp>
        <p:nvSpPr>
          <p:cNvPr id="6" name="Shape 3"/>
          <p:cNvSpPr/>
          <p:nvPr/>
        </p:nvSpPr>
        <p:spPr>
          <a:xfrm>
            <a:off x="777240" y="1920240"/>
            <a:ext cx="3063240" cy="2286000"/>
          </a:xfrm>
          <a:prstGeom prst="roundRect">
            <a:avLst/>
          </a:prstGeom>
          <a:solidFill>
            <a:srgbClr val="FFFFFF"/>
          </a:solidFill>
          <a:ln w="12700">
            <a:solidFill>
              <a:srgbClr val="CBD5E1"/>
            </a:solidFill>
            <a:prstDash val="solid"/>
          </a:ln>
        </p:spPr>
      </p:sp>
      <p:sp>
        <p:nvSpPr>
          <p:cNvPr id="7" name="Shape 4"/>
          <p:cNvSpPr/>
          <p:nvPr/>
        </p:nvSpPr>
        <p:spPr>
          <a:xfrm>
            <a:off x="777240" y="1920240"/>
            <a:ext cx="3063240" cy="292608"/>
          </a:xfrm>
          <a:prstGeom prst="roundRect">
            <a:avLst/>
          </a:prstGeom>
          <a:solidFill>
            <a:srgbClr val="F79646"/>
          </a:solidFill>
          <a:ln w="12700">
            <a:solidFill>
              <a:srgbClr val="F79646"/>
            </a:solidFill>
            <a:prstDash val="solid"/>
          </a:ln>
        </p:spPr>
      </p:sp>
      <p:sp>
        <p:nvSpPr>
          <p:cNvPr id="8" name="Text 5"/>
          <p:cNvSpPr txBox="1"/>
          <p:nvPr/>
        </p:nvSpPr>
        <p:spPr>
          <a:xfrm>
            <a:off x="886968" y="1956816"/>
            <a:ext cx="284378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TOTP</a:t>
            </a:r>
            <a:endParaRPr lang="en-US" sz="1100" dirty="0"/>
          </a:p>
        </p:txBody>
      </p:sp>
      <p:sp>
        <p:nvSpPr>
          <p:cNvPr id="9" name="Text 6"/>
          <p:cNvSpPr txBox="1"/>
          <p:nvPr/>
        </p:nvSpPr>
        <p:spPr>
          <a:xfrm>
            <a:off x="886968" y="2331720"/>
            <a:ext cx="2843784" cy="17830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User reads a code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Verifier checks code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Phishing risk remains</a:t>
            </a:r>
            <a:endParaRPr lang="en-US" sz="1300" dirty="0"/>
          </a:p>
        </p:txBody>
      </p:sp>
      <p:sp>
        <p:nvSpPr>
          <p:cNvPr id="10" name="Shape 7"/>
          <p:cNvSpPr/>
          <p:nvPr/>
        </p:nvSpPr>
        <p:spPr>
          <a:xfrm>
            <a:off x="4553712" y="1920240"/>
            <a:ext cx="3063240" cy="2286000"/>
          </a:xfrm>
          <a:prstGeom prst="roundRect">
            <a:avLst/>
          </a:prstGeom>
          <a:solidFill>
            <a:srgbClr val="FFFFFF"/>
          </a:solidFill>
          <a:ln w="12700">
            <a:solidFill>
              <a:srgbClr val="CBD5E1"/>
            </a:solidFill>
            <a:prstDash val="solid"/>
          </a:ln>
        </p:spPr>
      </p:sp>
      <p:sp>
        <p:nvSpPr>
          <p:cNvPr id="11" name="Shape 8"/>
          <p:cNvSpPr/>
          <p:nvPr/>
        </p:nvSpPr>
        <p:spPr>
          <a:xfrm>
            <a:off x="4553712" y="1920240"/>
            <a:ext cx="3063240" cy="292608"/>
          </a:xfrm>
          <a:prstGeom prst="roundRect">
            <a:avLst/>
          </a:prstGeom>
          <a:solidFill>
            <a:srgbClr val="4BACC6"/>
          </a:solidFill>
          <a:ln w="12700">
            <a:solidFill>
              <a:srgbClr val="4BACC6"/>
            </a:solidFill>
            <a:prstDash val="solid"/>
          </a:ln>
        </p:spPr>
      </p:sp>
      <p:sp>
        <p:nvSpPr>
          <p:cNvPr id="12" name="Text 9"/>
          <p:cNvSpPr txBox="1"/>
          <p:nvPr/>
        </p:nvSpPr>
        <p:spPr>
          <a:xfrm>
            <a:off x="4663440" y="1956816"/>
            <a:ext cx="284378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FIDO2</a:t>
            </a:r>
            <a:endParaRPr lang="en-US" sz="1100" dirty="0"/>
          </a:p>
        </p:txBody>
      </p:sp>
      <p:sp>
        <p:nvSpPr>
          <p:cNvPr id="13" name="Text 10"/>
          <p:cNvSpPr txBox="1"/>
          <p:nvPr/>
        </p:nvSpPr>
        <p:spPr>
          <a:xfrm>
            <a:off x="4663440" y="2331720"/>
            <a:ext cx="2843784" cy="17830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Authenticator signs challenge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Origin is bound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Phishing resistance</a:t>
            </a:r>
            <a:endParaRPr lang="en-US" sz="1300" dirty="0"/>
          </a:p>
        </p:txBody>
      </p:sp>
      <p:sp>
        <p:nvSpPr>
          <p:cNvPr id="14" name="Shape 11"/>
          <p:cNvSpPr/>
          <p:nvPr/>
        </p:nvSpPr>
        <p:spPr>
          <a:xfrm>
            <a:off x="8321040" y="1920240"/>
            <a:ext cx="3063240" cy="2286000"/>
          </a:xfrm>
          <a:prstGeom prst="roundRect">
            <a:avLst/>
          </a:prstGeom>
          <a:solidFill>
            <a:srgbClr val="FFFFFF"/>
          </a:solidFill>
          <a:ln w="12700">
            <a:solidFill>
              <a:srgbClr val="CBD5E1"/>
            </a:solidFill>
            <a:prstDash val="solid"/>
          </a:ln>
        </p:spPr>
      </p:sp>
      <p:sp>
        <p:nvSpPr>
          <p:cNvPr id="15" name="Shape 12"/>
          <p:cNvSpPr/>
          <p:nvPr/>
        </p:nvSpPr>
        <p:spPr>
          <a:xfrm>
            <a:off x="8321040" y="1920240"/>
            <a:ext cx="3063240" cy="292608"/>
          </a:xfrm>
          <a:prstGeom prst="roundRect">
            <a:avLst/>
          </a:prstGeom>
          <a:solidFill>
            <a:srgbClr val="8064A2"/>
          </a:solidFill>
          <a:ln w="12700">
            <a:solidFill>
              <a:srgbClr val="8064A2"/>
            </a:solidFill>
            <a:prstDash val="solid"/>
          </a:ln>
        </p:spPr>
      </p:sp>
      <p:sp>
        <p:nvSpPr>
          <p:cNvPr id="16" name="Text 13"/>
          <p:cNvSpPr txBox="1"/>
          <p:nvPr/>
        </p:nvSpPr>
        <p:spPr>
          <a:xfrm>
            <a:off x="8430768" y="1956816"/>
            <a:ext cx="284378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POLICY</a:t>
            </a:r>
            <a:endParaRPr lang="en-US" sz="1100" dirty="0"/>
          </a:p>
        </p:txBody>
      </p:sp>
      <p:sp>
        <p:nvSpPr>
          <p:cNvPr id="17" name="Text 14"/>
          <p:cNvSpPr txBox="1"/>
          <p:nvPr/>
        </p:nvSpPr>
        <p:spPr>
          <a:xfrm>
            <a:off x="8430768" y="2331720"/>
            <a:ext cx="2843784" cy="178308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Use stronger factors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for higher-risk access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Plan recovery</a:t>
            </a:r>
            <a:endParaRPr lang="en-US" sz="1300" dirty="0"/>
          </a:p>
        </p:txBody>
      </p:sp>
      <p:sp>
        <p:nvSpPr>
          <p:cNvPr id="18" name="Shape 15"/>
          <p:cNvSpPr/>
          <p:nvPr/>
        </p:nvSpPr>
        <p:spPr>
          <a:xfrm>
            <a:off x="1051560" y="4681728"/>
            <a:ext cx="10012680" cy="658368"/>
          </a:xfrm>
          <a:prstGeom prst="roundRect">
            <a:avLst/>
          </a:prstGeom>
          <a:solidFill>
            <a:srgbClr val="FFFFFF"/>
          </a:solidFill>
          <a:ln w="12700">
            <a:solidFill>
              <a:srgbClr val="1F497D"/>
            </a:solidFill>
            <a:prstDash val="solid"/>
          </a:ln>
        </p:spPr>
      </p:sp>
      <p:sp>
        <p:nvSpPr>
          <p:cNvPr id="19" name="Shape 16"/>
          <p:cNvSpPr/>
          <p:nvPr/>
        </p:nvSpPr>
        <p:spPr>
          <a:xfrm>
            <a:off x="1051560" y="4681728"/>
            <a:ext cx="100584" cy="658368"/>
          </a:xfrm>
          <a:prstGeom prst="rect">
            <a:avLst/>
          </a:prstGeom>
          <a:solidFill>
            <a:srgbClr val="1F497D"/>
          </a:solidFill>
          <a:ln w="12700">
            <a:solidFill>
              <a:srgbClr val="1F497D"/>
            </a:solidFill>
            <a:prstDash val="solid"/>
          </a:ln>
        </p:spPr>
      </p:sp>
      <p:sp>
        <p:nvSpPr>
          <p:cNvPr id="20" name="Text 17"/>
          <p:cNvSpPr txBox="1"/>
          <p:nvPr/>
        </p:nvSpPr>
        <p:spPr>
          <a:xfrm>
            <a:off x="1289304" y="4791456"/>
            <a:ext cx="966520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Discussion</a:t>
            </a:r>
            <a:endParaRPr lang="en-US" sz="1400" dirty="0"/>
          </a:p>
        </p:txBody>
      </p:sp>
      <p:sp>
        <p:nvSpPr>
          <p:cNvPr id="21" name="Text 18"/>
          <p:cNvSpPr txBox="1"/>
          <p:nvPr/>
        </p:nvSpPr>
        <p:spPr>
          <a:xfrm>
            <a:off x="1289304" y="5093208"/>
            <a:ext cx="9665208" cy="15544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would you protect with a hardware key even if TOTP is easier to deploy?</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MFA COMPARE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TOTP, FIDO2, and push each carry tradeoffs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Choose based on threat model, recovery, and operational reality.</a:t>
            </a:r>
            <a:endParaRPr lang="en-US" sz="1250" dirty="0"/>
          </a:p>
        </p:txBody>
      </p:sp>
      <p:sp>
        <p:nvSpPr>
          <p:cNvPr id="6" name="Shape 3"/>
          <p:cNvSpPr/>
          <p:nvPr/>
        </p:nvSpPr>
        <p:spPr>
          <a:xfrm>
            <a:off x="640080" y="1810512"/>
            <a:ext cx="1645920" cy="411480"/>
          </a:xfrm>
          <a:prstGeom prst="roundRect">
            <a:avLst/>
          </a:prstGeom>
          <a:solidFill>
            <a:srgbClr val="1F497D"/>
          </a:solidFill>
          <a:ln w="12700">
            <a:solidFill>
              <a:srgbClr val="1F497D"/>
            </a:solidFill>
            <a:prstDash val="solid"/>
          </a:ln>
        </p:spPr>
      </p:sp>
      <p:sp>
        <p:nvSpPr>
          <p:cNvPr id="7" name="Text 4"/>
          <p:cNvSpPr txBox="1"/>
          <p:nvPr/>
        </p:nvSpPr>
        <p:spPr>
          <a:xfrm>
            <a:off x="694944" y="1920240"/>
            <a:ext cx="1536192"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p>
        </p:txBody>
      </p:sp>
      <p:sp>
        <p:nvSpPr>
          <p:cNvPr id="8" name="Shape 5"/>
          <p:cNvSpPr/>
          <p:nvPr/>
        </p:nvSpPr>
        <p:spPr>
          <a:xfrm>
            <a:off x="2514600" y="1810512"/>
            <a:ext cx="1920240" cy="411480"/>
          </a:xfrm>
          <a:prstGeom prst="roundRect">
            <a:avLst/>
          </a:prstGeom>
          <a:solidFill>
            <a:srgbClr val="1F497D"/>
          </a:solidFill>
          <a:ln w="12700">
            <a:solidFill>
              <a:srgbClr val="1F497D"/>
            </a:solidFill>
            <a:prstDash val="solid"/>
          </a:ln>
        </p:spPr>
      </p:sp>
      <p:sp>
        <p:nvSpPr>
          <p:cNvPr id="9" name="Text 6"/>
          <p:cNvSpPr txBox="1"/>
          <p:nvPr/>
        </p:nvSpPr>
        <p:spPr>
          <a:xfrm>
            <a:off x="2569464" y="1920240"/>
            <a:ext cx="1810512"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Strength</a:t>
            </a:r>
            <a:endParaRPr lang="en-US" sz="1150" dirty="0"/>
          </a:p>
        </p:txBody>
      </p:sp>
      <p:sp>
        <p:nvSpPr>
          <p:cNvPr id="10" name="Shape 7"/>
          <p:cNvSpPr/>
          <p:nvPr/>
        </p:nvSpPr>
        <p:spPr>
          <a:xfrm>
            <a:off x="4709160" y="1810512"/>
            <a:ext cx="2971800" cy="411480"/>
          </a:xfrm>
          <a:prstGeom prst="roundRect">
            <a:avLst/>
          </a:prstGeom>
          <a:solidFill>
            <a:srgbClr val="1F497D"/>
          </a:solidFill>
          <a:ln w="12700">
            <a:solidFill>
              <a:srgbClr val="1F497D"/>
            </a:solidFill>
            <a:prstDash val="solid"/>
          </a:ln>
        </p:spPr>
      </p:sp>
      <p:sp>
        <p:nvSpPr>
          <p:cNvPr id="11" name="Text 8"/>
          <p:cNvSpPr txBox="1"/>
          <p:nvPr/>
        </p:nvSpPr>
        <p:spPr>
          <a:xfrm>
            <a:off x="4764024" y="1920240"/>
            <a:ext cx="2862072"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Operational risk</a:t>
            </a:r>
            <a:endParaRPr lang="en-US" sz="1150" dirty="0"/>
          </a:p>
        </p:txBody>
      </p:sp>
      <p:sp>
        <p:nvSpPr>
          <p:cNvPr id="12" name="Shape 9"/>
          <p:cNvSpPr/>
          <p:nvPr/>
        </p:nvSpPr>
        <p:spPr>
          <a:xfrm>
            <a:off x="8001000" y="1810512"/>
            <a:ext cx="3520440" cy="411480"/>
          </a:xfrm>
          <a:prstGeom prst="roundRect">
            <a:avLst/>
          </a:prstGeom>
          <a:solidFill>
            <a:srgbClr val="1F497D"/>
          </a:solidFill>
          <a:ln w="12700">
            <a:solidFill>
              <a:srgbClr val="1F497D"/>
            </a:solidFill>
            <a:prstDash val="solid"/>
          </a:ln>
        </p:spPr>
      </p:sp>
      <p:sp>
        <p:nvSpPr>
          <p:cNvPr id="13" name="Text 10"/>
          <p:cNvSpPr txBox="1"/>
          <p:nvPr/>
        </p:nvSpPr>
        <p:spPr>
          <a:xfrm>
            <a:off x="8055864" y="1920240"/>
            <a:ext cx="338328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Good fit</a:t>
            </a:r>
            <a:endParaRPr lang="en-US" sz="1150" dirty="0"/>
          </a:p>
        </p:txBody>
      </p:sp>
      <p:sp>
        <p:nvSpPr>
          <p:cNvPr id="14" name="Shape 11"/>
          <p:cNvSpPr/>
          <p:nvPr/>
        </p:nvSpPr>
        <p:spPr>
          <a:xfrm>
            <a:off x="640080" y="2359152"/>
            <a:ext cx="1645920" cy="640080"/>
          </a:xfrm>
          <a:prstGeom prst="roundRect">
            <a:avLst/>
          </a:prstGeom>
          <a:solidFill>
            <a:srgbClr val="FFFFFF"/>
          </a:solidFill>
          <a:ln w="12700">
            <a:solidFill>
              <a:srgbClr val="CBD5E1"/>
            </a:solidFill>
            <a:prstDash val="solid"/>
          </a:ln>
        </p:spPr>
      </p:sp>
      <p:sp>
        <p:nvSpPr>
          <p:cNvPr id="15" name="Text 12"/>
          <p:cNvSpPr txBox="1"/>
          <p:nvPr/>
        </p:nvSpPr>
        <p:spPr>
          <a:xfrm>
            <a:off x="713232" y="2450592"/>
            <a:ext cx="1499616" cy="457200"/>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TOTP</a:t>
            </a:r>
            <a:endParaRPr lang="en-US" sz="1150" dirty="0"/>
          </a:p>
        </p:txBody>
      </p:sp>
      <p:sp>
        <p:nvSpPr>
          <p:cNvPr id="16" name="Shape 13"/>
          <p:cNvSpPr/>
          <p:nvPr/>
        </p:nvSpPr>
        <p:spPr>
          <a:xfrm>
            <a:off x="2514600" y="2359152"/>
            <a:ext cx="1920240" cy="640080"/>
          </a:xfrm>
          <a:prstGeom prst="roundRect">
            <a:avLst/>
          </a:prstGeom>
          <a:solidFill>
            <a:srgbClr val="FFFFFF"/>
          </a:solidFill>
          <a:ln w="12700">
            <a:solidFill>
              <a:srgbClr val="CBD5E1"/>
            </a:solidFill>
            <a:prstDash val="solid"/>
          </a:ln>
        </p:spPr>
      </p:sp>
      <p:sp>
        <p:nvSpPr>
          <p:cNvPr id="17" name="Text 14"/>
          <p:cNvSpPr txBox="1"/>
          <p:nvPr/>
        </p:nvSpPr>
        <p:spPr>
          <a:xfrm>
            <a:off x="2587752" y="2450592"/>
            <a:ext cx="17739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portable and offline</a:t>
            </a:r>
            <a:endParaRPr lang="en-US" sz="1150" dirty="0"/>
          </a:p>
        </p:txBody>
      </p:sp>
      <p:sp>
        <p:nvSpPr>
          <p:cNvPr id="18" name="Shape 15"/>
          <p:cNvSpPr/>
          <p:nvPr/>
        </p:nvSpPr>
        <p:spPr>
          <a:xfrm>
            <a:off x="4709160" y="2359152"/>
            <a:ext cx="2971800" cy="640080"/>
          </a:xfrm>
          <a:prstGeom prst="roundRect">
            <a:avLst/>
          </a:prstGeom>
          <a:solidFill>
            <a:srgbClr val="FFFFFF"/>
          </a:solidFill>
          <a:ln w="12700">
            <a:solidFill>
              <a:srgbClr val="CBD5E1"/>
            </a:solidFill>
            <a:prstDash val="solid"/>
          </a:ln>
        </p:spPr>
      </p:sp>
      <p:sp>
        <p:nvSpPr>
          <p:cNvPr id="19" name="Text 16"/>
          <p:cNvSpPr txBox="1"/>
          <p:nvPr/>
        </p:nvSpPr>
        <p:spPr>
          <a:xfrm>
            <a:off x="4782312" y="2450592"/>
            <a:ext cx="282549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secret theft, phishing, clock drift</a:t>
            </a:r>
            <a:endParaRPr lang="en-US" sz="1150" dirty="0"/>
          </a:p>
        </p:txBody>
      </p:sp>
      <p:sp>
        <p:nvSpPr>
          <p:cNvPr id="20" name="Shape 17"/>
          <p:cNvSpPr/>
          <p:nvPr/>
        </p:nvSpPr>
        <p:spPr>
          <a:xfrm>
            <a:off x="8001000" y="2359152"/>
            <a:ext cx="3520440" cy="640080"/>
          </a:xfrm>
          <a:prstGeom prst="roundRect">
            <a:avLst/>
          </a:prstGeom>
          <a:solidFill>
            <a:srgbClr val="FFFFFF"/>
          </a:solidFill>
          <a:ln w="12700">
            <a:solidFill>
              <a:srgbClr val="CBD5E1"/>
            </a:solidFill>
            <a:prstDash val="solid"/>
          </a:ln>
        </p:spPr>
      </p:sp>
      <p:sp>
        <p:nvSpPr>
          <p:cNvPr id="21" name="Text 18"/>
          <p:cNvSpPr txBox="1"/>
          <p:nvPr/>
        </p:nvSpPr>
        <p:spPr>
          <a:xfrm>
            <a:off x="8074152" y="2450592"/>
            <a:ext cx="33741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broad compatibility</a:t>
            </a:r>
            <a:endParaRPr lang="en-US" sz="1150" dirty="0"/>
          </a:p>
        </p:txBody>
      </p:sp>
      <p:sp>
        <p:nvSpPr>
          <p:cNvPr id="22" name="Shape 19"/>
          <p:cNvSpPr/>
          <p:nvPr/>
        </p:nvSpPr>
        <p:spPr>
          <a:xfrm>
            <a:off x="640080" y="3182112"/>
            <a:ext cx="1645920" cy="640080"/>
          </a:xfrm>
          <a:prstGeom prst="roundRect">
            <a:avLst/>
          </a:prstGeom>
          <a:solidFill>
            <a:srgbClr val="EEF2FA"/>
          </a:solidFill>
          <a:ln w="12700">
            <a:solidFill>
              <a:srgbClr val="CBD5E1"/>
            </a:solidFill>
            <a:prstDash val="solid"/>
          </a:ln>
        </p:spPr>
      </p:sp>
      <p:sp>
        <p:nvSpPr>
          <p:cNvPr id="23" name="Text 20"/>
          <p:cNvSpPr txBox="1"/>
          <p:nvPr/>
        </p:nvSpPr>
        <p:spPr>
          <a:xfrm>
            <a:off x="713232" y="3273552"/>
            <a:ext cx="1499616" cy="457200"/>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FIDO2</a:t>
            </a:r>
            <a:endParaRPr lang="en-US" sz="1150" dirty="0"/>
          </a:p>
        </p:txBody>
      </p:sp>
      <p:sp>
        <p:nvSpPr>
          <p:cNvPr id="24" name="Shape 21"/>
          <p:cNvSpPr/>
          <p:nvPr/>
        </p:nvSpPr>
        <p:spPr>
          <a:xfrm>
            <a:off x="2514600" y="3182112"/>
            <a:ext cx="1920240" cy="640080"/>
          </a:xfrm>
          <a:prstGeom prst="roundRect">
            <a:avLst/>
          </a:prstGeom>
          <a:solidFill>
            <a:srgbClr val="EEF2FA"/>
          </a:solidFill>
          <a:ln w="12700">
            <a:solidFill>
              <a:srgbClr val="CBD5E1"/>
            </a:solidFill>
            <a:prstDash val="solid"/>
          </a:ln>
        </p:spPr>
      </p:sp>
      <p:sp>
        <p:nvSpPr>
          <p:cNvPr id="25" name="Text 22"/>
          <p:cNvSpPr txBox="1"/>
          <p:nvPr/>
        </p:nvSpPr>
        <p:spPr>
          <a:xfrm>
            <a:off x="2587752" y="3273552"/>
            <a:ext cx="17739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verifier name binding</a:t>
            </a:r>
            <a:endParaRPr lang="en-US" sz="1150" dirty="0"/>
          </a:p>
        </p:txBody>
      </p:sp>
      <p:sp>
        <p:nvSpPr>
          <p:cNvPr id="26" name="Shape 23"/>
          <p:cNvSpPr/>
          <p:nvPr/>
        </p:nvSpPr>
        <p:spPr>
          <a:xfrm>
            <a:off x="4709160" y="3182112"/>
            <a:ext cx="2971800" cy="640080"/>
          </a:xfrm>
          <a:prstGeom prst="roundRect">
            <a:avLst/>
          </a:prstGeom>
          <a:solidFill>
            <a:srgbClr val="EEF2FA"/>
          </a:solidFill>
          <a:ln w="12700">
            <a:solidFill>
              <a:srgbClr val="CBD5E1"/>
            </a:solidFill>
            <a:prstDash val="solid"/>
          </a:ln>
        </p:spPr>
      </p:sp>
      <p:sp>
        <p:nvSpPr>
          <p:cNvPr id="27" name="Text 24"/>
          <p:cNvSpPr txBox="1"/>
          <p:nvPr/>
        </p:nvSpPr>
        <p:spPr>
          <a:xfrm>
            <a:off x="4782312" y="3273552"/>
            <a:ext cx="282549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enrollment and recovery</a:t>
            </a:r>
            <a:endParaRPr lang="en-US" sz="1150" dirty="0"/>
          </a:p>
        </p:txBody>
      </p:sp>
      <p:sp>
        <p:nvSpPr>
          <p:cNvPr id="28" name="Shape 25"/>
          <p:cNvSpPr/>
          <p:nvPr/>
        </p:nvSpPr>
        <p:spPr>
          <a:xfrm>
            <a:off x="8001000" y="3182112"/>
            <a:ext cx="3520440" cy="640080"/>
          </a:xfrm>
          <a:prstGeom prst="roundRect">
            <a:avLst/>
          </a:prstGeom>
          <a:solidFill>
            <a:srgbClr val="EEF2FA"/>
          </a:solidFill>
          <a:ln w="12700">
            <a:solidFill>
              <a:srgbClr val="CBD5E1"/>
            </a:solidFill>
            <a:prstDash val="solid"/>
          </a:ln>
        </p:spPr>
      </p:sp>
      <p:sp>
        <p:nvSpPr>
          <p:cNvPr id="29" name="Text 26"/>
          <p:cNvSpPr txBox="1"/>
          <p:nvPr/>
        </p:nvSpPr>
        <p:spPr>
          <a:xfrm>
            <a:off x="8074152" y="3273552"/>
            <a:ext cx="33741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privileged access</a:t>
            </a:r>
            <a:endParaRPr lang="en-US" sz="1150" dirty="0"/>
          </a:p>
        </p:txBody>
      </p:sp>
      <p:sp>
        <p:nvSpPr>
          <p:cNvPr id="30" name="Shape 27"/>
          <p:cNvSpPr/>
          <p:nvPr/>
        </p:nvSpPr>
        <p:spPr>
          <a:xfrm>
            <a:off x="640080" y="4005072"/>
            <a:ext cx="1645920" cy="640080"/>
          </a:xfrm>
          <a:prstGeom prst="roundRect">
            <a:avLst/>
          </a:prstGeom>
          <a:solidFill>
            <a:srgbClr val="FFFFFF"/>
          </a:solidFill>
          <a:ln w="12700">
            <a:solidFill>
              <a:srgbClr val="CBD5E1"/>
            </a:solidFill>
            <a:prstDash val="solid"/>
          </a:ln>
        </p:spPr>
      </p:sp>
      <p:sp>
        <p:nvSpPr>
          <p:cNvPr id="31" name="Text 28"/>
          <p:cNvSpPr txBox="1"/>
          <p:nvPr/>
        </p:nvSpPr>
        <p:spPr>
          <a:xfrm>
            <a:off x="713232" y="4096512"/>
            <a:ext cx="1499616" cy="457200"/>
          </a:xfrm>
          <a:prstGeom prst="rect">
            <a:avLst/>
          </a:prstGeom>
          <a:noFill/>
          <a:ln/>
        </p:spPr>
        <p:txBody>
          <a:bodyPr wrap="square" lIns="508" tIns="508" rIns="508" bIns="508" rtlCol="0" anchor="ctr">
            <a:normAutofit/>
          </a:bodyPr>
          <a:lstStyle/>
          <a:p>
            <a:pPr algn="ctr" indent="0" marL="0">
              <a:buNone/>
            </a:pPr>
            <a:r>
              <a:rPr lang="en-US" sz="1150" dirty="0">
                <a:solidFill>
                  <a:srgbClr val="203040"/>
                </a:solidFill>
                <a:latin typeface="Calibri" pitchFamily="34" charset="0"/>
                <a:ea typeface="Calibri" pitchFamily="34" charset="-122"/>
                <a:cs typeface="Calibri" pitchFamily="34" charset="-120"/>
              </a:rPr>
              <a:t>Push</a:t>
            </a:r>
            <a:endParaRPr lang="en-US" sz="1150" dirty="0"/>
          </a:p>
        </p:txBody>
      </p:sp>
      <p:sp>
        <p:nvSpPr>
          <p:cNvPr id="32" name="Shape 29"/>
          <p:cNvSpPr/>
          <p:nvPr/>
        </p:nvSpPr>
        <p:spPr>
          <a:xfrm>
            <a:off x="2514600" y="4005072"/>
            <a:ext cx="1920240" cy="640080"/>
          </a:xfrm>
          <a:prstGeom prst="roundRect">
            <a:avLst/>
          </a:prstGeom>
          <a:solidFill>
            <a:srgbClr val="FFFFFF"/>
          </a:solidFill>
          <a:ln w="12700">
            <a:solidFill>
              <a:srgbClr val="CBD5E1"/>
            </a:solidFill>
            <a:prstDash val="solid"/>
          </a:ln>
        </p:spPr>
      </p:sp>
      <p:sp>
        <p:nvSpPr>
          <p:cNvPr id="33" name="Text 30"/>
          <p:cNvSpPr txBox="1"/>
          <p:nvPr/>
        </p:nvSpPr>
        <p:spPr>
          <a:xfrm>
            <a:off x="2587752" y="4096512"/>
            <a:ext cx="17739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simple user experience</a:t>
            </a:r>
            <a:endParaRPr lang="en-US" sz="1150" dirty="0"/>
          </a:p>
        </p:txBody>
      </p:sp>
      <p:sp>
        <p:nvSpPr>
          <p:cNvPr id="34" name="Shape 31"/>
          <p:cNvSpPr/>
          <p:nvPr/>
        </p:nvSpPr>
        <p:spPr>
          <a:xfrm>
            <a:off x="4709160" y="4005072"/>
            <a:ext cx="2971800" cy="640080"/>
          </a:xfrm>
          <a:prstGeom prst="roundRect">
            <a:avLst/>
          </a:prstGeom>
          <a:solidFill>
            <a:srgbClr val="FFFFFF"/>
          </a:solidFill>
          <a:ln w="12700">
            <a:solidFill>
              <a:srgbClr val="CBD5E1"/>
            </a:solidFill>
            <a:prstDash val="solid"/>
          </a:ln>
        </p:spPr>
      </p:sp>
      <p:sp>
        <p:nvSpPr>
          <p:cNvPr id="35" name="Text 32"/>
          <p:cNvSpPr txBox="1"/>
          <p:nvPr/>
        </p:nvSpPr>
        <p:spPr>
          <a:xfrm>
            <a:off x="4782312" y="4096512"/>
            <a:ext cx="282549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fatigue and blind approval</a:t>
            </a:r>
            <a:endParaRPr lang="en-US" sz="1150" dirty="0"/>
          </a:p>
        </p:txBody>
      </p:sp>
      <p:sp>
        <p:nvSpPr>
          <p:cNvPr id="36" name="Shape 33"/>
          <p:cNvSpPr/>
          <p:nvPr/>
        </p:nvSpPr>
        <p:spPr>
          <a:xfrm>
            <a:off x="8001000" y="4005072"/>
            <a:ext cx="3520440" cy="640080"/>
          </a:xfrm>
          <a:prstGeom prst="roundRect">
            <a:avLst/>
          </a:prstGeom>
          <a:solidFill>
            <a:srgbClr val="FFFFFF"/>
          </a:solidFill>
          <a:ln w="12700">
            <a:solidFill>
              <a:srgbClr val="CBD5E1"/>
            </a:solidFill>
            <a:prstDash val="solid"/>
          </a:ln>
        </p:spPr>
      </p:sp>
      <p:sp>
        <p:nvSpPr>
          <p:cNvPr id="37" name="Text 34"/>
          <p:cNvSpPr txBox="1"/>
          <p:nvPr/>
        </p:nvSpPr>
        <p:spPr>
          <a:xfrm>
            <a:off x="8074152" y="4096512"/>
            <a:ext cx="3374136" cy="457200"/>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managed workforce with controls</a:t>
            </a:r>
            <a:endParaRPr lang="en-US" sz="1150" dirty="0"/>
          </a:p>
        </p:txBody>
      </p:sp>
      <p:sp>
        <p:nvSpPr>
          <p:cNvPr id="38" name="Shape 35"/>
          <p:cNvSpPr/>
          <p:nvPr/>
        </p:nvSpPr>
        <p:spPr>
          <a:xfrm>
            <a:off x="3794760" y="5138928"/>
            <a:ext cx="4526280" cy="274320"/>
          </a:xfrm>
          <a:prstGeom prst="roundRect">
            <a:avLst/>
          </a:prstGeom>
          <a:solidFill>
            <a:srgbClr val="70AD47"/>
          </a:solidFill>
          <a:ln w="12700">
            <a:solidFill>
              <a:srgbClr val="70AD47"/>
            </a:solidFill>
            <a:prstDash val="solid"/>
          </a:ln>
        </p:spPr>
      </p:sp>
      <p:sp>
        <p:nvSpPr>
          <p:cNvPr id="39" name="Text 36"/>
          <p:cNvSpPr txBox="1"/>
          <p:nvPr/>
        </p:nvSpPr>
        <p:spPr>
          <a:xfrm>
            <a:off x="3867912" y="5157216"/>
            <a:ext cx="43799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SECURITY IS A SYSTEM PROPERTY</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ENROLLMENT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MFA enrollment is part of the security boundary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secure login can be undermined by an insecure setup or recovery path.</a:t>
            </a:r>
            <a:endParaRPr lang="en-US" sz="1250" dirty="0"/>
          </a:p>
        </p:txBody>
      </p:sp>
      <p:sp>
        <p:nvSpPr>
          <p:cNvPr id="6" name="Shape 3"/>
          <p:cNvSpPr/>
          <p:nvPr/>
        </p:nvSpPr>
        <p:spPr>
          <a:xfrm>
            <a:off x="1344168" y="187452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Proof</a:t>
            </a:r>
            <a:endParaRPr lang="en-US" sz="1700" dirty="0"/>
          </a:p>
        </p:txBody>
      </p:sp>
      <p:sp>
        <p:nvSpPr>
          <p:cNvPr id="9" name="Text 6"/>
          <p:cNvSpPr txBox="1"/>
          <p:nvPr/>
        </p:nvSpPr>
        <p:spPr>
          <a:xfrm>
            <a:off x="594360"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identity check</a:t>
            </a:r>
            <a:endParaRPr lang="en-US" sz="1250" dirty="0"/>
          </a:p>
        </p:txBody>
      </p:sp>
      <p:sp>
        <p:nvSpPr>
          <p:cNvPr id="10" name="Shape 7"/>
          <p:cNvSpPr/>
          <p:nvPr/>
        </p:nvSpPr>
        <p:spPr>
          <a:xfrm>
            <a:off x="2011680" y="2157984"/>
            <a:ext cx="640080" cy="0"/>
          </a:xfrm>
          <a:prstGeom prst="line">
            <a:avLst/>
          </a:prstGeom>
          <a:noFill/>
          <a:ln w="25400">
            <a:solidFill>
              <a:srgbClr val="94A3B8"/>
            </a:solidFill>
            <a:prstDash val="solid"/>
            <a:headEnd type="none"/>
            <a:tailEnd type="triangle"/>
          </a:ln>
        </p:spPr>
      </p:sp>
      <p:sp>
        <p:nvSpPr>
          <p:cNvPr id="11" name="Shape 8"/>
          <p:cNvSpPr/>
          <p:nvPr/>
        </p:nvSpPr>
        <p:spPr>
          <a:xfrm>
            <a:off x="3648456" y="1874520"/>
            <a:ext cx="566928" cy="566928"/>
          </a:xfrm>
          <a:prstGeom prst="ellipse">
            <a:avLst/>
          </a:prstGeom>
          <a:solidFill>
            <a:srgbClr val="4F81BD"/>
          </a:solidFill>
          <a:ln w="12700">
            <a:solidFill>
              <a:srgbClr val="4F81BD"/>
            </a:solidFill>
            <a:prstDash val="solid"/>
          </a:ln>
        </p:spPr>
      </p:sp>
      <p:sp>
        <p:nvSpPr>
          <p:cNvPr id="12" name="Text 9"/>
          <p:cNvSpPr txBox="1"/>
          <p:nvPr/>
        </p:nvSpPr>
        <p:spPr>
          <a:xfrm>
            <a:off x="3648456"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Bind</a:t>
            </a:r>
            <a:endParaRPr lang="en-US" sz="1700" dirty="0"/>
          </a:p>
        </p:txBody>
      </p:sp>
      <p:sp>
        <p:nvSpPr>
          <p:cNvPr id="14" name="Text 11"/>
          <p:cNvSpPr txBox="1"/>
          <p:nvPr/>
        </p:nvSpPr>
        <p:spPr>
          <a:xfrm>
            <a:off x="2898648"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register authenticator</a:t>
            </a:r>
            <a:endParaRPr lang="en-US" sz="1250" dirty="0"/>
          </a:p>
        </p:txBody>
      </p:sp>
      <p:sp>
        <p:nvSpPr>
          <p:cNvPr id="15" name="Shape 12"/>
          <p:cNvSpPr/>
          <p:nvPr/>
        </p:nvSpPr>
        <p:spPr>
          <a:xfrm>
            <a:off x="4315968" y="2157984"/>
            <a:ext cx="640080" cy="0"/>
          </a:xfrm>
          <a:prstGeom prst="line">
            <a:avLst/>
          </a:prstGeom>
          <a:noFill/>
          <a:ln w="25400">
            <a:solidFill>
              <a:srgbClr val="94A3B8"/>
            </a:solidFill>
            <a:prstDash val="solid"/>
            <a:headEnd type="none"/>
            <a:tailEnd type="triangle"/>
          </a:ln>
        </p:spPr>
      </p:sp>
      <p:sp>
        <p:nvSpPr>
          <p:cNvPr id="16" name="Shape 13"/>
          <p:cNvSpPr/>
          <p:nvPr/>
        </p:nvSpPr>
        <p:spPr>
          <a:xfrm>
            <a:off x="5952744" y="1874520"/>
            <a:ext cx="566928" cy="566928"/>
          </a:xfrm>
          <a:prstGeom prst="ellipse">
            <a:avLst/>
          </a:prstGeom>
          <a:solidFill>
            <a:srgbClr val="F79646"/>
          </a:solidFill>
          <a:ln w="12700">
            <a:solidFill>
              <a:srgbClr val="F79646"/>
            </a:solidFill>
            <a:prstDash val="solid"/>
          </a:ln>
        </p:spPr>
      </p:sp>
      <p:sp>
        <p:nvSpPr>
          <p:cNvPr id="17" name="Text 14"/>
          <p:cNvSpPr txBox="1"/>
          <p:nvPr/>
        </p:nvSpPr>
        <p:spPr>
          <a:xfrm>
            <a:off x="5952744"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Test</a:t>
            </a:r>
            <a:endParaRPr lang="en-US" sz="1700" dirty="0"/>
          </a:p>
        </p:txBody>
      </p:sp>
      <p:sp>
        <p:nvSpPr>
          <p:cNvPr id="19" name="Text 16"/>
          <p:cNvSpPr txBox="1"/>
          <p:nvPr/>
        </p:nvSpPr>
        <p:spPr>
          <a:xfrm>
            <a:off x="5202936"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complete challenge</a:t>
            </a:r>
            <a:endParaRPr lang="en-US" sz="1250" dirty="0"/>
          </a:p>
        </p:txBody>
      </p:sp>
      <p:sp>
        <p:nvSpPr>
          <p:cNvPr id="20" name="Shape 17"/>
          <p:cNvSpPr/>
          <p:nvPr/>
        </p:nvSpPr>
        <p:spPr>
          <a:xfrm>
            <a:off x="6620256" y="2157984"/>
            <a:ext cx="640080" cy="0"/>
          </a:xfrm>
          <a:prstGeom prst="line">
            <a:avLst/>
          </a:prstGeom>
          <a:noFill/>
          <a:ln w="25400">
            <a:solidFill>
              <a:srgbClr val="94A3B8"/>
            </a:solidFill>
            <a:prstDash val="solid"/>
            <a:headEnd type="none"/>
            <a:tailEnd type="triangle"/>
          </a:ln>
        </p:spPr>
      </p:sp>
      <p:sp>
        <p:nvSpPr>
          <p:cNvPr id="21" name="Shape 18"/>
          <p:cNvSpPr/>
          <p:nvPr/>
        </p:nvSpPr>
        <p:spPr>
          <a:xfrm>
            <a:off x="8257032" y="187452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57032"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Protect</a:t>
            </a:r>
            <a:endParaRPr lang="en-US" sz="1700" dirty="0"/>
          </a:p>
        </p:txBody>
      </p:sp>
      <p:sp>
        <p:nvSpPr>
          <p:cNvPr id="24" name="Text 21"/>
          <p:cNvSpPr txBox="1"/>
          <p:nvPr/>
        </p:nvSpPr>
        <p:spPr>
          <a:xfrm>
            <a:off x="7507224"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recovery and backup</a:t>
            </a:r>
            <a:endParaRPr lang="en-US" sz="1250" dirty="0"/>
          </a:p>
        </p:txBody>
      </p:sp>
      <p:sp>
        <p:nvSpPr>
          <p:cNvPr id="25" name="Shape 22"/>
          <p:cNvSpPr/>
          <p:nvPr/>
        </p:nvSpPr>
        <p:spPr>
          <a:xfrm>
            <a:off x="8924544" y="2157984"/>
            <a:ext cx="640080" cy="0"/>
          </a:xfrm>
          <a:prstGeom prst="line">
            <a:avLst/>
          </a:prstGeom>
          <a:noFill/>
          <a:ln w="25400">
            <a:solidFill>
              <a:srgbClr val="94A3B8"/>
            </a:solidFill>
            <a:prstDash val="solid"/>
            <a:headEnd type="none"/>
            <a:tailEnd type="triangle"/>
          </a:ln>
        </p:spPr>
      </p:sp>
      <p:sp>
        <p:nvSpPr>
          <p:cNvPr id="26" name="Shape 23"/>
          <p:cNvSpPr/>
          <p:nvPr/>
        </p:nvSpPr>
        <p:spPr>
          <a:xfrm>
            <a:off x="10561320" y="1874520"/>
            <a:ext cx="566928" cy="566928"/>
          </a:xfrm>
          <a:prstGeom prst="ellipse">
            <a:avLst/>
          </a:prstGeom>
          <a:solidFill>
            <a:srgbClr val="C0504D"/>
          </a:solidFill>
          <a:ln w="12700">
            <a:solidFill>
              <a:srgbClr val="C0504D"/>
            </a:solidFill>
            <a:prstDash val="solid"/>
          </a:ln>
        </p:spPr>
      </p:sp>
      <p:sp>
        <p:nvSpPr>
          <p:cNvPr id="27" name="Text 24"/>
          <p:cNvSpPr txBox="1"/>
          <p:nvPr/>
        </p:nvSpPr>
        <p:spPr>
          <a:xfrm>
            <a:off x="10561320"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74320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Revoke</a:t>
            </a:r>
            <a:endParaRPr lang="en-US" sz="1700" dirty="0"/>
          </a:p>
        </p:txBody>
      </p:sp>
      <p:sp>
        <p:nvSpPr>
          <p:cNvPr id="29" name="Text 26"/>
          <p:cNvSpPr txBox="1"/>
          <p:nvPr/>
        </p:nvSpPr>
        <p:spPr>
          <a:xfrm>
            <a:off x="9811512" y="3182112"/>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loss or compromise</a:t>
            </a:r>
            <a:endParaRPr lang="en-US" sz="1250" dirty="0"/>
          </a:p>
        </p:txBody>
      </p:sp>
      <p:sp>
        <p:nvSpPr>
          <p:cNvPr id="30" name="Shape 27"/>
          <p:cNvSpPr/>
          <p:nvPr/>
        </p:nvSpPr>
        <p:spPr>
          <a:xfrm>
            <a:off x="1005840" y="4498848"/>
            <a:ext cx="10149840" cy="749808"/>
          </a:xfrm>
          <a:prstGeom prst="roundRect">
            <a:avLst/>
          </a:prstGeom>
          <a:solidFill>
            <a:srgbClr val="FFFFFF"/>
          </a:solidFill>
          <a:ln w="12700">
            <a:solidFill>
              <a:srgbClr val="C0504D"/>
            </a:solidFill>
            <a:prstDash val="solid"/>
          </a:ln>
        </p:spPr>
      </p:sp>
      <p:sp>
        <p:nvSpPr>
          <p:cNvPr id="31" name="Shape 28"/>
          <p:cNvSpPr/>
          <p:nvPr/>
        </p:nvSpPr>
        <p:spPr>
          <a:xfrm>
            <a:off x="1005840" y="4498848"/>
            <a:ext cx="100584" cy="749808"/>
          </a:xfrm>
          <a:prstGeom prst="rect">
            <a:avLst/>
          </a:prstGeom>
          <a:solidFill>
            <a:srgbClr val="C0504D"/>
          </a:solidFill>
          <a:ln w="12700">
            <a:solidFill>
              <a:srgbClr val="C0504D"/>
            </a:solidFill>
            <a:prstDash val="solid"/>
          </a:ln>
        </p:spPr>
      </p:sp>
      <p:sp>
        <p:nvSpPr>
          <p:cNvPr id="32" name="Text 29"/>
          <p:cNvSpPr txBox="1"/>
          <p:nvPr/>
        </p:nvSpPr>
        <p:spPr>
          <a:xfrm>
            <a:off x="1243584" y="4608576"/>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Red flag</a:t>
            </a:r>
            <a:endParaRPr lang="en-US" sz="1400" dirty="0"/>
          </a:p>
        </p:txBody>
      </p:sp>
      <p:sp>
        <p:nvSpPr>
          <p:cNvPr id="33" name="Text 30"/>
          <p:cNvSpPr txBox="1"/>
          <p:nvPr/>
        </p:nvSpPr>
        <p:spPr>
          <a:xfrm>
            <a:off x="1243584" y="4910328"/>
            <a:ext cx="9802368" cy="24688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Help-desk recovery is authentication. Treat it like a privileged operation.</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MFA FAILURE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Availability and security fail in different ways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good design anticipates both lockout and bypass.</a:t>
            </a:r>
            <a:endParaRPr lang="en-US" sz="1250" dirty="0"/>
          </a:p>
        </p:txBody>
      </p:sp>
      <p:sp>
        <p:nvSpPr>
          <p:cNvPr id="6" name="Shape 3"/>
          <p:cNvSpPr/>
          <p:nvPr/>
        </p:nvSpPr>
        <p:spPr>
          <a:xfrm>
            <a:off x="777240" y="1874520"/>
            <a:ext cx="4800600" cy="1024128"/>
          </a:xfrm>
          <a:prstGeom prst="roundRect">
            <a:avLst/>
          </a:prstGeom>
          <a:solidFill>
            <a:srgbClr val="FFFFFF"/>
          </a:solidFill>
          <a:ln w="12700">
            <a:solidFill>
              <a:srgbClr val="F79646"/>
            </a:solidFill>
            <a:prstDash val="solid"/>
          </a:ln>
        </p:spPr>
      </p:sp>
      <p:sp>
        <p:nvSpPr>
          <p:cNvPr id="7" name="Shape 4"/>
          <p:cNvSpPr/>
          <p:nvPr/>
        </p:nvSpPr>
        <p:spPr>
          <a:xfrm>
            <a:off x="777240" y="1874520"/>
            <a:ext cx="100584" cy="1024128"/>
          </a:xfrm>
          <a:prstGeom prst="rect">
            <a:avLst/>
          </a:prstGeom>
          <a:solidFill>
            <a:srgbClr val="F79646"/>
          </a:solidFill>
          <a:ln w="12700">
            <a:solidFill>
              <a:srgbClr val="F79646"/>
            </a:solidFill>
            <a:prstDash val="solid"/>
          </a:ln>
        </p:spPr>
      </p:sp>
      <p:sp>
        <p:nvSpPr>
          <p:cNvPr id="8" name="Text 5"/>
          <p:cNvSpPr txBox="1"/>
          <p:nvPr/>
        </p:nvSpPr>
        <p:spPr>
          <a:xfrm>
            <a:off x="1014984" y="198424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Lockout</a:t>
            </a:r>
            <a:endParaRPr lang="en-US" sz="1400" dirty="0"/>
          </a:p>
        </p:txBody>
      </p:sp>
      <p:sp>
        <p:nvSpPr>
          <p:cNvPr id="9" name="Text 6"/>
          <p:cNvSpPr txBox="1"/>
          <p:nvPr/>
        </p:nvSpPr>
        <p:spPr>
          <a:xfrm>
            <a:off x="1014984" y="228600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legitimate user cannot authenticate</a:t>
            </a:r>
            <a:endParaRPr lang="en-US" sz="1250" dirty="0"/>
          </a:p>
        </p:txBody>
      </p:sp>
      <p:sp>
        <p:nvSpPr>
          <p:cNvPr id="10" name="Shape 7"/>
          <p:cNvSpPr/>
          <p:nvPr/>
        </p:nvSpPr>
        <p:spPr>
          <a:xfrm>
            <a:off x="6309360" y="1874520"/>
            <a:ext cx="4800600" cy="1024128"/>
          </a:xfrm>
          <a:prstGeom prst="roundRect">
            <a:avLst/>
          </a:prstGeom>
          <a:solidFill>
            <a:srgbClr val="FFFFFF"/>
          </a:solidFill>
          <a:ln w="12700">
            <a:solidFill>
              <a:srgbClr val="C0504D"/>
            </a:solidFill>
            <a:prstDash val="solid"/>
          </a:ln>
        </p:spPr>
      </p:sp>
      <p:sp>
        <p:nvSpPr>
          <p:cNvPr id="11" name="Shape 8"/>
          <p:cNvSpPr/>
          <p:nvPr/>
        </p:nvSpPr>
        <p:spPr>
          <a:xfrm>
            <a:off x="6309360" y="1874520"/>
            <a:ext cx="100584" cy="1024128"/>
          </a:xfrm>
          <a:prstGeom prst="rect">
            <a:avLst/>
          </a:prstGeom>
          <a:solidFill>
            <a:srgbClr val="C0504D"/>
          </a:solidFill>
          <a:ln w="12700">
            <a:solidFill>
              <a:srgbClr val="C0504D"/>
            </a:solidFill>
            <a:prstDash val="solid"/>
          </a:ln>
        </p:spPr>
      </p:sp>
      <p:sp>
        <p:nvSpPr>
          <p:cNvPr id="12" name="Text 9"/>
          <p:cNvSpPr txBox="1"/>
          <p:nvPr/>
        </p:nvSpPr>
        <p:spPr>
          <a:xfrm>
            <a:off x="6547104" y="198424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Bypass</a:t>
            </a:r>
            <a:endParaRPr lang="en-US" sz="1400" dirty="0"/>
          </a:p>
        </p:txBody>
      </p:sp>
      <p:sp>
        <p:nvSpPr>
          <p:cNvPr id="13" name="Text 10"/>
          <p:cNvSpPr txBox="1"/>
          <p:nvPr/>
        </p:nvSpPr>
        <p:spPr>
          <a:xfrm>
            <a:off x="6547104" y="228600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attacker gets an exception</a:t>
            </a:r>
            <a:endParaRPr lang="en-US" sz="1250" dirty="0"/>
          </a:p>
        </p:txBody>
      </p:sp>
      <p:sp>
        <p:nvSpPr>
          <p:cNvPr id="14" name="Shape 11"/>
          <p:cNvSpPr/>
          <p:nvPr/>
        </p:nvSpPr>
        <p:spPr>
          <a:xfrm>
            <a:off x="777240" y="3291840"/>
            <a:ext cx="4800600" cy="1024128"/>
          </a:xfrm>
          <a:prstGeom prst="roundRect">
            <a:avLst/>
          </a:prstGeom>
          <a:solidFill>
            <a:srgbClr val="FFFFFF"/>
          </a:solidFill>
          <a:ln w="12700">
            <a:solidFill>
              <a:srgbClr val="4F81BD"/>
            </a:solidFill>
            <a:prstDash val="solid"/>
          </a:ln>
        </p:spPr>
      </p:sp>
      <p:sp>
        <p:nvSpPr>
          <p:cNvPr id="15" name="Shape 12"/>
          <p:cNvSpPr/>
          <p:nvPr/>
        </p:nvSpPr>
        <p:spPr>
          <a:xfrm>
            <a:off x="777240" y="3291840"/>
            <a:ext cx="100584" cy="1024128"/>
          </a:xfrm>
          <a:prstGeom prst="rect">
            <a:avLst/>
          </a:prstGeom>
          <a:solidFill>
            <a:srgbClr val="4F81BD"/>
          </a:solidFill>
          <a:ln w="12700">
            <a:solidFill>
              <a:srgbClr val="4F81BD"/>
            </a:solidFill>
            <a:prstDash val="solid"/>
          </a:ln>
        </p:spPr>
      </p:sp>
      <p:sp>
        <p:nvSpPr>
          <p:cNvPr id="16" name="Text 13"/>
          <p:cNvSpPr txBox="1"/>
          <p:nvPr/>
        </p:nvSpPr>
        <p:spPr>
          <a:xfrm>
            <a:off x="1014984" y="340156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Outage</a:t>
            </a:r>
            <a:endParaRPr lang="en-US" sz="1400" dirty="0"/>
          </a:p>
        </p:txBody>
      </p:sp>
      <p:sp>
        <p:nvSpPr>
          <p:cNvPr id="17" name="Text 14"/>
          <p:cNvSpPr txBox="1"/>
          <p:nvPr/>
        </p:nvSpPr>
        <p:spPr>
          <a:xfrm>
            <a:off x="1014984" y="370332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provider or network unavailable</a:t>
            </a:r>
            <a:endParaRPr lang="en-US" sz="1250" dirty="0"/>
          </a:p>
        </p:txBody>
      </p:sp>
      <p:sp>
        <p:nvSpPr>
          <p:cNvPr id="18" name="Shape 15"/>
          <p:cNvSpPr/>
          <p:nvPr/>
        </p:nvSpPr>
        <p:spPr>
          <a:xfrm>
            <a:off x="6309360" y="3291840"/>
            <a:ext cx="4800600" cy="1024128"/>
          </a:xfrm>
          <a:prstGeom prst="roundRect">
            <a:avLst/>
          </a:prstGeom>
          <a:solidFill>
            <a:srgbClr val="FFFFFF"/>
          </a:solidFill>
          <a:ln w="12700">
            <a:solidFill>
              <a:srgbClr val="70AD47"/>
            </a:solidFill>
            <a:prstDash val="solid"/>
          </a:ln>
        </p:spPr>
      </p:sp>
      <p:sp>
        <p:nvSpPr>
          <p:cNvPr id="19" name="Shape 16"/>
          <p:cNvSpPr/>
          <p:nvPr/>
        </p:nvSpPr>
        <p:spPr>
          <a:xfrm>
            <a:off x="6309360" y="3291840"/>
            <a:ext cx="100584" cy="1024128"/>
          </a:xfrm>
          <a:prstGeom prst="rect">
            <a:avLst/>
          </a:prstGeom>
          <a:solidFill>
            <a:srgbClr val="70AD47"/>
          </a:solidFill>
          <a:ln w="12700">
            <a:solidFill>
              <a:srgbClr val="70AD47"/>
            </a:solidFill>
            <a:prstDash val="solid"/>
          </a:ln>
        </p:spPr>
      </p:sp>
      <p:sp>
        <p:nvSpPr>
          <p:cNvPr id="20" name="Text 17"/>
          <p:cNvSpPr txBox="1"/>
          <p:nvPr/>
        </p:nvSpPr>
        <p:spPr>
          <a:xfrm>
            <a:off x="6547104" y="340156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Recovery</a:t>
            </a:r>
            <a:endParaRPr lang="en-US" sz="1400" dirty="0"/>
          </a:p>
        </p:txBody>
      </p:sp>
      <p:sp>
        <p:nvSpPr>
          <p:cNvPr id="21" name="Text 18"/>
          <p:cNvSpPr txBox="1"/>
          <p:nvPr/>
        </p:nvSpPr>
        <p:spPr>
          <a:xfrm>
            <a:off x="6547104" y="3703320"/>
            <a:ext cx="4453128" cy="52120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new factor must be bound</a:t>
            </a:r>
            <a:endParaRPr lang="en-US" sz="1250" dirty="0"/>
          </a:p>
        </p:txBody>
      </p:sp>
      <p:sp>
        <p:nvSpPr>
          <p:cNvPr id="22" name="Shape 19"/>
          <p:cNvSpPr/>
          <p:nvPr/>
        </p:nvSpPr>
        <p:spPr>
          <a:xfrm>
            <a:off x="3017520" y="4983480"/>
            <a:ext cx="6126480" cy="274320"/>
          </a:xfrm>
          <a:prstGeom prst="roundRect">
            <a:avLst/>
          </a:prstGeom>
          <a:solidFill>
            <a:srgbClr val="F79646"/>
          </a:solidFill>
          <a:ln w="12700">
            <a:solidFill>
              <a:srgbClr val="F79646"/>
            </a:solidFill>
            <a:prstDash val="solid"/>
          </a:ln>
        </p:spPr>
      </p:sp>
      <p:sp>
        <p:nvSpPr>
          <p:cNvPr id="23" name="Text 20"/>
          <p:cNvSpPr txBox="1"/>
          <p:nvPr/>
        </p:nvSpPr>
        <p:spPr>
          <a:xfrm>
            <a:off x="3090672" y="5001768"/>
            <a:ext cx="59801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DISCUSS · WHICH FAILURE IS MOST DANGEROUS?</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SSHD</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AuthenticationMethods makes the required stack explicit</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Public-key success is not the same as MFA success.</a:t>
            </a:r>
            <a:endParaRPr lang="en-US" sz="1250" dirty="0"/>
          </a:p>
        </p:txBody>
      </p:sp>
      <p:sp>
        <p:nvSpPr>
          <p:cNvPr id="6" name="Shape 3"/>
          <p:cNvSpPr/>
          <p:nvPr/>
        </p:nvSpPr>
        <p:spPr>
          <a:xfrm>
            <a:off x="868680" y="1828800"/>
            <a:ext cx="5943600" cy="2148840"/>
          </a:xfrm>
          <a:prstGeom prst="roundRect">
            <a:avLst/>
          </a:prstGeom>
          <a:solidFill>
            <a:srgbClr val="16202C"/>
          </a:solidFill>
          <a:ln w="12700">
            <a:solidFill>
              <a:srgbClr val="16202C"/>
            </a:solidFill>
            <a:prstDash val="solid"/>
          </a:ln>
        </p:spPr>
      </p:sp>
      <p:sp>
        <p:nvSpPr>
          <p:cNvPr id="7" name="Shape 4"/>
          <p:cNvSpPr/>
          <p:nvPr/>
        </p:nvSpPr>
        <p:spPr>
          <a:xfrm>
            <a:off x="868680" y="1828800"/>
            <a:ext cx="91440" cy="2148840"/>
          </a:xfrm>
          <a:prstGeom prst="rect">
            <a:avLst/>
          </a:prstGeom>
          <a:solidFill>
            <a:srgbClr val="8064A2"/>
          </a:solidFill>
          <a:ln w="12700">
            <a:solidFill>
              <a:srgbClr val="8064A2"/>
            </a:solidFill>
            <a:prstDash val="solid"/>
          </a:ln>
        </p:spPr>
      </p:sp>
      <p:sp>
        <p:nvSpPr>
          <p:cNvPr id="8" name="Text 5"/>
          <p:cNvSpPr txBox="1"/>
          <p:nvPr/>
        </p:nvSpPr>
        <p:spPr>
          <a:xfrm>
            <a:off x="1069848" y="1938528"/>
            <a:ext cx="5632704" cy="194767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AuthenticationMethods publickey,keyboard-interactive</a:t>
            </a:r>
            <a:endParaRPr lang="en-US" sz="1100" dirty="0"/>
          </a:p>
          <a:p>
            <a:pPr algn="l" indent="0" marL="0">
              <a:buNone/>
            </a:pP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1. SSH certificate or public key</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2. PAM-backed challenge response</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3. Session starts only after both succeed</a:t>
            </a:r>
            <a:endParaRPr lang="en-US" sz="1100" dirty="0"/>
          </a:p>
        </p:txBody>
      </p:sp>
      <p:sp>
        <p:nvSpPr>
          <p:cNvPr id="9" name="Shape 6"/>
          <p:cNvSpPr/>
          <p:nvPr/>
        </p:nvSpPr>
        <p:spPr>
          <a:xfrm>
            <a:off x="7406640" y="1828800"/>
            <a:ext cx="3566160" cy="2148840"/>
          </a:xfrm>
          <a:prstGeom prst="roundRect">
            <a:avLst/>
          </a:prstGeom>
          <a:solidFill>
            <a:srgbClr val="FFFFFF"/>
          </a:solidFill>
          <a:ln w="12700">
            <a:solidFill>
              <a:srgbClr val="CBD5E1"/>
            </a:solidFill>
            <a:prstDash val="solid"/>
          </a:ln>
        </p:spPr>
      </p:sp>
      <p:sp>
        <p:nvSpPr>
          <p:cNvPr id="10" name="Shape 7"/>
          <p:cNvSpPr/>
          <p:nvPr/>
        </p:nvSpPr>
        <p:spPr>
          <a:xfrm>
            <a:off x="7406640" y="1828800"/>
            <a:ext cx="3566160" cy="292608"/>
          </a:xfrm>
          <a:prstGeom prst="roundRect">
            <a:avLst/>
          </a:prstGeom>
          <a:solidFill>
            <a:srgbClr val="70AD47"/>
          </a:solidFill>
          <a:ln w="12700">
            <a:solidFill>
              <a:srgbClr val="70AD47"/>
            </a:solidFill>
            <a:prstDash val="solid"/>
          </a:ln>
        </p:spPr>
      </p:sp>
      <p:sp>
        <p:nvSpPr>
          <p:cNvPr id="11" name="Text 8"/>
          <p:cNvSpPr txBox="1"/>
          <p:nvPr/>
        </p:nvSpPr>
        <p:spPr>
          <a:xfrm>
            <a:off x="7516368" y="1865376"/>
            <a:ext cx="33467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p>
        </p:txBody>
      </p:sp>
      <p:sp>
        <p:nvSpPr>
          <p:cNvPr id="12" name="Text 9"/>
          <p:cNvSpPr txBox="1"/>
          <p:nvPr/>
        </p:nvSpPr>
        <p:spPr>
          <a:xfrm>
            <a:off x="7516368" y="2240280"/>
            <a:ext cx="334670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Key proves possession</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MFA proves another factor</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PAM applies account rules</a:t>
            </a:r>
            <a:endParaRPr lang="en-US" sz="1300" dirty="0"/>
          </a:p>
        </p:txBody>
      </p:sp>
      <p:sp>
        <p:nvSpPr>
          <p:cNvPr id="13" name="Shape 10"/>
          <p:cNvSpPr/>
          <p:nvPr/>
        </p:nvSpPr>
        <p:spPr>
          <a:xfrm>
            <a:off x="1143000" y="4590288"/>
            <a:ext cx="9921240" cy="713232"/>
          </a:xfrm>
          <a:prstGeom prst="roundRect">
            <a:avLst/>
          </a:prstGeom>
          <a:solidFill>
            <a:srgbClr val="FFFFFF"/>
          </a:solidFill>
          <a:ln w="12700">
            <a:solidFill>
              <a:srgbClr val="F79646"/>
            </a:solidFill>
            <a:prstDash val="solid"/>
          </a:ln>
        </p:spPr>
      </p:sp>
      <p:sp>
        <p:nvSpPr>
          <p:cNvPr id="14" name="Shape 11"/>
          <p:cNvSpPr/>
          <p:nvPr/>
        </p:nvSpPr>
        <p:spPr>
          <a:xfrm>
            <a:off x="1143000" y="4590288"/>
            <a:ext cx="100584" cy="713232"/>
          </a:xfrm>
          <a:prstGeom prst="rect">
            <a:avLst/>
          </a:prstGeom>
          <a:solidFill>
            <a:srgbClr val="F79646"/>
          </a:solidFill>
          <a:ln w="12700">
            <a:solidFill>
              <a:srgbClr val="F79646"/>
            </a:solidFill>
            <a:prstDash val="solid"/>
          </a:ln>
        </p:spPr>
      </p:sp>
      <p:sp>
        <p:nvSpPr>
          <p:cNvPr id="15" name="Text 12"/>
          <p:cNvSpPr txBox="1"/>
          <p:nvPr/>
        </p:nvSpPr>
        <p:spPr>
          <a:xfrm>
            <a:off x="1380744" y="4700016"/>
            <a:ext cx="957376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Troubleshooting</a:t>
            </a:r>
            <a:endParaRPr lang="en-US" sz="1400" dirty="0"/>
          </a:p>
        </p:txBody>
      </p:sp>
      <p:sp>
        <p:nvSpPr>
          <p:cNvPr id="16" name="Text 13"/>
          <p:cNvSpPr txBox="1"/>
          <p:nvPr/>
        </p:nvSpPr>
        <p:spPr>
          <a:xfrm>
            <a:off x="1380744" y="5001768"/>
            <a:ext cx="957376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If the prompt never appears, inspect the SSH method list, PAM stack, and server logs before blaming the token.</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BASTION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 bastion host concentrates the control plane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goal is controlled administration, not just one more hop.</a:t>
            </a:r>
            <a:endParaRPr lang="en-US" sz="1250" dirty="0"/>
          </a:p>
        </p:txBody>
      </p:sp>
      <p:sp>
        <p:nvSpPr>
          <p:cNvPr id="6" name="Shape 3"/>
          <p:cNvSpPr/>
          <p:nvPr/>
        </p:nvSpPr>
        <p:spPr>
          <a:xfrm>
            <a:off x="640080" y="2057400"/>
            <a:ext cx="2194560" cy="1920240"/>
          </a:xfrm>
          <a:prstGeom prst="roundRect">
            <a:avLst/>
          </a:prstGeom>
          <a:solidFill>
            <a:srgbClr val="FFFFFF"/>
          </a:solidFill>
          <a:ln w="12700">
            <a:solidFill>
              <a:srgbClr val="CBD5E1"/>
            </a:solidFill>
            <a:prstDash val="solid"/>
          </a:ln>
        </p:spPr>
      </p:sp>
      <p:sp>
        <p:nvSpPr>
          <p:cNvPr id="7" name="Shape 4"/>
          <p:cNvSpPr/>
          <p:nvPr/>
        </p:nvSpPr>
        <p:spPr>
          <a:xfrm>
            <a:off x="640080" y="2057400"/>
            <a:ext cx="2194560" cy="292608"/>
          </a:xfrm>
          <a:prstGeom prst="roundRect">
            <a:avLst/>
          </a:prstGeom>
          <a:solidFill>
            <a:srgbClr val="4BACC6"/>
          </a:solidFill>
          <a:ln w="12700">
            <a:solidFill>
              <a:srgbClr val="4BACC6"/>
            </a:solidFill>
            <a:prstDash val="solid"/>
          </a:ln>
        </p:spPr>
      </p:sp>
      <p:sp>
        <p:nvSpPr>
          <p:cNvPr id="8" name="Text 5"/>
          <p:cNvSpPr txBox="1"/>
          <p:nvPr/>
        </p:nvSpPr>
        <p:spPr>
          <a:xfrm>
            <a:off x="749808" y="2093976"/>
            <a:ext cx="1975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ADMIN DEVICE</a:t>
            </a:r>
            <a:endParaRPr lang="en-US" sz="1100" dirty="0"/>
          </a:p>
        </p:txBody>
      </p:sp>
      <p:sp>
        <p:nvSpPr>
          <p:cNvPr id="9" name="Text 6"/>
          <p:cNvSpPr txBox="1"/>
          <p:nvPr/>
        </p:nvSpPr>
        <p:spPr>
          <a:xfrm>
            <a:off x="749808" y="2468880"/>
            <a:ext cx="197510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user key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MFA authenticator</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managed posture</a:t>
            </a:r>
            <a:endParaRPr lang="en-US" sz="1300" dirty="0"/>
          </a:p>
        </p:txBody>
      </p:sp>
      <p:sp>
        <p:nvSpPr>
          <p:cNvPr id="10" name="Shape 7"/>
          <p:cNvSpPr/>
          <p:nvPr/>
        </p:nvSpPr>
        <p:spPr>
          <a:xfrm>
            <a:off x="3749040" y="2057400"/>
            <a:ext cx="2194560" cy="1920240"/>
          </a:xfrm>
          <a:prstGeom prst="roundRect">
            <a:avLst/>
          </a:prstGeom>
          <a:solidFill>
            <a:srgbClr val="FFFFFF"/>
          </a:solidFill>
          <a:ln w="12700">
            <a:solidFill>
              <a:srgbClr val="CBD5E1"/>
            </a:solidFill>
            <a:prstDash val="solid"/>
          </a:ln>
        </p:spPr>
      </p:sp>
      <p:sp>
        <p:nvSpPr>
          <p:cNvPr id="11" name="Shape 8"/>
          <p:cNvSpPr/>
          <p:nvPr/>
        </p:nvSpPr>
        <p:spPr>
          <a:xfrm>
            <a:off x="3749040" y="2057400"/>
            <a:ext cx="2194560" cy="292608"/>
          </a:xfrm>
          <a:prstGeom prst="roundRect">
            <a:avLst/>
          </a:prstGeom>
          <a:solidFill>
            <a:srgbClr val="F79646"/>
          </a:solidFill>
          <a:ln w="12700">
            <a:solidFill>
              <a:srgbClr val="F79646"/>
            </a:solidFill>
            <a:prstDash val="solid"/>
          </a:ln>
        </p:spPr>
      </p:sp>
      <p:sp>
        <p:nvSpPr>
          <p:cNvPr id="12" name="Text 9"/>
          <p:cNvSpPr txBox="1"/>
          <p:nvPr/>
        </p:nvSpPr>
        <p:spPr>
          <a:xfrm>
            <a:off x="3858768" y="2093976"/>
            <a:ext cx="1975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BASTION</a:t>
            </a:r>
            <a:endParaRPr lang="en-US" sz="1100" dirty="0"/>
          </a:p>
        </p:txBody>
      </p:sp>
      <p:sp>
        <p:nvSpPr>
          <p:cNvPr id="13" name="Text 10"/>
          <p:cNvSpPr txBox="1"/>
          <p:nvPr/>
        </p:nvSpPr>
        <p:spPr>
          <a:xfrm>
            <a:off x="3858768" y="2468880"/>
            <a:ext cx="197510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CA trust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PAM MFA</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recorded sessions</a:t>
            </a:r>
            <a:endParaRPr lang="en-US" sz="1300" dirty="0"/>
          </a:p>
        </p:txBody>
      </p:sp>
      <p:sp>
        <p:nvSpPr>
          <p:cNvPr id="14" name="Shape 11"/>
          <p:cNvSpPr/>
          <p:nvPr/>
        </p:nvSpPr>
        <p:spPr>
          <a:xfrm>
            <a:off x="6858000" y="1508760"/>
            <a:ext cx="2194560" cy="1417320"/>
          </a:xfrm>
          <a:prstGeom prst="roundRect">
            <a:avLst/>
          </a:prstGeom>
          <a:solidFill>
            <a:srgbClr val="FFFFFF"/>
          </a:solidFill>
          <a:ln w="12700">
            <a:solidFill>
              <a:srgbClr val="CBD5E1"/>
            </a:solidFill>
            <a:prstDash val="solid"/>
          </a:ln>
        </p:spPr>
      </p:sp>
      <p:sp>
        <p:nvSpPr>
          <p:cNvPr id="15" name="Shape 12"/>
          <p:cNvSpPr/>
          <p:nvPr/>
        </p:nvSpPr>
        <p:spPr>
          <a:xfrm>
            <a:off x="6858000" y="1508760"/>
            <a:ext cx="2194560" cy="292608"/>
          </a:xfrm>
          <a:prstGeom prst="roundRect">
            <a:avLst/>
          </a:prstGeom>
          <a:solidFill>
            <a:srgbClr val="4F81BD"/>
          </a:solidFill>
          <a:ln w="12700">
            <a:solidFill>
              <a:srgbClr val="4F81BD"/>
            </a:solidFill>
            <a:prstDash val="solid"/>
          </a:ln>
        </p:spPr>
      </p:sp>
      <p:sp>
        <p:nvSpPr>
          <p:cNvPr id="16" name="Text 13"/>
          <p:cNvSpPr txBox="1"/>
          <p:nvPr/>
        </p:nvSpPr>
        <p:spPr>
          <a:xfrm>
            <a:off x="6967728" y="1545336"/>
            <a:ext cx="1975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WEB</a:t>
            </a:r>
            <a:endParaRPr lang="en-US" sz="1100" dirty="0"/>
          </a:p>
        </p:txBody>
      </p:sp>
      <p:sp>
        <p:nvSpPr>
          <p:cNvPr id="17" name="Text 14"/>
          <p:cNvSpPr txBox="1"/>
          <p:nvPr/>
        </p:nvSpPr>
        <p:spPr>
          <a:xfrm>
            <a:off x="6967728" y="1920240"/>
            <a:ext cx="1975104" cy="9144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limited route</a:t>
            </a:r>
            <a:endParaRPr lang="en-US" sz="1300" dirty="0"/>
          </a:p>
        </p:txBody>
      </p:sp>
      <p:sp>
        <p:nvSpPr>
          <p:cNvPr id="18" name="Shape 15"/>
          <p:cNvSpPr/>
          <p:nvPr/>
        </p:nvSpPr>
        <p:spPr>
          <a:xfrm>
            <a:off x="6858000" y="3108960"/>
            <a:ext cx="2194560" cy="1417320"/>
          </a:xfrm>
          <a:prstGeom prst="roundRect">
            <a:avLst/>
          </a:prstGeom>
          <a:solidFill>
            <a:srgbClr val="FFFFFF"/>
          </a:solidFill>
          <a:ln w="12700">
            <a:solidFill>
              <a:srgbClr val="CBD5E1"/>
            </a:solidFill>
            <a:prstDash val="solid"/>
          </a:ln>
        </p:spPr>
      </p:sp>
      <p:sp>
        <p:nvSpPr>
          <p:cNvPr id="19" name="Shape 16"/>
          <p:cNvSpPr/>
          <p:nvPr/>
        </p:nvSpPr>
        <p:spPr>
          <a:xfrm>
            <a:off x="6858000" y="3108960"/>
            <a:ext cx="2194560" cy="292608"/>
          </a:xfrm>
          <a:prstGeom prst="roundRect">
            <a:avLst/>
          </a:prstGeom>
          <a:solidFill>
            <a:srgbClr val="8064A2"/>
          </a:solidFill>
          <a:ln w="12700">
            <a:solidFill>
              <a:srgbClr val="8064A2"/>
            </a:solidFill>
            <a:prstDash val="solid"/>
          </a:ln>
        </p:spPr>
      </p:sp>
      <p:sp>
        <p:nvSpPr>
          <p:cNvPr id="20" name="Text 17"/>
          <p:cNvSpPr txBox="1"/>
          <p:nvPr/>
        </p:nvSpPr>
        <p:spPr>
          <a:xfrm>
            <a:off x="6967728" y="3145536"/>
            <a:ext cx="197510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DB</a:t>
            </a:r>
            <a:endParaRPr lang="en-US" sz="1100" dirty="0"/>
          </a:p>
        </p:txBody>
      </p:sp>
      <p:sp>
        <p:nvSpPr>
          <p:cNvPr id="21" name="Text 18"/>
          <p:cNvSpPr txBox="1"/>
          <p:nvPr/>
        </p:nvSpPr>
        <p:spPr>
          <a:xfrm>
            <a:off x="6967728" y="3520440"/>
            <a:ext cx="1975104" cy="9144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limited route</a:t>
            </a:r>
            <a:endParaRPr lang="en-US" sz="1300" dirty="0"/>
          </a:p>
        </p:txBody>
      </p:sp>
      <p:sp>
        <p:nvSpPr>
          <p:cNvPr id="22" name="Shape 19"/>
          <p:cNvSpPr/>
          <p:nvPr/>
        </p:nvSpPr>
        <p:spPr>
          <a:xfrm>
            <a:off x="9784080" y="2057400"/>
            <a:ext cx="1828800" cy="1920240"/>
          </a:xfrm>
          <a:prstGeom prst="roundRect">
            <a:avLst/>
          </a:prstGeom>
          <a:solidFill>
            <a:srgbClr val="FFFFFF"/>
          </a:solidFill>
          <a:ln w="12700">
            <a:solidFill>
              <a:srgbClr val="CBD5E1"/>
            </a:solidFill>
            <a:prstDash val="solid"/>
          </a:ln>
        </p:spPr>
      </p:sp>
      <p:sp>
        <p:nvSpPr>
          <p:cNvPr id="23" name="Shape 20"/>
          <p:cNvSpPr/>
          <p:nvPr/>
        </p:nvSpPr>
        <p:spPr>
          <a:xfrm>
            <a:off x="9784080" y="2057400"/>
            <a:ext cx="1828800" cy="292608"/>
          </a:xfrm>
          <a:prstGeom prst="roundRect">
            <a:avLst/>
          </a:prstGeom>
          <a:solidFill>
            <a:srgbClr val="70AD47"/>
          </a:solidFill>
          <a:ln w="12700">
            <a:solidFill>
              <a:srgbClr val="70AD47"/>
            </a:solidFill>
            <a:prstDash val="solid"/>
          </a:ln>
        </p:spPr>
      </p:sp>
      <p:sp>
        <p:nvSpPr>
          <p:cNvPr id="24" name="Text 21"/>
          <p:cNvSpPr txBox="1"/>
          <p:nvPr/>
        </p:nvSpPr>
        <p:spPr>
          <a:xfrm>
            <a:off x="9893808" y="2093976"/>
            <a:ext cx="16093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POLICY</a:t>
            </a:r>
            <a:endParaRPr lang="en-US" sz="1100" dirty="0"/>
          </a:p>
        </p:txBody>
      </p:sp>
      <p:sp>
        <p:nvSpPr>
          <p:cNvPr id="25" name="Text 22"/>
          <p:cNvSpPr txBox="1"/>
          <p:nvPr/>
        </p:nvSpPr>
        <p:spPr>
          <a:xfrm>
            <a:off x="9893808" y="2468880"/>
            <a:ext cx="16093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what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when</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why</a:t>
            </a:r>
            <a:endParaRPr lang="en-US" sz="1300" dirty="0"/>
          </a:p>
        </p:txBody>
      </p:sp>
      <p:sp>
        <p:nvSpPr>
          <p:cNvPr id="26" name="Shape 23"/>
          <p:cNvSpPr/>
          <p:nvPr/>
        </p:nvSpPr>
        <p:spPr>
          <a:xfrm>
            <a:off x="2926080" y="3017520"/>
            <a:ext cx="731520" cy="0"/>
          </a:xfrm>
          <a:prstGeom prst="line">
            <a:avLst/>
          </a:prstGeom>
          <a:noFill/>
          <a:ln w="25400">
            <a:solidFill>
              <a:srgbClr val="94A3B8"/>
            </a:solidFill>
            <a:prstDash val="solid"/>
            <a:headEnd type="none"/>
            <a:tailEnd type="triangle"/>
          </a:ln>
        </p:spPr>
      </p:sp>
      <p:sp>
        <p:nvSpPr>
          <p:cNvPr id="27" name="Shape 24"/>
          <p:cNvSpPr/>
          <p:nvPr/>
        </p:nvSpPr>
        <p:spPr>
          <a:xfrm>
            <a:off x="6035040" y="3017520"/>
            <a:ext cx="685800" cy="-822960"/>
          </a:xfrm>
          <a:prstGeom prst="line">
            <a:avLst/>
          </a:prstGeom>
          <a:noFill/>
          <a:ln w="25400">
            <a:solidFill>
              <a:srgbClr val="94A3B8"/>
            </a:solidFill>
            <a:prstDash val="solid"/>
            <a:headEnd type="none"/>
            <a:tailEnd type="triangle"/>
          </a:ln>
        </p:spPr>
      </p:sp>
      <p:sp>
        <p:nvSpPr>
          <p:cNvPr id="28" name="Shape 25"/>
          <p:cNvSpPr/>
          <p:nvPr/>
        </p:nvSpPr>
        <p:spPr>
          <a:xfrm>
            <a:off x="6035040" y="3017520"/>
            <a:ext cx="685800" cy="822960"/>
          </a:xfrm>
          <a:prstGeom prst="line">
            <a:avLst/>
          </a:prstGeom>
          <a:noFill/>
          <a:ln w="25400">
            <a:solidFill>
              <a:srgbClr val="94A3B8"/>
            </a:solidFill>
            <a:prstDash val="solid"/>
            <a:headEnd type="none"/>
            <a:tailEnd type="triangle"/>
          </a:ln>
        </p:spPr>
      </p:sp>
      <p:sp>
        <p:nvSpPr>
          <p:cNvPr id="29" name="Shape 26"/>
          <p:cNvSpPr/>
          <p:nvPr/>
        </p:nvSpPr>
        <p:spPr>
          <a:xfrm>
            <a:off x="9098280" y="3017520"/>
            <a:ext cx="548640" cy="0"/>
          </a:xfrm>
          <a:prstGeom prst="line">
            <a:avLst/>
          </a:prstGeom>
          <a:noFill/>
          <a:ln w="25400">
            <a:solidFill>
              <a:srgbClr val="94A3B8"/>
            </a:solidFill>
            <a:prstDash val="solid"/>
            <a:headEnd type="none"/>
            <a:tailEnd type="triangle"/>
          </a:ln>
        </p:spPr>
      </p:sp>
      <p:sp>
        <p:nvSpPr>
          <p:cNvPr id="30" name="Text 27"/>
          <p:cNvSpPr txBox="1"/>
          <p:nvPr/>
        </p:nvSpPr>
        <p:spPr>
          <a:xfrm>
            <a:off x="2148840" y="4754880"/>
            <a:ext cx="7955280" cy="237744"/>
          </a:xfrm>
          <a:prstGeom prst="rect">
            <a:avLst/>
          </a:prstGeom>
          <a:noFill/>
          <a:ln/>
        </p:spPr>
        <p:txBody>
          <a:bodyPr wrap="square" lIns="508" tIns="508" rIns="508" bIns="508" rtlCol="0" anchor="ctr">
            <a:normAutofit/>
          </a:bodyPr>
          <a:lstStyle/>
          <a:p>
            <a:pPr algn="ctr" indent="0" marL="0">
              <a:buNone/>
            </a:pPr>
            <a:r>
              <a:rPr lang="en-US" sz="1800" b="1" dirty="0">
                <a:solidFill>
                  <a:srgbClr val="1F497D"/>
                </a:solidFill>
                <a:latin typeface="Calibri" pitchFamily="34" charset="0"/>
                <a:ea typeface="Calibri" pitchFamily="34" charset="-122"/>
                <a:cs typeface="Calibri" pitchFamily="34" charset="-120"/>
              </a:rPr>
              <a:t>No direct administrator route to production</a:t>
            </a:r>
            <a:endParaRPr lang="en-US" sz="18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PRIVILEGE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sudo is a policy engine, not a magic word</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Privilege should be granted for a task, not for a person’s status.</a:t>
            </a:r>
            <a:endParaRPr lang="en-US" sz="1250" dirty="0"/>
          </a:p>
        </p:txBody>
      </p:sp>
      <p:sp>
        <p:nvSpPr>
          <p:cNvPr id="6" name="Shape 3"/>
          <p:cNvSpPr/>
          <p:nvPr/>
        </p:nvSpPr>
        <p:spPr>
          <a:xfrm>
            <a:off x="822960" y="1920240"/>
            <a:ext cx="6172200" cy="2011680"/>
          </a:xfrm>
          <a:prstGeom prst="roundRect">
            <a:avLst/>
          </a:prstGeom>
          <a:solidFill>
            <a:srgbClr val="16202C"/>
          </a:solidFill>
          <a:ln w="12700">
            <a:solidFill>
              <a:srgbClr val="16202C"/>
            </a:solidFill>
            <a:prstDash val="solid"/>
          </a:ln>
        </p:spPr>
      </p:sp>
      <p:sp>
        <p:nvSpPr>
          <p:cNvPr id="7" name="Shape 4"/>
          <p:cNvSpPr/>
          <p:nvPr/>
        </p:nvSpPr>
        <p:spPr>
          <a:xfrm>
            <a:off x="822960" y="1920240"/>
            <a:ext cx="91440" cy="2011680"/>
          </a:xfrm>
          <a:prstGeom prst="rect">
            <a:avLst/>
          </a:prstGeom>
          <a:solidFill>
            <a:srgbClr val="4F81BD"/>
          </a:solidFill>
          <a:ln w="12700">
            <a:solidFill>
              <a:srgbClr val="4F81BD"/>
            </a:solidFill>
            <a:prstDash val="solid"/>
          </a:ln>
        </p:spPr>
      </p:sp>
      <p:sp>
        <p:nvSpPr>
          <p:cNvPr id="8" name="Text 5"/>
          <p:cNvSpPr txBox="1"/>
          <p:nvPr/>
        </p:nvSpPr>
        <p:spPr>
          <a:xfrm>
            <a:off x="1024128" y="2029968"/>
            <a:ext cx="5861304" cy="181051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Cmnd_Alias SERVICE_RESTART = /bin/systemctl restart nginx</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%webops ALL=(root) SERVICE_RESTART</a:t>
            </a:r>
            <a:endParaRPr lang="en-US" sz="1100" dirty="0"/>
          </a:p>
          <a:p>
            <a:pPr algn="l" indent="0" marL="0">
              <a:buNone/>
            </a:pP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 Prefer narrow, reviewable rules over ALL=(ALL) ALL</a:t>
            </a:r>
            <a:endParaRPr lang="en-US" sz="1100" dirty="0"/>
          </a:p>
        </p:txBody>
      </p:sp>
      <p:sp>
        <p:nvSpPr>
          <p:cNvPr id="9" name="Shape 6"/>
          <p:cNvSpPr/>
          <p:nvPr/>
        </p:nvSpPr>
        <p:spPr>
          <a:xfrm>
            <a:off x="7498080" y="1920240"/>
            <a:ext cx="3429000" cy="2011680"/>
          </a:xfrm>
          <a:prstGeom prst="roundRect">
            <a:avLst/>
          </a:prstGeom>
          <a:solidFill>
            <a:srgbClr val="FFFFFF"/>
          </a:solidFill>
          <a:ln w="12700">
            <a:solidFill>
              <a:srgbClr val="CBD5E1"/>
            </a:solidFill>
            <a:prstDash val="solid"/>
          </a:ln>
        </p:spPr>
      </p:sp>
      <p:sp>
        <p:nvSpPr>
          <p:cNvPr id="10" name="Shape 7"/>
          <p:cNvSpPr/>
          <p:nvPr/>
        </p:nvSpPr>
        <p:spPr>
          <a:xfrm>
            <a:off x="7498080" y="1920240"/>
            <a:ext cx="3429000" cy="292608"/>
          </a:xfrm>
          <a:prstGeom prst="roundRect">
            <a:avLst/>
          </a:prstGeom>
          <a:solidFill>
            <a:srgbClr val="70AD47"/>
          </a:solidFill>
          <a:ln w="12700">
            <a:solidFill>
              <a:srgbClr val="70AD47"/>
            </a:solidFill>
            <a:prstDash val="solid"/>
          </a:ln>
        </p:spPr>
      </p:sp>
      <p:sp>
        <p:nvSpPr>
          <p:cNvPr id="11" name="Text 8"/>
          <p:cNvSpPr txBox="1"/>
          <p:nvPr/>
        </p:nvSpPr>
        <p:spPr>
          <a:xfrm>
            <a:off x="7607808" y="1956816"/>
            <a:ext cx="3209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LEAST PRIVILEGE</a:t>
            </a:r>
            <a:endParaRPr lang="en-US" sz="1100" dirty="0"/>
          </a:p>
        </p:txBody>
      </p:sp>
      <p:sp>
        <p:nvSpPr>
          <p:cNvPr id="12" name="Text 9"/>
          <p:cNvSpPr txBox="1"/>
          <p:nvPr/>
        </p:nvSpPr>
        <p:spPr>
          <a:xfrm>
            <a:off x="7607808" y="2331720"/>
            <a:ext cx="3209544" cy="150876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Specific command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Specific account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Recorded event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Reviewable owner</a:t>
            </a:r>
            <a:endParaRPr lang="en-US" sz="1300" dirty="0"/>
          </a:p>
        </p:txBody>
      </p:sp>
      <p:sp>
        <p:nvSpPr>
          <p:cNvPr id="13" name="Shape 10"/>
          <p:cNvSpPr/>
          <p:nvPr/>
        </p:nvSpPr>
        <p:spPr>
          <a:xfrm>
            <a:off x="1005840" y="4572000"/>
            <a:ext cx="10104120" cy="731520"/>
          </a:xfrm>
          <a:prstGeom prst="roundRect">
            <a:avLst/>
          </a:prstGeom>
          <a:solidFill>
            <a:srgbClr val="FFFFFF"/>
          </a:solidFill>
          <a:ln w="12700">
            <a:solidFill>
              <a:srgbClr val="F79646"/>
            </a:solidFill>
            <a:prstDash val="solid"/>
          </a:ln>
        </p:spPr>
      </p:sp>
      <p:sp>
        <p:nvSpPr>
          <p:cNvPr id="14" name="Shape 11"/>
          <p:cNvSpPr/>
          <p:nvPr/>
        </p:nvSpPr>
        <p:spPr>
          <a:xfrm>
            <a:off x="1005840" y="4572000"/>
            <a:ext cx="100584" cy="731520"/>
          </a:xfrm>
          <a:prstGeom prst="rect">
            <a:avLst/>
          </a:prstGeom>
          <a:solidFill>
            <a:srgbClr val="F79646"/>
          </a:solidFill>
          <a:ln w="12700">
            <a:solidFill>
              <a:srgbClr val="F79646"/>
            </a:solidFill>
            <a:prstDash val="solid"/>
          </a:ln>
        </p:spPr>
      </p:sp>
      <p:sp>
        <p:nvSpPr>
          <p:cNvPr id="15" name="Text 12"/>
          <p:cNvSpPr txBox="1"/>
          <p:nvPr/>
        </p:nvSpPr>
        <p:spPr>
          <a:xfrm>
            <a:off x="1243584" y="468172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Design check</a:t>
            </a:r>
            <a:endParaRPr lang="en-US" sz="1400" dirty="0"/>
          </a:p>
        </p:txBody>
      </p:sp>
      <p:sp>
        <p:nvSpPr>
          <p:cNvPr id="16" name="Text 13"/>
          <p:cNvSpPr txBox="1"/>
          <p:nvPr/>
        </p:nvSpPr>
        <p:spPr>
          <a:xfrm>
            <a:off x="1243584" y="4983480"/>
            <a:ext cx="975664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Can the operator explain why this command is allowed and how it will be reviewed?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RESTRICTION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ForceCommand turns a credential into a narrow interface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Useful for automation, file transfer, and service-specific access.</a:t>
            </a:r>
            <a:endParaRPr lang="en-US" sz="1250" dirty="0"/>
          </a:p>
        </p:txBody>
      </p:sp>
      <p:sp>
        <p:nvSpPr>
          <p:cNvPr id="6" name="Shape 3"/>
          <p:cNvSpPr/>
          <p:nvPr/>
        </p:nvSpPr>
        <p:spPr>
          <a:xfrm>
            <a:off x="822960" y="1874520"/>
            <a:ext cx="6035040" cy="2331720"/>
          </a:xfrm>
          <a:prstGeom prst="roundRect">
            <a:avLst/>
          </a:prstGeom>
          <a:solidFill>
            <a:srgbClr val="16202C"/>
          </a:solidFill>
          <a:ln w="12700">
            <a:solidFill>
              <a:srgbClr val="16202C"/>
            </a:solidFill>
            <a:prstDash val="solid"/>
          </a:ln>
        </p:spPr>
      </p:sp>
      <p:sp>
        <p:nvSpPr>
          <p:cNvPr id="7" name="Shape 4"/>
          <p:cNvSpPr/>
          <p:nvPr/>
        </p:nvSpPr>
        <p:spPr>
          <a:xfrm>
            <a:off x="822960" y="1874520"/>
            <a:ext cx="91440" cy="2331720"/>
          </a:xfrm>
          <a:prstGeom prst="rect">
            <a:avLst/>
          </a:prstGeom>
          <a:solidFill>
            <a:srgbClr val="8064A2"/>
          </a:solidFill>
          <a:ln w="12700">
            <a:solidFill>
              <a:srgbClr val="8064A2"/>
            </a:solidFill>
            <a:prstDash val="solid"/>
          </a:ln>
        </p:spPr>
      </p:sp>
      <p:sp>
        <p:nvSpPr>
          <p:cNvPr id="8" name="Text 5"/>
          <p:cNvSpPr txBox="1"/>
          <p:nvPr/>
        </p:nvSpPr>
        <p:spPr>
          <a:xfrm>
            <a:off x="1024128" y="1984248"/>
            <a:ext cx="5724144" cy="2130552"/>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Match User backup-agent</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    ForceCommand /usr/local/bin/backup-wrapper</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    AllowTcpForwarding no</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    X11Forwarding no</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    PermitTTY no</a:t>
            </a:r>
            <a:endParaRPr lang="en-US" sz="1100" dirty="0"/>
          </a:p>
        </p:txBody>
      </p:sp>
      <p:sp>
        <p:nvSpPr>
          <p:cNvPr id="9" name="Shape 6"/>
          <p:cNvSpPr/>
          <p:nvPr/>
        </p:nvSpPr>
        <p:spPr>
          <a:xfrm>
            <a:off x="7452360" y="1874520"/>
            <a:ext cx="3474720" cy="2331720"/>
          </a:xfrm>
          <a:prstGeom prst="roundRect">
            <a:avLst/>
          </a:prstGeom>
          <a:solidFill>
            <a:srgbClr val="FFFFFF"/>
          </a:solidFill>
          <a:ln w="12700">
            <a:solidFill>
              <a:srgbClr val="CBD5E1"/>
            </a:solidFill>
            <a:prstDash val="solid"/>
          </a:ln>
        </p:spPr>
      </p:sp>
      <p:sp>
        <p:nvSpPr>
          <p:cNvPr id="10" name="Shape 7"/>
          <p:cNvSpPr/>
          <p:nvPr/>
        </p:nvSpPr>
        <p:spPr>
          <a:xfrm>
            <a:off x="7452360" y="1874520"/>
            <a:ext cx="3474720" cy="292608"/>
          </a:xfrm>
          <a:prstGeom prst="roundRect">
            <a:avLst/>
          </a:prstGeom>
          <a:solidFill>
            <a:srgbClr val="70AD47"/>
          </a:solidFill>
          <a:ln w="12700">
            <a:solidFill>
              <a:srgbClr val="70AD47"/>
            </a:solidFill>
            <a:prstDash val="solid"/>
          </a:ln>
        </p:spPr>
      </p:sp>
      <p:sp>
        <p:nvSpPr>
          <p:cNvPr id="11" name="Text 8"/>
          <p:cNvSpPr txBox="1"/>
          <p:nvPr/>
        </p:nvSpPr>
        <p:spPr>
          <a:xfrm>
            <a:off x="7562088" y="1911096"/>
            <a:ext cx="325526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RESTRICTED IDENTITY</a:t>
            </a:r>
            <a:endParaRPr lang="en-US" sz="1100" dirty="0"/>
          </a:p>
        </p:txBody>
      </p:sp>
      <p:sp>
        <p:nvSpPr>
          <p:cNvPr id="12" name="Text 9"/>
          <p:cNvSpPr txBox="1"/>
          <p:nvPr/>
        </p:nvSpPr>
        <p:spPr>
          <a:xfrm>
            <a:off x="7562088" y="2286000"/>
            <a:ext cx="325526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Can authenticate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Can perform one task</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Cannot become a shell</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Cannot tunnel elsewhere</a:t>
            </a:r>
            <a:endParaRPr lang="en-US" sz="1300" dirty="0"/>
          </a:p>
        </p:txBody>
      </p:sp>
      <p:sp>
        <p:nvSpPr>
          <p:cNvPr id="13" name="Shape 10"/>
          <p:cNvSpPr/>
          <p:nvPr/>
        </p:nvSpPr>
        <p:spPr>
          <a:xfrm>
            <a:off x="3429000" y="4736592"/>
            <a:ext cx="5303520" cy="274320"/>
          </a:xfrm>
          <a:prstGeom prst="roundRect">
            <a:avLst/>
          </a:prstGeom>
          <a:solidFill>
            <a:srgbClr val="1F497D"/>
          </a:solidFill>
          <a:ln w="12700">
            <a:solidFill>
              <a:srgbClr val="1F497D"/>
            </a:solidFill>
            <a:prstDash val="solid"/>
          </a:ln>
        </p:spPr>
      </p:sp>
      <p:sp>
        <p:nvSpPr>
          <p:cNvPr id="14" name="Text 11"/>
          <p:cNvSpPr txBox="1"/>
          <p:nvPr/>
        </p:nvSpPr>
        <p:spPr>
          <a:xfrm>
            <a:off x="3502152" y="4754880"/>
            <a:ext cx="515721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COMMAND + CHANNEL + ACCOUNT</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AUDIT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Session recording is evidence, not permission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Logging tells you what happened after authorization succeeds.</a:t>
            </a:r>
            <a:endParaRPr lang="en-US" sz="1250" dirty="0"/>
          </a:p>
        </p:txBody>
      </p:sp>
      <p:sp>
        <p:nvSpPr>
          <p:cNvPr id="6" name="Shape 3"/>
          <p:cNvSpPr/>
          <p:nvPr/>
        </p:nvSpPr>
        <p:spPr>
          <a:xfrm>
            <a:off x="594360" y="2011680"/>
            <a:ext cx="2286000" cy="1920240"/>
          </a:xfrm>
          <a:prstGeom prst="roundRect">
            <a:avLst/>
          </a:prstGeom>
          <a:solidFill>
            <a:srgbClr val="FFFFFF"/>
          </a:solidFill>
          <a:ln w="12700">
            <a:solidFill>
              <a:srgbClr val="CBD5E1"/>
            </a:solidFill>
            <a:prstDash val="solid"/>
          </a:ln>
        </p:spPr>
      </p:sp>
      <p:sp>
        <p:nvSpPr>
          <p:cNvPr id="7" name="Shape 4"/>
          <p:cNvSpPr/>
          <p:nvPr/>
        </p:nvSpPr>
        <p:spPr>
          <a:xfrm>
            <a:off x="594360" y="2011680"/>
            <a:ext cx="2286000" cy="292608"/>
          </a:xfrm>
          <a:prstGeom prst="roundRect">
            <a:avLst/>
          </a:prstGeom>
          <a:solidFill>
            <a:srgbClr val="4BACC6"/>
          </a:solidFill>
          <a:ln w="12700">
            <a:solidFill>
              <a:srgbClr val="4BACC6"/>
            </a:solidFill>
            <a:prstDash val="solid"/>
          </a:ln>
        </p:spPr>
      </p:sp>
      <p:sp>
        <p:nvSpPr>
          <p:cNvPr id="8" name="Text 5"/>
          <p:cNvSpPr txBox="1"/>
          <p:nvPr/>
        </p:nvSpPr>
        <p:spPr>
          <a:xfrm>
            <a:off x="704088"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Prevent</a:t>
            </a:r>
            <a:endParaRPr lang="en-US" sz="1100" dirty="0"/>
          </a:p>
        </p:txBody>
      </p:sp>
      <p:sp>
        <p:nvSpPr>
          <p:cNvPr id="9" name="Text 6"/>
          <p:cNvSpPr txBox="1"/>
          <p:nvPr/>
        </p:nvSpPr>
        <p:spPr>
          <a:xfrm>
            <a:off x="704088"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sudo policy</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ForceCommand</a:t>
            </a:r>
            <a:endParaRPr lang="en-US" sz="1300" dirty="0"/>
          </a:p>
        </p:txBody>
      </p:sp>
      <p:sp>
        <p:nvSpPr>
          <p:cNvPr id="10" name="Shape 7"/>
          <p:cNvSpPr/>
          <p:nvPr/>
        </p:nvSpPr>
        <p:spPr>
          <a:xfrm>
            <a:off x="2990088" y="2971800"/>
            <a:ext cx="347472" cy="0"/>
          </a:xfrm>
          <a:prstGeom prst="line">
            <a:avLst/>
          </a:prstGeom>
          <a:noFill/>
          <a:ln w="25400">
            <a:solidFill>
              <a:srgbClr val="94A3B8"/>
            </a:solidFill>
            <a:prstDash val="solid"/>
            <a:headEnd type="none"/>
            <a:tailEnd type="triangle"/>
          </a:ln>
        </p:spPr>
      </p:sp>
      <p:sp>
        <p:nvSpPr>
          <p:cNvPr id="11" name="Shape 8"/>
          <p:cNvSpPr/>
          <p:nvPr/>
        </p:nvSpPr>
        <p:spPr>
          <a:xfrm>
            <a:off x="3447288" y="2011680"/>
            <a:ext cx="2286000" cy="1920240"/>
          </a:xfrm>
          <a:prstGeom prst="roundRect">
            <a:avLst/>
          </a:prstGeom>
          <a:solidFill>
            <a:srgbClr val="FFFFFF"/>
          </a:solidFill>
          <a:ln w="12700">
            <a:solidFill>
              <a:srgbClr val="CBD5E1"/>
            </a:solidFill>
            <a:prstDash val="solid"/>
          </a:ln>
        </p:spPr>
      </p:sp>
      <p:sp>
        <p:nvSpPr>
          <p:cNvPr id="12" name="Shape 9"/>
          <p:cNvSpPr/>
          <p:nvPr/>
        </p:nvSpPr>
        <p:spPr>
          <a:xfrm>
            <a:off x="3447288" y="2011680"/>
            <a:ext cx="2286000" cy="292608"/>
          </a:xfrm>
          <a:prstGeom prst="roundRect">
            <a:avLst/>
          </a:prstGeom>
          <a:solidFill>
            <a:srgbClr val="F79646"/>
          </a:solidFill>
          <a:ln w="12700">
            <a:solidFill>
              <a:srgbClr val="F79646"/>
            </a:solidFill>
            <a:prstDash val="solid"/>
          </a:ln>
        </p:spPr>
      </p:sp>
      <p:sp>
        <p:nvSpPr>
          <p:cNvPr id="13" name="Text 10"/>
          <p:cNvSpPr txBox="1"/>
          <p:nvPr/>
        </p:nvSpPr>
        <p:spPr>
          <a:xfrm>
            <a:off x="3557016"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Detect</a:t>
            </a:r>
            <a:endParaRPr lang="en-US" sz="1100" dirty="0"/>
          </a:p>
        </p:txBody>
      </p:sp>
      <p:sp>
        <p:nvSpPr>
          <p:cNvPr id="14" name="Text 11"/>
          <p:cNvSpPr txBox="1"/>
          <p:nvPr/>
        </p:nvSpPr>
        <p:spPr>
          <a:xfrm>
            <a:off x="3557016"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alerts</a:t>
            </a:r>
            <a:endParaRPr lang="en-US" sz="1300" dirty="0"/>
          </a:p>
        </p:txBody>
      </p:sp>
      <p:sp>
        <p:nvSpPr>
          <p:cNvPr id="15" name="Shape 12"/>
          <p:cNvSpPr/>
          <p:nvPr/>
        </p:nvSpPr>
        <p:spPr>
          <a:xfrm>
            <a:off x="5843016" y="2971800"/>
            <a:ext cx="347472" cy="0"/>
          </a:xfrm>
          <a:prstGeom prst="line">
            <a:avLst/>
          </a:prstGeom>
          <a:noFill/>
          <a:ln w="25400">
            <a:solidFill>
              <a:srgbClr val="94A3B8"/>
            </a:solidFill>
            <a:prstDash val="solid"/>
            <a:headEnd type="none"/>
            <a:tailEnd type="triangle"/>
          </a:ln>
        </p:spPr>
      </p:sp>
      <p:sp>
        <p:nvSpPr>
          <p:cNvPr id="16" name="Shape 13"/>
          <p:cNvSpPr/>
          <p:nvPr/>
        </p:nvSpPr>
        <p:spPr>
          <a:xfrm>
            <a:off x="6300216" y="2011680"/>
            <a:ext cx="2286000" cy="1920240"/>
          </a:xfrm>
          <a:prstGeom prst="roundRect">
            <a:avLst/>
          </a:prstGeom>
          <a:solidFill>
            <a:srgbClr val="FFFFFF"/>
          </a:solidFill>
          <a:ln w="12700">
            <a:solidFill>
              <a:srgbClr val="CBD5E1"/>
            </a:solidFill>
            <a:prstDash val="solid"/>
          </a:ln>
        </p:spPr>
      </p:sp>
      <p:sp>
        <p:nvSpPr>
          <p:cNvPr id="17" name="Shape 14"/>
          <p:cNvSpPr/>
          <p:nvPr/>
        </p:nvSpPr>
        <p:spPr>
          <a:xfrm>
            <a:off x="6300216" y="2011680"/>
            <a:ext cx="2286000" cy="292608"/>
          </a:xfrm>
          <a:prstGeom prst="roundRect">
            <a:avLst/>
          </a:prstGeom>
          <a:solidFill>
            <a:srgbClr val="8064A2"/>
          </a:solidFill>
          <a:ln w="12700">
            <a:solidFill>
              <a:srgbClr val="8064A2"/>
            </a:solidFill>
            <a:prstDash val="solid"/>
          </a:ln>
        </p:spPr>
      </p:sp>
      <p:sp>
        <p:nvSpPr>
          <p:cNvPr id="18" name="Text 15"/>
          <p:cNvSpPr txBox="1"/>
          <p:nvPr/>
        </p:nvSpPr>
        <p:spPr>
          <a:xfrm>
            <a:off x="6409944"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Reconstruct</a:t>
            </a:r>
            <a:endParaRPr lang="en-US" sz="1100" dirty="0"/>
          </a:p>
        </p:txBody>
      </p:sp>
      <p:sp>
        <p:nvSpPr>
          <p:cNvPr id="19" name="Text 16"/>
          <p:cNvSpPr txBox="1"/>
          <p:nvPr/>
        </p:nvSpPr>
        <p:spPr>
          <a:xfrm>
            <a:off x="6409944"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session record</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timeline</a:t>
            </a:r>
            <a:endParaRPr lang="en-US" sz="1300" dirty="0"/>
          </a:p>
        </p:txBody>
      </p:sp>
      <p:sp>
        <p:nvSpPr>
          <p:cNvPr id="20" name="Shape 17"/>
          <p:cNvSpPr/>
          <p:nvPr/>
        </p:nvSpPr>
        <p:spPr>
          <a:xfrm>
            <a:off x="8695944" y="2971800"/>
            <a:ext cx="347472" cy="0"/>
          </a:xfrm>
          <a:prstGeom prst="line">
            <a:avLst/>
          </a:prstGeom>
          <a:noFill/>
          <a:ln w="25400">
            <a:solidFill>
              <a:srgbClr val="94A3B8"/>
            </a:solidFill>
            <a:prstDash val="solid"/>
            <a:headEnd type="none"/>
            <a:tailEnd type="triangle"/>
          </a:ln>
        </p:spPr>
      </p:sp>
      <p:sp>
        <p:nvSpPr>
          <p:cNvPr id="21" name="Shape 18"/>
          <p:cNvSpPr/>
          <p:nvPr/>
        </p:nvSpPr>
        <p:spPr>
          <a:xfrm>
            <a:off x="9153144" y="2011680"/>
            <a:ext cx="2286000" cy="1920240"/>
          </a:xfrm>
          <a:prstGeom prst="roundRect">
            <a:avLst/>
          </a:prstGeom>
          <a:solidFill>
            <a:srgbClr val="FFFFFF"/>
          </a:solidFill>
          <a:ln w="12700">
            <a:solidFill>
              <a:srgbClr val="CBD5E1"/>
            </a:solidFill>
            <a:prstDash val="solid"/>
          </a:ln>
        </p:spPr>
      </p:sp>
      <p:sp>
        <p:nvSpPr>
          <p:cNvPr id="22" name="Shape 19"/>
          <p:cNvSpPr/>
          <p:nvPr/>
        </p:nvSpPr>
        <p:spPr>
          <a:xfrm>
            <a:off x="9153144" y="2011680"/>
            <a:ext cx="2286000" cy="292608"/>
          </a:xfrm>
          <a:prstGeom prst="roundRect">
            <a:avLst/>
          </a:prstGeom>
          <a:solidFill>
            <a:srgbClr val="70AD47"/>
          </a:solidFill>
          <a:ln w="12700">
            <a:solidFill>
              <a:srgbClr val="70AD47"/>
            </a:solidFill>
            <a:prstDash val="solid"/>
          </a:ln>
        </p:spPr>
      </p:sp>
      <p:sp>
        <p:nvSpPr>
          <p:cNvPr id="23" name="Text 20"/>
          <p:cNvSpPr txBox="1"/>
          <p:nvPr/>
        </p:nvSpPr>
        <p:spPr>
          <a:xfrm>
            <a:off x="9262872"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Improve</a:t>
            </a:r>
            <a:endParaRPr lang="en-US" sz="1100" dirty="0"/>
          </a:p>
        </p:txBody>
      </p:sp>
      <p:sp>
        <p:nvSpPr>
          <p:cNvPr id="24" name="Text 21"/>
          <p:cNvSpPr txBox="1"/>
          <p:nvPr/>
        </p:nvSpPr>
        <p:spPr>
          <a:xfrm>
            <a:off x="9262872" y="2423160"/>
            <a:ext cx="2066544" cy="14173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review</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policy change</a:t>
            </a:r>
            <a:endParaRPr lang="en-US" sz="1300" dirty="0"/>
          </a:p>
        </p:txBody>
      </p:sp>
      <p:sp>
        <p:nvSpPr>
          <p:cNvPr id="25" name="Shape 22"/>
          <p:cNvSpPr/>
          <p:nvPr/>
        </p:nvSpPr>
        <p:spPr>
          <a:xfrm>
            <a:off x="1005840" y="4617720"/>
            <a:ext cx="10104120" cy="685800"/>
          </a:xfrm>
          <a:prstGeom prst="roundRect">
            <a:avLst/>
          </a:prstGeom>
          <a:solidFill>
            <a:srgbClr val="FFFFFF"/>
          </a:solidFill>
          <a:ln w="12700">
            <a:solidFill>
              <a:srgbClr val="1F497D"/>
            </a:solidFill>
            <a:prstDash val="solid"/>
          </a:ln>
        </p:spPr>
      </p:sp>
      <p:sp>
        <p:nvSpPr>
          <p:cNvPr id="26" name="Shape 23"/>
          <p:cNvSpPr/>
          <p:nvPr/>
        </p:nvSpPr>
        <p:spPr>
          <a:xfrm>
            <a:off x="1005840" y="4617720"/>
            <a:ext cx="100584" cy="685800"/>
          </a:xfrm>
          <a:prstGeom prst="rect">
            <a:avLst/>
          </a:prstGeom>
          <a:solidFill>
            <a:srgbClr val="1F497D"/>
          </a:solidFill>
          <a:ln w="12700">
            <a:solidFill>
              <a:srgbClr val="1F497D"/>
            </a:solidFill>
            <a:prstDash val="solid"/>
          </a:ln>
        </p:spPr>
      </p:sp>
      <p:sp>
        <p:nvSpPr>
          <p:cNvPr id="27" name="Text 24"/>
          <p:cNvSpPr txBox="1"/>
          <p:nvPr/>
        </p:nvSpPr>
        <p:spPr>
          <a:xfrm>
            <a:off x="1243584" y="472744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Key idea</a:t>
            </a:r>
            <a:endParaRPr lang="en-US" sz="1400" dirty="0"/>
          </a:p>
        </p:txBody>
      </p:sp>
      <p:sp>
        <p:nvSpPr>
          <p:cNvPr id="28" name="Text 25"/>
          <p:cNvSpPr txBox="1"/>
          <p:nvPr/>
        </p:nvSpPr>
        <p:spPr>
          <a:xfrm>
            <a:off x="1243584" y="5029200"/>
            <a:ext cx="9756648" cy="18288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Evidence supports accountability only when it is trustworthy, protected, and reviewed.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NON-HUMAN IDENTITY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Service accounts need lifecycle controls too</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Automation does not remove identity risk. It changes the identity type.</a:t>
            </a:r>
            <a:endParaRPr lang="en-US" sz="1250" dirty="0"/>
          </a:p>
        </p:txBody>
      </p:sp>
      <p:sp>
        <p:nvSpPr>
          <p:cNvPr id="6" name="Shape 3"/>
          <p:cNvSpPr/>
          <p:nvPr/>
        </p:nvSpPr>
        <p:spPr>
          <a:xfrm>
            <a:off x="1344168" y="182880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Owner</a:t>
            </a:r>
            <a:endParaRPr lang="en-US" sz="1700" dirty="0"/>
          </a:p>
        </p:txBody>
      </p:sp>
      <p:sp>
        <p:nvSpPr>
          <p:cNvPr id="9" name="Text 6"/>
          <p:cNvSpPr txBox="1"/>
          <p:nvPr/>
        </p:nvSpPr>
        <p:spPr>
          <a:xfrm>
            <a:off x="594360"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named team</a:t>
            </a:r>
            <a:endParaRPr lang="en-US" sz="1250" dirty="0"/>
          </a:p>
        </p:txBody>
      </p:sp>
      <p:sp>
        <p:nvSpPr>
          <p:cNvPr id="10" name="Shape 7"/>
          <p:cNvSpPr/>
          <p:nvPr/>
        </p:nvSpPr>
        <p:spPr>
          <a:xfrm>
            <a:off x="2011680" y="2112264"/>
            <a:ext cx="640080" cy="0"/>
          </a:xfrm>
          <a:prstGeom prst="line">
            <a:avLst/>
          </a:prstGeom>
          <a:noFill/>
          <a:ln w="25400">
            <a:solidFill>
              <a:srgbClr val="94A3B8"/>
            </a:solidFill>
            <a:prstDash val="solid"/>
            <a:headEnd type="none"/>
            <a:tailEnd type="triangle"/>
          </a:ln>
        </p:spPr>
      </p:sp>
      <p:sp>
        <p:nvSpPr>
          <p:cNvPr id="11" name="Shape 8"/>
          <p:cNvSpPr/>
          <p:nvPr/>
        </p:nvSpPr>
        <p:spPr>
          <a:xfrm>
            <a:off x="3648456" y="1828800"/>
            <a:ext cx="566928" cy="566928"/>
          </a:xfrm>
          <a:prstGeom prst="ellipse">
            <a:avLst/>
          </a:prstGeom>
          <a:solidFill>
            <a:srgbClr val="4F81BD"/>
          </a:solidFill>
          <a:ln w="12700">
            <a:solidFill>
              <a:srgbClr val="4F81BD"/>
            </a:solidFill>
            <a:prstDash val="solid"/>
          </a:ln>
        </p:spPr>
      </p:sp>
      <p:sp>
        <p:nvSpPr>
          <p:cNvPr id="12" name="Text 9"/>
          <p:cNvSpPr txBox="1"/>
          <p:nvPr/>
        </p:nvSpPr>
        <p:spPr>
          <a:xfrm>
            <a:off x="3648456"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Scope</a:t>
            </a:r>
            <a:endParaRPr lang="en-US" sz="1700" dirty="0"/>
          </a:p>
        </p:txBody>
      </p:sp>
      <p:sp>
        <p:nvSpPr>
          <p:cNvPr id="14" name="Text 11"/>
          <p:cNvSpPr txBox="1"/>
          <p:nvPr/>
        </p:nvSpPr>
        <p:spPr>
          <a:xfrm>
            <a:off x="2898648"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one service</a:t>
            </a:r>
            <a:endParaRPr lang="en-US" sz="1250" dirty="0"/>
          </a:p>
        </p:txBody>
      </p:sp>
      <p:sp>
        <p:nvSpPr>
          <p:cNvPr id="15" name="Shape 12"/>
          <p:cNvSpPr/>
          <p:nvPr/>
        </p:nvSpPr>
        <p:spPr>
          <a:xfrm>
            <a:off x="4315968" y="2112264"/>
            <a:ext cx="640080" cy="0"/>
          </a:xfrm>
          <a:prstGeom prst="line">
            <a:avLst/>
          </a:prstGeom>
          <a:noFill/>
          <a:ln w="25400">
            <a:solidFill>
              <a:srgbClr val="94A3B8"/>
            </a:solidFill>
            <a:prstDash val="solid"/>
            <a:headEnd type="none"/>
            <a:tailEnd type="triangle"/>
          </a:ln>
        </p:spPr>
      </p:sp>
      <p:sp>
        <p:nvSpPr>
          <p:cNvPr id="16" name="Shape 13"/>
          <p:cNvSpPr/>
          <p:nvPr/>
        </p:nvSpPr>
        <p:spPr>
          <a:xfrm>
            <a:off x="5952744" y="1828800"/>
            <a:ext cx="566928" cy="566928"/>
          </a:xfrm>
          <a:prstGeom prst="ellipse">
            <a:avLst/>
          </a:prstGeom>
          <a:solidFill>
            <a:srgbClr val="F79646"/>
          </a:solidFill>
          <a:ln w="12700">
            <a:solidFill>
              <a:srgbClr val="F79646"/>
            </a:solidFill>
            <a:prstDash val="solid"/>
          </a:ln>
        </p:spPr>
      </p:sp>
      <p:sp>
        <p:nvSpPr>
          <p:cNvPr id="17" name="Text 14"/>
          <p:cNvSpPr txBox="1"/>
          <p:nvPr/>
        </p:nvSpPr>
        <p:spPr>
          <a:xfrm>
            <a:off x="5952744"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Secret</a:t>
            </a:r>
            <a:endParaRPr lang="en-US" sz="1700" dirty="0"/>
          </a:p>
        </p:txBody>
      </p:sp>
      <p:sp>
        <p:nvSpPr>
          <p:cNvPr id="19" name="Text 16"/>
          <p:cNvSpPr txBox="1"/>
          <p:nvPr/>
        </p:nvSpPr>
        <p:spPr>
          <a:xfrm>
            <a:off x="5202936"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vault or agent</a:t>
            </a:r>
            <a:endParaRPr lang="en-US" sz="1250" dirty="0"/>
          </a:p>
        </p:txBody>
      </p:sp>
      <p:sp>
        <p:nvSpPr>
          <p:cNvPr id="20" name="Shape 17"/>
          <p:cNvSpPr/>
          <p:nvPr/>
        </p:nvSpPr>
        <p:spPr>
          <a:xfrm>
            <a:off x="6620256" y="2112264"/>
            <a:ext cx="640080" cy="0"/>
          </a:xfrm>
          <a:prstGeom prst="line">
            <a:avLst/>
          </a:prstGeom>
          <a:noFill/>
          <a:ln w="25400">
            <a:solidFill>
              <a:srgbClr val="94A3B8"/>
            </a:solidFill>
            <a:prstDash val="solid"/>
            <a:headEnd type="none"/>
            <a:tailEnd type="triangle"/>
          </a:ln>
        </p:spPr>
      </p:sp>
      <p:sp>
        <p:nvSpPr>
          <p:cNvPr id="21" name="Shape 18"/>
          <p:cNvSpPr/>
          <p:nvPr/>
        </p:nvSpPr>
        <p:spPr>
          <a:xfrm>
            <a:off x="8257032" y="182880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57032"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Runtime</a:t>
            </a:r>
            <a:endParaRPr lang="en-US" sz="1700" dirty="0"/>
          </a:p>
        </p:txBody>
      </p:sp>
      <p:sp>
        <p:nvSpPr>
          <p:cNvPr id="24" name="Text 21"/>
          <p:cNvSpPr txBox="1"/>
          <p:nvPr/>
        </p:nvSpPr>
        <p:spPr>
          <a:xfrm>
            <a:off x="7507224"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noninteractive</a:t>
            </a:r>
            <a:endParaRPr lang="en-US" sz="1250" dirty="0"/>
          </a:p>
        </p:txBody>
      </p:sp>
      <p:sp>
        <p:nvSpPr>
          <p:cNvPr id="25" name="Shape 22"/>
          <p:cNvSpPr/>
          <p:nvPr/>
        </p:nvSpPr>
        <p:spPr>
          <a:xfrm>
            <a:off x="8924544" y="2112264"/>
            <a:ext cx="640080" cy="0"/>
          </a:xfrm>
          <a:prstGeom prst="line">
            <a:avLst/>
          </a:prstGeom>
          <a:noFill/>
          <a:ln w="25400">
            <a:solidFill>
              <a:srgbClr val="94A3B8"/>
            </a:solidFill>
            <a:prstDash val="solid"/>
            <a:headEnd type="none"/>
            <a:tailEnd type="triangle"/>
          </a:ln>
        </p:spPr>
      </p:sp>
      <p:sp>
        <p:nvSpPr>
          <p:cNvPr id="26" name="Shape 23"/>
          <p:cNvSpPr/>
          <p:nvPr/>
        </p:nvSpPr>
        <p:spPr>
          <a:xfrm>
            <a:off x="10561320" y="1828800"/>
            <a:ext cx="566928" cy="566928"/>
          </a:xfrm>
          <a:prstGeom prst="ellipse">
            <a:avLst/>
          </a:prstGeom>
          <a:solidFill>
            <a:srgbClr val="70AD47"/>
          </a:solidFill>
          <a:ln w="12700">
            <a:solidFill>
              <a:srgbClr val="70AD47"/>
            </a:solidFill>
            <a:prstDash val="solid"/>
          </a:ln>
        </p:spPr>
      </p:sp>
      <p:sp>
        <p:nvSpPr>
          <p:cNvPr id="27" name="Text 24"/>
          <p:cNvSpPr txBox="1"/>
          <p:nvPr/>
        </p:nvSpPr>
        <p:spPr>
          <a:xfrm>
            <a:off x="10561320" y="201168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670048"/>
            <a:ext cx="2057400" cy="237744"/>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Review</a:t>
            </a:r>
            <a:endParaRPr lang="en-US" sz="1700" dirty="0"/>
          </a:p>
        </p:txBody>
      </p:sp>
      <p:sp>
        <p:nvSpPr>
          <p:cNvPr id="29" name="Text 26"/>
          <p:cNvSpPr txBox="1"/>
          <p:nvPr/>
        </p:nvSpPr>
        <p:spPr>
          <a:xfrm>
            <a:off x="9811512" y="3108960"/>
            <a:ext cx="2057400" cy="228600"/>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rotate and attest</a:t>
            </a:r>
            <a:endParaRPr lang="en-US" sz="1250" dirty="0"/>
          </a:p>
        </p:txBody>
      </p:sp>
      <p:sp>
        <p:nvSpPr>
          <p:cNvPr id="30" name="Shape 27"/>
          <p:cNvSpPr/>
          <p:nvPr/>
        </p:nvSpPr>
        <p:spPr>
          <a:xfrm>
            <a:off x="960120" y="4498848"/>
            <a:ext cx="10149840" cy="713232"/>
          </a:xfrm>
          <a:prstGeom prst="roundRect">
            <a:avLst/>
          </a:prstGeom>
          <a:solidFill>
            <a:srgbClr val="FFFFFF"/>
          </a:solidFill>
          <a:ln w="12700">
            <a:solidFill>
              <a:srgbClr val="C0504D"/>
            </a:solidFill>
            <a:prstDash val="solid"/>
          </a:ln>
        </p:spPr>
      </p:sp>
      <p:sp>
        <p:nvSpPr>
          <p:cNvPr id="31" name="Shape 28"/>
          <p:cNvSpPr/>
          <p:nvPr/>
        </p:nvSpPr>
        <p:spPr>
          <a:xfrm>
            <a:off x="960120" y="4498848"/>
            <a:ext cx="100584" cy="713232"/>
          </a:xfrm>
          <a:prstGeom prst="rect">
            <a:avLst/>
          </a:prstGeom>
          <a:solidFill>
            <a:srgbClr val="C0504D"/>
          </a:solidFill>
          <a:ln w="12700">
            <a:solidFill>
              <a:srgbClr val="C0504D"/>
            </a:solidFill>
            <a:prstDash val="solid"/>
          </a:ln>
        </p:spPr>
      </p:sp>
      <p:sp>
        <p:nvSpPr>
          <p:cNvPr id="32" name="Text 29"/>
          <p:cNvSpPr txBox="1"/>
          <p:nvPr/>
        </p:nvSpPr>
        <p:spPr>
          <a:xfrm>
            <a:off x="1197864" y="4608576"/>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Red flag</a:t>
            </a:r>
            <a:endParaRPr lang="en-US" sz="1400" dirty="0"/>
          </a:p>
        </p:txBody>
      </p:sp>
      <p:sp>
        <p:nvSpPr>
          <p:cNvPr id="33" name="Text 30"/>
          <p:cNvSpPr txBox="1"/>
          <p:nvPr/>
        </p:nvSpPr>
        <p:spPr>
          <a:xfrm>
            <a:off x="1197864" y="4910328"/>
            <a:ext cx="980236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A shared administrator key destroys accountability even if the password is complex.</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DISCUSS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administrator key may be compromised</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Groups decide what to revoke, what to preserve, and what to investigate.</a:t>
            </a:r>
            <a:endParaRPr lang="en-US" sz="1250" dirty="0"/>
          </a:p>
        </p:txBody>
      </p:sp>
      <p:sp>
        <p:nvSpPr>
          <p:cNvPr id="6" name="Shape 3"/>
          <p:cNvSpPr/>
          <p:nvPr/>
        </p:nvSpPr>
        <p:spPr>
          <a:xfrm>
            <a:off x="777240" y="1828800"/>
            <a:ext cx="4800600" cy="960120"/>
          </a:xfrm>
          <a:prstGeom prst="roundRect">
            <a:avLst/>
          </a:prstGeom>
          <a:solidFill>
            <a:srgbClr val="FFFFFF"/>
          </a:solidFill>
          <a:ln w="12700">
            <a:solidFill>
              <a:srgbClr val="C0504D"/>
            </a:solidFill>
            <a:prstDash val="solid"/>
          </a:ln>
        </p:spPr>
      </p:sp>
      <p:sp>
        <p:nvSpPr>
          <p:cNvPr id="7" name="Shape 4"/>
          <p:cNvSpPr/>
          <p:nvPr/>
        </p:nvSpPr>
        <p:spPr>
          <a:xfrm>
            <a:off x="777240" y="1828800"/>
            <a:ext cx="100584" cy="960120"/>
          </a:xfrm>
          <a:prstGeom prst="rect">
            <a:avLst/>
          </a:prstGeom>
          <a:solidFill>
            <a:srgbClr val="C0504D"/>
          </a:solidFill>
          <a:ln w="12700">
            <a:solidFill>
              <a:srgbClr val="C0504D"/>
            </a:solidFill>
            <a:prstDash val="solid"/>
          </a:ln>
        </p:spPr>
      </p:sp>
      <p:sp>
        <p:nvSpPr>
          <p:cNvPr id="8" name="Text 5"/>
          <p:cNvSpPr txBox="1"/>
          <p:nvPr/>
        </p:nvSpPr>
        <p:spPr>
          <a:xfrm>
            <a:off x="1014984" y="193852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Contain</a:t>
            </a:r>
            <a:endParaRPr lang="en-US" sz="1400" dirty="0"/>
          </a:p>
        </p:txBody>
      </p:sp>
      <p:sp>
        <p:nvSpPr>
          <p:cNvPr id="9" name="Text 6"/>
          <p:cNvSpPr txBox="1"/>
          <p:nvPr/>
        </p:nvSpPr>
        <p:spPr>
          <a:xfrm>
            <a:off x="1014984" y="2240280"/>
            <a:ext cx="4453128" cy="4572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revoke or disable</a:t>
            </a:r>
            <a:endParaRPr lang="en-US" sz="1250" dirty="0"/>
          </a:p>
        </p:txBody>
      </p:sp>
      <p:sp>
        <p:nvSpPr>
          <p:cNvPr id="10" name="Shape 7"/>
          <p:cNvSpPr/>
          <p:nvPr/>
        </p:nvSpPr>
        <p:spPr>
          <a:xfrm>
            <a:off x="6309360" y="1828800"/>
            <a:ext cx="4800600" cy="960120"/>
          </a:xfrm>
          <a:prstGeom prst="roundRect">
            <a:avLst/>
          </a:prstGeom>
          <a:solidFill>
            <a:srgbClr val="FFFFFF"/>
          </a:solidFill>
          <a:ln w="12700">
            <a:solidFill>
              <a:srgbClr val="F79646"/>
            </a:solidFill>
            <a:prstDash val="solid"/>
          </a:ln>
        </p:spPr>
      </p:sp>
      <p:sp>
        <p:nvSpPr>
          <p:cNvPr id="11" name="Shape 8"/>
          <p:cNvSpPr/>
          <p:nvPr/>
        </p:nvSpPr>
        <p:spPr>
          <a:xfrm>
            <a:off x="6309360" y="1828800"/>
            <a:ext cx="100584" cy="960120"/>
          </a:xfrm>
          <a:prstGeom prst="rect">
            <a:avLst/>
          </a:prstGeom>
          <a:solidFill>
            <a:srgbClr val="F79646"/>
          </a:solidFill>
          <a:ln w="12700">
            <a:solidFill>
              <a:srgbClr val="F79646"/>
            </a:solidFill>
            <a:prstDash val="solid"/>
          </a:ln>
        </p:spPr>
      </p:sp>
      <p:sp>
        <p:nvSpPr>
          <p:cNvPr id="12" name="Text 9"/>
          <p:cNvSpPr txBox="1"/>
          <p:nvPr/>
        </p:nvSpPr>
        <p:spPr>
          <a:xfrm>
            <a:off x="6547104" y="193852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Scope</a:t>
            </a:r>
            <a:endParaRPr lang="en-US" sz="1400" dirty="0"/>
          </a:p>
        </p:txBody>
      </p:sp>
      <p:sp>
        <p:nvSpPr>
          <p:cNvPr id="13" name="Text 10"/>
          <p:cNvSpPr txBox="1"/>
          <p:nvPr/>
        </p:nvSpPr>
        <p:spPr>
          <a:xfrm>
            <a:off x="6547104" y="2240280"/>
            <a:ext cx="4453128" cy="4572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find affected hosts</a:t>
            </a:r>
            <a:endParaRPr lang="en-US" sz="1250" dirty="0"/>
          </a:p>
        </p:txBody>
      </p:sp>
      <p:sp>
        <p:nvSpPr>
          <p:cNvPr id="14" name="Shape 11"/>
          <p:cNvSpPr/>
          <p:nvPr/>
        </p:nvSpPr>
        <p:spPr>
          <a:xfrm>
            <a:off x="777240" y="3154680"/>
            <a:ext cx="4800600" cy="960120"/>
          </a:xfrm>
          <a:prstGeom prst="roundRect">
            <a:avLst/>
          </a:prstGeom>
          <a:solidFill>
            <a:srgbClr val="FFFFFF"/>
          </a:solidFill>
          <a:ln w="12700">
            <a:solidFill>
              <a:srgbClr val="4F81BD"/>
            </a:solidFill>
            <a:prstDash val="solid"/>
          </a:ln>
        </p:spPr>
      </p:sp>
      <p:sp>
        <p:nvSpPr>
          <p:cNvPr id="15" name="Shape 12"/>
          <p:cNvSpPr/>
          <p:nvPr/>
        </p:nvSpPr>
        <p:spPr>
          <a:xfrm>
            <a:off x="777240" y="3154680"/>
            <a:ext cx="100584" cy="960120"/>
          </a:xfrm>
          <a:prstGeom prst="rect">
            <a:avLst/>
          </a:prstGeom>
          <a:solidFill>
            <a:srgbClr val="4F81BD"/>
          </a:solidFill>
          <a:ln w="12700">
            <a:solidFill>
              <a:srgbClr val="4F81BD"/>
            </a:solidFill>
            <a:prstDash val="solid"/>
          </a:ln>
        </p:spPr>
      </p:sp>
      <p:sp>
        <p:nvSpPr>
          <p:cNvPr id="16" name="Text 13"/>
          <p:cNvSpPr txBox="1"/>
          <p:nvPr/>
        </p:nvSpPr>
        <p:spPr>
          <a:xfrm>
            <a:off x="1014984" y="326440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4F81BD"/>
                </a:solidFill>
                <a:latin typeface="Calibri" pitchFamily="34" charset="0"/>
                <a:ea typeface="Calibri" pitchFamily="34" charset="-122"/>
                <a:cs typeface="Calibri" pitchFamily="34" charset="-120"/>
              </a:rPr>
              <a:t>Preserve</a:t>
            </a:r>
            <a:endParaRPr lang="en-US" sz="1400" dirty="0"/>
          </a:p>
        </p:txBody>
      </p:sp>
      <p:sp>
        <p:nvSpPr>
          <p:cNvPr id="17" name="Text 14"/>
          <p:cNvSpPr txBox="1"/>
          <p:nvPr/>
        </p:nvSpPr>
        <p:spPr>
          <a:xfrm>
            <a:off x="1014984" y="3566160"/>
            <a:ext cx="4453128" cy="4572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protect logs and evidence</a:t>
            </a:r>
            <a:endParaRPr lang="en-US" sz="1250" dirty="0"/>
          </a:p>
        </p:txBody>
      </p:sp>
      <p:sp>
        <p:nvSpPr>
          <p:cNvPr id="18" name="Shape 15"/>
          <p:cNvSpPr/>
          <p:nvPr/>
        </p:nvSpPr>
        <p:spPr>
          <a:xfrm>
            <a:off x="6309360" y="3154680"/>
            <a:ext cx="4800600" cy="960120"/>
          </a:xfrm>
          <a:prstGeom prst="roundRect">
            <a:avLst/>
          </a:prstGeom>
          <a:solidFill>
            <a:srgbClr val="FFFFFF"/>
          </a:solidFill>
          <a:ln w="12700">
            <a:solidFill>
              <a:srgbClr val="70AD47"/>
            </a:solidFill>
            <a:prstDash val="solid"/>
          </a:ln>
        </p:spPr>
      </p:sp>
      <p:sp>
        <p:nvSpPr>
          <p:cNvPr id="19" name="Shape 16"/>
          <p:cNvSpPr/>
          <p:nvPr/>
        </p:nvSpPr>
        <p:spPr>
          <a:xfrm>
            <a:off x="6309360" y="3154680"/>
            <a:ext cx="100584" cy="960120"/>
          </a:xfrm>
          <a:prstGeom prst="rect">
            <a:avLst/>
          </a:prstGeom>
          <a:solidFill>
            <a:srgbClr val="70AD47"/>
          </a:solidFill>
          <a:ln w="12700">
            <a:solidFill>
              <a:srgbClr val="70AD47"/>
            </a:solidFill>
            <a:prstDash val="solid"/>
          </a:ln>
        </p:spPr>
      </p:sp>
      <p:sp>
        <p:nvSpPr>
          <p:cNvPr id="20" name="Text 17"/>
          <p:cNvSpPr txBox="1"/>
          <p:nvPr/>
        </p:nvSpPr>
        <p:spPr>
          <a:xfrm>
            <a:off x="6547104" y="3264408"/>
            <a:ext cx="4453128" cy="237744"/>
          </a:xfrm>
          <a:prstGeom prst="rect">
            <a:avLst/>
          </a:prstGeom>
          <a:noFill/>
          <a:ln/>
        </p:spPr>
        <p:txBody>
          <a:bodyPr wrap="square" lIns="508" tIns="508" rIns="508" bIns="508" rtlCol="0" anchor="ctr">
            <a:normAutofit/>
          </a:bodyPr>
          <a:lstStyle/>
          <a:p>
            <a:pPr algn="l" indent="0" marL="0">
              <a:buNone/>
            </a:pPr>
            <a:r>
              <a:rPr lang="en-US" sz="1400" b="1" dirty="0">
                <a:solidFill>
                  <a:srgbClr val="70AD47"/>
                </a:solidFill>
                <a:latin typeface="Calibri" pitchFamily="34" charset="0"/>
                <a:ea typeface="Calibri" pitchFamily="34" charset="-122"/>
                <a:cs typeface="Calibri" pitchFamily="34" charset="-120"/>
              </a:rPr>
              <a:t>Recover</a:t>
            </a:r>
            <a:endParaRPr lang="en-US" sz="1400" dirty="0"/>
          </a:p>
        </p:txBody>
      </p:sp>
      <p:sp>
        <p:nvSpPr>
          <p:cNvPr id="21" name="Text 18"/>
          <p:cNvSpPr txBox="1"/>
          <p:nvPr/>
        </p:nvSpPr>
        <p:spPr>
          <a:xfrm>
            <a:off x="6547104" y="3566160"/>
            <a:ext cx="4453128" cy="4572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reissue and validate</a:t>
            </a:r>
            <a:endParaRPr lang="en-US" sz="1250" dirty="0"/>
          </a:p>
        </p:txBody>
      </p:sp>
      <p:sp>
        <p:nvSpPr>
          <p:cNvPr id="22" name="Shape 19"/>
          <p:cNvSpPr/>
          <p:nvPr/>
        </p:nvSpPr>
        <p:spPr>
          <a:xfrm>
            <a:off x="3794760" y="5029200"/>
            <a:ext cx="4526280" cy="274320"/>
          </a:xfrm>
          <a:prstGeom prst="roundRect">
            <a:avLst/>
          </a:prstGeom>
          <a:solidFill>
            <a:srgbClr val="F79646"/>
          </a:solidFill>
          <a:ln w="12700">
            <a:solidFill>
              <a:srgbClr val="F79646"/>
            </a:solidFill>
            <a:prstDash val="solid"/>
          </a:ln>
        </p:spPr>
      </p:sp>
      <p:sp>
        <p:nvSpPr>
          <p:cNvPr id="23" name="Text 20"/>
          <p:cNvSpPr txBox="1"/>
          <p:nvPr/>
        </p:nvSpPr>
        <p:spPr>
          <a:xfrm>
            <a:off x="3867912" y="5047488"/>
            <a:ext cx="43799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GROUP DISCUSSION · 6 MIN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MEDIA SLOT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MFA fatigue is not a user failure story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Suggested search: “MFA fatigue attack explainer” or use a short anti-phishing reel.</a:t>
            </a:r>
            <a:endParaRPr lang="en-US" sz="1250" dirty="0"/>
          </a:p>
        </p:txBody>
      </p:sp>
      <p:sp>
        <p:nvSpPr>
          <p:cNvPr id="6" name="Shape 3"/>
          <p:cNvSpPr/>
          <p:nvPr/>
        </p:nvSpPr>
        <p:spPr>
          <a:xfrm>
            <a:off x="914400" y="1828800"/>
            <a:ext cx="10241280" cy="3246120"/>
          </a:xfrm>
          <a:prstGeom prst="roundRect">
            <a:avLst/>
          </a:prstGeom>
          <a:solidFill>
            <a:srgbClr val="EEF2F7"/>
          </a:solidFill>
          <a:ln w="12700">
            <a:solidFill>
              <a:srgbClr val="F79646"/>
            </a:solidFill>
            <a:prstDash val="solid"/>
          </a:ln>
        </p:spPr>
      </p:sp>
      <p:sp>
        <p:nvSpPr>
          <p:cNvPr id="7" name="Shape 4"/>
          <p:cNvSpPr/>
          <p:nvPr/>
        </p:nvSpPr>
        <p:spPr>
          <a:xfrm>
            <a:off x="1024128" y="1938528"/>
            <a:ext cx="10021824" cy="3026664"/>
          </a:xfrm>
          <a:prstGeom prst="line">
            <a:avLst/>
          </a:prstGeom>
          <a:noFill/>
          <a:ln w="15240">
            <a:solidFill>
              <a:srgbClr val="D8A36A"/>
            </a:solidFill>
            <a:prstDash val="solid"/>
            <a:headEnd type="none"/>
            <a:tailEnd type="none"/>
          </a:ln>
        </p:spPr>
      </p:sp>
      <p:sp>
        <p:nvSpPr>
          <p:cNvPr id="8" name="Shape 5"/>
          <p:cNvSpPr/>
          <p:nvPr/>
        </p:nvSpPr>
        <p:spPr>
          <a:xfrm>
            <a:off x="11045952" y="1938528"/>
            <a:ext cx="-10021824" cy="3026664"/>
          </a:xfrm>
          <a:prstGeom prst="line">
            <a:avLst/>
          </a:prstGeom>
          <a:noFill/>
          <a:ln w="15240">
            <a:solidFill>
              <a:srgbClr val="D8A36A"/>
            </a:solidFill>
            <a:prstDash val="solid"/>
            <a:headEnd type="none"/>
            <a:tailEnd type="none"/>
          </a:ln>
        </p:spPr>
      </p:sp>
      <p:sp>
        <p:nvSpPr>
          <p:cNvPr id="9" name="Shape 6"/>
          <p:cNvSpPr/>
          <p:nvPr/>
        </p:nvSpPr>
        <p:spPr>
          <a:xfrm>
            <a:off x="5376672" y="2075688"/>
            <a:ext cx="1316736" cy="274320"/>
          </a:xfrm>
          <a:prstGeom prst="roundRect">
            <a:avLst/>
          </a:prstGeom>
          <a:solidFill>
            <a:srgbClr val="F79646"/>
          </a:solidFill>
          <a:ln w="12700">
            <a:solidFill>
              <a:srgbClr val="F79646"/>
            </a:solidFill>
            <a:prstDash val="solid"/>
          </a:ln>
        </p:spPr>
      </p:sp>
      <p:sp>
        <p:nvSpPr>
          <p:cNvPr id="10" name="Text 7"/>
          <p:cNvSpPr txBox="1"/>
          <p:nvPr/>
        </p:nvSpPr>
        <p:spPr>
          <a:xfrm>
            <a:off x="5449824" y="2093976"/>
            <a:ext cx="1170432"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MEDIA SLOT</a:t>
            </a:r>
            <a:endParaRPr lang="en-US" sz="1000" dirty="0"/>
          </a:p>
        </p:txBody>
      </p:sp>
      <p:sp>
        <p:nvSpPr>
          <p:cNvPr id="11" name="Text 8"/>
          <p:cNvSpPr txBox="1"/>
          <p:nvPr/>
        </p:nvSpPr>
        <p:spPr>
          <a:xfrm>
            <a:off x="1234440" y="2743200"/>
            <a:ext cx="9601200" cy="457200"/>
          </a:xfrm>
          <a:prstGeom prst="rect">
            <a:avLst/>
          </a:prstGeom>
          <a:noFill/>
          <a:ln/>
        </p:spPr>
        <p:txBody>
          <a:bodyPr wrap="square" lIns="508" tIns="508" rIns="508" bIns="508" rtlCol="0" anchor="ctr">
            <a:normAutofit/>
          </a:bodyPr>
          <a:lstStyle/>
          <a:p>
            <a:pPr algn="ctr" indent="0" marL="0">
              <a:buNone/>
            </a:pPr>
            <a:r>
              <a:rPr lang="en-US" sz="2200" b="1" dirty="0">
                <a:solidFill>
                  <a:srgbClr val="1F497D"/>
                </a:solidFill>
                <a:latin typeface="Calibri" pitchFamily="34" charset="0"/>
                <a:ea typeface="Calibri" pitchFamily="34" charset="-122"/>
                <a:cs typeface="Calibri" pitchFamily="34" charset="-120"/>
              </a:rPr>
              <a:t>APPROVE? APPROVE? APPROVE?</a:t>
            </a:r>
            <a:endParaRPr lang="en-US" sz="2200" dirty="0"/>
          </a:p>
        </p:txBody>
      </p:sp>
      <p:sp>
        <p:nvSpPr>
          <p:cNvPr id="12" name="Text 9"/>
          <p:cNvSpPr txBox="1"/>
          <p:nvPr/>
        </p:nvSpPr>
        <p:spPr>
          <a:xfrm>
            <a:off x="1325880" y="3401568"/>
            <a:ext cx="9418320" cy="566928"/>
          </a:xfrm>
          <a:prstGeom prst="rect">
            <a:avLst/>
          </a:prstGeom>
          <a:noFill/>
          <a:ln/>
        </p:spPr>
        <p:txBody>
          <a:bodyPr wrap="square" lIns="508" tIns="508" rIns="508" bIns="508" rtlCol="0" anchor="ctr">
            <a:normAutofit/>
          </a:bodyPr>
          <a:lstStyle/>
          <a:p>
            <a:pPr algn="ctr" indent="0" marL="0">
              <a:buNone/>
            </a:pPr>
            <a:r>
              <a:rPr lang="en-US" sz="1300" i="1" dirty="0">
                <a:solidFill>
                  <a:srgbClr val="64748B"/>
                </a:solidFill>
                <a:latin typeface="Calibri" pitchFamily="34" charset="0"/>
                <a:ea typeface="Calibri" pitchFamily="34" charset="-122"/>
                <a:cs typeface="Calibri" pitchFamily="34" charset="-120"/>
              </a:rPr>
              <a:t>Caption: “When the second factor becomes a notification habit.”</a:t>
            </a:r>
            <a:endParaRPr lang="en-US" sz="13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Policy is the management decision. Standards make it testable.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policy package needs layers with different levels of specificity.</a:t>
            </a:r>
            <a:endParaRPr lang="en-US" sz="1250" dirty="0"/>
          </a:p>
        </p:txBody>
      </p:sp>
      <p:sp>
        <p:nvSpPr>
          <p:cNvPr id="6" name="Shape 3"/>
          <p:cNvSpPr/>
          <p:nvPr/>
        </p:nvSpPr>
        <p:spPr>
          <a:xfrm>
            <a:off x="731520" y="1965960"/>
            <a:ext cx="2423160" cy="2331720"/>
          </a:xfrm>
          <a:prstGeom prst="roundRect">
            <a:avLst/>
          </a:prstGeom>
          <a:solidFill>
            <a:srgbClr val="FFFFFF"/>
          </a:solidFill>
          <a:ln w="12700">
            <a:solidFill>
              <a:srgbClr val="C0504D"/>
            </a:solidFill>
            <a:prstDash val="solid"/>
          </a:ln>
        </p:spPr>
      </p:sp>
      <p:sp>
        <p:nvSpPr>
          <p:cNvPr id="7" name="Shape 4"/>
          <p:cNvSpPr/>
          <p:nvPr/>
        </p:nvSpPr>
        <p:spPr>
          <a:xfrm>
            <a:off x="731520" y="1965960"/>
            <a:ext cx="2423160" cy="411480"/>
          </a:xfrm>
          <a:prstGeom prst="roundRect">
            <a:avLst/>
          </a:prstGeom>
          <a:solidFill>
            <a:srgbClr val="C0504D"/>
          </a:solidFill>
          <a:ln w="12700">
            <a:solidFill>
              <a:srgbClr val="C0504D"/>
            </a:solidFill>
            <a:prstDash val="solid"/>
          </a:ln>
        </p:spPr>
      </p:sp>
      <p:sp>
        <p:nvSpPr>
          <p:cNvPr id="8" name="Text 5"/>
          <p:cNvSpPr txBox="1"/>
          <p:nvPr/>
        </p:nvSpPr>
        <p:spPr>
          <a:xfrm>
            <a:off x="841248"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Policy</a:t>
            </a:r>
            <a:endParaRPr lang="en-US" sz="1600" dirty="0"/>
          </a:p>
        </p:txBody>
      </p:sp>
      <p:sp>
        <p:nvSpPr>
          <p:cNvPr id="9" name="Text 6"/>
          <p:cNvSpPr txBox="1"/>
          <p:nvPr/>
        </p:nvSpPr>
        <p:spPr>
          <a:xfrm>
            <a:off x="896112"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why and who</a:t>
            </a:r>
            <a:endParaRPr lang="en-US" sz="1900" dirty="0"/>
          </a:p>
        </p:txBody>
      </p:sp>
      <p:sp>
        <p:nvSpPr>
          <p:cNvPr id="10" name="Shape 7"/>
          <p:cNvSpPr/>
          <p:nvPr/>
        </p:nvSpPr>
        <p:spPr>
          <a:xfrm>
            <a:off x="3547872" y="1965960"/>
            <a:ext cx="2423160" cy="2331720"/>
          </a:xfrm>
          <a:prstGeom prst="roundRect">
            <a:avLst/>
          </a:prstGeom>
          <a:solidFill>
            <a:srgbClr val="FFFFFF"/>
          </a:solidFill>
          <a:ln w="12700">
            <a:solidFill>
              <a:srgbClr val="F79646"/>
            </a:solidFill>
            <a:prstDash val="solid"/>
          </a:ln>
        </p:spPr>
      </p:sp>
      <p:sp>
        <p:nvSpPr>
          <p:cNvPr id="11" name="Shape 8"/>
          <p:cNvSpPr/>
          <p:nvPr/>
        </p:nvSpPr>
        <p:spPr>
          <a:xfrm>
            <a:off x="3547872" y="1965960"/>
            <a:ext cx="2423160" cy="411480"/>
          </a:xfrm>
          <a:prstGeom prst="roundRect">
            <a:avLst/>
          </a:prstGeom>
          <a:solidFill>
            <a:srgbClr val="F79646"/>
          </a:solidFill>
          <a:ln w="12700">
            <a:solidFill>
              <a:srgbClr val="F79646"/>
            </a:solidFill>
            <a:prstDash val="solid"/>
          </a:ln>
        </p:spPr>
      </p:sp>
      <p:sp>
        <p:nvSpPr>
          <p:cNvPr id="12" name="Text 9"/>
          <p:cNvSpPr txBox="1"/>
          <p:nvPr/>
        </p:nvSpPr>
        <p:spPr>
          <a:xfrm>
            <a:off x="3657600"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Standard</a:t>
            </a:r>
            <a:endParaRPr lang="en-US" sz="1600" dirty="0"/>
          </a:p>
        </p:txBody>
      </p:sp>
      <p:sp>
        <p:nvSpPr>
          <p:cNvPr id="13" name="Text 10"/>
          <p:cNvSpPr txBox="1"/>
          <p:nvPr/>
        </p:nvSpPr>
        <p:spPr>
          <a:xfrm>
            <a:off x="3712464"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what must be true</a:t>
            </a:r>
            <a:endParaRPr lang="en-US" sz="1900" dirty="0"/>
          </a:p>
        </p:txBody>
      </p:sp>
      <p:sp>
        <p:nvSpPr>
          <p:cNvPr id="14" name="Shape 11"/>
          <p:cNvSpPr/>
          <p:nvPr/>
        </p:nvSpPr>
        <p:spPr>
          <a:xfrm>
            <a:off x="6364224" y="1965960"/>
            <a:ext cx="2423160" cy="2331720"/>
          </a:xfrm>
          <a:prstGeom prst="roundRect">
            <a:avLst/>
          </a:prstGeom>
          <a:solidFill>
            <a:srgbClr val="FFFFFF"/>
          </a:solidFill>
          <a:ln w="12700">
            <a:solidFill>
              <a:srgbClr val="4F81BD"/>
            </a:solidFill>
            <a:prstDash val="solid"/>
          </a:ln>
        </p:spPr>
      </p:sp>
      <p:sp>
        <p:nvSpPr>
          <p:cNvPr id="15" name="Shape 12"/>
          <p:cNvSpPr/>
          <p:nvPr/>
        </p:nvSpPr>
        <p:spPr>
          <a:xfrm>
            <a:off x="6364224" y="1965960"/>
            <a:ext cx="2423160" cy="411480"/>
          </a:xfrm>
          <a:prstGeom prst="roundRect">
            <a:avLst/>
          </a:prstGeom>
          <a:solidFill>
            <a:srgbClr val="4F81BD"/>
          </a:solidFill>
          <a:ln w="12700">
            <a:solidFill>
              <a:srgbClr val="4F81BD"/>
            </a:solidFill>
            <a:prstDash val="solid"/>
          </a:ln>
        </p:spPr>
      </p:sp>
      <p:sp>
        <p:nvSpPr>
          <p:cNvPr id="16" name="Text 13"/>
          <p:cNvSpPr txBox="1"/>
          <p:nvPr/>
        </p:nvSpPr>
        <p:spPr>
          <a:xfrm>
            <a:off x="6473952"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Guideline</a:t>
            </a:r>
            <a:endParaRPr lang="en-US" sz="1600" dirty="0"/>
          </a:p>
        </p:txBody>
      </p:sp>
      <p:sp>
        <p:nvSpPr>
          <p:cNvPr id="17" name="Text 14"/>
          <p:cNvSpPr txBox="1"/>
          <p:nvPr/>
        </p:nvSpPr>
        <p:spPr>
          <a:xfrm>
            <a:off x="6528816"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what is preferred</a:t>
            </a:r>
            <a:endParaRPr lang="en-US" sz="1900" dirty="0"/>
          </a:p>
        </p:txBody>
      </p:sp>
      <p:sp>
        <p:nvSpPr>
          <p:cNvPr id="18" name="Shape 15"/>
          <p:cNvSpPr/>
          <p:nvPr/>
        </p:nvSpPr>
        <p:spPr>
          <a:xfrm>
            <a:off x="9180576" y="1965960"/>
            <a:ext cx="2423160" cy="2331720"/>
          </a:xfrm>
          <a:prstGeom prst="roundRect">
            <a:avLst/>
          </a:prstGeom>
          <a:solidFill>
            <a:srgbClr val="FFFFFF"/>
          </a:solidFill>
          <a:ln w="12700">
            <a:solidFill>
              <a:srgbClr val="70AD47"/>
            </a:solidFill>
            <a:prstDash val="solid"/>
          </a:ln>
        </p:spPr>
      </p:sp>
      <p:sp>
        <p:nvSpPr>
          <p:cNvPr id="19" name="Shape 16"/>
          <p:cNvSpPr/>
          <p:nvPr/>
        </p:nvSpPr>
        <p:spPr>
          <a:xfrm>
            <a:off x="9180576" y="1965960"/>
            <a:ext cx="2423160" cy="411480"/>
          </a:xfrm>
          <a:prstGeom prst="roundRect">
            <a:avLst/>
          </a:prstGeom>
          <a:solidFill>
            <a:srgbClr val="70AD47"/>
          </a:solidFill>
          <a:ln w="12700">
            <a:solidFill>
              <a:srgbClr val="70AD47"/>
            </a:solidFill>
            <a:prstDash val="solid"/>
          </a:ln>
        </p:spPr>
      </p:sp>
      <p:sp>
        <p:nvSpPr>
          <p:cNvPr id="20" name="Text 17"/>
          <p:cNvSpPr txBox="1"/>
          <p:nvPr/>
        </p:nvSpPr>
        <p:spPr>
          <a:xfrm>
            <a:off x="9290304" y="2084832"/>
            <a:ext cx="2194560" cy="182880"/>
          </a:xfrm>
          <a:prstGeom prst="rect">
            <a:avLst/>
          </a:prstGeom>
          <a:noFill/>
          <a:ln/>
        </p:spPr>
        <p:txBody>
          <a:bodyPr wrap="square" lIns="508" tIns="508" rIns="508" bIns="508" rtlCol="0" anchor="ctr">
            <a:normAutofit/>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Procedure</a:t>
            </a:r>
            <a:endParaRPr lang="en-US" sz="1600" dirty="0"/>
          </a:p>
        </p:txBody>
      </p:sp>
      <p:sp>
        <p:nvSpPr>
          <p:cNvPr id="21" name="Text 18"/>
          <p:cNvSpPr txBox="1"/>
          <p:nvPr/>
        </p:nvSpPr>
        <p:spPr>
          <a:xfrm>
            <a:off x="9345168" y="2834640"/>
            <a:ext cx="2103120" cy="292608"/>
          </a:xfrm>
          <a:prstGeom prst="rect">
            <a:avLst/>
          </a:prstGeom>
          <a:noFill/>
          <a:ln/>
        </p:spPr>
        <p:txBody>
          <a:bodyPr wrap="square" lIns="508" tIns="508" rIns="508" bIns="508" rtlCol="0" anchor="ctr">
            <a:normAutofit/>
          </a:bodyPr>
          <a:lstStyle/>
          <a:p>
            <a:pPr algn="ctr" indent="0" marL="0">
              <a:buNone/>
            </a:pPr>
            <a:r>
              <a:rPr lang="en-US" sz="1900" b="1" dirty="0">
                <a:solidFill>
                  <a:srgbClr val="1F497D"/>
                </a:solidFill>
                <a:latin typeface="Calibri" pitchFamily="34" charset="0"/>
                <a:ea typeface="Calibri" pitchFamily="34" charset="-122"/>
                <a:cs typeface="Calibri" pitchFamily="34" charset="-120"/>
              </a:rPr>
              <a:t>how to perform it</a:t>
            </a:r>
            <a:endParaRPr lang="en-US" sz="1900" dirty="0"/>
          </a:p>
        </p:txBody>
      </p:sp>
      <p:sp>
        <p:nvSpPr>
          <p:cNvPr id="22" name="Shape 19"/>
          <p:cNvSpPr/>
          <p:nvPr/>
        </p:nvSpPr>
        <p:spPr>
          <a:xfrm>
            <a:off x="1051560" y="4663440"/>
            <a:ext cx="10012680" cy="713232"/>
          </a:xfrm>
          <a:prstGeom prst="roundRect">
            <a:avLst/>
          </a:prstGeom>
          <a:solidFill>
            <a:srgbClr val="FFFFFF"/>
          </a:solidFill>
          <a:ln w="12700">
            <a:solidFill>
              <a:srgbClr val="1F497D"/>
            </a:solidFill>
            <a:prstDash val="solid"/>
          </a:ln>
        </p:spPr>
      </p:sp>
      <p:sp>
        <p:nvSpPr>
          <p:cNvPr id="23" name="Shape 20"/>
          <p:cNvSpPr/>
          <p:nvPr/>
        </p:nvSpPr>
        <p:spPr>
          <a:xfrm>
            <a:off x="1051560" y="4663440"/>
            <a:ext cx="100584" cy="713232"/>
          </a:xfrm>
          <a:prstGeom prst="rect">
            <a:avLst/>
          </a:prstGeom>
          <a:solidFill>
            <a:srgbClr val="1F497D"/>
          </a:solidFill>
          <a:ln w="12700">
            <a:solidFill>
              <a:srgbClr val="1F497D"/>
            </a:solidFill>
            <a:prstDash val="solid"/>
          </a:ln>
        </p:spPr>
      </p:sp>
      <p:sp>
        <p:nvSpPr>
          <p:cNvPr id="24" name="Text 21"/>
          <p:cNvSpPr txBox="1"/>
          <p:nvPr/>
        </p:nvSpPr>
        <p:spPr>
          <a:xfrm>
            <a:off x="1289304" y="4773168"/>
            <a:ext cx="966520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Quality test</a:t>
            </a:r>
            <a:endParaRPr lang="en-US" sz="1400" dirty="0"/>
          </a:p>
        </p:txBody>
      </p:sp>
      <p:sp>
        <p:nvSpPr>
          <p:cNvPr id="25" name="Text 22"/>
          <p:cNvSpPr txBox="1"/>
          <p:nvPr/>
        </p:nvSpPr>
        <p:spPr>
          <a:xfrm>
            <a:off x="1289304" y="5074920"/>
            <a:ext cx="9665208" cy="21031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Can an auditor or operator tell whether the requirement is satisfied?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QUALITY</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Good policy language names owners, scope, evidence, and exceptions</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Vague language creates unreviewable risk.</a:t>
            </a:r>
            <a:endParaRPr lang="en-US" sz="1250" dirty="0"/>
          </a:p>
        </p:txBody>
      </p:sp>
      <p:sp>
        <p:nvSpPr>
          <p:cNvPr id="6" name="Shape 3"/>
          <p:cNvSpPr/>
          <p:nvPr/>
        </p:nvSpPr>
        <p:spPr>
          <a:xfrm>
            <a:off x="594360" y="2057400"/>
            <a:ext cx="2057400" cy="1874520"/>
          </a:xfrm>
          <a:prstGeom prst="roundRect">
            <a:avLst/>
          </a:prstGeom>
          <a:solidFill>
            <a:srgbClr val="FFFFFF"/>
          </a:solidFill>
          <a:ln w="12700">
            <a:solidFill>
              <a:srgbClr val="CBD5E1"/>
            </a:solidFill>
            <a:prstDash val="solid"/>
          </a:ln>
        </p:spPr>
      </p:sp>
      <p:sp>
        <p:nvSpPr>
          <p:cNvPr id="7" name="Shape 4"/>
          <p:cNvSpPr/>
          <p:nvPr/>
        </p:nvSpPr>
        <p:spPr>
          <a:xfrm>
            <a:off x="594360" y="205740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9" name="Text 6"/>
          <p:cNvSpPr txBox="1"/>
          <p:nvPr/>
        </p:nvSpPr>
        <p:spPr>
          <a:xfrm>
            <a:off x="704088"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 is accountable?</a:t>
            </a:r>
            <a:endParaRPr lang="en-US" sz="1300" dirty="0"/>
          </a:p>
        </p:txBody>
      </p:sp>
      <p:sp>
        <p:nvSpPr>
          <p:cNvPr id="10" name="Shape 7"/>
          <p:cNvSpPr/>
          <p:nvPr/>
        </p:nvSpPr>
        <p:spPr>
          <a:xfrm>
            <a:off x="2898648" y="2057400"/>
            <a:ext cx="2057400" cy="1874520"/>
          </a:xfrm>
          <a:prstGeom prst="roundRect">
            <a:avLst/>
          </a:prstGeom>
          <a:solidFill>
            <a:srgbClr val="FFFFFF"/>
          </a:solidFill>
          <a:ln w="12700">
            <a:solidFill>
              <a:srgbClr val="CBD5E1"/>
            </a:solidFill>
            <a:prstDash val="solid"/>
          </a:ln>
        </p:spPr>
      </p:sp>
      <p:sp>
        <p:nvSpPr>
          <p:cNvPr id="11" name="Shape 8"/>
          <p:cNvSpPr/>
          <p:nvPr/>
        </p:nvSpPr>
        <p:spPr>
          <a:xfrm>
            <a:off x="2898648" y="2057400"/>
            <a:ext cx="2057400" cy="292608"/>
          </a:xfrm>
          <a:prstGeom prst="roundRect">
            <a:avLst/>
          </a:prstGeom>
          <a:solidFill>
            <a:srgbClr val="4F81BD"/>
          </a:solidFill>
          <a:ln w="12700">
            <a:solidFill>
              <a:srgbClr val="4F81BD"/>
            </a:solidFill>
            <a:prstDash val="solid"/>
          </a:ln>
        </p:spPr>
      </p:sp>
      <p:sp>
        <p:nvSpPr>
          <p:cNvPr id="12" name="Text 9"/>
          <p:cNvSpPr txBox="1"/>
          <p:nvPr/>
        </p:nvSpPr>
        <p:spPr>
          <a:xfrm>
            <a:off x="3008376"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Scope</a:t>
            </a:r>
            <a:endParaRPr lang="en-US" sz="1100" dirty="0"/>
          </a:p>
        </p:txBody>
      </p:sp>
      <p:sp>
        <p:nvSpPr>
          <p:cNvPr id="13" name="Text 10"/>
          <p:cNvSpPr txBox="1"/>
          <p:nvPr/>
        </p:nvSpPr>
        <p:spPr>
          <a:xfrm>
            <a:off x="3008376"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is covered?</a:t>
            </a:r>
            <a:endParaRPr lang="en-US" sz="1300" dirty="0"/>
          </a:p>
        </p:txBody>
      </p:sp>
      <p:sp>
        <p:nvSpPr>
          <p:cNvPr id="14" name="Shape 11"/>
          <p:cNvSpPr/>
          <p:nvPr/>
        </p:nvSpPr>
        <p:spPr>
          <a:xfrm>
            <a:off x="5202936" y="2057400"/>
            <a:ext cx="2057400" cy="1874520"/>
          </a:xfrm>
          <a:prstGeom prst="roundRect">
            <a:avLst/>
          </a:prstGeom>
          <a:solidFill>
            <a:srgbClr val="FFFFFF"/>
          </a:solidFill>
          <a:ln w="12700">
            <a:solidFill>
              <a:srgbClr val="CBD5E1"/>
            </a:solidFill>
            <a:prstDash val="solid"/>
          </a:ln>
        </p:spPr>
      </p:sp>
      <p:sp>
        <p:nvSpPr>
          <p:cNvPr id="15" name="Shape 12"/>
          <p:cNvSpPr/>
          <p:nvPr/>
        </p:nvSpPr>
        <p:spPr>
          <a:xfrm>
            <a:off x="5202936" y="2057400"/>
            <a:ext cx="2057400" cy="292608"/>
          </a:xfrm>
          <a:prstGeom prst="roundRect">
            <a:avLst/>
          </a:prstGeom>
          <a:solidFill>
            <a:srgbClr val="F79646"/>
          </a:solidFill>
          <a:ln w="12700">
            <a:solidFill>
              <a:srgbClr val="F79646"/>
            </a:solidFill>
            <a:prstDash val="solid"/>
          </a:ln>
        </p:spPr>
      </p:sp>
      <p:sp>
        <p:nvSpPr>
          <p:cNvPr id="16" name="Text 13"/>
          <p:cNvSpPr txBox="1"/>
          <p:nvPr/>
        </p:nvSpPr>
        <p:spPr>
          <a:xfrm>
            <a:off x="5312664"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p>
        </p:txBody>
      </p:sp>
      <p:sp>
        <p:nvSpPr>
          <p:cNvPr id="17" name="Text 14"/>
          <p:cNvSpPr txBox="1"/>
          <p:nvPr/>
        </p:nvSpPr>
        <p:spPr>
          <a:xfrm>
            <a:off x="5312664"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what must happen?</a:t>
            </a:r>
            <a:endParaRPr lang="en-US" sz="1300" dirty="0"/>
          </a:p>
        </p:txBody>
      </p:sp>
      <p:sp>
        <p:nvSpPr>
          <p:cNvPr id="18" name="Shape 15"/>
          <p:cNvSpPr/>
          <p:nvPr/>
        </p:nvSpPr>
        <p:spPr>
          <a:xfrm>
            <a:off x="7507224" y="2057400"/>
            <a:ext cx="2057400" cy="1874520"/>
          </a:xfrm>
          <a:prstGeom prst="roundRect">
            <a:avLst/>
          </a:prstGeom>
          <a:solidFill>
            <a:srgbClr val="FFFFFF"/>
          </a:solidFill>
          <a:ln w="12700">
            <a:solidFill>
              <a:srgbClr val="CBD5E1"/>
            </a:solidFill>
            <a:prstDash val="solid"/>
          </a:ln>
        </p:spPr>
      </p:sp>
      <p:sp>
        <p:nvSpPr>
          <p:cNvPr id="19" name="Shape 16"/>
          <p:cNvSpPr/>
          <p:nvPr/>
        </p:nvSpPr>
        <p:spPr>
          <a:xfrm>
            <a:off x="7507224" y="2057400"/>
            <a:ext cx="2057400" cy="292608"/>
          </a:xfrm>
          <a:prstGeom prst="roundRect">
            <a:avLst/>
          </a:prstGeom>
          <a:solidFill>
            <a:srgbClr val="8064A2"/>
          </a:solidFill>
          <a:ln w="12700">
            <a:solidFill>
              <a:srgbClr val="8064A2"/>
            </a:solidFill>
            <a:prstDash val="solid"/>
          </a:ln>
        </p:spPr>
      </p:sp>
      <p:sp>
        <p:nvSpPr>
          <p:cNvPr id="20" name="Text 17"/>
          <p:cNvSpPr txBox="1"/>
          <p:nvPr/>
        </p:nvSpPr>
        <p:spPr>
          <a:xfrm>
            <a:off x="7616952"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21" name="Text 18"/>
          <p:cNvSpPr txBox="1"/>
          <p:nvPr/>
        </p:nvSpPr>
        <p:spPr>
          <a:xfrm>
            <a:off x="7616952"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how is it proven?</a:t>
            </a:r>
            <a:endParaRPr lang="en-US" sz="1300" dirty="0"/>
          </a:p>
        </p:txBody>
      </p:sp>
      <p:sp>
        <p:nvSpPr>
          <p:cNvPr id="22" name="Shape 19"/>
          <p:cNvSpPr/>
          <p:nvPr/>
        </p:nvSpPr>
        <p:spPr>
          <a:xfrm>
            <a:off x="9811512" y="2057400"/>
            <a:ext cx="2057400" cy="1874520"/>
          </a:xfrm>
          <a:prstGeom prst="roundRect">
            <a:avLst/>
          </a:prstGeom>
          <a:solidFill>
            <a:srgbClr val="FFFFFF"/>
          </a:solidFill>
          <a:ln w="12700">
            <a:solidFill>
              <a:srgbClr val="CBD5E1"/>
            </a:solidFill>
            <a:prstDash val="solid"/>
          </a:ln>
        </p:spPr>
      </p:sp>
      <p:sp>
        <p:nvSpPr>
          <p:cNvPr id="23" name="Shape 20"/>
          <p:cNvSpPr/>
          <p:nvPr/>
        </p:nvSpPr>
        <p:spPr>
          <a:xfrm>
            <a:off x="9811512" y="2057400"/>
            <a:ext cx="2057400" cy="292608"/>
          </a:xfrm>
          <a:prstGeom prst="roundRect">
            <a:avLst/>
          </a:prstGeom>
          <a:solidFill>
            <a:srgbClr val="C0504D"/>
          </a:solidFill>
          <a:ln w="12700">
            <a:solidFill>
              <a:srgbClr val="C0504D"/>
            </a:solidFill>
            <a:prstDash val="solid"/>
          </a:ln>
        </p:spPr>
      </p:sp>
      <p:sp>
        <p:nvSpPr>
          <p:cNvPr id="24" name="Text 21"/>
          <p:cNvSpPr txBox="1"/>
          <p:nvPr/>
        </p:nvSpPr>
        <p:spPr>
          <a:xfrm>
            <a:off x="9921240" y="209397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Exception</a:t>
            </a:r>
            <a:endParaRPr lang="en-US" sz="1100" dirty="0"/>
          </a:p>
        </p:txBody>
      </p:sp>
      <p:sp>
        <p:nvSpPr>
          <p:cNvPr id="25" name="Text 22"/>
          <p:cNvSpPr txBox="1"/>
          <p:nvPr/>
        </p:nvSpPr>
        <p:spPr>
          <a:xfrm>
            <a:off x="9921240" y="246888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who may approve?</a:t>
            </a:r>
            <a:endParaRPr lang="en-US" sz="1300" dirty="0"/>
          </a:p>
        </p:txBody>
      </p:sp>
      <p:sp>
        <p:nvSpPr>
          <p:cNvPr id="26" name="Shape 23"/>
          <p:cNvSpPr/>
          <p:nvPr/>
        </p:nvSpPr>
        <p:spPr>
          <a:xfrm>
            <a:off x="1234440" y="4572000"/>
            <a:ext cx="9692640" cy="896112"/>
          </a:xfrm>
          <a:prstGeom prst="roundRect">
            <a:avLst/>
          </a:prstGeom>
          <a:solidFill>
            <a:srgbClr val="16202C"/>
          </a:solidFill>
          <a:ln w="12700">
            <a:solidFill>
              <a:srgbClr val="16202C"/>
            </a:solidFill>
            <a:prstDash val="solid"/>
          </a:ln>
        </p:spPr>
      </p:sp>
      <p:sp>
        <p:nvSpPr>
          <p:cNvPr id="27" name="Shape 24"/>
          <p:cNvSpPr/>
          <p:nvPr/>
        </p:nvSpPr>
        <p:spPr>
          <a:xfrm>
            <a:off x="1234440" y="4572000"/>
            <a:ext cx="91440" cy="896112"/>
          </a:xfrm>
          <a:prstGeom prst="rect">
            <a:avLst/>
          </a:prstGeom>
          <a:solidFill>
            <a:srgbClr val="70AD47"/>
          </a:solidFill>
          <a:ln w="12700">
            <a:solidFill>
              <a:srgbClr val="70AD47"/>
            </a:solidFill>
            <a:prstDash val="solid"/>
          </a:ln>
        </p:spPr>
      </p:sp>
      <p:sp>
        <p:nvSpPr>
          <p:cNvPr id="28" name="Text 25"/>
          <p:cNvSpPr txBox="1"/>
          <p:nvPr/>
        </p:nvSpPr>
        <p:spPr>
          <a:xfrm>
            <a:off x="1435608" y="4681728"/>
            <a:ext cx="9381744" cy="694944"/>
          </a:xfrm>
          <a:prstGeom prst="rect">
            <a:avLst/>
          </a:prstGeom>
          <a:noFill/>
          <a:ln/>
        </p:spPr>
        <p:txBody>
          <a:bodyPr wrap="square" lIns="508" tIns="508" rIns="508" bIns="508" rtlCol="0" anchor="t">
            <a:normAutofit/>
          </a:bodyPr>
          <a:lstStyle/>
          <a:p>
            <a:pPr algn="l" indent="0" marL="0">
              <a:buNone/>
            </a:pPr>
            <a:r>
              <a:rPr lang="en-US" sz="1100" dirty="0">
                <a:solidFill>
                  <a:srgbClr val="E8F0F7"/>
                </a:solidFill>
                <a:latin typeface="Courier New" pitchFamily="34" charset="0"/>
                <a:ea typeface="Courier New" pitchFamily="34" charset="-122"/>
                <a:cs typeface="Courier New" pitchFamily="34" charset="-120"/>
              </a:rPr>
              <a:t>Remote administrator access shall require</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public-key authentication plus MFA, pass through</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the approved bastion, and be retained in logs</a:t>
            </a:r>
            <a:endParaRPr lang="en-US" sz="1100" dirty="0"/>
          </a:p>
          <a:p>
            <a:pPr algn="l" indent="0" marL="0">
              <a:buNone/>
            </a:pPr>
            <a:r>
              <a:rPr lang="en-US" sz="1100" dirty="0">
                <a:solidFill>
                  <a:srgbClr val="E8F0F7"/>
                </a:solidFill>
                <a:latin typeface="Courier New" pitchFamily="34" charset="0"/>
                <a:ea typeface="Courier New" pitchFamily="34" charset="-122"/>
                <a:cs typeface="Courier New" pitchFamily="34" charset="-120"/>
              </a:rPr>
              <a:t>for the defined review period.</a:t>
            </a:r>
            <a:endParaRPr lang="en-US" sz="11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AUP + AUTH</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acceptable use policy must reach the behavior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security policy is useful when a new employee can act on it.</a:t>
            </a:r>
            <a:endParaRPr lang="en-US" sz="1250" dirty="0"/>
          </a:p>
        </p:txBody>
      </p:sp>
      <p:sp>
        <p:nvSpPr>
          <p:cNvPr id="6" name="Shape 3"/>
          <p:cNvSpPr/>
          <p:nvPr/>
        </p:nvSpPr>
        <p:spPr>
          <a:xfrm>
            <a:off x="777240" y="1965960"/>
            <a:ext cx="3154680" cy="2331720"/>
          </a:xfrm>
          <a:prstGeom prst="roundRect">
            <a:avLst/>
          </a:prstGeom>
          <a:solidFill>
            <a:srgbClr val="FFFFFF"/>
          </a:solidFill>
          <a:ln w="12700">
            <a:solidFill>
              <a:srgbClr val="CBD5E1"/>
            </a:solidFill>
            <a:prstDash val="solid"/>
          </a:ln>
        </p:spPr>
      </p:sp>
      <p:sp>
        <p:nvSpPr>
          <p:cNvPr id="7" name="Shape 4"/>
          <p:cNvSpPr/>
          <p:nvPr/>
        </p:nvSpPr>
        <p:spPr>
          <a:xfrm>
            <a:off x="777240" y="1965960"/>
            <a:ext cx="3154680" cy="292608"/>
          </a:xfrm>
          <a:prstGeom prst="roundRect">
            <a:avLst/>
          </a:prstGeom>
          <a:solidFill>
            <a:srgbClr val="4BACC6"/>
          </a:solidFill>
          <a:ln w="12700">
            <a:solidFill>
              <a:srgbClr val="4BACC6"/>
            </a:solidFill>
            <a:prstDash val="solid"/>
          </a:ln>
        </p:spPr>
      </p:sp>
      <p:sp>
        <p:nvSpPr>
          <p:cNvPr id="8" name="Text 5"/>
          <p:cNvSpPr txBox="1"/>
          <p:nvPr/>
        </p:nvSpPr>
        <p:spPr>
          <a:xfrm>
            <a:off x="886968" y="2002536"/>
            <a:ext cx="29352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AUP</a:t>
            </a:r>
            <a:endParaRPr lang="en-US" sz="1100" dirty="0"/>
          </a:p>
        </p:txBody>
      </p:sp>
      <p:sp>
        <p:nvSpPr>
          <p:cNvPr id="9" name="Text 6"/>
          <p:cNvSpPr txBox="1"/>
          <p:nvPr/>
        </p:nvSpPr>
        <p:spPr>
          <a:xfrm>
            <a:off x="886968" y="2377440"/>
            <a:ext cx="293522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authorized use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prohibited acts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monitoring</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consequences</a:t>
            </a:r>
            <a:endParaRPr lang="en-US" sz="1300" dirty="0"/>
          </a:p>
        </p:txBody>
      </p:sp>
      <p:sp>
        <p:nvSpPr>
          <p:cNvPr id="10" name="Shape 7"/>
          <p:cNvSpPr/>
          <p:nvPr/>
        </p:nvSpPr>
        <p:spPr>
          <a:xfrm>
            <a:off x="4526280" y="1965960"/>
            <a:ext cx="3154680" cy="2331720"/>
          </a:xfrm>
          <a:prstGeom prst="roundRect">
            <a:avLst/>
          </a:prstGeom>
          <a:solidFill>
            <a:srgbClr val="FFFFFF"/>
          </a:solidFill>
          <a:ln w="12700">
            <a:solidFill>
              <a:srgbClr val="CBD5E1"/>
            </a:solidFill>
            <a:prstDash val="solid"/>
          </a:ln>
        </p:spPr>
      </p:sp>
      <p:sp>
        <p:nvSpPr>
          <p:cNvPr id="11" name="Shape 8"/>
          <p:cNvSpPr/>
          <p:nvPr/>
        </p:nvSpPr>
        <p:spPr>
          <a:xfrm>
            <a:off x="4526280" y="1965960"/>
            <a:ext cx="3154680" cy="292608"/>
          </a:xfrm>
          <a:prstGeom prst="roundRect">
            <a:avLst/>
          </a:prstGeom>
          <a:solidFill>
            <a:srgbClr val="4F81BD"/>
          </a:solidFill>
          <a:ln w="12700">
            <a:solidFill>
              <a:srgbClr val="4F81BD"/>
            </a:solidFill>
            <a:prstDash val="solid"/>
          </a:ln>
        </p:spPr>
      </p:sp>
      <p:sp>
        <p:nvSpPr>
          <p:cNvPr id="12" name="Text 9"/>
          <p:cNvSpPr txBox="1"/>
          <p:nvPr/>
        </p:nvSpPr>
        <p:spPr>
          <a:xfrm>
            <a:off x="4636008" y="2002536"/>
            <a:ext cx="29352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AUTH POLICY</a:t>
            </a:r>
            <a:endParaRPr lang="en-US" sz="1100" dirty="0"/>
          </a:p>
        </p:txBody>
      </p:sp>
      <p:sp>
        <p:nvSpPr>
          <p:cNvPr id="13" name="Text 10"/>
          <p:cNvSpPr txBox="1"/>
          <p:nvPr/>
        </p:nvSpPr>
        <p:spPr>
          <a:xfrm>
            <a:off x="4636008" y="2377440"/>
            <a:ext cx="293522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account types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MFA</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service accounts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privileged controls</a:t>
            </a:r>
            <a:endParaRPr lang="en-US" sz="1300" dirty="0"/>
          </a:p>
        </p:txBody>
      </p:sp>
      <p:sp>
        <p:nvSpPr>
          <p:cNvPr id="14" name="Shape 11"/>
          <p:cNvSpPr/>
          <p:nvPr/>
        </p:nvSpPr>
        <p:spPr>
          <a:xfrm>
            <a:off x="8275320" y="1965960"/>
            <a:ext cx="3154680" cy="2331720"/>
          </a:xfrm>
          <a:prstGeom prst="roundRect">
            <a:avLst/>
          </a:prstGeom>
          <a:solidFill>
            <a:srgbClr val="FFFFFF"/>
          </a:solidFill>
          <a:ln w="12700">
            <a:solidFill>
              <a:srgbClr val="CBD5E1"/>
            </a:solidFill>
            <a:prstDash val="solid"/>
          </a:ln>
        </p:spPr>
      </p:sp>
      <p:sp>
        <p:nvSpPr>
          <p:cNvPr id="15" name="Shape 12"/>
          <p:cNvSpPr/>
          <p:nvPr/>
        </p:nvSpPr>
        <p:spPr>
          <a:xfrm>
            <a:off x="8275320" y="1965960"/>
            <a:ext cx="3154680" cy="292608"/>
          </a:xfrm>
          <a:prstGeom prst="roundRect">
            <a:avLst/>
          </a:prstGeom>
          <a:solidFill>
            <a:srgbClr val="8064A2"/>
          </a:solidFill>
          <a:ln w="12700">
            <a:solidFill>
              <a:srgbClr val="8064A2"/>
            </a:solidFill>
            <a:prstDash val="solid"/>
          </a:ln>
        </p:spPr>
      </p:sp>
      <p:sp>
        <p:nvSpPr>
          <p:cNvPr id="16" name="Text 13"/>
          <p:cNvSpPr txBox="1"/>
          <p:nvPr/>
        </p:nvSpPr>
        <p:spPr>
          <a:xfrm>
            <a:off x="8385048" y="2002536"/>
            <a:ext cx="293522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17" name="Text 14"/>
          <p:cNvSpPr txBox="1"/>
          <p:nvPr/>
        </p:nvSpPr>
        <p:spPr>
          <a:xfrm>
            <a:off x="8385048" y="2377440"/>
            <a:ext cx="2935224" cy="18288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access reviews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exception records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training</a:t>
            </a:r>
            <a:endParaRPr lang="en-US" sz="1300" dirty="0"/>
          </a:p>
        </p:txBody>
      </p:sp>
      <p:sp>
        <p:nvSpPr>
          <p:cNvPr id="18" name="Shape 15"/>
          <p:cNvSpPr/>
          <p:nvPr/>
        </p:nvSpPr>
        <p:spPr>
          <a:xfrm>
            <a:off x="1005840" y="4709160"/>
            <a:ext cx="10149840" cy="658368"/>
          </a:xfrm>
          <a:prstGeom prst="roundRect">
            <a:avLst/>
          </a:prstGeom>
          <a:solidFill>
            <a:srgbClr val="FFFFFF"/>
          </a:solidFill>
          <a:ln w="12700">
            <a:solidFill>
              <a:srgbClr val="F79646"/>
            </a:solidFill>
            <a:prstDash val="solid"/>
          </a:ln>
        </p:spPr>
      </p:sp>
      <p:sp>
        <p:nvSpPr>
          <p:cNvPr id="19" name="Shape 16"/>
          <p:cNvSpPr/>
          <p:nvPr/>
        </p:nvSpPr>
        <p:spPr>
          <a:xfrm>
            <a:off x="1005840" y="4709160"/>
            <a:ext cx="100584" cy="658368"/>
          </a:xfrm>
          <a:prstGeom prst="rect">
            <a:avLst/>
          </a:prstGeom>
          <a:solidFill>
            <a:srgbClr val="F79646"/>
          </a:solidFill>
          <a:ln w="12700">
            <a:solidFill>
              <a:srgbClr val="F79646"/>
            </a:solidFill>
            <a:prstDash val="solid"/>
          </a:ln>
        </p:spPr>
      </p:sp>
      <p:sp>
        <p:nvSpPr>
          <p:cNvPr id="20" name="Text 17"/>
          <p:cNvSpPr txBox="1"/>
          <p:nvPr/>
        </p:nvSpPr>
        <p:spPr>
          <a:xfrm>
            <a:off x="1243584" y="4818888"/>
            <a:ext cx="980236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Discussion</a:t>
            </a:r>
            <a:endParaRPr lang="en-US" sz="1400" dirty="0"/>
          </a:p>
        </p:txBody>
      </p:sp>
      <p:sp>
        <p:nvSpPr>
          <p:cNvPr id="21" name="Text 18"/>
          <p:cNvSpPr txBox="1"/>
          <p:nvPr/>
        </p:nvSpPr>
        <p:spPr>
          <a:xfrm>
            <a:off x="1243584" y="5120640"/>
            <a:ext cx="9802368" cy="155448"/>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Which policy sentence would you want to read before granting an administrator account?</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REMOTE ACCESS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Remote access policy connects device, network, and identity</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VPN alone is not a policy. Define the whole path.</a:t>
            </a:r>
            <a:endParaRPr lang="en-US" sz="1250" dirty="0"/>
          </a:p>
        </p:txBody>
      </p:sp>
      <p:sp>
        <p:nvSpPr>
          <p:cNvPr id="6" name="Shape 3"/>
          <p:cNvSpPr/>
          <p:nvPr/>
        </p:nvSpPr>
        <p:spPr>
          <a:xfrm>
            <a:off x="594360" y="2011680"/>
            <a:ext cx="2057400" cy="1874520"/>
          </a:xfrm>
          <a:prstGeom prst="roundRect">
            <a:avLst/>
          </a:prstGeom>
          <a:solidFill>
            <a:srgbClr val="FFFFFF"/>
          </a:solidFill>
          <a:ln w="12700">
            <a:solidFill>
              <a:srgbClr val="CBD5E1"/>
            </a:solidFill>
            <a:prstDash val="solid"/>
          </a:ln>
        </p:spPr>
      </p:sp>
      <p:sp>
        <p:nvSpPr>
          <p:cNvPr id="7" name="Shape 4"/>
          <p:cNvSpPr/>
          <p:nvPr/>
        </p:nvSpPr>
        <p:spPr>
          <a:xfrm>
            <a:off x="594360" y="2011680"/>
            <a:ext cx="2057400" cy="292608"/>
          </a:xfrm>
          <a:prstGeom prst="roundRect">
            <a:avLst/>
          </a:prstGeom>
          <a:solidFill>
            <a:srgbClr val="4BACC6"/>
          </a:solidFill>
          <a:ln w="12700">
            <a:solidFill>
              <a:srgbClr val="4BACC6"/>
            </a:solidFill>
            <a:prstDash val="solid"/>
          </a:ln>
        </p:spPr>
      </p:sp>
      <p:sp>
        <p:nvSpPr>
          <p:cNvPr id="8" name="Text 5"/>
          <p:cNvSpPr txBox="1"/>
          <p:nvPr/>
        </p:nvSpPr>
        <p:spPr>
          <a:xfrm>
            <a:off x="704088"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Device</a:t>
            </a:r>
            <a:endParaRPr lang="en-US" sz="1100" dirty="0"/>
          </a:p>
        </p:txBody>
      </p:sp>
      <p:sp>
        <p:nvSpPr>
          <p:cNvPr id="9" name="Text 6"/>
          <p:cNvSpPr txBox="1"/>
          <p:nvPr/>
        </p:nvSpPr>
        <p:spPr>
          <a:xfrm>
            <a:off x="704088"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managed or approved</a:t>
            </a:r>
            <a:endParaRPr lang="en-US" sz="1300" dirty="0"/>
          </a:p>
        </p:txBody>
      </p:sp>
      <p:sp>
        <p:nvSpPr>
          <p:cNvPr id="10" name="Shape 7"/>
          <p:cNvSpPr/>
          <p:nvPr/>
        </p:nvSpPr>
        <p:spPr>
          <a:xfrm>
            <a:off x="2770632" y="2944368"/>
            <a:ext cx="91440" cy="0"/>
          </a:xfrm>
          <a:prstGeom prst="line">
            <a:avLst/>
          </a:prstGeom>
          <a:noFill/>
          <a:ln w="25400">
            <a:solidFill>
              <a:srgbClr val="94A3B8"/>
            </a:solidFill>
            <a:prstDash val="solid"/>
            <a:headEnd type="none"/>
            <a:tailEnd type="triangle"/>
          </a:ln>
        </p:spPr>
      </p:sp>
      <p:sp>
        <p:nvSpPr>
          <p:cNvPr id="11" name="Shape 8"/>
          <p:cNvSpPr/>
          <p:nvPr/>
        </p:nvSpPr>
        <p:spPr>
          <a:xfrm>
            <a:off x="2898648" y="2011680"/>
            <a:ext cx="2057400" cy="1874520"/>
          </a:xfrm>
          <a:prstGeom prst="roundRect">
            <a:avLst/>
          </a:prstGeom>
          <a:solidFill>
            <a:srgbClr val="FFFFFF"/>
          </a:solidFill>
          <a:ln w="12700">
            <a:solidFill>
              <a:srgbClr val="CBD5E1"/>
            </a:solidFill>
            <a:prstDash val="solid"/>
          </a:ln>
        </p:spPr>
      </p:sp>
      <p:sp>
        <p:nvSpPr>
          <p:cNvPr id="12" name="Shape 9"/>
          <p:cNvSpPr/>
          <p:nvPr/>
        </p:nvSpPr>
        <p:spPr>
          <a:xfrm>
            <a:off x="2898648" y="2011680"/>
            <a:ext cx="2057400" cy="292608"/>
          </a:xfrm>
          <a:prstGeom prst="roundRect">
            <a:avLst/>
          </a:prstGeom>
          <a:solidFill>
            <a:srgbClr val="4F81BD"/>
          </a:solidFill>
          <a:ln w="12700">
            <a:solidFill>
              <a:srgbClr val="4F81BD"/>
            </a:solidFill>
            <a:prstDash val="solid"/>
          </a:ln>
        </p:spPr>
      </p:sp>
      <p:sp>
        <p:nvSpPr>
          <p:cNvPr id="13" name="Text 10"/>
          <p:cNvSpPr txBox="1"/>
          <p:nvPr/>
        </p:nvSpPr>
        <p:spPr>
          <a:xfrm>
            <a:off x="3008376"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Path</a:t>
            </a:r>
            <a:endParaRPr lang="en-US" sz="1100" dirty="0"/>
          </a:p>
        </p:txBody>
      </p:sp>
      <p:sp>
        <p:nvSpPr>
          <p:cNvPr id="14" name="Text 11"/>
          <p:cNvSpPr txBox="1"/>
          <p:nvPr/>
        </p:nvSpPr>
        <p:spPr>
          <a:xfrm>
            <a:off x="3008376"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VPN or bastion</a:t>
            </a:r>
            <a:endParaRPr lang="en-US" sz="1300" dirty="0"/>
          </a:p>
        </p:txBody>
      </p:sp>
      <p:sp>
        <p:nvSpPr>
          <p:cNvPr id="15" name="Shape 12"/>
          <p:cNvSpPr/>
          <p:nvPr/>
        </p:nvSpPr>
        <p:spPr>
          <a:xfrm>
            <a:off x="5074920" y="2944368"/>
            <a:ext cx="91440" cy="0"/>
          </a:xfrm>
          <a:prstGeom prst="line">
            <a:avLst/>
          </a:prstGeom>
          <a:noFill/>
          <a:ln w="25400">
            <a:solidFill>
              <a:srgbClr val="94A3B8"/>
            </a:solidFill>
            <a:prstDash val="solid"/>
            <a:headEnd type="none"/>
            <a:tailEnd type="triangle"/>
          </a:ln>
        </p:spPr>
      </p:sp>
      <p:sp>
        <p:nvSpPr>
          <p:cNvPr id="16" name="Shape 13"/>
          <p:cNvSpPr/>
          <p:nvPr/>
        </p:nvSpPr>
        <p:spPr>
          <a:xfrm>
            <a:off x="5202936" y="2011680"/>
            <a:ext cx="2057400" cy="1874520"/>
          </a:xfrm>
          <a:prstGeom prst="roundRect">
            <a:avLst/>
          </a:prstGeom>
          <a:solidFill>
            <a:srgbClr val="FFFFFF"/>
          </a:solidFill>
          <a:ln w="12700">
            <a:solidFill>
              <a:srgbClr val="CBD5E1"/>
            </a:solidFill>
            <a:prstDash val="solid"/>
          </a:ln>
        </p:spPr>
      </p:sp>
      <p:sp>
        <p:nvSpPr>
          <p:cNvPr id="17" name="Shape 14"/>
          <p:cNvSpPr/>
          <p:nvPr/>
        </p:nvSpPr>
        <p:spPr>
          <a:xfrm>
            <a:off x="5202936" y="2011680"/>
            <a:ext cx="2057400" cy="292608"/>
          </a:xfrm>
          <a:prstGeom prst="roundRect">
            <a:avLst/>
          </a:prstGeom>
          <a:solidFill>
            <a:srgbClr val="F79646"/>
          </a:solidFill>
          <a:ln w="12700">
            <a:solidFill>
              <a:srgbClr val="F79646"/>
            </a:solidFill>
            <a:prstDash val="solid"/>
          </a:ln>
        </p:spPr>
      </p:sp>
      <p:sp>
        <p:nvSpPr>
          <p:cNvPr id="18" name="Text 15"/>
          <p:cNvSpPr txBox="1"/>
          <p:nvPr/>
        </p:nvSpPr>
        <p:spPr>
          <a:xfrm>
            <a:off x="5312664"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19" name="Text 16"/>
          <p:cNvSpPr txBox="1"/>
          <p:nvPr/>
        </p:nvSpPr>
        <p:spPr>
          <a:xfrm>
            <a:off x="5312664"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certificate plus MFA</a:t>
            </a:r>
            <a:endParaRPr lang="en-US" sz="1300" dirty="0"/>
          </a:p>
        </p:txBody>
      </p:sp>
      <p:sp>
        <p:nvSpPr>
          <p:cNvPr id="20" name="Shape 17"/>
          <p:cNvSpPr/>
          <p:nvPr/>
        </p:nvSpPr>
        <p:spPr>
          <a:xfrm>
            <a:off x="7379208" y="2944368"/>
            <a:ext cx="91440" cy="0"/>
          </a:xfrm>
          <a:prstGeom prst="line">
            <a:avLst/>
          </a:prstGeom>
          <a:noFill/>
          <a:ln w="25400">
            <a:solidFill>
              <a:srgbClr val="94A3B8"/>
            </a:solidFill>
            <a:prstDash val="solid"/>
            <a:headEnd type="none"/>
            <a:tailEnd type="triangle"/>
          </a:ln>
        </p:spPr>
      </p:sp>
      <p:sp>
        <p:nvSpPr>
          <p:cNvPr id="21" name="Shape 18"/>
          <p:cNvSpPr/>
          <p:nvPr/>
        </p:nvSpPr>
        <p:spPr>
          <a:xfrm>
            <a:off x="7507224" y="2011680"/>
            <a:ext cx="2057400" cy="1874520"/>
          </a:xfrm>
          <a:prstGeom prst="roundRect">
            <a:avLst/>
          </a:prstGeom>
          <a:solidFill>
            <a:srgbClr val="FFFFFF"/>
          </a:solidFill>
          <a:ln w="12700">
            <a:solidFill>
              <a:srgbClr val="CBD5E1"/>
            </a:solidFill>
            <a:prstDash val="solid"/>
          </a:ln>
        </p:spPr>
      </p:sp>
      <p:sp>
        <p:nvSpPr>
          <p:cNvPr id="22" name="Shape 19"/>
          <p:cNvSpPr/>
          <p:nvPr/>
        </p:nvSpPr>
        <p:spPr>
          <a:xfrm>
            <a:off x="7507224" y="2011680"/>
            <a:ext cx="2057400" cy="292608"/>
          </a:xfrm>
          <a:prstGeom prst="roundRect">
            <a:avLst/>
          </a:prstGeom>
          <a:solidFill>
            <a:srgbClr val="8064A2"/>
          </a:solidFill>
          <a:ln w="12700">
            <a:solidFill>
              <a:srgbClr val="8064A2"/>
            </a:solidFill>
            <a:prstDash val="solid"/>
          </a:ln>
        </p:spPr>
      </p:sp>
      <p:sp>
        <p:nvSpPr>
          <p:cNvPr id="23" name="Text 20"/>
          <p:cNvSpPr txBox="1"/>
          <p:nvPr/>
        </p:nvSpPr>
        <p:spPr>
          <a:xfrm>
            <a:off x="7616952"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Resource</a:t>
            </a:r>
            <a:endParaRPr lang="en-US" sz="1100" dirty="0"/>
          </a:p>
        </p:txBody>
      </p:sp>
      <p:sp>
        <p:nvSpPr>
          <p:cNvPr id="24" name="Text 21"/>
          <p:cNvSpPr txBox="1"/>
          <p:nvPr/>
        </p:nvSpPr>
        <p:spPr>
          <a:xfrm>
            <a:off x="7616952"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scoped access</a:t>
            </a:r>
            <a:endParaRPr lang="en-US" sz="1300" dirty="0"/>
          </a:p>
        </p:txBody>
      </p:sp>
      <p:sp>
        <p:nvSpPr>
          <p:cNvPr id="25" name="Shape 22"/>
          <p:cNvSpPr/>
          <p:nvPr/>
        </p:nvSpPr>
        <p:spPr>
          <a:xfrm>
            <a:off x="9683496" y="2944368"/>
            <a:ext cx="91440" cy="0"/>
          </a:xfrm>
          <a:prstGeom prst="line">
            <a:avLst/>
          </a:prstGeom>
          <a:noFill/>
          <a:ln w="25400">
            <a:solidFill>
              <a:srgbClr val="94A3B8"/>
            </a:solidFill>
            <a:prstDash val="solid"/>
            <a:headEnd type="none"/>
            <a:tailEnd type="triangle"/>
          </a:ln>
        </p:spPr>
      </p:sp>
      <p:sp>
        <p:nvSpPr>
          <p:cNvPr id="26" name="Shape 23"/>
          <p:cNvSpPr/>
          <p:nvPr/>
        </p:nvSpPr>
        <p:spPr>
          <a:xfrm>
            <a:off x="9811512" y="2011680"/>
            <a:ext cx="2057400" cy="1874520"/>
          </a:xfrm>
          <a:prstGeom prst="roundRect">
            <a:avLst/>
          </a:prstGeom>
          <a:solidFill>
            <a:srgbClr val="FFFFFF"/>
          </a:solidFill>
          <a:ln w="12700">
            <a:solidFill>
              <a:srgbClr val="CBD5E1"/>
            </a:solidFill>
            <a:prstDash val="solid"/>
          </a:ln>
        </p:spPr>
      </p:sp>
      <p:sp>
        <p:nvSpPr>
          <p:cNvPr id="27" name="Shape 24"/>
          <p:cNvSpPr/>
          <p:nvPr/>
        </p:nvSpPr>
        <p:spPr>
          <a:xfrm>
            <a:off x="9811512" y="2011680"/>
            <a:ext cx="2057400" cy="292608"/>
          </a:xfrm>
          <a:prstGeom prst="roundRect">
            <a:avLst/>
          </a:prstGeom>
          <a:solidFill>
            <a:srgbClr val="70AD47"/>
          </a:solidFill>
          <a:ln w="12700">
            <a:solidFill>
              <a:srgbClr val="70AD47"/>
            </a:solidFill>
            <a:prstDash val="solid"/>
          </a:ln>
        </p:spPr>
      </p:sp>
      <p:sp>
        <p:nvSpPr>
          <p:cNvPr id="28" name="Text 25"/>
          <p:cNvSpPr txBox="1"/>
          <p:nvPr/>
        </p:nvSpPr>
        <p:spPr>
          <a:xfrm>
            <a:off x="9921240" y="2048256"/>
            <a:ext cx="18379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29" name="Text 26"/>
          <p:cNvSpPr txBox="1"/>
          <p:nvPr/>
        </p:nvSpPr>
        <p:spPr>
          <a:xfrm>
            <a:off x="9921240" y="2423160"/>
            <a:ext cx="1837944" cy="137160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logs and review</a:t>
            </a:r>
            <a:endParaRPr lang="en-US" sz="1300" dirty="0"/>
          </a:p>
        </p:txBody>
      </p:sp>
      <p:sp>
        <p:nvSpPr>
          <p:cNvPr id="30" name="Shape 27"/>
          <p:cNvSpPr/>
          <p:nvPr/>
        </p:nvSpPr>
        <p:spPr>
          <a:xfrm>
            <a:off x="914400" y="4572000"/>
            <a:ext cx="10195560" cy="731520"/>
          </a:xfrm>
          <a:prstGeom prst="roundRect">
            <a:avLst/>
          </a:prstGeom>
          <a:solidFill>
            <a:srgbClr val="FFFFFF"/>
          </a:solidFill>
          <a:ln w="12700">
            <a:solidFill>
              <a:srgbClr val="C0504D"/>
            </a:solidFill>
            <a:prstDash val="solid"/>
          </a:ln>
        </p:spPr>
      </p:sp>
      <p:sp>
        <p:nvSpPr>
          <p:cNvPr id="31" name="Shape 28"/>
          <p:cNvSpPr/>
          <p:nvPr/>
        </p:nvSpPr>
        <p:spPr>
          <a:xfrm>
            <a:off x="914400" y="4572000"/>
            <a:ext cx="100584" cy="731520"/>
          </a:xfrm>
          <a:prstGeom prst="rect">
            <a:avLst/>
          </a:prstGeom>
          <a:solidFill>
            <a:srgbClr val="C0504D"/>
          </a:solidFill>
          <a:ln w="12700">
            <a:solidFill>
              <a:srgbClr val="C0504D"/>
            </a:solidFill>
            <a:prstDash val="solid"/>
          </a:ln>
        </p:spPr>
      </p:sp>
      <p:sp>
        <p:nvSpPr>
          <p:cNvPr id="32" name="Text 29"/>
          <p:cNvSpPr txBox="1"/>
          <p:nvPr/>
        </p:nvSpPr>
        <p:spPr>
          <a:xfrm>
            <a:off x="1152144" y="4681728"/>
            <a:ext cx="9848088" cy="237744"/>
          </a:xfrm>
          <a:prstGeom prst="rect">
            <a:avLst/>
          </a:prstGeom>
          <a:noFill/>
          <a:ln/>
        </p:spPr>
        <p:txBody>
          <a:bodyPr wrap="square" lIns="508" tIns="508" rIns="508" bIns="508" rtlCol="0" anchor="ctr">
            <a:normAutofit/>
          </a:bodyPr>
          <a:lstStyle/>
          <a:p>
            <a:pPr algn="l" indent="0" marL="0">
              <a:buNone/>
            </a:pPr>
            <a:r>
              <a:rPr lang="en-US" sz="1400" b="1" dirty="0">
                <a:solidFill>
                  <a:srgbClr val="C0504D"/>
                </a:solidFill>
                <a:latin typeface="Calibri" pitchFamily="34" charset="0"/>
                <a:ea typeface="Calibri" pitchFamily="34" charset="-122"/>
                <a:cs typeface="Calibri" pitchFamily="34" charset="-120"/>
              </a:rPr>
              <a:t>BYOD question</a:t>
            </a:r>
            <a:endParaRPr lang="en-US" sz="1400" dirty="0"/>
          </a:p>
        </p:txBody>
      </p:sp>
      <p:sp>
        <p:nvSpPr>
          <p:cNvPr id="33" name="Text 30"/>
          <p:cNvSpPr txBox="1"/>
          <p:nvPr/>
        </p:nvSpPr>
        <p:spPr>
          <a:xfrm>
            <a:off x="1152144" y="4983480"/>
            <a:ext cx="9848088" cy="22860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If you cannot measure device posture, how will you limit the resource and session risk?</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DATA</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Data classification makes policy decisions concrete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The handling rule should follow the sensitivity of the data.</a:t>
            </a:r>
            <a:endParaRPr lang="en-US" sz="1250" dirty="0"/>
          </a:p>
        </p:txBody>
      </p:sp>
      <p:sp>
        <p:nvSpPr>
          <p:cNvPr id="6" name="Shape 3"/>
          <p:cNvSpPr/>
          <p:nvPr/>
        </p:nvSpPr>
        <p:spPr>
          <a:xfrm>
            <a:off x="640080" y="1920240"/>
            <a:ext cx="2423160" cy="2468880"/>
          </a:xfrm>
          <a:prstGeom prst="roundRect">
            <a:avLst/>
          </a:prstGeom>
          <a:solidFill>
            <a:srgbClr val="FFFFFF"/>
          </a:solidFill>
          <a:ln w="12700">
            <a:solidFill>
              <a:srgbClr val="70AD47"/>
            </a:solidFill>
            <a:prstDash val="solid"/>
          </a:ln>
        </p:spPr>
      </p:sp>
      <p:sp>
        <p:nvSpPr>
          <p:cNvPr id="7" name="Shape 4"/>
          <p:cNvSpPr/>
          <p:nvPr/>
        </p:nvSpPr>
        <p:spPr>
          <a:xfrm>
            <a:off x="640080" y="1920240"/>
            <a:ext cx="2423160" cy="411480"/>
          </a:xfrm>
          <a:prstGeom prst="roundRect">
            <a:avLst/>
          </a:prstGeom>
          <a:solidFill>
            <a:srgbClr val="70AD47"/>
          </a:solidFill>
          <a:ln w="12700">
            <a:solidFill>
              <a:srgbClr val="70AD47"/>
            </a:solidFill>
            <a:prstDash val="solid"/>
          </a:ln>
        </p:spPr>
      </p:sp>
      <p:sp>
        <p:nvSpPr>
          <p:cNvPr id="8" name="Text 5"/>
          <p:cNvSpPr txBox="1"/>
          <p:nvPr/>
        </p:nvSpPr>
        <p:spPr>
          <a:xfrm>
            <a:off x="777240" y="202996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Public</a:t>
            </a:r>
            <a:endParaRPr lang="en-US" sz="1700" dirty="0"/>
          </a:p>
        </p:txBody>
      </p:sp>
      <p:sp>
        <p:nvSpPr>
          <p:cNvPr id="9" name="Text 6"/>
          <p:cNvSpPr txBox="1"/>
          <p:nvPr/>
        </p:nvSpPr>
        <p:spPr>
          <a:xfrm>
            <a:off x="822960" y="2743200"/>
            <a:ext cx="2057400" cy="566928"/>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safe to disclose</a:t>
            </a:r>
            <a:endParaRPr lang="en-US" sz="1500" dirty="0"/>
          </a:p>
        </p:txBody>
      </p:sp>
      <p:sp>
        <p:nvSpPr>
          <p:cNvPr id="10" name="Shape 7"/>
          <p:cNvSpPr/>
          <p:nvPr/>
        </p:nvSpPr>
        <p:spPr>
          <a:xfrm>
            <a:off x="3474720" y="1920240"/>
            <a:ext cx="2423160" cy="2468880"/>
          </a:xfrm>
          <a:prstGeom prst="roundRect">
            <a:avLst/>
          </a:prstGeom>
          <a:solidFill>
            <a:srgbClr val="FFFFFF"/>
          </a:solidFill>
          <a:ln w="12700">
            <a:solidFill>
              <a:srgbClr val="4F81BD"/>
            </a:solidFill>
            <a:prstDash val="solid"/>
          </a:ln>
        </p:spPr>
      </p:sp>
      <p:sp>
        <p:nvSpPr>
          <p:cNvPr id="11" name="Shape 8"/>
          <p:cNvSpPr/>
          <p:nvPr/>
        </p:nvSpPr>
        <p:spPr>
          <a:xfrm>
            <a:off x="3474720" y="1920240"/>
            <a:ext cx="2423160" cy="411480"/>
          </a:xfrm>
          <a:prstGeom prst="roundRect">
            <a:avLst/>
          </a:prstGeom>
          <a:solidFill>
            <a:srgbClr val="4F81BD"/>
          </a:solidFill>
          <a:ln w="12700">
            <a:solidFill>
              <a:srgbClr val="4F81BD"/>
            </a:solidFill>
            <a:prstDash val="solid"/>
          </a:ln>
        </p:spPr>
      </p:sp>
      <p:sp>
        <p:nvSpPr>
          <p:cNvPr id="12" name="Text 9"/>
          <p:cNvSpPr txBox="1"/>
          <p:nvPr/>
        </p:nvSpPr>
        <p:spPr>
          <a:xfrm>
            <a:off x="3611880" y="202996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Internal</a:t>
            </a:r>
            <a:endParaRPr lang="en-US" sz="1700" dirty="0"/>
          </a:p>
        </p:txBody>
      </p:sp>
      <p:sp>
        <p:nvSpPr>
          <p:cNvPr id="13" name="Text 10"/>
          <p:cNvSpPr txBox="1"/>
          <p:nvPr/>
        </p:nvSpPr>
        <p:spPr>
          <a:xfrm>
            <a:off x="3657600" y="2743200"/>
            <a:ext cx="2057400" cy="566928"/>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workforce use</a:t>
            </a:r>
            <a:endParaRPr lang="en-US" sz="1500" dirty="0"/>
          </a:p>
        </p:txBody>
      </p:sp>
      <p:sp>
        <p:nvSpPr>
          <p:cNvPr id="14" name="Shape 11"/>
          <p:cNvSpPr/>
          <p:nvPr/>
        </p:nvSpPr>
        <p:spPr>
          <a:xfrm>
            <a:off x="6309360" y="1920240"/>
            <a:ext cx="2423160" cy="2468880"/>
          </a:xfrm>
          <a:prstGeom prst="roundRect">
            <a:avLst/>
          </a:prstGeom>
          <a:solidFill>
            <a:srgbClr val="FFFFFF"/>
          </a:solidFill>
          <a:ln w="12700">
            <a:solidFill>
              <a:srgbClr val="F79646"/>
            </a:solidFill>
            <a:prstDash val="solid"/>
          </a:ln>
        </p:spPr>
      </p:sp>
      <p:sp>
        <p:nvSpPr>
          <p:cNvPr id="15" name="Shape 12"/>
          <p:cNvSpPr/>
          <p:nvPr/>
        </p:nvSpPr>
        <p:spPr>
          <a:xfrm>
            <a:off x="6309360" y="1920240"/>
            <a:ext cx="2423160" cy="411480"/>
          </a:xfrm>
          <a:prstGeom prst="roundRect">
            <a:avLst/>
          </a:prstGeom>
          <a:solidFill>
            <a:srgbClr val="F79646"/>
          </a:solidFill>
          <a:ln w="12700">
            <a:solidFill>
              <a:srgbClr val="F79646"/>
            </a:solidFill>
            <a:prstDash val="solid"/>
          </a:ln>
        </p:spPr>
      </p:sp>
      <p:sp>
        <p:nvSpPr>
          <p:cNvPr id="16" name="Text 13"/>
          <p:cNvSpPr txBox="1"/>
          <p:nvPr/>
        </p:nvSpPr>
        <p:spPr>
          <a:xfrm>
            <a:off x="6446520" y="202996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Confidential</a:t>
            </a:r>
            <a:endParaRPr lang="en-US" sz="1700" dirty="0"/>
          </a:p>
        </p:txBody>
      </p:sp>
      <p:sp>
        <p:nvSpPr>
          <p:cNvPr id="17" name="Text 14"/>
          <p:cNvSpPr txBox="1"/>
          <p:nvPr/>
        </p:nvSpPr>
        <p:spPr>
          <a:xfrm>
            <a:off x="6492240" y="2743200"/>
            <a:ext cx="2057400" cy="566928"/>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business or personal risk</a:t>
            </a:r>
            <a:endParaRPr lang="en-US" sz="1500" dirty="0"/>
          </a:p>
        </p:txBody>
      </p:sp>
      <p:sp>
        <p:nvSpPr>
          <p:cNvPr id="18" name="Shape 15"/>
          <p:cNvSpPr/>
          <p:nvPr/>
        </p:nvSpPr>
        <p:spPr>
          <a:xfrm>
            <a:off x="9144000" y="1920240"/>
            <a:ext cx="2423160" cy="2468880"/>
          </a:xfrm>
          <a:prstGeom prst="roundRect">
            <a:avLst/>
          </a:prstGeom>
          <a:solidFill>
            <a:srgbClr val="FFFFFF"/>
          </a:solidFill>
          <a:ln w="12700">
            <a:solidFill>
              <a:srgbClr val="C0504D"/>
            </a:solidFill>
            <a:prstDash val="solid"/>
          </a:ln>
        </p:spPr>
      </p:sp>
      <p:sp>
        <p:nvSpPr>
          <p:cNvPr id="19" name="Shape 16"/>
          <p:cNvSpPr/>
          <p:nvPr/>
        </p:nvSpPr>
        <p:spPr>
          <a:xfrm>
            <a:off x="9144000" y="1920240"/>
            <a:ext cx="2423160" cy="411480"/>
          </a:xfrm>
          <a:prstGeom prst="roundRect">
            <a:avLst/>
          </a:prstGeom>
          <a:solidFill>
            <a:srgbClr val="C0504D"/>
          </a:solidFill>
          <a:ln w="12700">
            <a:solidFill>
              <a:srgbClr val="C0504D"/>
            </a:solidFill>
            <a:prstDash val="solid"/>
          </a:ln>
        </p:spPr>
      </p:sp>
      <p:sp>
        <p:nvSpPr>
          <p:cNvPr id="20" name="Text 17"/>
          <p:cNvSpPr txBox="1"/>
          <p:nvPr/>
        </p:nvSpPr>
        <p:spPr>
          <a:xfrm>
            <a:off x="9281160" y="2029968"/>
            <a:ext cx="2148840" cy="182880"/>
          </a:xfrm>
          <a:prstGeom prst="rect">
            <a:avLst/>
          </a:prstGeom>
          <a:noFill/>
          <a:ln/>
        </p:spPr>
        <p:txBody>
          <a:bodyPr wrap="square" lIns="508" tIns="508" rIns="508" bIns="508" rtlCol="0" anchor="ctr">
            <a:normAutofit/>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Restricted</a:t>
            </a:r>
            <a:endParaRPr lang="en-US" sz="1700" dirty="0"/>
          </a:p>
        </p:txBody>
      </p:sp>
      <p:sp>
        <p:nvSpPr>
          <p:cNvPr id="21" name="Text 18"/>
          <p:cNvSpPr txBox="1"/>
          <p:nvPr/>
        </p:nvSpPr>
        <p:spPr>
          <a:xfrm>
            <a:off x="9326880" y="2743200"/>
            <a:ext cx="2057400" cy="566928"/>
          </a:xfrm>
          <a:prstGeom prst="rect">
            <a:avLst/>
          </a:prstGeom>
          <a:noFill/>
          <a:ln/>
        </p:spPr>
        <p:txBody>
          <a:bodyPr wrap="square" lIns="508" tIns="508" rIns="508" bIns="508" rtlCol="0" anchor="ctr">
            <a:normAutofit/>
          </a:bodyPr>
          <a:lstStyle/>
          <a:p>
            <a:pPr algn="ctr" indent="0" marL="0">
              <a:buNone/>
            </a:pPr>
            <a:r>
              <a:rPr lang="en-US" sz="1500" dirty="0">
                <a:solidFill>
                  <a:srgbClr val="203040"/>
                </a:solidFill>
                <a:latin typeface="Calibri" pitchFamily="34" charset="0"/>
                <a:ea typeface="Calibri" pitchFamily="34" charset="-122"/>
                <a:cs typeface="Calibri" pitchFamily="34" charset="-120"/>
              </a:rPr>
              <a:t>high-impact secret or regulated data</a:t>
            </a:r>
            <a:endParaRPr lang="en-US" sz="1500" dirty="0"/>
          </a:p>
        </p:txBody>
      </p:sp>
      <p:sp>
        <p:nvSpPr>
          <p:cNvPr id="22" name="Shape 19"/>
          <p:cNvSpPr/>
          <p:nvPr/>
        </p:nvSpPr>
        <p:spPr>
          <a:xfrm>
            <a:off x="3035808" y="4892040"/>
            <a:ext cx="6126480" cy="274320"/>
          </a:xfrm>
          <a:prstGeom prst="roundRect">
            <a:avLst/>
          </a:prstGeom>
          <a:solidFill>
            <a:srgbClr val="1F497D"/>
          </a:solidFill>
          <a:ln w="12700">
            <a:solidFill>
              <a:srgbClr val="1F497D"/>
            </a:solidFill>
            <a:prstDash val="solid"/>
          </a:ln>
        </p:spPr>
      </p:sp>
      <p:sp>
        <p:nvSpPr>
          <p:cNvPr id="23" name="Text 20"/>
          <p:cNvSpPr txBox="1"/>
          <p:nvPr/>
        </p:nvSpPr>
        <p:spPr>
          <a:xfrm>
            <a:off x="3108960" y="4910328"/>
            <a:ext cx="598017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LABEL · STORE · SHARE · RETAIN · DISPOSE</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COMPLIANCE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Map the control to the obligation, not the acronym</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HIPAA, PCI DSS, and GDPR describe different duties and contexts.</a:t>
            </a:r>
            <a:endParaRPr lang="en-US" sz="1250" dirty="0"/>
          </a:p>
        </p:txBody>
      </p:sp>
      <p:sp>
        <p:nvSpPr>
          <p:cNvPr id="6" name="Shape 3"/>
          <p:cNvSpPr/>
          <p:nvPr/>
        </p:nvSpPr>
        <p:spPr>
          <a:xfrm>
            <a:off x="594360" y="1783080"/>
            <a:ext cx="2057400" cy="603504"/>
          </a:xfrm>
          <a:prstGeom prst="roundRect">
            <a:avLst/>
          </a:prstGeom>
          <a:solidFill>
            <a:srgbClr val="4BACC6"/>
          </a:solidFill>
          <a:ln w="12700">
            <a:solidFill>
              <a:srgbClr val="4BACC6"/>
            </a:solidFill>
            <a:prstDash val="solid"/>
          </a:ln>
        </p:spPr>
      </p:sp>
      <p:sp>
        <p:nvSpPr>
          <p:cNvPr id="7" name="Text 4"/>
          <p:cNvSpPr txBox="1"/>
          <p:nvPr/>
        </p:nvSpPr>
        <p:spPr>
          <a:xfrm>
            <a:off x="713232" y="1965960"/>
            <a:ext cx="18288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Identity and MFA</a:t>
            </a:r>
            <a:endParaRPr lang="en-US" sz="1150" dirty="0"/>
          </a:p>
        </p:txBody>
      </p:sp>
      <p:sp>
        <p:nvSpPr>
          <p:cNvPr id="8" name="Shape 5"/>
          <p:cNvSpPr/>
          <p:nvPr/>
        </p:nvSpPr>
        <p:spPr>
          <a:xfrm>
            <a:off x="2697480" y="1783080"/>
            <a:ext cx="2148840" cy="603504"/>
          </a:xfrm>
          <a:prstGeom prst="roundRect">
            <a:avLst/>
          </a:prstGeom>
          <a:solidFill>
            <a:srgbClr val="FFFFFF"/>
          </a:solidFill>
          <a:ln w="12700">
            <a:solidFill>
              <a:srgbClr val="CBD5E1"/>
            </a:solidFill>
            <a:prstDash val="solid"/>
          </a:ln>
        </p:spPr>
      </p:sp>
      <p:sp>
        <p:nvSpPr>
          <p:cNvPr id="9" name="Text 6"/>
          <p:cNvSpPr txBox="1"/>
          <p:nvPr/>
        </p:nvSpPr>
        <p:spPr>
          <a:xfrm>
            <a:off x="2788920" y="1883664"/>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person or entity authentication</a:t>
            </a:r>
            <a:endParaRPr lang="en-US" sz="1050" dirty="0"/>
          </a:p>
        </p:txBody>
      </p:sp>
      <p:sp>
        <p:nvSpPr>
          <p:cNvPr id="10" name="Shape 7"/>
          <p:cNvSpPr/>
          <p:nvPr/>
        </p:nvSpPr>
        <p:spPr>
          <a:xfrm>
            <a:off x="5120640" y="1783080"/>
            <a:ext cx="2148840" cy="603504"/>
          </a:xfrm>
          <a:prstGeom prst="roundRect">
            <a:avLst/>
          </a:prstGeom>
          <a:solidFill>
            <a:srgbClr val="FFFFFF"/>
          </a:solidFill>
          <a:ln w="12700">
            <a:solidFill>
              <a:srgbClr val="CBD5E1"/>
            </a:solidFill>
            <a:prstDash val="solid"/>
          </a:ln>
        </p:spPr>
      </p:sp>
      <p:sp>
        <p:nvSpPr>
          <p:cNvPr id="11" name="Text 8"/>
          <p:cNvSpPr txBox="1"/>
          <p:nvPr/>
        </p:nvSpPr>
        <p:spPr>
          <a:xfrm>
            <a:off x="5212080" y="1883664"/>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access control and authentication</a:t>
            </a:r>
            <a:endParaRPr lang="en-US" sz="1050" dirty="0"/>
          </a:p>
        </p:txBody>
      </p:sp>
      <p:sp>
        <p:nvSpPr>
          <p:cNvPr id="12" name="Shape 9"/>
          <p:cNvSpPr/>
          <p:nvPr/>
        </p:nvSpPr>
        <p:spPr>
          <a:xfrm>
            <a:off x="7543800" y="1783080"/>
            <a:ext cx="2148840" cy="603504"/>
          </a:xfrm>
          <a:prstGeom prst="roundRect">
            <a:avLst/>
          </a:prstGeom>
          <a:solidFill>
            <a:srgbClr val="FFFFFF"/>
          </a:solidFill>
          <a:ln w="12700">
            <a:solidFill>
              <a:srgbClr val="CBD5E1"/>
            </a:solidFill>
            <a:prstDash val="solid"/>
          </a:ln>
        </p:spPr>
      </p:sp>
      <p:sp>
        <p:nvSpPr>
          <p:cNvPr id="13" name="Text 10"/>
          <p:cNvSpPr txBox="1"/>
          <p:nvPr/>
        </p:nvSpPr>
        <p:spPr>
          <a:xfrm>
            <a:off x="7635240" y="1883664"/>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security of processing</a:t>
            </a:r>
            <a:endParaRPr lang="en-US" sz="1050" dirty="0"/>
          </a:p>
        </p:txBody>
      </p:sp>
      <p:sp>
        <p:nvSpPr>
          <p:cNvPr id="14" name="Shape 11"/>
          <p:cNvSpPr/>
          <p:nvPr/>
        </p:nvSpPr>
        <p:spPr>
          <a:xfrm>
            <a:off x="594360" y="2587752"/>
            <a:ext cx="2057400" cy="603504"/>
          </a:xfrm>
          <a:prstGeom prst="roundRect">
            <a:avLst/>
          </a:prstGeom>
          <a:solidFill>
            <a:srgbClr val="4F81BD"/>
          </a:solidFill>
          <a:ln w="12700">
            <a:solidFill>
              <a:srgbClr val="4F81BD"/>
            </a:solidFill>
            <a:prstDash val="solid"/>
          </a:ln>
        </p:spPr>
      </p:sp>
      <p:sp>
        <p:nvSpPr>
          <p:cNvPr id="15" name="Text 12"/>
          <p:cNvSpPr txBox="1"/>
          <p:nvPr/>
        </p:nvSpPr>
        <p:spPr>
          <a:xfrm>
            <a:off x="713232" y="2770632"/>
            <a:ext cx="18288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Logging</a:t>
            </a:r>
            <a:endParaRPr lang="en-US" sz="1150" dirty="0"/>
          </a:p>
        </p:txBody>
      </p:sp>
      <p:sp>
        <p:nvSpPr>
          <p:cNvPr id="16" name="Shape 13"/>
          <p:cNvSpPr/>
          <p:nvPr/>
        </p:nvSpPr>
        <p:spPr>
          <a:xfrm>
            <a:off x="2697480" y="2587752"/>
            <a:ext cx="2148840" cy="603504"/>
          </a:xfrm>
          <a:prstGeom prst="roundRect">
            <a:avLst/>
          </a:prstGeom>
          <a:solidFill>
            <a:srgbClr val="FFFFFF"/>
          </a:solidFill>
          <a:ln w="12700">
            <a:solidFill>
              <a:srgbClr val="CBD5E1"/>
            </a:solidFill>
            <a:prstDash val="solid"/>
          </a:ln>
        </p:spPr>
      </p:sp>
      <p:sp>
        <p:nvSpPr>
          <p:cNvPr id="17" name="Text 14"/>
          <p:cNvSpPr txBox="1"/>
          <p:nvPr/>
        </p:nvSpPr>
        <p:spPr>
          <a:xfrm>
            <a:off x="2788920" y="2688336"/>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audit controls</a:t>
            </a:r>
            <a:endParaRPr lang="en-US" sz="1050" dirty="0"/>
          </a:p>
        </p:txBody>
      </p:sp>
      <p:sp>
        <p:nvSpPr>
          <p:cNvPr id="18" name="Shape 15"/>
          <p:cNvSpPr/>
          <p:nvPr/>
        </p:nvSpPr>
        <p:spPr>
          <a:xfrm>
            <a:off x="5120640" y="2587752"/>
            <a:ext cx="2148840" cy="603504"/>
          </a:xfrm>
          <a:prstGeom prst="roundRect">
            <a:avLst/>
          </a:prstGeom>
          <a:solidFill>
            <a:srgbClr val="FFFFFF"/>
          </a:solidFill>
          <a:ln w="12700">
            <a:solidFill>
              <a:srgbClr val="CBD5E1"/>
            </a:solidFill>
            <a:prstDash val="solid"/>
          </a:ln>
        </p:spPr>
      </p:sp>
      <p:sp>
        <p:nvSpPr>
          <p:cNvPr id="19" name="Text 16"/>
          <p:cNvSpPr txBox="1"/>
          <p:nvPr/>
        </p:nvSpPr>
        <p:spPr>
          <a:xfrm>
            <a:off x="5212080" y="2688336"/>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logging and monitoring</a:t>
            </a:r>
            <a:endParaRPr lang="en-US" sz="1050" dirty="0"/>
          </a:p>
        </p:txBody>
      </p:sp>
      <p:sp>
        <p:nvSpPr>
          <p:cNvPr id="20" name="Shape 17"/>
          <p:cNvSpPr/>
          <p:nvPr/>
        </p:nvSpPr>
        <p:spPr>
          <a:xfrm>
            <a:off x="7543800" y="2587752"/>
            <a:ext cx="2148840" cy="603504"/>
          </a:xfrm>
          <a:prstGeom prst="roundRect">
            <a:avLst/>
          </a:prstGeom>
          <a:solidFill>
            <a:srgbClr val="FFFFFF"/>
          </a:solidFill>
          <a:ln w="12700">
            <a:solidFill>
              <a:srgbClr val="CBD5E1"/>
            </a:solidFill>
            <a:prstDash val="solid"/>
          </a:ln>
        </p:spPr>
      </p:sp>
      <p:sp>
        <p:nvSpPr>
          <p:cNvPr id="21" name="Text 18"/>
          <p:cNvSpPr txBox="1"/>
          <p:nvPr/>
        </p:nvSpPr>
        <p:spPr>
          <a:xfrm>
            <a:off x="7635240" y="2688336"/>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accountability evidence</a:t>
            </a:r>
            <a:endParaRPr lang="en-US" sz="1050" dirty="0"/>
          </a:p>
        </p:txBody>
      </p:sp>
      <p:sp>
        <p:nvSpPr>
          <p:cNvPr id="22" name="Shape 19"/>
          <p:cNvSpPr/>
          <p:nvPr/>
        </p:nvSpPr>
        <p:spPr>
          <a:xfrm>
            <a:off x="594360" y="3392424"/>
            <a:ext cx="2057400" cy="603504"/>
          </a:xfrm>
          <a:prstGeom prst="roundRect">
            <a:avLst/>
          </a:prstGeom>
          <a:solidFill>
            <a:srgbClr val="F79646"/>
          </a:solidFill>
          <a:ln w="12700">
            <a:solidFill>
              <a:srgbClr val="F79646"/>
            </a:solidFill>
            <a:prstDash val="solid"/>
          </a:ln>
        </p:spPr>
      </p:sp>
      <p:sp>
        <p:nvSpPr>
          <p:cNvPr id="23" name="Text 20"/>
          <p:cNvSpPr txBox="1"/>
          <p:nvPr/>
        </p:nvSpPr>
        <p:spPr>
          <a:xfrm>
            <a:off x="713232" y="3575304"/>
            <a:ext cx="18288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Least privilege</a:t>
            </a:r>
            <a:endParaRPr lang="en-US" sz="1150" dirty="0"/>
          </a:p>
        </p:txBody>
      </p:sp>
      <p:sp>
        <p:nvSpPr>
          <p:cNvPr id="24" name="Shape 21"/>
          <p:cNvSpPr/>
          <p:nvPr/>
        </p:nvSpPr>
        <p:spPr>
          <a:xfrm>
            <a:off x="2697480" y="3392424"/>
            <a:ext cx="2148840" cy="603504"/>
          </a:xfrm>
          <a:prstGeom prst="roundRect">
            <a:avLst/>
          </a:prstGeom>
          <a:solidFill>
            <a:srgbClr val="FFFFFF"/>
          </a:solidFill>
          <a:ln w="12700">
            <a:solidFill>
              <a:srgbClr val="CBD5E1"/>
            </a:solidFill>
            <a:prstDash val="solid"/>
          </a:ln>
        </p:spPr>
      </p:sp>
      <p:sp>
        <p:nvSpPr>
          <p:cNvPr id="25" name="Text 22"/>
          <p:cNvSpPr txBox="1"/>
          <p:nvPr/>
        </p:nvSpPr>
        <p:spPr>
          <a:xfrm>
            <a:off x="2788920" y="3493008"/>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access control</a:t>
            </a:r>
            <a:endParaRPr lang="en-US" sz="1050" dirty="0"/>
          </a:p>
        </p:txBody>
      </p:sp>
      <p:sp>
        <p:nvSpPr>
          <p:cNvPr id="26" name="Shape 23"/>
          <p:cNvSpPr/>
          <p:nvPr/>
        </p:nvSpPr>
        <p:spPr>
          <a:xfrm>
            <a:off x="5120640" y="3392424"/>
            <a:ext cx="2148840" cy="603504"/>
          </a:xfrm>
          <a:prstGeom prst="roundRect">
            <a:avLst/>
          </a:prstGeom>
          <a:solidFill>
            <a:srgbClr val="FFFFFF"/>
          </a:solidFill>
          <a:ln w="12700">
            <a:solidFill>
              <a:srgbClr val="CBD5E1"/>
            </a:solidFill>
            <a:prstDash val="solid"/>
          </a:ln>
        </p:spPr>
      </p:sp>
      <p:sp>
        <p:nvSpPr>
          <p:cNvPr id="27" name="Text 24"/>
          <p:cNvSpPr txBox="1"/>
          <p:nvPr/>
        </p:nvSpPr>
        <p:spPr>
          <a:xfrm>
            <a:off x="5212080" y="3493008"/>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need-to-know access</a:t>
            </a:r>
            <a:endParaRPr lang="en-US" sz="1050" dirty="0"/>
          </a:p>
        </p:txBody>
      </p:sp>
      <p:sp>
        <p:nvSpPr>
          <p:cNvPr id="28" name="Shape 25"/>
          <p:cNvSpPr/>
          <p:nvPr/>
        </p:nvSpPr>
        <p:spPr>
          <a:xfrm>
            <a:off x="7543800" y="3392424"/>
            <a:ext cx="2148840" cy="603504"/>
          </a:xfrm>
          <a:prstGeom prst="roundRect">
            <a:avLst/>
          </a:prstGeom>
          <a:solidFill>
            <a:srgbClr val="FFFFFF"/>
          </a:solidFill>
          <a:ln w="12700">
            <a:solidFill>
              <a:srgbClr val="CBD5E1"/>
            </a:solidFill>
            <a:prstDash val="solid"/>
          </a:ln>
        </p:spPr>
      </p:sp>
      <p:sp>
        <p:nvSpPr>
          <p:cNvPr id="29" name="Text 26"/>
          <p:cNvSpPr txBox="1"/>
          <p:nvPr/>
        </p:nvSpPr>
        <p:spPr>
          <a:xfrm>
            <a:off x="7635240" y="3493008"/>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data minimization</a:t>
            </a:r>
            <a:endParaRPr lang="en-US" sz="1050" dirty="0"/>
          </a:p>
        </p:txBody>
      </p:sp>
      <p:sp>
        <p:nvSpPr>
          <p:cNvPr id="30" name="Shape 27"/>
          <p:cNvSpPr/>
          <p:nvPr/>
        </p:nvSpPr>
        <p:spPr>
          <a:xfrm>
            <a:off x="594360" y="4197096"/>
            <a:ext cx="2057400" cy="603504"/>
          </a:xfrm>
          <a:prstGeom prst="roundRect">
            <a:avLst/>
          </a:prstGeom>
          <a:solidFill>
            <a:srgbClr val="8064A2"/>
          </a:solidFill>
          <a:ln w="12700">
            <a:solidFill>
              <a:srgbClr val="8064A2"/>
            </a:solidFill>
            <a:prstDash val="solid"/>
          </a:ln>
        </p:spPr>
      </p:sp>
      <p:sp>
        <p:nvSpPr>
          <p:cNvPr id="31" name="Text 28"/>
          <p:cNvSpPr txBox="1"/>
          <p:nvPr/>
        </p:nvSpPr>
        <p:spPr>
          <a:xfrm>
            <a:off x="713232" y="4379976"/>
            <a:ext cx="1828800" cy="16459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Incident response</a:t>
            </a:r>
            <a:endParaRPr lang="en-US" sz="1150" dirty="0"/>
          </a:p>
        </p:txBody>
      </p:sp>
      <p:sp>
        <p:nvSpPr>
          <p:cNvPr id="32" name="Shape 29"/>
          <p:cNvSpPr/>
          <p:nvPr/>
        </p:nvSpPr>
        <p:spPr>
          <a:xfrm>
            <a:off x="2697480" y="4197096"/>
            <a:ext cx="2148840" cy="603504"/>
          </a:xfrm>
          <a:prstGeom prst="roundRect">
            <a:avLst/>
          </a:prstGeom>
          <a:solidFill>
            <a:srgbClr val="FFFFFF"/>
          </a:solidFill>
          <a:ln w="12700">
            <a:solidFill>
              <a:srgbClr val="CBD5E1"/>
            </a:solidFill>
            <a:prstDash val="solid"/>
          </a:ln>
        </p:spPr>
      </p:sp>
      <p:sp>
        <p:nvSpPr>
          <p:cNvPr id="33" name="Text 30"/>
          <p:cNvSpPr txBox="1"/>
          <p:nvPr/>
        </p:nvSpPr>
        <p:spPr>
          <a:xfrm>
            <a:off x="2788920" y="4297680"/>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risk management</a:t>
            </a:r>
            <a:endParaRPr lang="en-US" sz="1050" dirty="0"/>
          </a:p>
        </p:txBody>
      </p:sp>
      <p:sp>
        <p:nvSpPr>
          <p:cNvPr id="34" name="Shape 31"/>
          <p:cNvSpPr/>
          <p:nvPr/>
        </p:nvSpPr>
        <p:spPr>
          <a:xfrm>
            <a:off x="5120640" y="4197096"/>
            <a:ext cx="2148840" cy="603504"/>
          </a:xfrm>
          <a:prstGeom prst="roundRect">
            <a:avLst/>
          </a:prstGeom>
          <a:solidFill>
            <a:srgbClr val="FFFFFF"/>
          </a:solidFill>
          <a:ln w="12700">
            <a:solidFill>
              <a:srgbClr val="CBD5E1"/>
            </a:solidFill>
            <a:prstDash val="solid"/>
          </a:ln>
        </p:spPr>
      </p:sp>
      <p:sp>
        <p:nvSpPr>
          <p:cNvPr id="35" name="Text 32"/>
          <p:cNvSpPr txBox="1"/>
          <p:nvPr/>
        </p:nvSpPr>
        <p:spPr>
          <a:xfrm>
            <a:off x="5212080" y="4297680"/>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breach response</a:t>
            </a:r>
            <a:endParaRPr lang="en-US" sz="1050" dirty="0"/>
          </a:p>
        </p:txBody>
      </p:sp>
      <p:sp>
        <p:nvSpPr>
          <p:cNvPr id="36" name="Shape 33"/>
          <p:cNvSpPr/>
          <p:nvPr/>
        </p:nvSpPr>
        <p:spPr>
          <a:xfrm>
            <a:off x="7543800" y="4197096"/>
            <a:ext cx="2148840" cy="603504"/>
          </a:xfrm>
          <a:prstGeom prst="roundRect">
            <a:avLst/>
          </a:prstGeom>
          <a:solidFill>
            <a:srgbClr val="FFFFFF"/>
          </a:solidFill>
          <a:ln w="12700">
            <a:solidFill>
              <a:srgbClr val="CBD5E1"/>
            </a:solidFill>
            <a:prstDash val="solid"/>
          </a:ln>
        </p:spPr>
      </p:sp>
      <p:sp>
        <p:nvSpPr>
          <p:cNvPr id="37" name="Text 34"/>
          <p:cNvSpPr txBox="1"/>
          <p:nvPr/>
        </p:nvSpPr>
        <p:spPr>
          <a:xfrm>
            <a:off x="7635240" y="4297680"/>
            <a:ext cx="1965960" cy="384048"/>
          </a:xfrm>
          <a:prstGeom prst="rect">
            <a:avLst/>
          </a:prstGeom>
          <a:noFill/>
          <a:ln/>
        </p:spPr>
        <p:txBody>
          <a:bodyPr wrap="square" lIns="508" tIns="508" rIns="508" bIns="508" rtlCol="0" anchor="ctr">
            <a:normAutofit/>
          </a:bodyPr>
          <a:lstStyle/>
          <a:p>
            <a:pPr algn="ctr" indent="0" marL="0">
              <a:buNone/>
            </a:pPr>
            <a:r>
              <a:rPr lang="en-US" sz="1050" dirty="0">
                <a:solidFill>
                  <a:srgbClr val="203040"/>
                </a:solidFill>
                <a:latin typeface="Calibri" pitchFamily="34" charset="0"/>
                <a:ea typeface="Calibri" pitchFamily="34" charset="-122"/>
                <a:cs typeface="Calibri" pitchFamily="34" charset="-120"/>
              </a:rPr>
              <a:t>notification and processor duties</a:t>
            </a:r>
            <a:endParaRPr lang="en-US" sz="1050" dirty="0"/>
          </a:p>
        </p:txBody>
      </p:sp>
      <p:sp>
        <p:nvSpPr>
          <p:cNvPr id="38" name="Text 35"/>
          <p:cNvSpPr txBox="1"/>
          <p:nvPr/>
        </p:nvSpPr>
        <p:spPr>
          <a:xfrm>
            <a:off x="2788920" y="1508760"/>
            <a:ext cx="1965960" cy="201168"/>
          </a:xfrm>
          <a:prstGeom prst="rect">
            <a:avLst/>
          </a:prstGeom>
          <a:noFill/>
          <a:ln/>
        </p:spPr>
        <p:txBody>
          <a:bodyPr wrap="square" lIns="508" tIns="508" rIns="508" bIns="508" rtlCol="0" anchor="ctr">
            <a:normAutofit/>
          </a:bodyPr>
          <a:lstStyle/>
          <a:p>
            <a:pPr algn="ctr" indent="0" marL="0">
              <a:buNone/>
            </a:pPr>
            <a:r>
              <a:rPr lang="en-US" sz="1200" b="1" dirty="0">
                <a:solidFill>
                  <a:srgbClr val="1F497D"/>
                </a:solidFill>
                <a:latin typeface="Calibri" pitchFamily="34" charset="0"/>
                <a:ea typeface="Calibri" pitchFamily="34" charset="-122"/>
                <a:cs typeface="Calibri" pitchFamily="34" charset="-120"/>
              </a:rPr>
              <a:t>HIPAA</a:t>
            </a:r>
            <a:endParaRPr lang="en-US" sz="1200" dirty="0"/>
          </a:p>
        </p:txBody>
      </p:sp>
      <p:sp>
        <p:nvSpPr>
          <p:cNvPr id="39" name="Text 36"/>
          <p:cNvSpPr txBox="1"/>
          <p:nvPr/>
        </p:nvSpPr>
        <p:spPr>
          <a:xfrm>
            <a:off x="5212080" y="1508760"/>
            <a:ext cx="1965960" cy="201168"/>
          </a:xfrm>
          <a:prstGeom prst="rect">
            <a:avLst/>
          </a:prstGeom>
          <a:noFill/>
          <a:ln/>
        </p:spPr>
        <p:txBody>
          <a:bodyPr wrap="square" lIns="508" tIns="508" rIns="508" bIns="508" rtlCol="0" anchor="ctr">
            <a:normAutofit/>
          </a:bodyPr>
          <a:lstStyle/>
          <a:p>
            <a:pPr algn="ctr" indent="0" marL="0">
              <a:buNone/>
            </a:pPr>
            <a:r>
              <a:rPr lang="en-US" sz="1200" b="1" dirty="0">
                <a:solidFill>
                  <a:srgbClr val="1F497D"/>
                </a:solidFill>
                <a:latin typeface="Calibri" pitchFamily="34" charset="0"/>
                <a:ea typeface="Calibri" pitchFamily="34" charset="-122"/>
                <a:cs typeface="Calibri" pitchFamily="34" charset="-120"/>
              </a:rPr>
              <a:t>PCI DSS</a:t>
            </a:r>
            <a:endParaRPr lang="en-US" sz="1200" dirty="0"/>
          </a:p>
        </p:txBody>
      </p:sp>
      <p:sp>
        <p:nvSpPr>
          <p:cNvPr id="40" name="Text 37"/>
          <p:cNvSpPr txBox="1"/>
          <p:nvPr/>
        </p:nvSpPr>
        <p:spPr>
          <a:xfrm>
            <a:off x="7635240" y="1508760"/>
            <a:ext cx="1965960" cy="201168"/>
          </a:xfrm>
          <a:prstGeom prst="rect">
            <a:avLst/>
          </a:prstGeom>
          <a:noFill/>
          <a:ln/>
        </p:spPr>
        <p:txBody>
          <a:bodyPr wrap="square" lIns="508" tIns="508" rIns="508" bIns="508" rtlCol="0" anchor="ctr">
            <a:normAutofit/>
          </a:bodyPr>
          <a:lstStyle/>
          <a:p>
            <a:pPr algn="ctr" indent="0" marL="0">
              <a:buNone/>
            </a:pPr>
            <a:r>
              <a:rPr lang="en-US" sz="1200" b="1" dirty="0">
                <a:solidFill>
                  <a:srgbClr val="1F497D"/>
                </a:solidFill>
                <a:latin typeface="Calibri" pitchFamily="34" charset="0"/>
                <a:ea typeface="Calibri" pitchFamily="34" charset="-122"/>
                <a:cs typeface="Calibri" pitchFamily="34" charset="-120"/>
              </a:rPr>
              <a:t>GDPR</a:t>
            </a:r>
            <a:endParaRPr lang="en-US" sz="12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VENDOR RISK</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Third-party access is still your risk decision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contract is part of the control plane.</a:t>
            </a:r>
            <a:endParaRPr lang="en-US" sz="1250" dirty="0"/>
          </a:p>
        </p:txBody>
      </p:sp>
      <p:sp>
        <p:nvSpPr>
          <p:cNvPr id="6" name="Shape 3"/>
          <p:cNvSpPr/>
          <p:nvPr/>
        </p:nvSpPr>
        <p:spPr>
          <a:xfrm>
            <a:off x="594360" y="2011680"/>
            <a:ext cx="2286000" cy="2148840"/>
          </a:xfrm>
          <a:prstGeom prst="roundRect">
            <a:avLst/>
          </a:prstGeom>
          <a:solidFill>
            <a:srgbClr val="FFFFFF"/>
          </a:solidFill>
          <a:ln w="12700">
            <a:solidFill>
              <a:srgbClr val="CBD5E1"/>
            </a:solidFill>
            <a:prstDash val="solid"/>
          </a:ln>
        </p:spPr>
      </p:sp>
      <p:sp>
        <p:nvSpPr>
          <p:cNvPr id="7" name="Shape 4"/>
          <p:cNvSpPr/>
          <p:nvPr/>
        </p:nvSpPr>
        <p:spPr>
          <a:xfrm>
            <a:off x="594360" y="2011680"/>
            <a:ext cx="2286000" cy="292608"/>
          </a:xfrm>
          <a:prstGeom prst="roundRect">
            <a:avLst/>
          </a:prstGeom>
          <a:solidFill>
            <a:srgbClr val="4BACC6"/>
          </a:solidFill>
          <a:ln w="12700">
            <a:solidFill>
              <a:srgbClr val="4BACC6"/>
            </a:solidFill>
            <a:prstDash val="solid"/>
          </a:ln>
        </p:spPr>
      </p:sp>
      <p:sp>
        <p:nvSpPr>
          <p:cNvPr id="8" name="Text 5"/>
          <p:cNvSpPr txBox="1"/>
          <p:nvPr/>
        </p:nvSpPr>
        <p:spPr>
          <a:xfrm>
            <a:off x="704088"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Before</a:t>
            </a:r>
            <a:endParaRPr lang="en-US" sz="1100" dirty="0"/>
          </a:p>
        </p:txBody>
      </p:sp>
      <p:sp>
        <p:nvSpPr>
          <p:cNvPr id="9" name="Text 6"/>
          <p:cNvSpPr txBox="1"/>
          <p:nvPr/>
        </p:nvSpPr>
        <p:spPr>
          <a:xfrm>
            <a:off x="704088"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security evidence</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contract terms</a:t>
            </a:r>
            <a:endParaRPr lang="en-US" sz="1300" dirty="0"/>
          </a:p>
        </p:txBody>
      </p:sp>
      <p:sp>
        <p:nvSpPr>
          <p:cNvPr id="10" name="Shape 7"/>
          <p:cNvSpPr/>
          <p:nvPr/>
        </p:nvSpPr>
        <p:spPr>
          <a:xfrm>
            <a:off x="2990088" y="3035808"/>
            <a:ext cx="347472" cy="0"/>
          </a:xfrm>
          <a:prstGeom prst="line">
            <a:avLst/>
          </a:prstGeom>
          <a:noFill/>
          <a:ln w="25400">
            <a:solidFill>
              <a:srgbClr val="94A3B8"/>
            </a:solidFill>
            <a:prstDash val="solid"/>
            <a:headEnd type="none"/>
            <a:tailEnd type="triangle"/>
          </a:ln>
        </p:spPr>
      </p:sp>
      <p:sp>
        <p:nvSpPr>
          <p:cNvPr id="11" name="Shape 8"/>
          <p:cNvSpPr/>
          <p:nvPr/>
        </p:nvSpPr>
        <p:spPr>
          <a:xfrm>
            <a:off x="3447288" y="2011680"/>
            <a:ext cx="2286000" cy="2148840"/>
          </a:xfrm>
          <a:prstGeom prst="roundRect">
            <a:avLst/>
          </a:prstGeom>
          <a:solidFill>
            <a:srgbClr val="FFFFFF"/>
          </a:solidFill>
          <a:ln w="12700">
            <a:solidFill>
              <a:srgbClr val="CBD5E1"/>
            </a:solidFill>
            <a:prstDash val="solid"/>
          </a:ln>
        </p:spPr>
      </p:sp>
      <p:sp>
        <p:nvSpPr>
          <p:cNvPr id="12" name="Shape 9"/>
          <p:cNvSpPr/>
          <p:nvPr/>
        </p:nvSpPr>
        <p:spPr>
          <a:xfrm>
            <a:off x="3447288" y="2011680"/>
            <a:ext cx="2286000" cy="292608"/>
          </a:xfrm>
          <a:prstGeom prst="roundRect">
            <a:avLst/>
          </a:prstGeom>
          <a:solidFill>
            <a:srgbClr val="4F81BD"/>
          </a:solidFill>
          <a:ln w="12700">
            <a:solidFill>
              <a:srgbClr val="4F81BD"/>
            </a:solidFill>
            <a:prstDash val="solid"/>
          </a:ln>
        </p:spPr>
      </p:sp>
      <p:sp>
        <p:nvSpPr>
          <p:cNvPr id="13" name="Text 10"/>
          <p:cNvSpPr txBox="1"/>
          <p:nvPr/>
        </p:nvSpPr>
        <p:spPr>
          <a:xfrm>
            <a:off x="3557016"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During</a:t>
            </a:r>
            <a:endParaRPr lang="en-US" sz="1100" dirty="0"/>
          </a:p>
        </p:txBody>
      </p:sp>
      <p:sp>
        <p:nvSpPr>
          <p:cNvPr id="14" name="Text 11"/>
          <p:cNvSpPr txBox="1"/>
          <p:nvPr/>
        </p:nvSpPr>
        <p:spPr>
          <a:xfrm>
            <a:off x="3557016"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scoped access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recorded sessions</a:t>
            </a:r>
            <a:endParaRPr lang="en-US" sz="1300" dirty="0"/>
          </a:p>
        </p:txBody>
      </p:sp>
      <p:sp>
        <p:nvSpPr>
          <p:cNvPr id="15" name="Shape 12"/>
          <p:cNvSpPr/>
          <p:nvPr/>
        </p:nvSpPr>
        <p:spPr>
          <a:xfrm>
            <a:off x="5843016" y="3035808"/>
            <a:ext cx="347472" cy="0"/>
          </a:xfrm>
          <a:prstGeom prst="line">
            <a:avLst/>
          </a:prstGeom>
          <a:noFill/>
          <a:ln w="25400">
            <a:solidFill>
              <a:srgbClr val="94A3B8"/>
            </a:solidFill>
            <a:prstDash val="solid"/>
            <a:headEnd type="none"/>
            <a:tailEnd type="triangle"/>
          </a:ln>
        </p:spPr>
      </p:sp>
      <p:sp>
        <p:nvSpPr>
          <p:cNvPr id="16" name="Shape 13"/>
          <p:cNvSpPr/>
          <p:nvPr/>
        </p:nvSpPr>
        <p:spPr>
          <a:xfrm>
            <a:off x="6300216" y="2011680"/>
            <a:ext cx="2286000" cy="2148840"/>
          </a:xfrm>
          <a:prstGeom prst="roundRect">
            <a:avLst/>
          </a:prstGeom>
          <a:solidFill>
            <a:srgbClr val="FFFFFF"/>
          </a:solidFill>
          <a:ln w="12700">
            <a:solidFill>
              <a:srgbClr val="CBD5E1"/>
            </a:solidFill>
            <a:prstDash val="solid"/>
          </a:ln>
        </p:spPr>
      </p:sp>
      <p:sp>
        <p:nvSpPr>
          <p:cNvPr id="17" name="Shape 14"/>
          <p:cNvSpPr/>
          <p:nvPr/>
        </p:nvSpPr>
        <p:spPr>
          <a:xfrm>
            <a:off x="6300216" y="2011680"/>
            <a:ext cx="2286000" cy="292608"/>
          </a:xfrm>
          <a:prstGeom prst="roundRect">
            <a:avLst/>
          </a:prstGeom>
          <a:solidFill>
            <a:srgbClr val="F79646"/>
          </a:solidFill>
          <a:ln w="12700">
            <a:solidFill>
              <a:srgbClr val="F79646"/>
            </a:solidFill>
            <a:prstDash val="solid"/>
          </a:ln>
        </p:spPr>
      </p:sp>
      <p:sp>
        <p:nvSpPr>
          <p:cNvPr id="18" name="Text 15"/>
          <p:cNvSpPr txBox="1"/>
          <p:nvPr/>
        </p:nvSpPr>
        <p:spPr>
          <a:xfrm>
            <a:off x="6409944"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Review</a:t>
            </a:r>
            <a:endParaRPr lang="en-US" sz="1100" dirty="0"/>
          </a:p>
        </p:txBody>
      </p:sp>
      <p:sp>
        <p:nvSpPr>
          <p:cNvPr id="19" name="Text 16"/>
          <p:cNvSpPr txBox="1"/>
          <p:nvPr/>
        </p:nvSpPr>
        <p:spPr>
          <a:xfrm>
            <a:off x="6409944"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quarterly access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owner attestation</a:t>
            </a:r>
            <a:endParaRPr lang="en-US" sz="1300" dirty="0"/>
          </a:p>
        </p:txBody>
      </p:sp>
      <p:sp>
        <p:nvSpPr>
          <p:cNvPr id="20" name="Shape 17"/>
          <p:cNvSpPr/>
          <p:nvPr/>
        </p:nvSpPr>
        <p:spPr>
          <a:xfrm>
            <a:off x="8695944" y="3035808"/>
            <a:ext cx="347472" cy="0"/>
          </a:xfrm>
          <a:prstGeom prst="line">
            <a:avLst/>
          </a:prstGeom>
          <a:noFill/>
          <a:ln w="25400">
            <a:solidFill>
              <a:srgbClr val="94A3B8"/>
            </a:solidFill>
            <a:prstDash val="solid"/>
            <a:headEnd type="none"/>
            <a:tailEnd type="triangle"/>
          </a:ln>
        </p:spPr>
      </p:sp>
      <p:sp>
        <p:nvSpPr>
          <p:cNvPr id="21" name="Shape 18"/>
          <p:cNvSpPr/>
          <p:nvPr/>
        </p:nvSpPr>
        <p:spPr>
          <a:xfrm>
            <a:off x="9153144" y="2011680"/>
            <a:ext cx="2286000" cy="2148840"/>
          </a:xfrm>
          <a:prstGeom prst="roundRect">
            <a:avLst/>
          </a:prstGeom>
          <a:solidFill>
            <a:srgbClr val="FFFFFF"/>
          </a:solidFill>
          <a:ln w="12700">
            <a:solidFill>
              <a:srgbClr val="CBD5E1"/>
            </a:solidFill>
            <a:prstDash val="solid"/>
          </a:ln>
        </p:spPr>
      </p:sp>
      <p:sp>
        <p:nvSpPr>
          <p:cNvPr id="22" name="Shape 19"/>
          <p:cNvSpPr/>
          <p:nvPr/>
        </p:nvSpPr>
        <p:spPr>
          <a:xfrm>
            <a:off x="9153144" y="2011680"/>
            <a:ext cx="2286000" cy="292608"/>
          </a:xfrm>
          <a:prstGeom prst="roundRect">
            <a:avLst/>
          </a:prstGeom>
          <a:solidFill>
            <a:srgbClr val="C0504D"/>
          </a:solidFill>
          <a:ln w="12700">
            <a:solidFill>
              <a:srgbClr val="C0504D"/>
            </a:solidFill>
            <a:prstDash val="solid"/>
          </a:ln>
        </p:spPr>
      </p:sp>
      <p:sp>
        <p:nvSpPr>
          <p:cNvPr id="23" name="Text 20"/>
          <p:cNvSpPr txBox="1"/>
          <p:nvPr/>
        </p:nvSpPr>
        <p:spPr>
          <a:xfrm>
            <a:off x="9262872" y="2048256"/>
            <a:ext cx="2066544" cy="21945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End</a:t>
            </a:r>
            <a:endParaRPr lang="en-US" sz="1100" dirty="0"/>
          </a:p>
        </p:txBody>
      </p:sp>
      <p:sp>
        <p:nvSpPr>
          <p:cNvPr id="24" name="Text 21"/>
          <p:cNvSpPr txBox="1"/>
          <p:nvPr/>
        </p:nvSpPr>
        <p:spPr>
          <a:xfrm>
            <a:off x="9262872" y="2423160"/>
            <a:ext cx="2066544" cy="1645920"/>
          </a:xfrm>
          <a:prstGeom prst="rect">
            <a:avLst/>
          </a:prstGeom>
          <a:noFill/>
          <a:ln/>
        </p:spPr>
        <p:txBody>
          <a:bodyPr wrap="square" lIns="508" tIns="508" rIns="508" bIns="508" rtlCol="0" anchor="ctr">
            <a:normAutofit/>
          </a:bodyPr>
          <a:lstStyle/>
          <a:p>
            <a:pPr algn="ctr" indent="0" marL="0">
              <a:buNone/>
            </a:pPr>
            <a:r>
              <a:rPr lang="en-US" sz="1300" dirty="0">
                <a:solidFill>
                  <a:srgbClr val="203040"/>
                </a:solidFill>
                <a:latin typeface="Calibri" pitchFamily="34" charset="0"/>
                <a:ea typeface="Calibri" pitchFamily="34" charset="-122"/>
                <a:cs typeface="Calibri" pitchFamily="34" charset="-120"/>
              </a:rPr>
              <a:t>disable account</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revoke keys</a:t>
            </a:r>
            <a:endParaRPr lang="en-US" sz="1300" dirty="0"/>
          </a:p>
          <a:p>
            <a:pPr algn="ctr" indent="0" marL="0">
              <a:buNone/>
            </a:pPr>
            <a:r>
              <a:rPr lang="en-US" sz="1300" dirty="0">
                <a:solidFill>
                  <a:srgbClr val="203040"/>
                </a:solidFill>
                <a:latin typeface="Calibri" pitchFamily="34" charset="0"/>
                <a:ea typeface="Calibri" pitchFamily="34" charset="-122"/>
                <a:cs typeface="Calibri" pitchFamily="34" charset="-120"/>
              </a:rPr>
              <a:t>archive evidence</a:t>
            </a:r>
            <a:endParaRPr lang="en-US" sz="1300" dirty="0"/>
          </a:p>
        </p:txBody>
      </p:sp>
      <p:sp>
        <p:nvSpPr>
          <p:cNvPr id="25" name="Shape 22"/>
          <p:cNvSpPr/>
          <p:nvPr/>
        </p:nvSpPr>
        <p:spPr>
          <a:xfrm>
            <a:off x="1005840" y="4754880"/>
            <a:ext cx="10104120" cy="621792"/>
          </a:xfrm>
          <a:prstGeom prst="roundRect">
            <a:avLst/>
          </a:prstGeom>
          <a:solidFill>
            <a:srgbClr val="FFFFFF"/>
          </a:solidFill>
          <a:ln w="12700">
            <a:solidFill>
              <a:srgbClr val="F79646"/>
            </a:solidFill>
            <a:prstDash val="solid"/>
          </a:ln>
        </p:spPr>
      </p:sp>
      <p:sp>
        <p:nvSpPr>
          <p:cNvPr id="26" name="Shape 23"/>
          <p:cNvSpPr/>
          <p:nvPr/>
        </p:nvSpPr>
        <p:spPr>
          <a:xfrm>
            <a:off x="1005840" y="4754880"/>
            <a:ext cx="100584" cy="621792"/>
          </a:xfrm>
          <a:prstGeom prst="rect">
            <a:avLst/>
          </a:prstGeom>
          <a:solidFill>
            <a:srgbClr val="F79646"/>
          </a:solidFill>
          <a:ln w="12700">
            <a:solidFill>
              <a:srgbClr val="F79646"/>
            </a:solidFill>
            <a:prstDash val="solid"/>
          </a:ln>
        </p:spPr>
      </p:sp>
      <p:sp>
        <p:nvSpPr>
          <p:cNvPr id="27" name="Text 24"/>
          <p:cNvSpPr txBox="1"/>
          <p:nvPr/>
        </p:nvSpPr>
        <p:spPr>
          <a:xfrm>
            <a:off x="1243584" y="4864608"/>
            <a:ext cx="9756648" cy="237744"/>
          </a:xfrm>
          <a:prstGeom prst="rect">
            <a:avLst/>
          </a:prstGeom>
          <a:noFill/>
          <a:ln/>
        </p:spPr>
        <p:txBody>
          <a:bodyPr wrap="square" lIns="508" tIns="508" rIns="508" bIns="508" rtlCol="0" anchor="ctr">
            <a:normAutofit/>
          </a:bodyPr>
          <a:lstStyle/>
          <a:p>
            <a:pPr algn="l" indent="0" marL="0">
              <a:buNone/>
            </a:pPr>
            <a:r>
              <a:rPr lang="en-US" sz="1400" b="1" dirty="0">
                <a:solidFill>
                  <a:srgbClr val="F79646"/>
                </a:solidFill>
                <a:latin typeface="Calibri" pitchFamily="34" charset="0"/>
                <a:ea typeface="Calibri" pitchFamily="34" charset="-122"/>
                <a:cs typeface="Calibri" pitchFamily="34" charset="-120"/>
              </a:rPr>
              <a:t>Discussion</a:t>
            </a:r>
            <a:endParaRPr lang="en-US" sz="1400" dirty="0"/>
          </a:p>
        </p:txBody>
      </p:sp>
      <p:sp>
        <p:nvSpPr>
          <p:cNvPr id="28" name="Text 25"/>
          <p:cNvSpPr txBox="1"/>
          <p:nvPr/>
        </p:nvSpPr>
        <p:spPr>
          <a:xfrm>
            <a:off x="1243584" y="5166360"/>
            <a:ext cx="9756648" cy="118872"/>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What evidence would make you comfortable leaving a vendor account enabled?</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EXCEPTIONS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exception is a time-bounded risk decision</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“We cannot meet the control” is the beginning of the form, not the end.</a:t>
            </a:r>
            <a:endParaRPr lang="en-US" sz="1250" dirty="0"/>
          </a:p>
        </p:txBody>
      </p:sp>
      <p:sp>
        <p:nvSpPr>
          <p:cNvPr id="6" name="Shape 3"/>
          <p:cNvSpPr/>
          <p:nvPr/>
        </p:nvSpPr>
        <p:spPr>
          <a:xfrm>
            <a:off x="1344168" y="1874520"/>
            <a:ext cx="566928" cy="566928"/>
          </a:xfrm>
          <a:prstGeom prst="ellipse">
            <a:avLst/>
          </a:prstGeom>
          <a:solidFill>
            <a:srgbClr val="4BACC6"/>
          </a:solidFill>
          <a:ln w="12700">
            <a:solidFill>
              <a:srgbClr val="4BACC6"/>
            </a:solidFill>
            <a:prstDash val="solid"/>
          </a:ln>
        </p:spPr>
      </p:sp>
      <p:sp>
        <p:nvSpPr>
          <p:cNvPr id="7" name="Text 4"/>
          <p:cNvSpPr txBox="1"/>
          <p:nvPr/>
        </p:nvSpPr>
        <p:spPr>
          <a:xfrm>
            <a:off x="1344168"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594360"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Request</a:t>
            </a:r>
            <a:endParaRPr lang="en-US" sz="1700" dirty="0"/>
          </a:p>
        </p:txBody>
      </p:sp>
      <p:sp>
        <p:nvSpPr>
          <p:cNvPr id="9" name="Text 6"/>
          <p:cNvSpPr txBox="1"/>
          <p:nvPr/>
        </p:nvSpPr>
        <p:spPr>
          <a:xfrm>
            <a:off x="594360"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what cannot be met?</a:t>
            </a:r>
            <a:endParaRPr lang="en-US" sz="1250" dirty="0"/>
          </a:p>
        </p:txBody>
      </p:sp>
      <p:sp>
        <p:nvSpPr>
          <p:cNvPr id="10" name="Shape 7"/>
          <p:cNvSpPr/>
          <p:nvPr/>
        </p:nvSpPr>
        <p:spPr>
          <a:xfrm>
            <a:off x="2011680" y="2157984"/>
            <a:ext cx="640080" cy="0"/>
          </a:xfrm>
          <a:prstGeom prst="line">
            <a:avLst/>
          </a:prstGeom>
          <a:noFill/>
          <a:ln w="25400">
            <a:solidFill>
              <a:srgbClr val="94A3B8"/>
            </a:solidFill>
            <a:prstDash val="solid"/>
            <a:headEnd type="none"/>
            <a:tailEnd type="triangle"/>
          </a:ln>
        </p:spPr>
      </p:sp>
      <p:sp>
        <p:nvSpPr>
          <p:cNvPr id="11" name="Shape 8"/>
          <p:cNvSpPr/>
          <p:nvPr/>
        </p:nvSpPr>
        <p:spPr>
          <a:xfrm>
            <a:off x="3648456" y="1874520"/>
            <a:ext cx="566928" cy="566928"/>
          </a:xfrm>
          <a:prstGeom prst="ellipse">
            <a:avLst/>
          </a:prstGeom>
          <a:solidFill>
            <a:srgbClr val="F79646"/>
          </a:solidFill>
          <a:ln w="12700">
            <a:solidFill>
              <a:srgbClr val="F79646"/>
            </a:solidFill>
            <a:prstDash val="solid"/>
          </a:ln>
        </p:spPr>
      </p:sp>
      <p:sp>
        <p:nvSpPr>
          <p:cNvPr id="12" name="Text 9"/>
          <p:cNvSpPr txBox="1"/>
          <p:nvPr/>
        </p:nvSpPr>
        <p:spPr>
          <a:xfrm>
            <a:off x="3648456"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0"/>
          <p:cNvSpPr txBox="1"/>
          <p:nvPr/>
        </p:nvSpPr>
        <p:spPr>
          <a:xfrm>
            <a:off x="2898648"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Assess</a:t>
            </a:r>
            <a:endParaRPr lang="en-US" sz="1700" dirty="0"/>
          </a:p>
        </p:txBody>
      </p:sp>
      <p:sp>
        <p:nvSpPr>
          <p:cNvPr id="14" name="Text 11"/>
          <p:cNvSpPr txBox="1"/>
          <p:nvPr/>
        </p:nvSpPr>
        <p:spPr>
          <a:xfrm>
            <a:off x="2898648"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likelihood and impact</a:t>
            </a:r>
            <a:endParaRPr lang="en-US" sz="1250" dirty="0"/>
          </a:p>
        </p:txBody>
      </p:sp>
      <p:sp>
        <p:nvSpPr>
          <p:cNvPr id="15" name="Shape 12"/>
          <p:cNvSpPr/>
          <p:nvPr/>
        </p:nvSpPr>
        <p:spPr>
          <a:xfrm>
            <a:off x="4315968" y="2157984"/>
            <a:ext cx="640080" cy="0"/>
          </a:xfrm>
          <a:prstGeom prst="line">
            <a:avLst/>
          </a:prstGeom>
          <a:noFill/>
          <a:ln w="25400">
            <a:solidFill>
              <a:srgbClr val="94A3B8"/>
            </a:solidFill>
            <a:prstDash val="solid"/>
            <a:headEnd type="none"/>
            <a:tailEnd type="triangle"/>
          </a:ln>
        </p:spPr>
      </p:sp>
      <p:sp>
        <p:nvSpPr>
          <p:cNvPr id="16" name="Shape 13"/>
          <p:cNvSpPr/>
          <p:nvPr/>
        </p:nvSpPr>
        <p:spPr>
          <a:xfrm>
            <a:off x="5952744" y="1874520"/>
            <a:ext cx="566928" cy="566928"/>
          </a:xfrm>
          <a:prstGeom prst="ellipse">
            <a:avLst/>
          </a:prstGeom>
          <a:solidFill>
            <a:srgbClr val="4F81BD"/>
          </a:solidFill>
          <a:ln w="12700">
            <a:solidFill>
              <a:srgbClr val="4F81BD"/>
            </a:solidFill>
            <a:prstDash val="solid"/>
          </a:ln>
        </p:spPr>
      </p:sp>
      <p:sp>
        <p:nvSpPr>
          <p:cNvPr id="17" name="Text 14"/>
          <p:cNvSpPr txBox="1"/>
          <p:nvPr/>
        </p:nvSpPr>
        <p:spPr>
          <a:xfrm>
            <a:off x="5952744"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5"/>
          <p:cNvSpPr txBox="1"/>
          <p:nvPr/>
        </p:nvSpPr>
        <p:spPr>
          <a:xfrm>
            <a:off x="5202936"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Offset</a:t>
            </a:r>
            <a:endParaRPr lang="en-US" sz="1700" dirty="0"/>
          </a:p>
        </p:txBody>
      </p:sp>
      <p:sp>
        <p:nvSpPr>
          <p:cNvPr id="19" name="Text 16"/>
          <p:cNvSpPr txBox="1"/>
          <p:nvPr/>
        </p:nvSpPr>
        <p:spPr>
          <a:xfrm>
            <a:off x="5202936"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compensating controls</a:t>
            </a:r>
            <a:endParaRPr lang="en-US" sz="1250" dirty="0"/>
          </a:p>
        </p:txBody>
      </p:sp>
      <p:sp>
        <p:nvSpPr>
          <p:cNvPr id="20" name="Shape 17"/>
          <p:cNvSpPr/>
          <p:nvPr/>
        </p:nvSpPr>
        <p:spPr>
          <a:xfrm>
            <a:off x="6620256" y="2157984"/>
            <a:ext cx="640080" cy="0"/>
          </a:xfrm>
          <a:prstGeom prst="line">
            <a:avLst/>
          </a:prstGeom>
          <a:noFill/>
          <a:ln w="25400">
            <a:solidFill>
              <a:srgbClr val="94A3B8"/>
            </a:solidFill>
            <a:prstDash val="solid"/>
            <a:headEnd type="none"/>
            <a:tailEnd type="triangle"/>
          </a:ln>
        </p:spPr>
      </p:sp>
      <p:sp>
        <p:nvSpPr>
          <p:cNvPr id="21" name="Shape 18"/>
          <p:cNvSpPr/>
          <p:nvPr/>
        </p:nvSpPr>
        <p:spPr>
          <a:xfrm>
            <a:off x="8257032" y="1874520"/>
            <a:ext cx="566928" cy="566928"/>
          </a:xfrm>
          <a:prstGeom prst="ellipse">
            <a:avLst/>
          </a:prstGeom>
          <a:solidFill>
            <a:srgbClr val="8064A2"/>
          </a:solidFill>
          <a:ln w="12700">
            <a:solidFill>
              <a:srgbClr val="8064A2"/>
            </a:solidFill>
            <a:prstDash val="solid"/>
          </a:ln>
        </p:spPr>
      </p:sp>
      <p:sp>
        <p:nvSpPr>
          <p:cNvPr id="22" name="Text 19"/>
          <p:cNvSpPr txBox="1"/>
          <p:nvPr/>
        </p:nvSpPr>
        <p:spPr>
          <a:xfrm>
            <a:off x="8257032"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0"/>
          <p:cNvSpPr txBox="1"/>
          <p:nvPr/>
        </p:nvSpPr>
        <p:spPr>
          <a:xfrm>
            <a:off x="7507224"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Approve</a:t>
            </a:r>
            <a:endParaRPr lang="en-US" sz="1700" dirty="0"/>
          </a:p>
        </p:txBody>
      </p:sp>
      <p:sp>
        <p:nvSpPr>
          <p:cNvPr id="24" name="Text 21"/>
          <p:cNvSpPr txBox="1"/>
          <p:nvPr/>
        </p:nvSpPr>
        <p:spPr>
          <a:xfrm>
            <a:off x="7507224"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risk owner signs</a:t>
            </a:r>
            <a:endParaRPr lang="en-US" sz="1250" dirty="0"/>
          </a:p>
        </p:txBody>
      </p:sp>
      <p:sp>
        <p:nvSpPr>
          <p:cNvPr id="25" name="Shape 22"/>
          <p:cNvSpPr/>
          <p:nvPr/>
        </p:nvSpPr>
        <p:spPr>
          <a:xfrm>
            <a:off x="8924544" y="2157984"/>
            <a:ext cx="640080" cy="0"/>
          </a:xfrm>
          <a:prstGeom prst="line">
            <a:avLst/>
          </a:prstGeom>
          <a:noFill/>
          <a:ln w="25400">
            <a:solidFill>
              <a:srgbClr val="94A3B8"/>
            </a:solidFill>
            <a:prstDash val="solid"/>
            <a:headEnd type="none"/>
            <a:tailEnd type="triangle"/>
          </a:ln>
        </p:spPr>
      </p:sp>
      <p:sp>
        <p:nvSpPr>
          <p:cNvPr id="26" name="Shape 23"/>
          <p:cNvSpPr/>
          <p:nvPr/>
        </p:nvSpPr>
        <p:spPr>
          <a:xfrm>
            <a:off x="10561320" y="1874520"/>
            <a:ext cx="566928" cy="566928"/>
          </a:xfrm>
          <a:prstGeom prst="ellipse">
            <a:avLst/>
          </a:prstGeom>
          <a:solidFill>
            <a:srgbClr val="C0504D"/>
          </a:solidFill>
          <a:ln w="12700">
            <a:solidFill>
              <a:srgbClr val="C0504D"/>
            </a:solidFill>
            <a:prstDash val="solid"/>
          </a:ln>
        </p:spPr>
      </p:sp>
      <p:sp>
        <p:nvSpPr>
          <p:cNvPr id="27" name="Text 24"/>
          <p:cNvSpPr txBox="1"/>
          <p:nvPr/>
        </p:nvSpPr>
        <p:spPr>
          <a:xfrm>
            <a:off x="10561320" y="2057400"/>
            <a:ext cx="566928" cy="146304"/>
          </a:xfrm>
          <a:prstGeom prst="rect">
            <a:avLst/>
          </a:prstGeom>
          <a:noFill/>
          <a:ln/>
        </p:spPr>
        <p:txBody>
          <a:bodyPr wrap="square" lIns="508" tIns="508" rIns="508" bIns="508" rtlCol="0" anchor="ctr">
            <a:normAutofit/>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5"/>
          <p:cNvSpPr txBox="1"/>
          <p:nvPr/>
        </p:nvSpPr>
        <p:spPr>
          <a:xfrm>
            <a:off x="9811512" y="2697480"/>
            <a:ext cx="2057400" cy="256032"/>
          </a:xfrm>
          <a:prstGeom prst="rect">
            <a:avLst/>
          </a:prstGeom>
          <a:noFill/>
          <a:ln/>
        </p:spPr>
        <p:txBody>
          <a:bodyPr wrap="square" lIns="508" tIns="508" rIns="508" bIns="508" rtlCol="0" anchor="ctr">
            <a:normAutofit/>
          </a:bodyPr>
          <a:lstStyle/>
          <a:p>
            <a:pPr algn="ctr" indent="0" marL="0">
              <a:buNone/>
            </a:pPr>
            <a:r>
              <a:rPr lang="en-US" sz="1700" b="1" dirty="0">
                <a:solidFill>
                  <a:srgbClr val="1F497D"/>
                </a:solidFill>
                <a:latin typeface="Calibri" pitchFamily="34" charset="0"/>
                <a:ea typeface="Calibri" pitchFamily="34" charset="-122"/>
                <a:cs typeface="Calibri" pitchFamily="34" charset="-120"/>
              </a:rPr>
              <a:t>Expire</a:t>
            </a:r>
            <a:endParaRPr lang="en-US" sz="1700" dirty="0"/>
          </a:p>
        </p:txBody>
      </p:sp>
      <p:sp>
        <p:nvSpPr>
          <p:cNvPr id="29" name="Text 26"/>
          <p:cNvSpPr txBox="1"/>
          <p:nvPr/>
        </p:nvSpPr>
        <p:spPr>
          <a:xfrm>
            <a:off x="9811512" y="3136392"/>
            <a:ext cx="2057400" cy="256032"/>
          </a:xfrm>
          <a:prstGeom prst="rect">
            <a:avLst/>
          </a:prstGeom>
          <a:noFill/>
          <a:ln/>
        </p:spPr>
        <p:txBody>
          <a:bodyPr wrap="square" lIns="508" tIns="508" rIns="508" bIns="508" rtlCol="0" anchor="ctr">
            <a:normAutofit/>
          </a:bodyPr>
          <a:lstStyle/>
          <a:p>
            <a:pPr algn="ctr" indent="0" marL="0">
              <a:buNone/>
            </a:pPr>
            <a:r>
              <a:rPr lang="en-US" sz="1250" dirty="0">
                <a:solidFill>
                  <a:srgbClr val="64748B"/>
                </a:solidFill>
                <a:latin typeface="Calibri" pitchFamily="34" charset="0"/>
                <a:ea typeface="Calibri" pitchFamily="34" charset="-122"/>
                <a:cs typeface="Calibri" pitchFamily="34" charset="-120"/>
              </a:rPr>
              <a:t>review or close</a:t>
            </a:r>
            <a:endParaRPr lang="en-US" sz="1250" dirty="0"/>
          </a:p>
        </p:txBody>
      </p:sp>
      <p:sp>
        <p:nvSpPr>
          <p:cNvPr id="30" name="Shape 27"/>
          <p:cNvSpPr/>
          <p:nvPr/>
        </p:nvSpPr>
        <p:spPr>
          <a:xfrm>
            <a:off x="2743200" y="4754880"/>
            <a:ext cx="6720840" cy="274320"/>
          </a:xfrm>
          <a:prstGeom prst="roundRect">
            <a:avLst/>
          </a:prstGeom>
          <a:solidFill>
            <a:srgbClr val="C0504D"/>
          </a:solidFill>
          <a:ln w="12700">
            <a:solidFill>
              <a:srgbClr val="C0504D"/>
            </a:solidFill>
            <a:prstDash val="solid"/>
          </a:ln>
        </p:spPr>
      </p:sp>
      <p:sp>
        <p:nvSpPr>
          <p:cNvPr id="31" name="Text 28"/>
          <p:cNvSpPr txBox="1"/>
          <p:nvPr/>
        </p:nvSpPr>
        <p:spPr>
          <a:xfrm>
            <a:off x="2816352" y="4773168"/>
            <a:ext cx="657453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EXCEPTION ≠ EXEMPTION FROM ACCOUNTABILITY</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POLICY LIFECYCLE</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Policy maintenance is an operational control</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 policy that is never reviewed becomes a historical document.</a:t>
            </a:r>
            <a:endParaRPr lang="en-US" sz="1250" dirty="0"/>
          </a:p>
        </p:txBody>
      </p:sp>
      <p:sp>
        <p:nvSpPr>
          <p:cNvPr id="6" name="Shape 3"/>
          <p:cNvSpPr/>
          <p:nvPr/>
        </p:nvSpPr>
        <p:spPr>
          <a:xfrm>
            <a:off x="5696712" y="1444752"/>
            <a:ext cx="768096" cy="768096"/>
          </a:xfrm>
          <a:prstGeom prst="ellipse">
            <a:avLst/>
          </a:prstGeom>
          <a:solidFill>
            <a:srgbClr val="4BACC6"/>
          </a:solidFill>
          <a:ln w="12700">
            <a:solidFill>
              <a:srgbClr val="4BACC6"/>
            </a:solidFill>
            <a:prstDash val="solid"/>
          </a:ln>
        </p:spPr>
      </p:sp>
      <p:sp>
        <p:nvSpPr>
          <p:cNvPr id="7" name="Text 4"/>
          <p:cNvSpPr txBox="1"/>
          <p:nvPr/>
        </p:nvSpPr>
        <p:spPr>
          <a:xfrm>
            <a:off x="5394960" y="2395728"/>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Draft</a:t>
            </a:r>
            <a:endParaRPr lang="en-US" sz="1400" dirty="0"/>
          </a:p>
        </p:txBody>
      </p:sp>
      <p:sp>
        <p:nvSpPr>
          <p:cNvPr id="8" name="Text 5"/>
          <p:cNvSpPr txBox="1"/>
          <p:nvPr/>
        </p:nvSpPr>
        <p:spPr>
          <a:xfrm>
            <a:off x="5303520" y="2697480"/>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owner writes</a:t>
            </a:r>
            <a:endParaRPr lang="en-US" sz="1050" dirty="0"/>
          </a:p>
        </p:txBody>
      </p:sp>
      <p:sp>
        <p:nvSpPr>
          <p:cNvPr id="9" name="Shape 6"/>
          <p:cNvSpPr/>
          <p:nvPr/>
        </p:nvSpPr>
        <p:spPr>
          <a:xfrm>
            <a:off x="8392615" y="2360913"/>
            <a:ext cx="768096" cy="768096"/>
          </a:xfrm>
          <a:prstGeom prst="ellipse">
            <a:avLst/>
          </a:prstGeom>
          <a:solidFill>
            <a:srgbClr val="4F81BD"/>
          </a:solidFill>
          <a:ln w="12700">
            <a:solidFill>
              <a:srgbClr val="4F81BD"/>
            </a:solidFill>
            <a:prstDash val="solid"/>
          </a:ln>
        </p:spPr>
      </p:sp>
      <p:sp>
        <p:nvSpPr>
          <p:cNvPr id="10" name="Text 7"/>
          <p:cNvSpPr txBox="1"/>
          <p:nvPr/>
        </p:nvSpPr>
        <p:spPr>
          <a:xfrm>
            <a:off x="8090863" y="3311889"/>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Approve</a:t>
            </a:r>
            <a:endParaRPr lang="en-US" sz="1400" dirty="0"/>
          </a:p>
        </p:txBody>
      </p:sp>
      <p:sp>
        <p:nvSpPr>
          <p:cNvPr id="11" name="Text 8"/>
          <p:cNvSpPr txBox="1"/>
          <p:nvPr/>
        </p:nvSpPr>
        <p:spPr>
          <a:xfrm>
            <a:off x="7999423" y="3613641"/>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risk owner signs</a:t>
            </a:r>
            <a:endParaRPr lang="en-US" sz="1050" dirty="0"/>
          </a:p>
        </p:txBody>
      </p:sp>
      <p:sp>
        <p:nvSpPr>
          <p:cNvPr id="12" name="Shape 9"/>
          <p:cNvSpPr/>
          <p:nvPr/>
        </p:nvSpPr>
        <p:spPr>
          <a:xfrm>
            <a:off x="7362872" y="3843291"/>
            <a:ext cx="768096" cy="768096"/>
          </a:xfrm>
          <a:prstGeom prst="ellipse">
            <a:avLst/>
          </a:prstGeom>
          <a:solidFill>
            <a:srgbClr val="F79646"/>
          </a:solidFill>
          <a:ln w="12700">
            <a:solidFill>
              <a:srgbClr val="F79646"/>
            </a:solidFill>
            <a:prstDash val="solid"/>
          </a:ln>
        </p:spPr>
      </p:sp>
      <p:sp>
        <p:nvSpPr>
          <p:cNvPr id="13" name="Text 10"/>
          <p:cNvSpPr txBox="1"/>
          <p:nvPr/>
        </p:nvSpPr>
        <p:spPr>
          <a:xfrm>
            <a:off x="7061120" y="4794267"/>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Publish</a:t>
            </a:r>
            <a:endParaRPr lang="en-US" sz="1400" dirty="0"/>
          </a:p>
        </p:txBody>
      </p:sp>
      <p:sp>
        <p:nvSpPr>
          <p:cNvPr id="14" name="Text 11"/>
          <p:cNvSpPr txBox="1"/>
          <p:nvPr/>
        </p:nvSpPr>
        <p:spPr>
          <a:xfrm>
            <a:off x="6969680" y="5096019"/>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users can find it</a:t>
            </a:r>
            <a:endParaRPr lang="en-US" sz="1050" dirty="0"/>
          </a:p>
        </p:txBody>
      </p:sp>
      <p:sp>
        <p:nvSpPr>
          <p:cNvPr id="15" name="Shape 12"/>
          <p:cNvSpPr/>
          <p:nvPr/>
        </p:nvSpPr>
        <p:spPr>
          <a:xfrm>
            <a:off x="4030552" y="3843291"/>
            <a:ext cx="768096" cy="768096"/>
          </a:xfrm>
          <a:prstGeom prst="ellipse">
            <a:avLst/>
          </a:prstGeom>
          <a:solidFill>
            <a:srgbClr val="8064A2"/>
          </a:solidFill>
          <a:ln w="12700">
            <a:solidFill>
              <a:srgbClr val="8064A2"/>
            </a:solidFill>
            <a:prstDash val="solid"/>
          </a:ln>
        </p:spPr>
      </p:sp>
      <p:sp>
        <p:nvSpPr>
          <p:cNvPr id="16" name="Text 13"/>
          <p:cNvSpPr txBox="1"/>
          <p:nvPr/>
        </p:nvSpPr>
        <p:spPr>
          <a:xfrm>
            <a:off x="3728800" y="4794267"/>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Measure</a:t>
            </a:r>
            <a:endParaRPr lang="en-US" sz="1400" dirty="0"/>
          </a:p>
        </p:txBody>
      </p:sp>
      <p:sp>
        <p:nvSpPr>
          <p:cNvPr id="17" name="Text 14"/>
          <p:cNvSpPr txBox="1"/>
          <p:nvPr/>
        </p:nvSpPr>
        <p:spPr>
          <a:xfrm>
            <a:off x="3637360" y="5096019"/>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evidence and review</a:t>
            </a:r>
            <a:endParaRPr lang="en-US" sz="1050" dirty="0"/>
          </a:p>
        </p:txBody>
      </p:sp>
      <p:sp>
        <p:nvSpPr>
          <p:cNvPr id="18" name="Shape 15"/>
          <p:cNvSpPr/>
          <p:nvPr/>
        </p:nvSpPr>
        <p:spPr>
          <a:xfrm>
            <a:off x="3000809" y="2360913"/>
            <a:ext cx="768096" cy="768096"/>
          </a:xfrm>
          <a:prstGeom prst="ellipse">
            <a:avLst/>
          </a:prstGeom>
          <a:solidFill>
            <a:srgbClr val="70AD47"/>
          </a:solidFill>
          <a:ln w="12700">
            <a:solidFill>
              <a:srgbClr val="70AD47"/>
            </a:solidFill>
            <a:prstDash val="solid"/>
          </a:ln>
        </p:spPr>
      </p:sp>
      <p:sp>
        <p:nvSpPr>
          <p:cNvPr id="19" name="Text 16"/>
          <p:cNvSpPr txBox="1"/>
          <p:nvPr/>
        </p:nvSpPr>
        <p:spPr>
          <a:xfrm>
            <a:off x="2699057" y="3311889"/>
            <a:ext cx="1371600" cy="219456"/>
          </a:xfrm>
          <a:prstGeom prst="rect">
            <a:avLst/>
          </a:prstGeom>
          <a:noFill/>
          <a:ln/>
        </p:spPr>
        <p:txBody>
          <a:bodyPr wrap="square" lIns="508" tIns="508" rIns="508" bIns="508" rtlCol="0" anchor="ctr">
            <a:normAutofit/>
          </a:bodyPr>
          <a:lstStyle/>
          <a:p>
            <a:pPr algn="ctr" indent="0" marL="0">
              <a:buNone/>
            </a:pPr>
            <a:r>
              <a:rPr lang="en-US" sz="1400" b="1" dirty="0">
                <a:solidFill>
                  <a:srgbClr val="1F497D"/>
                </a:solidFill>
                <a:latin typeface="Calibri" pitchFamily="34" charset="0"/>
                <a:ea typeface="Calibri" pitchFamily="34" charset="-122"/>
                <a:cs typeface="Calibri" pitchFamily="34" charset="-120"/>
              </a:rPr>
              <a:t>Revise</a:t>
            </a:r>
            <a:endParaRPr lang="en-US" sz="1400" dirty="0"/>
          </a:p>
        </p:txBody>
      </p:sp>
      <p:sp>
        <p:nvSpPr>
          <p:cNvPr id="20" name="Text 17"/>
          <p:cNvSpPr txBox="1"/>
          <p:nvPr/>
        </p:nvSpPr>
        <p:spPr>
          <a:xfrm>
            <a:off x="2607617" y="3613641"/>
            <a:ext cx="1554480" cy="182880"/>
          </a:xfrm>
          <a:prstGeom prst="rect">
            <a:avLst/>
          </a:prstGeom>
          <a:noFill/>
          <a:ln/>
        </p:spPr>
        <p:txBody>
          <a:bodyPr wrap="square" lIns="508" tIns="508" rIns="508" bIns="508" rtlCol="0" anchor="ctr">
            <a:normAutofit/>
          </a:bodyPr>
          <a:lstStyle/>
          <a:p>
            <a:pPr algn="ctr" indent="0" marL="0">
              <a:buNone/>
            </a:pPr>
            <a:r>
              <a:rPr lang="en-US" sz="1050" dirty="0">
                <a:solidFill>
                  <a:srgbClr val="64748B"/>
                </a:solidFill>
                <a:latin typeface="Calibri" pitchFamily="34" charset="0"/>
                <a:ea typeface="Calibri" pitchFamily="34" charset="-122"/>
                <a:cs typeface="Calibri" pitchFamily="34" charset="-120"/>
              </a:rPr>
              <a:t>lessons and change</a:t>
            </a:r>
            <a:endParaRPr lang="en-US" sz="1050" dirty="0"/>
          </a:p>
        </p:txBody>
      </p:sp>
      <p:sp>
        <p:nvSpPr>
          <p:cNvPr id="21" name="Shape 18"/>
          <p:cNvSpPr/>
          <p:nvPr/>
        </p:nvSpPr>
        <p:spPr>
          <a:xfrm>
            <a:off x="5650992" y="2724912"/>
            <a:ext cx="859536" cy="859536"/>
          </a:xfrm>
          <a:prstGeom prst="ellipse">
            <a:avLst/>
          </a:prstGeom>
          <a:solidFill>
            <a:srgbClr val="1F497D"/>
          </a:solidFill>
          <a:ln w="12700">
            <a:solidFill>
              <a:srgbClr val="1F497D"/>
            </a:solidFill>
            <a:prstDash val="solid"/>
          </a:ln>
        </p:spPr>
      </p:sp>
      <p:sp>
        <p:nvSpPr>
          <p:cNvPr id="22" name="Text 19"/>
          <p:cNvSpPr txBox="1"/>
          <p:nvPr/>
        </p:nvSpPr>
        <p:spPr>
          <a:xfrm>
            <a:off x="5650992" y="3035808"/>
            <a:ext cx="859536" cy="155448"/>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REVIEW</a:t>
            </a:r>
            <a:endParaRPr lang="en-US" sz="11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MEDIA SLOT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When the exception becomes the architecture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Suggested search: “temporary workaround becomes permanent meme” or use a short policy debt reel.</a:t>
            </a:r>
            <a:endParaRPr lang="en-US" sz="1250" dirty="0"/>
          </a:p>
        </p:txBody>
      </p:sp>
      <p:sp>
        <p:nvSpPr>
          <p:cNvPr id="6" name="Shape 3"/>
          <p:cNvSpPr/>
          <p:nvPr/>
        </p:nvSpPr>
        <p:spPr>
          <a:xfrm>
            <a:off x="914400" y="1828800"/>
            <a:ext cx="10241280" cy="3246120"/>
          </a:xfrm>
          <a:prstGeom prst="roundRect">
            <a:avLst/>
          </a:prstGeom>
          <a:solidFill>
            <a:srgbClr val="EEF2F7"/>
          </a:solidFill>
          <a:ln w="12700">
            <a:solidFill>
              <a:srgbClr val="F79646"/>
            </a:solidFill>
            <a:prstDash val="solid"/>
          </a:ln>
        </p:spPr>
      </p:sp>
      <p:sp>
        <p:nvSpPr>
          <p:cNvPr id="7" name="Shape 4"/>
          <p:cNvSpPr/>
          <p:nvPr/>
        </p:nvSpPr>
        <p:spPr>
          <a:xfrm>
            <a:off x="1024128" y="1938528"/>
            <a:ext cx="10021824" cy="3026664"/>
          </a:xfrm>
          <a:prstGeom prst="line">
            <a:avLst/>
          </a:prstGeom>
          <a:noFill/>
          <a:ln w="15240">
            <a:solidFill>
              <a:srgbClr val="D8A36A"/>
            </a:solidFill>
            <a:prstDash val="solid"/>
            <a:headEnd type="none"/>
            <a:tailEnd type="none"/>
          </a:ln>
        </p:spPr>
      </p:sp>
      <p:sp>
        <p:nvSpPr>
          <p:cNvPr id="8" name="Shape 5"/>
          <p:cNvSpPr/>
          <p:nvPr/>
        </p:nvSpPr>
        <p:spPr>
          <a:xfrm>
            <a:off x="11045952" y="1938528"/>
            <a:ext cx="-10021824" cy="3026664"/>
          </a:xfrm>
          <a:prstGeom prst="line">
            <a:avLst/>
          </a:prstGeom>
          <a:noFill/>
          <a:ln w="15240">
            <a:solidFill>
              <a:srgbClr val="D8A36A"/>
            </a:solidFill>
            <a:prstDash val="solid"/>
            <a:headEnd type="none"/>
            <a:tailEnd type="none"/>
          </a:ln>
        </p:spPr>
      </p:sp>
      <p:sp>
        <p:nvSpPr>
          <p:cNvPr id="9" name="Shape 6"/>
          <p:cNvSpPr/>
          <p:nvPr/>
        </p:nvSpPr>
        <p:spPr>
          <a:xfrm>
            <a:off x="5376672" y="2075688"/>
            <a:ext cx="1316736" cy="274320"/>
          </a:xfrm>
          <a:prstGeom prst="roundRect">
            <a:avLst/>
          </a:prstGeom>
          <a:solidFill>
            <a:srgbClr val="F79646"/>
          </a:solidFill>
          <a:ln w="12700">
            <a:solidFill>
              <a:srgbClr val="F79646"/>
            </a:solidFill>
            <a:prstDash val="solid"/>
          </a:ln>
        </p:spPr>
      </p:sp>
      <p:sp>
        <p:nvSpPr>
          <p:cNvPr id="10" name="Text 7"/>
          <p:cNvSpPr txBox="1"/>
          <p:nvPr/>
        </p:nvSpPr>
        <p:spPr>
          <a:xfrm>
            <a:off x="5449824" y="2093976"/>
            <a:ext cx="1170432"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MEDIA SLOT</a:t>
            </a:r>
            <a:endParaRPr lang="en-US" sz="1000" dirty="0"/>
          </a:p>
        </p:txBody>
      </p:sp>
      <p:sp>
        <p:nvSpPr>
          <p:cNvPr id="11" name="Text 8"/>
          <p:cNvSpPr txBox="1"/>
          <p:nvPr/>
        </p:nvSpPr>
        <p:spPr>
          <a:xfrm>
            <a:off x="1234440" y="2743200"/>
            <a:ext cx="9601200" cy="457200"/>
          </a:xfrm>
          <a:prstGeom prst="rect">
            <a:avLst/>
          </a:prstGeom>
          <a:noFill/>
          <a:ln/>
        </p:spPr>
        <p:txBody>
          <a:bodyPr wrap="square" lIns="508" tIns="508" rIns="508" bIns="508" rtlCol="0" anchor="ctr">
            <a:normAutofit/>
          </a:bodyPr>
          <a:lstStyle/>
          <a:p>
            <a:pPr algn="ctr" indent="0" marL="0">
              <a:buNone/>
            </a:pPr>
            <a:r>
              <a:rPr lang="en-US" sz="2200" b="1" dirty="0">
                <a:solidFill>
                  <a:srgbClr val="1F497D"/>
                </a:solidFill>
                <a:latin typeface="Calibri" pitchFamily="34" charset="0"/>
                <a:ea typeface="Calibri" pitchFamily="34" charset="-122"/>
                <a:cs typeface="Calibri" pitchFamily="34" charset="-120"/>
              </a:rPr>
              <a:t>JUST ONE MORE EXCEPTION</a:t>
            </a:r>
            <a:endParaRPr lang="en-US" sz="2200" dirty="0"/>
          </a:p>
        </p:txBody>
      </p:sp>
      <p:sp>
        <p:nvSpPr>
          <p:cNvPr id="12" name="Text 9"/>
          <p:cNvSpPr txBox="1"/>
          <p:nvPr/>
        </p:nvSpPr>
        <p:spPr>
          <a:xfrm>
            <a:off x="1325880" y="3401568"/>
            <a:ext cx="9418320" cy="566928"/>
          </a:xfrm>
          <a:prstGeom prst="rect">
            <a:avLst/>
          </a:prstGeom>
          <a:noFill/>
          <a:ln/>
        </p:spPr>
        <p:txBody>
          <a:bodyPr wrap="square" lIns="508" tIns="508" rIns="508" bIns="508" rtlCol="0" anchor="ctr">
            <a:normAutofit/>
          </a:bodyPr>
          <a:lstStyle/>
          <a:p>
            <a:pPr algn="ctr" indent="0" marL="0">
              <a:buNone/>
            </a:pPr>
            <a:r>
              <a:rPr lang="en-US" sz="1300" i="1" dirty="0">
                <a:solidFill>
                  <a:srgbClr val="64748B"/>
                </a:solidFill>
                <a:latin typeface="Calibri" pitchFamily="34" charset="0"/>
                <a:ea typeface="Calibri" pitchFamily="34" charset="-122"/>
                <a:cs typeface="Calibri" pitchFamily="34" charset="-120"/>
              </a:rPr>
              <a:t>Caption: “Temporary until the next audit, incident, or architecture review.”</a:t>
            </a:r>
            <a:endParaRPr lang="en-US" sz="13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SYNTHESIS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Troubleshoot the trust path in the right order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Start with identity, then authorization, then evidence.</a:t>
            </a:r>
            <a:endParaRPr lang="en-US" sz="1250" dirty="0"/>
          </a:p>
        </p:txBody>
      </p:sp>
      <p:sp>
        <p:nvSpPr>
          <p:cNvPr id="6" name="Shape 3"/>
          <p:cNvSpPr/>
          <p:nvPr/>
        </p:nvSpPr>
        <p:spPr>
          <a:xfrm>
            <a:off x="822960" y="1783080"/>
            <a:ext cx="347472" cy="347472"/>
          </a:xfrm>
          <a:prstGeom prst="ellipse">
            <a:avLst/>
          </a:prstGeom>
          <a:solidFill>
            <a:srgbClr val="4BACC6"/>
          </a:solidFill>
          <a:ln w="12700">
            <a:solidFill>
              <a:srgbClr val="4BACC6"/>
            </a:solidFill>
            <a:prstDash val="solid"/>
          </a:ln>
        </p:spPr>
      </p:sp>
      <p:sp>
        <p:nvSpPr>
          <p:cNvPr id="7" name="Text 4"/>
          <p:cNvSpPr txBox="1"/>
          <p:nvPr/>
        </p:nvSpPr>
        <p:spPr>
          <a:xfrm>
            <a:off x="822960" y="187452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txBox="1"/>
          <p:nvPr/>
        </p:nvSpPr>
        <p:spPr>
          <a:xfrm>
            <a:off x="1371600" y="181965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Identity</a:t>
            </a:r>
            <a:endParaRPr lang="en-US" sz="1500" dirty="0"/>
          </a:p>
        </p:txBody>
      </p:sp>
      <p:sp>
        <p:nvSpPr>
          <p:cNvPr id="9" name="Text 6"/>
          <p:cNvSpPr txBox="1"/>
          <p:nvPr/>
        </p:nvSpPr>
        <p:spPr>
          <a:xfrm>
            <a:off x="2971800" y="181965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Which credential was presented?</a:t>
            </a:r>
            <a:endParaRPr lang="en-US" sz="1400" dirty="0"/>
          </a:p>
        </p:txBody>
      </p:sp>
      <p:sp>
        <p:nvSpPr>
          <p:cNvPr id="10" name="Shape 7"/>
          <p:cNvSpPr/>
          <p:nvPr/>
        </p:nvSpPr>
        <p:spPr>
          <a:xfrm>
            <a:off x="8458200" y="1947672"/>
            <a:ext cx="2423160" cy="0"/>
          </a:xfrm>
          <a:prstGeom prst="line">
            <a:avLst/>
          </a:prstGeom>
          <a:noFill/>
          <a:ln w="12700">
            <a:solidFill>
              <a:srgbClr val="CBD5E1"/>
            </a:solidFill>
            <a:prstDash val="solid"/>
            <a:headEnd type="none"/>
            <a:tailEnd type="none"/>
          </a:ln>
        </p:spPr>
      </p:sp>
      <p:sp>
        <p:nvSpPr>
          <p:cNvPr id="11" name="Shape 8"/>
          <p:cNvSpPr/>
          <p:nvPr/>
        </p:nvSpPr>
        <p:spPr>
          <a:xfrm>
            <a:off x="822960" y="2423160"/>
            <a:ext cx="347472" cy="347472"/>
          </a:xfrm>
          <a:prstGeom prst="ellipse">
            <a:avLst/>
          </a:prstGeom>
          <a:solidFill>
            <a:srgbClr val="4F81BD"/>
          </a:solidFill>
          <a:ln w="12700">
            <a:solidFill>
              <a:srgbClr val="4F81BD"/>
            </a:solidFill>
            <a:prstDash val="solid"/>
          </a:ln>
        </p:spPr>
      </p:sp>
      <p:sp>
        <p:nvSpPr>
          <p:cNvPr id="12" name="Text 9"/>
          <p:cNvSpPr txBox="1"/>
          <p:nvPr/>
        </p:nvSpPr>
        <p:spPr>
          <a:xfrm>
            <a:off x="822960" y="251460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txBox="1"/>
          <p:nvPr/>
        </p:nvSpPr>
        <p:spPr>
          <a:xfrm>
            <a:off x="1371600" y="245973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Validity</a:t>
            </a:r>
            <a:endParaRPr lang="en-US" sz="1500" dirty="0"/>
          </a:p>
        </p:txBody>
      </p:sp>
      <p:sp>
        <p:nvSpPr>
          <p:cNvPr id="14" name="Text 11"/>
          <p:cNvSpPr txBox="1"/>
          <p:nvPr/>
        </p:nvSpPr>
        <p:spPr>
          <a:xfrm>
            <a:off x="2971800" y="245973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Is it current and signed?</a:t>
            </a:r>
            <a:endParaRPr lang="en-US" sz="1400" dirty="0"/>
          </a:p>
        </p:txBody>
      </p:sp>
      <p:sp>
        <p:nvSpPr>
          <p:cNvPr id="15" name="Shape 12"/>
          <p:cNvSpPr/>
          <p:nvPr/>
        </p:nvSpPr>
        <p:spPr>
          <a:xfrm>
            <a:off x="8458200" y="2587752"/>
            <a:ext cx="2423160" cy="0"/>
          </a:xfrm>
          <a:prstGeom prst="line">
            <a:avLst/>
          </a:prstGeom>
          <a:noFill/>
          <a:ln w="12700">
            <a:solidFill>
              <a:srgbClr val="CBD5E1"/>
            </a:solidFill>
            <a:prstDash val="solid"/>
            <a:headEnd type="none"/>
            <a:tailEnd type="none"/>
          </a:ln>
        </p:spPr>
      </p:sp>
      <p:sp>
        <p:nvSpPr>
          <p:cNvPr id="16" name="Shape 13"/>
          <p:cNvSpPr/>
          <p:nvPr/>
        </p:nvSpPr>
        <p:spPr>
          <a:xfrm>
            <a:off x="822960" y="3063240"/>
            <a:ext cx="347472" cy="347472"/>
          </a:xfrm>
          <a:prstGeom prst="ellipse">
            <a:avLst/>
          </a:prstGeom>
          <a:solidFill>
            <a:srgbClr val="F79646"/>
          </a:solidFill>
          <a:ln w="12700">
            <a:solidFill>
              <a:srgbClr val="F79646"/>
            </a:solidFill>
            <a:prstDash val="solid"/>
          </a:ln>
        </p:spPr>
      </p:sp>
      <p:sp>
        <p:nvSpPr>
          <p:cNvPr id="17" name="Text 14"/>
          <p:cNvSpPr txBox="1"/>
          <p:nvPr/>
        </p:nvSpPr>
        <p:spPr>
          <a:xfrm>
            <a:off x="822960" y="315468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5"/>
          <p:cNvSpPr txBox="1"/>
          <p:nvPr/>
        </p:nvSpPr>
        <p:spPr>
          <a:xfrm>
            <a:off x="1371600" y="309981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Scope</a:t>
            </a:r>
            <a:endParaRPr lang="en-US" sz="1500" dirty="0"/>
          </a:p>
        </p:txBody>
      </p:sp>
      <p:sp>
        <p:nvSpPr>
          <p:cNvPr id="19" name="Text 16"/>
          <p:cNvSpPr txBox="1"/>
          <p:nvPr/>
        </p:nvSpPr>
        <p:spPr>
          <a:xfrm>
            <a:off x="2971800" y="309981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Does principal and policy match?</a:t>
            </a:r>
            <a:endParaRPr lang="en-US" sz="1400" dirty="0"/>
          </a:p>
        </p:txBody>
      </p:sp>
      <p:sp>
        <p:nvSpPr>
          <p:cNvPr id="20" name="Shape 17"/>
          <p:cNvSpPr/>
          <p:nvPr/>
        </p:nvSpPr>
        <p:spPr>
          <a:xfrm>
            <a:off x="8458200" y="3227832"/>
            <a:ext cx="2423160" cy="0"/>
          </a:xfrm>
          <a:prstGeom prst="line">
            <a:avLst/>
          </a:prstGeom>
          <a:noFill/>
          <a:ln w="12700">
            <a:solidFill>
              <a:srgbClr val="CBD5E1"/>
            </a:solidFill>
            <a:prstDash val="solid"/>
            <a:headEnd type="none"/>
            <a:tailEnd type="none"/>
          </a:ln>
        </p:spPr>
      </p:sp>
      <p:sp>
        <p:nvSpPr>
          <p:cNvPr id="21" name="Shape 18"/>
          <p:cNvSpPr/>
          <p:nvPr/>
        </p:nvSpPr>
        <p:spPr>
          <a:xfrm>
            <a:off x="822960" y="3703320"/>
            <a:ext cx="347472" cy="347472"/>
          </a:xfrm>
          <a:prstGeom prst="ellipse">
            <a:avLst/>
          </a:prstGeom>
          <a:solidFill>
            <a:srgbClr val="8064A2"/>
          </a:solidFill>
          <a:ln w="12700">
            <a:solidFill>
              <a:srgbClr val="8064A2"/>
            </a:solidFill>
            <a:prstDash val="solid"/>
          </a:ln>
        </p:spPr>
      </p:sp>
      <p:sp>
        <p:nvSpPr>
          <p:cNvPr id="22" name="Text 19"/>
          <p:cNvSpPr txBox="1"/>
          <p:nvPr/>
        </p:nvSpPr>
        <p:spPr>
          <a:xfrm>
            <a:off x="822960" y="379476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0"/>
          <p:cNvSpPr txBox="1"/>
          <p:nvPr/>
        </p:nvSpPr>
        <p:spPr>
          <a:xfrm>
            <a:off x="1371600" y="373989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Factor</a:t>
            </a:r>
            <a:endParaRPr lang="en-US" sz="1500" dirty="0"/>
          </a:p>
        </p:txBody>
      </p:sp>
      <p:sp>
        <p:nvSpPr>
          <p:cNvPr id="24" name="Text 21"/>
          <p:cNvSpPr txBox="1"/>
          <p:nvPr/>
        </p:nvSpPr>
        <p:spPr>
          <a:xfrm>
            <a:off x="2971800" y="373989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Did MFA complete?</a:t>
            </a:r>
            <a:endParaRPr lang="en-US" sz="1400" dirty="0"/>
          </a:p>
        </p:txBody>
      </p:sp>
      <p:sp>
        <p:nvSpPr>
          <p:cNvPr id="25" name="Shape 22"/>
          <p:cNvSpPr/>
          <p:nvPr/>
        </p:nvSpPr>
        <p:spPr>
          <a:xfrm>
            <a:off x="8458200" y="3867912"/>
            <a:ext cx="2423160" cy="0"/>
          </a:xfrm>
          <a:prstGeom prst="line">
            <a:avLst/>
          </a:prstGeom>
          <a:noFill/>
          <a:ln w="12700">
            <a:solidFill>
              <a:srgbClr val="CBD5E1"/>
            </a:solidFill>
            <a:prstDash val="solid"/>
            <a:headEnd type="none"/>
            <a:tailEnd type="none"/>
          </a:ln>
        </p:spPr>
      </p:sp>
      <p:sp>
        <p:nvSpPr>
          <p:cNvPr id="26" name="Shape 23"/>
          <p:cNvSpPr/>
          <p:nvPr/>
        </p:nvSpPr>
        <p:spPr>
          <a:xfrm>
            <a:off x="822960" y="4343400"/>
            <a:ext cx="347472" cy="347472"/>
          </a:xfrm>
          <a:prstGeom prst="ellipse">
            <a:avLst/>
          </a:prstGeom>
          <a:solidFill>
            <a:srgbClr val="70AD47"/>
          </a:solidFill>
          <a:ln w="12700">
            <a:solidFill>
              <a:srgbClr val="70AD47"/>
            </a:solidFill>
            <a:prstDash val="solid"/>
          </a:ln>
        </p:spPr>
      </p:sp>
      <p:sp>
        <p:nvSpPr>
          <p:cNvPr id="27" name="Text 24"/>
          <p:cNvSpPr txBox="1"/>
          <p:nvPr/>
        </p:nvSpPr>
        <p:spPr>
          <a:xfrm>
            <a:off x="822960" y="4434840"/>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1371600" y="4379976"/>
            <a:ext cx="1371600" cy="201168"/>
          </a:xfrm>
          <a:prstGeom prst="rect">
            <a:avLst/>
          </a:prstGeom>
          <a:noFill/>
          <a:ln/>
        </p:spPr>
        <p:txBody>
          <a:bodyPr wrap="square" lIns="508" tIns="508" rIns="508" bIns="508" rtlCol="0" anchor="ctr">
            <a:normAutofit/>
          </a:bodyPr>
          <a:lstStyle/>
          <a:p>
            <a:pPr algn="l" indent="0" marL="0">
              <a:buNone/>
            </a:pPr>
            <a:r>
              <a:rPr lang="en-US" sz="1500" b="1" dirty="0">
                <a:solidFill>
                  <a:srgbClr val="1F497D"/>
                </a:solidFill>
                <a:latin typeface="Calibri" pitchFamily="34" charset="0"/>
                <a:ea typeface="Calibri" pitchFamily="34" charset="-122"/>
                <a:cs typeface="Calibri" pitchFamily="34" charset="-120"/>
              </a:rPr>
              <a:t>Evidence</a:t>
            </a:r>
            <a:endParaRPr lang="en-US" sz="1500" dirty="0"/>
          </a:p>
        </p:txBody>
      </p:sp>
      <p:sp>
        <p:nvSpPr>
          <p:cNvPr id="29" name="Text 26"/>
          <p:cNvSpPr txBox="1"/>
          <p:nvPr/>
        </p:nvSpPr>
        <p:spPr>
          <a:xfrm>
            <a:off x="2971800" y="4379976"/>
            <a:ext cx="5303520" cy="201168"/>
          </a:xfrm>
          <a:prstGeom prst="rect">
            <a:avLst/>
          </a:prstGeom>
          <a:noFill/>
          <a:ln/>
        </p:spPr>
        <p:txBody>
          <a:bodyPr wrap="square" lIns="508" tIns="508" rIns="508" bIns="508" rtlCol="0" anchor="ctr">
            <a:normAutofit/>
          </a:bodyPr>
          <a:lstStyle/>
          <a:p>
            <a:pPr algn="l" indent="0" marL="0">
              <a:buNone/>
            </a:pPr>
            <a:r>
              <a:rPr lang="en-US" sz="1400" dirty="0">
                <a:solidFill>
                  <a:srgbClr val="203040"/>
                </a:solidFill>
                <a:latin typeface="Calibri" pitchFamily="34" charset="0"/>
                <a:ea typeface="Calibri" pitchFamily="34" charset="-122"/>
                <a:cs typeface="Calibri" pitchFamily="34" charset="-120"/>
              </a:rPr>
              <a:t>What do logs prove?</a:t>
            </a:r>
            <a:endParaRPr lang="en-US" sz="1400" dirty="0"/>
          </a:p>
        </p:txBody>
      </p:sp>
      <p:sp>
        <p:nvSpPr>
          <p:cNvPr id="30" name="Shape 27"/>
          <p:cNvSpPr/>
          <p:nvPr/>
        </p:nvSpPr>
        <p:spPr>
          <a:xfrm>
            <a:off x="8458200" y="4507992"/>
            <a:ext cx="2423160" cy="0"/>
          </a:xfrm>
          <a:prstGeom prst="line">
            <a:avLst/>
          </a:prstGeom>
          <a:noFill/>
          <a:ln w="12700">
            <a:solidFill>
              <a:srgbClr val="CBD5E1"/>
            </a:solidFill>
            <a:prstDash val="solid"/>
            <a:headEnd type="none"/>
            <a:tailEnd type="none"/>
          </a:ln>
        </p:spPr>
      </p:sp>
      <p:sp>
        <p:nvSpPr>
          <p:cNvPr id="31" name="Shape 28"/>
          <p:cNvSpPr/>
          <p:nvPr/>
        </p:nvSpPr>
        <p:spPr>
          <a:xfrm>
            <a:off x="8458200" y="1828800"/>
            <a:ext cx="2560320" cy="1828800"/>
          </a:xfrm>
          <a:prstGeom prst="roundRect">
            <a:avLst/>
          </a:prstGeom>
          <a:solidFill>
            <a:srgbClr val="FFFFFF"/>
          </a:solidFill>
          <a:ln w="12700">
            <a:solidFill>
              <a:srgbClr val="1F497D"/>
            </a:solidFill>
            <a:prstDash val="solid"/>
          </a:ln>
        </p:spPr>
      </p:sp>
      <p:sp>
        <p:nvSpPr>
          <p:cNvPr id="32" name="Shape 29"/>
          <p:cNvSpPr/>
          <p:nvPr/>
        </p:nvSpPr>
        <p:spPr>
          <a:xfrm>
            <a:off x="8458200" y="1828800"/>
            <a:ext cx="100584" cy="1828800"/>
          </a:xfrm>
          <a:prstGeom prst="rect">
            <a:avLst/>
          </a:prstGeom>
          <a:solidFill>
            <a:srgbClr val="1F497D"/>
          </a:solidFill>
          <a:ln w="12700">
            <a:solidFill>
              <a:srgbClr val="1F497D"/>
            </a:solidFill>
            <a:prstDash val="solid"/>
          </a:ln>
        </p:spPr>
      </p:sp>
      <p:sp>
        <p:nvSpPr>
          <p:cNvPr id="33" name="Text 30"/>
          <p:cNvSpPr txBox="1"/>
          <p:nvPr/>
        </p:nvSpPr>
        <p:spPr>
          <a:xfrm>
            <a:off x="8695944" y="1938528"/>
            <a:ext cx="2212848" cy="237744"/>
          </a:xfrm>
          <a:prstGeom prst="rect">
            <a:avLst/>
          </a:prstGeom>
          <a:noFill/>
          <a:ln/>
        </p:spPr>
        <p:txBody>
          <a:bodyPr wrap="square" lIns="508" tIns="508" rIns="508" bIns="508" rtlCol="0" anchor="ctr">
            <a:normAutofit/>
          </a:bodyPr>
          <a:lstStyle/>
          <a:p>
            <a:pPr algn="l" indent="0" marL="0">
              <a:buNone/>
            </a:pPr>
            <a:r>
              <a:rPr lang="en-US" sz="1400" b="1" dirty="0">
                <a:solidFill>
                  <a:srgbClr val="1F497D"/>
                </a:solidFill>
                <a:latin typeface="Calibri" pitchFamily="34" charset="0"/>
                <a:ea typeface="Calibri" pitchFamily="34" charset="-122"/>
                <a:cs typeface="Calibri" pitchFamily="34" charset="-120"/>
              </a:rPr>
              <a:t>Instructor move</a:t>
            </a:r>
            <a:endParaRPr lang="en-US" sz="1400" dirty="0"/>
          </a:p>
        </p:txBody>
      </p:sp>
      <p:sp>
        <p:nvSpPr>
          <p:cNvPr id="34" name="Text 31"/>
          <p:cNvSpPr txBox="1"/>
          <p:nvPr/>
        </p:nvSpPr>
        <p:spPr>
          <a:xfrm>
            <a:off x="8695944" y="2240280"/>
            <a:ext cx="2212848" cy="1325880"/>
          </a:xfrm>
          <a:prstGeom prst="rect">
            <a:avLst/>
          </a:prstGeom>
          <a:noFill/>
          <a:ln/>
        </p:spPr>
        <p:txBody>
          <a:bodyPr wrap="square" lIns="508" tIns="508" rIns="508" bIns="508" rtlCol="0" anchor="t">
            <a:normAutofit/>
          </a:bodyPr>
          <a:lstStyle/>
          <a:p>
            <a:pPr algn="l" indent="0" marL="0">
              <a:buNone/>
            </a:pPr>
            <a:r>
              <a:rPr lang="en-US" sz="1250" dirty="0">
                <a:solidFill>
                  <a:srgbClr val="203040"/>
                </a:solidFill>
                <a:latin typeface="Calibri" pitchFamily="34" charset="0"/>
                <a:ea typeface="Calibri" pitchFamily="34" charset="-122"/>
                <a:cs typeface="Calibri" pitchFamily="34" charset="-120"/>
              </a:rPr>
              <a:t>When someone says “the key is valid,” ask: valid according to which check?</a:t>
            </a:r>
            <a:endParaRPr lang="en-US" sz="12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CAPSTONE DISCUSSION</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Choose the control that changes the outcome</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Teams solve one scenario and defend the tradeoff.</a:t>
            </a:r>
            <a:endParaRPr lang="en-US" sz="1250" dirty="0"/>
          </a:p>
        </p:txBody>
      </p:sp>
      <p:sp>
        <p:nvSpPr>
          <p:cNvPr id="6" name="Shape 3"/>
          <p:cNvSpPr/>
          <p:nvPr/>
        </p:nvSpPr>
        <p:spPr>
          <a:xfrm>
            <a:off x="594360" y="2057400"/>
            <a:ext cx="2057400" cy="2103120"/>
          </a:xfrm>
          <a:prstGeom prst="roundRect">
            <a:avLst/>
          </a:prstGeom>
          <a:solidFill>
            <a:srgbClr val="FFFFFF"/>
          </a:solidFill>
          <a:ln w="12700">
            <a:solidFill>
              <a:srgbClr val="C0504D"/>
            </a:solidFill>
            <a:prstDash val="solid"/>
          </a:ln>
        </p:spPr>
      </p:sp>
      <p:sp>
        <p:nvSpPr>
          <p:cNvPr id="7" name="Shape 4"/>
          <p:cNvSpPr/>
          <p:nvPr/>
        </p:nvSpPr>
        <p:spPr>
          <a:xfrm>
            <a:off x="1344168" y="2331720"/>
            <a:ext cx="530352" cy="530352"/>
          </a:xfrm>
          <a:prstGeom prst="ellipse">
            <a:avLst/>
          </a:prstGeom>
          <a:solidFill>
            <a:srgbClr val="C0504D"/>
          </a:solidFill>
          <a:ln w="12700">
            <a:solidFill>
              <a:srgbClr val="C0504D"/>
            </a:solidFill>
            <a:prstDash val="solid"/>
          </a:ln>
        </p:spPr>
      </p:sp>
      <p:sp>
        <p:nvSpPr>
          <p:cNvPr id="8" name="Text 5"/>
          <p:cNvSpPr txBox="1"/>
          <p:nvPr/>
        </p:nvSpPr>
        <p:spPr>
          <a:xfrm>
            <a:off x="1344168"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731520"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CA compromise</a:t>
            </a:r>
            <a:endParaRPr lang="en-US" sz="1500" dirty="0"/>
          </a:p>
        </p:txBody>
      </p:sp>
      <p:sp>
        <p:nvSpPr>
          <p:cNvPr id="10" name="Text 7"/>
          <p:cNvSpPr txBox="1"/>
          <p:nvPr/>
        </p:nvSpPr>
        <p:spPr>
          <a:xfrm>
            <a:off x="758952"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replace trust or issuer key</a:t>
            </a:r>
            <a:endParaRPr lang="en-US" sz="1150" dirty="0"/>
          </a:p>
        </p:txBody>
      </p:sp>
      <p:sp>
        <p:nvSpPr>
          <p:cNvPr id="11" name="Shape 8"/>
          <p:cNvSpPr/>
          <p:nvPr/>
        </p:nvSpPr>
        <p:spPr>
          <a:xfrm>
            <a:off x="2898648" y="2057400"/>
            <a:ext cx="2057400" cy="2103120"/>
          </a:xfrm>
          <a:prstGeom prst="roundRect">
            <a:avLst/>
          </a:prstGeom>
          <a:solidFill>
            <a:srgbClr val="FFFFFF"/>
          </a:solidFill>
          <a:ln w="12700">
            <a:solidFill>
              <a:srgbClr val="F79646"/>
            </a:solidFill>
            <a:prstDash val="solid"/>
          </a:ln>
        </p:spPr>
      </p:sp>
      <p:sp>
        <p:nvSpPr>
          <p:cNvPr id="12" name="Shape 9"/>
          <p:cNvSpPr/>
          <p:nvPr/>
        </p:nvSpPr>
        <p:spPr>
          <a:xfrm>
            <a:off x="3648456" y="2331720"/>
            <a:ext cx="530352" cy="530352"/>
          </a:xfrm>
          <a:prstGeom prst="ellipse">
            <a:avLst/>
          </a:prstGeom>
          <a:solidFill>
            <a:srgbClr val="F79646"/>
          </a:solidFill>
          <a:ln w="12700">
            <a:solidFill>
              <a:srgbClr val="F79646"/>
            </a:solidFill>
            <a:prstDash val="solid"/>
          </a:ln>
        </p:spPr>
      </p:sp>
      <p:sp>
        <p:nvSpPr>
          <p:cNvPr id="13" name="Text 10"/>
          <p:cNvSpPr txBox="1"/>
          <p:nvPr/>
        </p:nvSpPr>
        <p:spPr>
          <a:xfrm>
            <a:off x="3648456"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txBox="1"/>
          <p:nvPr/>
        </p:nvSpPr>
        <p:spPr>
          <a:xfrm>
            <a:off x="3035808"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MFA outage</a:t>
            </a:r>
            <a:endParaRPr lang="en-US" sz="1500" dirty="0"/>
          </a:p>
        </p:txBody>
      </p:sp>
      <p:sp>
        <p:nvSpPr>
          <p:cNvPr id="15" name="Text 12"/>
          <p:cNvSpPr txBox="1"/>
          <p:nvPr/>
        </p:nvSpPr>
        <p:spPr>
          <a:xfrm>
            <a:off x="3063240"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safe recovery path</a:t>
            </a:r>
            <a:endParaRPr lang="en-US" sz="1150" dirty="0"/>
          </a:p>
        </p:txBody>
      </p:sp>
      <p:sp>
        <p:nvSpPr>
          <p:cNvPr id="16" name="Shape 13"/>
          <p:cNvSpPr/>
          <p:nvPr/>
        </p:nvSpPr>
        <p:spPr>
          <a:xfrm>
            <a:off x="5202936" y="2057400"/>
            <a:ext cx="2057400" cy="2103120"/>
          </a:xfrm>
          <a:prstGeom prst="roundRect">
            <a:avLst/>
          </a:prstGeom>
          <a:solidFill>
            <a:srgbClr val="FFFFFF"/>
          </a:solidFill>
          <a:ln w="12700">
            <a:solidFill>
              <a:srgbClr val="4F81BD"/>
            </a:solidFill>
            <a:prstDash val="solid"/>
          </a:ln>
        </p:spPr>
      </p:sp>
      <p:sp>
        <p:nvSpPr>
          <p:cNvPr id="17" name="Shape 14"/>
          <p:cNvSpPr/>
          <p:nvPr/>
        </p:nvSpPr>
        <p:spPr>
          <a:xfrm>
            <a:off x="5952744" y="2331720"/>
            <a:ext cx="530352" cy="530352"/>
          </a:xfrm>
          <a:prstGeom prst="ellipse">
            <a:avLst/>
          </a:prstGeom>
          <a:solidFill>
            <a:srgbClr val="4F81BD"/>
          </a:solidFill>
          <a:ln w="12700">
            <a:solidFill>
              <a:srgbClr val="4F81BD"/>
            </a:solidFill>
            <a:prstDash val="solid"/>
          </a:ln>
        </p:spPr>
      </p:sp>
      <p:sp>
        <p:nvSpPr>
          <p:cNvPr id="18" name="Text 15"/>
          <p:cNvSpPr txBox="1"/>
          <p:nvPr/>
        </p:nvSpPr>
        <p:spPr>
          <a:xfrm>
            <a:off x="5952744"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6"/>
          <p:cNvSpPr txBox="1"/>
          <p:nvPr/>
        </p:nvSpPr>
        <p:spPr>
          <a:xfrm>
            <a:off x="5340096"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Vendor access</a:t>
            </a:r>
            <a:endParaRPr lang="en-US" sz="1500" dirty="0"/>
          </a:p>
        </p:txBody>
      </p:sp>
      <p:sp>
        <p:nvSpPr>
          <p:cNvPr id="20" name="Text 17"/>
          <p:cNvSpPr txBox="1"/>
          <p:nvPr/>
        </p:nvSpPr>
        <p:spPr>
          <a:xfrm>
            <a:off x="5367528"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disable and review</a:t>
            </a:r>
            <a:endParaRPr lang="en-US" sz="1150" dirty="0"/>
          </a:p>
        </p:txBody>
      </p:sp>
      <p:sp>
        <p:nvSpPr>
          <p:cNvPr id="21" name="Shape 18"/>
          <p:cNvSpPr/>
          <p:nvPr/>
        </p:nvSpPr>
        <p:spPr>
          <a:xfrm>
            <a:off x="7507224" y="2057400"/>
            <a:ext cx="2057400" cy="2103120"/>
          </a:xfrm>
          <a:prstGeom prst="roundRect">
            <a:avLst/>
          </a:prstGeom>
          <a:solidFill>
            <a:srgbClr val="FFFFFF"/>
          </a:solidFill>
          <a:ln w="12700">
            <a:solidFill>
              <a:srgbClr val="8064A2"/>
            </a:solidFill>
            <a:prstDash val="solid"/>
          </a:ln>
        </p:spPr>
      </p:sp>
      <p:sp>
        <p:nvSpPr>
          <p:cNvPr id="22" name="Shape 19"/>
          <p:cNvSpPr/>
          <p:nvPr/>
        </p:nvSpPr>
        <p:spPr>
          <a:xfrm>
            <a:off x="8257032" y="2331720"/>
            <a:ext cx="530352" cy="530352"/>
          </a:xfrm>
          <a:prstGeom prst="ellipse">
            <a:avLst/>
          </a:prstGeom>
          <a:solidFill>
            <a:srgbClr val="8064A2"/>
          </a:solidFill>
          <a:ln w="12700">
            <a:solidFill>
              <a:srgbClr val="8064A2"/>
            </a:solidFill>
            <a:prstDash val="solid"/>
          </a:ln>
        </p:spPr>
      </p:sp>
      <p:sp>
        <p:nvSpPr>
          <p:cNvPr id="23" name="Text 20"/>
          <p:cNvSpPr txBox="1"/>
          <p:nvPr/>
        </p:nvSpPr>
        <p:spPr>
          <a:xfrm>
            <a:off x="8257032"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1"/>
          <p:cNvSpPr txBox="1"/>
          <p:nvPr/>
        </p:nvSpPr>
        <p:spPr>
          <a:xfrm>
            <a:off x="7644384"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BYOD loss</a:t>
            </a:r>
            <a:endParaRPr lang="en-US" sz="1500" dirty="0"/>
          </a:p>
        </p:txBody>
      </p:sp>
      <p:sp>
        <p:nvSpPr>
          <p:cNvPr id="25" name="Text 22"/>
          <p:cNvSpPr txBox="1"/>
          <p:nvPr/>
        </p:nvSpPr>
        <p:spPr>
          <a:xfrm>
            <a:off x="7671816"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revoke and contain</a:t>
            </a:r>
            <a:endParaRPr lang="en-US" sz="1150" dirty="0"/>
          </a:p>
        </p:txBody>
      </p:sp>
      <p:sp>
        <p:nvSpPr>
          <p:cNvPr id="26" name="Shape 23"/>
          <p:cNvSpPr/>
          <p:nvPr/>
        </p:nvSpPr>
        <p:spPr>
          <a:xfrm>
            <a:off x="9811512" y="2057400"/>
            <a:ext cx="2057400" cy="2103120"/>
          </a:xfrm>
          <a:prstGeom prst="roundRect">
            <a:avLst/>
          </a:prstGeom>
          <a:solidFill>
            <a:srgbClr val="FFFFFF"/>
          </a:solidFill>
          <a:ln w="12700">
            <a:solidFill>
              <a:srgbClr val="70AD47"/>
            </a:solidFill>
            <a:prstDash val="solid"/>
          </a:ln>
        </p:spPr>
      </p:sp>
      <p:sp>
        <p:nvSpPr>
          <p:cNvPr id="27" name="Shape 24"/>
          <p:cNvSpPr/>
          <p:nvPr/>
        </p:nvSpPr>
        <p:spPr>
          <a:xfrm>
            <a:off x="10561320" y="2331720"/>
            <a:ext cx="530352" cy="530352"/>
          </a:xfrm>
          <a:prstGeom prst="ellipse">
            <a:avLst/>
          </a:prstGeom>
          <a:solidFill>
            <a:srgbClr val="70AD47"/>
          </a:solidFill>
          <a:ln w="12700">
            <a:solidFill>
              <a:srgbClr val="70AD47"/>
            </a:solidFill>
            <a:prstDash val="solid"/>
          </a:ln>
        </p:spPr>
      </p:sp>
      <p:sp>
        <p:nvSpPr>
          <p:cNvPr id="28" name="Text 25"/>
          <p:cNvSpPr txBox="1"/>
          <p:nvPr/>
        </p:nvSpPr>
        <p:spPr>
          <a:xfrm>
            <a:off x="10561320" y="2505456"/>
            <a:ext cx="530352" cy="146304"/>
          </a:xfrm>
          <a:prstGeom prst="rect">
            <a:avLst/>
          </a:prstGeom>
          <a:noFill/>
          <a:ln/>
        </p:spPr>
        <p:txBody>
          <a:bodyPr wrap="square" lIns="508" tIns="508" rIns="508" bIns="508" rtlCol="0" anchor="ctr">
            <a:normAutofit/>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6"/>
          <p:cNvSpPr txBox="1"/>
          <p:nvPr/>
        </p:nvSpPr>
        <p:spPr>
          <a:xfrm>
            <a:off x="9948672" y="3063240"/>
            <a:ext cx="1783080" cy="256032"/>
          </a:xfrm>
          <a:prstGeom prst="rect">
            <a:avLst/>
          </a:prstGeom>
          <a:noFill/>
          <a:ln/>
        </p:spPr>
        <p:txBody>
          <a:bodyPr wrap="square" lIns="508" tIns="508" rIns="508" bIns="508" rtlCol="0" anchor="ctr">
            <a:normAutofit/>
          </a:bodyPr>
          <a:lstStyle/>
          <a:p>
            <a:pPr algn="ctr" indent="0" marL="0">
              <a:buNone/>
            </a:pPr>
            <a:r>
              <a:rPr lang="en-US" sz="1500" b="1" dirty="0">
                <a:solidFill>
                  <a:srgbClr val="1F497D"/>
                </a:solidFill>
                <a:latin typeface="Calibri" pitchFamily="34" charset="0"/>
                <a:ea typeface="Calibri" pitchFamily="34" charset="-122"/>
                <a:cs typeface="Calibri" pitchFamily="34" charset="-120"/>
              </a:rPr>
              <a:t>Policy debt</a:t>
            </a:r>
            <a:endParaRPr lang="en-US" sz="1500" dirty="0"/>
          </a:p>
        </p:txBody>
      </p:sp>
      <p:sp>
        <p:nvSpPr>
          <p:cNvPr id="30" name="Text 27"/>
          <p:cNvSpPr txBox="1"/>
          <p:nvPr/>
        </p:nvSpPr>
        <p:spPr>
          <a:xfrm>
            <a:off x="9976104" y="3493008"/>
            <a:ext cx="1737360" cy="384048"/>
          </a:xfrm>
          <a:prstGeom prst="rect">
            <a:avLst/>
          </a:prstGeom>
          <a:noFill/>
          <a:ln/>
        </p:spPr>
        <p:txBody>
          <a:bodyPr wrap="square" lIns="508" tIns="508" rIns="508" bIns="508" rtlCol="0" anchor="ctr">
            <a:normAutofit/>
          </a:bodyPr>
          <a:lstStyle/>
          <a:p>
            <a:pPr algn="ctr" indent="0" marL="0">
              <a:buNone/>
            </a:pPr>
            <a:r>
              <a:rPr lang="en-US" sz="1150" dirty="0">
                <a:solidFill>
                  <a:srgbClr val="64748B"/>
                </a:solidFill>
                <a:latin typeface="Calibri" pitchFamily="34" charset="0"/>
                <a:ea typeface="Calibri" pitchFamily="34" charset="-122"/>
                <a:cs typeface="Calibri" pitchFamily="34" charset="-120"/>
              </a:rPr>
              <a:t>owner and expiry</a:t>
            </a:r>
            <a:endParaRPr lang="en-US" sz="1150" dirty="0"/>
          </a:p>
        </p:txBody>
      </p:sp>
      <p:sp>
        <p:nvSpPr>
          <p:cNvPr id="31" name="Shape 28"/>
          <p:cNvSpPr/>
          <p:nvPr/>
        </p:nvSpPr>
        <p:spPr>
          <a:xfrm>
            <a:off x="3886200" y="4892040"/>
            <a:ext cx="4389120" cy="274320"/>
          </a:xfrm>
          <a:prstGeom prst="roundRect">
            <a:avLst/>
          </a:prstGeom>
          <a:solidFill>
            <a:srgbClr val="F79646"/>
          </a:solidFill>
          <a:ln w="12700">
            <a:solidFill>
              <a:srgbClr val="F79646"/>
            </a:solidFill>
            <a:prstDash val="solid"/>
          </a:ln>
        </p:spPr>
      </p:sp>
      <p:sp>
        <p:nvSpPr>
          <p:cNvPr id="32" name="Text 29"/>
          <p:cNvSpPr txBox="1"/>
          <p:nvPr/>
        </p:nvSpPr>
        <p:spPr>
          <a:xfrm>
            <a:off x="3959352" y="4910328"/>
            <a:ext cx="4242816" cy="219456"/>
          </a:xfrm>
          <a:prstGeom prst="rect">
            <a:avLst/>
          </a:prstGeom>
          <a:noFill/>
          <a:ln/>
        </p:spPr>
        <p:txBody>
          <a:bodyPr wrap="square" lIns="508" tIns="508" rIns="508" bIns="508" rtlCol="0" anchor="ctr">
            <a:normAutofit/>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GROUP DISCUSSION · 8 MIN</a:t>
            </a:r>
            <a:endParaRPr lang="en-US" sz="10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EXIT TICKET</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Six questions to leave with</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Answer in one sentence each.</a:t>
            </a:r>
            <a:endParaRPr lang="en-US" sz="1250" dirty="0"/>
          </a:p>
        </p:txBody>
      </p:sp>
      <p:sp>
        <p:nvSpPr>
          <p:cNvPr id="6" name="Shape 3"/>
          <p:cNvSpPr/>
          <p:nvPr/>
        </p:nvSpPr>
        <p:spPr>
          <a:xfrm>
            <a:off x="731520" y="1847088"/>
            <a:ext cx="347472" cy="347472"/>
          </a:xfrm>
          <a:prstGeom prst="ellipse">
            <a:avLst/>
          </a:prstGeom>
          <a:solidFill>
            <a:srgbClr val="4BACC6"/>
          </a:solidFill>
          <a:ln w="12700">
            <a:solidFill>
              <a:srgbClr val="4BACC6"/>
            </a:solidFill>
            <a:prstDash val="solid"/>
          </a:ln>
        </p:spPr>
      </p:sp>
      <p:sp>
        <p:nvSpPr>
          <p:cNvPr id="7" name="Text 4"/>
          <p:cNvSpPr txBox="1"/>
          <p:nvPr/>
        </p:nvSpPr>
        <p:spPr>
          <a:xfrm>
            <a:off x="731520" y="194767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txBox="1"/>
          <p:nvPr/>
        </p:nvSpPr>
        <p:spPr>
          <a:xfrm>
            <a:off x="1261872" y="178308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does authentication prove?</a:t>
            </a:r>
            <a:endParaRPr lang="en-US" sz="1650" dirty="0"/>
          </a:p>
        </p:txBody>
      </p:sp>
      <p:sp>
        <p:nvSpPr>
          <p:cNvPr id="9" name="Shape 6"/>
          <p:cNvSpPr/>
          <p:nvPr/>
        </p:nvSpPr>
        <p:spPr>
          <a:xfrm>
            <a:off x="1261872" y="2313432"/>
            <a:ext cx="4544568" cy="0"/>
          </a:xfrm>
          <a:prstGeom prst="line">
            <a:avLst/>
          </a:prstGeom>
          <a:noFill/>
          <a:ln w="12700">
            <a:solidFill>
              <a:srgbClr val="CBD5E1"/>
            </a:solidFill>
            <a:prstDash val="solid"/>
            <a:headEnd type="none"/>
            <a:tailEnd type="none"/>
          </a:ln>
        </p:spPr>
      </p:sp>
      <p:sp>
        <p:nvSpPr>
          <p:cNvPr id="10" name="Shape 7"/>
          <p:cNvSpPr/>
          <p:nvPr/>
        </p:nvSpPr>
        <p:spPr>
          <a:xfrm>
            <a:off x="6217920" y="1847088"/>
            <a:ext cx="347472" cy="347472"/>
          </a:xfrm>
          <a:prstGeom prst="ellipse">
            <a:avLst/>
          </a:prstGeom>
          <a:solidFill>
            <a:srgbClr val="4F81BD"/>
          </a:solidFill>
          <a:ln w="12700">
            <a:solidFill>
              <a:srgbClr val="4F81BD"/>
            </a:solidFill>
            <a:prstDash val="solid"/>
          </a:ln>
        </p:spPr>
      </p:sp>
      <p:sp>
        <p:nvSpPr>
          <p:cNvPr id="11" name="Text 8"/>
          <p:cNvSpPr txBox="1"/>
          <p:nvPr/>
        </p:nvSpPr>
        <p:spPr>
          <a:xfrm>
            <a:off x="6217920" y="194767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txBox="1"/>
          <p:nvPr/>
        </p:nvSpPr>
        <p:spPr>
          <a:xfrm>
            <a:off x="6748272" y="178308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does authorization add?</a:t>
            </a:r>
            <a:endParaRPr lang="en-US" sz="1650" dirty="0"/>
          </a:p>
        </p:txBody>
      </p:sp>
      <p:sp>
        <p:nvSpPr>
          <p:cNvPr id="13" name="Shape 10"/>
          <p:cNvSpPr/>
          <p:nvPr/>
        </p:nvSpPr>
        <p:spPr>
          <a:xfrm>
            <a:off x="6748272" y="2313432"/>
            <a:ext cx="4544568" cy="0"/>
          </a:xfrm>
          <a:prstGeom prst="line">
            <a:avLst/>
          </a:prstGeom>
          <a:noFill/>
          <a:ln w="12700">
            <a:solidFill>
              <a:srgbClr val="CBD5E1"/>
            </a:solidFill>
            <a:prstDash val="solid"/>
            <a:headEnd type="none"/>
            <a:tailEnd type="none"/>
          </a:ln>
        </p:spPr>
      </p:sp>
      <p:sp>
        <p:nvSpPr>
          <p:cNvPr id="14" name="Shape 11"/>
          <p:cNvSpPr/>
          <p:nvPr/>
        </p:nvSpPr>
        <p:spPr>
          <a:xfrm>
            <a:off x="731520" y="2944368"/>
            <a:ext cx="347472" cy="347472"/>
          </a:xfrm>
          <a:prstGeom prst="ellipse">
            <a:avLst/>
          </a:prstGeom>
          <a:solidFill>
            <a:srgbClr val="F79646"/>
          </a:solidFill>
          <a:ln w="12700">
            <a:solidFill>
              <a:srgbClr val="F79646"/>
            </a:solidFill>
            <a:prstDash val="solid"/>
          </a:ln>
        </p:spPr>
      </p:sp>
      <p:sp>
        <p:nvSpPr>
          <p:cNvPr id="15" name="Text 12"/>
          <p:cNvSpPr txBox="1"/>
          <p:nvPr/>
        </p:nvSpPr>
        <p:spPr>
          <a:xfrm>
            <a:off x="731520" y="304495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txBox="1"/>
          <p:nvPr/>
        </p:nvSpPr>
        <p:spPr>
          <a:xfrm>
            <a:off x="1261872" y="288036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limits an SSH certificate?</a:t>
            </a:r>
            <a:endParaRPr lang="en-US" sz="1650" dirty="0"/>
          </a:p>
        </p:txBody>
      </p:sp>
      <p:sp>
        <p:nvSpPr>
          <p:cNvPr id="17" name="Shape 14"/>
          <p:cNvSpPr/>
          <p:nvPr/>
        </p:nvSpPr>
        <p:spPr>
          <a:xfrm>
            <a:off x="1261872" y="3410712"/>
            <a:ext cx="4544568" cy="0"/>
          </a:xfrm>
          <a:prstGeom prst="line">
            <a:avLst/>
          </a:prstGeom>
          <a:noFill/>
          <a:ln w="12700">
            <a:solidFill>
              <a:srgbClr val="CBD5E1"/>
            </a:solidFill>
            <a:prstDash val="solid"/>
            <a:headEnd type="none"/>
            <a:tailEnd type="none"/>
          </a:ln>
        </p:spPr>
      </p:sp>
      <p:sp>
        <p:nvSpPr>
          <p:cNvPr id="18" name="Shape 15"/>
          <p:cNvSpPr/>
          <p:nvPr/>
        </p:nvSpPr>
        <p:spPr>
          <a:xfrm>
            <a:off x="6217920" y="2944368"/>
            <a:ext cx="347472" cy="347472"/>
          </a:xfrm>
          <a:prstGeom prst="ellipse">
            <a:avLst/>
          </a:prstGeom>
          <a:solidFill>
            <a:srgbClr val="8064A2"/>
          </a:solidFill>
          <a:ln w="12700">
            <a:solidFill>
              <a:srgbClr val="8064A2"/>
            </a:solidFill>
            <a:prstDash val="solid"/>
          </a:ln>
        </p:spPr>
      </p:sp>
      <p:sp>
        <p:nvSpPr>
          <p:cNvPr id="19" name="Text 16"/>
          <p:cNvSpPr txBox="1"/>
          <p:nvPr/>
        </p:nvSpPr>
        <p:spPr>
          <a:xfrm>
            <a:off x="6217920" y="304495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txBox="1"/>
          <p:nvPr/>
        </p:nvSpPr>
        <p:spPr>
          <a:xfrm>
            <a:off x="6748272" y="288036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Why is enrollment part of MFA security?</a:t>
            </a:r>
            <a:endParaRPr lang="en-US" sz="1650" dirty="0"/>
          </a:p>
        </p:txBody>
      </p:sp>
      <p:sp>
        <p:nvSpPr>
          <p:cNvPr id="21" name="Shape 18"/>
          <p:cNvSpPr/>
          <p:nvPr/>
        </p:nvSpPr>
        <p:spPr>
          <a:xfrm>
            <a:off x="6748272" y="3410712"/>
            <a:ext cx="4544568" cy="0"/>
          </a:xfrm>
          <a:prstGeom prst="line">
            <a:avLst/>
          </a:prstGeom>
          <a:noFill/>
          <a:ln w="12700">
            <a:solidFill>
              <a:srgbClr val="CBD5E1"/>
            </a:solidFill>
            <a:prstDash val="solid"/>
            <a:headEnd type="none"/>
            <a:tailEnd type="none"/>
          </a:ln>
        </p:spPr>
      </p:sp>
      <p:sp>
        <p:nvSpPr>
          <p:cNvPr id="22" name="Shape 19"/>
          <p:cNvSpPr/>
          <p:nvPr/>
        </p:nvSpPr>
        <p:spPr>
          <a:xfrm>
            <a:off x="731520" y="4041648"/>
            <a:ext cx="347472" cy="347472"/>
          </a:xfrm>
          <a:prstGeom prst="ellipse">
            <a:avLst/>
          </a:prstGeom>
          <a:solidFill>
            <a:srgbClr val="70AD47"/>
          </a:solidFill>
          <a:ln w="12700">
            <a:solidFill>
              <a:srgbClr val="70AD47"/>
            </a:solidFill>
            <a:prstDash val="solid"/>
          </a:ln>
        </p:spPr>
      </p:sp>
      <p:sp>
        <p:nvSpPr>
          <p:cNvPr id="23" name="Text 20"/>
          <p:cNvSpPr txBox="1"/>
          <p:nvPr/>
        </p:nvSpPr>
        <p:spPr>
          <a:xfrm>
            <a:off x="731520" y="414223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txBox="1"/>
          <p:nvPr/>
        </p:nvSpPr>
        <p:spPr>
          <a:xfrm>
            <a:off x="1261872" y="397764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How does least privilege become enforceable?</a:t>
            </a:r>
            <a:endParaRPr lang="en-US" sz="1650" dirty="0"/>
          </a:p>
        </p:txBody>
      </p:sp>
      <p:sp>
        <p:nvSpPr>
          <p:cNvPr id="25" name="Shape 22"/>
          <p:cNvSpPr/>
          <p:nvPr/>
        </p:nvSpPr>
        <p:spPr>
          <a:xfrm>
            <a:off x="1261872" y="4507992"/>
            <a:ext cx="4544568" cy="0"/>
          </a:xfrm>
          <a:prstGeom prst="line">
            <a:avLst/>
          </a:prstGeom>
          <a:noFill/>
          <a:ln w="12700">
            <a:solidFill>
              <a:srgbClr val="CBD5E1"/>
            </a:solidFill>
            <a:prstDash val="solid"/>
            <a:headEnd type="none"/>
            <a:tailEnd type="none"/>
          </a:ln>
        </p:spPr>
      </p:sp>
      <p:sp>
        <p:nvSpPr>
          <p:cNvPr id="26" name="Shape 23"/>
          <p:cNvSpPr/>
          <p:nvPr/>
        </p:nvSpPr>
        <p:spPr>
          <a:xfrm>
            <a:off x="6217920" y="4041648"/>
            <a:ext cx="347472" cy="347472"/>
          </a:xfrm>
          <a:prstGeom prst="ellipse">
            <a:avLst/>
          </a:prstGeom>
          <a:solidFill>
            <a:srgbClr val="C0504D"/>
          </a:solidFill>
          <a:ln w="12700">
            <a:solidFill>
              <a:srgbClr val="C0504D"/>
            </a:solidFill>
            <a:prstDash val="solid"/>
          </a:ln>
        </p:spPr>
      </p:sp>
      <p:sp>
        <p:nvSpPr>
          <p:cNvPr id="27" name="Text 24"/>
          <p:cNvSpPr txBox="1"/>
          <p:nvPr/>
        </p:nvSpPr>
        <p:spPr>
          <a:xfrm>
            <a:off x="6217920" y="4142232"/>
            <a:ext cx="347472" cy="128016"/>
          </a:xfrm>
          <a:prstGeom prst="rect">
            <a:avLst/>
          </a:prstGeom>
          <a:noFill/>
          <a:ln/>
        </p:spPr>
        <p:txBody>
          <a:bodyPr wrap="square" lIns="508" tIns="508" rIns="508" bIns="508"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txBox="1"/>
          <p:nvPr/>
        </p:nvSpPr>
        <p:spPr>
          <a:xfrm>
            <a:off x="6748272" y="3977640"/>
            <a:ext cx="4572000" cy="256032"/>
          </a:xfrm>
          <a:prstGeom prst="rect">
            <a:avLst/>
          </a:prstGeom>
          <a:noFill/>
          <a:ln/>
        </p:spPr>
        <p:txBody>
          <a:bodyPr wrap="square" lIns="508" tIns="508" rIns="508" bIns="508" rtlCol="0" anchor="ctr">
            <a:normAutofit/>
          </a:bodyPr>
          <a:lstStyle/>
          <a:p>
            <a:pPr algn="l" indent="0" marL="0">
              <a:buNone/>
            </a:pPr>
            <a:r>
              <a:rPr lang="en-US" sz="1650" b="1" dirty="0">
                <a:solidFill>
                  <a:srgbClr val="1F497D"/>
                </a:solidFill>
                <a:latin typeface="Calibri" pitchFamily="34" charset="0"/>
                <a:ea typeface="Calibri" pitchFamily="34" charset="-122"/>
                <a:cs typeface="Calibri" pitchFamily="34" charset="-120"/>
              </a:rPr>
              <a:t>What makes an exception accountable?</a:t>
            </a:r>
            <a:endParaRPr lang="en-US" sz="1650" dirty="0"/>
          </a:p>
        </p:txBody>
      </p:sp>
      <p:sp>
        <p:nvSpPr>
          <p:cNvPr id="29" name="Shape 26"/>
          <p:cNvSpPr/>
          <p:nvPr/>
        </p:nvSpPr>
        <p:spPr>
          <a:xfrm>
            <a:off x="6748272" y="4507992"/>
            <a:ext cx="4544568" cy="0"/>
          </a:xfrm>
          <a:prstGeom prst="line">
            <a:avLst/>
          </a:prstGeom>
          <a:noFill/>
          <a:ln w="12700">
            <a:solidFill>
              <a:srgbClr val="CBD5E1"/>
            </a:solidFill>
            <a:prstDash val="solid"/>
            <a:headEnd type="none"/>
            <a:tailEnd type="none"/>
          </a:ln>
        </p:spPr>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320040"/>
            <a:ext cx="3931920" cy="201168"/>
          </a:xfrm>
          <a:prstGeom prst="rect">
            <a:avLst/>
          </a:prstGeom>
          <a:noFill/>
          <a:ln/>
        </p:spPr>
        <p:txBody>
          <a:bodyPr wrap="square" lIns="508" tIns="508" rIns="508" bIns="508" rtlCol="0" anchor="ctr">
            <a:normAutofit/>
          </a:bodyPr>
          <a:lstStyle/>
          <a:p>
            <a:pPr algn="l" indent="0" marL="0">
              <a:buNone/>
            </a:pPr>
            <a:r>
              <a:rPr lang="en-US" sz="1000" b="1" spc="120" kern="0" dirty="0">
                <a:solidFill>
                  <a:srgbClr val="4BACC6"/>
                </a:solidFill>
                <a:latin typeface="Calibri" pitchFamily="34" charset="0"/>
                <a:ea typeface="Calibri" pitchFamily="34" charset="-122"/>
                <a:cs typeface="Calibri" pitchFamily="34" charset="-120"/>
              </a:rPr>
              <a:t>REFERENCES</a:t>
            </a:r>
            <a:endParaRPr lang="en-US" sz="1000" dirty="0"/>
          </a:p>
        </p:txBody>
      </p:sp>
      <p:sp>
        <p:nvSpPr>
          <p:cNvPr id="3" name="Text 1"/>
          <p:cNvSpPr txBox="1"/>
          <p:nvPr/>
        </p:nvSpPr>
        <p:spPr>
          <a:xfrm>
            <a:off x="502920" y="566928"/>
            <a:ext cx="10972800" cy="512064"/>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Primary sources for the instructor</a:t>
            </a:r>
            <a:endParaRPr lang="en-US" sz="2700" dirty="0"/>
          </a:p>
        </p:txBody>
      </p:sp>
      <p:sp>
        <p:nvSpPr>
          <p:cNvPr id="4" name="Text 2"/>
          <p:cNvSpPr txBox="1"/>
          <p:nvPr/>
        </p:nvSpPr>
        <p:spPr>
          <a:xfrm>
            <a:off x="530352" y="1115568"/>
            <a:ext cx="10698480" cy="310896"/>
          </a:xfrm>
          <a:prstGeom prst="rect">
            <a:avLst/>
          </a:prstGeom>
          <a:noFill/>
          <a:ln/>
        </p:spPr>
        <p:txBody>
          <a:bodyPr wrap="square" lIns="508" tIns="508" rIns="508" bIns="508" rtlCol="0" anchor="ctr">
            <a:normAutofit/>
          </a:bodyPr>
          <a:lstStyle/>
          <a:p>
            <a:pPr algn="l" indent="0" marL="0">
              <a:buNone/>
            </a:pPr>
            <a:r>
              <a:rPr lang="en-US" sz="1250" dirty="0">
                <a:solidFill>
                  <a:srgbClr val="64748B"/>
                </a:solidFill>
                <a:latin typeface="Calibri" pitchFamily="34" charset="0"/>
                <a:ea typeface="Calibri" pitchFamily="34" charset="-122"/>
                <a:cs typeface="Calibri" pitchFamily="34" charset="-120"/>
              </a:rPr>
              <a:t>Use the standards as the why, configuration as the how, and logs as the evidence.</a:t>
            </a:r>
            <a:endParaRPr lang="en-US" sz="1250" dirty="0"/>
          </a:p>
        </p:txBody>
      </p:sp>
      <p:sp>
        <p:nvSpPr>
          <p:cNvPr id="6" name="Shape 3"/>
          <p:cNvSpPr/>
          <p:nvPr/>
        </p:nvSpPr>
        <p:spPr>
          <a:xfrm>
            <a:off x="640080" y="1700784"/>
            <a:ext cx="5074920" cy="530352"/>
          </a:xfrm>
          <a:prstGeom prst="roundRect">
            <a:avLst/>
          </a:prstGeom>
          <a:solidFill>
            <a:srgbClr val="FFFFFF"/>
          </a:solidFill>
          <a:ln w="12700">
            <a:solidFill>
              <a:srgbClr val="4BACC6"/>
            </a:solidFill>
            <a:prstDash val="solid"/>
          </a:ln>
        </p:spPr>
      </p:sp>
      <p:sp>
        <p:nvSpPr>
          <p:cNvPr id="7" name="Text 4"/>
          <p:cNvSpPr txBox="1"/>
          <p:nvPr/>
        </p:nvSpPr>
        <p:spPr>
          <a:xfrm>
            <a:off x="777240" y="1792224"/>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Zero Trust</a:t>
            </a:r>
            <a:endParaRPr lang="en-US" sz="1150" dirty="0"/>
          </a:p>
        </p:txBody>
      </p:sp>
      <p:sp>
        <p:nvSpPr>
          <p:cNvPr id="8" name="Text 5"/>
          <p:cNvSpPr txBox="1"/>
          <p:nvPr/>
        </p:nvSpPr>
        <p:spPr>
          <a:xfrm>
            <a:off x="2240280" y="1792224"/>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NIST SP 800-207</a:t>
            </a:r>
            <a:endParaRPr lang="en-US" sz="1150" dirty="0"/>
          </a:p>
        </p:txBody>
      </p:sp>
      <p:sp>
        <p:nvSpPr>
          <p:cNvPr id="9" name="Text 6"/>
          <p:cNvSpPr txBox="1"/>
          <p:nvPr/>
        </p:nvSpPr>
        <p:spPr>
          <a:xfrm>
            <a:off x="3794760" y="1792224"/>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csrc.nist.gov/pubs/sp/800/207/final</a:t>
            </a:r>
            <a:endParaRPr lang="en-US" sz="950" dirty="0"/>
          </a:p>
        </p:txBody>
      </p:sp>
      <p:sp>
        <p:nvSpPr>
          <p:cNvPr id="10" name="Shape 7"/>
          <p:cNvSpPr/>
          <p:nvPr/>
        </p:nvSpPr>
        <p:spPr>
          <a:xfrm>
            <a:off x="6263640" y="1700784"/>
            <a:ext cx="5074920" cy="530352"/>
          </a:xfrm>
          <a:prstGeom prst="roundRect">
            <a:avLst/>
          </a:prstGeom>
          <a:solidFill>
            <a:srgbClr val="FFFFFF"/>
          </a:solidFill>
          <a:ln w="12700">
            <a:solidFill>
              <a:srgbClr val="4F81BD"/>
            </a:solidFill>
            <a:prstDash val="solid"/>
          </a:ln>
        </p:spPr>
      </p:sp>
      <p:sp>
        <p:nvSpPr>
          <p:cNvPr id="11" name="Text 8"/>
          <p:cNvSpPr txBox="1"/>
          <p:nvPr/>
        </p:nvSpPr>
        <p:spPr>
          <a:xfrm>
            <a:off x="6400800" y="1792224"/>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Authentication</a:t>
            </a:r>
            <a:endParaRPr lang="en-US" sz="1150" dirty="0"/>
          </a:p>
        </p:txBody>
      </p:sp>
      <p:sp>
        <p:nvSpPr>
          <p:cNvPr id="12" name="Text 9"/>
          <p:cNvSpPr txBox="1"/>
          <p:nvPr/>
        </p:nvSpPr>
        <p:spPr>
          <a:xfrm>
            <a:off x="7863840" y="1792224"/>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NIST SP 800-63B</a:t>
            </a:r>
            <a:endParaRPr lang="en-US" sz="1150" dirty="0"/>
          </a:p>
        </p:txBody>
      </p:sp>
      <p:sp>
        <p:nvSpPr>
          <p:cNvPr id="13" name="Text 10"/>
          <p:cNvSpPr txBox="1"/>
          <p:nvPr/>
        </p:nvSpPr>
        <p:spPr>
          <a:xfrm>
            <a:off x="9418320" y="1792224"/>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pages.nist.gov/800-63-4/sp800-63b.html</a:t>
            </a:r>
            <a:endParaRPr lang="en-US" sz="950" dirty="0"/>
          </a:p>
        </p:txBody>
      </p:sp>
      <p:sp>
        <p:nvSpPr>
          <p:cNvPr id="14" name="Shape 11"/>
          <p:cNvSpPr/>
          <p:nvPr/>
        </p:nvSpPr>
        <p:spPr>
          <a:xfrm>
            <a:off x="640080" y="2542032"/>
            <a:ext cx="5074920" cy="530352"/>
          </a:xfrm>
          <a:prstGeom prst="roundRect">
            <a:avLst/>
          </a:prstGeom>
          <a:solidFill>
            <a:srgbClr val="FFFFFF"/>
          </a:solidFill>
          <a:ln w="12700">
            <a:solidFill>
              <a:srgbClr val="F79646"/>
            </a:solidFill>
            <a:prstDash val="solid"/>
          </a:ln>
        </p:spPr>
      </p:sp>
      <p:sp>
        <p:nvSpPr>
          <p:cNvPr id="15" name="Text 12"/>
          <p:cNvSpPr txBox="1"/>
          <p:nvPr/>
        </p:nvSpPr>
        <p:spPr>
          <a:xfrm>
            <a:off x="777240" y="2633472"/>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SSH certificates</a:t>
            </a:r>
            <a:endParaRPr lang="en-US" sz="1150" dirty="0"/>
          </a:p>
        </p:txBody>
      </p:sp>
      <p:sp>
        <p:nvSpPr>
          <p:cNvPr id="16" name="Text 13"/>
          <p:cNvSpPr txBox="1"/>
          <p:nvPr/>
        </p:nvSpPr>
        <p:spPr>
          <a:xfrm>
            <a:off x="2240280" y="2633472"/>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OpenBSD ssh-keygen</a:t>
            </a:r>
            <a:endParaRPr lang="en-US" sz="1150" dirty="0"/>
          </a:p>
        </p:txBody>
      </p:sp>
      <p:sp>
        <p:nvSpPr>
          <p:cNvPr id="17" name="Text 14"/>
          <p:cNvSpPr txBox="1"/>
          <p:nvPr/>
        </p:nvSpPr>
        <p:spPr>
          <a:xfrm>
            <a:off x="3794760" y="2633472"/>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man.openbsd.org/ssh-keygen.1</a:t>
            </a:r>
            <a:endParaRPr lang="en-US" sz="950" dirty="0"/>
          </a:p>
        </p:txBody>
      </p:sp>
      <p:sp>
        <p:nvSpPr>
          <p:cNvPr id="18" name="Shape 15"/>
          <p:cNvSpPr/>
          <p:nvPr/>
        </p:nvSpPr>
        <p:spPr>
          <a:xfrm>
            <a:off x="6263640" y="2542032"/>
            <a:ext cx="5074920" cy="530352"/>
          </a:xfrm>
          <a:prstGeom prst="roundRect">
            <a:avLst/>
          </a:prstGeom>
          <a:solidFill>
            <a:srgbClr val="FFFFFF"/>
          </a:solidFill>
          <a:ln w="12700">
            <a:solidFill>
              <a:srgbClr val="8064A2"/>
            </a:solidFill>
            <a:prstDash val="solid"/>
          </a:ln>
        </p:spPr>
      </p:sp>
      <p:sp>
        <p:nvSpPr>
          <p:cNvPr id="19" name="Text 16"/>
          <p:cNvSpPr txBox="1"/>
          <p:nvPr/>
        </p:nvSpPr>
        <p:spPr>
          <a:xfrm>
            <a:off x="6400800" y="2633472"/>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SSH policy</a:t>
            </a:r>
            <a:endParaRPr lang="en-US" sz="1150" dirty="0"/>
          </a:p>
        </p:txBody>
      </p:sp>
      <p:sp>
        <p:nvSpPr>
          <p:cNvPr id="20" name="Text 17"/>
          <p:cNvSpPr txBox="1"/>
          <p:nvPr/>
        </p:nvSpPr>
        <p:spPr>
          <a:xfrm>
            <a:off x="7863840" y="2633472"/>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OpenBSD sshd_config</a:t>
            </a:r>
            <a:endParaRPr lang="en-US" sz="1150" dirty="0"/>
          </a:p>
        </p:txBody>
      </p:sp>
      <p:sp>
        <p:nvSpPr>
          <p:cNvPr id="21" name="Text 18"/>
          <p:cNvSpPr txBox="1"/>
          <p:nvPr/>
        </p:nvSpPr>
        <p:spPr>
          <a:xfrm>
            <a:off x="9418320" y="2633472"/>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man.openbsd.org/sshd_config.5</a:t>
            </a:r>
            <a:endParaRPr lang="en-US" sz="950" dirty="0"/>
          </a:p>
        </p:txBody>
      </p:sp>
      <p:sp>
        <p:nvSpPr>
          <p:cNvPr id="22" name="Shape 19"/>
          <p:cNvSpPr/>
          <p:nvPr/>
        </p:nvSpPr>
        <p:spPr>
          <a:xfrm>
            <a:off x="640080" y="3383280"/>
            <a:ext cx="5074920" cy="530352"/>
          </a:xfrm>
          <a:prstGeom prst="roundRect">
            <a:avLst/>
          </a:prstGeom>
          <a:solidFill>
            <a:srgbClr val="FFFFFF"/>
          </a:solidFill>
          <a:ln w="12700">
            <a:solidFill>
              <a:srgbClr val="4BACC6"/>
            </a:solidFill>
            <a:prstDash val="solid"/>
          </a:ln>
        </p:spPr>
      </p:sp>
      <p:sp>
        <p:nvSpPr>
          <p:cNvPr id="23" name="Text 20"/>
          <p:cNvSpPr txBox="1"/>
          <p:nvPr/>
        </p:nvSpPr>
        <p:spPr>
          <a:xfrm>
            <a:off x="777240" y="3474720"/>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Security controls</a:t>
            </a:r>
            <a:endParaRPr lang="en-US" sz="1150" dirty="0"/>
          </a:p>
        </p:txBody>
      </p:sp>
      <p:sp>
        <p:nvSpPr>
          <p:cNvPr id="24" name="Text 21"/>
          <p:cNvSpPr txBox="1"/>
          <p:nvPr/>
        </p:nvSpPr>
        <p:spPr>
          <a:xfrm>
            <a:off x="2240280" y="3474720"/>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NIST SP 800-53</a:t>
            </a:r>
            <a:endParaRPr lang="en-US" sz="1150" dirty="0"/>
          </a:p>
        </p:txBody>
      </p:sp>
      <p:sp>
        <p:nvSpPr>
          <p:cNvPr id="25" name="Text 22"/>
          <p:cNvSpPr txBox="1"/>
          <p:nvPr/>
        </p:nvSpPr>
        <p:spPr>
          <a:xfrm>
            <a:off x="3794760" y="3474720"/>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csrc.nist.gov/pubs/sp/800/53/rev-5/final</a:t>
            </a:r>
            <a:endParaRPr lang="en-US" sz="950" dirty="0"/>
          </a:p>
        </p:txBody>
      </p:sp>
      <p:sp>
        <p:nvSpPr>
          <p:cNvPr id="26" name="Shape 23"/>
          <p:cNvSpPr/>
          <p:nvPr/>
        </p:nvSpPr>
        <p:spPr>
          <a:xfrm>
            <a:off x="6263640" y="3383280"/>
            <a:ext cx="5074920" cy="530352"/>
          </a:xfrm>
          <a:prstGeom prst="roundRect">
            <a:avLst/>
          </a:prstGeom>
          <a:solidFill>
            <a:srgbClr val="FFFFFF"/>
          </a:solidFill>
          <a:ln w="12700">
            <a:solidFill>
              <a:srgbClr val="4F81BD"/>
            </a:solidFill>
            <a:prstDash val="solid"/>
          </a:ln>
        </p:spPr>
      </p:sp>
      <p:sp>
        <p:nvSpPr>
          <p:cNvPr id="27" name="Text 24"/>
          <p:cNvSpPr txBox="1"/>
          <p:nvPr/>
        </p:nvSpPr>
        <p:spPr>
          <a:xfrm>
            <a:off x="6400800" y="3474720"/>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Healthcare</a:t>
            </a:r>
            <a:endParaRPr lang="en-US" sz="1150" dirty="0"/>
          </a:p>
        </p:txBody>
      </p:sp>
      <p:sp>
        <p:nvSpPr>
          <p:cNvPr id="28" name="Text 25"/>
          <p:cNvSpPr txBox="1"/>
          <p:nvPr/>
        </p:nvSpPr>
        <p:spPr>
          <a:xfrm>
            <a:off x="7863840" y="3474720"/>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HHS Security Rule</a:t>
            </a:r>
            <a:endParaRPr lang="en-US" sz="1150" dirty="0"/>
          </a:p>
        </p:txBody>
      </p:sp>
      <p:sp>
        <p:nvSpPr>
          <p:cNvPr id="29" name="Text 26"/>
          <p:cNvSpPr txBox="1"/>
          <p:nvPr/>
        </p:nvSpPr>
        <p:spPr>
          <a:xfrm>
            <a:off x="9418320" y="3474720"/>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hhs.gov/hipaa/for-professionals/security</a:t>
            </a:r>
            <a:endParaRPr lang="en-US" sz="950" dirty="0"/>
          </a:p>
        </p:txBody>
      </p:sp>
      <p:sp>
        <p:nvSpPr>
          <p:cNvPr id="30" name="Shape 27"/>
          <p:cNvSpPr/>
          <p:nvPr/>
        </p:nvSpPr>
        <p:spPr>
          <a:xfrm>
            <a:off x="640080" y="4224528"/>
            <a:ext cx="5074920" cy="530352"/>
          </a:xfrm>
          <a:prstGeom prst="roundRect">
            <a:avLst/>
          </a:prstGeom>
          <a:solidFill>
            <a:srgbClr val="FFFFFF"/>
          </a:solidFill>
          <a:ln w="12700">
            <a:solidFill>
              <a:srgbClr val="F79646"/>
            </a:solidFill>
            <a:prstDash val="solid"/>
          </a:ln>
        </p:spPr>
      </p:sp>
      <p:sp>
        <p:nvSpPr>
          <p:cNvPr id="31" name="Text 28"/>
          <p:cNvSpPr txBox="1"/>
          <p:nvPr/>
        </p:nvSpPr>
        <p:spPr>
          <a:xfrm>
            <a:off x="777240" y="4315968"/>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Payment cards</a:t>
            </a:r>
            <a:endParaRPr lang="en-US" sz="1150" dirty="0"/>
          </a:p>
        </p:txBody>
      </p:sp>
      <p:sp>
        <p:nvSpPr>
          <p:cNvPr id="32" name="Text 29"/>
          <p:cNvSpPr txBox="1"/>
          <p:nvPr/>
        </p:nvSpPr>
        <p:spPr>
          <a:xfrm>
            <a:off x="2240280" y="4315968"/>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PCI DSS</a:t>
            </a:r>
            <a:endParaRPr lang="en-US" sz="1150" dirty="0"/>
          </a:p>
        </p:txBody>
      </p:sp>
      <p:sp>
        <p:nvSpPr>
          <p:cNvPr id="33" name="Text 30"/>
          <p:cNvSpPr txBox="1"/>
          <p:nvPr/>
        </p:nvSpPr>
        <p:spPr>
          <a:xfrm>
            <a:off x="3794760" y="4315968"/>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pcisecuritystandards.org/standards/pci-dss</a:t>
            </a:r>
            <a:endParaRPr lang="en-US" sz="950" dirty="0"/>
          </a:p>
        </p:txBody>
      </p:sp>
      <p:sp>
        <p:nvSpPr>
          <p:cNvPr id="34" name="Shape 31"/>
          <p:cNvSpPr/>
          <p:nvPr/>
        </p:nvSpPr>
        <p:spPr>
          <a:xfrm>
            <a:off x="6263640" y="4224528"/>
            <a:ext cx="5074920" cy="530352"/>
          </a:xfrm>
          <a:prstGeom prst="roundRect">
            <a:avLst/>
          </a:prstGeom>
          <a:solidFill>
            <a:srgbClr val="FFFFFF"/>
          </a:solidFill>
          <a:ln w="12700">
            <a:solidFill>
              <a:srgbClr val="8064A2"/>
            </a:solidFill>
            <a:prstDash val="solid"/>
          </a:ln>
        </p:spPr>
      </p:sp>
      <p:sp>
        <p:nvSpPr>
          <p:cNvPr id="35" name="Text 32"/>
          <p:cNvSpPr txBox="1"/>
          <p:nvPr/>
        </p:nvSpPr>
        <p:spPr>
          <a:xfrm>
            <a:off x="6400800" y="4315968"/>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Privacy</a:t>
            </a:r>
            <a:endParaRPr lang="en-US" sz="1150" dirty="0"/>
          </a:p>
        </p:txBody>
      </p:sp>
      <p:sp>
        <p:nvSpPr>
          <p:cNvPr id="36" name="Text 33"/>
          <p:cNvSpPr txBox="1"/>
          <p:nvPr/>
        </p:nvSpPr>
        <p:spPr>
          <a:xfrm>
            <a:off x="7863840" y="4315968"/>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EUR-Lex GDPR</a:t>
            </a:r>
            <a:endParaRPr lang="en-US" sz="1150" dirty="0"/>
          </a:p>
        </p:txBody>
      </p:sp>
      <p:sp>
        <p:nvSpPr>
          <p:cNvPr id="37" name="Text 34"/>
          <p:cNvSpPr txBox="1"/>
          <p:nvPr/>
        </p:nvSpPr>
        <p:spPr>
          <a:xfrm>
            <a:off x="9418320" y="4315968"/>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eur-lex.europa.eu/eli/reg/2016/679/oj</a:t>
            </a:r>
            <a:endParaRPr lang="en-US" sz="950" dirty="0"/>
          </a:p>
        </p:txBody>
      </p:sp>
      <p:sp>
        <p:nvSpPr>
          <p:cNvPr id="38" name="Shape 35"/>
          <p:cNvSpPr/>
          <p:nvPr/>
        </p:nvSpPr>
        <p:spPr>
          <a:xfrm>
            <a:off x="640080" y="5065776"/>
            <a:ext cx="5074920" cy="530352"/>
          </a:xfrm>
          <a:prstGeom prst="roundRect">
            <a:avLst/>
          </a:prstGeom>
          <a:solidFill>
            <a:srgbClr val="FFFFFF"/>
          </a:solidFill>
          <a:ln w="12700">
            <a:solidFill>
              <a:srgbClr val="4BACC6"/>
            </a:solidFill>
            <a:prstDash val="solid"/>
          </a:ln>
        </p:spPr>
      </p:sp>
      <p:sp>
        <p:nvSpPr>
          <p:cNvPr id="39" name="Text 36"/>
          <p:cNvSpPr txBox="1"/>
          <p:nvPr/>
        </p:nvSpPr>
        <p:spPr>
          <a:xfrm>
            <a:off x="777240" y="5157216"/>
            <a:ext cx="1325880" cy="164592"/>
          </a:xfrm>
          <a:prstGeom prst="rect">
            <a:avLst/>
          </a:prstGeom>
          <a:noFill/>
          <a:ln/>
        </p:spPr>
        <p:txBody>
          <a:bodyPr wrap="square" lIns="508" tIns="508" rIns="508" bIns="508" rtlCol="0" anchor="ctr">
            <a:normAutofit/>
          </a:bodyPr>
          <a:lstStyle/>
          <a:p>
            <a:pPr algn="l" indent="0" marL="0">
              <a:buNone/>
            </a:pPr>
            <a:r>
              <a:rPr lang="en-US" sz="1150" b="1" dirty="0">
                <a:solidFill>
                  <a:srgbClr val="1F497D"/>
                </a:solidFill>
                <a:latin typeface="Calibri" pitchFamily="34" charset="0"/>
                <a:ea typeface="Calibri" pitchFamily="34" charset="-122"/>
                <a:cs typeface="Calibri" pitchFamily="34" charset="-120"/>
              </a:rPr>
              <a:t>Policy templates</a:t>
            </a:r>
            <a:endParaRPr lang="en-US" sz="1150" dirty="0"/>
          </a:p>
        </p:txBody>
      </p:sp>
      <p:sp>
        <p:nvSpPr>
          <p:cNvPr id="40" name="Text 37"/>
          <p:cNvSpPr txBox="1"/>
          <p:nvPr/>
        </p:nvSpPr>
        <p:spPr>
          <a:xfrm>
            <a:off x="2240280" y="5157216"/>
            <a:ext cx="1691640" cy="164592"/>
          </a:xfrm>
          <a:prstGeom prst="rect">
            <a:avLst/>
          </a:prstGeom>
          <a:noFill/>
          <a:ln/>
        </p:spPr>
        <p:txBody>
          <a:bodyPr wrap="square" lIns="508" tIns="508" rIns="508" bIns="508" rtlCol="0" anchor="ctr">
            <a:normAutofit/>
          </a:bodyPr>
          <a:lstStyle/>
          <a:p>
            <a:pPr algn="l" indent="0" marL="0">
              <a:buNone/>
            </a:pPr>
            <a:r>
              <a:rPr lang="en-US" sz="1150" dirty="0">
                <a:solidFill>
                  <a:srgbClr val="203040"/>
                </a:solidFill>
                <a:latin typeface="Calibri" pitchFamily="34" charset="0"/>
                <a:ea typeface="Calibri" pitchFamily="34" charset="-122"/>
                <a:cs typeface="Calibri" pitchFamily="34" charset="-120"/>
              </a:rPr>
              <a:t>SANS resources</a:t>
            </a:r>
            <a:endParaRPr lang="en-US" sz="1150" dirty="0"/>
          </a:p>
        </p:txBody>
      </p:sp>
      <p:sp>
        <p:nvSpPr>
          <p:cNvPr id="41" name="Text 38"/>
          <p:cNvSpPr txBox="1"/>
          <p:nvPr/>
        </p:nvSpPr>
        <p:spPr>
          <a:xfrm>
            <a:off x="3794760" y="5157216"/>
            <a:ext cx="1755648" cy="164592"/>
          </a:xfrm>
          <a:prstGeom prst="rect">
            <a:avLst/>
          </a:prstGeom>
          <a:noFill/>
          <a:ln/>
        </p:spPr>
        <p:txBody>
          <a:bodyPr wrap="square" lIns="508" tIns="508" rIns="508" bIns="508" rtlCol="0" anchor="ctr">
            <a:normAutofit/>
          </a:bodyPr>
          <a:lstStyle/>
          <a:p>
            <a:pPr algn="r" indent="0" marL="0">
              <a:buNone/>
            </a:pPr>
            <a:r>
              <a:rPr lang="en-US" sz="950" dirty="0">
                <a:solidFill>
                  <a:srgbClr val="64748B"/>
                </a:solidFill>
                <a:latin typeface="Calibri" pitchFamily="34" charset="0"/>
                <a:ea typeface="Calibri" pitchFamily="34" charset="-122"/>
                <a:cs typeface="Calibri" pitchFamily="34" charset="-120"/>
              </a:rPr>
              <a:t>sans.org/information-security-policy</a:t>
            </a:r>
            <a:endParaRPr lang="en-US" sz="9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CYBER 444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 444 - SSH CA, PAM MFA, and Enterprise Policy</dc:title>
  <dc:subject>SSH Certificate Authorities, PAM, MFA, and Enterprise Policy</dc:subject>
  <dc:creator>CYBER 444</dc:creator>
  <cp:lastModifiedBy>CYBER 444</cp:lastModifiedBy>
  <cp:revision>1</cp:revision>
  <dcterms:created xsi:type="dcterms:W3CDTF">2026-10-01T07:17:19Z</dcterms:created>
  <dcterms:modified xsi:type="dcterms:W3CDTF">2026-10-01T07:17:19Z</dcterms:modified>
</cp:coreProperties>
</file>