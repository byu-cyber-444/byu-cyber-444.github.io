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7"/>
    <p:sldId id="308" r:id="rId33"/>
    <p:sldId id="319" r:id="rId44"/>
    <p:sldId id="320" r:id="rId45"/>
    <p:sldId id="321" r:id="rId29"/>
    <p:sldId id="322" r:id="rId28"/>
    <p:sldId id="323" r:id="rId27"/>
    <p:sldId id="324" r:id="rId26"/>
    <p:sldId id="325" r:id="rId25"/>
    <p:sldId id="326" r:id="rId24"/>
    <p:sldId id="327" r:id="rId6"/>
    <p:sldId id="328" r:id="rId5"/>
    <p:sldId id="329" r:id="rId4"/>
    <p:sldId id="330" r:id="rId3"/>
    <p:sldId id="331" r:id="rId56"/>
    <p:sldId id="332" r:id="rId57"/>
    <p:sldId id="333" r:id="rId58"/>
    <p:sldId id="334" r:id="rId59"/>
    <p:sldId id="335" r:id="rId60"/>
    <p:sldId id="336" r:id="rId61"/>
    <p:sldId id="309" r:id="rId34"/>
    <p:sldId id="337" r:id="rId62"/>
    <p:sldId id="338" r:id="rId63"/>
    <p:sldId id="310" r:id="rId35"/>
    <p:sldId id="341" r:id="rId66"/>
    <p:sldId id="339" r:id="rId64"/>
    <p:sldId id="264" r:id="rId10"/>
    <p:sldId id="265" r:id="rId11"/>
    <p:sldId id="267" r:id="rId13"/>
    <p:sldId id="300" r:id="rId51"/>
    <p:sldId id="301" r:id="rId52"/>
    <p:sldId id="311" r:id="rId36"/>
    <p:sldId id="312" r:id="rId37"/>
    <p:sldId id="305" r:id="rId30"/>
    <p:sldId id="313" r:id="rId38"/>
    <p:sldId id="314" r:id="rId39"/>
    <p:sldId id="307" r:id="rId32"/>
    <p:sldId id="315" r:id="rId40"/>
    <p:sldId id="316" r:id="rId41"/>
    <p:sldId id="306" r:id="rId31"/>
    <p:sldId id="317" r:id="rId42"/>
    <p:sldId id="318" r:id="rId43"/>
    <p:sldId id="340" r:id="rId65"/>
    <p:sldId id="262" r:id="rId8"/>
    <p:sldId id="263" r:id="rId9"/>
    <p:sldId id="266" r:id="rId12"/>
    <p:sldId id="268" r:id="rId14"/>
    <p:sldId id="269" r:id="rId15"/>
    <p:sldId id="270" r:id="rId16"/>
    <p:sldId id="271" r:id="rId17"/>
    <p:sldId id="272" r:id="rId18"/>
    <p:sldId id="274" r:id="rId20"/>
    <p:sldId id="275" r:id="rId21"/>
    <p:sldId id="276" r:id="rId22"/>
    <p:sldId id="277" r:id="rId23"/>
    <p:sldId id="302" r:id="rId53"/>
    <p:sldId id="303" r:id="rId54"/>
    <p:sldId id="304" r:id="rId55"/>
    <p:sldId id="342" r:id="rId19"/>
    <p:sldId id="343" r:id="rId2"/>
    <p:sldId id="344" r:id="rId67"/>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0.xml"/><Relationship Id="rId3" Type="http://schemas.openxmlformats.org/officeDocument/2006/relationships/slide" Target="slides/slide14.xml"/><Relationship Id="rId4" Type="http://schemas.openxmlformats.org/officeDocument/2006/relationships/slide" Target="slides/slide13.xml"/><Relationship Id="rId5" Type="http://schemas.openxmlformats.org/officeDocument/2006/relationships/slide" Target="slides/slide12.xml"/><Relationship Id="rId6" Type="http://schemas.openxmlformats.org/officeDocument/2006/relationships/slide" Target="slides/slide11.xml"/><Relationship Id="rId7" Type="http://schemas.openxmlformats.org/officeDocument/2006/relationships/slide" Target="slides/slide1.xml"/><Relationship Id="rId8" Type="http://schemas.openxmlformats.org/officeDocument/2006/relationships/slide" Target="slides/slide44.xml"/><Relationship Id="rId9" Type="http://schemas.openxmlformats.org/officeDocument/2006/relationships/slide" Target="slides/slide45.xml"/><Relationship Id="rId10" Type="http://schemas.openxmlformats.org/officeDocument/2006/relationships/slide" Target="slides/slide27.xml"/><Relationship Id="rId11" Type="http://schemas.openxmlformats.org/officeDocument/2006/relationships/slide" Target="slides/slide28.xml"/><Relationship Id="rId12" Type="http://schemas.openxmlformats.org/officeDocument/2006/relationships/slide" Target="slides/slide46.xml"/><Relationship Id="rId13" Type="http://schemas.openxmlformats.org/officeDocument/2006/relationships/slide" Target="slides/slide29.xml"/><Relationship Id="rId14" Type="http://schemas.openxmlformats.org/officeDocument/2006/relationships/slide" Target="slides/slide47.xml"/><Relationship Id="rId15" Type="http://schemas.openxmlformats.org/officeDocument/2006/relationships/slide" Target="slides/slide48.xml"/><Relationship Id="rId16" Type="http://schemas.openxmlformats.org/officeDocument/2006/relationships/slide" Target="slides/slide49.xml"/><Relationship Id="rId17" Type="http://schemas.openxmlformats.org/officeDocument/2006/relationships/slide" Target="slides/slide50.xml"/><Relationship Id="rId18" Type="http://schemas.openxmlformats.org/officeDocument/2006/relationships/slide" Target="slides/slide51.xml"/><Relationship Id="rId19" Type="http://schemas.openxmlformats.org/officeDocument/2006/relationships/slide" Target="slides/slide59.xml"/><Relationship Id="rId20" Type="http://schemas.openxmlformats.org/officeDocument/2006/relationships/slide" Target="slides/slide52.xml"/><Relationship Id="rId21" Type="http://schemas.openxmlformats.org/officeDocument/2006/relationships/slide" Target="slides/slide53.xml"/><Relationship Id="rId22" Type="http://schemas.openxmlformats.org/officeDocument/2006/relationships/slide" Target="slides/slide54.xml"/><Relationship Id="rId23" Type="http://schemas.openxmlformats.org/officeDocument/2006/relationships/slide" Target="slides/slide55.xml"/><Relationship Id="rId24" Type="http://schemas.openxmlformats.org/officeDocument/2006/relationships/slide" Target="slides/slide10.xml"/><Relationship Id="rId25" Type="http://schemas.openxmlformats.org/officeDocument/2006/relationships/slide" Target="slides/slide9.xml"/><Relationship Id="rId26" Type="http://schemas.openxmlformats.org/officeDocument/2006/relationships/slide" Target="slides/slide8.xml"/><Relationship Id="rId27" Type="http://schemas.openxmlformats.org/officeDocument/2006/relationships/slide" Target="slides/slide7.xml"/><Relationship Id="rId28" Type="http://schemas.openxmlformats.org/officeDocument/2006/relationships/slide" Target="slides/slide6.xml"/><Relationship Id="rId29" Type="http://schemas.openxmlformats.org/officeDocument/2006/relationships/slide" Target="slides/slide5.xml"/><Relationship Id="rId30" Type="http://schemas.openxmlformats.org/officeDocument/2006/relationships/slide" Target="slides/slide34.xml"/><Relationship Id="rId31" Type="http://schemas.openxmlformats.org/officeDocument/2006/relationships/slide" Target="slides/slide40.xml"/><Relationship Id="rId32" Type="http://schemas.openxmlformats.org/officeDocument/2006/relationships/slide" Target="slides/slide37.xml"/><Relationship Id="rId33" Type="http://schemas.openxmlformats.org/officeDocument/2006/relationships/slide" Target="slides/slide2.xml"/><Relationship Id="rId34" Type="http://schemas.openxmlformats.org/officeDocument/2006/relationships/slide" Target="slides/slide21.xml"/><Relationship Id="rId35" Type="http://schemas.openxmlformats.org/officeDocument/2006/relationships/slide" Target="slides/slide24.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3.xml"/><Relationship Id="rId45" Type="http://schemas.openxmlformats.org/officeDocument/2006/relationships/slide" Target="slides/slide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openxmlformats.org/officeDocument/2006/relationships/slide" Target="slides/slide30.xml"/><Relationship Id="rId52" Type="http://schemas.openxmlformats.org/officeDocument/2006/relationships/slide" Target="slides/slide31.xml"/><Relationship Id="rId53" Type="http://schemas.openxmlformats.org/officeDocument/2006/relationships/slide" Target="slides/slide56.xml"/><Relationship Id="rId54" Type="http://schemas.openxmlformats.org/officeDocument/2006/relationships/slide" Target="slides/slide57.xml"/><Relationship Id="rId55" Type="http://schemas.openxmlformats.org/officeDocument/2006/relationships/slide" Target="slides/slide58.xml"/><Relationship Id="rId56" Type="http://schemas.openxmlformats.org/officeDocument/2006/relationships/slide" Target="slides/slide15.xml"/><Relationship Id="rId57" Type="http://schemas.openxmlformats.org/officeDocument/2006/relationships/slide" Target="slides/slide16.xml"/><Relationship Id="rId58" Type="http://schemas.openxmlformats.org/officeDocument/2006/relationships/slide" Target="slides/slide17.xml"/><Relationship Id="rId59" Type="http://schemas.openxmlformats.org/officeDocument/2006/relationships/slide" Target="slides/slide18.xml"/><Relationship Id="rId60" Type="http://schemas.openxmlformats.org/officeDocument/2006/relationships/slide" Target="slides/slide19.xml"/><Relationship Id="rId61" Type="http://schemas.openxmlformats.org/officeDocument/2006/relationships/slide" Target="slides/slide20.xml"/><Relationship Id="rId62" Type="http://schemas.openxmlformats.org/officeDocument/2006/relationships/slide" Target="slides/slide22.xml"/><Relationship Id="rId63" Type="http://schemas.openxmlformats.org/officeDocument/2006/relationships/slide" Target="slides/slide23.xml"/><Relationship Id="rId64" Type="http://schemas.openxmlformats.org/officeDocument/2006/relationships/slide" Target="slides/slide26.xml"/><Relationship Id="rId65" Type="http://schemas.openxmlformats.org/officeDocument/2006/relationships/slide" Target="slides/slide43.xml"/><Relationship Id="rId66" Type="http://schemas.openxmlformats.org/officeDocument/2006/relationships/slide" Target="slides/slide25.xml"/><Relationship Id="rId67"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program controls from system configuration guidance. Do not imply a benchmark score proves the whole organization is secure. The schedule names CIS Controls v8. This slide uses the course wording while the CIS site is the authority for current descriptions.
Citations:
- /opt/byu-cyber-444.github.io/schedule/week-08.md
- CIS Controls, https://www.cisecurity.org/controls
- CIS Benchmarks FAQ, https://www.cisecurity.org/cis-benchmarks/cis-benchmarks-faq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 describes Level 1 as base guidance and Level 2 as defense in depth that may affect functionality. Some CIS Benchmarks include a STIG profile; do not confuse that profile with the authoritative DISA STIG for a DoD requirement. Test in a representative environment.
Citations:
- CIS Benchmarks FAQ, https://www.cisecurity.org/cis-benchmarks/cis-benchmarks-faq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overlapping hardening intent without saying CIS and STIG are interchangeable. A contract or authorizing body determines the required baseline. STIG Viewer and SCAP content help inspect and assess controls, but tool output does not replace understanding a finding.
Citations:
- /opt/byu-cyber-444.github.io/schedule/week-08.md
- CIS Benchmarks FAQ, https://www.cisecurity.org/cis-benchmarks/cis-benchmarks-faq
- DoD Cyber Exchange STIG library, https://public.cyber.mil/stigs/downloads/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8 schedule names SCAP and STIG Viewer. The DoD Cyber Exchange hosts current STIGs, benchmarks, and Viewer downloads. Automation can collect observations, but applicability, operational impact, and any exception require review. Do not claim every STIG control can be fully automated.
Citations:
- /opt/byu-cyber-444.github.io/schedule/week-08.md
- DoD Cyber Exchange STIG library, https://public.cyber.mil/stigs/downloads/
- NIST SP 800-70 Rev. 5, https://csrc.nist.gov/pubs/sp/800/70/r5/final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organizational baseline is more than a downloaded checklist. Identify role, owner, version, applicable settings, test environment, and review cadence. Ask what happens when a benchmark updates or a service changes role.
Citations:
- /opt/byu-cyber-444.github.io/schedule/week-08.md
- NIST SP 800-70 Rev. 5, https://csrc.nist.gov/pubs/sp/800/70/r5/final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hypothetical application compatibility exception, not a real institutional policy. An exception is not a silent PASS. Ask how a scanner can preserve visibility of the gap while operational leaders accept it for a bounded period.
Citations:
- /opt/byu-cyber-444.github.io/schedule/week-08.md
- NIST SP 800-70 Rev. 5, https://csrc.nist.gov/pubs/sp/800/70/r5/final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YBER444_W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97D"/>
          </a:solidFill>
          <a:ln w="12700">
            <a:solidFill>
              <a:srgbClr val="1F497D"/>
            </a:solidFill>
            <a:prstDash val="solid"/>
          </a:ln>
        </p:spPr>
      </p:sp>
      <p:sp>
        <p:nvSpPr>
          <p:cNvPr id="3" name="Text 1"/>
          <p:cNvSpPr/>
          <p:nvPr/>
        </p:nvSpPr>
        <p:spPr>
          <a:xfrm>
            <a:off x="411480" y="65653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CYBER 444  ·  ASSESS / DESIGN / VERIFY</a:t>
            </a:r>
            <a:endParaRPr lang="en-US" sz="800" dirty="0"/>
          </a:p>
        </p:txBody>
      </p:sp>
      <p:sp>
        <p:nvSpPr>
          <p:cNvPr id="4" name="Text 2"/>
          <p:cNvSpPr/>
          <p:nvPr/>
        </p:nvSpPr>
        <p:spPr>
          <a:xfrm>
            <a:off x="10561320" y="6565392"/>
            <a:ext cx="114300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Fall 2026</a:t>
            </a:r>
            <a:endParaRPr lang="en-US" sz="8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ontrols/cis-controls-list" TargetMode="External"/><Relationship Id="rId3" Type="http://schemas.openxmlformats.org/officeDocument/2006/relationships/notesSlide" Target="../notesSlides/notesSlide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is-benchmarks" TargetMode="External"/><Relationship Id="rId3" Type="http://schemas.openxmlformats.org/officeDocument/2006/relationships/notesSlide" Target="../notesSlides/notesSlide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is-benchmarks/cis-benchmarks-faq" TargetMode="External"/><Relationship Id="rId3" Type="http://schemas.openxmlformats.org/officeDocument/2006/relationships/notesSlide" Target="../notesSlides/notesSlide3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ecurity.org/cis-benchmarks/cis-benchmarks-faq" TargetMode="External"/><Relationship Id="rId3" Type="http://schemas.openxmlformats.org/officeDocument/2006/relationships/notesSlide" Target="../notesSlides/notesSlide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ublic.cyber.mil/stigs/downloads/" TargetMode="External"/><Relationship Id="rId3" Type="http://schemas.openxmlformats.org/officeDocument/2006/relationships/hyperlink" Target="https://anchore.com/blog/stig-compliance-requirements/" TargetMode="External"/><Relationship Id="rId4" Type="http://schemas.openxmlformats.org/officeDocument/2006/relationships/hyperlink" Target="https://www.cyber.mil/stigs" TargetMode="External"/><Relationship Id="rId5" Type="http://schemas.openxmlformats.org/officeDocument/2006/relationships/notesSlide" Target="../notesSlides/notesSlide3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nchore.com/blog/stig-compliance-requirements/" TargetMode="External"/><Relationship Id="rId3" Type="http://schemas.openxmlformats.org/officeDocument/2006/relationships/hyperlink" Target="https://public.cyber.mil/stigs/downloads/" TargetMode="External"/><Relationship Id="rId4" Type="http://schemas.openxmlformats.org/officeDocument/2006/relationships/notesSlide" Target="../notesSlides/notesSlide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nchore.com/blog/stig-compliance-requirements/" TargetMode="External"/><Relationship Id="rId3" Type="http://schemas.openxmlformats.org/officeDocument/2006/relationships/hyperlink" Target="https://dl.dod.cyber.mil/wp-content/uploads/stigs/pdf/U_STIG_Viewer_3-x_User_Guide_V1R5.pdf" TargetMode="External"/><Relationship Id="rId4" Type="http://schemas.openxmlformats.org/officeDocument/2006/relationships/notesSlide" Target="../notesSlides/notesSlide4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anchore.com/blog/stig-compliance-requirements/" TargetMode="External"/><Relationship Id="rId4" Type="http://schemas.openxmlformats.org/officeDocument/2006/relationships/hyperlink" Target="https://www.cyber.mil/stig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anchore.com/blog/stig-compliance-requirements/" TargetMode="External"/><Relationship Id="rId4" Type="http://schemas.openxmlformats.org/officeDocument/2006/relationships/hyperlink" Target="https://dl.dod.cyber.mil/wp-content/uploads/stigs/pdf/U_STIG_Viewer_3-x_User_Guide_V1R5.pdf"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anchore.com/blog/stig-compliance-requirements/" TargetMode="External"/><Relationship Id="rId4" Type="http://schemas.openxmlformats.org/officeDocument/2006/relationships/hyperlink" Target="https://dl.dod.cyber.mil/wp-content/uploads/stigs/pdf/U_STIG_Viewer_3-x_User_Guide_V1R5.pd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tudentprivacy.ed.gov/sites/default/files/resource_document/file/Guidance_for_Reasonable_Methods%20final_0_0.pdf" TargetMode="External"/><Relationship Id="rId3" Type="http://schemas.openxmlformats.org/officeDocument/2006/relationships/notesSlide" Target="../notesSlides/notesSlide4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hhs.gov/hipaa/for-professionals/security/laws-regulations/index.html" TargetMode="External"/><Relationship Id="rId3" Type="http://schemas.openxmlformats.org/officeDocument/2006/relationships/notesSlide" Target="../notesSlides/notesSlide4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hhs.gov/hipaa/for-professionals/compliance-enforcement/agreements/cottage/index.html" TargetMode="External"/><Relationship Id="rId3" Type="http://schemas.openxmlformats.org/officeDocument/2006/relationships/notesSlide" Target="../notesSlides/notesSlide4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pcisecuritystandards.org/document_library/" TargetMode="External"/><Relationship Id="rId3" Type="http://schemas.openxmlformats.org/officeDocument/2006/relationships/notesSlide" Target="../notesSlides/notesSlide4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tc.gov/business-guidance/resources/ftc-safeguards-rule-what-your-business-needs-know" TargetMode="External"/><Relationship Id="rId3" Type="http://schemas.openxmlformats.org/officeDocument/2006/relationships/notesSlide" Target="../notesSlides/notesSlide4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tc.gov/business-guidance/blog/2015/08/letter-morgan-stanley-offers-security-insights-about-insiders" TargetMode="External"/><Relationship Id="rId3" Type="http://schemas.openxmlformats.org/officeDocument/2006/relationships/notesSlide" Target="../notesSlides/notesSlide4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ec.gov/info/accountants/stafficreporting.pdf" TargetMode="External"/><Relationship Id="rId3" Type="http://schemas.openxmlformats.org/officeDocument/2006/relationships/notesSlide" Target="../notesSlides/notesSlide5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ur-lex.europa.eu/eli/reg/2016/679/oj/eng/" TargetMode="External"/><Relationship Id="rId3" Type="http://schemas.openxmlformats.org/officeDocument/2006/relationships/notesSlide" Target="../notesSlides/notesSlide5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ico.org.uk/about-the-ico/media-centre/news-and-blogs/2026/10/password1-is-not-an-appropriate-password/" TargetMode="External"/><Relationship Id="rId3" Type="http://schemas.openxmlformats.org/officeDocument/2006/relationships/notesSlide" Target="../notesSlides/notesSlide5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dcio.defense.gov/CMMC/Resources-Documentation/" TargetMode="External"/><Relationship Id="rId3" Type="http://schemas.openxmlformats.org/officeDocument/2006/relationships/notesSlide" Target="../notesSlides/notesSlide5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src.nist.gov/pubs/sp/800/53/r5/upd1/final" TargetMode="External"/><Relationship Id="rId3" Type="http://schemas.openxmlformats.org/officeDocument/2006/relationships/notesSlide" Target="../notesSlides/notesSlide5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a.gov/sites/default/files/2024-08/SecureByDemandGuide_080624_508c.pdf"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a.gov/sites/default/files/publications/Cybersecurity-Tabletop-Exercise-Tips_508c.pdf"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a.gov/sites/default/files/publications/Cybersecurity-Tabletop-Exercise-Tips_508c.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OBJECTIVES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From checklist result to defensible decision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Use a system baseline to turn applicable requirements into testable configuration and evidence.</a:t>
            </a:r>
            <a:endParaRPr lang="en-US" sz="1300" dirty="0"/>
          </a:p>
        </p:txBody>
      </p:sp>
      <p:sp>
        <p:nvSpPr>
          <p:cNvPr id="6" name="Shape 3"/>
          <p:cNvSpPr/>
          <p:nvPr/>
        </p:nvSpPr>
        <p:spPr>
          <a:xfrm>
            <a:off x="640080"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7" name="Shape 4"/>
          <p:cNvSpPr/>
          <p:nvPr/>
        </p:nvSpPr>
        <p:spPr>
          <a:xfrm>
            <a:off x="640080" y="1965960"/>
            <a:ext cx="1779971"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31520"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ASSESS</a:t>
            </a:r>
            <a:endParaRPr lang="en-US" sz="1150" dirty="0"/>
          </a:p>
        </p:txBody>
      </p:sp>
      <p:sp>
        <p:nvSpPr>
          <p:cNvPr id="9" name="Text 6"/>
          <p:cNvSpPr txBox="1"/>
          <p:nvPr/>
        </p:nvSpPr>
        <p:spPr>
          <a:xfrm>
            <a:off x="777240"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Use the right profile and evidence</a:t>
            </a:r>
            <a:endParaRPr lang="en-US" sz="1400" dirty="0"/>
          </a:p>
        </p:txBody>
      </p:sp>
      <p:sp>
        <p:nvSpPr>
          <p:cNvPr id="10" name="Shape 7"/>
          <p:cNvSpPr/>
          <p:nvPr/>
        </p:nvSpPr>
        <p:spPr>
          <a:xfrm>
            <a:off x="2474915" y="2903220"/>
            <a:ext cx="393192" cy="0"/>
          </a:xfrm>
          <a:prstGeom prst="line">
            <a:avLst/>
          </a:prstGeom>
          <a:noFill/>
          <a:ln w="25400">
            <a:solidFill>
              <a:srgbClr val="94A3B8"/>
            </a:solidFill>
            <a:prstDash val="solid"/>
            <a:tailEnd type="triangle"/>
          </a:ln>
        </p:spPr>
        <p:txBody>
          <a:bodyPr/>
          <a:p/>
        </p:txBody>
      </p:sp>
      <p:sp>
        <p:nvSpPr>
          <p:cNvPr id="11" name="Shape 8"/>
          <p:cNvSpPr/>
          <p:nvPr/>
        </p:nvSpPr>
        <p:spPr>
          <a:xfrm>
            <a:off x="2922971"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12" name="Shape 9"/>
          <p:cNvSpPr/>
          <p:nvPr/>
        </p:nvSpPr>
        <p:spPr>
          <a:xfrm>
            <a:off x="2922971" y="1965960"/>
            <a:ext cx="1779971" cy="329184"/>
          </a:xfrm>
          <a:prstGeom prst="roundRect">
            <a:avLst>
              <a:gd name="adj" fmla="val 22222"/>
            </a:avLst>
          </a:prstGeom>
          <a:solidFill>
            <a:srgbClr val="4F81BD"/>
          </a:solidFill>
          <a:ln w="12700">
            <a:solidFill>
              <a:srgbClr val="4F81BD"/>
            </a:solidFill>
            <a:prstDash val="solid"/>
          </a:ln>
        </p:spPr>
        <p:txBody>
          <a:bodyPr/>
          <a:p/>
        </p:txBody>
      </p:sp>
      <p:sp>
        <p:nvSpPr>
          <p:cNvPr id="13" name="Text 10"/>
          <p:cNvSpPr txBox="1"/>
          <p:nvPr/>
        </p:nvSpPr>
        <p:spPr>
          <a:xfrm>
            <a:off x="3014411"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PRIORITIZE</a:t>
            </a:r>
            <a:endParaRPr lang="en-US" sz="1150" dirty="0"/>
          </a:p>
        </p:txBody>
      </p:sp>
      <p:sp>
        <p:nvSpPr>
          <p:cNvPr id="14" name="Text 11"/>
          <p:cNvSpPr txBox="1"/>
          <p:nvPr/>
        </p:nvSpPr>
        <p:spPr>
          <a:xfrm>
            <a:off x="3060131"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Explain impact and dependencies</a:t>
            </a:r>
            <a:endParaRPr lang="en-US" sz="1400" dirty="0"/>
          </a:p>
        </p:txBody>
      </p:sp>
      <p:sp>
        <p:nvSpPr>
          <p:cNvPr id="15" name="Shape 12"/>
          <p:cNvSpPr/>
          <p:nvPr/>
        </p:nvSpPr>
        <p:spPr>
          <a:xfrm>
            <a:off x="4757806" y="2903220"/>
            <a:ext cx="393192" cy="0"/>
          </a:xfrm>
          <a:prstGeom prst="line">
            <a:avLst/>
          </a:prstGeom>
          <a:noFill/>
          <a:ln w="25400">
            <a:solidFill>
              <a:srgbClr val="94A3B8"/>
            </a:solidFill>
            <a:prstDash val="solid"/>
            <a:tailEnd type="triangle"/>
          </a:ln>
        </p:spPr>
        <p:txBody>
          <a:bodyPr/>
          <a:p/>
        </p:txBody>
      </p:sp>
      <p:sp>
        <p:nvSpPr>
          <p:cNvPr id="16" name="Shape 13"/>
          <p:cNvSpPr/>
          <p:nvPr/>
        </p:nvSpPr>
        <p:spPr>
          <a:xfrm>
            <a:off x="5205862"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17" name="Shape 14"/>
          <p:cNvSpPr/>
          <p:nvPr/>
        </p:nvSpPr>
        <p:spPr>
          <a:xfrm>
            <a:off x="5205862" y="1965960"/>
            <a:ext cx="1779971" cy="329184"/>
          </a:xfrm>
          <a:prstGeom prst="roundRect">
            <a:avLst>
              <a:gd name="adj" fmla="val 22222"/>
            </a:avLst>
          </a:prstGeom>
          <a:solidFill>
            <a:srgbClr val="F79646"/>
          </a:solidFill>
          <a:ln w="12700">
            <a:solidFill>
              <a:srgbClr val="F79646"/>
            </a:solidFill>
            <a:prstDash val="solid"/>
          </a:ln>
        </p:spPr>
        <p:txBody>
          <a:bodyPr/>
          <a:p/>
        </p:txBody>
      </p:sp>
      <p:sp>
        <p:nvSpPr>
          <p:cNvPr id="18" name="Text 15"/>
          <p:cNvSpPr txBox="1"/>
          <p:nvPr/>
        </p:nvSpPr>
        <p:spPr>
          <a:xfrm>
            <a:off x="5297302"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REMEDIATE</a:t>
            </a:r>
            <a:endParaRPr lang="en-US" sz="1150" dirty="0"/>
          </a:p>
        </p:txBody>
      </p:sp>
      <p:sp>
        <p:nvSpPr>
          <p:cNvPr id="19" name="Text 16"/>
          <p:cNvSpPr txBox="1"/>
          <p:nvPr/>
        </p:nvSpPr>
        <p:spPr>
          <a:xfrm>
            <a:off x="5343022"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Change safely and verify</a:t>
            </a:r>
            <a:endParaRPr lang="en-US" sz="1400" dirty="0"/>
          </a:p>
        </p:txBody>
      </p:sp>
      <p:sp>
        <p:nvSpPr>
          <p:cNvPr id="20" name="Shape 17"/>
          <p:cNvSpPr/>
          <p:nvPr/>
        </p:nvSpPr>
        <p:spPr>
          <a:xfrm>
            <a:off x="7040697" y="2903220"/>
            <a:ext cx="393192" cy="0"/>
          </a:xfrm>
          <a:prstGeom prst="line">
            <a:avLst/>
          </a:prstGeom>
          <a:noFill/>
          <a:ln w="25400">
            <a:solidFill>
              <a:srgbClr val="94A3B8"/>
            </a:solidFill>
            <a:prstDash val="solid"/>
            <a:tailEnd type="triangle"/>
          </a:ln>
        </p:spPr>
        <p:txBody>
          <a:bodyPr/>
          <a:p/>
        </p:txBody>
      </p:sp>
      <p:sp>
        <p:nvSpPr>
          <p:cNvPr id="21" name="Shape 18"/>
          <p:cNvSpPr/>
          <p:nvPr/>
        </p:nvSpPr>
        <p:spPr>
          <a:xfrm>
            <a:off x="7488753"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22" name="Shape 19"/>
          <p:cNvSpPr/>
          <p:nvPr/>
        </p:nvSpPr>
        <p:spPr>
          <a:xfrm>
            <a:off x="7488753" y="1965960"/>
            <a:ext cx="1779971" cy="329184"/>
          </a:xfrm>
          <a:prstGeom prst="roundRect">
            <a:avLst>
              <a:gd name="adj" fmla="val 22222"/>
            </a:avLst>
          </a:prstGeom>
          <a:solidFill>
            <a:srgbClr val="8064A2"/>
          </a:solidFill>
          <a:ln w="12700">
            <a:solidFill>
              <a:srgbClr val="8064A2"/>
            </a:solidFill>
            <a:prstDash val="solid"/>
          </a:ln>
        </p:spPr>
        <p:txBody>
          <a:bodyPr/>
          <a:p/>
        </p:txBody>
      </p:sp>
      <p:sp>
        <p:nvSpPr>
          <p:cNvPr id="23" name="Text 20"/>
          <p:cNvSpPr txBox="1"/>
          <p:nvPr/>
        </p:nvSpPr>
        <p:spPr>
          <a:xfrm>
            <a:off x="7580193"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MAP</a:t>
            </a:r>
            <a:endParaRPr lang="en-US" sz="1150" dirty="0"/>
          </a:p>
        </p:txBody>
      </p:sp>
      <p:sp>
        <p:nvSpPr>
          <p:cNvPr id="24" name="Text 21"/>
          <p:cNvSpPr txBox="1"/>
          <p:nvPr/>
        </p:nvSpPr>
        <p:spPr>
          <a:xfrm>
            <a:off x="7625913"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Connect requirements to practical system controls</a:t>
            </a:r>
            <a:endParaRPr lang="en-US" sz="1400" dirty="0"/>
          </a:p>
        </p:txBody>
      </p:sp>
      <p:sp>
        <p:nvSpPr>
          <p:cNvPr id="25" name="Shape 22"/>
          <p:cNvSpPr/>
          <p:nvPr/>
        </p:nvSpPr>
        <p:spPr>
          <a:xfrm>
            <a:off x="9323588" y="2903220"/>
            <a:ext cx="393192" cy="0"/>
          </a:xfrm>
          <a:prstGeom prst="line">
            <a:avLst/>
          </a:prstGeom>
          <a:noFill/>
          <a:ln w="25400">
            <a:solidFill>
              <a:srgbClr val="94A3B8"/>
            </a:solidFill>
            <a:prstDash val="solid"/>
            <a:tailEnd type="triangle"/>
          </a:ln>
        </p:spPr>
        <p:txBody>
          <a:bodyPr/>
          <a:p/>
        </p:txBody>
      </p:sp>
      <p:sp>
        <p:nvSpPr>
          <p:cNvPr id="26" name="Shape 23"/>
          <p:cNvSpPr/>
          <p:nvPr/>
        </p:nvSpPr>
        <p:spPr>
          <a:xfrm>
            <a:off x="9771644"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27" name="Shape 24"/>
          <p:cNvSpPr/>
          <p:nvPr/>
        </p:nvSpPr>
        <p:spPr>
          <a:xfrm>
            <a:off x="9771644" y="1965960"/>
            <a:ext cx="1779971" cy="329184"/>
          </a:xfrm>
          <a:prstGeom prst="roundRect">
            <a:avLst>
              <a:gd name="adj" fmla="val 22222"/>
            </a:avLst>
          </a:prstGeom>
          <a:solidFill>
            <a:srgbClr val="70AD47"/>
          </a:solidFill>
          <a:ln w="12700">
            <a:solidFill>
              <a:srgbClr val="70AD47"/>
            </a:solidFill>
            <a:prstDash val="solid"/>
          </a:ln>
        </p:spPr>
        <p:txBody>
          <a:bodyPr/>
          <a:p/>
        </p:txBody>
      </p:sp>
      <p:sp>
        <p:nvSpPr>
          <p:cNvPr id="28" name="Text 25"/>
          <p:cNvSpPr txBox="1"/>
          <p:nvPr/>
        </p:nvSpPr>
        <p:spPr>
          <a:xfrm>
            <a:off x="9863084"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DOCUMENT</a:t>
            </a:r>
            <a:endParaRPr lang="en-US" sz="1150" dirty="0"/>
          </a:p>
        </p:txBody>
      </p:sp>
      <p:sp>
        <p:nvSpPr>
          <p:cNvPr id="29" name="Text 26"/>
          <p:cNvSpPr txBox="1"/>
          <p:nvPr/>
        </p:nvSpPr>
        <p:spPr>
          <a:xfrm>
            <a:off x="9908804"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Make risk and exceptions explicit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CIS CONTROLS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CIS Controls organize the security program</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CIS Controls v8.1 is a prioritized safeguards guide, not a product-specific settings checklist.</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IS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set of 18 practical, prioritized Controls and Safeguards for reducing common cyber risks.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HELPS WITH</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Helps teams organize work and prioritize safeguards through Implementation Groups IG1, IG2, and IG3.</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Build an asset inventory, manage accounts, harden systems, and keep software updated.</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You need a broad security roadmap or your organization adopts CIS.</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Center for Internet Security, CIS Controls v8.1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01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Inventory and Control of Enterprise Assets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Know which enterprise devices connect to the organization.</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Track authorized endpoints, servers, network gear, and cloud assets in an inventory.</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complete asset view supports ownership, patching, monitoring, and response.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Reconcile discovery with the asset register; investigate unknown or unmanaged devices.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Establishing ownership, authorization, and inventory coverage.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02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Inventory and Control of Software Assets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Know which software runs across managed systems.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Maintain a software inventory and identify unsupported or unauthorized applications.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known software inventory helps prioritize updates and remove unsafe applications.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endpoint management to find outdated software, then remove or update it.</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Reducing risk from unknown, unapproved, or unsupported software.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4</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2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03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Data Protection</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Handle data according to its sensitivity and business purpose.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Define data owners, classification, permitted handling, retention, and disposal.</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Consistent handling reduces accidental disclosure, loss, and unauthorized use.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Map where sensitive files live; restrict access and protect transfers and backups.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Systems store, process, or transmit sensitive organizational data.</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5</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3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04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Secure Configuration of Enterprise Assets and Software</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Apply and maintain secure configurations across devices and software.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approved baselines and configuration management to reduce insecure defaults.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Consistent secure settings reduce exploitable defaults and configuration drift.</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Deploy a tested server baseline, track drift, and document approved exceptions.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Building, deploying, or reviewing system configurations.</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6</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4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05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Account Management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Manage user, administrator, and service accounts through their life cycle.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Create, update, disable, and remove accounts with clear owners and approvals.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managed account lifecycle limits abandoned, orphaned, and unowned access.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Disable a departing employee account and review stale and shared service accounts.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Provisioning, changing, reviewing, or deprovisioning accounts.</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7</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5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06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Access Control Management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Grant access according to job need and organizational policy.</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Enforce authorization with least privilege, role assignments, and strong authentication.</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Appropriate authorization limits what an account can reach or change.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Review privileged groups, narrow administrator membership, and require MFA remotely.</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Deciding who can access a system, resource, or administrative function.</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8</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6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07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Continuous Vulnerability Management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Continuously find and reduce software and configuration weaknesses.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Discover, prioritize, and remediate vulnerabilities using risk and exposure context.</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Timely remediation closes weaknesses before attackers can use them.</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Scan managed hosts, test updates, then track overdue critical fixes to closure.</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Planning patching and remediation across an asset fleet.</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9</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7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08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Audit Log Management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Collect, protect, and review logs that support detection and investigations.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Define what is logged, centralize important records, and manage retention and access.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Reliable logs provide visibility for detection, investigation, and accountability.</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Forward authentication and administrator activity logs to a protected central service.</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Investigating events or demonstrating what happened and when.</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10</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8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09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Email and Web Browser Protections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Reduce threats delivered through email and web browsing.</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protective settings and services to limit malicious content and unsafe behavior.</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Safer email and browsing reduce common paths for malicious content and credential theft.</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Apply browser updates, block known malicious destinations, and control risky email content.</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Protecting common user entry points and managed browsing.</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11</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9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10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Malware Defenses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Prevent, detect, and respond to malware across enterprise assets.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Deploy and maintain defenses that identify suspicious files and behavior.</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Layered malware defenses help stop, spot, and contain malicious activity.</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Check endpoint protection coverage and investigate alerts on a potentially infected host.</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Protecting endpoints and servers against malicious software.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12</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10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11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Data Recovery</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Restore enterprise assets and data to a trusted state after disruption.</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Maintain recovery processes and protected backups for in-scope assets.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Recoverable data and systems reduce outage impact and support trusted restoration.</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Test restoring a server from a protected backup and record the recovery result.</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Preparing for ransomware, accidental deletion, or system failure.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13</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11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12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Network Infrastructure Management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Manage network devices and their security throughout their life cycle.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Track, configure, update, and securely administer switches, routers, and firewalls.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Secure network devices reduce exposed services, weak administration, and exploitable firmware.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Back up network configurations, patch firmware, and restrict management interfaces.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Operating or changing network infrastructure.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14</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12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13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Network Monitoring and Defense</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Monitor network activity and defend against threats.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network visibility and defense processes to identify suspicious communications.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Network visibility helps find suspicious activity that endpoint controls may miss.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Alert on unexpected outbound connections and investigate the affected hosts.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Detecting threats that cross or move within network boundaries.</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15</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13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14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Security Awareness and Skills Training</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Build security awareness and role-specific skills across the workforce.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Train people to recognize risk and follow security practices for their roles.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People with relevant skills can recognize risk and respond consistently.</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Give administrators practice reporting phishing and handling credentials securely.</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Onboarding staff or strengthening security behavior and job skills.</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16</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14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15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Service Provider Management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Assess and manage providers that handle data or critical services.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Identify dependencies, evaluate risk, set requirements, and review provider changes.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Provider oversight addresses risks introduced through external access and dependencies.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Track a cloud provider’s access, security evidence, incident contacts, and offboarding.</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Selecting or overseeing vendors with access to systems or data.</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17</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15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16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Application Software Security</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Manage security across software development and acquisition.</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Integrate security into design, development, testing, deployment, and maintenance.</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Secure software practices reduce weaknesses introduced across the application life cycle.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Track application dependencies, protect secrets, and fix findings before release.</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Building, buying, hosting, or maintaining application software.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18</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16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17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Incident Response Management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Prepare people and processes to respond to security incidents.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Define plans, roles, communications, escalation, and recovery procedures.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Prepared responders can coordinate decisions and reduce time to contain an incident.</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a tested playbook to isolate an affected host while preserving evidence.</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Preparing for, detecting, containing, and recovering from incidents.</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19</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17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CONTROL 18 OF 18</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Penetration Testing</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Test whether security defenses work against realistic attack objectives.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authorized, scoped testing to find weaknesses in people, processes, and technology.</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Authorized testing reveals whether defenses work and turns findings into improvements.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Coordinate a test window, define rules of engagement, and track findings to remediation.</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Validating defenses under an approved testing scope.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20</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Controls v8.1, Control 18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CIS BENCHMARKS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CIS Benchmarks define product-specific settings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Match the exact product, release, role, and profile; recommendations vary by version.</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EXAMPLE SETTINGS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For Rocky Linux 9, inspect SSH policy, audit rules, package state, and file permissions in its matching Benchmark.</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ADMIN WORKFLOW</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Test the selected profile, apply supported settings, then rescan the same release and content.</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EVIDENCE TO KEEP</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Record product and Benchmark version, profile, assessment content, exceptions, change result, and rescan.</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You need a repeatable configuration baseline for a specific technology and version.</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21</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Benchmarks, product guides and profiles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BENCHMARK PROFILE</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Level 1: a practical secure baseline</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r>
              <a:rPr sz="1400">
                <a:solidFill>
                  <a:srgbClr val="647891"/>
                </a:solidFill>
                <a:latin typeface="Aptos"/>
              </a:rPr>
              <a:t>CIS Benchmark profiles: Level 1 lowers attack surface; separate from Controls IG1–IG3.</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Benchmark profile of configuration recommendations for a specific product and version.</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Provides a practical starting baseline designed to avoid extensive performance impact or disruption to business use.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Apply the matching server Benchmark in a test environment, then assess settings and record justified deviations.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Establishing a broadly applicable baseline for a technology or system role.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22</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Benchmarks FAQ, profile definitions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CIS BENCHMARK PROFILE</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Level 2: defense in depth for higher security needs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r>
              <a:rPr sz="1400">
                <a:solidFill>
                  <a:srgbClr val="647891"/>
                </a:solidFill>
                <a:latin typeface="Aptos"/>
              </a:rPr>
              <a:t>CIS Benchmark profiles: Level 2 extends Level 1; separate from Controls IG1–IG3.</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more restrictive Benchmark profile for environments where security is paramount.</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Adds defense in depth; some settings may affect functionality or performance if applied without care.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Test the profile on a representative system, check application dependencies, and use approved change and rollback plans.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A system’s risk and security requirements justify stricter settings and impact testing.</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23</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CIS Benchmarks FAQ, profile definitions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DISA STIGs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DISA STIGs set platform-specific security checks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Match the platform and release to the STIG version required by policy or contract.</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IT COVERS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STIGs cover operating systems, network devices, applications, databases, cloud services, and mobile platforms.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WHY IT MATTERS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DISA guidance bridges NIST SP 800-53 and the DoD Risk Management Framework; SRGs organize requirements by technology area.</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SYSADMIN EXAMPLE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For a Windows Server STIG, match the release, review account, audit, firewall, and service rules, then verify settings on the host.</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DoD policy, an authorization, or a contract requires the applicable STIG or SRG.</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24</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ctr"/>
            <a:r>
              <a:rPr sz="1100" b="1">
                <a:solidFill>
                  <a:srgbClr val="245487"/>
                </a:solidFill>
                <a:latin typeface="Aptos"/>
                <a:hlinkClick r:id="rId3"/>
              </a:rPr>
              <a:t>Anchore STIG requirements guide ↗</a:t>
            </a:r>
            <a:r>
              <a:rPr sz="1100" b="1">
                <a:solidFill>
                  <a:srgbClr val="245487"/>
                </a:solidFill>
                <a:latin typeface="Aptos"/>
              </a:rPr>
              <a:t>  ·  </a:t>
            </a:r>
            <a:r>
              <a:rPr sz="1100" b="1">
                <a:solidFill>
                  <a:srgbClr val="245487"/>
                </a:solidFill>
                <a:latin typeface="Aptos"/>
                <a:hlinkClick r:id="rId4"/>
              </a:rPr>
              <a:t>DoD Cyber Exchange STIG library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DISA STIG CATEGORIES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STIG categories map to technology and owner</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Anchore reported nearly 500 STIGs as of May 2025; match each checklist to the system and owner.</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25</a:t>
            </a:r>
          </a:p>
        </p:txBody>
      </p:sp>
      <p:sp>
        <p:nvSpPr>
          <p:cNvPr id="21" name="Rounded Rectangle 20"/>
          <p:cNvSpPr/>
          <p:nvPr/>
        </p:nvSpPr>
        <p:spPr>
          <a:xfrm>
            <a:off x="658368" y="1664208"/>
            <a:ext cx="10881360" cy="329184"/>
          </a:xfrm>
          <a:prstGeom prst="round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1691640"/>
            <a:ext cx="1764792" cy="301752"/>
          </a:xfrm>
          <a:prstGeom prst="rect">
            <a:avLst/>
          </a:prstGeom>
          <a:noFill/>
        </p:spPr>
        <p:txBody>
          <a:bodyPr wrap="none" anchor="ctr">
            <a:spAutoFit/>
          </a:bodyPr>
          <a:lstStyle/>
          <a:p>
            <a:pPr algn="l"/>
            <a:r>
              <a:rPr sz="1100" b="1">
                <a:solidFill>
                  <a:srgbClr val="FFFFFF"/>
                </a:solidFill>
                <a:latin typeface="Aptos"/>
              </a:rPr>
              <a:t>CATEGORY</a:t>
            </a:r>
          </a:p>
        </p:txBody>
      </p:sp>
      <p:sp>
        <p:nvSpPr>
          <p:cNvPr id="23" name="TextBox 22"/>
          <p:cNvSpPr txBox="1"/>
          <p:nvPr/>
        </p:nvSpPr>
        <p:spPr>
          <a:xfrm>
            <a:off x="2734056" y="1691640"/>
            <a:ext cx="3319272" cy="301752"/>
          </a:xfrm>
          <a:prstGeom prst="rect">
            <a:avLst/>
          </a:prstGeom>
          <a:noFill/>
        </p:spPr>
        <p:txBody>
          <a:bodyPr wrap="none" anchor="ctr">
            <a:spAutoFit/>
          </a:bodyPr>
          <a:lstStyle/>
          <a:p>
            <a:pPr algn="l"/>
            <a:r>
              <a:rPr sz="1100" b="1">
                <a:solidFill>
                  <a:srgbClr val="FFFFFF"/>
                </a:solidFill>
                <a:latin typeface="Aptos"/>
              </a:rPr>
              <a:t>WHO IT APPLIES TO</a:t>
            </a:r>
          </a:p>
        </p:txBody>
      </p:sp>
      <p:sp>
        <p:nvSpPr>
          <p:cNvPr id="24" name="TextBox 23"/>
          <p:cNvSpPr txBox="1"/>
          <p:nvPr/>
        </p:nvSpPr>
        <p:spPr>
          <a:xfrm>
            <a:off x="6254496" y="1691640"/>
            <a:ext cx="5193792" cy="301752"/>
          </a:xfrm>
          <a:prstGeom prst="rect">
            <a:avLst/>
          </a:prstGeom>
          <a:noFill/>
        </p:spPr>
        <p:txBody>
          <a:bodyPr wrap="none" anchor="ctr">
            <a:spAutoFit/>
          </a:bodyPr>
          <a:lstStyle/>
          <a:p>
            <a:pPr algn="l"/>
            <a:r>
              <a:rPr sz="1100" b="1">
                <a:solidFill>
                  <a:srgbClr val="FFFFFF"/>
                </a:solidFill>
                <a:latin typeface="Aptos"/>
              </a:rPr>
              <a:t>EXAMPLES</a:t>
            </a:r>
          </a:p>
        </p:txBody>
      </p:sp>
      <p:sp>
        <p:nvSpPr>
          <p:cNvPr id="25" name="Rectangle 24"/>
          <p:cNvSpPr/>
          <p:nvPr/>
        </p:nvSpPr>
        <p:spPr>
          <a:xfrm>
            <a:off x="658368" y="1993392"/>
            <a:ext cx="10881360" cy="557784"/>
          </a:xfrm>
          <a:prstGeom prst="rect">
            <a:avLst/>
          </a:prstGeom>
          <a:solidFill>
            <a:srgbClr val="F6F9FC"/>
          </a:solidFill>
          <a:ln w="1016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2020824"/>
            <a:ext cx="1764792" cy="502920"/>
          </a:xfrm>
          <a:prstGeom prst="rect">
            <a:avLst/>
          </a:prstGeom>
          <a:noFill/>
        </p:spPr>
        <p:txBody>
          <a:bodyPr wrap="square" anchor="ctr">
            <a:spAutoFit/>
          </a:bodyPr>
          <a:lstStyle/>
          <a:p>
            <a:pPr algn="l"/>
            <a:r>
              <a:rPr sz="1270" b="1">
                <a:solidFill>
                  <a:srgbClr val="275185"/>
                </a:solidFill>
                <a:latin typeface="Aptos"/>
              </a:rPr>
              <a:t>Operating system</a:t>
            </a:r>
          </a:p>
        </p:txBody>
      </p:sp>
      <p:sp>
        <p:nvSpPr>
          <p:cNvPr id="27" name="TextBox 26"/>
          <p:cNvSpPr txBox="1"/>
          <p:nvPr/>
        </p:nvSpPr>
        <p:spPr>
          <a:xfrm>
            <a:off x="2734056" y="2020824"/>
            <a:ext cx="3319272" cy="502920"/>
          </a:xfrm>
          <a:prstGeom prst="rect">
            <a:avLst/>
          </a:prstGeom>
          <a:noFill/>
        </p:spPr>
        <p:txBody>
          <a:bodyPr wrap="square" anchor="ctr">
            <a:spAutoFit/>
          </a:bodyPr>
          <a:lstStyle/>
          <a:p>
            <a:pPr algn="l"/>
            <a:r>
              <a:rPr sz="1250" b="0">
                <a:solidFill>
                  <a:srgbClr val="253446"/>
                </a:solidFill>
                <a:latin typeface="Aptos"/>
              </a:rPr>
              <a:t>System administrators and IT teams managing servers and workstations</a:t>
            </a:r>
          </a:p>
        </p:txBody>
      </p:sp>
      <p:sp>
        <p:nvSpPr>
          <p:cNvPr id="28" name="TextBox 27"/>
          <p:cNvSpPr txBox="1"/>
          <p:nvPr/>
        </p:nvSpPr>
        <p:spPr>
          <a:xfrm>
            <a:off x="6254496" y="2020824"/>
            <a:ext cx="5193792" cy="502920"/>
          </a:xfrm>
          <a:prstGeom prst="rect">
            <a:avLst/>
          </a:prstGeom>
          <a:noFill/>
        </p:spPr>
        <p:txBody>
          <a:bodyPr wrap="square" anchor="ctr">
            <a:spAutoFit/>
          </a:bodyPr>
          <a:lstStyle/>
          <a:p>
            <a:pPr algn="l"/>
            <a:r>
              <a:rPr sz="1250" b="0">
                <a:solidFill>
                  <a:srgbClr val="253446"/>
                </a:solidFill>
                <a:latin typeface="Aptos"/>
              </a:rPr>
              <a:t>Microsoft Windows STIGs; Linux distribution STIGs</a:t>
            </a:r>
          </a:p>
        </p:txBody>
      </p:sp>
      <p:sp>
        <p:nvSpPr>
          <p:cNvPr id="29" name="Rectangle 28"/>
          <p:cNvSpPr/>
          <p:nvPr/>
        </p:nvSpPr>
        <p:spPr>
          <a:xfrm>
            <a:off x="658368" y="2551176"/>
            <a:ext cx="10881360" cy="557784"/>
          </a:xfrm>
          <a:prstGeom prst="rect">
            <a:avLst/>
          </a:prstGeom>
          <a:solidFill>
            <a:srgbClr val="FFFFFF"/>
          </a:solidFill>
          <a:ln w="1016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2578608"/>
            <a:ext cx="1764792" cy="502920"/>
          </a:xfrm>
          <a:prstGeom prst="rect">
            <a:avLst/>
          </a:prstGeom>
          <a:noFill/>
        </p:spPr>
        <p:txBody>
          <a:bodyPr wrap="square" anchor="ctr">
            <a:spAutoFit/>
          </a:bodyPr>
          <a:lstStyle/>
          <a:p>
            <a:pPr algn="l"/>
            <a:r>
              <a:rPr sz="1270" b="1">
                <a:solidFill>
                  <a:srgbClr val="275185"/>
                </a:solidFill>
                <a:latin typeface="Aptos"/>
              </a:rPr>
              <a:t>Network devices</a:t>
            </a:r>
          </a:p>
        </p:txBody>
      </p:sp>
      <p:sp>
        <p:nvSpPr>
          <p:cNvPr id="31" name="TextBox 30"/>
          <p:cNvSpPr txBox="1"/>
          <p:nvPr/>
        </p:nvSpPr>
        <p:spPr>
          <a:xfrm>
            <a:off x="2734056" y="2578608"/>
            <a:ext cx="3319272" cy="502920"/>
          </a:xfrm>
          <a:prstGeom prst="rect">
            <a:avLst/>
          </a:prstGeom>
          <a:noFill/>
        </p:spPr>
        <p:txBody>
          <a:bodyPr wrap="square" anchor="ctr">
            <a:spAutoFit/>
          </a:bodyPr>
          <a:lstStyle/>
          <a:p>
            <a:pPr algn="l"/>
            <a:r>
              <a:rPr sz="1250" b="0">
                <a:solidFill>
                  <a:srgbClr val="253446"/>
                </a:solidFill>
                <a:latin typeface="Aptos"/>
              </a:rPr>
              <a:t>Network engineers and administrators</a:t>
            </a:r>
          </a:p>
        </p:txBody>
      </p:sp>
      <p:sp>
        <p:nvSpPr>
          <p:cNvPr id="32" name="TextBox 31"/>
          <p:cNvSpPr txBox="1"/>
          <p:nvPr/>
        </p:nvSpPr>
        <p:spPr>
          <a:xfrm>
            <a:off x="6254496" y="2578608"/>
            <a:ext cx="5193792" cy="502920"/>
          </a:xfrm>
          <a:prstGeom prst="rect">
            <a:avLst/>
          </a:prstGeom>
          <a:noFill/>
        </p:spPr>
        <p:txBody>
          <a:bodyPr wrap="square" anchor="ctr">
            <a:spAutoFit/>
          </a:bodyPr>
          <a:lstStyle/>
          <a:p>
            <a:pPr algn="l"/>
            <a:r>
              <a:rPr sz="1250" b="0">
                <a:solidFill>
                  <a:srgbClr val="253446"/>
                </a:solidFill>
                <a:latin typeface="Aptos"/>
              </a:rPr>
              <a:t>Router STIGs; network firewall STIGs</a:t>
            </a:r>
          </a:p>
        </p:txBody>
      </p:sp>
      <p:sp>
        <p:nvSpPr>
          <p:cNvPr id="33" name="Rectangle 32"/>
          <p:cNvSpPr/>
          <p:nvPr/>
        </p:nvSpPr>
        <p:spPr>
          <a:xfrm>
            <a:off x="658368" y="3108960"/>
            <a:ext cx="10881360" cy="557784"/>
          </a:xfrm>
          <a:prstGeom prst="rect">
            <a:avLst/>
          </a:prstGeom>
          <a:solidFill>
            <a:srgbClr val="F6F9FC"/>
          </a:solidFill>
          <a:ln w="1016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3136392"/>
            <a:ext cx="1764792" cy="502920"/>
          </a:xfrm>
          <a:prstGeom prst="rect">
            <a:avLst/>
          </a:prstGeom>
          <a:noFill/>
        </p:spPr>
        <p:txBody>
          <a:bodyPr wrap="square" anchor="ctr">
            <a:spAutoFit/>
          </a:bodyPr>
          <a:lstStyle/>
          <a:p>
            <a:pPr algn="l"/>
            <a:r>
              <a:rPr sz="1270" b="1">
                <a:solidFill>
                  <a:srgbClr val="275185"/>
                </a:solidFill>
                <a:latin typeface="Aptos"/>
              </a:rPr>
              <a:t>Applications</a:t>
            </a:r>
          </a:p>
        </p:txBody>
      </p:sp>
      <p:sp>
        <p:nvSpPr>
          <p:cNvPr id="35" name="TextBox 34"/>
          <p:cNvSpPr txBox="1"/>
          <p:nvPr/>
        </p:nvSpPr>
        <p:spPr>
          <a:xfrm>
            <a:off x="2734056" y="3136392"/>
            <a:ext cx="3319272" cy="502920"/>
          </a:xfrm>
          <a:prstGeom prst="rect">
            <a:avLst/>
          </a:prstGeom>
          <a:noFill/>
        </p:spPr>
        <p:txBody>
          <a:bodyPr wrap="square" anchor="ctr">
            <a:spAutoFit/>
          </a:bodyPr>
          <a:lstStyle/>
          <a:p>
            <a:pPr algn="l"/>
            <a:r>
              <a:rPr sz="1250" b="0">
                <a:solidFill>
                  <a:srgbClr val="253446"/>
                </a:solidFill>
                <a:latin typeface="Aptos"/>
              </a:rPr>
              <a:t>Software developers and application managers</a:t>
            </a:r>
          </a:p>
        </p:txBody>
      </p:sp>
      <p:sp>
        <p:nvSpPr>
          <p:cNvPr id="36" name="TextBox 35"/>
          <p:cNvSpPr txBox="1"/>
          <p:nvPr/>
        </p:nvSpPr>
        <p:spPr>
          <a:xfrm>
            <a:off x="6254496" y="3136392"/>
            <a:ext cx="5193792" cy="502920"/>
          </a:xfrm>
          <a:prstGeom prst="rect">
            <a:avLst/>
          </a:prstGeom>
          <a:noFill/>
        </p:spPr>
        <p:txBody>
          <a:bodyPr wrap="square" anchor="ctr">
            <a:spAutoFit/>
          </a:bodyPr>
          <a:lstStyle/>
          <a:p>
            <a:pPr algn="l"/>
            <a:r>
              <a:rPr sz="1250" b="0">
                <a:solidFill>
                  <a:srgbClr val="253446"/>
                </a:solidFill>
                <a:latin typeface="Aptos"/>
              </a:rPr>
              <a:t>Generic Application Security; web server; database STIGs</a:t>
            </a:r>
          </a:p>
        </p:txBody>
      </p:sp>
      <p:sp>
        <p:nvSpPr>
          <p:cNvPr id="37" name="Rectangle 36"/>
          <p:cNvSpPr/>
          <p:nvPr/>
        </p:nvSpPr>
        <p:spPr>
          <a:xfrm>
            <a:off x="658368" y="3666744"/>
            <a:ext cx="10881360" cy="557784"/>
          </a:xfrm>
          <a:prstGeom prst="rect">
            <a:avLst/>
          </a:prstGeom>
          <a:solidFill>
            <a:srgbClr val="FFFFFF"/>
          </a:solidFill>
          <a:ln w="1016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694176"/>
            <a:ext cx="1764792" cy="502920"/>
          </a:xfrm>
          <a:prstGeom prst="rect">
            <a:avLst/>
          </a:prstGeom>
          <a:noFill/>
        </p:spPr>
        <p:txBody>
          <a:bodyPr wrap="square" anchor="ctr">
            <a:spAutoFit/>
          </a:bodyPr>
          <a:lstStyle/>
          <a:p>
            <a:pPr algn="l"/>
            <a:r>
              <a:rPr sz="1270" b="1">
                <a:solidFill>
                  <a:srgbClr val="275185"/>
                </a:solidFill>
                <a:latin typeface="Aptos"/>
              </a:rPr>
              <a:t>Mobile devices</a:t>
            </a:r>
          </a:p>
        </p:txBody>
      </p:sp>
      <p:sp>
        <p:nvSpPr>
          <p:cNvPr id="39" name="TextBox 38"/>
          <p:cNvSpPr txBox="1"/>
          <p:nvPr/>
        </p:nvSpPr>
        <p:spPr>
          <a:xfrm>
            <a:off x="2734056" y="3694176"/>
            <a:ext cx="3319272" cy="502920"/>
          </a:xfrm>
          <a:prstGeom prst="rect">
            <a:avLst/>
          </a:prstGeom>
          <a:noFill/>
        </p:spPr>
        <p:txBody>
          <a:bodyPr wrap="square" anchor="ctr">
            <a:spAutoFit/>
          </a:bodyPr>
          <a:lstStyle/>
          <a:p>
            <a:pPr algn="l"/>
            <a:r>
              <a:rPr sz="1250" b="0">
                <a:solidFill>
                  <a:srgbClr val="253446"/>
                </a:solidFill>
                <a:latin typeface="Aptos"/>
              </a:rPr>
              <a:t>Mobile device administrators and security teams</a:t>
            </a:r>
          </a:p>
        </p:txBody>
      </p:sp>
      <p:sp>
        <p:nvSpPr>
          <p:cNvPr id="40" name="TextBox 39"/>
          <p:cNvSpPr txBox="1"/>
          <p:nvPr/>
        </p:nvSpPr>
        <p:spPr>
          <a:xfrm>
            <a:off x="6254496" y="3694176"/>
            <a:ext cx="5193792" cy="502920"/>
          </a:xfrm>
          <a:prstGeom prst="rect">
            <a:avLst/>
          </a:prstGeom>
          <a:noFill/>
        </p:spPr>
        <p:txBody>
          <a:bodyPr wrap="square" anchor="ctr">
            <a:spAutoFit/>
          </a:bodyPr>
          <a:lstStyle/>
          <a:p>
            <a:pPr algn="l"/>
            <a:r>
              <a:rPr sz="1250" b="0">
                <a:solidFill>
                  <a:srgbClr val="253446"/>
                </a:solidFill>
                <a:latin typeface="Aptos"/>
              </a:rPr>
              <a:t>Apple iOS STIG; Android OS STIG</a:t>
            </a:r>
          </a:p>
        </p:txBody>
      </p:sp>
      <p:sp>
        <p:nvSpPr>
          <p:cNvPr id="41" name="Rectangle 40"/>
          <p:cNvSpPr/>
          <p:nvPr/>
        </p:nvSpPr>
        <p:spPr>
          <a:xfrm>
            <a:off x="658368" y="4224528"/>
            <a:ext cx="10881360" cy="557784"/>
          </a:xfrm>
          <a:prstGeom prst="rect">
            <a:avLst/>
          </a:prstGeom>
          <a:solidFill>
            <a:srgbClr val="F6F9FC"/>
          </a:solidFill>
          <a:ln w="1016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251960"/>
            <a:ext cx="1764792" cy="502920"/>
          </a:xfrm>
          <a:prstGeom prst="rect">
            <a:avLst/>
          </a:prstGeom>
          <a:noFill/>
        </p:spPr>
        <p:txBody>
          <a:bodyPr wrap="square" anchor="ctr">
            <a:spAutoFit/>
          </a:bodyPr>
          <a:lstStyle/>
          <a:p>
            <a:pPr algn="l"/>
            <a:r>
              <a:rPr sz="1270" b="1">
                <a:solidFill>
                  <a:srgbClr val="275185"/>
                </a:solidFill>
                <a:latin typeface="Aptos"/>
              </a:rPr>
              <a:t>Cloud computing</a:t>
            </a:r>
          </a:p>
        </p:txBody>
      </p:sp>
      <p:sp>
        <p:nvSpPr>
          <p:cNvPr id="43" name="TextBox 42"/>
          <p:cNvSpPr txBox="1"/>
          <p:nvPr/>
        </p:nvSpPr>
        <p:spPr>
          <a:xfrm>
            <a:off x="2734056" y="4251960"/>
            <a:ext cx="3319272" cy="502920"/>
          </a:xfrm>
          <a:prstGeom prst="rect">
            <a:avLst/>
          </a:prstGeom>
          <a:noFill/>
        </p:spPr>
        <p:txBody>
          <a:bodyPr wrap="square" anchor="ctr">
            <a:spAutoFit/>
          </a:bodyPr>
          <a:lstStyle/>
          <a:p>
            <a:pPr algn="l"/>
            <a:r>
              <a:rPr sz="1250" b="0">
                <a:solidFill>
                  <a:srgbClr val="253446"/>
                </a:solidFill>
                <a:latin typeface="Aptos"/>
              </a:rPr>
              <a:t>Cloud service providers and cloud infrastructure teams</a:t>
            </a:r>
          </a:p>
        </p:txBody>
      </p:sp>
      <p:sp>
        <p:nvSpPr>
          <p:cNvPr id="44" name="TextBox 43"/>
          <p:cNvSpPr txBox="1"/>
          <p:nvPr/>
        </p:nvSpPr>
        <p:spPr>
          <a:xfrm>
            <a:off x="6254496" y="4251960"/>
            <a:ext cx="5193792" cy="502920"/>
          </a:xfrm>
          <a:prstGeom prst="rect">
            <a:avLst/>
          </a:prstGeom>
          <a:noFill/>
        </p:spPr>
        <p:txBody>
          <a:bodyPr wrap="square" anchor="ctr">
            <a:spAutoFit/>
          </a:bodyPr>
          <a:lstStyle/>
          <a:p>
            <a:pPr algn="l"/>
            <a:r>
              <a:rPr sz="1250" b="0">
                <a:solidFill>
                  <a:srgbClr val="253446"/>
                </a:solidFill>
                <a:latin typeface="Aptos"/>
              </a:rPr>
              <a:t>Azure SQL Database STIG; cloud OS STIG when no service-specific STIG applies</a:t>
            </a:r>
          </a:p>
        </p:txBody>
      </p:sp>
      <p:sp>
        <p:nvSpPr>
          <p:cNvPr id="45" name="TextBox 44"/>
          <p:cNvSpPr txBox="1"/>
          <p:nvPr/>
        </p:nvSpPr>
        <p:spPr>
          <a:xfrm>
            <a:off x="594360" y="5907024"/>
            <a:ext cx="10972800" cy="274320"/>
          </a:xfrm>
          <a:prstGeom prst="rect">
            <a:avLst/>
          </a:prstGeom>
          <a:noFill/>
        </p:spPr>
        <p:txBody>
          <a:bodyPr wrap="none" anchor="ctr">
            <a:spAutoFit/>
          </a:bodyPr>
          <a:lstStyle/>
          <a:p>
            <a:pPr algn="ctr"/>
            <a:r>
              <a:rPr sz="1100" b="1">
                <a:solidFill>
                  <a:srgbClr val="245487"/>
                </a:solidFill>
                <a:latin typeface="Aptos"/>
                <a:hlinkClick r:id="rId2"/>
              </a:rPr>
              <a:t>Anchore STIG guide ↗</a:t>
            </a:r>
            <a:r>
              <a:rPr sz="1100">
                <a:solidFill>
                  <a:srgbClr val="64748B"/>
                </a:solidFill>
              </a:rPr>
              <a:t>  ·  </a:t>
            </a:r>
            <a:r>
              <a:rPr sz="1100" b="1">
                <a:solidFill>
                  <a:srgbClr val="245487"/>
                </a:solidFill>
                <a:latin typeface="Aptos"/>
                <a:hlinkClick r:id="rId3"/>
              </a:rPr>
              <a:t>DISA STIG library ↗</a:t>
            </a:r>
          </a:p>
        </p:txBody>
      </p:sp>
      <p:sp>
        <p:nvSpPr>
          <p:cNvPr id="46" name="Rounded Rectangle 45"/>
          <p:cNvSpPr/>
          <p:nvPr/>
        </p:nvSpPr>
        <p:spPr>
          <a:xfrm>
            <a:off x="841248" y="5010912"/>
            <a:ext cx="10515600" cy="603504"/>
          </a:xfrm>
          <a:prstGeom prst="roundRect">
            <a:avLst/>
          </a:prstGeom>
          <a:solidFill>
            <a:srgbClr val="FFFFFF"/>
          </a:solidFill>
          <a:ln w="1651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111496"/>
            <a:ext cx="10012680" cy="384048"/>
          </a:xfrm>
          <a:prstGeom prst="rect">
            <a:avLst/>
          </a:prstGeom>
          <a:noFill/>
        </p:spPr>
        <p:txBody>
          <a:bodyPr wrap="none" anchor="ctr">
            <a:spAutoFit/>
          </a:bodyPr>
          <a:lstStyle/>
          <a:p>
            <a:pPr algn="l"/>
            <a:r>
              <a:rPr sz="1500">
                <a:solidFill>
                  <a:srgbClr val="253446"/>
                </a:solidFill>
                <a:latin typeface="Aptos"/>
              </a:rPr>
              <a:t>Each STIG category includes a checklist; match it to the exact product, release, and assigned team.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DISA STIG SEVERITY</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STIG findings carry CAT I, CAT II, or CAT III severity</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Use the STIG-assigned category to prioritize; confirm applicability and mission impact before changing a system.</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CAT I · HIGH</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Highest severity: a weakness could immediately expose the system or permit unauthorized privileged access.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CAT II · MEDIUM</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Medium severity: a weakness could contribute to unauthorized system access or activity.</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CAT III · LOW</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Lower severity: a weakness degrades safeguards and may contribute to compromise with other weaknesses.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Triage findings, plan remediation, and record the approved disposition for each applicable rule.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26</a:t>
            </a:r>
          </a:p>
        </p:txBody>
      </p:sp>
      <p:sp>
        <p:nvSpPr>
          <p:cNvPr id="21" name="TextBox 20"/>
          <p:cNvSpPr txBox="1"/>
          <p:nvPr/>
        </p:nvSpPr>
        <p:spPr>
          <a:xfrm>
            <a:off x="594360" y="5907024"/>
            <a:ext cx="10972800" cy="274320"/>
          </a:xfrm>
          <a:prstGeom prst="rect">
            <a:avLst/>
          </a:prstGeom>
          <a:noFill/>
        </p:spPr>
        <p:txBody>
          <a:bodyPr wrap="none" anchor="ctr">
            <a:spAutoFit/>
          </a:bodyPr>
          <a:lstStyle/>
          <a:p>
            <a:pPr algn="ctr"/>
            <a:r>
              <a:rPr sz="1100" b="1">
                <a:solidFill>
                  <a:srgbClr val="23659E"/>
                </a:solidFill>
                <a:latin typeface="Aptos"/>
                <a:hlinkClick r:id="rId2"/>
              </a:rPr>
              <a:t>Anchore guide ↗</a:t>
            </a:r>
            <a:r>
              <a:rPr sz="1100">
                <a:solidFill>
                  <a:srgbClr val="556578"/>
                </a:solidFill>
              </a:rPr>
              <a:t>  ·  </a:t>
            </a:r>
            <a:r>
              <a:rPr sz="1100" b="1">
                <a:solidFill>
                  <a:srgbClr val="23659E"/>
                </a:solidFill>
                <a:latin typeface="Aptos"/>
                <a:hlinkClick r:id="rId3"/>
              </a:rPr>
              <a:t>DISA Viewer guide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STIGS &amp; CONTROL FRAMEWORKS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STIGs translate DoD control intent into platform checks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The requirement chain connects broad control outcomes to product-specific implementation steps.</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NIST SP 800-53 / RMF</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Defines security control objectives and the risk-management process.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SRG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Organizes DoD requirements for a technology or system family.</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STIG</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Provides product-specific checks, fix guidance, and finding severity.</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C0504D"/>
            </a:solidFill>
            <a:prstDash val="solid"/>
          </a:ln>
        </p:spPr>
        <p:txBody>
          <a:bodyPr/>
          <a:p/>
        </p:txBody>
      </p:sp>
      <p:sp>
        <p:nvSpPr>
          <p:cNvPr id="19" name="Shape 16"/>
          <p:cNvSpPr/>
          <p:nvPr/>
        </p:nvSpPr>
        <p:spPr>
          <a:xfrm>
            <a:off x="960120" y="4736592"/>
            <a:ext cx="91440" cy="758952"/>
          </a:xfrm>
          <a:prstGeom prst="rect">
            <a:avLst>
              <a:gd name="adj" fmla="val 80000"/>
            </a:avLst>
          </a:prstGeom>
          <a:solidFill>
            <a:srgbClr val="C0504D"/>
          </a:solidFill>
          <a:ln w="12700">
            <a:solidFill>
              <a:srgbClr val="C0504D"/>
            </a:solidFill>
            <a:prstDash val="solid"/>
          </a:ln>
        </p:spPr>
        <p:txBody>
          <a:bodyPr/>
          <a:p/>
        </p:txBody>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SYSADMIN DECISION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Use the applicable STIG/version specified by the authorization or contract; record any approved tailoring.</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27</a:t>
            </a:r>
          </a:p>
        </p:txBody>
      </p:sp>
      <p:sp>
        <p:nvSpPr>
          <p:cNvPr id="26" name="TextBox 25"/>
          <p:cNvSpPr txBox="1"/>
          <p:nvPr/>
        </p:nvSpPr>
        <p:spPr>
          <a:xfrm>
            <a:off x="594360" y="5907024"/>
            <a:ext cx="10972800" cy="274320"/>
          </a:xfrm>
          <a:prstGeom prst="rect">
            <a:avLst/>
          </a:prstGeom>
          <a:noFill/>
        </p:spPr>
        <p:txBody>
          <a:bodyPr wrap="none" lIns="0" rIns="0" tIns="0" bIns="0">
            <a:spAutoFit/>
          </a:bodyPr>
          <a:lstStyle/>
          <a:p>
            <a:pPr algn="ctr"/>
            <a:r>
              <a:rPr sz="1100" b="1">
                <a:solidFill>
                  <a:srgbClr val="245487"/>
                </a:solidFill>
                <a:latin typeface="Aptos"/>
                <a:hlinkClick r:id="rId3"/>
              </a:rPr>
              <a:t>Anchore STIG requirements guide ↗</a:t>
            </a:r>
            <a:r>
              <a:rPr sz="1100" b="1">
                <a:solidFill>
                  <a:srgbClr val="245487"/>
                </a:solidFill>
                <a:latin typeface="Aptos"/>
              </a:rPr>
              <a:t>  ·  </a:t>
            </a:r>
            <a:r>
              <a:rPr sz="1100" b="1">
                <a:solidFill>
                  <a:srgbClr val="245487"/>
                </a:solidFill>
                <a:latin typeface="Aptos"/>
                <a:hlinkClick r:id="rId4"/>
              </a:rPr>
              <a:t>DoD Cyber Exchange overview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STIG WORKFLOW</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STIG work is an inventory-to-maintenance cycle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Match each asset to current content, prioritize findings, test changes, and reassess after updates.</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MATCH</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Inventory product, release, role, and service; select the applicable STIG or SRG.</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txBody>
          <a:bodyPr/>
          <a:p/>
        </p:txBody>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txBody>
          <a:bodyPr/>
          <a:p/>
        </p:txBody>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TRIAGE</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Review rule IDs and CAT severity; weigh exposure, mission impact, and dependencies.</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txBody>
          <a:bodyPr/>
          <a:p/>
        </p:txBody>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txBody>
          <a:bodyPr/>
          <a:p/>
        </p:txBody>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IMPLEMENT</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Prioritize higher-risk findings; test fixes and rollback; record evidence or approved deviations.</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txBody>
          <a:bodyPr/>
          <a:p/>
        </p:txBody>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22" name="Shape 19"/>
          <p:cNvSpPr/>
          <p:nvPr/>
        </p:nvSpPr>
        <p:spPr>
          <a:xfrm>
            <a:off x="9200921" y="1965960"/>
            <a:ext cx="2350694" cy="329184"/>
          </a:xfrm>
          <a:prstGeom prst="roundRect">
            <a:avLst>
              <a:gd name="adj" fmla="val 22222"/>
            </a:avLst>
          </a:prstGeom>
          <a:solidFill>
            <a:srgbClr val="8064A2"/>
          </a:solidFill>
          <a:ln w="12700">
            <a:solidFill>
              <a:srgbClr val="8064A2"/>
            </a:solidFill>
            <a:prstDash val="solid"/>
          </a:ln>
        </p:spPr>
        <p:txBody>
          <a:bodyPr/>
          <a:p/>
        </p:txBody>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VERIFY &amp; MAINTAIN</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Use SCAP where supported; manually verify remaining checks; rescan after changes and new releases.</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p/>
        </p:txBody>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txBody>
          <a:bodyPr/>
          <a:p/>
        </p:txBody>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STIG VIEWER</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Filter by severity or rule ID, import SCAP results, add manual review, and export the checklist.</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28</a:t>
            </a:r>
          </a:p>
        </p:txBody>
      </p:sp>
      <p:sp>
        <p:nvSpPr>
          <p:cNvPr id="29" name="TextBox 28"/>
          <p:cNvSpPr txBox="1"/>
          <p:nvPr/>
        </p:nvSpPr>
        <p:spPr>
          <a:xfrm>
            <a:off x="594360" y="5907024"/>
            <a:ext cx="10972800" cy="274320"/>
          </a:xfrm>
          <a:prstGeom prst="rect">
            <a:avLst/>
          </a:prstGeom>
          <a:noFill/>
        </p:spPr>
        <p:txBody>
          <a:bodyPr wrap="none" lIns="0" rIns="0" tIns="0" bIns="0">
            <a:spAutoFit/>
          </a:bodyPr>
          <a:lstStyle/>
          <a:p>
            <a:pPr algn="ctr"/>
            <a:r>
              <a:rPr sz="1100" b="1">
                <a:solidFill>
                  <a:srgbClr val="245487"/>
                </a:solidFill>
                <a:latin typeface="Aptos"/>
                <a:hlinkClick r:id="rId3"/>
              </a:rPr>
              <a:t>Anchore STIG requirements guide ↗</a:t>
            </a:r>
            <a:r>
              <a:rPr sz="1100" b="1">
                <a:solidFill>
                  <a:srgbClr val="245487"/>
                </a:solidFill>
                <a:latin typeface="Aptos"/>
              </a:rPr>
              <a:t>  ·  </a:t>
            </a:r>
            <a:r>
              <a:rPr sz="1100" b="1">
                <a:solidFill>
                  <a:srgbClr val="245487"/>
                </a:solidFill>
                <a:latin typeface="Aptos"/>
                <a:hlinkClick r:id="rId4"/>
              </a:rPr>
              <a:t>DISA STIG Viewer 3.x User Guide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TOOLS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Use DISA tooling to manage assessment evidence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Tools support review and automation; follow the applicable STIG content and assess unsupported checks manually.</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STIG VIEWER</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Load STIGs, filter by severity or Rule ID, track status, and export checklist evidence.</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SCAP RESULTS</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Automate checks where supported; record content version and manually verify the remainder.</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CONTINUOUS CONFIG</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Use configuration management to deploy approved settings and detect drift after updates.</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C0504D"/>
            </a:solidFill>
            <a:prstDash val="solid"/>
          </a:ln>
        </p:spPr>
        <p:txBody>
          <a:bodyPr/>
          <a:p/>
        </p:txBody>
      </p:sp>
      <p:sp>
        <p:nvSpPr>
          <p:cNvPr id="19" name="Shape 16"/>
          <p:cNvSpPr/>
          <p:nvPr/>
        </p:nvSpPr>
        <p:spPr>
          <a:xfrm>
            <a:off x="960120" y="4736592"/>
            <a:ext cx="91440" cy="758952"/>
          </a:xfrm>
          <a:prstGeom prst="rect">
            <a:avLst>
              <a:gd name="adj" fmla="val 80000"/>
            </a:avLst>
          </a:prstGeom>
          <a:solidFill>
            <a:srgbClr val="C0504D"/>
          </a:solidFill>
          <a:ln w="12700">
            <a:solidFill>
              <a:srgbClr val="C0504D"/>
            </a:solidFill>
            <a:prstDash val="solid"/>
          </a:ln>
        </p:spPr>
        <p:txBody>
          <a:bodyPr/>
          <a:p/>
        </p:txBody>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KEEP HUMAN REVIEW</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A scan supports assessment; it does not determine mission impact or approve an exception.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29</a:t>
            </a:r>
          </a:p>
        </p:txBody>
      </p:sp>
      <p:sp>
        <p:nvSpPr>
          <p:cNvPr id="26" name="TextBox 25"/>
          <p:cNvSpPr txBox="1"/>
          <p:nvPr/>
        </p:nvSpPr>
        <p:spPr>
          <a:xfrm>
            <a:off x="594360" y="5907024"/>
            <a:ext cx="10972800" cy="274320"/>
          </a:xfrm>
          <a:prstGeom prst="rect">
            <a:avLst/>
          </a:prstGeom>
          <a:noFill/>
        </p:spPr>
        <p:txBody>
          <a:bodyPr wrap="none" lIns="0" rIns="0" tIns="0" bIns="0">
            <a:spAutoFit/>
          </a:bodyPr>
          <a:lstStyle/>
          <a:p>
            <a:pPr algn="ctr"/>
            <a:r>
              <a:rPr sz="1100" b="1">
                <a:solidFill>
                  <a:srgbClr val="245487"/>
                </a:solidFill>
                <a:latin typeface="Aptos"/>
                <a:hlinkClick r:id="rId3"/>
              </a:rPr>
              <a:t>Anchore STIG requirements guide ↗</a:t>
            </a:r>
            <a:r>
              <a:rPr sz="1100" b="1">
                <a:solidFill>
                  <a:srgbClr val="245487"/>
                </a:solidFill>
                <a:latin typeface="Aptos"/>
              </a:rPr>
              <a:t>  ·  </a:t>
            </a:r>
            <a:r>
              <a:rPr sz="1100" b="1">
                <a:solidFill>
                  <a:srgbClr val="245487"/>
                </a:solidFill>
                <a:latin typeface="Aptos"/>
                <a:hlinkClick r:id="rId4"/>
              </a:rPr>
              <a:t>DISA STIG Viewer 3.x User Guide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COMPLIANCE LANDSCAPE</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Requirements come from different places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Identify the authority and scope before choosing a control or claiming compliance.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LAW / REGULATION</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FERPA · HIPAA · GLBA · GDPR</a:t>
            </a:r>
            <a:br/>
            <a:r>
              <a:rPr sz="1400" b="0">
                <a:solidFill>
                  <a:srgbClr val="253446"/>
                </a:solidFill>
                <a:latin typeface="Aptos"/>
              </a:rPr>
              <a:t>Obligations depend on the organization, data, activity, and system scope.</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CONTRACT / STANDARD</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PCI DSS · CMMC · DISA STIGs</a:t>
            </a:r>
            <a:br/>
            <a:r>
              <a:rPr sz="1400" b="0">
                <a:solidFill>
                  <a:srgbClr val="253446"/>
                </a:solidFill>
                <a:latin typeface="Aptos"/>
              </a:rPr>
              <a:t>A payment environment, contract, or mission can require a specific standard and version.</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CONTROL CATALOG</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NIST SP 800-53 · CIS Controls</a:t>
            </a:r>
            <a:br/>
            <a:r>
              <a:rPr sz="1400" b="0">
                <a:solidFill>
                  <a:srgbClr val="253446"/>
                </a:solidFill>
                <a:latin typeface="Aptos"/>
              </a:rPr>
              <a:t>Catalogs help select and organize controls; they do not establish that every control applies.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Who confirms that this system is in scope and which requirements apply?</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COMMON CONTEXTS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400" b="1">
                <a:solidFill>
                  <a:srgbClr val="275185"/>
                </a:solidFill>
                <a:latin typeface="Aptos"/>
              </a:rPr>
              <a:t>Sysadmins support different obligations with shared practices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These examples are a starting point; the compliance owner determines applicability.</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EDUCATION &amp; HEALTH</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200" b="0">
                <a:solidFill>
                  <a:srgbClr val="253446"/>
                </a:solidFill>
                <a:latin typeface="Aptos"/>
              </a:rPr>
              <a:t>FERPA</a:t>
            </a:r>
            <a:br/>
            <a:r>
              <a:rPr sz="1200" b="0">
                <a:solidFill>
                  <a:srgbClr val="253446"/>
                </a:solidFill>
                <a:latin typeface="Aptos"/>
              </a:rPr>
              <a:t>Protect education-record privacy through approved access and careful data handling.</a:t>
            </a:r>
            <a:br/>
            <a:br/>
            <a:r>
              <a:rPr sz="1200" b="0">
                <a:solidFill>
                  <a:srgbClr val="253446"/>
                </a:solidFill>
                <a:latin typeface="Aptos"/>
              </a:rPr>
              <a:t>HIPAA</a:t>
            </a:r>
            <a:br/>
            <a:r>
              <a:rPr sz="1200" b="0">
                <a:solidFill>
                  <a:srgbClr val="253446"/>
                </a:solidFill>
                <a:latin typeface="Aptos"/>
              </a:rPr>
              <a:t>Safeguard ePHI systems with assigned administrative, physical, and technical protections.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FINANCE &amp; PAYMENTS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200" b="0">
                <a:solidFill>
                  <a:srgbClr val="253446"/>
                </a:solidFill>
                <a:latin typeface="Aptos"/>
              </a:rPr>
              <a:t>GLBA</a:t>
            </a:r>
            <a:br/>
            <a:r>
              <a:rPr sz="1200" b="0">
                <a:solidFill>
                  <a:srgbClr val="253446"/>
                </a:solidFill>
                <a:latin typeface="Aptos"/>
              </a:rPr>
              <a:t>Covered financial institutions maintain a security program for customer information.</a:t>
            </a:r>
            <a:br/>
            <a:br/>
            <a:r>
              <a:rPr sz="1200" b="0">
                <a:solidFill>
                  <a:srgbClr val="253446"/>
                </a:solidFill>
                <a:latin typeface="Aptos"/>
              </a:rPr>
              <a:t>PCI DSS</a:t>
            </a:r>
            <a:br/>
            <a:r>
              <a:rPr sz="1200" b="0">
                <a:solidFill>
                  <a:srgbClr val="253446"/>
                </a:solidFill>
                <a:latin typeface="Aptos"/>
              </a:rPr>
              <a:t>Apply the current standard to systems in the payment-card data environment.</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REPORTING &amp; DATA</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200" b="0">
                <a:solidFill>
                  <a:srgbClr val="253446"/>
                </a:solidFill>
                <a:latin typeface="Aptos"/>
              </a:rPr>
              <a:t>SOX</a:t>
            </a:r>
            <a:br/>
            <a:r>
              <a:rPr sz="1200" b="0">
                <a:solidFill>
                  <a:srgbClr val="253446"/>
                </a:solidFill>
                <a:latin typeface="Aptos"/>
              </a:rPr>
              <a:t>Systems supporting financial reporting need reliable, reviewable controls.</a:t>
            </a:r>
            <a:br/>
            <a:br/>
            <a:r>
              <a:rPr sz="1200" b="0">
                <a:solidFill>
                  <a:srgbClr val="253446"/>
                </a:solidFill>
                <a:latin typeface="Aptos"/>
              </a:rPr>
              <a:t>GDPR</a:t>
            </a:r>
            <a:br/>
            <a:r>
              <a:rPr sz="1200" b="0">
                <a:solidFill>
                  <a:srgbClr val="253446"/>
                </a:solidFill>
                <a:latin typeface="Aptos"/>
              </a:rPr>
              <a:t>Personal-data processing may create security and privacy obligations.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A requirement label alone does not define the system boundary or the server configuration.</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FERPA</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FERPA scopes access to student records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FERPA requires reasonable methods to limit school-official access; it does not prescribe a technical checklist.</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ACCESS CONTROL</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Map SIS and LMS roles to legitimate educational interests; remove shared or overly broad access.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DISCLOSURE CONTROL</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Verify requester identity and disclosure basis; retain required disclosure records under 34 CFR 99.32.</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VENDOR CONTROL</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For outsourced handling, define permitted use, redisclosure, protection, audit, and secure deletion in agreements.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Systems contain education records or disclose student PII under a FERPA exception.</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32</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U.S. Department of Education, FERPA reasonable methods guidance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HIPAA</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HIPAA Security Rule safeguards ePHI</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45 CFR 164.308, 164.310, and 164.312 require administrative, physical, and technical safeguards.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REQUIRED SAFEGUARDS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Run and document risk analysis and risk management; plan for incident response, contingency, and periodic evaluation.</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TECHNICAL CONTROLS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unique user IDs, emergency access, audit controls, integrity protection, authentication, and transmission security for ePHI systems.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ADMIN EVIDENCE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Review ePHI access logs; test backup restoration; document encryption decisions from risk analysis and protect network transmission.</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A covered entity or business associate creates, receives, maintains, or transmits ePHI.</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33</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HHS, Summary of the HIPAA Security Rule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CASE STUDY  ·  HIPAA</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A troubleshooting change exposed ePHI</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Two server exposures affected more than 62,500 people, according to HHS OCR.</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FIRST EXPOSURE</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Windows server allowed internet access to patient files without requiring a username or password.</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SECOND EXPOSURE</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separate server was misconfigured after an IT response to a troubleshooting ticket.</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ADMIN TAKEAWAY</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Verify effective access after changes. Reassess risk when systems change, and document vendor safeguards and responsibilities.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What checks would catch anonymous access before a change ticket is closed?</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34</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HHS OCR, Cottage Health resolution (2019)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PCI DSS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PCI DSS secures payment card systems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PCI DSS v4.0.1 requirements apply according to validated scope and system impact.</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NETWORK &amp; SYSTEMS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Document card-data flows; restrict CDE traffic with approved firewall rules; remove vendor defaults and harden components.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IDENTITY &amp; PATCHING</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Prioritize vulnerabilities, install security updates, use unique user IDs, and enforce MFA where PCI DSS requires it.</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LOGS &amp; SCOPE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Log admin actions and access to card data; review alerts; verify connected systems and segmentation with the assessor.</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A system stores, processes, transmits card data, or can affect CDE security.</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35</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PCI SSC, PCI DSS v4.0.1 and requirement overview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GLBA</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GLBA Safeguards Rule protects customer data</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Covered financial institutions under FTC jurisdiction need a written, risk-based security program.</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PROGRAM CONTROLS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Maintain a written risk assessment and identify customer-information systems, devices, people, and service providers.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SYSTEM CONTROLS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Review access; use MFA; encrypt customer information at rest and in transit or document approved alternatives; control system changes.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MONITOR &amp; REVIEW</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Log and monitor activity; test safeguards; remediate vulnerabilities; securely dispose of data and reassess providers.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A covered financial institution falls under the FTC Safeguards Rule.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36</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FTC, Safeguards Rule guide (16 CFR Part 314)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CASE STUDY  ·  DATA SECURITY</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Layered safeguards still had a permissions gap</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FTC staff described protections that were in place—and a narrow access-control failure.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SAFEGUARDS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Controls included business-need access, transfer monitoring, USB restrictions, and blocks on some high-risk sites.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FAILED</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Improper permissions on a narrow set of reports let an employee access client data and transfer it outside the company.</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WHAT TO LEARN</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The safeguards did not prevent this disclosure. Morgan Stanley fixed the issue promptly; FTC staff closed the inquiry without deciding whether a law was violated.</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What evidence would help review report permissions and data leaving the network?</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37</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FTC, Morgan Stanley data security investigation (2015)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SOX</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SOX controls support financial reporting</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Scope IT controls to systems and data that can affect internal control over financial reporting.</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ACCESS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approved access requests, role separation, privileged-access reviews, and prompt removal of access.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CHANGE MANAGEMENT</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Track production changes through request, approval, test, deployment, and rollback; restrict developer production access.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OPERATIONS &amp; PROOF</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Protect financial interfaces, scheduled jobs, and reports; retain access, change, and processing evidence for audit.</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IT systems support in-scope financial reporting; finance and audit define the boundary.</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38</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SEC staff guidance, IT controls relevant to Section 404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GDPR</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GDPR Article 32 secures personal data</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Choose measures based on processing context, state of the art, and risk.</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PROTECT DATA</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Use encryption or pseudonymisation where appropriate; restrict access to personal data and manage keys separately.</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MAINTAIN SERVICE</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Protect confidentiality, integrity, availability, and resilience; maintain tested recovery for data and services.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TEST EFFECTIVENESS</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Run and document regular security tests; provide monitoring and incident evidence so privacy owners can assess events.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GDPR applies to the processing; confirm scope with privacy or legal.</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39</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EUR-Lex, GDPR Article 32 (security of processing)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CASE STUDY  ·  UK GDPR</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A dormant account remained for 12 years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The ICO said an attacker used a test account with the password “Password1.”</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ACCOUNT LIFECYCLE</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The “Test2” account was created in 2012 and remained active for more than 12 years without routine review.</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SHARED RESPONSIBILITY</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One organization created the account; another controlled the network. Account ownership and review duties were unclear.</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ADMIN TAKEAWAY</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Remove unused accounts, set review dates and owners, strengthen authentication, and define provider responsibilities.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Where should account inventory, review dates, and ownership appear in a baseline?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40</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UK ICO, Welsh organizations reprimanded (Oct. 2026)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CMMC</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CMMC Level 2 protects assessed CUI systems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For applicable contracts, Level 2 assesses the specified NIST SP 800-171 Rev. 2 requirements.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DEFINE THE SCOPE</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Identify CUI assets, connected systems, security-protection assets, external services, and documented exclusions.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IMPLEMENT SAFEGUARDS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Implement scoped access, MFA, secure configuration, audit logging, incident handling, media protection, and backups.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SHOW ASSESSMENT EVIDENCE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Keep a current system security plan, requirement-level evidence, remediation plan, and assessment boundary consistent with operations.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A solicitation or contract specifies a CMMC status; verify the required level and assessment type.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41</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DoD CIO, CMMC Level 2 Assessment Guide and resources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FRAMEWORK GUIDE  ·  NIST SP 800-53</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NIST SP 800-53 controls in system operations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Choose the required baseline, tailor it, and implement controls for the system’s risk and authorization.</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IDENTITY &amp; CONFIG</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AC-2 manages accounts; AC-6 limits privilege; CM-6 defines and monitors configuration settings.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AUDIT &amp; DETECTION</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AU-2 selects events; AU-6 reviews records; AU-9 protects audit information from unauthorized change.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RECOVERY &amp; PATCHING</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SI-2 tracks and fixes flaws; CP-9 backs up information; CP-10 supports recovery and reconstitution.</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USE WHEN: Federal policy, an authorization, or an adopted risk program requires a tailored control set.</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42</a:t>
            </a:r>
          </a:p>
        </p:txBody>
      </p:sp>
      <p:sp>
        <p:nvSpPr>
          <p:cNvPr id="21" name="TextBox 20"/>
          <p:cNvSpPr txBox="1"/>
          <p:nvPr/>
        </p:nvSpPr>
        <p:spPr>
          <a:xfrm>
            <a:off x="594360" y="5907024"/>
            <a:ext cx="10972800" cy="274320"/>
          </a:xfrm>
          <a:prstGeom prst="rect">
            <a:avLst/>
          </a:prstGeom>
          <a:noFill/>
        </p:spPr>
        <p:txBody>
          <a:bodyPr wrap="none" lIns="0" rIns="0" tIns="0" bIns="0">
            <a:spAutoFit/>
          </a:bodyPr>
          <a:lstStyle/>
          <a:p>
            <a:pPr algn="l"/>
            <a:r>
              <a:rPr sz="1100" b="1">
                <a:solidFill>
                  <a:srgbClr val="245487"/>
                </a:solidFill>
                <a:latin typeface="Aptos"/>
                <a:hlinkClick r:id="rId2"/>
              </a:rPr>
              <a:t>Source: NIST CSRC, SP 800-53 Rev. 5, Release 5.2.0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RESEARCH TASK</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Find a documented control failure with real impact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Choose one framework, benchmark, regulation, or control covered in this deck.</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CASE</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Find a public case where a safeguard failed or a rule was violated and caused a concrete problem.</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EVIDENCE</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Name the specific safeguard or requirement. Prefer primary sources; separate confirmed findings from claims or inference.</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ANALYSIS</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Explain the failure, impact, response, and one sysadmin action that could prevent or detect a similar issue.</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Include: framework/control · case source · failure · impact · response · sysadmin lesson.</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FOUNDATIONS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CIS Controls and CIS Benchmarks do different jobs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One organizes safeguards; the other specifies configurations for a technology.</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 CONTROLS v8</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Program-level safeguards and priorities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 BENCHMARK</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Product-specific settings and assessment rules</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Observed state, exceptions, and verification</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p/>
        </p:txBody>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txBody>
          <a:bodyPr/>
          <a:p/>
        </p:txBody>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Question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If a host passes a Benchmark, what organization-level risk could still remain?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PROFILES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Level 1 and Level 2 express different tradeoffs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Select a profile for the system role, then test its operational impact.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LEVEL 1</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Base hardening with broad usability</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1" name="Shape 8"/>
          <p:cNvSpPr/>
          <p:nvPr/>
        </p:nvSpPr>
        <p:spPr>
          <a:xfrm>
            <a:off x="4359554" y="1874520"/>
            <a:ext cx="3472586" cy="329184"/>
          </a:xfrm>
          <a:prstGeom prst="roundRect">
            <a:avLst>
              <a:gd name="adj" fmla="val 22222"/>
            </a:avLst>
          </a:prstGeom>
          <a:solidFill>
            <a:srgbClr val="8064A2"/>
          </a:solidFill>
          <a:ln w="12700">
            <a:solidFill>
              <a:srgbClr val="8064A2"/>
            </a:solidFill>
            <a:prstDash val="solid"/>
          </a:ln>
        </p:spPr>
        <p:txBody>
          <a:bodyPr/>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LEVEL 2</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Defense in depth where security is paramount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 STIG PROFILE</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STIG-specific recommendations where provided</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p/>
        </p:txBody>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txBody>
          <a:bodyPr/>
          <a:p/>
        </p:txBody>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Decision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A production service breaks under a Level 2 setting. What evidence belongs in the exception?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ASSESSMENT</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Assessment is a versioned evidence pipeline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Record the product, benchmark, profile, content version, scanner, and scan date.</a:t>
            </a:r>
            <a:endParaRPr lang="en-US" sz="1300" dirty="0"/>
          </a:p>
        </p:txBody>
      </p:sp>
      <p:sp>
        <p:nvSpPr>
          <p:cNvPr id="6" name="Shape 3"/>
          <p:cNvSpPr/>
          <p:nvPr/>
        </p:nvSpPr>
        <p:spPr>
          <a:xfrm>
            <a:off x="640080"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7" name="Shape 4"/>
          <p:cNvSpPr/>
          <p:nvPr/>
        </p:nvSpPr>
        <p:spPr>
          <a:xfrm>
            <a:off x="640080" y="1965960"/>
            <a:ext cx="1779971"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31520"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SCOPE</a:t>
            </a:r>
            <a:endParaRPr lang="en-US" sz="1150" dirty="0"/>
          </a:p>
        </p:txBody>
      </p:sp>
      <p:sp>
        <p:nvSpPr>
          <p:cNvPr id="9" name="Text 6"/>
          <p:cNvSpPr txBox="1"/>
          <p:nvPr/>
        </p:nvSpPr>
        <p:spPr>
          <a:xfrm>
            <a:off x="777240"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Host and system role</a:t>
            </a:r>
            <a:endParaRPr lang="en-US" sz="1400" dirty="0"/>
          </a:p>
        </p:txBody>
      </p:sp>
      <p:sp>
        <p:nvSpPr>
          <p:cNvPr id="10" name="Shape 7"/>
          <p:cNvSpPr/>
          <p:nvPr/>
        </p:nvSpPr>
        <p:spPr>
          <a:xfrm>
            <a:off x="2474915" y="2903220"/>
            <a:ext cx="393192" cy="0"/>
          </a:xfrm>
          <a:prstGeom prst="line">
            <a:avLst/>
          </a:prstGeom>
          <a:noFill/>
          <a:ln w="25400">
            <a:solidFill>
              <a:srgbClr val="94A3B8"/>
            </a:solidFill>
            <a:prstDash val="solid"/>
            <a:tailEnd type="triangle"/>
          </a:ln>
        </p:spPr>
        <p:txBody>
          <a:bodyPr/>
          <a:p/>
        </p:txBody>
      </p:sp>
      <p:sp>
        <p:nvSpPr>
          <p:cNvPr id="11" name="Shape 8"/>
          <p:cNvSpPr/>
          <p:nvPr/>
        </p:nvSpPr>
        <p:spPr>
          <a:xfrm>
            <a:off x="2922971"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12" name="Shape 9"/>
          <p:cNvSpPr/>
          <p:nvPr/>
        </p:nvSpPr>
        <p:spPr>
          <a:xfrm>
            <a:off x="2922971" y="1965960"/>
            <a:ext cx="1779971" cy="329184"/>
          </a:xfrm>
          <a:prstGeom prst="roundRect">
            <a:avLst>
              <a:gd name="adj" fmla="val 22222"/>
            </a:avLst>
          </a:prstGeom>
          <a:solidFill>
            <a:srgbClr val="4F81BD"/>
          </a:solidFill>
          <a:ln w="12700">
            <a:solidFill>
              <a:srgbClr val="4F81BD"/>
            </a:solidFill>
            <a:prstDash val="solid"/>
          </a:ln>
        </p:spPr>
        <p:txBody>
          <a:bodyPr/>
          <a:p/>
        </p:txBody>
      </p:sp>
      <p:sp>
        <p:nvSpPr>
          <p:cNvPr id="13" name="Text 10"/>
          <p:cNvSpPr txBox="1"/>
          <p:nvPr/>
        </p:nvSpPr>
        <p:spPr>
          <a:xfrm>
            <a:off x="3014411"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PROFILE</a:t>
            </a:r>
            <a:endParaRPr lang="en-US" sz="1150" dirty="0"/>
          </a:p>
        </p:txBody>
      </p:sp>
      <p:sp>
        <p:nvSpPr>
          <p:cNvPr id="14" name="Text 11"/>
          <p:cNvSpPr txBox="1"/>
          <p:nvPr/>
        </p:nvSpPr>
        <p:spPr>
          <a:xfrm>
            <a:off x="3060131"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Benchmark + version</a:t>
            </a:r>
            <a:endParaRPr lang="en-US" sz="1400" dirty="0"/>
          </a:p>
        </p:txBody>
      </p:sp>
      <p:sp>
        <p:nvSpPr>
          <p:cNvPr id="15" name="Shape 12"/>
          <p:cNvSpPr/>
          <p:nvPr/>
        </p:nvSpPr>
        <p:spPr>
          <a:xfrm>
            <a:off x="4757806" y="2903220"/>
            <a:ext cx="393192" cy="0"/>
          </a:xfrm>
          <a:prstGeom prst="line">
            <a:avLst/>
          </a:prstGeom>
          <a:noFill/>
          <a:ln w="25400">
            <a:solidFill>
              <a:srgbClr val="94A3B8"/>
            </a:solidFill>
            <a:prstDash val="solid"/>
            <a:tailEnd type="triangle"/>
          </a:ln>
        </p:spPr>
        <p:txBody>
          <a:bodyPr/>
          <a:p/>
        </p:txBody>
      </p:sp>
      <p:sp>
        <p:nvSpPr>
          <p:cNvPr id="16" name="Shape 13"/>
          <p:cNvSpPr/>
          <p:nvPr/>
        </p:nvSpPr>
        <p:spPr>
          <a:xfrm>
            <a:off x="5205862"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17" name="Shape 14"/>
          <p:cNvSpPr/>
          <p:nvPr/>
        </p:nvSpPr>
        <p:spPr>
          <a:xfrm>
            <a:off x="5205862" y="1965960"/>
            <a:ext cx="1779971" cy="329184"/>
          </a:xfrm>
          <a:prstGeom prst="roundRect">
            <a:avLst>
              <a:gd name="adj" fmla="val 22222"/>
            </a:avLst>
          </a:prstGeom>
          <a:solidFill>
            <a:srgbClr val="F79646"/>
          </a:solidFill>
          <a:ln w="12700">
            <a:solidFill>
              <a:srgbClr val="F79646"/>
            </a:solidFill>
            <a:prstDash val="solid"/>
          </a:ln>
        </p:spPr>
        <p:txBody>
          <a:bodyPr/>
          <a:p/>
        </p:txBody>
      </p:sp>
      <p:sp>
        <p:nvSpPr>
          <p:cNvPr id="18" name="Text 15"/>
          <p:cNvSpPr txBox="1"/>
          <p:nvPr/>
        </p:nvSpPr>
        <p:spPr>
          <a:xfrm>
            <a:off x="5297302"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SCAN</a:t>
            </a:r>
            <a:endParaRPr lang="en-US" sz="1150" dirty="0"/>
          </a:p>
        </p:txBody>
      </p:sp>
      <p:sp>
        <p:nvSpPr>
          <p:cNvPr id="19" name="Text 16"/>
          <p:cNvSpPr txBox="1"/>
          <p:nvPr/>
        </p:nvSpPr>
        <p:spPr>
          <a:xfrm>
            <a:off x="5343022"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Tool + content version</a:t>
            </a:r>
            <a:endParaRPr lang="en-US" sz="1400" dirty="0"/>
          </a:p>
        </p:txBody>
      </p:sp>
      <p:sp>
        <p:nvSpPr>
          <p:cNvPr id="20" name="Shape 17"/>
          <p:cNvSpPr/>
          <p:nvPr/>
        </p:nvSpPr>
        <p:spPr>
          <a:xfrm>
            <a:off x="7040697" y="2903220"/>
            <a:ext cx="393192" cy="0"/>
          </a:xfrm>
          <a:prstGeom prst="line">
            <a:avLst/>
          </a:prstGeom>
          <a:noFill/>
          <a:ln w="25400">
            <a:solidFill>
              <a:srgbClr val="94A3B8"/>
            </a:solidFill>
            <a:prstDash val="solid"/>
            <a:tailEnd type="triangle"/>
          </a:ln>
        </p:spPr>
        <p:txBody>
          <a:bodyPr/>
          <a:p/>
        </p:txBody>
      </p:sp>
      <p:sp>
        <p:nvSpPr>
          <p:cNvPr id="21" name="Shape 18"/>
          <p:cNvSpPr/>
          <p:nvPr/>
        </p:nvSpPr>
        <p:spPr>
          <a:xfrm>
            <a:off x="7488753"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22" name="Shape 19"/>
          <p:cNvSpPr/>
          <p:nvPr/>
        </p:nvSpPr>
        <p:spPr>
          <a:xfrm>
            <a:off x="7488753" y="1965960"/>
            <a:ext cx="1779971" cy="329184"/>
          </a:xfrm>
          <a:prstGeom prst="roundRect">
            <a:avLst>
              <a:gd name="adj" fmla="val 22222"/>
            </a:avLst>
          </a:prstGeom>
          <a:solidFill>
            <a:srgbClr val="8064A2"/>
          </a:solidFill>
          <a:ln w="12700">
            <a:solidFill>
              <a:srgbClr val="8064A2"/>
            </a:solidFill>
            <a:prstDash val="solid"/>
          </a:ln>
        </p:spPr>
        <p:txBody>
          <a:bodyPr/>
          <a:p/>
        </p:txBody>
      </p:sp>
      <p:sp>
        <p:nvSpPr>
          <p:cNvPr id="23" name="Text 20"/>
          <p:cNvSpPr txBox="1"/>
          <p:nvPr/>
        </p:nvSpPr>
        <p:spPr>
          <a:xfrm>
            <a:off x="7580193"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p>
        </p:txBody>
      </p:sp>
      <p:sp>
        <p:nvSpPr>
          <p:cNvPr id="24" name="Text 21"/>
          <p:cNvSpPr txBox="1"/>
          <p:nvPr/>
        </p:nvSpPr>
        <p:spPr>
          <a:xfrm>
            <a:off x="7625913"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Pass / fail / N.A.</a:t>
            </a:r>
            <a:endParaRPr lang="en-US" sz="1400" dirty="0"/>
          </a:p>
        </p:txBody>
      </p:sp>
      <p:sp>
        <p:nvSpPr>
          <p:cNvPr id="25" name="Shape 22"/>
          <p:cNvSpPr/>
          <p:nvPr/>
        </p:nvSpPr>
        <p:spPr>
          <a:xfrm>
            <a:off x="9323588" y="2903220"/>
            <a:ext cx="393192" cy="0"/>
          </a:xfrm>
          <a:prstGeom prst="line">
            <a:avLst/>
          </a:prstGeom>
          <a:noFill/>
          <a:ln w="25400">
            <a:solidFill>
              <a:srgbClr val="94A3B8"/>
            </a:solidFill>
            <a:prstDash val="solid"/>
            <a:tailEnd type="triangle"/>
          </a:ln>
        </p:spPr>
        <p:txBody>
          <a:bodyPr/>
          <a:p/>
        </p:txBody>
      </p:sp>
      <p:sp>
        <p:nvSpPr>
          <p:cNvPr id="26" name="Shape 23"/>
          <p:cNvSpPr/>
          <p:nvPr/>
        </p:nvSpPr>
        <p:spPr>
          <a:xfrm>
            <a:off x="9771644" y="1965960"/>
            <a:ext cx="1779971" cy="1874520"/>
          </a:xfrm>
          <a:prstGeom prst="roundRect">
            <a:avLst>
              <a:gd name="adj" fmla="val 4110"/>
            </a:avLst>
          </a:prstGeom>
          <a:solidFill>
            <a:srgbClr val="FFFFFF"/>
          </a:solidFill>
          <a:ln w="12700">
            <a:solidFill>
              <a:srgbClr val="CBD5E1"/>
            </a:solidFill>
            <a:prstDash val="solid"/>
          </a:ln>
        </p:spPr>
        <p:txBody>
          <a:bodyPr/>
          <a:p/>
        </p:txBody>
      </p:sp>
      <p:sp>
        <p:nvSpPr>
          <p:cNvPr id="27" name="Shape 24"/>
          <p:cNvSpPr/>
          <p:nvPr/>
        </p:nvSpPr>
        <p:spPr>
          <a:xfrm>
            <a:off x="9771644" y="1965960"/>
            <a:ext cx="1779971" cy="329184"/>
          </a:xfrm>
          <a:prstGeom prst="roundRect">
            <a:avLst>
              <a:gd name="adj" fmla="val 22222"/>
            </a:avLst>
          </a:prstGeom>
          <a:solidFill>
            <a:srgbClr val="70AD47"/>
          </a:solidFill>
          <a:ln w="12700">
            <a:solidFill>
              <a:srgbClr val="70AD47"/>
            </a:solidFill>
            <a:prstDash val="solid"/>
          </a:ln>
        </p:spPr>
        <p:txBody>
          <a:bodyPr/>
          <a:p/>
        </p:txBody>
      </p:sp>
      <p:sp>
        <p:nvSpPr>
          <p:cNvPr id="28" name="Text 25"/>
          <p:cNvSpPr txBox="1"/>
          <p:nvPr/>
        </p:nvSpPr>
        <p:spPr>
          <a:xfrm>
            <a:off x="9863084"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DECIDE</a:t>
            </a:r>
            <a:endParaRPr lang="en-US" sz="1150" dirty="0"/>
          </a:p>
        </p:txBody>
      </p:sp>
      <p:sp>
        <p:nvSpPr>
          <p:cNvPr id="29" name="Text 26"/>
          <p:cNvSpPr txBox="1"/>
          <p:nvPr/>
        </p:nvSpPr>
        <p:spPr>
          <a:xfrm>
            <a:off x="9908804"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Fix, investigate, or except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READ THE REPORT</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score is a starting point, not a remediation queue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Baseline report: 27 of 48 controls pass; 21 fail on a fictional Ubuntu host.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7" name="Shape 4"/>
          <p:cNvSpPr/>
          <p:nvPr/>
        </p:nvSpPr>
        <p:spPr>
          <a:xfrm>
            <a:off x="658368" y="1874520"/>
            <a:ext cx="3472586" cy="329184"/>
          </a:xfrm>
          <a:prstGeom prst="roundRect">
            <a:avLst>
              <a:gd name="adj" fmla="val 22222"/>
            </a:avLst>
          </a:prstGeom>
          <a:solidFill>
            <a:srgbClr val="70AD47"/>
          </a:solidFill>
          <a:ln w="12700">
            <a:solidFill>
              <a:srgbClr val="70AD47"/>
            </a:solidFill>
            <a:prstDash val="solid"/>
          </a:ln>
        </p:spPr>
        <p:txBody>
          <a:bodyPr/>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PASS</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27 controls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1" name="Shape 8"/>
          <p:cNvSpPr/>
          <p:nvPr/>
        </p:nvSpPr>
        <p:spPr>
          <a:xfrm>
            <a:off x="4359554" y="1874520"/>
            <a:ext cx="3472586" cy="329184"/>
          </a:xfrm>
          <a:prstGeom prst="roundRect">
            <a:avLst>
              <a:gd name="adj" fmla="val 22222"/>
            </a:avLst>
          </a:prstGeom>
          <a:solidFill>
            <a:srgbClr val="C0504D"/>
          </a:solidFill>
          <a:ln w="12700">
            <a:solidFill>
              <a:srgbClr val="C0504D"/>
            </a:solidFill>
            <a:prstDash val="solid"/>
          </a:ln>
        </p:spPr>
        <p:txBody>
          <a:bodyPr/>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FAIL</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21 controls to analyze</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5" name="Shape 12"/>
          <p:cNvSpPr/>
          <p:nvPr/>
        </p:nvSpPr>
        <p:spPr>
          <a:xfrm>
            <a:off x="8060741" y="1874520"/>
            <a:ext cx="3472586" cy="329184"/>
          </a:xfrm>
          <a:prstGeom prst="roundRect">
            <a:avLst>
              <a:gd name="adj" fmla="val 22222"/>
            </a:avLst>
          </a:prstGeom>
          <a:solidFill>
            <a:srgbClr val="4F81BD"/>
          </a:solidFill>
          <a:ln w="12700">
            <a:solidFill>
              <a:srgbClr val="4F81BD"/>
            </a:solidFill>
            <a:prstDash val="solid"/>
          </a:ln>
        </p:spPr>
        <p:txBody>
          <a:bodyPr/>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CONTEXT</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Different failures carry different risk</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p/>
        </p:txBody>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txBody>
          <a:bodyPr/>
          <a:p/>
        </p:txBody>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Discuss</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failure could be urgent even if the overall score barely changes?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PRIORITY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Rank a failed control by plausible harm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Control severity, exploit path, exposure, and operational cost all matter.</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txBody>
          <a:bodyPr/>
          <a:p/>
        </p:txBody>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Finding</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txBody>
          <a:bodyPr/>
          <a:p/>
        </p:txBody>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Exact control ID and observed failing state</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txBody>
          <a:bodyPr/>
          <a:p/>
        </p:txBody>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Threat</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txBody>
          <a:bodyPr/>
          <a:p/>
        </p:txBody>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Attack technique or failure mode it permits</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txBody>
          <a:bodyPr/>
          <a:p/>
        </p:txBody>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Exposure</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txBody>
          <a:bodyPr/>
          <a:p/>
        </p:txBody>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Can an attacker reach or influence this host?</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txBody>
          <a:bodyPr/>
          <a:p/>
        </p:txBody>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Impact</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txBody>
          <a:bodyPr/>
          <a:p/>
        </p:txBody>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Privilege, data, service, and business effect</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txBody>
          <a:bodyPr/>
          <a:p/>
        </p:txBody>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txBody>
          <a:bodyPr/>
          <a:p/>
        </p:txBody>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Fix window, test plan, owner, or exception</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ATT&amp;CK</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control is meaningful when its attack path is clear</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Map the failing control to the technique it is intended to frustrate.</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Exact ID + title</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txBody>
          <a:bodyPr/>
          <a:p/>
        </p:txBody>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txBody>
          <a:bodyPr/>
          <a:p/>
        </p:txBody>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WEAK STATE</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What the scan found</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txBody>
          <a:bodyPr/>
          <a:p/>
        </p:txBody>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txBody>
          <a:bodyPr/>
          <a:p/>
        </p:txBody>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ATT&amp;CK ID + name</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txBody>
          <a:bodyPr/>
          <a:p/>
        </p:txBody>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22" name="Shape 19"/>
          <p:cNvSpPr/>
          <p:nvPr/>
        </p:nvSpPr>
        <p:spPr>
          <a:xfrm>
            <a:off x="9200921" y="1965960"/>
            <a:ext cx="2350694" cy="329184"/>
          </a:xfrm>
          <a:prstGeom prst="roundRect">
            <a:avLst>
              <a:gd name="adj" fmla="val 22222"/>
            </a:avLst>
          </a:prstGeom>
          <a:solidFill>
            <a:srgbClr val="C0504D"/>
          </a:solidFill>
          <a:ln w="12700">
            <a:solidFill>
              <a:srgbClr val="C0504D"/>
            </a:solidFill>
            <a:prstDash val="solid"/>
          </a:ln>
        </p:spPr>
        <p:txBody>
          <a:bodyPr/>
          <a:p/>
        </p:txBody>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What becomes easier</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p/>
        </p:txBody>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txBody>
          <a:bodyPr/>
          <a:p/>
        </p:txBody>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SYSADMIN USE</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Use mapped techniques to explain which attack paths a failing control is meant to disrupt.</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BASELINE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An organizational baseline is a controlled profile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Define where a setting applies and how deviations are approved.</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STANDARD</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Benchmark version, profile, and scope</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TAILORING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Role-specific applicability and tests</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DRIFT</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Recurring scan and change review</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p/>
        </p:txBody>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txBody>
          <a:bodyPr/>
          <a:p/>
        </p:txBody>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Prompt</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Would you give a domain controller and a web server the same exception list?</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EXCEPTIONS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An exception records accepted residual risk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It needs a reason, owner, compensating control, and review date.</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txBody>
          <a:bodyPr/>
          <a:p/>
        </p:txBody>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txBody>
          <a:bodyPr/>
          <a:p/>
        </p:txBody>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ID, benchmark version, and required state</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txBody>
          <a:bodyPr/>
          <a:p/>
        </p:txBody>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Reason</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txBody>
          <a:bodyPr/>
          <a:p/>
        </p:txBody>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Specific breakage or non-applicability evidence</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txBody>
          <a:bodyPr/>
          <a:p/>
        </p:txBody>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txBody>
          <a:bodyPr/>
          <a:p/>
        </p:txBody>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Exposure and likely consequence</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txBody>
          <a:bodyPr/>
          <a:p/>
        </p:txBody>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Approval</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txBody>
          <a:bodyPr/>
          <a:p/>
        </p:txBody>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Named risk owner and acceptance decision</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txBody>
          <a:bodyPr/>
          <a:p/>
        </p:txBody>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Expiry</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txBody>
          <a:bodyPr/>
          <a:p/>
        </p:txBody>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Review trigger, date, and compensating control</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REMEDIATION</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Every fix needs a rollback and proof</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junior admin should be able to repeat the runbook.</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txBody>
          <a:bodyPr/>
          <a:p/>
        </p:txBody>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Current</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txBody>
          <a:bodyPr/>
          <a:p/>
        </p:txBody>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Exact failing value or configuration</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txBody>
          <a:bodyPr/>
          <a:p/>
        </p:txBody>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txBody>
          <a:bodyPr/>
          <a:p/>
        </p:txBody>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Required setting and reason</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txBody>
          <a:bodyPr/>
          <a:p/>
        </p:txBody>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Change</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txBody>
          <a:bodyPr/>
          <a:p/>
        </p:txBody>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Commands, checks, and service impact</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txBody>
          <a:bodyPr/>
          <a:p/>
        </p:txBody>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txBody>
          <a:bodyPr/>
          <a:p/>
        </p:txBody>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Live-state command plus expected output</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txBody>
          <a:bodyPr/>
          <a:p/>
        </p:txBody>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Recover</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txBody>
          <a:bodyPr/>
          <a:p/>
        </p:txBody>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Rollback and workflow test</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LIVE STATE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Check what the service is using</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Validate syntax, reload, inspect effective state, and test access.</a:t>
            </a:r>
            <a:endParaRPr lang="en-US" sz="1300" dirty="0"/>
          </a:p>
        </p:txBody>
      </p:sp>
      <p:sp>
        <p:nvSpPr>
          <p:cNvPr id="6" name="Shape 3"/>
          <p:cNvSpPr/>
          <p:nvPr/>
        </p:nvSpPr>
        <p:spPr>
          <a:xfrm>
            <a:off x="960120" y="1828800"/>
            <a:ext cx="10149840" cy="2331720"/>
          </a:xfrm>
          <a:prstGeom prst="roundRect">
            <a:avLst>
              <a:gd name="adj" fmla="val 3137"/>
            </a:avLst>
          </a:prstGeom>
          <a:solidFill>
            <a:srgbClr val="16202C"/>
          </a:solidFill>
          <a:ln w="12700">
            <a:solidFill>
              <a:srgbClr val="16202C"/>
            </a:solidFill>
            <a:prstDash val="solid"/>
          </a:ln>
        </p:spPr>
        <p:txBody>
          <a:bodyPr/>
          <a:p/>
        </p:txBody>
      </p:sp>
      <p:sp>
        <p:nvSpPr>
          <p:cNvPr id="7" name="Shape 4"/>
          <p:cNvSpPr/>
          <p:nvPr/>
        </p:nvSpPr>
        <p:spPr>
          <a:xfrm>
            <a:off x="960120" y="1828800"/>
            <a:ext cx="91440" cy="2331720"/>
          </a:xfrm>
          <a:prstGeom prst="rect">
            <a:avLst>
              <a:gd name="adj" fmla="val 80000"/>
            </a:avLst>
          </a:prstGeom>
          <a:solidFill>
            <a:srgbClr val="4BACC6"/>
          </a:solidFill>
          <a:ln w="12700">
            <a:solidFill>
              <a:srgbClr val="4BACC6"/>
            </a:solidFill>
            <a:prstDash val="solid"/>
          </a:ln>
        </p:spPr>
        <p:txBody>
          <a:bodyPr/>
          <a:p/>
        </p:txBody>
      </p:sp>
      <p:sp>
        <p:nvSpPr>
          <p:cNvPr id="8" name="Text 5"/>
          <p:cNvSpPr txBox="1"/>
          <p:nvPr/>
        </p:nvSpPr>
        <p:spPr>
          <a:xfrm>
            <a:off x="1188720" y="1984248"/>
            <a:ext cx="9738360" cy="2057400"/>
          </a:xfrm>
          <a:prstGeom prst="rect">
            <a:avLst/>
          </a:prstGeom>
          <a:noFill/>
          <a:ln/>
        </p:spPr>
        <p:txBody>
          <a:bodyPr wrap="square" lIns="508" tIns="508" rIns="508" bIns="508" rtlCol="0" anchor="t">
            <a:normAutofit/>
          </a:bodyPr>
          <a:lstStyle/>
          <a:p>
            <a:pPr algn="l" indent="0" marL="0">
              <a:buNone/>
            </a:pPr>
            <a:r>
              <a:rPr lang="en-US" sz="1600" dirty="0">
                <a:solidFill>
                  <a:srgbClr val="E8F0F7"/>
                </a:solidFill>
                <a:latin typeface="Courier New" pitchFamily="34" charset="0"/>
                <a:ea typeface="Courier New" pitchFamily="34" charset="-122"/>
                <a:cs typeface="Courier New" pitchFamily="34" charset="-120"/>
              </a:rPr>
              <a:t>sudo sshd -t</a:t>
            </a:r>
            <a:endParaRPr lang="en-US" sz="1600" dirty="0"/>
          </a:p>
          <a:p>
            <a:pPr algn="l" indent="0" marL="0">
              <a:buNone/>
            </a:pPr>
            <a:r>
              <a:rPr lang="en-US" sz="1600" dirty="0">
                <a:solidFill>
                  <a:srgbClr val="E8F0F7"/>
                </a:solidFill>
                <a:latin typeface="Courier New" pitchFamily="34" charset="0"/>
                <a:ea typeface="Courier New" pitchFamily="34" charset="-122"/>
                <a:cs typeface="Courier New" pitchFamily="34" charset="-120"/>
              </a:rPr>
              <a:t>sudo systemctl reload sshd</a:t>
            </a:r>
            <a:endParaRPr lang="en-US" sz="1600" dirty="0"/>
          </a:p>
          <a:p>
            <a:pPr algn="l" indent="0" marL="0">
              <a:buNone/>
            </a:pPr>
            <a:r>
              <a:rPr lang="en-US" sz="1600" dirty="0">
                <a:solidFill>
                  <a:srgbClr val="E8F0F7"/>
                </a:solidFill>
                <a:latin typeface="Courier New" pitchFamily="34" charset="0"/>
                <a:ea typeface="Courier New" pitchFamily="34" charset="-122"/>
                <a:cs typeface="Courier New" pitchFamily="34" charset="-120"/>
              </a:rPr>
              <a:t>sudo sshd -T | grep -i maxauthtries</a:t>
            </a:r>
            <a:endParaRPr lang="en-US" sz="1600" dirty="0"/>
          </a:p>
          <a:p>
            <a:pPr algn="l" indent="0" marL="0">
              <a:buNone/>
            </a:pPr>
            <a:r>
              <a:rPr lang="en-US" sz="1600" dirty="0">
                <a:solidFill>
                  <a:srgbClr val="E8F0F7"/>
                </a:solidFill>
                <a:latin typeface="Courier New" pitchFamily="34" charset="0"/>
                <a:ea typeface="Courier New" pitchFamily="34" charset="-122"/>
                <a:cs typeface="Courier New" pitchFamily="34" charset="-120"/>
              </a:rPr>
              <a:t># Then confirm a second SSH session can log in</a:t>
            </a:r>
            <a:endParaRPr lang="en-US" sz="1600" dirty="0"/>
          </a:p>
        </p:txBody>
      </p:sp>
      <p:sp>
        <p:nvSpPr>
          <p:cNvPr id="9" name="Shape 6"/>
          <p:cNvSpPr/>
          <p:nvPr/>
        </p:nvSpPr>
        <p:spPr>
          <a:xfrm>
            <a:off x="960120" y="4736592"/>
            <a:ext cx="10195560" cy="758952"/>
          </a:xfrm>
          <a:prstGeom prst="roundRect">
            <a:avLst>
              <a:gd name="adj" fmla="val 9639"/>
            </a:avLst>
          </a:prstGeom>
          <a:solidFill>
            <a:srgbClr val="FFFFFF"/>
          </a:solidFill>
          <a:ln w="12700">
            <a:solidFill>
              <a:srgbClr val="C0504D"/>
            </a:solidFill>
            <a:prstDash val="solid"/>
          </a:ln>
        </p:spPr>
        <p:txBody>
          <a:bodyPr/>
          <a:p/>
        </p:txBody>
      </p:sp>
      <p:sp>
        <p:nvSpPr>
          <p:cNvPr id="10" name="Shape 7"/>
          <p:cNvSpPr/>
          <p:nvPr/>
        </p:nvSpPr>
        <p:spPr>
          <a:xfrm>
            <a:off x="960120" y="4736592"/>
            <a:ext cx="91440" cy="758952"/>
          </a:xfrm>
          <a:prstGeom prst="rect">
            <a:avLst>
              <a:gd name="adj" fmla="val 80000"/>
            </a:avLst>
          </a:prstGeom>
          <a:solidFill>
            <a:srgbClr val="C0504D"/>
          </a:solidFill>
          <a:ln w="12700">
            <a:solidFill>
              <a:srgbClr val="C0504D"/>
            </a:solidFill>
            <a:prstDash val="solid"/>
          </a:ln>
        </p:spPr>
        <p:txBody>
          <a:bodyPr/>
          <a:p/>
        </p:txBody>
      </p:sp>
      <p:sp>
        <p:nvSpPr>
          <p:cNvPr id="11" name="Text 8"/>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Safety gate</a:t>
            </a:r>
            <a:endParaRPr lang="en-US" sz="1320" dirty="0"/>
          </a:p>
        </p:txBody>
      </p:sp>
      <p:sp>
        <p:nvSpPr>
          <p:cNvPr id="12" name="Text 9"/>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Keep the first session open until the second login succeeds.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FIM</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AIDE compares live files to a trusted baseline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Tripwire is another FIM tool; AIDE can detect later file changes.</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txBody>
          <a:bodyPr/>
          <a:p/>
        </p:txBody>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BASELINE</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Initialize after approved changes</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txBody>
          <a:bodyPr/>
          <a:p/>
        </p:txBody>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12" name="Shape 9"/>
          <p:cNvSpPr/>
          <p:nvPr/>
        </p:nvSpPr>
        <p:spPr>
          <a:xfrm>
            <a:off x="3493694" y="1965960"/>
            <a:ext cx="2350694" cy="329184"/>
          </a:xfrm>
          <a:prstGeom prst="roundRect">
            <a:avLst>
              <a:gd name="adj" fmla="val 22222"/>
            </a:avLst>
          </a:prstGeom>
          <a:solidFill>
            <a:srgbClr val="F79646"/>
          </a:solidFill>
          <a:ln w="12700">
            <a:solidFill>
              <a:srgbClr val="F79646"/>
            </a:solidFill>
            <a:prstDash val="solid"/>
          </a:ln>
        </p:spPr>
        <p:txBody>
          <a:bodyPr/>
          <a:p/>
        </p:txBody>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CHANGE</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Simulated unauthorized file</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txBody>
          <a:bodyPr/>
          <a:p/>
        </p:txBody>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17" name="Shape 14"/>
          <p:cNvSpPr/>
          <p:nvPr/>
        </p:nvSpPr>
        <p:spPr>
          <a:xfrm>
            <a:off x="6347308" y="1965960"/>
            <a:ext cx="2350694" cy="329184"/>
          </a:xfrm>
          <a:prstGeom prst="roundRect">
            <a:avLst>
              <a:gd name="adj" fmla="val 22222"/>
            </a:avLst>
          </a:prstGeom>
          <a:solidFill>
            <a:srgbClr val="C0504D"/>
          </a:solidFill>
          <a:ln w="12700">
            <a:solidFill>
              <a:srgbClr val="C0504D"/>
            </a:solidFill>
            <a:prstDash val="solid"/>
          </a:ln>
        </p:spPr>
        <p:txBody>
          <a:bodyPr/>
          <a:p/>
        </p:txBody>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CHECK</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AIDE reports added / changed</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txBody>
          <a:bodyPr/>
          <a:p/>
        </p:txBody>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txBody>
          <a:bodyPr/>
          <a:p/>
        </p:txBody>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txBody>
          <a:bodyPr/>
          <a:p/>
        </p:txBody>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CLEAN UP</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Remove file; inspect residual alerts</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p/>
        </p:txBody>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txBody>
          <a:bodyPr/>
          <a:p/>
        </p:txBody>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EVIDENCE</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Capture an AIDE report showing detection of an added or changed file.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CYBER DISCUSSION</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compliance result does not decide the change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critical production service fails one hardening rule after a planned upgrade.</a:t>
            </a:r>
            <a:endParaRPr lang="en-US" sz="1300" dirty="0"/>
          </a:p>
        </p:txBody>
      </p:sp>
      <p:sp>
        <p:nvSpPr>
          <p:cNvPr id="6" name="Text 3"/>
          <p:cNvSpPr txBox="1"/>
          <p:nvPr/>
        </p:nvSpPr>
        <p:spPr>
          <a:xfrm>
            <a:off x="822960" y="1746504"/>
            <a:ext cx="10561320" cy="658368"/>
          </a:xfrm>
          <a:prstGeom prst="rect">
            <a:avLst/>
          </a:prstGeom>
          <a:noFill/>
          <a:ln/>
        </p:spPr>
        <p:txBody>
          <a:bodyPr wrap="square" lIns="508" tIns="508" rIns="508" bIns="508" rtlCol="0" anchor="ctr">
            <a:normAutofit/>
          </a:bodyPr>
          <a:lstStyle/>
          <a:p>
            <a:pPr algn="ctr" indent="0" marL="0">
              <a:buNone/>
            </a:pPr>
            <a:r>
              <a:rPr lang="en-US" sz="2000" b="1" dirty="0">
                <a:solidFill>
                  <a:srgbClr val="1F497D"/>
                </a:solidFill>
                <a:latin typeface="Calibri" pitchFamily="34" charset="0"/>
                <a:ea typeface="Calibri" pitchFamily="34" charset="-122"/>
                <a:cs typeface="Calibri" pitchFamily="34" charset="-120"/>
              </a:rPr>
              <a:t>The fix could interrupt authentication. What do you do before accepting or applying it?</a:t>
            </a:r>
            <a:endParaRPr lang="en-US" sz="2000" dirty="0"/>
          </a:p>
        </p:txBody>
      </p:sp>
      <p:sp>
        <p:nvSpPr>
          <p:cNvPr id="7" name="Shape 4"/>
          <p:cNvSpPr/>
          <p:nvPr/>
        </p:nvSpPr>
        <p:spPr>
          <a:xfrm>
            <a:off x="914400" y="2606040"/>
            <a:ext cx="10378440" cy="475488"/>
          </a:xfrm>
          <a:prstGeom prst="roundRect">
            <a:avLst>
              <a:gd name="adj" fmla="val 15385"/>
            </a:avLst>
          </a:prstGeom>
          <a:solidFill>
            <a:srgbClr val="FFFFFF"/>
          </a:solidFill>
          <a:ln w="12700">
            <a:solidFill>
              <a:srgbClr val="CBD5E1"/>
            </a:solidFill>
            <a:prstDash val="solid"/>
          </a:ln>
        </p:spPr>
        <p:txBody>
          <a:bodyPr/>
          <a:p/>
        </p:txBody>
      </p:sp>
      <p:sp>
        <p:nvSpPr>
          <p:cNvPr id="8" name="Shape 5"/>
          <p:cNvSpPr/>
          <p:nvPr/>
        </p:nvSpPr>
        <p:spPr>
          <a:xfrm>
            <a:off x="1078992" y="2734056"/>
            <a:ext cx="210312" cy="210312"/>
          </a:xfrm>
          <a:prstGeom prst="ellipse">
            <a:avLst/>
          </a:prstGeom>
          <a:solidFill>
            <a:srgbClr val="4BACC6"/>
          </a:solidFill>
          <a:ln w="12700">
            <a:solidFill>
              <a:srgbClr val="4BACC6"/>
            </a:solidFill>
            <a:prstDash val="solid"/>
          </a:ln>
        </p:spPr>
        <p:txBody>
          <a:bodyPr/>
          <a:p/>
        </p:txBody>
      </p:sp>
      <p:sp>
        <p:nvSpPr>
          <p:cNvPr id="9" name="Text 6"/>
          <p:cNvSpPr txBox="1"/>
          <p:nvPr/>
        </p:nvSpPr>
        <p:spPr>
          <a:xfrm>
            <a:off x="1481328" y="2679192"/>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What exact evidence would confirm applicability and exposure?</a:t>
            </a:r>
            <a:endParaRPr lang="en-US" sz="1500" dirty="0"/>
          </a:p>
        </p:txBody>
      </p:sp>
      <p:sp>
        <p:nvSpPr>
          <p:cNvPr id="10" name="Shape 7"/>
          <p:cNvSpPr/>
          <p:nvPr/>
        </p:nvSpPr>
        <p:spPr>
          <a:xfrm>
            <a:off x="914400" y="3218688"/>
            <a:ext cx="10378440" cy="475488"/>
          </a:xfrm>
          <a:prstGeom prst="roundRect">
            <a:avLst>
              <a:gd name="adj" fmla="val 15385"/>
            </a:avLst>
          </a:prstGeom>
          <a:solidFill>
            <a:srgbClr val="FFFFFF"/>
          </a:solidFill>
          <a:ln w="12700">
            <a:solidFill>
              <a:srgbClr val="CBD5E1"/>
            </a:solidFill>
            <a:prstDash val="solid"/>
          </a:ln>
        </p:spPr>
        <p:txBody>
          <a:bodyPr/>
          <a:p/>
        </p:txBody>
      </p:sp>
      <p:sp>
        <p:nvSpPr>
          <p:cNvPr id="11" name="Shape 8"/>
          <p:cNvSpPr/>
          <p:nvPr/>
        </p:nvSpPr>
        <p:spPr>
          <a:xfrm>
            <a:off x="1078992" y="3346704"/>
            <a:ext cx="210312" cy="210312"/>
          </a:xfrm>
          <a:prstGeom prst="ellipse">
            <a:avLst/>
          </a:prstGeom>
          <a:solidFill>
            <a:srgbClr val="F79646"/>
          </a:solidFill>
          <a:ln w="12700">
            <a:solidFill>
              <a:srgbClr val="F79646"/>
            </a:solidFill>
            <a:prstDash val="solid"/>
          </a:ln>
        </p:spPr>
        <p:txBody>
          <a:bodyPr/>
          <a:p/>
        </p:txBody>
      </p:sp>
      <p:sp>
        <p:nvSpPr>
          <p:cNvPr id="12" name="Text 9"/>
          <p:cNvSpPr txBox="1"/>
          <p:nvPr/>
        </p:nvSpPr>
        <p:spPr>
          <a:xfrm>
            <a:off x="1481328" y="3291840"/>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How would you test the fix and a rollback?</a:t>
            </a:r>
            <a:endParaRPr lang="en-US" sz="1500" dirty="0"/>
          </a:p>
        </p:txBody>
      </p:sp>
      <p:sp>
        <p:nvSpPr>
          <p:cNvPr id="13" name="Shape 10"/>
          <p:cNvSpPr/>
          <p:nvPr/>
        </p:nvSpPr>
        <p:spPr>
          <a:xfrm>
            <a:off x="914400" y="3831336"/>
            <a:ext cx="10378440" cy="475488"/>
          </a:xfrm>
          <a:prstGeom prst="roundRect">
            <a:avLst>
              <a:gd name="adj" fmla="val 15385"/>
            </a:avLst>
          </a:prstGeom>
          <a:solidFill>
            <a:srgbClr val="FFFFFF"/>
          </a:solidFill>
          <a:ln w="12700">
            <a:solidFill>
              <a:srgbClr val="CBD5E1"/>
            </a:solidFill>
            <a:prstDash val="solid"/>
          </a:ln>
        </p:spPr>
        <p:txBody>
          <a:bodyPr/>
          <a:p/>
        </p:txBody>
      </p:sp>
      <p:sp>
        <p:nvSpPr>
          <p:cNvPr id="14" name="Shape 11"/>
          <p:cNvSpPr/>
          <p:nvPr/>
        </p:nvSpPr>
        <p:spPr>
          <a:xfrm>
            <a:off x="1078992" y="3959352"/>
            <a:ext cx="210312" cy="210312"/>
          </a:xfrm>
          <a:prstGeom prst="ellipse">
            <a:avLst/>
          </a:prstGeom>
          <a:solidFill>
            <a:srgbClr val="8064A2"/>
          </a:solidFill>
          <a:ln w="12700">
            <a:solidFill>
              <a:srgbClr val="8064A2"/>
            </a:solidFill>
            <a:prstDash val="solid"/>
          </a:ln>
        </p:spPr>
        <p:txBody>
          <a:bodyPr/>
          <a:p/>
        </p:txBody>
      </p:sp>
      <p:sp>
        <p:nvSpPr>
          <p:cNvPr id="15" name="Text 12"/>
          <p:cNvSpPr txBox="1"/>
          <p:nvPr/>
        </p:nvSpPr>
        <p:spPr>
          <a:xfrm>
            <a:off x="1481328" y="3904488"/>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Who owns a bounded exception if the fix cannot ship now?</a:t>
            </a:r>
            <a:endParaRPr lang="en-US" sz="1500" dirty="0"/>
          </a:p>
        </p:txBody>
      </p:sp>
      <p:sp>
        <p:nvSpPr>
          <p:cNvPr id="16" name="Shape 13"/>
          <p:cNvSpPr/>
          <p:nvPr/>
        </p:nvSpPr>
        <p:spPr>
          <a:xfrm>
            <a:off x="4270248" y="5120640"/>
            <a:ext cx="3657600" cy="292608"/>
          </a:xfrm>
          <a:prstGeom prst="roundRect">
            <a:avLst>
              <a:gd name="adj" fmla="val 25000"/>
            </a:avLst>
          </a:prstGeom>
          <a:solidFill>
            <a:srgbClr val="F79646"/>
          </a:solidFill>
          <a:ln w="12700">
            <a:solidFill>
              <a:srgbClr val="F79646"/>
            </a:solidFill>
            <a:prstDash val="solid"/>
          </a:ln>
        </p:spPr>
        <p:txBody>
          <a:bodyPr/>
          <a:p/>
        </p:txBody>
      </p:sp>
      <p:sp>
        <p:nvSpPr>
          <p:cNvPr id="17" name="Text 14"/>
          <p:cNvSpPr txBox="1"/>
          <p:nvPr/>
        </p:nvSpPr>
        <p:spPr>
          <a:xfrm>
            <a:off x="4325112" y="5157216"/>
            <a:ext cx="3547872" cy="201168"/>
          </a:xfrm>
          <a:prstGeom prst="rect">
            <a:avLst/>
          </a:prstGeom>
          <a:noFill/>
          <a:ln/>
        </p:spPr>
        <p:txBody>
          <a:bodyPr wrap="square" lIns="508" tIns="508" rIns="508" bIns="508"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GROUP DISCUSSION</a:t>
            </a:r>
            <a:endParaRPr lang="en-US" sz="10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ADMINISTRATOR EVIDENCE</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400" b="1">
                <a:solidFill>
                  <a:srgbClr val="275185"/>
                </a:solidFill>
                <a:latin typeface="Aptos"/>
              </a:rPr>
              <a:t>Turn applicable requirements into operational proof</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Compliance work becomes concrete when each control has an owner, system scope, and evidence.</a:t>
            </a:r>
          </a:p>
        </p:txBody>
      </p:sp>
      <p:sp>
        <p:nvSpPr>
          <p:cNvPr id="5" name="Rounded Rectangle 4"/>
          <p:cNvSpPr/>
          <p:nvPr/>
        </p:nvSpPr>
        <p:spPr>
          <a:xfrm>
            <a:off x="640080" y="1975104"/>
            <a:ext cx="2026310" cy="2395728"/>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2026310"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1880006" cy="246888"/>
          </a:xfrm>
          <a:prstGeom prst="rect">
            <a:avLst/>
          </a:prstGeom>
          <a:noFill/>
        </p:spPr>
        <p:txBody>
          <a:bodyPr wrap="square" lIns="54864" rIns="54864" tIns="18288" bIns="18288">
            <a:spAutoFit/>
          </a:bodyPr>
          <a:lstStyle/>
          <a:p>
            <a:pPr algn="ctr"/>
            <a:r>
              <a:rPr sz="1300" b="1">
                <a:solidFill>
                  <a:srgbClr val="FFFFFF"/>
                </a:solidFill>
                <a:latin typeface="Aptos"/>
              </a:rPr>
              <a:t>SCOPE</a:t>
            </a:r>
          </a:p>
        </p:txBody>
      </p:sp>
      <p:sp>
        <p:nvSpPr>
          <p:cNvPr id="8" name="TextBox 7"/>
          <p:cNvSpPr txBox="1"/>
          <p:nvPr/>
        </p:nvSpPr>
        <p:spPr>
          <a:xfrm>
            <a:off x="804671" y="2496312"/>
            <a:ext cx="1697126" cy="1737360"/>
          </a:xfrm>
          <a:prstGeom prst="rect">
            <a:avLst/>
          </a:prstGeom>
          <a:noFill/>
        </p:spPr>
        <p:txBody>
          <a:bodyPr wrap="square" lIns="54864" rIns="54864" tIns="18288" bIns="18288">
            <a:spAutoFit/>
          </a:bodyPr>
          <a:lstStyle/>
          <a:p>
            <a:pPr algn="ctr"/>
            <a:r>
              <a:rPr sz="1200" b="0">
                <a:solidFill>
                  <a:srgbClr val="253446"/>
                </a:solidFill>
                <a:latin typeface="Aptos"/>
              </a:rPr>
              <a:t>Inventory assets, data flows, trust boundaries, and service providers.</a:t>
            </a:r>
          </a:p>
        </p:txBody>
      </p:sp>
      <p:sp>
        <p:nvSpPr>
          <p:cNvPr id="9" name="Rounded Rectangle 8"/>
          <p:cNvSpPr/>
          <p:nvPr/>
        </p:nvSpPr>
        <p:spPr>
          <a:xfrm>
            <a:off x="2876702" y="1975104"/>
            <a:ext cx="2026310" cy="2395728"/>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76702" y="1975104"/>
            <a:ext cx="2026310"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9854" y="2020824"/>
            <a:ext cx="1880006" cy="246888"/>
          </a:xfrm>
          <a:prstGeom prst="rect">
            <a:avLst/>
          </a:prstGeom>
          <a:noFill/>
        </p:spPr>
        <p:txBody>
          <a:bodyPr wrap="square" lIns="54864" rIns="54864" tIns="18288" bIns="18288">
            <a:spAutoFit/>
          </a:bodyPr>
          <a:lstStyle/>
          <a:p>
            <a:pPr algn="ctr"/>
            <a:r>
              <a:rPr sz="1300" b="1">
                <a:solidFill>
                  <a:srgbClr val="FFFFFF"/>
                </a:solidFill>
                <a:latin typeface="Aptos"/>
              </a:rPr>
              <a:t>IDENTITY</a:t>
            </a:r>
          </a:p>
        </p:txBody>
      </p:sp>
      <p:sp>
        <p:nvSpPr>
          <p:cNvPr id="12" name="TextBox 11"/>
          <p:cNvSpPr txBox="1"/>
          <p:nvPr/>
        </p:nvSpPr>
        <p:spPr>
          <a:xfrm>
            <a:off x="3041294" y="2496312"/>
            <a:ext cx="1697126" cy="1737360"/>
          </a:xfrm>
          <a:prstGeom prst="rect">
            <a:avLst/>
          </a:prstGeom>
          <a:noFill/>
        </p:spPr>
        <p:txBody>
          <a:bodyPr wrap="square" lIns="54864" rIns="54864" tIns="18288" bIns="18288">
            <a:spAutoFit/>
          </a:bodyPr>
          <a:lstStyle/>
          <a:p>
            <a:pPr algn="ctr"/>
            <a:r>
              <a:rPr sz="1200" b="0">
                <a:solidFill>
                  <a:srgbClr val="253446"/>
                </a:solidFill>
                <a:latin typeface="Aptos"/>
              </a:rPr>
              <a:t>Show account ownership, role-based access, privileged access, and offboarding.</a:t>
            </a:r>
          </a:p>
        </p:txBody>
      </p:sp>
      <p:sp>
        <p:nvSpPr>
          <p:cNvPr id="13" name="Rounded Rectangle 12"/>
          <p:cNvSpPr/>
          <p:nvPr/>
        </p:nvSpPr>
        <p:spPr>
          <a:xfrm>
            <a:off x="5113324" y="1975104"/>
            <a:ext cx="2026310" cy="2395728"/>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13324" y="1975104"/>
            <a:ext cx="2026310"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86476" y="2020824"/>
            <a:ext cx="1880006" cy="246888"/>
          </a:xfrm>
          <a:prstGeom prst="rect">
            <a:avLst/>
          </a:prstGeom>
          <a:noFill/>
        </p:spPr>
        <p:txBody>
          <a:bodyPr wrap="square" lIns="54864" rIns="54864" tIns="18288" bIns="18288">
            <a:spAutoFit/>
          </a:bodyPr>
          <a:lstStyle/>
          <a:p>
            <a:pPr algn="ctr"/>
            <a:r>
              <a:rPr sz="1300" b="1">
                <a:solidFill>
                  <a:srgbClr val="FFFFFF"/>
                </a:solidFill>
                <a:latin typeface="Aptos"/>
              </a:rPr>
              <a:t>HARDEN</a:t>
            </a:r>
          </a:p>
        </p:txBody>
      </p:sp>
      <p:sp>
        <p:nvSpPr>
          <p:cNvPr id="16" name="TextBox 15"/>
          <p:cNvSpPr txBox="1"/>
          <p:nvPr/>
        </p:nvSpPr>
        <p:spPr>
          <a:xfrm>
            <a:off x="5277916" y="2496312"/>
            <a:ext cx="1697126" cy="1737360"/>
          </a:xfrm>
          <a:prstGeom prst="rect">
            <a:avLst/>
          </a:prstGeom>
          <a:noFill/>
        </p:spPr>
        <p:txBody>
          <a:bodyPr wrap="square" lIns="54864" rIns="54864" tIns="18288" bIns="18288">
            <a:spAutoFit/>
          </a:bodyPr>
          <a:lstStyle/>
          <a:p>
            <a:pPr algn="ctr"/>
            <a:r>
              <a:rPr sz="1200" b="0">
                <a:solidFill>
                  <a:srgbClr val="253446"/>
                </a:solidFill>
                <a:latin typeface="Aptos"/>
              </a:rPr>
              <a:t>Record baseline versions, patch state, vulnerabilities, and approved exceptions.</a:t>
            </a:r>
          </a:p>
        </p:txBody>
      </p:sp>
      <p:sp>
        <p:nvSpPr>
          <p:cNvPr id="17" name="Rounded Rectangle 16"/>
          <p:cNvSpPr/>
          <p:nvPr/>
        </p:nvSpPr>
        <p:spPr>
          <a:xfrm>
            <a:off x="7349947" y="1975104"/>
            <a:ext cx="2026310" cy="2395728"/>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49947" y="1975104"/>
            <a:ext cx="2026310"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3099" y="2020824"/>
            <a:ext cx="1880006" cy="246888"/>
          </a:xfrm>
          <a:prstGeom prst="rect">
            <a:avLst/>
          </a:prstGeom>
          <a:noFill/>
        </p:spPr>
        <p:txBody>
          <a:bodyPr wrap="square" lIns="54864" rIns="54864" tIns="18288" bIns="18288">
            <a:spAutoFit/>
          </a:bodyPr>
          <a:lstStyle/>
          <a:p>
            <a:pPr algn="ctr"/>
            <a:r>
              <a:rPr sz="1300" b="1">
                <a:solidFill>
                  <a:srgbClr val="FFFFFF"/>
                </a:solidFill>
                <a:latin typeface="Aptos"/>
              </a:rPr>
              <a:t>OBSERVE</a:t>
            </a:r>
          </a:p>
        </p:txBody>
      </p:sp>
      <p:sp>
        <p:nvSpPr>
          <p:cNvPr id="20" name="TextBox 19"/>
          <p:cNvSpPr txBox="1"/>
          <p:nvPr/>
        </p:nvSpPr>
        <p:spPr>
          <a:xfrm>
            <a:off x="7514539" y="2496312"/>
            <a:ext cx="1697126" cy="1737360"/>
          </a:xfrm>
          <a:prstGeom prst="rect">
            <a:avLst/>
          </a:prstGeom>
          <a:noFill/>
        </p:spPr>
        <p:txBody>
          <a:bodyPr wrap="square" lIns="54864" rIns="54864" tIns="18288" bIns="18288">
            <a:spAutoFit/>
          </a:bodyPr>
          <a:lstStyle/>
          <a:p>
            <a:pPr algn="ctr"/>
            <a:r>
              <a:rPr sz="1200" b="0">
                <a:solidFill>
                  <a:srgbClr val="253446"/>
                </a:solidFill>
                <a:latin typeface="Aptos"/>
              </a:rPr>
              <a:t>Retain useful logs, synchronized time, alert review, and incident records.</a:t>
            </a:r>
          </a:p>
        </p:txBody>
      </p:sp>
      <p:sp>
        <p:nvSpPr>
          <p:cNvPr id="21" name="Rounded Rectangle 20"/>
          <p:cNvSpPr/>
          <p:nvPr/>
        </p:nvSpPr>
        <p:spPr>
          <a:xfrm>
            <a:off x="9586569" y="1975104"/>
            <a:ext cx="2026310" cy="2395728"/>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586569" y="1975104"/>
            <a:ext cx="2026310"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59721" y="2020824"/>
            <a:ext cx="1880006" cy="246888"/>
          </a:xfrm>
          <a:prstGeom prst="rect">
            <a:avLst/>
          </a:prstGeom>
          <a:noFill/>
        </p:spPr>
        <p:txBody>
          <a:bodyPr wrap="square" lIns="54864" rIns="54864" tIns="18288" bIns="18288">
            <a:spAutoFit/>
          </a:bodyPr>
          <a:lstStyle/>
          <a:p>
            <a:pPr algn="ctr"/>
            <a:r>
              <a:rPr sz="1300" b="1">
                <a:solidFill>
                  <a:srgbClr val="FFFFFF"/>
                </a:solidFill>
                <a:latin typeface="Aptos"/>
              </a:rPr>
              <a:t>PROVE</a:t>
            </a:r>
          </a:p>
        </p:txBody>
      </p:sp>
      <p:sp>
        <p:nvSpPr>
          <p:cNvPr id="24" name="TextBox 23"/>
          <p:cNvSpPr txBox="1"/>
          <p:nvPr/>
        </p:nvSpPr>
        <p:spPr>
          <a:xfrm>
            <a:off x="9751161" y="2496312"/>
            <a:ext cx="1697126" cy="1737360"/>
          </a:xfrm>
          <a:prstGeom prst="rect">
            <a:avLst/>
          </a:prstGeom>
          <a:noFill/>
        </p:spPr>
        <p:txBody>
          <a:bodyPr wrap="square" lIns="54864" rIns="54864" tIns="18288" bIns="18288">
            <a:spAutoFit/>
          </a:bodyPr>
          <a:lstStyle/>
          <a:p>
            <a:pPr algn="ctr"/>
            <a:r>
              <a:rPr sz="1200" b="0">
                <a:solidFill>
                  <a:srgbClr val="253446"/>
                </a:solidFill>
                <a:latin typeface="Aptos"/>
              </a:rPr>
              <a:t>Keep change tickets, scan results, approvals, tests, and review dates.</a:t>
            </a:r>
          </a:p>
        </p:txBody>
      </p:sp>
      <p:sp>
        <p:nvSpPr>
          <p:cNvPr id="25" name="Rounded Rectangle 24"/>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What evidence would let another administrator or assessor verify the control?</a:t>
            </a:r>
          </a:p>
        </p:txBody>
      </p:sp>
      <p:sp>
        <p:nvSpPr>
          <p:cNvPr id="28" name="TextBox 27"/>
          <p:cNvSpPr txBox="1"/>
          <p:nvPr/>
        </p:nvSpPr>
        <p:spPr>
          <a:xfrm>
            <a:off x="11704320" y="6565392"/>
            <a:ext cx="411480" cy="182880"/>
          </a:xfrm>
          <a:prstGeom prst="rect">
            <a:avLst/>
          </a:prstGeom>
          <a:noFill/>
        </p:spPr>
        <p:txBody>
          <a:bodyPr wrap="square" lIns="54864" rIns="54864" tIns="18288" bIns="18288">
            <a:spAutoFit/>
          </a:bodyPr>
          <a:lstStyle/>
          <a:p>
            <a: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SCENARIO</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A campus payment portal has two data types</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The compliance lead confirms the portal is in scope for card data and student education records.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MAP</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Identify portal servers, management systems, network paths, backups, and vendor dependencies.</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IMPLEMENT</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Apply assigned access, configuration, patching, logging, and data-protection controls.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VERIFY</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Capture assessment results, change records, approver decisions, and unresolved exceptions.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Which requirements apply, who confirms the scope, and what evidence can the sysadmin provide?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PRIMARY SOURCES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400" b="1">
                <a:solidFill>
                  <a:srgbClr val="275185"/>
                </a:solidFill>
                <a:latin typeface="Aptos"/>
              </a:rPr>
              <a:t>Start with the current source and the assigned scope</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Use the governing law, contract, standard version, or control catalog for the organization’s facts.</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EDUCATION / HEALTH</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300" b="0">
                <a:solidFill>
                  <a:srgbClr val="253446"/>
                </a:solidFill>
                <a:latin typeface="Aptos"/>
              </a:rPr>
              <a:t>studentprivacy.ed.gov</a:t>
            </a:r>
            <a:br/>
            <a:r>
              <a:rPr sz="1300" b="0">
                <a:solidFill>
                  <a:srgbClr val="253446"/>
                </a:solidFill>
                <a:latin typeface="Aptos"/>
              </a:rPr>
              <a:t>hhs.gov/hipaa</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PAYMENT / FINANCE</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300" b="0">
                <a:solidFill>
                  <a:srgbClr val="253446"/>
                </a:solidFill>
                <a:latin typeface="Aptos"/>
              </a:rPr>
              <a:t>pcisecuritystandards.org</a:t>
            </a:r>
            <a:br/>
            <a:r>
              <a:rPr sz="1300" b="0">
                <a:solidFill>
                  <a:srgbClr val="253446"/>
                </a:solidFill>
                <a:latin typeface="Aptos"/>
              </a:rPr>
              <a:t>ftc.gov · sec.gov</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PRIVACY / FEDERAL</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300" b="0">
                <a:solidFill>
                  <a:srgbClr val="253446"/>
                </a:solidFill>
                <a:latin typeface="Aptos"/>
              </a:rPr>
              <a:t>eur-lex.europa.eu</a:t>
            </a:r>
            <a:br/>
            <a:r>
              <a:rPr sz="1300" b="0">
                <a:solidFill>
                  <a:srgbClr val="253446"/>
                </a:solidFill>
                <a:latin typeface="Aptos"/>
              </a:rPr>
              <a:t>csrc.nist.gov · acq.osd.mil</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Record the source, version, system boundary, evidence owner, and date of review.</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VENDOR PITCH SHOWDOWN</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Choose a file service for a campus team</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The service will store student and employee files. All vendors and offer details below are fictional.</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NORTHSTAR FILES</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24% over budget. SSO and mandatory MFA for admins. 180-day admin logs. Named subprocessors; export and deletion included. 24-hour recovery target. Independent report is 18 months old.</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QUICKNEST</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Within budget. SSO supported; admin MFA optional. 30-day admin logs. Daily backups; 48-hour recovery target. Subprocessors shared on request. “Compliance ready” claim; no scoped evidence supplied.</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BUYING PANEL</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Choose, conditionally approve, or defer. Ask three follow-up questions. Require two contract safeguards. Name evidence to verify before launch. Who confirms which requirements apply?</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4 min prep · 2 min pitch per vendor · 4 min panel questions · 5 min decision. Marketing claims do not establish compliance.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59</a:t>
            </a:r>
          </a:p>
        </p:txBody>
      </p:sp>
      <p:sp>
        <p:nvSpPr>
          <p:cNvPr id="21" name="TextBox 20"/>
          <p:cNvSpPr txBox="1"/>
          <p:nvPr/>
        </p:nvSpPr>
        <p:spPr>
          <a:xfrm>
            <a:off x="594360" y="5907024"/>
            <a:ext cx="10972800" cy="274320"/>
          </a:xfrm>
          <a:prstGeom prst="rect">
            <a:avLst/>
          </a:prstGeom>
          <a:noFill/>
        </p:spPr>
        <p:txBody>
          <a:bodyPr wrap="none" anchor="ctr">
            <a:spAutoFit/>
          </a:bodyPr>
          <a:lstStyle/>
          <a:p>
            <a:pPr algn="ctr"/>
            <a:r>
              <a:rPr sz="1100" b="1">
                <a:solidFill>
                  <a:srgbClr val="245487"/>
                </a:solidFill>
                <a:latin typeface="Aptos"/>
                <a:hlinkClick r:id="rId2"/>
              </a:rPr>
              <a:t>Reference: CISA Secure by Demand Guide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TABLETOP EXERCISE</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Campus file service incident</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Work as an incident team with incomplete information and pressure to restore service.</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SCENARIO</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 campus cloud file service stores student and employee documents. Users report unexpected changes to shared files; most folders remain available.</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TEAM ROLES</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Incident lead coordinates. Sysadmin checks scope, accounts, logs, and backups. Service owner tracks impact. Privacy liaison routes data questions to campus officials.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TEAM OBJECTIVE</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Decide what to contain, what evidence to preserve, and how to verify recovery. Identify who owns each decision and state your assumptions.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Discussion only: do not change real systems or contact a real provider. Take 25 minutes; record decisions, owners, and evidence.</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60</a:t>
            </a:r>
          </a:p>
        </p:txBody>
      </p:sp>
      <p:sp>
        <p:nvSpPr>
          <p:cNvPr id="21" name="TextBox 20"/>
          <p:cNvSpPr txBox="1"/>
          <p:nvPr/>
        </p:nvSpPr>
        <p:spPr>
          <a:xfrm>
            <a:off x="594360" y="5907024"/>
            <a:ext cx="10972800" cy="274320"/>
          </a:xfrm>
          <a:prstGeom prst="rect">
            <a:avLst/>
          </a:prstGeom>
          <a:noFill/>
        </p:spPr>
        <p:txBody>
          <a:bodyPr wrap="none" anchor="ctr">
            <a:spAutoFit/>
          </a:bodyPr>
          <a:lstStyle/>
          <a:p>
            <a:pPr algn="ctr"/>
            <a:r>
              <a:rPr sz="1100" b="1">
                <a:solidFill>
                  <a:srgbClr val="245487"/>
                </a:solidFill>
                <a:latin typeface="Aptos"/>
                <a:hlinkClick r:id="rId2"/>
              </a:rPr>
              <a:t>Format reference: CISA Cybersecurity Tabletop Exercise Tips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046720" cy="210312"/>
          </a:xfrm>
          <a:prstGeom prst="rect">
            <a:avLst/>
          </a:prstGeom>
          <a:noFill/>
        </p:spPr>
        <p:txBody>
          <a:bodyPr wrap="square" lIns="54864" rIns="54864" tIns="18288" bIns="18288">
            <a:spAutoFit/>
          </a:bodyPr>
          <a:lstStyle/>
          <a:p>
            <a:pPr algn="l"/>
            <a:r>
              <a:rPr sz="1100" b="1">
                <a:solidFill>
                  <a:srgbClr val="49B1C7"/>
                </a:solidFill>
                <a:latin typeface="Aptos"/>
              </a:rPr>
              <a:t>TABLETOP · INJECTS</a:t>
            </a:r>
          </a:p>
        </p:txBody>
      </p:sp>
      <p:sp>
        <p:nvSpPr>
          <p:cNvPr id="3" name="TextBox 2"/>
          <p:cNvSpPr txBox="1"/>
          <p:nvPr/>
        </p:nvSpPr>
        <p:spPr>
          <a:xfrm>
            <a:off x="502920" y="566928"/>
            <a:ext cx="10972800" cy="548640"/>
          </a:xfrm>
          <a:prstGeom prst="rect">
            <a:avLst/>
          </a:prstGeom>
          <a:noFill/>
        </p:spPr>
        <p:txBody>
          <a:bodyPr wrap="square" lIns="54864" rIns="54864" tIns="18288" bIns="18288">
            <a:spAutoFit/>
          </a:bodyPr>
          <a:lstStyle/>
          <a:p>
            <a:pPr algn="l"/>
            <a:r>
              <a:rPr sz="2700" b="1">
                <a:solidFill>
                  <a:srgbClr val="275185"/>
                </a:solidFill>
                <a:latin typeface="Aptos"/>
              </a:rPr>
              <a:t>Reveal one update at a time</a:t>
            </a:r>
          </a:p>
        </p:txBody>
      </p:sp>
      <p:sp>
        <p:nvSpPr>
          <p:cNvPr id="4" name="TextBox 3"/>
          <p:cNvSpPr txBox="1"/>
          <p:nvPr/>
        </p:nvSpPr>
        <p:spPr>
          <a:xfrm>
            <a:off x="530352" y="1133856"/>
            <a:ext cx="10698480" cy="356616"/>
          </a:xfrm>
          <a:prstGeom prst="rect">
            <a:avLst/>
          </a:prstGeom>
          <a:noFill/>
        </p:spPr>
        <p:txBody>
          <a:bodyPr wrap="square" lIns="54864" rIns="54864" tIns="18288" bIns="18288">
            <a:spAutoFit/>
          </a:bodyPr>
          <a:lstStyle/>
          <a:p>
            <a:pPr algn="l"/>
            <a:r>
              <a:rPr sz="1400" b="0">
                <a:solidFill>
                  <a:srgbClr val="647891"/>
                </a:solidFill>
                <a:latin typeface="Aptos"/>
              </a:rPr>
              <a:t>Give teams 2–3 minutes after each update to make and record their next decision.</a:t>
            </a:r>
          </a:p>
        </p:txBody>
      </p:sp>
      <p:sp>
        <p:nvSpPr>
          <p:cNvPr id="5" name="Rounded Rectangle 4"/>
          <p:cNvSpPr/>
          <p:nvPr/>
        </p:nvSpPr>
        <p:spPr>
          <a:xfrm>
            <a:off x="640080"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75104"/>
            <a:ext cx="3517391" cy="347472"/>
          </a:xfrm>
          <a:prstGeom prst="roundRect">
            <a:avLst/>
          </a:prstGeom>
          <a:solidFill>
            <a:srgbClr val="49B1C7"/>
          </a:solidFill>
          <a:ln>
            <a:solidFill>
              <a:srgbClr val="49B1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ROUND 1 · 0 MIN</a:t>
            </a:r>
          </a:p>
        </p:txBody>
      </p:sp>
      <p:sp>
        <p:nvSpPr>
          <p:cNvPr id="8" name="TextBox 7"/>
          <p:cNvSpPr txBox="1"/>
          <p:nvPr/>
        </p:nvSpPr>
        <p:spPr>
          <a:xfrm>
            <a:off x="804671"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Several users report changed files. An admin account had an unexpected sign-in. No data access or broad outage is confirmed. What do you check, preserve, and do first?</a:t>
            </a:r>
          </a:p>
        </p:txBody>
      </p:sp>
      <p:sp>
        <p:nvSpPr>
          <p:cNvPr id="9" name="Rounded Rectangle 8"/>
          <p:cNvSpPr/>
          <p:nvPr/>
        </p:nvSpPr>
        <p:spPr>
          <a:xfrm>
            <a:off x="4367784"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7784" y="1975104"/>
            <a:ext cx="3517391" cy="347472"/>
          </a:xfrm>
          <a:prstGeom prst="roundRect">
            <a:avLst/>
          </a:prstGeom>
          <a:solidFill>
            <a:srgbClr val="4D83BF"/>
          </a:solidFill>
          <a:ln>
            <a:solidFill>
              <a:srgbClr val="4D83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936"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ROUND 2 · 8 MIN</a:t>
            </a:r>
          </a:p>
        </p:txBody>
      </p:sp>
      <p:sp>
        <p:nvSpPr>
          <p:cNvPr id="12" name="TextBox 11"/>
          <p:cNvSpPr txBox="1"/>
          <p:nvPr/>
        </p:nvSpPr>
        <p:spPr>
          <a:xfrm>
            <a:off x="4532375"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The provider reports suspicious activity in another tenant; no broad event is confirmed. Sync may have copied changes. What do you pause or keep running, and who approves?</a:t>
            </a:r>
          </a:p>
        </p:txBody>
      </p:sp>
      <p:sp>
        <p:nvSpPr>
          <p:cNvPr id="13" name="Rounded Rectangle 12"/>
          <p:cNvSpPr/>
          <p:nvPr/>
        </p:nvSpPr>
        <p:spPr>
          <a:xfrm>
            <a:off x="8095487" y="1975104"/>
            <a:ext cx="3517391" cy="2468880"/>
          </a:xfrm>
          <a:prstGeom prst="roundRect">
            <a:avLst/>
          </a:prstGeom>
          <a:solidFill>
            <a:srgbClr val="FFFFFF"/>
          </a:solidFill>
          <a:ln w="12700">
            <a:solidFill>
              <a:srgbClr val="C9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5487" y="1975104"/>
            <a:ext cx="3517391" cy="347472"/>
          </a:xfrm>
          <a:prstGeom prst="roundRect">
            <a:avLst/>
          </a:prstGeom>
          <a:solidFill>
            <a:srgbClr val="F79441"/>
          </a:solidFill>
          <a:ln>
            <a:solidFill>
              <a:srgbClr val="F79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639" y="2020824"/>
            <a:ext cx="3371087" cy="246888"/>
          </a:xfrm>
          <a:prstGeom prst="rect">
            <a:avLst/>
          </a:prstGeom>
          <a:noFill/>
        </p:spPr>
        <p:txBody>
          <a:bodyPr wrap="square" lIns="54864" rIns="54864" tIns="18288" bIns="18288">
            <a:spAutoFit/>
          </a:bodyPr>
          <a:lstStyle/>
          <a:p>
            <a:pPr algn="ctr"/>
            <a:r>
              <a:rPr sz="1300" b="1">
                <a:solidFill>
                  <a:srgbClr val="FFFFFF"/>
                </a:solidFill>
                <a:latin typeface="Aptos"/>
              </a:rPr>
              <a:t>ROUND 3 · 16 MIN</a:t>
            </a:r>
          </a:p>
        </p:txBody>
      </p:sp>
      <p:sp>
        <p:nvSpPr>
          <p:cNvPr id="16" name="TextBox 15"/>
          <p:cNvSpPr txBox="1"/>
          <p:nvPr/>
        </p:nvSpPr>
        <p:spPr>
          <a:xfrm>
            <a:off x="8260079" y="2496312"/>
            <a:ext cx="3188207" cy="1810512"/>
          </a:xfrm>
          <a:prstGeom prst="rect">
            <a:avLst/>
          </a:prstGeom>
          <a:noFill/>
        </p:spPr>
        <p:txBody>
          <a:bodyPr wrap="square" lIns="54864" rIns="54864" tIns="18288" bIns="18288">
            <a:spAutoFit/>
          </a:bodyPr>
          <a:lstStyle/>
          <a:p>
            <a:pPr algn="ctr"/>
            <a:r>
              <a:rPr sz="1400" b="0">
                <a:solidFill>
                  <a:srgbClr val="253446"/>
                </a:solidFill>
                <a:latin typeface="Aptos"/>
              </a:rPr>
              <a:t>An affected folder includes student records. Backups show green; last restore test was four months ago. Provider estimates 6–18 hours. What must be verified, and who assesses notification duties?</a:t>
            </a:r>
          </a:p>
        </p:txBody>
      </p:sp>
      <p:sp>
        <p:nvSpPr>
          <p:cNvPr id="17" name="Rounded Rectangle 16"/>
          <p:cNvSpPr/>
          <p:nvPr/>
        </p:nvSpPr>
        <p:spPr>
          <a:xfrm>
            <a:off x="841248" y="5010912"/>
            <a:ext cx="10515600" cy="603504"/>
          </a:xfrm>
          <a:prstGeom prst="roundRect">
            <a:avLst/>
          </a:prstGeom>
          <a:solidFill>
            <a:srgbClr val="FFFFFF"/>
          </a:solidFill>
          <a:ln w="13970">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5010912"/>
            <a:ext cx="100584" cy="603504"/>
          </a:xfrm>
          <a:prstGeom prst="rect">
            <a:avLst/>
          </a:prstGeom>
          <a:solidFill>
            <a:srgbClr val="275185"/>
          </a:solidFill>
          <a:ln>
            <a:solidFill>
              <a:srgbClr val="275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20640"/>
            <a:ext cx="10012680" cy="384048"/>
          </a:xfrm>
          <a:prstGeom prst="rect">
            <a:avLst/>
          </a:prstGeom>
          <a:noFill/>
        </p:spPr>
        <p:txBody>
          <a:bodyPr wrap="square" lIns="54864" rIns="54864" tIns="18288" bIns="18288">
            <a:spAutoFit/>
          </a:bodyPr>
          <a:lstStyle/>
          <a:p>
            <a:pPr algn="l"/>
            <a:r>
              <a:rPr sz="1500" b="0">
                <a:solidFill>
                  <a:srgbClr val="253446"/>
                </a:solidFill>
                <a:latin typeface="Aptos"/>
              </a:rPr>
              <a:t>Team output: decision log · evidence preserved · restore checks · decision owners · next status update. Debrief: which controls informed your choices?</a:t>
            </a:r>
          </a:p>
        </p:txBody>
      </p:sp>
      <p:sp>
        <p:nvSpPr>
          <p:cNvPr id="20" name="TextBox 19"/>
          <p:cNvSpPr txBox="1"/>
          <p:nvPr/>
        </p:nvSpPr>
        <p:spPr>
          <a:xfrm>
            <a:off x="11704320" y="6565392"/>
            <a:ext cx="411480" cy="182880"/>
          </a:xfrm>
          <a:prstGeom prst="rect">
            <a:avLst/>
          </a:prstGeom>
          <a:noFill/>
        </p:spPr>
        <p:txBody>
          <a:bodyPr wrap="square" lIns="54864" rIns="54864" tIns="18288" bIns="18288">
            <a:spAutoFit/>
          </a:bodyPr>
          <a:lstStyle/>
          <a:p>
            <a:r>
              <a:t>61</a:t>
            </a:r>
          </a:p>
        </p:txBody>
      </p:sp>
      <p:sp>
        <p:nvSpPr>
          <p:cNvPr id="21" name="TextBox 20"/>
          <p:cNvSpPr txBox="1"/>
          <p:nvPr/>
        </p:nvSpPr>
        <p:spPr>
          <a:xfrm>
            <a:off x="594360" y="5907024"/>
            <a:ext cx="10972800" cy="274320"/>
          </a:xfrm>
          <a:prstGeom prst="rect">
            <a:avLst/>
          </a:prstGeom>
          <a:noFill/>
        </p:spPr>
        <p:txBody>
          <a:bodyPr wrap="none" anchor="ctr">
            <a:spAutoFit/>
          </a:bodyPr>
          <a:lstStyle/>
          <a:p>
            <a:pPr algn="ctr"/>
            <a:r>
              <a:rPr sz="1100" b="1">
                <a:solidFill>
                  <a:srgbClr val="245487"/>
                </a:solidFill>
                <a:latin typeface="Aptos"/>
                <a:hlinkClick r:id="rId2"/>
              </a:rPr>
              <a:t>Format reference: CISA Cybersecurity Tabletop Exercise Tips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CYBER 444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444 - Week 9 CIS, STIGs, and Compliance</dc:title>
  <dc:subject>CIS Benchmarks, DISA STIGs, and sysadmin compliance frameworks</dc:subject>
  <dc:creator>CYBER 444</dc:creator>
  <cp:lastModifiedBy>CYBER 444</cp:lastModifiedBy>
  <cp:revision>1</cp:revision>
  <dcterms:created xsi:type="dcterms:W3CDTF">2026-10-19T22:14:34Z</dcterms:created>
  <dcterms:modified xsi:type="dcterms:W3CDTF">2026-10-19T22:14:34Z</dcterms:modified>
</cp:coreProperties>
</file>