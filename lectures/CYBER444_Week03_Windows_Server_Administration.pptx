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Week 3 as the Windows-side mirror of Week 2's Linux administration week — same underlying goals (identity, policy enforcement, network services, patching, backup, licensing) but through AD, GPO, and PowerShell instead of flat config files and sudoers. Preview that everything taught this week is load-bearing for Lab 3 (AD/GPO/AAA) and HW 3 (stale-account audit and LDAP filters), so students should watch for the PowerShell and LDAP syntax patterns specifically — they'll type them almost verbatim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Transition slide. Everything in this section is what Lab 3 Parts 1-3 have students build by hand — verifying a domain controller, then designing and creating a tiered OU structure and the accounts that live in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intentionally the simplest possible AD picture, because Lab 3 doesn't have students promote a forest — hw03-addc ships pre-promoted specifically so lab time goes to OU/GPO design, not DCPROMO mechanics. Make sure students can still say what a DC actually does conceptually (authentication, directory replication, policy distribution), since every later slide this week assumes that baseline.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Lab 3 Part 1. Walk through why each test matters: replication failures mean OU/GPO changes might not propagate to other DCs (less visible with a single DC here, but always a concern in production), DNS failures break Kerberos SPN lookups, and netlogon failures mean nobody can log on at all. If any dcdiag test fails, stop and fix it before Part 2 - building OUs on an unhealthy DC just compounds the problem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but land the point hard: everything downstream this week (GPO, PSO, LDAP, RADIUS) inherits its trust from the DC, so a DC compromise is a domain compromise, full stop. This is the motivating “why” for the OU/tiering model on the next few slides - it's not organizational tidiness, it's blast-radius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anchor for the entire Lab 3 OU exercise - quote it directly: “a poorly designed OU/tiering model doesn't just create administrative headaches, it creates privilege-escalation paths.” Ask the class: if a helpdesk tech RDPs into a workstation using their Tier-0 domain admin account to fix a printer, what's the actual attack path an adversary now has? (Credential theft off that workstation now yields Tier-0 access.)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tree left to right and ask students, for each branch, who should have delegated rights over it - Tier0/AdminAccts should have almost nobody with rights beyond a couple of senior admins, while Workstations/IT could reasonably be delegated to a helpdesk group. Point out OU=Disabled now, even though it isn't used until the HW 3 remediation workflow later this week - planning for account lifecycle, including deletion staging, is part of good OU design from day one,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implementation of the tiering rule from two slides ago - a single human can and should hold multiple accounts with different privilege levels, used for strictly different purposes. The “-adm” suffix is a naming convention, not a technical control by itself; the real control is OU placement plus GPO/PSO scoping, which gets stricter password requirements in Section 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01 by tying the OU discussion back to attacker behavior. The last row is a deliberate bridge to Section 08's dormant-account discussion - tell students to hold that thought, because HW 3's entire premise is what happens when organizations don't follow the “Disabled OU” discipline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Windows Server's equivalent of Week 2's BIND/DHCP/NFS section - same protocols, different administrative surface (Server Manager / PowerShell *Dns*, *Dhcp*, *Smb* cmdlet families instead of flat config 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SRV-record point hard - it's the single most common “AD is broken” root cause in the real world (a workstation pointed at the wrong DNS server can't find a DC at all, so it fails to authenticate and everyone blames “the domain” instead of DNS). Ask students to connect this back to Lab 3 Part 8's ldapsearch -H ldap://hw03-addc - that hostname resolution 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call back to Week 2's DORA diagram rather than redrawing it - the wire protocol didn't change, only the administrative tooling did (Add-DhcpServerv4Scope, Add-DhcpServerv4Reservation instead of editing dhcpd.conf by hand). Spend real time on failover, since that's the concept genuinely new to the Windows side and matters anywhere DHCP being down means nobody can join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restrictive wins” rule is the fact students most often get wrong on exams - walk a concrete example: share permission = Everyone Full Control, NTFS permission = a specific group Read-only, so effective access is Read-only. This is the direct Windows analog to the Week 2 Linux lesson that NFS export options are the real security boundary, not what the client thinks it can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 tell students it's meant to be screenshotted/saved, not memorized live. Use it to reinforce that Windows administration this week trends toward “PowerShell cmdlet families that mirror the GUI role,” which sets up Section 04's deeper PowerShell dive.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rogue-DHCP row is worth a show of hands: who has, on a home network, plugged in a router that also runs DHCP and caused chaos? That's the benign version of this attack, and it's a good bridge into why enterprise switches need DHCP snooping as a network-layer control - DHCP itself can't defend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biggest section of the week - it's the direct source material for Lab 3 Parts 4-7 (Security Baseline GPO, Audit Policy GPO, PSO, and verification/lockout testing).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exam-style trap: Local Security Policy settings get silently overridden the moment a GPO delivers a conflicting setting - so “I set it locally and it's not sticking” is almost always “a GPO is winning.” This is exactly why Lab 3 has students build GPOs rather than touch secpol.msc on each machine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“why” behind Lab 3 Part 4/5's instruction to link both GPOs at the domain root rather than a specific OU - a domain-root link means every OU (Tier0, Servers, Workstations, UserAccounts) inherits the baseline and audit settings automatically. Ask the class: if you wanted Tier0/AdminAccts to have stricter password rules than the rest of the domain, would you do it with another GPO, or something else? (Answer: PSO - coming up next, since GPO password settings can only be set once per domain via the Default Domain Policy.)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memorize 4624/4625 cold - they'll use 4625 directly in Lab 3 Part 7's lockout verification (Get-WinEvent -LogName Security | Where-Object {$_.Id -eq 4625}). Mention that Event Log data only exists because Audit Policy is turned on for that category in the first place - an event ID means nothing if the GPO on the next two slides never enabled logging for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and ask, for each row, what specific attack it blunts - length/complexity/history slow offline cracking and reuse, lockout threshold/duration blunt online brute force, and “don't display last username” removes free reconnaissance for an attacker at a locked console. This table is Lab 3 Part 4 verbatim; students should be able to type the New-GPO/New-GPLink two-liner from memory by the end of lab.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“Advanced Audit Policy” is deliberate, not stylistic - the legacy 9-category Local Policy audit settings are coarser and get silently overridden by Advanced Audit Policy the moment it's configured, so mixing the two creates confusing gaps. gpupdate /force plus auditpol /get /category:* is how you prove the settings actually landed - screenshots of Group Policy Editor alone don't prove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precedence-number inversion explicitly and slowly - it trips up almost everyone the first time (intuition says higher number = higher priority, but PSOs are the opposite). This is Lab 3 Part 6: New-ADFineGrainedPasswordPolicy -Precedence 10 with tighter settings (20-char minimum, 90-day max age, 3-attempt lockout) scoped only to enovak-adm via Add-ADFineGrainedPasswordPolicySubject, verified with Get-ADUserResultantPasswordPolicy.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Lab 3 Part 7 nearly verbatim - the point is proving policy-as-written equals policy-as-enforced, a habit, not a one-time check. Ask students why testing against ajohnson instead of enovak-adm matters: it's not just “don't lock yourself out,” it's that the two accounts are under different PSOs with different thresholds, so testing the wrong one gives a false read on which policy is actually in effect.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03 by tying GPO/audit/PSO back to attacker behavior, same pattern as Section 01's closing slide. The “cleared logs” row connects to the Event Log overview slide - Event ID 1102 is itself auditable, so even hiding tracks leaves a trace if centralized logging is in place, foreshadowing the dormant-account/SIEM discussion in Section 08.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Literally every PowerShell snippet shown so far this lecture (New-ADOrganizationalUnit, New-GPO, Get-ADUserResultantPasswordPolicy) has been building toward this section's explanation of why PowerShell looks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conceptual shift for students coming from Week 2's Linux/Bash world - in Bash you'd parse text with awk/grep/cut, but in PowerShell you filter and select on named properties directly, which is exactly what makes the HW 3 audit script's Where-Object staleness logic readable without any string parsing. Ask the class: what property would you filter on to find stale accounts? (LastLogonDate, PasswordLastSet - direct object properties, no text-scraping needed.)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type one live example if time allows: Get-ADUser -Filter * -Properties LastLogonDate | Where-Object {$_.LastLogonDate -lt (Get-Date).AddDays(-90)} | Select-Object Name, LastLogonDate - that one line is functionally most of what the HW 3 audit script does for the “stale” condition, just without the CSV export and parameterization.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deck's master reference table for both Lab 3 and HW 3 - Lab 3 Parts 2-3 use New-ADOrganizationalUnit/New-ADUser, and HW 3's remediation workflow uses Set-ADUser/Move-ADObject in the exact same style. Point out Search-ADAccount -AccountInactive as a built-in alternative to custom Where-Object staleness logic - worth knowing it exists even though the HW 3 script rolls its own filtering for more control (-StaleDays/-PasswordDays).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build this script live - HW 3 gives it to students already written, and the assignment's point is reading and running it, not authoring it. Use this slide only to make sure every stage of the pipeline is legible: parameterized query, object filter, projection, export - the exact same four-stage pattern from the “Filtering, Sorting &amp; Formatting” slide, just chained together.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directly to HW 3's framing - the assignment has students run the audit script manually and remediate by hand specifically to build muscle memory; in a real environment, this exact script would be registered as a nightly scheduled task so stale accounts get caught continuously instead of once. Ask: what could go wrong if you scheduled the remediation workflow itself, unattended, with no human review? Good lead-in to Section 08.</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genuinely important inflection point - PowerShell is simultaneously this week's most useful administrative tool and one of the most common attacker tools in real intrusions, precisely because it's trusted and already installed everywhere. If time allows, briefly show Get-WinEvent output for Event ID 4104 (Script Block Logging) so students see what defensive visibility into this actually looks like.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these three as the unglamorous but load-bearing infrastructure roles - none show up directly in Lab 3, but all three are explicit week-03 topics and common exam/interview material for Windows admins.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vs. replica mode is the one distinction worth pausing on: autonomous downstream servers make their own approval decisions, replica servers just mirror the upstream server's approvals exactly - which one you pick depends on whether branch offices need local patch-approval authority or should just inherit HQ's decisions verbatim.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staged-rollout point (test group before broad deployment) is worth a real anecdote if you have one - patch-related outages are a well-known operational risk, and WSUS's approval-workflow design exists specifically to let admins catch a bad patch on 5 test machines before it hits 5,000 production ones.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HTTP MITM row is the classic WSUS cautionary tale in security literature - a WSUS server configured over plain HTTP effectively becomes a code-execution-as-a-service pivot point for anyone who can position themselves on the network path, which is exactly why HTTPS-for-WSUS should be treated as non-optional, not a nice-to-have.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the two DFS concepts clearly, since students often conflate them: the Namespace is the client-facing abstraction (one path, resolved to whichever server is closest/available), while Replication (DFS-R) is the backend mechanism that keeps the actual file content consistent across those servers. Connect back to Section 02's File Services slide - DFS is built directly on top of SMB shares and NTFS permissions, it doesn't replace either.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replication-lag row is worth explicitly linking forward to Section 08's discussion of AD replication lag affecting LastLogonDate - it's the same underlying theme (distributed systems have consistency windows, and security controls that assume instant consistency have a blind spot) showing up in a different subsystem.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Requestor/Writer/Provider split is worth making students name back to you - Writers matter because an application-unaware snapshot of, say, a database mid-write is not a consistent, restorable backup, while a VSS-aware writer flushes state first so the shadow copy is actually usable. Mention shadow copies also power the self-service “Previous Versions” file restore feature end users sometimes use without realizing it's the same underlying technology.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vssadmin delete shadows row is one of the most reliable ransomware indicators-of-compromise in real incident response - nearly every major ransomware family runs this command as one of its first steps precisely because it's so effective at removing the easy, local rollback option before encryption even starts. This closes the section by tying back to the tiering theme (least-privilege backup accounts) that's now run through Sections 01, 03, and 05.</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Set expectations that this section is less hands-on/technical and more “know this for real-world budgeting and compliance conversations” - it won't show up in Lab 3, but it's an explicit week-03 topic and a common gap in otherwise-strong technical admins.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example callout below the table - licensing minimum core counts are about licenses required, not physical capacity, so a lightly-loaded 2-proc/8-core box can be fully licensed while nowhere near CPU-constrained. The VM-count difference (2 vs. unlimited) is the actual decision driver in practice: once you need a 3rd Windows Server VM on one host, Datacenter usually becomes cheaper than stacking multiple Standard licenses.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a concrete example both ways - a 24/7 call center with 3 shifts sharing one workstation clearly wants Device CALs (one license covers all three shift workers), while a sales team that each has a laptop, tablet, and phone all hitting the same file server clearly wants User CALs (one license per person covers every device they own).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practical rather than exhaustive - the takeaway is that “volume licensing” isn't one thing, and the right vehicle depends heavily on organization size and appetite for long-term commitment versus flexibility, exactly the kind of decision a Windows admin gets pulled into even though it's technically a procurement/finance question.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directly back to the Standard/Datacenter table - Hyper-V rights are exactly the “included VM instances” row restated for virtualization specifically, so a Datacenter host isn't just “more powerful,” it's “unlimited free Windows Server guest licensing on that hardware,” which is the actual value proposition IT decision-makers care about.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tell students this slide uses the same red/green visual language as the rest of the deck, even though “risk” replaces “attack” here - licensing non-compliance isn't a cybersecurity attack, but it's a real operational and financial risk a Windows admin is expected to manage, and the pattern of “something goes wrong because of a gap -&gt; here's the process control that prevents it” is identical to every other Attacks &amp; Defenses slide this week.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Frame this section as Lab 3 Part 8 and HW 3 Part 4's shared foundation - same LDAP filter syntax skills, applied first to querying the domain directly, then to authenticating non-Windows network infrastructure against that same domain conceptually.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explicitly that this is structurally identical to the AD OU tree from Section 01 - dc=, ou=, and leaf objects are the generic LDAP vocabulary underneath what AD calls “domain” and “OU.” The cross-reference lines for memberOf are worth lingering on, since they preview the next slide's AND-filter exercise (finding accounts by both object type and group membership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effectively the answer-key structure (not the literal answers) for HW 3 Part 4 - walk through why the bitwise matching rule OID is necessary at all: userAccountControl packs many boolean flags into one integer, so a plain equality filter only matches accounts with EXACTLY that combination of flags, while the bitwise rule matches any account with a specific bit set regardless of what else is set. Have students work out, as a group, why (uid=jsmith) alone isn't an OR filter but (|(uid=jsmith)(uid=tlowe)) is - the outer | is what makes it explicit.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these decimal values are sums of independent power-of-two flags, exactly why a bitwise filter is required instead of plain equality. Ask students to predict what filter would find “every account that's either disabled OR has a never-expiring password” using OR combined with two separate bitwise-matching-rule clauses - effectively HW 3 Part 4's second filter question.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Section 01's tiering discussion - a network device authenticating admins locally has exactly the same “credential sprawl” problem as workstations with local admin accounts, just for infrastructure gear instead of desktops; RADIUS-backed-by-AD is the network-device equivalent of domain join. Mention TACACS+ exists as an alternative more common specifically for network-device administration, but RADIUS is what Lab 3 actually builds, so that's the focus.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pedagogical reason for the flat-file-first step: if AD integration were configured first and the test failed, students would have no way to tell whether the problem is RADIUS itself or the AD backend - proving RADIUS works in isolation first isolates the variable, a debugging habit worth calling out explicitly, not just a lab-checklist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Section 07 by pointing out an irony worth naming directly: RADIUS solves the credential-sprawl problem from the AAA-flow slide, but it introduces its own new trust relationship (the shared secret between each network device and the RADIUS server) that must be managed carefully, or you've just moved the weak point rather than eliminated it - a good closing thought before the dormant-account material, a different kind of trust-relationship decay.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Same closing pattern as Week 1/2 - a short conceptual bridge into HW 3's core theme, then the Lab 3 and HW 3 recap slides, then Q&amp;A.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do not name a specific breach here - that citation requirement is graded homework analysis (HW 3 Part 3, Question 1), and giving the answer away in lecture defeats the point of having students find and evaluate a real source themselves. Do land the conceptual point hard: “wasted license cost” is the boring, non-security framing of stale accounts, and the actual risk is that nobody's watching an account that still has valid credentials and domain access.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direct preparation for HW 3 Part 3's write-up question on staleness-signal limitations - the goal is for students to walk into that write-up already knowing replication lag is a real, specific, defensible technical answer rather than a vague “logs can be wrong” hand-wave. Note that msDS-LastLogonTimestamp is a commonly-suggested “fix” that doesn't actually solve the precision problem, just trades one imprecision for another - naming that nuance demonstrates real understanding, not just recall.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all four steps in the exact order HW 3 requires them, since the assignment grades on doing all four for every flagged account, not just disabling - students sometimes disable and stop there. On the “why not delete immediately” branch, connect back to Section 01's OU=Disabled slide: the OU existed in the tiering design from day one specifically so a staged, reversible remediation path is available, rather than a one-way destructive action taken on an automated script's say-so alone.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deliberately the last conceptual slide before the recap, tying together Section 04's Task Scheduler content, the quarantine workflow, and HW 3 Part 3 Question 4 (what could go wrong at scale with an all-manual process). The honest answer: neither pure-manual nor pure-automated is right - detection should scale via automation, but the disable/delete action itself benefits from a human checkpoint, exactly like the quarantine-OU staging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reassure students the lab is long (8 parts) but each part is a direct extension of a slide they just saw this lecture - Part 1 is the DC-verification slide, Parts 2-3 are the OU/user slides, Parts 4-7 are the GPO/PSO/verification slides, and Part 8 is the LDAP/RADIUS slides. Point that mapping out explicitly so the lab doesn't feel like new material dropped on them cold.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two heaviest single items are the LDAP/RADIUS work (30 points combined) despite being “just” Part 8 of 8 - that's deliberate, since it's the newest conceptual material and the part most likely to need office-hours help, so budget study time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explicitly connecting HW 3 back to the lecture: Part 1's script anatomy was the audit-pipeline diagram in Section 04, Part 2's workflow was the quarantine-OU diagram just shown, Part 3's write-up themes were the dormant-account and LastLogonDate slides, and Part 4's LDAP syntax was the LDAP tree/filter-syntax slides in Section 07 - the goal is for students to leave feeling like HW 3 has zero surprises relative to what was just taught, only application of it against a real assigned server.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640080" y="1874519"/>
            <a:ext cx="10911535" cy="548640"/>
          </a:xfrm>
          <a:prstGeom prst="rect">
            <a:avLst/>
          </a:prstGeom>
          <a:noFill/>
        </p:spPr>
        <p:txBody>
          <a:bodyPr wrap="none">
            <a:spAutoFit/>
          </a:bodyPr>
          <a:lstStyle/>
          <a:p>
            <a:r>
              <a:rPr sz="2200" b="1" i="0">
                <a:solidFill>
                  <a:srgbClr val="00B4D8"/>
                </a:solidFill>
                <a:latin typeface="Cambria"/>
              </a:rPr>
              <a:t>WEEK 3</a:t>
            </a:r>
          </a:p>
        </p:txBody>
      </p:sp>
      <p:sp>
        <p:nvSpPr>
          <p:cNvPr id="3" name="TextBox 2"/>
          <p:cNvSpPr txBox="1"/>
          <p:nvPr/>
        </p:nvSpPr>
        <p:spPr>
          <a:xfrm>
            <a:off x="640080" y="2468880"/>
            <a:ext cx="10911535" cy="1188720"/>
          </a:xfrm>
          <a:prstGeom prst="rect">
            <a:avLst/>
          </a:prstGeom>
          <a:noFill/>
        </p:spPr>
        <p:txBody>
          <a:bodyPr wrap="square">
            <a:spAutoFit/>
          </a:bodyPr>
          <a:lstStyle/>
          <a:p>
            <a:r>
              <a:rPr sz="4200" b="1" i="0">
                <a:solidFill>
                  <a:srgbClr val="FFFFFF"/>
                </a:solidFill>
                <a:latin typeface="Cambria"/>
              </a:rPr>
              <a:t>Windows Server Administration</a:t>
            </a:r>
          </a:p>
        </p:txBody>
      </p:sp>
      <p:sp>
        <p:nvSpPr>
          <p:cNvPr id="4" name="TextBox 3"/>
          <p:cNvSpPr txBox="1"/>
          <p:nvPr/>
        </p:nvSpPr>
        <p:spPr>
          <a:xfrm>
            <a:off x="640080" y="3794760"/>
            <a:ext cx="10911535" cy="8229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600"/>
              </a:spcBef>
            </a:pPr>
            <a:r>
              <a:rPr sz="1300" b="0" i="1">
                <a:solidFill>
                  <a:srgbClr val="00B4D8"/>
                </a:solidFill>
                <a:latin typeface="Calibri"/>
              </a:rPr>
              <a:t>Active Directory · GPO · PowerShell · Centralized AAA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01</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Active Directory Architecture &amp; OU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Architecture: Forests, Domains &amp; Domain Controllers</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Single-domain forest used in this course (lab.local) — a DC hosts AD DS, DNS, and replicates the directory.</a:t>
            </a:r>
          </a:p>
        </p:txBody>
      </p:sp>
      <p:sp>
        <p:nvSpPr>
          <p:cNvPr id="4" name="Rounded Rectangle 3"/>
          <p:cNvSpPr/>
          <p:nvPr/>
        </p:nvSpPr>
        <p:spPr>
          <a:xfrm>
            <a:off x="914400" y="1874519"/>
            <a:ext cx="10332720" cy="4160520"/>
          </a:xfrm>
          <a:prstGeom prst="roundRect">
            <a:avLst/>
          </a:prstGeom>
          <a:solidFill>
            <a:srgbClr val="FFFFFF"/>
          </a:solidFill>
          <a:ln w="19050">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5" name="TextBox 4"/>
          <p:cNvSpPr txBox="1"/>
          <p:nvPr/>
        </p:nvSpPr>
        <p:spPr>
          <a:xfrm>
            <a:off x="1051560" y="1920240"/>
            <a:ext cx="3657600" cy="274320"/>
          </a:xfrm>
          <a:prstGeom prst="rect">
            <a:avLst/>
          </a:prstGeom>
          <a:noFill/>
        </p:spPr>
        <p:txBody>
          <a:bodyPr wrap="none">
            <a:spAutoFit/>
          </a:bodyPr>
          <a:lstStyle/>
          <a:p>
            <a:r>
              <a:rPr sz="1100" b="1" i="0">
                <a:solidFill>
                  <a:srgbClr val="3D5A80"/>
                </a:solidFill>
                <a:latin typeface="Cambria"/>
              </a:rPr>
              <a:t>FOREST: lab.local</a:t>
            </a:r>
          </a:p>
        </p:txBody>
      </p:sp>
      <p:sp>
        <p:nvSpPr>
          <p:cNvPr id="6" name="Rounded Rectangle 5"/>
          <p:cNvSpPr/>
          <p:nvPr/>
        </p:nvSpPr>
        <p:spPr>
          <a:xfrm>
            <a:off x="1280160" y="2331720"/>
            <a:ext cx="9601200" cy="33832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
            </a:r>
          </a:p>
        </p:txBody>
      </p:sp>
      <p:sp>
        <p:nvSpPr>
          <p:cNvPr id="7" name="TextBox 6"/>
          <p:cNvSpPr txBox="1"/>
          <p:nvPr/>
        </p:nvSpPr>
        <p:spPr>
          <a:xfrm>
            <a:off x="1417320" y="2377440"/>
            <a:ext cx="3657600" cy="274320"/>
          </a:xfrm>
          <a:prstGeom prst="rect">
            <a:avLst/>
          </a:prstGeom>
          <a:noFill/>
        </p:spPr>
        <p:txBody>
          <a:bodyPr wrap="none">
            <a:spAutoFit/>
          </a:bodyPr>
          <a:lstStyle/>
          <a:p>
            <a:r>
              <a:rPr sz="1100" b="1" i="0">
                <a:solidFill>
                  <a:srgbClr val="1B2A4A"/>
                </a:solidFill>
                <a:latin typeface="Cambria"/>
              </a:rPr>
              <a:t>DOMAIN: lab.local</a:t>
            </a:r>
          </a:p>
        </p:txBody>
      </p:sp>
      <p:sp>
        <p:nvSpPr>
          <p:cNvPr id="8" name="Rounded Rectangle 7"/>
          <p:cNvSpPr/>
          <p:nvPr/>
        </p:nvSpPr>
        <p:spPr>
          <a:xfrm>
            <a:off x="16459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a:p>
            <a:pPr algn="ctr"/>
            <a:r>
              <a:rPr sz="1050" b="1" i="0">
                <a:solidFill>
                  <a:srgbClr val="111B30"/>
                </a:solidFill>
                <a:latin typeface="Calibri"/>
              </a:rPr>
              <a:t>(AD DS + DNS)</a:t>
            </a:r>
          </a:p>
        </p:txBody>
      </p:sp>
      <p:sp>
        <p:nvSpPr>
          <p:cNvPr id="9" name="Rounded Rectangle 8"/>
          <p:cNvSpPr/>
          <p:nvPr/>
        </p:nvSpPr>
        <p:spPr>
          <a:xfrm>
            <a:off x="4617720" y="2926080"/>
            <a:ext cx="265176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Global Catalog</a:t>
            </a:r>
          </a:p>
        </p:txBody>
      </p:sp>
      <p:sp>
        <p:nvSpPr>
          <p:cNvPr id="10" name="Rounded Rectangle 9"/>
          <p:cNvSpPr/>
          <p:nvPr/>
        </p:nvSpPr>
        <p:spPr>
          <a:xfrm>
            <a:off x="7589520" y="2926080"/>
            <a:ext cx="2926080" cy="9601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SYSVOL / NETLOGON</a:t>
            </a:r>
          </a:p>
          <a:p>
            <a:pPr algn="ctr"/>
            <a:r>
              <a:rPr sz="1050" b="0" i="0">
                <a:solidFill>
                  <a:srgbClr val="111B30"/>
                </a:solidFill>
                <a:latin typeface="Calibri"/>
              </a:rPr>
              <a:t>Shares</a:t>
            </a:r>
          </a:p>
        </p:txBody>
      </p:sp>
      <p:sp>
        <p:nvSpPr>
          <p:cNvPr id="11" name="Rounded Rectangle 10"/>
          <p:cNvSpPr/>
          <p:nvPr/>
        </p:nvSpPr>
        <p:spPr>
          <a:xfrm>
            <a:off x="246888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a:t>
            </a:r>
          </a:p>
        </p:txBody>
      </p:sp>
      <p:sp>
        <p:nvSpPr>
          <p:cNvPr id="12" name="Rounded Rectangle 11"/>
          <p:cNvSpPr/>
          <p:nvPr/>
        </p:nvSpPr>
        <p:spPr>
          <a:xfrm>
            <a:off x="6949440" y="4434840"/>
            <a:ext cx="2377440" cy="86868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DC02 (example)</a:t>
            </a:r>
          </a:p>
        </p:txBody>
      </p:sp>
      <p:cxnSp>
        <p:nvCxnSpPr>
          <p:cNvPr id="13" name="Connector 12"/>
          <p:cNvCxnSpPr/>
          <p:nvPr/>
        </p:nvCxnSpPr>
        <p:spPr>
          <a:xfrm>
            <a:off x="4846320" y="4869179"/>
            <a:ext cx="2103120" cy="0"/>
          </a:xfrm>
          <a:prstGeom prst="line">
            <a:avLst/>
          </a:prstGeom>
          <a:ln w="22225">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29200" y="4722875"/>
            <a:ext cx="1737360" cy="292608"/>
          </a:xfrm>
          <a:prstGeom prst="rect">
            <a:avLst/>
          </a:prstGeom>
          <a:noFill/>
        </p:spPr>
        <p:txBody>
          <a:bodyPr wrap="square" lIns="0" tIns="0">
            <a:spAutoFit/>
          </a:bodyPr>
          <a:lstStyle/>
          <a:p>
            <a:pPr algn="ctr"/>
            <a:r>
              <a:rPr sz="900" b="0" i="1">
                <a:solidFill>
                  <a:srgbClr val="404040"/>
                </a:solidFill>
                <a:latin typeface="Calibri"/>
              </a:rPr>
              <a:t>multi-master replication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Verifying a Domain Controller: Health Before You Trust It</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Never assume a DC is healthy - especially one you didn't build yourself</a:t>
            </a:r>
          </a:p>
          <a:p>
            <a:pPr algn="l">
              <a:spcAft>
                <a:spcPts val="1200"/>
              </a:spcAft>
            </a:pPr>
            <a:r>
              <a:rPr sz="1600" b="0" i="0">
                <a:solidFill>
                  <a:srgbClr val="111B30"/>
                </a:solidFill>
                <a:latin typeface="Calibri"/>
              </a:rPr>
              <a:t>●   Get-ADDomain - confirms domain name, functional level, PDC emulator location</a:t>
            </a:r>
          </a:p>
          <a:p>
            <a:pPr algn="l">
              <a:spcAft>
                <a:spcPts val="1200"/>
              </a:spcAft>
            </a:pPr>
            <a:r>
              <a:rPr sz="1600" b="0" i="0">
                <a:solidFill>
                  <a:srgbClr val="111B30"/>
                </a:solidFill>
                <a:latin typeface="Calibri"/>
              </a:rPr>
              <a:t>●   dcdiag /test:replications /test:dns /test:netlogon - the standard AD health-check triad</a:t>
            </a:r>
          </a:p>
          <a:p>
            <a:pPr algn="l">
              <a:spcAft>
                <a:spcPts val="1200"/>
              </a:spcAft>
            </a:pPr>
            <a:r>
              <a:rPr sz="1600" b="0" i="0">
                <a:solidFill>
                  <a:srgbClr val="111B30"/>
                </a:solidFill>
                <a:latin typeface="Calibri"/>
              </a:rPr>
              <a:t>●   netlogon /query - confirms the DC can actually process authentication requests</a:t>
            </a:r>
          </a:p>
          <a:p>
            <a:pPr algn="l">
              <a:spcAft>
                <a:spcPts val="1200"/>
              </a:spcAft>
            </a:pPr>
            <a:r>
              <a:rPr sz="1600" b="0" i="0">
                <a:solidFill>
                  <a:srgbClr val="111B30"/>
                </a:solidFill>
                <a:latin typeface="Calibri"/>
              </a:rPr>
              <a:t>●   Lab 3 Part 1: all dcdiag tests must pass before you touch 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Domain Controllers &amp; AD Core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DCSync attack</a:t>
                      </a:r>
                    </a:p>
                  </a:txBody>
                  <a:tcPr anchor="ctr" marL="76200" marR="76200" marT="38100" marB="38100">
                    <a:solidFill>
                      <a:srgbClr val="FFFFFF"/>
                    </a:solidFill>
                  </a:tcPr>
                </a:tc>
                <a:tc>
                  <a:txBody>
                    <a:bodyPr/>
                    <a:lstStyle/>
                    <a:p>
                      <a:pPr algn="l"/>
                      <a:r>
                        <a:rPr sz="1200" b="0" i="0">
                          <a:solidFill>
                            <a:srgbClr val="111B30"/>
                          </a:solidFill>
                          <a:latin typeface="Calibri"/>
                        </a:rPr>
                        <a:t>Attacker with replication rights impersonates a DC and pulls password hashes via the directory replication protocol</a:t>
                      </a:r>
                    </a:p>
                  </a:txBody>
                  <a:tcPr anchor="ctr" marL="76200" marR="76200" marT="38100" marB="38100">
                    <a:solidFill>
                      <a:srgbClr val="FFFFFF"/>
                    </a:solidFill>
                  </a:tcPr>
                </a:tc>
                <a:tc>
                  <a:txBody>
                    <a:bodyPr/>
                    <a:lstStyle/>
                    <a:p>
                      <a:pPr algn="l"/>
                      <a:r>
                        <a:rPr sz="1200" b="1" i="0">
                          <a:solidFill>
                            <a:srgbClr val="2E7D32"/>
                          </a:solidFill>
                          <a:latin typeface="Calibri"/>
                        </a:rPr>
                        <a:t>Restrict “Replicating Directory Changes” rights; monitor Event ID 4662</a:t>
                      </a:r>
                    </a:p>
                  </a:txBody>
                  <a:tcPr anchor="ctr" marL="76200" marR="76200" marT="38100" marB="38100">
                    <a:solidFill>
                      <a:srgbClr val="FFFFFF"/>
                    </a:solidFill>
                  </a:tcPr>
                </a:tc>
              </a:tr>
              <a:tr h="457200">
                <a:tc>
                  <a:txBody>
                    <a:bodyPr/>
                    <a:lstStyle/>
                    <a:p>
                      <a:pPr algn="l"/>
                      <a:r>
                        <a:rPr sz="1200" b="1" i="0">
                          <a:solidFill>
                            <a:srgbClr val="B02A2A"/>
                          </a:solidFill>
                          <a:latin typeface="Calibri"/>
                        </a:rPr>
                        <a:t>NTDS.dit theft</a:t>
                      </a:r>
                    </a:p>
                  </a:txBody>
                  <a:tcPr anchor="ctr" marL="76200" marR="76200" marT="38100" marB="38100">
                    <a:solidFill>
                      <a:srgbClr val="E8EEF7"/>
                    </a:solidFill>
                  </a:tcPr>
                </a:tc>
                <a:tc>
                  <a:txBody>
                    <a:bodyPr/>
                    <a:lstStyle/>
                    <a:p>
                      <a:pPr algn="l"/>
                      <a:r>
                        <a:rPr sz="1200" b="0" i="0">
                          <a:solidFill>
                            <a:srgbClr val="111B30"/>
                          </a:solidFill>
                          <a:latin typeface="Calibri"/>
                        </a:rPr>
                        <a:t>Attacker with local admin on a DC copies the AD database file offline for hash extraction</a:t>
                      </a:r>
                    </a:p>
                  </a:txBody>
                  <a:tcPr anchor="ctr" marL="76200" marR="76200" marT="38100" marB="38100">
                    <a:solidFill>
                      <a:srgbClr val="E8EEF7"/>
                    </a:solidFill>
                  </a:tcPr>
                </a:tc>
                <a:tc>
                  <a:txBody>
                    <a:bodyPr/>
                    <a:lstStyle/>
                    <a:p>
                      <a:pPr algn="l"/>
                      <a:r>
                        <a:rPr sz="1200" b="1" i="0">
                          <a:solidFill>
                            <a:srgbClr val="2E7D32"/>
                          </a:solidFill>
                          <a:latin typeface="Calibri"/>
                        </a:rPr>
                        <a:t>Tier 0 isolation - no non-DC admin logs onto a DC; disk encryption</a:t>
                      </a:r>
                    </a:p>
                  </a:txBody>
                  <a:tcPr anchor="ctr" marL="76200" marR="76200" marT="38100" marB="38100">
                    <a:solidFill>
                      <a:srgbClr val="E8EEF7"/>
                    </a:solidFill>
                  </a:tcPr>
                </a:tc>
              </a:tr>
              <a:tr h="457200">
                <a:tc>
                  <a:txBody>
                    <a:bodyPr/>
                    <a:lstStyle/>
                    <a:p>
                      <a:pPr algn="l"/>
                      <a:r>
                        <a:rPr sz="1200" b="1" i="0">
                          <a:solidFill>
                            <a:srgbClr val="B02A2A"/>
                          </a:solidFill>
                          <a:latin typeface="Calibri"/>
                        </a:rPr>
                        <a:t>Golden Ticket</a:t>
                      </a:r>
                    </a:p>
                  </a:txBody>
                  <a:tcPr anchor="ctr" marL="76200" marR="76200" marT="38100" marB="38100">
                    <a:solidFill>
                      <a:srgbClr val="FFFFFF"/>
                    </a:solidFill>
                  </a:tcPr>
                </a:tc>
                <a:tc>
                  <a:txBody>
                    <a:bodyPr/>
                    <a:lstStyle/>
                    <a:p>
                      <a:pPr algn="l"/>
                      <a:r>
                        <a:rPr sz="1200" b="0" i="0">
                          <a:solidFill>
                            <a:srgbClr val="111B30"/>
                          </a:solidFill>
                          <a:latin typeface="Calibri"/>
                        </a:rPr>
                        <a:t>Forged Kerberos TGT signed with the stolen KRBTGT hash grants domain-wide access indefinitely</a:t>
                      </a:r>
                    </a:p>
                  </a:txBody>
                  <a:tcPr anchor="ctr" marL="76200" marR="76200" marT="38100" marB="38100">
                    <a:solidFill>
                      <a:srgbClr val="FFFFFF"/>
                    </a:solidFill>
                  </a:tcPr>
                </a:tc>
                <a:tc>
                  <a:txBody>
                    <a:bodyPr/>
                    <a:lstStyle/>
                    <a:p>
                      <a:pPr algn="l"/>
                      <a:r>
                        <a:rPr sz="1200" b="1" i="0">
                          <a:solidFill>
                            <a:srgbClr val="2E7D32"/>
                          </a:solidFill>
                          <a:latin typeface="Calibri"/>
                        </a:rPr>
                        <a:t>Rotate the KRBTGT password (twice); monitor abnormal TGT lifetimes</a:t>
                      </a:r>
                    </a:p>
                  </a:txBody>
                  <a:tcPr anchor="ctr" marL="76200" marR="76200" marT="38100" marB="38100">
                    <a:solidFill>
                      <a:srgbClr val="FFFFFF"/>
                    </a:solidFill>
                  </a:tcPr>
                </a:tc>
              </a:tr>
              <a:tr h="457200">
                <a:tc>
                  <a:txBody>
                    <a:bodyPr/>
                    <a:lstStyle/>
                    <a:p>
                      <a:pPr algn="l"/>
                      <a:r>
                        <a:rPr sz="1200" b="1" i="0">
                          <a:solidFill>
                            <a:srgbClr val="B02A2A"/>
                          </a:solidFill>
                          <a:latin typeface="Calibri"/>
                        </a:rPr>
                        <a:t>DC as single point of trust</a:t>
                      </a:r>
                    </a:p>
                  </a:txBody>
                  <a:tcPr anchor="ctr" marL="76200" marR="76200" marT="38100" marB="38100">
                    <a:solidFill>
                      <a:srgbClr val="E8EEF7"/>
                    </a:solidFill>
                  </a:tcPr>
                </a:tc>
                <a:tc>
                  <a:txBody>
                    <a:bodyPr/>
                    <a:lstStyle/>
                    <a:p>
                      <a:pPr algn="l"/>
                      <a:r>
                        <a:rPr sz="1200" b="0" i="0">
                          <a:solidFill>
                            <a:srgbClr val="111B30"/>
                          </a:solidFill>
                          <a:latin typeface="Calibri"/>
                        </a:rPr>
                        <a:t>Compromise one DC and the whole domain's trust model is compromised</a:t>
                      </a:r>
                    </a:p>
                  </a:txBody>
                  <a:tcPr anchor="ctr" marL="76200" marR="76200" marT="38100" marB="38100">
                    <a:solidFill>
                      <a:srgbClr val="E8EEF7"/>
                    </a:solidFill>
                  </a:tcPr>
                </a:tc>
                <a:tc>
                  <a:txBody>
                    <a:bodyPr/>
                    <a:lstStyle/>
                    <a:p>
                      <a:pPr algn="l"/>
                      <a:r>
                        <a:rPr sz="1200" b="1" i="0">
                          <a:solidFill>
                            <a:srgbClr val="2E7D32"/>
                          </a:solidFill>
                          <a:latin typeface="Calibri"/>
                        </a:rPr>
                        <a:t>Tiered administration (next topic); no cross-tier logons</a:t>
                      </a:r>
                    </a:p>
                  </a:txBody>
                  <a:tcPr anchor="ctr" marL="76200" marR="76200" marT="38100" marB="38100">
                    <a:solidFill>
                      <a:srgbClr val="E8EE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as Privilege-Escalation Prevention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An OU is a container for delegation, GPO scope, and administrative boundaries - not just a folder for tidiness</a:t>
            </a:r>
          </a:p>
          <a:p>
            <a:pPr algn="l">
              <a:spcAft>
                <a:spcPts val="1200"/>
              </a:spcAft>
            </a:pPr>
            <a:r>
              <a:rPr sz="1600" b="0" i="0">
                <a:solidFill>
                  <a:srgbClr val="111B30"/>
                </a:solidFill>
                <a:latin typeface="Calibri"/>
              </a:rPr>
              <a:t>●   Lab's framing: a Tier 0 credential exposed on a Tier 2 workstation is a real attack surface, not an inconvenience</a:t>
            </a:r>
          </a:p>
          <a:p>
            <a:pPr algn="l">
              <a:spcAft>
                <a:spcPts val="1200"/>
              </a:spcAft>
            </a:pPr>
            <a:r>
              <a:rPr sz="1600" b="0" i="0">
                <a:solidFill>
                  <a:srgbClr val="111B30"/>
                </a:solidFill>
                <a:latin typeface="Calibri"/>
              </a:rPr>
              <a:t>●   Tiering model: Tier 0 = domain-wide control (DCs, AD admin accounts), Tier 1 = server admin, Tier 2 = workstation/user admin</a:t>
            </a:r>
          </a:p>
          <a:p>
            <a:pPr algn="l">
              <a:spcAft>
                <a:spcPts val="1200"/>
              </a:spcAft>
            </a:pPr>
            <a:r>
              <a:rPr sz="1600" b="0" i="0">
                <a:solidFill>
                  <a:srgbClr val="111B30"/>
                </a:solidFill>
                <a:latin typeface="Calibri"/>
              </a:rPr>
              <a:t>●   Rule: never log a higher-tier credential onto a lower-tier asset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Lab 3's Tiered OU Structure</a:t>
            </a:r>
          </a:p>
        </p:txBody>
      </p:sp>
      <p:sp>
        <p:nvSpPr>
          <p:cNvPr id="3" name="TextBox 2"/>
          <p:cNvSpPr txBox="1"/>
          <p:nvPr/>
        </p:nvSpPr>
        <p:spPr>
          <a:xfrm>
            <a:off x="640080" y="1417320"/>
            <a:ext cx="10911535" cy="365760"/>
          </a:xfrm>
          <a:prstGeom prst="rect">
            <a:avLst/>
          </a:prstGeom>
          <a:noFill/>
        </p:spPr>
        <p:txBody>
          <a:bodyPr wrap="square" lIns="0" tIns="0">
            <a:spAutoFit/>
          </a:bodyPr>
          <a:lstStyle/>
          <a:p>
            <a:r>
              <a:rPr sz="1250" b="0" i="1">
                <a:solidFill>
                  <a:srgbClr val="6B7480"/>
                </a:solidFill>
                <a:latin typeface="Calibri"/>
              </a:rPr>
              <a:t>Built entirely via New-ADOrganizationalUnit - no GUI, since OU structure should be scriptable and repeatable.</a:t>
            </a:r>
          </a:p>
        </p:txBody>
      </p:sp>
      <p:sp>
        <p:nvSpPr>
          <p:cNvPr id="4" name="Rounded Rectangle 3"/>
          <p:cNvSpPr/>
          <p:nvPr/>
        </p:nvSpPr>
        <p:spPr>
          <a:xfrm>
            <a:off x="5166360" y="1874519"/>
            <a:ext cx="1828800" cy="54864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lab.local</a:t>
            </a:r>
          </a:p>
        </p:txBody>
      </p:sp>
      <p:sp>
        <p:nvSpPr>
          <p:cNvPr id="5" name="Rounded Rectangle 4"/>
          <p:cNvSpPr/>
          <p:nvPr/>
        </p:nvSpPr>
        <p:spPr>
          <a:xfrm>
            <a:off x="914400" y="2926080"/>
            <a:ext cx="2286000" cy="548640"/>
          </a:xfrm>
          <a:prstGeom prst="roundRect">
            <a:avLst/>
          </a:prstGeom>
          <a:solidFill>
            <a:srgbClr val="FFFFFF"/>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B02A2A"/>
                </a:solidFill>
                <a:latin typeface="Calibri"/>
              </a:rPr>
              <a:t>OU=Tier0</a:t>
            </a:r>
          </a:p>
        </p:txBody>
      </p:sp>
      <p:sp>
        <p:nvSpPr>
          <p:cNvPr id="6" name="Rounded Rectangle 5"/>
          <p:cNvSpPr/>
          <p:nvPr/>
        </p:nvSpPr>
        <p:spPr>
          <a:xfrm>
            <a:off x="3593592" y="2926080"/>
            <a:ext cx="2286000" cy="548640"/>
          </a:xfrm>
          <a:prstGeom prst="roundRect">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OU=Servers</a:t>
            </a:r>
          </a:p>
        </p:txBody>
      </p:sp>
      <p:sp>
        <p:nvSpPr>
          <p:cNvPr id="7" name="Rounded Rectangle 6"/>
          <p:cNvSpPr/>
          <p:nvPr/>
        </p:nvSpPr>
        <p:spPr>
          <a:xfrm>
            <a:off x="6272784" y="2926080"/>
            <a:ext cx="2286000" cy="54864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OU=Workstations</a:t>
            </a:r>
          </a:p>
        </p:txBody>
      </p:sp>
      <p:sp>
        <p:nvSpPr>
          <p:cNvPr id="8" name="Rounded Rectangle 7"/>
          <p:cNvSpPr/>
          <p:nvPr/>
        </p:nvSpPr>
        <p:spPr>
          <a:xfrm>
            <a:off x="8951976" y="2926080"/>
            <a:ext cx="2286000" cy="54864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OU=UserAccounts</a:t>
            </a:r>
          </a:p>
        </p:txBody>
      </p:sp>
      <p:cxnSp>
        <p:nvCxnSpPr>
          <p:cNvPr id="9" name="Connector 8"/>
          <p:cNvCxnSpPr/>
          <p:nvPr/>
        </p:nvCxnSpPr>
        <p:spPr>
          <a:xfrm flipH="1">
            <a:off x="2057400" y="2423160"/>
            <a:ext cx="4023360"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736592" y="2423160"/>
            <a:ext cx="1344168"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80760" y="2423160"/>
            <a:ext cx="1335023"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80760" y="2423160"/>
            <a:ext cx="4014216" cy="50292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023360"/>
            <a:ext cx="2286000" cy="54864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OU=AdminAccts</a:t>
            </a:r>
          </a:p>
        </p:txBody>
      </p:sp>
      <p:sp>
        <p:nvSpPr>
          <p:cNvPr id="14" name="Rounded Rectangle 13"/>
          <p:cNvSpPr/>
          <p:nvPr/>
        </p:nvSpPr>
        <p:spPr>
          <a:xfrm>
            <a:off x="3593592" y="402336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OU=Production</a:t>
            </a:r>
          </a:p>
        </p:txBody>
      </p:sp>
      <p:sp>
        <p:nvSpPr>
          <p:cNvPr id="15" name="Rounded Rectangle 14"/>
          <p:cNvSpPr/>
          <p:nvPr/>
        </p:nvSpPr>
        <p:spPr>
          <a:xfrm>
            <a:off x="4805172" y="4023360"/>
            <a:ext cx="1074420" cy="54864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OU=Development</a:t>
            </a:r>
          </a:p>
        </p:txBody>
      </p:sp>
      <p:sp>
        <p:nvSpPr>
          <p:cNvPr id="16" name="Rounded Rectangle 15"/>
          <p:cNvSpPr/>
          <p:nvPr/>
        </p:nvSpPr>
        <p:spPr>
          <a:xfrm>
            <a:off x="6272784" y="402336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OU=IT</a:t>
            </a:r>
          </a:p>
        </p:txBody>
      </p:sp>
      <p:sp>
        <p:nvSpPr>
          <p:cNvPr id="17" name="Rounded Rectangle 16"/>
          <p:cNvSpPr/>
          <p:nvPr/>
        </p:nvSpPr>
        <p:spPr>
          <a:xfrm>
            <a:off x="7484364" y="4023360"/>
            <a:ext cx="10744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OU=Users</a:t>
            </a:r>
          </a:p>
        </p:txBody>
      </p:sp>
      <p:sp>
        <p:nvSpPr>
          <p:cNvPr id="18" name="Rounded Rectangle 17"/>
          <p:cNvSpPr/>
          <p:nvPr/>
        </p:nvSpPr>
        <p:spPr>
          <a:xfrm>
            <a:off x="8951976" y="402336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OU=IT</a:t>
            </a:r>
          </a:p>
        </p:txBody>
      </p:sp>
      <p:sp>
        <p:nvSpPr>
          <p:cNvPr id="19" name="Rounded Rectangle 18"/>
          <p:cNvSpPr/>
          <p:nvPr/>
        </p:nvSpPr>
        <p:spPr>
          <a:xfrm>
            <a:off x="9759391" y="4023360"/>
            <a:ext cx="670255"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OU=Finance</a:t>
            </a:r>
          </a:p>
        </p:txBody>
      </p:sp>
      <p:sp>
        <p:nvSpPr>
          <p:cNvPr id="20" name="Rounded Rectangle 19"/>
          <p:cNvSpPr/>
          <p:nvPr/>
        </p:nvSpPr>
        <p:spPr>
          <a:xfrm>
            <a:off x="10566806" y="4023360"/>
            <a:ext cx="670255" cy="548640"/>
          </a:xfrm>
          <a:prstGeom prst="roundRect">
            <a:avLst/>
          </a:prstGeom>
          <a:solidFill>
            <a:srgbClr val="E8EEF7"/>
          </a:solidFill>
          <a:ln w="15875">
            <a:solidFill>
              <a:srgbClr val="6B748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OU=Disabled</a:t>
            </a:r>
          </a:p>
        </p:txBody>
      </p:sp>
      <p:cxnSp>
        <p:nvCxnSpPr>
          <p:cNvPr id="21" name="Connector 20"/>
          <p:cNvCxnSpPr/>
          <p:nvPr/>
        </p:nvCxnSpPr>
        <p:spPr>
          <a:xfrm>
            <a:off x="2057400" y="3474720"/>
            <a:ext cx="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130802" y="347472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736592" y="3474720"/>
            <a:ext cx="605790"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809994" y="3474720"/>
            <a:ext cx="605789"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15783" y="3474720"/>
            <a:ext cx="605791"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287103" y="3474720"/>
            <a:ext cx="807873"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0094518" y="3474720"/>
            <a:ext cx="4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094976" y="3474720"/>
            <a:ext cx="806958" cy="5486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14400" y="4846320"/>
            <a:ext cx="10332720" cy="1371600"/>
          </a:xfrm>
          <a:prstGeom prst="rect">
            <a:avLst/>
          </a:prstGeom>
          <a:noFill/>
        </p:spPr>
        <p:txBody>
          <a:bodyPr wrap="square">
            <a:spAutoFit/>
          </a:bodyPr>
          <a:lstStyle/>
          <a:p>
            <a:r>
              <a:rPr sz="1100" b="0" i="1">
                <a:solidFill>
                  <a:srgbClr val="404040"/>
                </a:solidFill>
                <a:latin typeface="Calibri"/>
              </a:rPr>
              <a:t>OU=Disabled is a quarantine OU for accounts pending deletion (dashed border) - it isn't used until HW 3's remediation workflow, but good OU design plans for account lifecycle from day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Users, Groups &amp; the Tier-0 Admin Account Pattern</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New-ADUser with -Path places accounts directly in the correct OU at creation time - no separate move step</a:t>
            </a:r>
          </a:p>
          <a:p>
            <a:pPr algn="l">
              <a:spcAft>
                <a:spcPts val="1200"/>
              </a:spcAft>
            </a:pPr>
            <a:r>
              <a:rPr sz="1600" b="0" i="0">
                <a:solidFill>
                  <a:srgbClr val="111B30"/>
                </a:solidFill>
                <a:latin typeface="Calibri"/>
              </a:rPr>
              <a:t>●   Security groups (GRP-IT-Staff, GRP-Finance-Staff) - role-based access, never assign rights to individual users directly</a:t>
            </a:r>
          </a:p>
          <a:p>
            <a:pPr algn="l">
              <a:spcAft>
                <a:spcPts val="1200"/>
              </a:spcAft>
            </a:pPr>
            <a:r>
              <a:rPr sz="1600" b="0" i="0">
                <a:solidFill>
                  <a:srgbClr val="111B30"/>
                </a:solidFill>
                <a:latin typeface="Calibri"/>
              </a:rPr>
              <a:t>●   Separate accounts per tier for the same human: enovak (daily-use, Tier 2) vs. enovak-adm (Tier 0, Domain Admins member)</a:t>
            </a:r>
          </a:p>
          <a:p>
            <a:pPr algn="l">
              <a:spcAft>
                <a:spcPts val="1200"/>
              </a:spcAft>
            </a:pPr>
            <a:r>
              <a:rPr sz="1600" b="0" i="0">
                <a:solidFill>
                  <a:srgbClr val="111B30"/>
                </a:solidFill>
                <a:latin typeface="Calibri"/>
              </a:rPr>
              <a:t>●   enovak-adm lives in OU=AdminAccts, is added only to Domain Admins, and is never used for email/browsing/helpdesk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OU Design &amp; Privilege Tiering</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Tier bleed-over</a:t>
                      </a:r>
                    </a:p>
                  </a:txBody>
                  <a:tcPr anchor="ctr" marL="76200" marR="76200" marT="38100" marB="38100">
                    <a:solidFill>
                      <a:srgbClr val="FFFFFF"/>
                    </a:solidFill>
                  </a:tcPr>
                </a:tc>
                <a:tc>
                  <a:txBody>
                    <a:bodyPr/>
                    <a:lstStyle/>
                    <a:p>
                      <a:pPr algn="l"/>
                      <a:r>
                        <a:rPr sz="1200" b="0" i="0">
                          <a:solidFill>
                            <a:srgbClr val="111B30"/>
                          </a:solidFill>
                          <a:latin typeface="Calibri"/>
                        </a:rPr>
                        <a:t>Admin uses a Tier-0 credential to log into a Tier-2 workstation for convenience</a:t>
                      </a:r>
                    </a:p>
                  </a:txBody>
                  <a:tcPr anchor="ctr" marL="76200" marR="76200" marT="38100" marB="38100">
                    <a:solidFill>
                      <a:srgbClr val="FFFFFF"/>
                    </a:solidFill>
                  </a:tcPr>
                </a:tc>
                <a:tc>
                  <a:txBody>
                    <a:bodyPr/>
                    <a:lstStyle/>
                    <a:p>
                      <a:pPr algn="l"/>
                      <a:r>
                        <a:rPr sz="1200" b="1" i="0">
                          <a:solidFill>
                            <a:srgbClr val="2E7D32"/>
                          </a:solidFill>
                          <a:latin typeface="Calibri"/>
                        </a:rPr>
                        <a:t>Enforce via policy plus technical controls (deny logon rights by tier)</a:t>
                      </a:r>
                    </a:p>
                  </a:txBody>
                  <a:tcPr anchor="ctr" marL="76200" marR="76200" marT="38100" marB="38100">
                    <a:solidFill>
                      <a:srgbClr val="FFFFFF"/>
                    </a:solidFill>
                  </a:tcPr>
                </a:tc>
              </a:tr>
              <a:tr h="457200">
                <a:tc>
                  <a:txBody>
                    <a:bodyPr/>
                    <a:lstStyle/>
                    <a:p>
                      <a:pPr algn="l"/>
                      <a:r>
                        <a:rPr sz="1200" b="1" i="0">
                          <a:solidFill>
                            <a:srgbClr val="B02A2A"/>
                          </a:solidFill>
                          <a:latin typeface="Calibri"/>
                        </a:rPr>
                        <a:t>Flat OU / no delegation</a:t>
                      </a:r>
                    </a:p>
                  </a:txBody>
                  <a:tcPr anchor="ctr" marL="76200" marR="76200" marT="38100" marB="38100">
                    <a:solidFill>
                      <a:srgbClr val="E8EEF7"/>
                    </a:solidFill>
                  </a:tcPr>
                </a:tc>
                <a:tc>
                  <a:txBody>
                    <a:bodyPr/>
                    <a:lstStyle/>
                    <a:p>
                      <a:pPr algn="l"/>
                      <a:r>
                        <a:rPr sz="1200" b="0" i="0">
                          <a:solidFill>
                            <a:srgbClr val="111B30"/>
                          </a:solidFill>
                          <a:latin typeface="Calibri"/>
                        </a:rPr>
                        <a:t>All users in one OU; GPOs apply too broadly or admins over-delegate</a:t>
                      </a:r>
                    </a:p>
                  </a:txBody>
                  <a:tcPr anchor="ctr" marL="76200" marR="76200" marT="38100" marB="38100">
                    <a:solidFill>
                      <a:srgbClr val="E8EEF7"/>
                    </a:solidFill>
                  </a:tcPr>
                </a:tc>
                <a:tc>
                  <a:txBody>
                    <a:bodyPr/>
                    <a:lstStyle/>
                    <a:p>
                      <a:pPr algn="l"/>
                      <a:r>
                        <a:rPr sz="1200" b="1" i="0">
                          <a:solidFill>
                            <a:srgbClr val="2E7D32"/>
                          </a:solidFill>
                          <a:latin typeface="Calibri"/>
                        </a:rPr>
                        <a:t>Multi-tier OU model; delegate at the narrowest OU possible</a:t>
                      </a:r>
                    </a:p>
                  </a:txBody>
                  <a:tcPr anchor="ctr" marL="76200" marR="76200" marT="38100" marB="38100">
                    <a:solidFill>
                      <a:srgbClr val="E8EEF7"/>
                    </a:solidFill>
                  </a:tcPr>
                </a:tc>
              </a:tr>
              <a:tr h="457200">
                <a:tc>
                  <a:txBody>
                    <a:bodyPr/>
                    <a:lstStyle/>
                    <a:p>
                      <a:pPr algn="l"/>
                      <a:r>
                        <a:rPr sz="1200" b="1" i="0">
                          <a:solidFill>
                            <a:srgbClr val="B02A2A"/>
                          </a:solidFill>
                          <a:latin typeface="Calibri"/>
                        </a:rPr>
                        <a:t>Shared admin account</a:t>
                      </a:r>
                    </a:p>
                  </a:txBody>
                  <a:tcPr anchor="ctr" marL="76200" marR="76200" marT="38100" marB="38100">
                    <a:solidFill>
                      <a:srgbClr val="FFFFFF"/>
                    </a:solidFill>
                  </a:tcPr>
                </a:tc>
                <a:tc>
                  <a:txBody>
                    <a:bodyPr/>
                    <a:lstStyle/>
                    <a:p>
                      <a:pPr algn="l"/>
                      <a:r>
                        <a:rPr sz="1200" b="0" i="0">
                          <a:solidFill>
                            <a:srgbClr val="111B30"/>
                          </a:solidFill>
                          <a:latin typeface="Calibri"/>
                        </a:rPr>
                        <a:t>One shared “admin” login used across tiers, no attribution</a:t>
                      </a:r>
                    </a:p>
                  </a:txBody>
                  <a:tcPr anchor="ctr" marL="76200" marR="76200" marT="38100" marB="38100">
                    <a:solidFill>
                      <a:srgbClr val="FFFFFF"/>
                    </a:solidFill>
                  </a:tcPr>
                </a:tc>
                <a:tc>
                  <a:txBody>
                    <a:bodyPr/>
                    <a:lstStyle/>
                    <a:p>
                      <a:pPr algn="l"/>
                      <a:r>
                        <a:rPr sz="1200" b="1" i="0">
                          <a:solidFill>
                            <a:srgbClr val="2E7D32"/>
                          </a:solidFill>
                          <a:latin typeface="Calibri"/>
                        </a:rPr>
                        <a:t>Individual named -adm accounts per tier per person</a:t>
                      </a:r>
                    </a:p>
                  </a:txBody>
                  <a:tcPr anchor="ctr" marL="76200" marR="76200" marT="38100" marB="38100">
                    <a:solidFill>
                      <a:srgbClr val="FFFFFF"/>
                    </a:solidFill>
                  </a:tcPr>
                </a:tc>
              </a:tr>
              <a:tr h="457200">
                <a:tc>
                  <a:txBody>
                    <a:bodyPr/>
                    <a:lstStyle/>
                    <a:p>
                      <a:pPr algn="l"/>
                      <a:r>
                        <a:rPr sz="1200" b="1" i="0">
                          <a:solidFill>
                            <a:srgbClr val="B02A2A"/>
                          </a:solidFill>
                          <a:latin typeface="Calibri"/>
                        </a:rPr>
                        <a:t>Stale accounts left in active OUs</a:t>
                      </a:r>
                    </a:p>
                  </a:txBody>
                  <a:tcPr anchor="ctr" marL="76200" marR="76200" marT="38100" marB="38100">
                    <a:solidFill>
                      <a:srgbClr val="E8EEF7"/>
                    </a:solidFill>
                  </a:tcPr>
                </a:tc>
                <a:tc>
                  <a:txBody>
                    <a:bodyPr/>
                    <a:lstStyle/>
                    <a:p>
                      <a:pPr algn="l"/>
                      <a:r>
                        <a:rPr sz="1200" b="0" i="0">
                          <a:solidFill>
                            <a:srgbClr val="111B30"/>
                          </a:solidFill>
                          <a:latin typeface="Calibri"/>
                        </a:rPr>
                        <a:t>Dormant credentials remain reachable and monitored the same as active ones</a:t>
                      </a:r>
                    </a:p>
                  </a:txBody>
                  <a:tcPr anchor="ctr" marL="76200" marR="76200" marT="38100" marB="38100">
                    <a:solidFill>
                      <a:srgbClr val="E8EEF7"/>
                    </a:solidFill>
                  </a:tcPr>
                </a:tc>
                <a:tc>
                  <a:txBody>
                    <a:bodyPr/>
                    <a:lstStyle/>
                    <a:p>
                      <a:pPr algn="l"/>
                      <a:r>
                        <a:rPr sz="1200" b="1" i="0">
                          <a:solidFill>
                            <a:srgbClr val="2E7D32"/>
                          </a:solidFill>
                          <a:latin typeface="Calibri"/>
                        </a:rPr>
                        <a:t>Dedicated OU=Disabled quarantine (detailed in Section 08)</a:t>
                      </a:r>
                    </a:p>
                  </a:txBody>
                  <a:tcPr anchor="ctr" marL="76200" marR="76200" marT="38100" marB="38100">
                    <a:solidFill>
                      <a:srgbClr val="E8EE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02</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Windows Server Roles: DNS, DHCP &amp; File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on Windows Server: AD-Integrated Zones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SRV records are how domain-joined clients find DCs/Kerberos/LDAP services - AD literally depends on DNS.</a:t>
            </a:r>
          </a:p>
        </p:txBody>
      </p:sp>
      <p:sp>
        <p:nvSpPr>
          <p:cNvPr id="4" name="TextBox 3"/>
          <p:cNvSpPr txBox="1"/>
          <p:nvPr/>
        </p:nvSpPr>
        <p:spPr>
          <a:xfrm>
            <a:off x="685800" y="1874519"/>
            <a:ext cx="10820095" cy="1554480"/>
          </a:xfrm>
          <a:prstGeom prst="rect">
            <a:avLst/>
          </a:prstGeom>
          <a:noFill/>
        </p:spPr>
        <p:txBody>
          <a:bodyPr wrap="square" lIns="0" tIns="0">
            <a:spAutoFit/>
          </a:bodyPr>
          <a:lstStyle/>
          <a:p>
            <a:pPr algn="l">
              <a:spcAft>
                <a:spcPts val="800"/>
              </a:spcAft>
            </a:pPr>
            <a:r>
              <a:rPr sz="1450" b="0" i="0">
                <a:solidFill>
                  <a:srgbClr val="111B30"/>
                </a:solidFill>
                <a:latin typeface="Calibri"/>
              </a:rPr>
              <a:t>●   AD-integrated zone: DNS data stored in AD itself, replicates automatically with the directory</a:t>
            </a:r>
          </a:p>
          <a:p>
            <a:pPr algn="l">
              <a:spcAft>
                <a:spcPts val="800"/>
              </a:spcAft>
            </a:pPr>
            <a:r>
              <a:rPr sz="1450" b="0" i="0">
                <a:solidFill>
                  <a:srgbClr val="111B30"/>
                </a:solidFill>
                <a:latin typeface="Calibri"/>
              </a:rPr>
              <a:t>●   Forward lookup zone (name to IP) vs. reverse lookup zone (IP to name, PTR records)</a:t>
            </a:r>
          </a:p>
          <a:p>
            <a:pPr algn="l">
              <a:spcAft>
                <a:spcPts val="800"/>
              </a:spcAft>
            </a:pPr>
            <a:r>
              <a:rPr sz="1450" b="0" i="0">
                <a:solidFill>
                  <a:srgbClr val="111B30"/>
                </a:solidFill>
                <a:latin typeface="Calibri"/>
              </a:rPr>
              <a:t>●   Conditional forwarders / root hints resolve names outside the domain</a:t>
            </a:r>
          </a:p>
        </p:txBody>
      </p:sp>
      <p:sp>
        <p:nvSpPr>
          <p:cNvPr id="5" name="Rounded Rectangle 4"/>
          <p:cNvSpPr/>
          <p:nvPr/>
        </p:nvSpPr>
        <p:spPr>
          <a:xfrm>
            <a:off x="914400" y="338328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Client</a:t>
            </a:r>
          </a:p>
        </p:txBody>
      </p:sp>
      <p:sp>
        <p:nvSpPr>
          <p:cNvPr id="6" name="Rounded Rectangle 5"/>
          <p:cNvSpPr/>
          <p:nvPr/>
        </p:nvSpPr>
        <p:spPr>
          <a:xfrm>
            <a:off x="3429000" y="338328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DC01 (DNS)</a:t>
            </a:r>
          </a:p>
        </p:txBody>
      </p:sp>
      <p:sp>
        <p:nvSpPr>
          <p:cNvPr id="7" name="Diamond 6"/>
          <p:cNvSpPr/>
          <p:nvPr/>
        </p:nvSpPr>
        <p:spPr>
          <a:xfrm>
            <a:off x="6172200" y="3200400"/>
            <a:ext cx="2286000" cy="105156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In lab.local</a:t>
            </a:r>
          </a:p>
          <a:p>
            <a:pPr algn="ctr"/>
            <a:r>
              <a:rPr sz="1000" b="0" i="0">
                <a:solidFill>
                  <a:srgbClr val="111B30"/>
                </a:solidFill>
                <a:latin typeface="Calibri"/>
              </a:rPr>
              <a:t>zone?</a:t>
            </a:r>
          </a:p>
        </p:txBody>
      </p:sp>
      <p:sp>
        <p:nvSpPr>
          <p:cNvPr id="8" name="Rounded Rectangle 7"/>
          <p:cNvSpPr/>
          <p:nvPr/>
        </p:nvSpPr>
        <p:spPr>
          <a:xfrm>
            <a:off x="4846320" y="4846320"/>
            <a:ext cx="274320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Yes</a:t>
            </a:r>
          </a:p>
          <a:p>
            <a:pPr algn="ctr"/>
            <a:r>
              <a:rPr sz="1000" b="0" i="0">
                <a:solidFill>
                  <a:srgbClr val="111B30"/>
                </a:solidFill>
                <a:latin typeface="Calibri"/>
              </a:rPr>
              <a:t>Answered from local zone (A record)</a:t>
            </a:r>
          </a:p>
        </p:txBody>
      </p:sp>
      <p:sp>
        <p:nvSpPr>
          <p:cNvPr id="9" name="Rounded Rectangle 8"/>
          <p:cNvSpPr/>
          <p:nvPr/>
        </p:nvSpPr>
        <p:spPr>
          <a:xfrm>
            <a:off x="8732520" y="4846320"/>
            <a:ext cx="2560320" cy="91440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No</a:t>
            </a:r>
          </a:p>
          <a:p>
            <a:pPr algn="ctr"/>
            <a:r>
              <a:rPr sz="950" b="0" i="0">
                <a:solidFill>
                  <a:srgbClr val="111B30"/>
                </a:solidFill>
                <a:latin typeface="Calibri"/>
              </a:rPr>
              <a:t>Forwarder / Root Hints (resolved externally)</a:t>
            </a:r>
          </a:p>
        </p:txBody>
      </p:sp>
      <p:cxnSp>
        <p:nvCxnSpPr>
          <p:cNvPr id="10" name="Connector 9"/>
          <p:cNvCxnSpPr/>
          <p:nvPr/>
        </p:nvCxnSpPr>
        <p:spPr>
          <a:xfrm>
            <a:off x="3017520" y="3749040"/>
            <a:ext cx="4114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54580" y="3602736"/>
            <a:ext cx="1737360" cy="292608"/>
          </a:xfrm>
          <a:prstGeom prst="rect">
            <a:avLst/>
          </a:prstGeom>
          <a:noFill/>
        </p:spPr>
        <p:txBody>
          <a:bodyPr wrap="square" lIns="0" tIns="0">
            <a:spAutoFit/>
          </a:bodyPr>
          <a:lstStyle/>
          <a:p>
            <a:pPr algn="ctr"/>
            <a:r>
              <a:rPr sz="900" b="0" i="1">
                <a:solidFill>
                  <a:srgbClr val="404040"/>
                </a:solidFill>
                <a:latin typeface="Calibri"/>
              </a:rPr>
              <a:t>query</a:t>
            </a:r>
          </a:p>
        </p:txBody>
      </p:sp>
      <p:cxnSp>
        <p:nvCxnSpPr>
          <p:cNvPr id="12" name="Connector 11"/>
          <p:cNvCxnSpPr/>
          <p:nvPr/>
        </p:nvCxnSpPr>
        <p:spPr>
          <a:xfrm flipV="1">
            <a:off x="5715000" y="3726180"/>
            <a:ext cx="457200" cy="228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591306"/>
            <a:ext cx="1737360" cy="292608"/>
          </a:xfrm>
          <a:prstGeom prst="rect">
            <a:avLst/>
          </a:prstGeom>
          <a:noFill/>
        </p:spPr>
        <p:txBody>
          <a:bodyPr wrap="square" lIns="0" tIns="0">
            <a:spAutoFit/>
          </a:bodyPr>
          <a:lstStyle/>
          <a:p>
            <a:pPr algn="ctr"/>
            <a:r>
              <a:rPr sz="900" b="0" i="1">
                <a:solidFill>
                  <a:srgbClr val="404040"/>
                </a:solidFill>
                <a:latin typeface="Calibri"/>
              </a:rPr>
              <a:t>lookup</a:t>
            </a:r>
          </a:p>
        </p:txBody>
      </p:sp>
      <p:cxnSp>
        <p:nvCxnSpPr>
          <p:cNvPr id="14" name="Connector 13"/>
          <p:cNvCxnSpPr/>
          <p:nvPr/>
        </p:nvCxnSpPr>
        <p:spPr>
          <a:xfrm flipH="1">
            <a:off x="6217920" y="4251960"/>
            <a:ext cx="1097280" cy="59436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58200" y="3726180"/>
            <a:ext cx="274320" cy="15773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DHCP on Windows Server: Scopes, Reservations &amp; Failover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Scope = a range of leasable addresses for one subnet - still uses DORA underneath</a:t>
            </a:r>
          </a:p>
          <a:p>
            <a:pPr algn="l">
              <a:spcAft>
                <a:spcPts val="1200"/>
              </a:spcAft>
            </a:pPr>
            <a:r>
              <a:rPr sz="1600" b="0" i="0">
                <a:solidFill>
                  <a:srgbClr val="111B30"/>
                </a:solidFill>
                <a:latin typeface="Calibri"/>
              </a:rPr>
              <a:t>●   Reservation = a fixed IP tied to a MAC address within a scope - printers, servers that still want DHCP-managed config</a:t>
            </a:r>
          </a:p>
          <a:p>
            <a:pPr algn="l">
              <a:spcAft>
                <a:spcPts val="1200"/>
              </a:spcAft>
            </a:pPr>
            <a:r>
              <a:rPr sz="1600" b="0" i="0">
                <a:solidFill>
                  <a:srgbClr val="111B30"/>
                </a:solidFill>
                <a:latin typeface="Calibri"/>
              </a:rPr>
              <a:t>●   Scope options (006 DNS servers, 003 router) usually pushed from AD-integrated DHCP</a:t>
            </a:r>
          </a:p>
          <a:p>
            <a:pPr algn="l">
              <a:spcAft>
                <a:spcPts val="1200"/>
              </a:spcAft>
            </a:pPr>
            <a:r>
              <a:rPr sz="1600" b="0" i="0">
                <a:solidFill>
                  <a:srgbClr val="111B30"/>
                </a:solidFill>
                <a:latin typeface="Calibri"/>
              </a:rPr>
              <a:t>●   DHCP failover (load-balance or hot-standby) avoids the single-server-outage problem inherent to DHCP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File Services: Shares, NTFS &amp; FSRM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Share permissions (SMB level) vs. NTFS permissions (filesystem level) - effective access is the MORE restrictive of the two</a:t>
            </a:r>
          </a:p>
          <a:p>
            <a:pPr algn="l">
              <a:spcAft>
                <a:spcPts val="1200"/>
              </a:spcAft>
            </a:pPr>
            <a:r>
              <a:rPr sz="1600" b="0" i="0">
                <a:solidFill>
                  <a:srgbClr val="111B30"/>
                </a:solidFill>
                <a:latin typeface="Calibri"/>
              </a:rPr>
              <a:t>●   New-SmbShare creates a share; NTFS ACLs still control real access underneath it</a:t>
            </a:r>
          </a:p>
          <a:p>
            <a:pPr algn="l">
              <a:spcAft>
                <a:spcPts val="1200"/>
              </a:spcAft>
            </a:pPr>
            <a:r>
              <a:rPr sz="1600" b="0" i="0">
                <a:solidFill>
                  <a:srgbClr val="111B30"/>
                </a:solidFill>
                <a:latin typeface="Calibri"/>
              </a:rPr>
              <a:t>●   File Server Resource Manager (FSRM): quotas, file screening, storage reports</a:t>
            </a:r>
          </a:p>
          <a:p>
            <a:pPr algn="l">
              <a:spcAft>
                <a:spcPts val="1200"/>
              </a:spcAft>
            </a:pPr>
            <a:r>
              <a:rPr sz="1600" b="0" i="0">
                <a:solidFill>
                  <a:srgbClr val="111B30"/>
                </a:solidFill>
                <a:latin typeface="Calibri"/>
              </a:rPr>
              <a:t>●   DFS builds on top of file shares - previewed here, detailed in Section 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 DHCP / File Services Cheat Sheet</a:t>
            </a:r>
          </a:p>
        </p:txBody>
      </p:sp>
      <p:graphicFrame>
        <p:nvGraphicFramePr>
          <p:cNvPr id="3" name="Table 2"/>
          <p:cNvGraphicFramePr>
            <a:graphicFrameLocks noGrp="1"/>
          </p:cNvGraphicFramePr>
          <p:nvPr/>
        </p:nvGraphicFramePr>
        <p:xfrm>
          <a:off x="640080" y="1554480"/>
          <a:ext cx="10911535" cy="1828800"/>
        </p:xfrm>
        <a:graphic>
          <a:graphicData uri="http://schemas.openxmlformats.org/drawingml/2006/table">
            <a:tbl>
              <a:tblPr firstRow="1" bandRow="1">
                <a:tableStyleId>{5C22544A-7EE6-4342-B048-85BDC9FD1C3A}</a:tableStyleId>
              </a:tblPr>
              <a:tblGrid>
                <a:gridCol w="2011680"/>
                <a:gridCol w="5303520"/>
                <a:gridCol w="3596335"/>
              </a:tblGrid>
              <a:tr h="457200">
                <a:tc>
                  <a:txBody>
                    <a:bodyPr/>
                    <a:lstStyle/>
                    <a:p>
                      <a:pPr algn="l"/>
                      <a:r>
                        <a:rPr sz="1250" b="1" i="0">
                          <a:solidFill>
                            <a:srgbClr val="FFFFFF"/>
                          </a:solidFill>
                          <a:latin typeface="Calibri"/>
                        </a:rPr>
                        <a:t>Role</a:t>
                      </a:r>
                    </a:p>
                  </a:txBody>
                  <a:tcPr anchor="ctr" marL="76200" marR="76200" marT="38100" marB="38100">
                    <a:solidFill>
                      <a:srgbClr val="1B2A4A"/>
                    </a:solidFill>
                  </a:tcPr>
                </a:tc>
                <a:tc>
                  <a:txBody>
                    <a:bodyPr/>
                    <a:lstStyle/>
                    <a:p>
                      <a:pPr algn="l"/>
                      <a:r>
                        <a:rPr sz="1250" b="1" i="0">
                          <a:solidFill>
                            <a:srgbClr val="FFFFFF"/>
                          </a:solidFill>
                          <a:latin typeface="Calibri"/>
                        </a:rPr>
                        <a:t>Key PowerShell Cmdlets</a:t>
                      </a:r>
                    </a:p>
                  </a:txBody>
                  <a:tcPr anchor="ctr" marL="76200" marR="76200" marT="38100" marB="38100">
                    <a:solidFill>
                      <a:srgbClr val="1B2A4A"/>
                    </a:solidFill>
                  </a:tcPr>
                </a:tc>
                <a:tc>
                  <a:txBody>
                    <a:bodyPr/>
                    <a:lstStyle/>
                    <a:p>
                      <a:pPr algn="l"/>
                      <a:r>
                        <a:rPr sz="1250" b="1" i="0">
                          <a:solidFill>
                            <a:srgbClr val="FFFFFF"/>
                          </a:solidFill>
                          <a:latin typeface="Calibri"/>
                        </a:rPr>
                        <a:t>What to Check First</a:t>
                      </a:r>
                    </a:p>
                  </a:txBody>
                  <a:tcPr anchor="ctr" marL="76200" marR="76200" marT="38100" marB="38100">
                    <a:solidFill>
                      <a:srgbClr val="1B2A4A"/>
                    </a:solidFill>
                  </a:tcPr>
                </a:tc>
              </a:tr>
              <a:tr h="457200">
                <a:tc>
                  <a:txBody>
                    <a:bodyPr/>
                    <a:lstStyle/>
                    <a:p>
                      <a:pPr algn="l"/>
                      <a:r>
                        <a:rPr sz="1250" b="0" i="0">
                          <a:solidFill>
                            <a:srgbClr val="111B30"/>
                          </a:solidFill>
                          <a:latin typeface="Calibri"/>
                        </a:rPr>
                        <a:t>DNS</a:t>
                      </a:r>
                    </a:p>
                  </a:txBody>
                  <a:tcPr anchor="ctr" marL="76200" marR="76200" marT="38100" marB="38100">
                    <a:solidFill>
                      <a:srgbClr val="FFFFFF"/>
                    </a:solidFill>
                  </a:tcPr>
                </a:tc>
                <a:tc>
                  <a:txBody>
                    <a:bodyPr/>
                    <a:lstStyle/>
                    <a:p>
                      <a:pPr algn="l"/>
                      <a:r>
                        <a:rPr sz="1250" b="0" i="0">
                          <a:solidFill>
                            <a:srgbClr val="111B30"/>
                          </a:solidFill>
                          <a:latin typeface="Calibri"/>
                        </a:rPr>
                        <a:t>Add-DnsServerResourceRecordA, Get-DnsServerZone, Resolve-DnsName</a:t>
                      </a:r>
                    </a:p>
                  </a:txBody>
                  <a:tcPr anchor="ctr" marL="76200" marR="76200" marT="38100" marB="38100">
                    <a:solidFill>
                      <a:srgbClr val="FFFFFF"/>
                    </a:solidFill>
                  </a:tcPr>
                </a:tc>
                <a:tc>
                  <a:txBody>
                    <a:bodyPr/>
                    <a:lstStyle/>
                    <a:p>
                      <a:pPr algn="l"/>
                      <a:r>
                        <a:rPr sz="1250" b="0" i="0">
                          <a:solidFill>
                            <a:srgbClr val="111B30"/>
                          </a:solidFill>
                          <a:latin typeface="Calibri"/>
                        </a:rPr>
                        <a:t>Is the zone AD-integrated? Are SRV records present?</a:t>
                      </a:r>
                    </a:p>
                  </a:txBody>
                  <a:tcPr anchor="ctr" marL="76200" marR="76200" marT="38100" marB="38100">
                    <a:solidFill>
                      <a:srgbClr val="FFFFFF"/>
                    </a:solidFill>
                  </a:tcPr>
                </a:tc>
              </a:tr>
              <a:tr h="457200">
                <a:tc>
                  <a:txBody>
                    <a:bodyPr/>
                    <a:lstStyle/>
                    <a:p>
                      <a:pPr algn="l"/>
                      <a:r>
                        <a:rPr sz="1250" b="0" i="0">
                          <a:solidFill>
                            <a:srgbClr val="111B30"/>
                          </a:solidFill>
                          <a:latin typeface="Calibri"/>
                        </a:rPr>
                        <a:t>DHCP</a:t>
                      </a:r>
                    </a:p>
                  </a:txBody>
                  <a:tcPr anchor="ctr" marL="76200" marR="76200" marT="38100" marB="38100">
                    <a:solidFill>
                      <a:srgbClr val="E8EEF7"/>
                    </a:solidFill>
                  </a:tcPr>
                </a:tc>
                <a:tc>
                  <a:txBody>
                    <a:bodyPr/>
                    <a:lstStyle/>
                    <a:p>
                      <a:pPr algn="l"/>
                      <a:r>
                        <a:rPr sz="1250" b="0" i="0">
                          <a:solidFill>
                            <a:srgbClr val="111B30"/>
                          </a:solidFill>
                          <a:latin typeface="Calibri"/>
                        </a:rPr>
                        <a:t>Add-DhcpServerv4Scope, Get-DhcpServerv4Lease, Add-DhcpServerv4Reservation</a:t>
                      </a:r>
                    </a:p>
                  </a:txBody>
                  <a:tcPr anchor="ctr" marL="76200" marR="76200" marT="38100" marB="38100">
                    <a:solidFill>
                      <a:srgbClr val="E8EEF7"/>
                    </a:solidFill>
                  </a:tcPr>
                </a:tc>
                <a:tc>
                  <a:txBody>
                    <a:bodyPr/>
                    <a:lstStyle/>
                    <a:p>
                      <a:pPr algn="l"/>
                      <a:r>
                        <a:rPr sz="1250" b="0" i="0">
                          <a:solidFill>
                            <a:srgbClr val="111B30"/>
                          </a:solidFill>
                          <a:latin typeface="Calibri"/>
                        </a:rPr>
                        <a:t>Scope not exhausted; correct DNS/gateway options set</a:t>
                      </a:r>
                    </a:p>
                  </a:txBody>
                  <a:tcPr anchor="ctr" marL="76200" marR="76200" marT="38100" marB="38100">
                    <a:solidFill>
                      <a:srgbClr val="E8EEF7"/>
                    </a:solidFill>
                  </a:tcPr>
                </a:tc>
              </a:tr>
              <a:tr h="457200">
                <a:tc>
                  <a:txBody>
                    <a:bodyPr/>
                    <a:lstStyle/>
                    <a:p>
                      <a:pPr algn="l"/>
                      <a:r>
                        <a:rPr sz="1250" b="0" i="0">
                          <a:solidFill>
                            <a:srgbClr val="111B30"/>
                          </a:solidFill>
                          <a:latin typeface="Calibri"/>
                        </a:rPr>
                        <a:t>File Services</a:t>
                      </a:r>
                    </a:p>
                  </a:txBody>
                  <a:tcPr anchor="ctr" marL="76200" marR="76200" marT="38100" marB="38100">
                    <a:solidFill>
                      <a:srgbClr val="FFFFFF"/>
                    </a:solidFill>
                  </a:tcPr>
                </a:tc>
                <a:tc>
                  <a:txBody>
                    <a:bodyPr/>
                    <a:lstStyle/>
                    <a:p>
                      <a:pPr algn="l"/>
                      <a:r>
                        <a:rPr sz="1250" b="0" i="0">
                          <a:solidFill>
                            <a:srgbClr val="111B30"/>
                          </a:solidFill>
                          <a:latin typeface="Calibri"/>
                        </a:rPr>
                        <a:t>New-SmbShare, Get-SmbShareAccess, Get-Acl / Set-Acl</a:t>
                      </a:r>
                    </a:p>
                  </a:txBody>
                  <a:tcPr anchor="ctr" marL="76200" marR="76200" marT="38100" marB="38100">
                    <a:solidFill>
                      <a:srgbClr val="FFFFFF"/>
                    </a:solidFill>
                  </a:tcPr>
                </a:tc>
                <a:tc>
                  <a:txBody>
                    <a:bodyPr/>
                    <a:lstStyle/>
                    <a:p>
                      <a:pPr algn="l"/>
                      <a:r>
                        <a:rPr sz="1250" b="0" i="0">
                          <a:solidFill>
                            <a:srgbClr val="111B30"/>
                          </a:solidFill>
                          <a:latin typeface="Calibri"/>
                        </a:rPr>
                        <a:t>Combined effective permission (share (intersect) NTFS)</a:t>
                      </a:r>
                    </a:p>
                  </a:txBody>
                  <a:tcPr anchor="ctr" marL="76200" marR="76200" marT="38100" marB="38100">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DNS, DHCP &amp; File Services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DNS cache poisoning / zone transfer abuse</a:t>
                      </a:r>
                    </a:p>
                  </a:txBody>
                  <a:tcPr anchor="ctr" marL="76200" marR="76200" marT="38100" marB="38100">
                    <a:solidFill>
                      <a:srgbClr val="FFFFFF"/>
                    </a:solidFill>
                  </a:tcPr>
                </a:tc>
                <a:tc>
                  <a:txBody>
                    <a:bodyPr/>
                    <a:lstStyle/>
                    <a:p>
                      <a:pPr algn="l"/>
                      <a:r>
                        <a:rPr sz="1200" b="0" i="0">
                          <a:solidFill>
                            <a:srgbClr val="111B30"/>
                          </a:solidFill>
                          <a:latin typeface="Calibri"/>
                        </a:rPr>
                        <a:t>Attacker injects bad records or pulls full zone data via unrestricted transfer</a:t>
                      </a:r>
                    </a:p>
                  </a:txBody>
                  <a:tcPr anchor="ctr" marL="76200" marR="76200" marT="38100" marB="38100">
                    <a:solidFill>
                      <a:srgbClr val="FFFFFF"/>
                    </a:solidFill>
                  </a:tcPr>
                </a:tc>
                <a:tc>
                  <a:txBody>
                    <a:bodyPr/>
                    <a:lstStyle/>
                    <a:p>
                      <a:pPr algn="l"/>
                      <a:r>
                        <a:rPr sz="1200" b="1" i="0">
                          <a:solidFill>
                            <a:srgbClr val="2E7D32"/>
                          </a:solidFill>
                          <a:latin typeface="Calibri"/>
                        </a:rPr>
                        <a:t>Restrict zone transfers to named secondaries; disable if unused</a:t>
                      </a:r>
                    </a:p>
                  </a:txBody>
                  <a:tcPr anchor="ctr" marL="76200" marR="76200" marT="38100" marB="38100">
                    <a:solidFill>
                      <a:srgbClr val="FFFFFF"/>
                    </a:solidFill>
                  </a:tcPr>
                </a:tc>
              </a:tr>
              <a:tr h="457200">
                <a:tc>
                  <a:txBody>
                    <a:bodyPr/>
                    <a:lstStyle/>
                    <a:p>
                      <a:pPr algn="l"/>
                      <a:r>
                        <a:rPr sz="1200" b="1" i="0">
                          <a:solidFill>
                            <a:srgbClr val="B02A2A"/>
                          </a:solidFill>
                          <a:latin typeface="Calibri"/>
                        </a:rPr>
                        <a:t>Rogue DHCP server</a:t>
                      </a:r>
                    </a:p>
                  </a:txBody>
                  <a:tcPr anchor="ctr" marL="76200" marR="76200" marT="38100" marB="38100">
                    <a:solidFill>
                      <a:srgbClr val="E8EEF7"/>
                    </a:solidFill>
                  </a:tcPr>
                </a:tc>
                <a:tc>
                  <a:txBody>
                    <a:bodyPr/>
                    <a:lstStyle/>
                    <a:p>
                      <a:pPr algn="l"/>
                      <a:r>
                        <a:rPr sz="1200" b="0" i="0">
                          <a:solidFill>
                            <a:srgbClr val="111B30"/>
                          </a:solidFill>
                          <a:latin typeface="Calibri"/>
                        </a:rPr>
                        <a:t>Unauthorized DHCP server hands out attacker-controlled DNS/gateway</a:t>
                      </a:r>
                    </a:p>
                  </a:txBody>
                  <a:tcPr anchor="ctr" marL="76200" marR="76200" marT="38100" marB="38100">
                    <a:solidFill>
                      <a:srgbClr val="E8EEF7"/>
                    </a:solidFill>
                  </a:tcPr>
                </a:tc>
                <a:tc>
                  <a:txBody>
                    <a:bodyPr/>
                    <a:lstStyle/>
                    <a:p>
                      <a:pPr algn="l"/>
                      <a:r>
                        <a:rPr sz="1200" b="1" i="0">
                          <a:solidFill>
                            <a:srgbClr val="2E7D32"/>
                          </a:solidFill>
                          <a:latin typeface="Calibri"/>
                        </a:rPr>
                        <a:t>DHCP snooping at the switch; authorize DHCP servers in AD</a:t>
                      </a:r>
                    </a:p>
                  </a:txBody>
                  <a:tcPr anchor="ctr" marL="76200" marR="76200" marT="38100" marB="38100">
                    <a:solidFill>
                      <a:srgbClr val="E8EEF7"/>
                    </a:solidFill>
                  </a:tcPr>
                </a:tc>
              </a:tr>
              <a:tr h="457200">
                <a:tc>
                  <a:txBody>
                    <a:bodyPr/>
                    <a:lstStyle/>
                    <a:p>
                      <a:pPr algn="l"/>
                      <a:r>
                        <a:rPr sz="1200" b="1" i="0">
                          <a:solidFill>
                            <a:srgbClr val="B02A2A"/>
                          </a:solidFill>
                          <a:latin typeface="Calibri"/>
                        </a:rPr>
                        <a:t>Share permission misconfiguration</a:t>
                      </a:r>
                    </a:p>
                  </a:txBody>
                  <a:tcPr anchor="ctr" marL="76200" marR="76200" marT="38100" marB="38100">
                    <a:solidFill>
                      <a:srgbClr val="FFFFFF"/>
                    </a:solidFill>
                  </a:tcPr>
                </a:tc>
                <a:tc>
                  <a:txBody>
                    <a:bodyPr/>
                    <a:lstStyle/>
                    <a:p>
                      <a:pPr algn="l"/>
                      <a:r>
                        <a:rPr sz="1200" b="0" i="0">
                          <a:solidFill>
                            <a:srgbClr val="111B30"/>
                          </a:solidFill>
                          <a:latin typeface="Calibri"/>
                        </a:rPr>
                        <a:t>Overly permissive share exposes sensitive files org-wide</a:t>
                      </a:r>
                    </a:p>
                  </a:txBody>
                  <a:tcPr anchor="ctr" marL="76200" marR="76200" marT="38100" marB="38100">
                    <a:solidFill>
                      <a:srgbClr val="FFFFFF"/>
                    </a:solidFill>
                  </a:tcPr>
                </a:tc>
                <a:tc>
                  <a:txBody>
                    <a:bodyPr/>
                    <a:lstStyle/>
                    <a:p>
                      <a:pPr algn="l"/>
                      <a:r>
                        <a:rPr sz="1200" b="1" i="0">
                          <a:solidFill>
                            <a:srgbClr val="2E7D32"/>
                          </a:solidFill>
                          <a:latin typeface="Calibri"/>
                        </a:rPr>
                        <a:t>Least-privilege NTFS ACLs; periodic access review; FSRM screening</a:t>
                      </a:r>
                    </a:p>
                  </a:txBody>
                  <a:tcPr anchor="ctr" marL="76200" marR="76200" marT="38100" marB="38100">
                    <a:solidFill>
                      <a:srgbClr val="FFFFFF"/>
                    </a:solidFill>
                  </a:tcPr>
                </a:tc>
              </a:tr>
              <a:tr h="457200">
                <a:tc>
                  <a:txBody>
                    <a:bodyPr/>
                    <a:lstStyle/>
                    <a:p>
                      <a:pPr algn="l"/>
                      <a:r>
                        <a:rPr sz="1200" b="1" i="0">
                          <a:solidFill>
                            <a:srgbClr val="B02A2A"/>
                          </a:solidFill>
                          <a:latin typeface="Calibri"/>
                        </a:rPr>
                        <a:t>SMB/NTLM relay</a:t>
                      </a:r>
                    </a:p>
                  </a:txBody>
                  <a:tcPr anchor="ctr" marL="76200" marR="76200" marT="38100" marB="38100">
                    <a:solidFill>
                      <a:srgbClr val="E8EEF7"/>
                    </a:solidFill>
                  </a:tcPr>
                </a:tc>
                <a:tc>
                  <a:txBody>
                    <a:bodyPr/>
                    <a:lstStyle/>
                    <a:p>
                      <a:pPr algn="l"/>
                      <a:r>
                        <a:rPr sz="1200" b="0" i="0">
                          <a:solidFill>
                            <a:srgbClr val="111B30"/>
                          </a:solidFill>
                          <a:latin typeface="Calibri"/>
                        </a:rPr>
                        <a:t>Captured SMB auth attempt relayed to another host for lateral movement</a:t>
                      </a:r>
                    </a:p>
                  </a:txBody>
                  <a:tcPr anchor="ctr" marL="76200" marR="76200" marT="38100" marB="38100">
                    <a:solidFill>
                      <a:srgbClr val="E8EEF7"/>
                    </a:solidFill>
                  </a:tcPr>
                </a:tc>
                <a:tc>
                  <a:txBody>
                    <a:bodyPr/>
                    <a:lstStyle/>
                    <a:p>
                      <a:pPr algn="l"/>
                      <a:r>
                        <a:rPr sz="1200" b="1" i="0">
                          <a:solidFill>
                            <a:srgbClr val="2E7D32"/>
                          </a:solidFill>
                          <a:latin typeface="Calibri"/>
                        </a:rPr>
                        <a:t>Enforce SMB signing; disable NTLM where possible</a:t>
                      </a:r>
                    </a:p>
                  </a:txBody>
                  <a:tcPr anchor="ctr" marL="76200" marR="76200" marT="38100" marB="38100">
                    <a:solidFill>
                      <a:srgbClr val="E8EE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03</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Group Policy, Local Security Policy &amp; Auditing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Local Security Policy vs. Group Policy</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1828800"/>
                <a:gridCol w="4114800"/>
                <a:gridCol w="49679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Local Security Policy</a:t>
                      </a:r>
                    </a:p>
                  </a:txBody>
                  <a:tcPr anchor="ctr" marL="76200" marR="76200" marT="38100" marB="38100">
                    <a:solidFill>
                      <a:srgbClr val="1B2A4A"/>
                    </a:solidFill>
                  </a:tcPr>
                </a:tc>
                <a:tc>
                  <a:txBody>
                    <a:bodyPr/>
                    <a:lstStyle/>
                    <a:p>
                      <a:pPr algn="l"/>
                      <a:r>
                        <a:rPr sz="1250" b="1" i="0">
                          <a:solidFill>
                            <a:srgbClr val="FFFFFF"/>
                          </a:solidFill>
                          <a:latin typeface="Calibri"/>
                        </a:rPr>
                        <a:t>Group Policy</a:t>
                      </a:r>
                    </a:p>
                  </a:txBody>
                  <a:tcPr anchor="ctr" marL="76200" marR="76200" marT="38100" marB="38100">
                    <a:solidFill>
                      <a:srgbClr val="1B2A4A"/>
                    </a:solidFill>
                  </a:tcPr>
                </a:tc>
              </a:tr>
              <a:tr h="457200">
                <a:tc>
                  <a:txBody>
                    <a:bodyPr/>
                    <a:lstStyle/>
                    <a:p>
                      <a:pPr algn="l"/>
                      <a:r>
                        <a:rPr sz="1250" b="0" i="0">
                          <a:solidFill>
                            <a:srgbClr val="111B30"/>
                          </a:solidFill>
                          <a:latin typeface="Calibri"/>
                        </a:rPr>
                        <a:t>Scope</a:t>
                      </a:r>
                    </a:p>
                  </a:txBody>
                  <a:tcPr anchor="ctr" marL="76200" marR="76200" marT="38100" marB="38100">
                    <a:solidFill>
                      <a:srgbClr val="FFFFFF"/>
                    </a:solidFill>
                  </a:tcPr>
                </a:tc>
                <a:tc>
                  <a:txBody>
                    <a:bodyPr/>
                    <a:lstStyle/>
                    <a:p>
                      <a:pPr algn="l"/>
                      <a:r>
                        <a:rPr sz="1250" b="0" i="0">
                          <a:solidFill>
                            <a:srgbClr val="111B30"/>
                          </a:solidFill>
                          <a:latin typeface="Calibri"/>
                        </a:rPr>
                        <a:t>Single machine only</a:t>
                      </a:r>
                    </a:p>
                  </a:txBody>
                  <a:tcPr anchor="ctr" marL="76200" marR="76200" marT="38100" marB="38100">
                    <a:solidFill>
                      <a:srgbClr val="FFFFFF"/>
                    </a:solidFill>
                  </a:tcPr>
                </a:tc>
                <a:tc>
                  <a:txBody>
                    <a:bodyPr/>
                    <a:lstStyle/>
                    <a:p>
                      <a:pPr algn="l"/>
                      <a:r>
                        <a:rPr sz="1250" b="0" i="0">
                          <a:solidFill>
                            <a:srgbClr val="111B30"/>
                          </a:solidFill>
                          <a:latin typeface="Calibri"/>
                        </a:rPr>
                        <a:t>Site / Domain / OU - many machines at once</a:t>
                      </a:r>
                    </a:p>
                  </a:txBody>
                  <a:tcPr anchor="ctr" marL="76200" marR="76200" marT="38100" marB="38100">
                    <a:solidFill>
                      <a:srgbClr val="FFFFFF"/>
                    </a:solidFill>
                  </a:tcPr>
                </a:tc>
              </a:tr>
              <a:tr h="457200">
                <a:tc>
                  <a:txBody>
                    <a:bodyPr/>
                    <a:lstStyle/>
                    <a:p>
                      <a:pPr algn="l"/>
                      <a:r>
                        <a:rPr sz="1250" b="0" i="0">
                          <a:solidFill>
                            <a:srgbClr val="111B30"/>
                          </a:solidFill>
                          <a:latin typeface="Calibri"/>
                        </a:rPr>
                        <a:t>Tool</a:t>
                      </a:r>
                    </a:p>
                  </a:txBody>
                  <a:tcPr anchor="ctr" marL="76200" marR="76200" marT="38100" marB="38100">
                    <a:solidFill>
                      <a:srgbClr val="E8EEF7"/>
                    </a:solidFill>
                  </a:tcPr>
                </a:tc>
                <a:tc>
                  <a:txBody>
                    <a:bodyPr/>
                    <a:lstStyle/>
                    <a:p>
                      <a:pPr algn="l"/>
                      <a:r>
                        <a:rPr sz="1250" b="0" i="0">
                          <a:solidFill>
                            <a:srgbClr val="111B30"/>
                          </a:solidFill>
                          <a:latin typeface="Calibri"/>
                        </a:rPr>
                        <a:t>secpol.msc</a:t>
                      </a:r>
                    </a:p>
                  </a:txBody>
                  <a:tcPr anchor="ctr" marL="76200" marR="76200" marT="38100" marB="38100">
                    <a:solidFill>
                      <a:srgbClr val="E8EEF7"/>
                    </a:solidFill>
                  </a:tcPr>
                </a:tc>
                <a:tc>
                  <a:txBody>
                    <a:bodyPr/>
                    <a:lstStyle/>
                    <a:p>
                      <a:pPr algn="l"/>
                      <a:r>
                        <a:rPr sz="1250" b="0" i="0">
                          <a:solidFill>
                            <a:srgbClr val="111B30"/>
                          </a:solidFill>
                          <a:latin typeface="Calibri"/>
                        </a:rPr>
                        <a:t>Group Policy Management Console (GPMC), New-GPO</a:t>
                      </a:r>
                    </a:p>
                  </a:txBody>
                  <a:tcPr anchor="ctr" marL="76200" marR="76200" marT="38100" marB="38100">
                    <a:solidFill>
                      <a:srgbClr val="E8EEF7"/>
                    </a:solidFill>
                  </a:tcPr>
                </a:tc>
              </a:tr>
              <a:tr h="457200">
                <a:tc>
                  <a:txBody>
                    <a:bodyPr/>
                    <a:lstStyle/>
                    <a:p>
                      <a:pPr algn="l"/>
                      <a:r>
                        <a:rPr sz="1250" b="0" i="0">
                          <a:solidFill>
                            <a:srgbClr val="111B30"/>
                          </a:solidFill>
                          <a:latin typeface="Calibri"/>
                        </a:rPr>
                        <a:t>Storage</a:t>
                      </a:r>
                    </a:p>
                  </a:txBody>
                  <a:tcPr anchor="ctr" marL="76200" marR="76200" marT="38100" marB="38100">
                    <a:solidFill>
                      <a:srgbClr val="FFFFFF"/>
                    </a:solidFill>
                  </a:tcPr>
                </a:tc>
                <a:tc>
                  <a:txBody>
                    <a:bodyPr/>
                    <a:lstStyle/>
                    <a:p>
                      <a:pPr algn="l"/>
                      <a:r>
                        <a:rPr sz="1250" b="0" i="0">
                          <a:solidFill>
                            <a:srgbClr val="111B30"/>
                          </a:solidFill>
                          <a:latin typeface="Calibri"/>
                        </a:rPr>
                        <a:t>Local registry/security database</a:t>
                      </a:r>
                    </a:p>
                  </a:txBody>
                  <a:tcPr anchor="ctr" marL="76200" marR="76200" marT="38100" marB="38100">
                    <a:solidFill>
                      <a:srgbClr val="FFFFFF"/>
                    </a:solidFill>
                  </a:tcPr>
                </a:tc>
                <a:tc>
                  <a:txBody>
                    <a:bodyPr/>
                    <a:lstStyle/>
                    <a:p>
                      <a:pPr algn="l"/>
                      <a:r>
                        <a:rPr sz="1250" b="0" i="0">
                          <a:solidFill>
                            <a:srgbClr val="111B30"/>
                          </a:solidFill>
                          <a:latin typeface="Calibri"/>
                        </a:rPr>
                        <a:t>SYSVOL + AD (GPT + GPC)</a:t>
                      </a:r>
                    </a:p>
                  </a:txBody>
                  <a:tcPr anchor="ctr" marL="76200" marR="76200" marT="38100" marB="38100">
                    <a:solidFill>
                      <a:srgbClr val="FFFFFF"/>
                    </a:solidFill>
                  </a:tcPr>
                </a:tc>
              </a:tr>
              <a:tr h="457200">
                <a:tc>
                  <a:txBody>
                    <a:bodyPr/>
                    <a:lstStyle/>
                    <a:p>
                      <a:pPr algn="l"/>
                      <a:r>
                        <a:rPr sz="1250" b="0" i="0">
                          <a:solidFill>
                            <a:srgbClr val="111B30"/>
                          </a:solidFill>
                          <a:latin typeface="Calibri"/>
                        </a:rPr>
                        <a:t>Overridden by?</a:t>
                      </a:r>
                    </a:p>
                  </a:txBody>
                  <a:tcPr anchor="ctr" marL="76200" marR="76200" marT="38100" marB="38100">
                    <a:solidFill>
                      <a:srgbClr val="E8EEF7"/>
                    </a:solidFill>
                  </a:tcPr>
                </a:tc>
                <a:tc>
                  <a:txBody>
                    <a:bodyPr/>
                    <a:lstStyle/>
                    <a:p>
                      <a:pPr algn="l"/>
                      <a:r>
                        <a:rPr sz="1250" b="0" i="0">
                          <a:solidFill>
                            <a:srgbClr val="111B30"/>
                          </a:solidFill>
                          <a:latin typeface="Calibri"/>
                        </a:rPr>
                        <a:t>Nothing, unless a GPO applies</a:t>
                      </a:r>
                    </a:p>
                  </a:txBody>
                  <a:tcPr anchor="ctr" marL="76200" marR="76200" marT="38100" marB="38100">
                    <a:solidFill>
                      <a:srgbClr val="E8EEF7"/>
                    </a:solidFill>
                  </a:tcPr>
                </a:tc>
                <a:tc>
                  <a:txBody>
                    <a:bodyPr/>
                    <a:lstStyle/>
                    <a:p>
                      <a:pPr algn="l"/>
                      <a:r>
                        <a:rPr sz="1250" b="0" i="0">
                          <a:solidFill>
                            <a:srgbClr val="111B30"/>
                          </a:solidFill>
                          <a:latin typeface="Calibri"/>
                        </a:rPr>
                        <a:t>Higher-precedence GPOs</a:t>
                      </a:r>
                    </a:p>
                  </a:txBody>
                  <a:tcPr anchor="ctr" marL="76200" marR="76200" marT="38100" marB="38100">
                    <a:solidFill>
                      <a:srgbClr val="E8EEF7"/>
                    </a:solidFill>
                  </a:tcPr>
                </a:tc>
              </a:tr>
              <a:tr h="457200">
                <a:tc>
                  <a:txBody>
                    <a:bodyPr/>
                    <a:lstStyle/>
                    <a:p>
                      <a:pPr algn="l"/>
                      <a:r>
                        <a:rPr sz="1250" b="0" i="0">
                          <a:solidFill>
                            <a:srgbClr val="111B30"/>
                          </a:solidFill>
                          <a:latin typeface="Calibri"/>
                        </a:rPr>
                        <a:t>Use case</a:t>
                      </a:r>
                    </a:p>
                  </a:txBody>
                  <a:tcPr anchor="ctr" marL="76200" marR="76200" marT="38100" marB="38100">
                    <a:solidFill>
                      <a:srgbClr val="FFFFFF"/>
                    </a:solidFill>
                  </a:tcPr>
                </a:tc>
                <a:tc>
                  <a:txBody>
                    <a:bodyPr/>
                    <a:lstStyle/>
                    <a:p>
                      <a:pPr algn="l"/>
                      <a:r>
                        <a:rPr sz="1250" b="0" i="0">
                          <a:solidFill>
                            <a:srgbClr val="111B30"/>
                          </a:solidFill>
                          <a:latin typeface="Calibri"/>
                        </a:rPr>
                        <a:t>Standalone/workgroup machines, break-glass config</a:t>
                      </a:r>
                    </a:p>
                  </a:txBody>
                  <a:tcPr anchor="ctr" marL="76200" marR="76200" marT="38100" marB="38100">
                    <a:solidFill>
                      <a:srgbClr val="FFFFFF"/>
                    </a:solidFill>
                  </a:tcPr>
                </a:tc>
                <a:tc>
                  <a:txBody>
                    <a:bodyPr/>
                    <a:lstStyle/>
                    <a:p>
                      <a:pPr algn="l"/>
                      <a:r>
                        <a:rPr sz="1250" b="0" i="0">
                          <a:solidFill>
                            <a:srgbClr val="111B30"/>
                          </a:solidFill>
                          <a:latin typeface="Calibri"/>
                        </a:rPr>
                        <a:t>Any domain-joined fleet - the default choice at scale</a:t>
                      </a:r>
                    </a:p>
                  </a:txBody>
                  <a:tcPr anchor="ctr" marL="76200" marR="76200" marT="38100" marB="38100">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GPO Processing &amp; Inheritance Order</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Mnemonic: LSDOU - Local, Site, Domain, OU. Nearest-to-the-object OU normally wins unless blocked/enforced.</a:t>
            </a:r>
          </a:p>
        </p:txBody>
      </p:sp>
      <p:sp>
        <p:nvSpPr>
          <p:cNvPr id="4" name="Rounded Rectangle 3"/>
          <p:cNvSpPr/>
          <p:nvPr/>
        </p:nvSpPr>
        <p:spPr>
          <a:xfrm>
            <a:off x="914400" y="192024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Local Policy</a:t>
            </a:r>
          </a:p>
        </p:txBody>
      </p:sp>
      <p:sp>
        <p:nvSpPr>
          <p:cNvPr id="5" name="Rounded Rectangle 4"/>
          <p:cNvSpPr/>
          <p:nvPr/>
        </p:nvSpPr>
        <p:spPr>
          <a:xfrm>
            <a:off x="914400" y="269748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Site GPOs</a:t>
            </a:r>
          </a:p>
        </p:txBody>
      </p:sp>
      <p:sp>
        <p:nvSpPr>
          <p:cNvPr id="6" name="Rounded Rectangle 5"/>
          <p:cNvSpPr/>
          <p:nvPr/>
        </p:nvSpPr>
        <p:spPr>
          <a:xfrm>
            <a:off x="914400" y="3474720"/>
            <a:ext cx="39319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Domain GPOs</a:t>
            </a:r>
          </a:p>
        </p:txBody>
      </p:sp>
      <p:sp>
        <p:nvSpPr>
          <p:cNvPr id="7" name="Rounded Rectangle 6"/>
          <p:cNvSpPr/>
          <p:nvPr/>
        </p:nvSpPr>
        <p:spPr>
          <a:xfrm>
            <a:off x="914400" y="4251960"/>
            <a:ext cx="3931920" cy="5486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OU GPOs (nearest wins)</a:t>
            </a:r>
          </a:p>
        </p:txBody>
      </p:sp>
      <p:cxnSp>
        <p:nvCxnSpPr>
          <p:cNvPr id="8" name="Connector 7"/>
          <p:cNvCxnSpPr/>
          <p:nvPr/>
        </p:nvCxnSpPr>
        <p:spPr>
          <a:xfrm>
            <a:off x="2880360" y="246888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880360" y="3246120"/>
            <a:ext cx="0" cy="22860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4023359"/>
            <a:ext cx="0" cy="228601"/>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4983480"/>
            <a:ext cx="10911535" cy="365760"/>
          </a:xfrm>
          <a:prstGeom prst="rect">
            <a:avLst/>
          </a:prstGeom>
          <a:noFill/>
        </p:spPr>
        <p:txBody>
          <a:bodyPr wrap="square" lIns="0" tIns="0">
            <a:spAutoFit/>
          </a:bodyPr>
          <a:lstStyle/>
          <a:p>
            <a:r>
              <a:rPr sz="1250" b="0" i="1">
                <a:solidFill>
                  <a:srgbClr val="6B7480"/>
                </a:solidFill>
                <a:latin typeface="Calibri"/>
              </a:rPr>
              <a:t>Enforced / No Override flags can reverse this default order.</a:t>
            </a:r>
          </a:p>
        </p:txBody>
      </p:sp>
      <p:sp>
        <p:nvSpPr>
          <p:cNvPr id="12" name="Rounded Rectangle 11"/>
          <p:cNvSpPr/>
          <p:nvPr/>
        </p:nvSpPr>
        <p:spPr>
          <a:xfrm>
            <a:off x="6309360" y="1920240"/>
            <a:ext cx="3108960" cy="59436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GPO linked at domain root</a:t>
            </a:r>
          </a:p>
        </p:txBody>
      </p:sp>
      <p:sp>
        <p:nvSpPr>
          <p:cNvPr id="13" name="Rounded Rectangle 12"/>
          <p:cNvSpPr/>
          <p:nvPr/>
        </p:nvSpPr>
        <p:spPr>
          <a:xfrm>
            <a:off x="576072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Tier0</a:t>
            </a:r>
          </a:p>
        </p:txBody>
      </p:sp>
      <p:sp>
        <p:nvSpPr>
          <p:cNvPr id="14" name="Rounded Rectangle 13"/>
          <p:cNvSpPr/>
          <p:nvPr/>
        </p:nvSpPr>
        <p:spPr>
          <a:xfrm>
            <a:off x="7196328"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Servers</a:t>
            </a:r>
          </a:p>
        </p:txBody>
      </p:sp>
      <p:sp>
        <p:nvSpPr>
          <p:cNvPr id="15" name="Rounded Rectangle 14"/>
          <p:cNvSpPr/>
          <p:nvPr/>
        </p:nvSpPr>
        <p:spPr>
          <a:xfrm>
            <a:off x="8622792"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Workstations</a:t>
            </a:r>
          </a:p>
        </p:txBody>
      </p:sp>
      <p:sp>
        <p:nvSpPr>
          <p:cNvPr id="16" name="Rounded Rectangle 15"/>
          <p:cNvSpPr/>
          <p:nvPr/>
        </p:nvSpPr>
        <p:spPr>
          <a:xfrm>
            <a:off x="10058400" y="3246120"/>
            <a:ext cx="118872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UserAccounts</a:t>
            </a:r>
          </a:p>
        </p:txBody>
      </p:sp>
      <p:cxnSp>
        <p:nvCxnSpPr>
          <p:cNvPr id="17" name="Connector 16"/>
          <p:cNvCxnSpPr/>
          <p:nvPr/>
        </p:nvCxnSpPr>
        <p:spPr>
          <a:xfrm flipH="1">
            <a:off x="6355080" y="2514600"/>
            <a:ext cx="150876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790688" y="2514600"/>
            <a:ext cx="7315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863840" y="2514600"/>
            <a:ext cx="1353312"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2514600"/>
            <a:ext cx="2788920" cy="73152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3977639"/>
            <a:ext cx="5486400" cy="640080"/>
          </a:xfrm>
          <a:prstGeom prst="rect">
            <a:avLst/>
          </a:prstGeom>
          <a:noFill/>
        </p:spPr>
        <p:txBody>
          <a:bodyPr wrap="square">
            <a:spAutoFit/>
          </a:bodyPr>
          <a:lstStyle/>
          <a:p>
            <a:r>
              <a:rPr sz="1100" b="0" i="1">
                <a:solidFill>
                  <a:srgbClr val="404040"/>
                </a:solidFill>
                <a:latin typeface="Calibri"/>
              </a:rPr>
              <a:t>Linking at the domain root means every OU inherits without linking 4 separate times.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Event Log Overview</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Three core logs: Security (auth/audit events), System (OS/service events), Application (app-level events)</a:t>
            </a:r>
          </a:p>
          <a:p>
            <a:pPr algn="l">
              <a:spcAft>
                <a:spcPts val="1200"/>
              </a:spcAft>
            </a:pPr>
            <a:r>
              <a:rPr sz="1600" b="0" i="0">
                <a:solidFill>
                  <a:srgbClr val="111B30"/>
                </a:solidFill>
                <a:latin typeface="Calibri"/>
              </a:rPr>
              <a:t>●   Event Viewer (eventvwr.msc) or Get-WinEvent from PowerShell - same data, scriptable access</a:t>
            </a:r>
          </a:p>
          <a:p>
            <a:pPr algn="l">
              <a:spcAft>
                <a:spcPts val="1200"/>
              </a:spcAft>
            </a:pPr>
            <a:r>
              <a:rPr sz="1600" b="0" i="0">
                <a:solidFill>
                  <a:srgbClr val="111B30"/>
                </a:solidFill>
                <a:latin typeface="Calibri"/>
              </a:rPr>
              <a:t>●   Key Security Event IDs: 4624 (successful logon), 4625 (failed logon), 4720 (user created), 4738 (user changed), 4767 (account unlocked)</a:t>
            </a:r>
          </a:p>
          <a:p>
            <a:pPr algn="l">
              <a:spcAft>
                <a:spcPts val="1200"/>
              </a:spcAft>
            </a:pPr>
            <a:r>
              <a:rPr sz="1600" b="0" i="0">
                <a:solidFill>
                  <a:srgbClr val="111B30"/>
                </a:solidFill>
                <a:latin typeface="Calibri"/>
              </a:rPr>
              <a:t>●   Logs are local per-machine by default - centralizing them (SIEM, Windows Event Forwarding) is a recurring theme this week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Security Baseline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Lab 3 Part 4 - linked at the domain root via New-GPO / New-GPLink</a:t>
            </a:r>
          </a:p>
        </p:txBody>
      </p:sp>
      <p:graphicFrame>
        <p:nvGraphicFramePr>
          <p:cNvPr id="4" name="Table 3"/>
          <p:cNvGraphicFramePr>
            <a:graphicFrameLocks noGrp="1"/>
          </p:cNvGraphicFramePr>
          <p:nvPr/>
        </p:nvGraphicFramePr>
        <p:xfrm>
          <a:off x="640080" y="1828800"/>
          <a:ext cx="10911535" cy="4114800"/>
        </p:xfrm>
        <a:graphic>
          <a:graphicData uri="http://schemas.openxmlformats.org/drawingml/2006/table">
            <a:tbl>
              <a:tblPr firstRow="1" bandRow="1">
                <a:tableStyleId>{5C22544A-7EE6-4342-B048-85BDC9FD1C3A}</a:tableStyleId>
              </a:tblPr>
              <a:tblGrid>
                <a:gridCol w="4572000"/>
                <a:gridCol w="3200400"/>
                <a:gridCol w="3139135"/>
              </a:tblGrid>
              <a:tr h="457200">
                <a:tc>
                  <a:txBody>
                    <a:bodyPr/>
                    <a:lstStyle/>
                    <a:p>
                      <a:pPr algn="l"/>
                      <a:r>
                        <a:rPr sz="1250" b="1" i="0">
                          <a:solidFill>
                            <a:srgbClr val="FFFFFF"/>
                          </a:solidFill>
                          <a:latin typeface="Calibri"/>
                        </a:rPr>
                        <a:t>Setting</a:t>
                      </a:r>
                    </a:p>
                  </a:txBody>
                  <a:tcPr anchor="ctr" marL="76200" marR="76200" marT="38100" marB="38100">
                    <a:solidFill>
                      <a:srgbClr val="1B2A4A"/>
                    </a:solidFill>
                  </a:tcPr>
                </a:tc>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CIS Reference</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password length</a:t>
                      </a:r>
                    </a:p>
                  </a:txBody>
                  <a:tcPr anchor="ctr" marL="76200" marR="76200" marT="38100" marB="38100">
                    <a:solidFill>
                      <a:srgbClr val="FFFFFF"/>
                    </a:solidFill>
                  </a:tcPr>
                </a:tc>
                <a:tc>
                  <a:txBody>
                    <a:bodyPr/>
                    <a:lstStyle/>
                    <a:p>
                      <a:pPr algn="l"/>
                      <a:r>
                        <a:rPr sz="1200" b="0" i="0">
                          <a:solidFill>
                            <a:srgbClr val="111B30"/>
                          </a:solidFill>
                          <a:latin typeface="Calibri"/>
                        </a:rPr>
                        <a:t>14 characters</a:t>
                      </a:r>
                    </a:p>
                  </a:txBody>
                  <a:tcPr anchor="ctr" marL="76200" marR="76200" marT="38100" marB="38100">
                    <a:solidFill>
                      <a:srgbClr val="FFFFFF"/>
                    </a:solidFill>
                  </a:tcPr>
                </a:tc>
                <a:tc>
                  <a:txBody>
                    <a:bodyPr/>
                    <a:lstStyle/>
                    <a:p>
                      <a:pPr algn="l"/>
                      <a:r>
                        <a:rPr sz="1200" b="0" i="0">
                          <a:solidFill>
                            <a:srgbClr val="111B30"/>
                          </a:solidFill>
                          <a:latin typeface="Calibri"/>
                        </a:rPr>
                        <a:t>CIS 1.1.4</a:t>
                      </a:r>
                    </a:p>
                  </a:txBody>
                  <a:tcPr anchor="ctr" marL="76200" marR="76200" marT="38100" marB="38100">
                    <a:solidFill>
                      <a:srgbClr val="FFFFFF"/>
                    </a:solidFill>
                  </a:tcPr>
                </a:tc>
              </a:tr>
              <a:tr h="457200">
                <a:tc>
                  <a:txBody>
                    <a:bodyPr/>
                    <a:lstStyle/>
                    <a:p>
                      <a:pPr algn="l"/>
                      <a:r>
                        <a:rPr sz="1200" b="0" i="0">
                          <a:solidFill>
                            <a:srgbClr val="111B30"/>
                          </a:solidFill>
                          <a:latin typeface="Calibri"/>
                        </a:rPr>
                        <a:t>Password complexity</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1.1.5</a:t>
                      </a:r>
                    </a:p>
                  </a:txBody>
                  <a:tcPr anchor="ctr" marL="76200" marR="76200" marT="38100" marB="38100">
                    <a:solidFill>
                      <a:srgbClr val="E8EEF7"/>
                    </a:solidFill>
                  </a:tcPr>
                </a:tc>
              </a:tr>
              <a:tr h="457200">
                <a:tc>
                  <a:txBody>
                    <a:bodyPr/>
                    <a:lstStyle/>
                    <a:p>
                      <a:pPr algn="l"/>
                      <a:r>
                        <a:rPr sz="1200" b="0" i="0">
                          <a:solidFill>
                            <a:srgbClr val="111B30"/>
                          </a:solidFill>
                          <a:latin typeface="Calibri"/>
                        </a:rPr>
                        <a:t>Password history</a:t>
                      </a:r>
                    </a:p>
                  </a:txBody>
                  <a:tcPr anchor="ctr" marL="76200" marR="76200" marT="38100" marB="38100">
                    <a:solidFill>
                      <a:srgbClr val="FFFFFF"/>
                    </a:solidFill>
                  </a:tcPr>
                </a:tc>
                <a:tc>
                  <a:txBody>
                    <a:bodyPr/>
                    <a:lstStyle/>
                    <a:p>
                      <a:pPr algn="l"/>
                      <a:r>
                        <a:rPr sz="1200" b="0" i="0">
                          <a:solidFill>
                            <a:srgbClr val="111B30"/>
                          </a:solidFill>
                          <a:latin typeface="Calibri"/>
                        </a:rPr>
                        <a:t>24 passwords remembered</a:t>
                      </a:r>
                    </a:p>
                  </a:txBody>
                  <a:tcPr anchor="ctr" marL="76200" marR="76200" marT="38100" marB="38100">
                    <a:solidFill>
                      <a:srgbClr val="FFFFFF"/>
                    </a:solidFill>
                  </a:tcPr>
                </a:tc>
                <a:tc>
                  <a:txBody>
                    <a:bodyPr/>
                    <a:lstStyle/>
                    <a:p>
                      <a:pPr algn="l"/>
                      <a:r>
                        <a:rPr sz="1200" b="0" i="0">
                          <a:solidFill>
                            <a:srgbClr val="111B30"/>
                          </a:solidFill>
                          <a:latin typeface="Calibri"/>
                        </a:rPr>
                        <a:t>CIS 1.1.1</a:t>
                      </a:r>
                    </a:p>
                  </a:txBody>
                  <a:tcPr anchor="ctr" marL="76200" marR="76200" marT="38100" marB="38100">
                    <a:solidFill>
                      <a:srgbClr val="FFFFFF"/>
                    </a:solidFill>
                  </a:tcPr>
                </a:tc>
              </a:tr>
              <a:tr h="457200">
                <a:tc>
                  <a:txBody>
                    <a:bodyPr/>
                    <a:lstStyle/>
                    <a:p>
                      <a:pPr algn="l"/>
                      <a:r>
                        <a:rPr sz="1200" b="0" i="0">
                          <a:solidFill>
                            <a:srgbClr val="111B30"/>
                          </a:solidFill>
                          <a:latin typeface="Calibri"/>
                        </a:rPr>
                        <a:t>Max password age</a:t>
                      </a:r>
                    </a:p>
                  </a:txBody>
                  <a:tcPr anchor="ctr" marL="76200" marR="76200" marT="38100" marB="38100">
                    <a:solidFill>
                      <a:srgbClr val="E8EEF7"/>
                    </a:solidFill>
                  </a:tcPr>
                </a:tc>
                <a:tc>
                  <a:txBody>
                    <a:bodyPr/>
                    <a:lstStyle/>
                    <a:p>
                      <a:pPr algn="l"/>
                      <a:r>
                        <a:rPr sz="1200" b="0" i="0">
                          <a:solidFill>
                            <a:srgbClr val="111B30"/>
                          </a:solidFill>
                          <a:latin typeface="Calibri"/>
                        </a:rPr>
                        <a:t>365 days</a:t>
                      </a:r>
                    </a:p>
                  </a:txBody>
                  <a:tcPr anchor="ctr" marL="76200" marR="76200" marT="38100" marB="38100">
                    <a:solidFill>
                      <a:srgbClr val="E8EEF7"/>
                    </a:solidFill>
                  </a:tcPr>
                </a:tc>
                <a:tc>
                  <a:txBody>
                    <a:bodyPr/>
                    <a:lstStyle/>
                    <a:p>
                      <a:pPr algn="l"/>
                      <a:r>
                        <a:rPr sz="1200" b="0" i="0">
                          <a:solidFill>
                            <a:srgbClr val="111B30"/>
                          </a:solidFill>
                          <a:latin typeface="Calibri"/>
                        </a:rPr>
                        <a:t>CIS 1.1.2</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lockout threshold</a:t>
                      </a:r>
                    </a:p>
                  </a:txBody>
                  <a:tcPr anchor="ctr" marL="76200" marR="76200" marT="38100" marB="38100">
                    <a:solidFill>
                      <a:srgbClr val="FFFFFF"/>
                    </a:solidFill>
                  </a:tcPr>
                </a:tc>
                <a:tc>
                  <a:txBody>
                    <a:bodyPr/>
                    <a:lstStyle/>
                    <a:p>
                      <a:pPr algn="l"/>
                      <a:r>
                        <a:rPr sz="1200" b="0" i="0">
                          <a:solidFill>
                            <a:srgbClr val="111B30"/>
                          </a:solidFill>
                          <a:latin typeface="Calibri"/>
                        </a:rPr>
                        <a:t>5 invalid attempts</a:t>
                      </a:r>
                    </a:p>
                  </a:txBody>
                  <a:tcPr anchor="ctr" marL="76200" marR="76200" marT="38100" marB="38100">
                    <a:solidFill>
                      <a:srgbClr val="FFFFFF"/>
                    </a:solidFill>
                  </a:tcPr>
                </a:tc>
                <a:tc>
                  <a:txBody>
                    <a:bodyPr/>
                    <a:lstStyle/>
                    <a:p>
                      <a:pPr algn="l"/>
                      <a:r>
                        <a:rPr sz="1200" b="0" i="0">
                          <a:solidFill>
                            <a:srgbClr val="111B30"/>
                          </a:solidFill>
                          <a:latin typeface="Calibri"/>
                        </a:rPr>
                        <a:t>CIS 1.2.1</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lockout duration</a:t>
                      </a:r>
                    </a:p>
                  </a:txBody>
                  <a:tcPr anchor="ctr" marL="76200" marR="76200" marT="38100" marB="38100">
                    <a:solidFill>
                      <a:srgbClr val="E8EEF7"/>
                    </a:solidFill>
                  </a:tcPr>
                </a:tc>
                <a:tc>
                  <a:txBody>
                    <a:bodyPr/>
                    <a:lstStyle/>
                    <a:p>
                      <a:pPr algn="l"/>
                      <a:r>
                        <a:rPr sz="1200" b="0" i="0">
                          <a:solidFill>
                            <a:srgbClr val="111B30"/>
                          </a:solidFill>
                          <a:latin typeface="Calibri"/>
                        </a:rPr>
                        <a:t>15 minutes</a:t>
                      </a:r>
                    </a:p>
                  </a:txBody>
                  <a:tcPr anchor="ctr" marL="76200" marR="76200" marT="38100" marB="38100">
                    <a:solidFill>
                      <a:srgbClr val="E8EEF7"/>
                    </a:solidFill>
                  </a:tcPr>
                </a:tc>
                <a:tc>
                  <a:txBody>
                    <a:bodyPr/>
                    <a:lstStyle/>
                    <a:p>
                      <a:pPr algn="l"/>
                      <a:r>
                        <a:rPr sz="1200" b="0" i="0">
                          <a:solidFill>
                            <a:srgbClr val="111B30"/>
                          </a:solidFill>
                          <a:latin typeface="Calibri"/>
                        </a:rPr>
                        <a:t>CIS 1.2.2</a:t>
                      </a:r>
                    </a:p>
                  </a:txBody>
                  <a:tcPr anchor="ctr" marL="76200" marR="76200" marT="38100" marB="38100">
                    <a:solidFill>
                      <a:srgbClr val="E8EEF7"/>
                    </a:solidFill>
                  </a:tcPr>
                </a:tc>
              </a:tr>
              <a:tr h="457200">
                <a:tc>
                  <a:txBody>
                    <a:bodyPr/>
                    <a:lstStyle/>
                    <a:p>
                      <a:pPr algn="l"/>
                      <a:r>
                        <a:rPr sz="1200" b="0" i="0">
                          <a:solidFill>
                            <a:srgbClr val="111B30"/>
                          </a:solidFill>
                          <a:latin typeface="Calibri"/>
                        </a:rPr>
                        <a:t>Reset lockout counter after</a:t>
                      </a:r>
                    </a:p>
                  </a:txBody>
                  <a:tcPr anchor="ctr" marL="76200" marR="76200" marT="38100" marB="38100">
                    <a:solidFill>
                      <a:srgbClr val="FFFFFF"/>
                    </a:solidFill>
                  </a:tcPr>
                </a:tc>
                <a:tc>
                  <a:txBody>
                    <a:bodyPr/>
                    <a:lstStyle/>
                    <a:p>
                      <a:pPr algn="l"/>
                      <a:r>
                        <a:rPr sz="1200" b="0" i="0">
                          <a:solidFill>
                            <a:srgbClr val="111B30"/>
                          </a:solidFill>
                          <a:latin typeface="Calibri"/>
                        </a:rPr>
                        <a:t>15 minutes</a:t>
                      </a:r>
                    </a:p>
                  </a:txBody>
                  <a:tcPr anchor="ctr" marL="76200" marR="76200" marT="38100" marB="38100">
                    <a:solidFill>
                      <a:srgbClr val="FFFFFF"/>
                    </a:solidFill>
                  </a:tcPr>
                </a:tc>
                <a:tc>
                  <a:txBody>
                    <a:bodyPr/>
                    <a:lstStyle/>
                    <a:p>
                      <a:pPr algn="l"/>
                      <a:r>
                        <a:rPr sz="1200" b="0" i="0">
                          <a:solidFill>
                            <a:srgbClr val="111B30"/>
                          </a:solidFill>
                          <a:latin typeface="Calibri"/>
                        </a:rPr>
                        <a:t>CIS 1.2.3</a:t>
                      </a:r>
                    </a:p>
                  </a:txBody>
                  <a:tcPr anchor="ctr" marL="76200" marR="76200" marT="38100" marB="38100">
                    <a:solidFill>
                      <a:srgbClr val="FFFFFF"/>
                    </a:solidFill>
                  </a:tcPr>
                </a:tc>
              </a:tr>
              <a:tr h="457200">
                <a:tc>
                  <a:txBody>
                    <a:bodyPr/>
                    <a:lstStyle/>
                    <a:p>
                      <a:pPr algn="l"/>
                      <a:r>
                        <a:rPr sz="1200" b="0" i="0">
                          <a:solidFill>
                            <a:srgbClr val="111B30"/>
                          </a:solidFill>
                          <a:latin typeface="Calibri"/>
                        </a:rPr>
                        <a:t>Do not display last signed-in username</a:t>
                      </a:r>
                    </a:p>
                  </a:txBody>
                  <a:tcPr anchor="ctr" marL="76200" marR="76200" marT="38100" marB="38100">
                    <a:solidFill>
                      <a:srgbClr val="E8EEF7"/>
                    </a:solidFill>
                  </a:tcPr>
                </a:tc>
                <a:tc>
                  <a:txBody>
                    <a:bodyPr/>
                    <a:lstStyle/>
                    <a:p>
                      <a:pPr algn="l"/>
                      <a:r>
                        <a:rPr sz="1200" b="0" i="0">
                          <a:solidFill>
                            <a:srgbClr val="111B30"/>
                          </a:solidFill>
                          <a:latin typeface="Calibri"/>
                        </a:rPr>
                        <a:t>Enabled</a:t>
                      </a:r>
                    </a:p>
                  </a:txBody>
                  <a:tcPr anchor="ctr" marL="76200" marR="76200" marT="38100" marB="38100">
                    <a:solidFill>
                      <a:srgbClr val="E8EEF7"/>
                    </a:solidFill>
                  </a:tcPr>
                </a:tc>
                <a:tc>
                  <a:txBody>
                    <a:bodyPr/>
                    <a:lstStyle/>
                    <a:p>
                      <a:pPr algn="l"/>
                      <a:r>
                        <a:rPr sz="1200" b="0" i="0">
                          <a:solidFill>
                            <a:srgbClr val="111B30"/>
                          </a:solidFill>
                          <a:latin typeface="Calibri"/>
                        </a:rPr>
                        <a:t>CIS 2.3.7.1</a:t>
                      </a:r>
                    </a:p>
                  </a:txBody>
                  <a:tcPr anchor="ctr" marL="76200" marR="76200" marT="38100" marB="38100">
                    <a:solidFill>
                      <a:srgbClr val="E8EE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Building the Audit Policy GPO</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Lab 3 Part 5 - Advanced Audit Policy (not legacy), also linked at the domain root</a:t>
            </a:r>
          </a:p>
        </p:txBody>
      </p:sp>
      <p:graphicFrame>
        <p:nvGraphicFramePr>
          <p:cNvPr id="4" name="Table 3"/>
          <p:cNvGraphicFramePr>
            <a:graphicFrameLocks noGrp="1"/>
          </p:cNvGraphicFramePr>
          <p:nvPr/>
        </p:nvGraphicFramePr>
        <p:xfrm>
          <a:off x="640080" y="1828800"/>
          <a:ext cx="10362895" cy="4114800"/>
        </p:xfrm>
        <a:graphic>
          <a:graphicData uri="http://schemas.openxmlformats.org/drawingml/2006/table">
            <a:tbl>
              <a:tblPr firstRow="1" bandRow="1">
                <a:tableStyleId>{5C22544A-7EE6-4342-B048-85BDC9FD1C3A}</a:tableStyleId>
              </a:tblPr>
              <a:tblGrid>
                <a:gridCol w="3200400"/>
                <a:gridCol w="4389120"/>
                <a:gridCol w="2773375"/>
              </a:tblGrid>
              <a:tr h="457200">
                <a:tc>
                  <a:txBody>
                    <a:bodyPr/>
                    <a:lstStyle/>
                    <a:p>
                      <a:pPr algn="l"/>
                      <a:r>
                        <a:rPr sz="1250" b="1" i="0">
                          <a:solidFill>
                            <a:srgbClr val="FFFFFF"/>
                          </a:solidFill>
                          <a:latin typeface="Calibri"/>
                        </a:rPr>
                        <a:t>Category</a:t>
                      </a:r>
                    </a:p>
                  </a:txBody>
                  <a:tcPr anchor="ctr" marL="76200" marR="76200" marT="38100" marB="38100">
                    <a:solidFill>
                      <a:srgbClr val="1B2A4A"/>
                    </a:solidFill>
                  </a:tcPr>
                </a:tc>
                <a:tc>
                  <a:txBody>
                    <a:bodyPr/>
                    <a:lstStyle/>
                    <a:p>
                      <a:pPr algn="l"/>
                      <a:r>
                        <a:rPr sz="1250" b="1" i="0">
                          <a:solidFill>
                            <a:srgbClr val="FFFFFF"/>
                          </a:solidFill>
                          <a:latin typeface="Calibri"/>
                        </a:rPr>
                        <a:t>Subcategory</a:t>
                      </a:r>
                    </a:p>
                  </a:txBody>
                  <a:tcPr anchor="ctr" marL="76200" marR="76200" marT="38100" marB="38100">
                    <a:solidFill>
                      <a:srgbClr val="1B2A4A"/>
                    </a:solidFill>
                  </a:tcPr>
                </a:tc>
                <a:tc>
                  <a:txBody>
                    <a:bodyPr/>
                    <a:lstStyle/>
                    <a:p>
                      <a:pPr algn="l"/>
                      <a:r>
                        <a:rPr sz="1250" b="1" i="0">
                          <a:solidFill>
                            <a:srgbClr val="FFFFFF"/>
                          </a:solidFill>
                          <a:latin typeface="Calibri"/>
                        </a:rPr>
                        <a:t>Setting</a:t>
                      </a:r>
                    </a:p>
                  </a:txBody>
                  <a:tcPr anchor="ctr" marL="76200" marR="76200" marT="38100" marB="38100">
                    <a:solidFill>
                      <a:srgbClr val="1B2A4A"/>
                    </a:solidFill>
                  </a:tcPr>
                </a:tc>
              </a:tr>
              <a:tr h="457200">
                <a:tc>
                  <a:txBody>
                    <a:bodyPr/>
                    <a:lstStyle/>
                    <a:p>
                      <a:pPr algn="l"/>
                      <a:r>
                        <a:rPr sz="1200" b="0" i="0">
                          <a:solidFill>
                            <a:srgbClr val="111B30"/>
                          </a:solidFill>
                          <a:latin typeface="Calibri"/>
                        </a:rPr>
                        <a:t>Account Logon</a:t>
                      </a:r>
                    </a:p>
                  </a:txBody>
                  <a:tcPr anchor="ctr" marL="76200" marR="76200" marT="38100" marB="38100">
                    <a:solidFill>
                      <a:srgbClr val="FFFFFF"/>
                    </a:solidFill>
                  </a:tcPr>
                </a:tc>
                <a:tc>
                  <a:txBody>
                    <a:bodyPr/>
                    <a:lstStyle/>
                    <a:p>
                      <a:pPr algn="l"/>
                      <a:r>
                        <a:rPr sz="1200" b="0" i="0">
                          <a:solidFill>
                            <a:srgbClr val="111B30"/>
                          </a:solidFill>
                          <a:latin typeface="Calibri"/>
                        </a:rPr>
                        <a:t>Credential Validation</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E8EEF7"/>
                    </a:solidFill>
                  </a:tcPr>
                </a:tc>
                <a:tc>
                  <a:txBody>
                    <a:bodyPr/>
                    <a:lstStyle/>
                    <a:p>
                      <a:pPr algn="l"/>
                      <a:r>
                        <a:rPr sz="1200" b="0" i="0">
                          <a:solidFill>
                            <a:srgbClr val="111B30"/>
                          </a:solidFill>
                          <a:latin typeface="Calibri"/>
                        </a:rPr>
                        <a:t>User Account Management</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Account Management</a:t>
                      </a:r>
                    </a:p>
                  </a:txBody>
                  <a:tcPr anchor="ctr" marL="76200" marR="76200" marT="38100" marB="38100">
                    <a:solidFill>
                      <a:srgbClr val="FFFFFF"/>
                    </a:solidFill>
                  </a:tcPr>
                </a:tc>
                <a:tc>
                  <a:txBody>
                    <a:bodyPr/>
                    <a:lstStyle/>
                    <a:p>
                      <a:pPr algn="l"/>
                      <a:r>
                        <a:rPr sz="1200" b="0" i="0">
                          <a:solidFill>
                            <a:srgbClr val="111B30"/>
                          </a:solidFill>
                          <a:latin typeface="Calibri"/>
                        </a:rPr>
                        <a:t>Security Group Management</a:t>
                      </a:r>
                    </a:p>
                  </a:txBody>
                  <a:tcPr anchor="ctr" marL="76200" marR="76200" marT="38100" marB="38100">
                    <a:solidFill>
                      <a:srgbClr val="FFFFFF"/>
                    </a:solidFill>
                  </a:tcPr>
                </a:tc>
                <a:tc>
                  <a:txBody>
                    <a:bodyPr/>
                    <a:lstStyle/>
                    <a:p>
                      <a:pPr algn="l"/>
                      <a:r>
                        <a:rPr sz="1200" b="0" i="0">
                          <a:solidFill>
                            <a:srgbClr val="111B30"/>
                          </a:solidFill>
                          <a:latin typeface="Calibri"/>
                        </a:rPr>
                        <a:t>Success</a:t>
                      </a:r>
                    </a:p>
                  </a:txBody>
                  <a:tcPr anchor="ctr" marL="76200" marR="76200" marT="38100" marB="38100">
                    <a:solidFill>
                      <a:srgbClr val="FFFFFF"/>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E8EEF7"/>
                    </a:solidFill>
                  </a:tcPr>
                </a:tc>
                <a:tc>
                  <a:txBody>
                    <a:bodyPr/>
                    <a:lstStyle/>
                    <a:p>
                      <a:pPr algn="l"/>
                      <a:r>
                        <a:rPr sz="1200" b="0" i="0">
                          <a:solidFill>
                            <a:srgbClr val="111B30"/>
                          </a:solidFill>
                          <a:latin typeface="Calibri"/>
                        </a:rPr>
                        <a:t>Logon</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Logon/Logoff</a:t>
                      </a:r>
                    </a:p>
                  </a:txBody>
                  <a:tcPr anchor="ctr" marL="76200" marR="76200" marT="38100" marB="38100">
                    <a:solidFill>
                      <a:srgbClr val="FFFFFF"/>
                    </a:solidFill>
                  </a:tcPr>
                </a:tc>
                <a:tc>
                  <a:txBody>
                    <a:bodyPr/>
                    <a:lstStyle/>
                    <a:p>
                      <a:pPr algn="l"/>
                      <a:r>
                        <a:rPr sz="1200" b="0" i="0">
                          <a:solidFill>
                            <a:srgbClr val="111B30"/>
                          </a:solidFill>
                          <a:latin typeface="Calibri"/>
                        </a:rPr>
                        <a:t>Account Lockout</a:t>
                      </a:r>
                    </a:p>
                  </a:txBody>
                  <a:tcPr anchor="ctr" marL="76200" marR="76200" marT="38100" marB="38100">
                    <a:solidFill>
                      <a:srgbClr val="FFFFFF"/>
                    </a:solidFill>
                  </a:tcPr>
                </a:tc>
                <a:tc>
                  <a:txBody>
                    <a:bodyPr/>
                    <a:lstStyle/>
                    <a:p>
                      <a:pPr algn="l"/>
                      <a:r>
                        <a:rPr sz="1200" b="0" i="0">
                          <a:solidFill>
                            <a:srgbClr val="111B30"/>
                          </a:solidFill>
                          <a:latin typeface="Calibri"/>
                        </a:rPr>
                        <a:t>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Object Access</a:t>
                      </a:r>
                    </a:p>
                  </a:txBody>
                  <a:tcPr anchor="ctr" marL="76200" marR="76200" marT="38100" marB="38100">
                    <a:solidFill>
                      <a:srgbClr val="E8EEF7"/>
                    </a:solidFill>
                  </a:tcPr>
                </a:tc>
                <a:tc>
                  <a:txBody>
                    <a:bodyPr/>
                    <a:lstStyle/>
                    <a:p>
                      <a:pPr algn="l"/>
                      <a:r>
                        <a:rPr sz="1200" b="0" i="0">
                          <a:solidFill>
                            <a:srgbClr val="111B30"/>
                          </a:solidFill>
                          <a:latin typeface="Calibri"/>
                        </a:rPr>
                        <a:t>File System</a:t>
                      </a:r>
                    </a:p>
                  </a:txBody>
                  <a:tcPr anchor="ctr" marL="76200" marR="76200" marT="38100" marB="38100">
                    <a:solidFill>
                      <a:srgbClr val="E8EEF7"/>
                    </a:solidFill>
                  </a:tcPr>
                </a:tc>
                <a:tc>
                  <a:txBody>
                    <a:bodyPr/>
                    <a:lstStyle/>
                    <a:p>
                      <a:pPr algn="l"/>
                      <a:r>
                        <a:rPr sz="1200" b="0" i="0">
                          <a:solidFill>
                            <a:srgbClr val="111B30"/>
                          </a:solidFill>
                          <a:latin typeface="Calibri"/>
                        </a:rPr>
                        <a:t>Success, Failure</a:t>
                      </a:r>
                    </a:p>
                  </a:txBody>
                  <a:tcPr anchor="ctr" marL="76200" marR="76200" marT="38100" marB="38100">
                    <a:solidFill>
                      <a:srgbClr val="E8EEF7"/>
                    </a:solidFill>
                  </a:tcPr>
                </a:tc>
              </a:tr>
              <a:tr h="457200">
                <a:tc>
                  <a:txBody>
                    <a:bodyPr/>
                    <a:lstStyle/>
                    <a:p>
                      <a:pPr algn="l"/>
                      <a:r>
                        <a:rPr sz="1200" b="0" i="0">
                          <a:solidFill>
                            <a:srgbClr val="111B30"/>
                          </a:solidFill>
                          <a:latin typeface="Calibri"/>
                        </a:rPr>
                        <a:t>Privilege Use</a:t>
                      </a:r>
                    </a:p>
                  </a:txBody>
                  <a:tcPr anchor="ctr" marL="76200" marR="76200" marT="38100" marB="38100">
                    <a:solidFill>
                      <a:srgbClr val="FFFFFF"/>
                    </a:solidFill>
                  </a:tcPr>
                </a:tc>
                <a:tc>
                  <a:txBody>
                    <a:bodyPr/>
                    <a:lstStyle/>
                    <a:p>
                      <a:pPr algn="l"/>
                      <a:r>
                        <a:rPr sz="1200" b="0" i="0">
                          <a:solidFill>
                            <a:srgbClr val="111B30"/>
                          </a:solidFill>
                          <a:latin typeface="Calibri"/>
                        </a:rPr>
                        <a:t>Sensitive Privilege Use</a:t>
                      </a:r>
                    </a:p>
                  </a:txBody>
                  <a:tcPr anchor="ctr" marL="76200" marR="76200" marT="38100" marB="38100">
                    <a:solidFill>
                      <a:srgbClr val="FFFFFF"/>
                    </a:solidFill>
                  </a:tcPr>
                </a:tc>
                <a:tc>
                  <a:txBody>
                    <a:bodyPr/>
                    <a:lstStyle/>
                    <a:p>
                      <a:pPr algn="l"/>
                      <a:r>
                        <a:rPr sz="1200" b="0" i="0">
                          <a:solidFill>
                            <a:srgbClr val="111B30"/>
                          </a:solidFill>
                          <a:latin typeface="Calibri"/>
                        </a:rPr>
                        <a:t>Success, Failure</a:t>
                      </a:r>
                    </a:p>
                  </a:txBody>
                  <a:tcPr anchor="ctr" marL="76200" marR="76200" marT="38100" marB="38100">
                    <a:solidFill>
                      <a:srgbClr val="FFFFFF"/>
                    </a:solidFill>
                  </a:tcPr>
                </a:tc>
              </a:tr>
              <a:tr h="457200">
                <a:tc>
                  <a:txBody>
                    <a:bodyPr/>
                    <a:lstStyle/>
                    <a:p>
                      <a:pPr algn="l"/>
                      <a:r>
                        <a:rPr sz="1200" b="0" i="0">
                          <a:solidFill>
                            <a:srgbClr val="111B30"/>
                          </a:solidFill>
                          <a:latin typeface="Calibri"/>
                        </a:rPr>
                        <a:t>Policy Change</a:t>
                      </a:r>
                    </a:p>
                  </a:txBody>
                  <a:tcPr anchor="ctr" marL="76200" marR="76200" marT="38100" marB="38100">
                    <a:solidFill>
                      <a:srgbClr val="E8EEF7"/>
                    </a:solidFill>
                  </a:tcPr>
                </a:tc>
                <a:tc>
                  <a:txBody>
                    <a:bodyPr/>
                    <a:lstStyle/>
                    <a:p>
                      <a:pPr algn="l"/>
                      <a:r>
                        <a:rPr sz="1200" b="0" i="0">
                          <a:solidFill>
                            <a:srgbClr val="111B30"/>
                          </a:solidFill>
                          <a:latin typeface="Calibri"/>
                        </a:rPr>
                        <a:t>Audit Policy Change</a:t>
                      </a:r>
                    </a:p>
                  </a:txBody>
                  <a:tcPr anchor="ctr" marL="76200" marR="76200" marT="38100" marB="38100">
                    <a:solidFill>
                      <a:srgbClr val="E8EEF7"/>
                    </a:solidFill>
                  </a:tcPr>
                </a:tc>
                <a:tc>
                  <a:txBody>
                    <a:bodyPr/>
                    <a:lstStyle/>
                    <a:p>
                      <a:pPr algn="l"/>
                      <a:r>
                        <a:rPr sz="1200" b="0" i="0">
                          <a:solidFill>
                            <a:srgbClr val="111B30"/>
                          </a:solidFill>
                          <a:latin typeface="Calibri"/>
                        </a:rPr>
                        <a:t>Success</a:t>
                      </a:r>
                    </a:p>
                  </a:txBody>
                  <a:tcPr anchor="ctr" marL="76200" marR="76200" marT="38100" marB="38100">
                    <a:solidFill>
                      <a:srgbClr val="E8EE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Fine-Grained Password Policy (PSO): Precedence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GPO can only set ONE password policy per domain (Default Domain Policy) - PSOs solve “stricter rules for just my admins.”</a:t>
            </a:r>
          </a:p>
        </p:txBody>
      </p:sp>
      <p:sp>
        <p:nvSpPr>
          <p:cNvPr id="4" name="Rounded Rectangle 3"/>
          <p:cNvSpPr/>
          <p:nvPr/>
        </p:nvSpPr>
        <p:spPr>
          <a:xfrm>
            <a:off x="914400" y="2103120"/>
            <a:ext cx="3383280" cy="91440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Default Domain Policy</a:t>
            </a:r>
          </a:p>
          <a:p>
            <a:pPr algn="ctr"/>
            <a:r>
              <a:rPr sz="1050" b="0" i="0">
                <a:solidFill>
                  <a:srgbClr val="111B30"/>
                </a:solidFill>
                <a:latin typeface="Calibri"/>
              </a:rPr>
              <a:t>(baseline, applies to all)</a:t>
            </a:r>
          </a:p>
        </p:txBody>
      </p:sp>
      <p:sp>
        <p:nvSpPr>
          <p:cNvPr id="5" name="Rounded Rectangle 4"/>
          <p:cNvSpPr/>
          <p:nvPr/>
        </p:nvSpPr>
        <p:spPr>
          <a:xfrm>
            <a:off x="914400" y="3246120"/>
            <a:ext cx="3383280" cy="9144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PSO-AdminAccts</a:t>
            </a:r>
          </a:p>
          <a:p>
            <a:pPr algn="ctr"/>
            <a:r>
              <a:rPr sz="1050" b="1" i="0">
                <a:solidFill>
                  <a:srgbClr val="111B30"/>
                </a:solidFill>
                <a:latin typeface="Calibri"/>
              </a:rPr>
              <a:t>(Precedence 10, applies to enovak-adm)</a:t>
            </a:r>
          </a:p>
        </p:txBody>
      </p:sp>
      <p:sp>
        <p:nvSpPr>
          <p:cNvPr id="6" name="Diamond 5"/>
          <p:cNvSpPr/>
          <p:nvPr/>
        </p:nvSpPr>
        <p:spPr>
          <a:xfrm>
            <a:off x="4846320" y="2377440"/>
            <a:ext cx="2651760" cy="1463040"/>
          </a:xfrm>
          <a:prstGeom prst="diamond">
            <a:avLst/>
          </a:prstGeom>
          <a:solidFill>
            <a:srgbClr val="FFFFFF"/>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Get-ADUserResultant-</a:t>
            </a:r>
          </a:p>
          <a:p>
            <a:pPr algn="ctr"/>
            <a:r>
              <a:rPr sz="950" b="0" i="0">
                <a:solidFill>
                  <a:srgbClr val="111B30"/>
                </a:solidFill>
                <a:latin typeface="Calibri"/>
              </a:rPr>
              <a:t>PasswordPolicy</a:t>
            </a:r>
          </a:p>
        </p:txBody>
      </p:sp>
      <p:sp>
        <p:nvSpPr>
          <p:cNvPr id="7" name="Rounded Rectangle 6"/>
          <p:cNvSpPr/>
          <p:nvPr/>
        </p:nvSpPr>
        <p:spPr>
          <a:xfrm>
            <a:off x="8138160" y="2651760"/>
            <a:ext cx="3108960" cy="914400"/>
          </a:xfrm>
          <a:prstGeom prst="roundRect">
            <a:avLst/>
          </a:prstGeom>
          <a:solidFill>
            <a:srgbClr val="E8EEF7"/>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Resultant policy =</a:t>
            </a:r>
          </a:p>
          <a:p>
            <a:pPr algn="ctr"/>
            <a:r>
              <a:rPr sz="1050" b="1" i="0">
                <a:solidFill>
                  <a:srgbClr val="111B30"/>
                </a:solidFill>
                <a:latin typeface="Calibri"/>
              </a:rPr>
              <a:t>LOWEST Precedence number wins</a:t>
            </a:r>
          </a:p>
        </p:txBody>
      </p:sp>
      <p:cxnSp>
        <p:nvCxnSpPr>
          <p:cNvPr id="8" name="Connector 7"/>
          <p:cNvCxnSpPr/>
          <p:nvPr/>
        </p:nvCxnSpPr>
        <p:spPr>
          <a:xfrm>
            <a:off x="4297680" y="2560320"/>
            <a:ext cx="548640" cy="5486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297680" y="3108960"/>
            <a:ext cx="54864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79" y="3108960"/>
            <a:ext cx="640081"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17520" y="4754880"/>
            <a:ext cx="6035040" cy="82296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i="0">
                <a:solidFill>
                  <a:srgbClr val="B02A2A"/>
                </a:solidFill>
                <a:latin typeface="Calibri"/>
              </a:rPr>
              <a:t>Precedence 10 beats Precedence 50 — LOWER number = HIGHER priority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Verification &amp; Lockout Testing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gpresult /H C:\gpresult.html /F - proves which GPOs actually applied, not just which are linked</a:t>
            </a:r>
          </a:p>
          <a:p>
            <a:pPr algn="l">
              <a:spcAft>
                <a:spcPts val="1200"/>
              </a:spcAft>
            </a:pPr>
            <a:r>
              <a:rPr sz="1600" b="0" i="0">
                <a:solidFill>
                  <a:srgbClr val="111B30"/>
                </a:solidFill>
                <a:latin typeface="Calibri"/>
              </a:rPr>
              <a:t>●   Simulated lockout test: loop runas /user:ajohnson with a wrong password 6 times -&gt; account locks at threshold 5</a:t>
            </a:r>
          </a:p>
          <a:p>
            <a:pPr algn="l">
              <a:spcAft>
                <a:spcPts val="1200"/>
              </a:spcAft>
            </a:pPr>
            <a:r>
              <a:rPr sz="1600" b="0" i="0">
                <a:solidFill>
                  <a:srgbClr val="111B30"/>
                </a:solidFill>
                <a:latin typeface="Calibri"/>
              </a:rPr>
              <a:t>●   Do NOT run this against enovak-adm - its PSO locks at 3 attempts, not 5</a:t>
            </a:r>
          </a:p>
          <a:p>
            <a:pPr algn="l">
              <a:spcAft>
                <a:spcPts val="1200"/>
              </a:spcAft>
            </a:pPr>
            <a:r>
              <a:rPr sz="1600" b="0" i="0">
                <a:solidFill>
                  <a:srgbClr val="111B30"/>
                </a:solidFill>
                <a:latin typeface="Calibri"/>
              </a:rPr>
              <a:t>●   Get-ADUser ajohnson -Properties LockedOut confirms lock state; Unlock-ADAccount reverses it</a:t>
            </a:r>
          </a:p>
          <a:p>
            <a:pPr algn="l">
              <a:spcAft>
                <a:spcPts val="1200"/>
              </a:spcAft>
            </a:pPr>
            <a:r>
              <a:rPr sz="1600" b="0" i="0">
                <a:solidFill>
                  <a:srgbClr val="111B30"/>
                </a:solidFill>
                <a:latin typeface="Calibri"/>
              </a:rPr>
              <a:t>●   Cross-check the lockout generated a 4625 event via Get-WinEvent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Group Policy, Auditing &amp; Account Lockout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GPO tampering</a:t>
                      </a:r>
                    </a:p>
                  </a:txBody>
                  <a:tcPr anchor="ctr" marL="76200" marR="76200" marT="38100" marB="38100">
                    <a:solidFill>
                      <a:srgbClr val="FFFFFF"/>
                    </a:solidFill>
                  </a:tcPr>
                </a:tc>
                <a:tc>
                  <a:txBody>
                    <a:bodyPr/>
                    <a:lstStyle/>
                    <a:p>
                      <a:pPr algn="l"/>
                      <a:r>
                        <a:rPr sz="1200" b="0" i="0">
                          <a:solidFill>
                            <a:srgbClr val="111B30"/>
                          </a:solidFill>
                          <a:latin typeface="Calibri"/>
                        </a:rPr>
                        <a:t>Attacker with GPO-edit rights weakens password/lockout settings domain-wide</a:t>
                      </a:r>
                    </a:p>
                  </a:txBody>
                  <a:tcPr anchor="ctr" marL="76200" marR="76200" marT="38100" marB="38100">
                    <a:solidFill>
                      <a:srgbClr val="FFFFFF"/>
                    </a:solidFill>
                  </a:tcPr>
                </a:tc>
                <a:tc>
                  <a:txBody>
                    <a:bodyPr/>
                    <a:lstStyle/>
                    <a:p>
                      <a:pPr algn="l"/>
                      <a:r>
                        <a:rPr sz="1200" b="1" i="0">
                          <a:solidFill>
                            <a:srgbClr val="2E7D32"/>
                          </a:solidFill>
                          <a:latin typeface="Calibri"/>
                        </a:rPr>
                        <a:t>Restrict GPO edit rights to Tier 0; monitor Policy Change audit category</a:t>
                      </a:r>
                    </a:p>
                  </a:txBody>
                  <a:tcPr anchor="ctr" marL="76200" marR="76200" marT="38100" marB="38100">
                    <a:solidFill>
                      <a:srgbClr val="FFFFFF"/>
                    </a:solidFill>
                  </a:tcPr>
                </a:tc>
              </a:tr>
              <a:tr h="457200">
                <a:tc>
                  <a:txBody>
                    <a:bodyPr/>
                    <a:lstStyle/>
                    <a:p>
                      <a:pPr algn="l"/>
                      <a:r>
                        <a:rPr sz="1200" b="1" i="0">
                          <a:solidFill>
                            <a:srgbClr val="B02A2A"/>
                          </a:solidFill>
                          <a:latin typeface="Calibri"/>
                        </a:rPr>
                        <a:t>Audit policy disabled/cleared</a:t>
                      </a:r>
                    </a:p>
                  </a:txBody>
                  <a:tcPr anchor="ctr" marL="76200" marR="76200" marT="38100" marB="38100">
                    <a:solidFill>
                      <a:srgbClr val="E8EEF7"/>
                    </a:solidFill>
                  </a:tcPr>
                </a:tc>
                <a:tc>
                  <a:txBody>
                    <a:bodyPr/>
                    <a:lstStyle/>
                    <a:p>
                      <a:pPr algn="l"/>
                      <a:r>
                        <a:rPr sz="1200" b="0" i="0">
                          <a:solidFill>
                            <a:srgbClr val="111B30"/>
                          </a:solidFill>
                          <a:latin typeface="Calibri"/>
                        </a:rPr>
                        <a:t>Attacker turns off or clears logs to hide activity</a:t>
                      </a:r>
                    </a:p>
                  </a:txBody>
                  <a:tcPr anchor="ctr" marL="76200" marR="76200" marT="38100" marB="38100">
                    <a:solidFill>
                      <a:srgbClr val="E8EEF7"/>
                    </a:solidFill>
                  </a:tcPr>
                </a:tc>
                <a:tc>
                  <a:txBody>
                    <a:bodyPr/>
                    <a:lstStyle/>
                    <a:p>
                      <a:pPr algn="l"/>
                      <a:r>
                        <a:rPr sz="1200" b="1" i="0">
                          <a:solidFill>
                            <a:srgbClr val="2E7D32"/>
                          </a:solidFill>
                          <a:latin typeface="Calibri"/>
                        </a:rPr>
                        <a:t>Alert on Event ID 1102 (log cleared); forward logs off-box</a:t>
                      </a:r>
                    </a:p>
                  </a:txBody>
                  <a:tcPr anchor="ctr" marL="76200" marR="76200" marT="38100" marB="38100">
                    <a:solidFill>
                      <a:srgbClr val="E8EEF7"/>
                    </a:solidFill>
                  </a:tcPr>
                </a:tc>
              </a:tr>
              <a:tr h="457200">
                <a:tc>
                  <a:txBody>
                    <a:bodyPr/>
                    <a:lstStyle/>
                    <a:p>
                      <a:pPr algn="l"/>
                      <a:r>
                        <a:rPr sz="1200" b="1" i="0">
                          <a:solidFill>
                            <a:srgbClr val="B02A2A"/>
                          </a:solidFill>
                          <a:latin typeface="Calibri"/>
                        </a:rPr>
                        <a:t>Lockout threshold abused as DoS</a:t>
                      </a:r>
                    </a:p>
                  </a:txBody>
                  <a:tcPr anchor="ctr" marL="76200" marR="76200" marT="38100" marB="38100">
                    <a:solidFill>
                      <a:srgbClr val="FFFFFF"/>
                    </a:solidFill>
                  </a:tcPr>
                </a:tc>
                <a:tc>
                  <a:txBody>
                    <a:bodyPr/>
                    <a:lstStyle/>
                    <a:p>
                      <a:pPr algn="l"/>
                      <a:r>
                        <a:rPr sz="1200" b="0" i="0">
                          <a:solidFill>
                            <a:srgbClr val="111B30"/>
                          </a:solidFill>
                          <a:latin typeface="Calibri"/>
                        </a:rPr>
                        <a:t>Attacker deliberately fails logins to lock out legitimate users/admins</a:t>
                      </a:r>
                    </a:p>
                  </a:txBody>
                  <a:tcPr anchor="ctr" marL="76200" marR="76200" marT="38100" marB="38100">
                    <a:solidFill>
                      <a:srgbClr val="FFFFFF"/>
                    </a:solidFill>
                  </a:tcPr>
                </a:tc>
                <a:tc>
                  <a:txBody>
                    <a:bodyPr/>
                    <a:lstStyle/>
                    <a:p>
                      <a:pPr algn="l"/>
                      <a:r>
                        <a:rPr sz="1200" b="1" i="0">
                          <a:solidFill>
                            <a:srgbClr val="2E7D32"/>
                          </a:solidFill>
                          <a:latin typeface="Calibri"/>
                        </a:rPr>
                        <a:t>Reasonable threshold/duration balance; monitor for lockout spikes</a:t>
                      </a:r>
                    </a:p>
                  </a:txBody>
                  <a:tcPr anchor="ctr" marL="76200" marR="76200" marT="38100" marB="38100">
                    <a:solidFill>
                      <a:srgbClr val="FFFFFF"/>
                    </a:solidFill>
                  </a:tcPr>
                </a:tc>
              </a:tr>
              <a:tr h="457200">
                <a:tc>
                  <a:txBody>
                    <a:bodyPr/>
                    <a:lstStyle/>
                    <a:p>
                      <a:pPr algn="l"/>
                      <a:r>
                        <a:rPr sz="1200" b="1" i="0">
                          <a:solidFill>
                            <a:srgbClr val="B02A2A"/>
                          </a:solidFill>
                          <a:latin typeface="Calibri"/>
                        </a:rPr>
                        <a:t>Password spraying under the radar</a:t>
                      </a:r>
                    </a:p>
                  </a:txBody>
                  <a:tcPr anchor="ctr" marL="76200" marR="76200" marT="38100" marB="38100">
                    <a:solidFill>
                      <a:srgbClr val="E8EEF7"/>
                    </a:solidFill>
                  </a:tcPr>
                </a:tc>
                <a:tc>
                  <a:txBody>
                    <a:bodyPr/>
                    <a:lstStyle/>
                    <a:p>
                      <a:pPr algn="l"/>
                      <a:r>
                        <a:rPr sz="1200" b="0" i="0">
                          <a:solidFill>
                            <a:srgbClr val="111B30"/>
                          </a:solidFill>
                          <a:latin typeface="Calibri"/>
                        </a:rPr>
                        <a:t>Low-and-slow guessing across many accounts to stay under per-account lockout threshold</a:t>
                      </a:r>
                    </a:p>
                  </a:txBody>
                  <a:tcPr anchor="ctr" marL="76200" marR="76200" marT="38100" marB="38100">
                    <a:solidFill>
                      <a:srgbClr val="E8EEF7"/>
                    </a:solidFill>
                  </a:tcPr>
                </a:tc>
                <a:tc>
                  <a:txBody>
                    <a:bodyPr/>
                    <a:lstStyle/>
                    <a:p>
                      <a:pPr algn="l"/>
                      <a:r>
                        <a:rPr sz="1200" b="1" i="0">
                          <a:solidFill>
                            <a:srgbClr val="2E7D32"/>
                          </a:solidFill>
                          <a:latin typeface="Calibri"/>
                        </a:rPr>
                        <a:t>Lockout + login-anomaly detection across accounts, not just per-account</a:t>
                      </a:r>
                    </a:p>
                  </a:txBody>
                  <a:tcPr anchor="ctr" marL="76200" marR="76200" marT="38100" marB="38100">
                    <a:solidFill>
                      <a:srgbClr val="E8EEF7"/>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04</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PowerShell for Administration &amp; Task Scheduler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Object Pipeline: Why PowerShell Is Different</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Bash pipes pass text; PowerShell pipes pass full .NET objects with properties and methods intact.</a:t>
            </a:r>
          </a:p>
        </p:txBody>
      </p:sp>
      <p:sp>
        <p:nvSpPr>
          <p:cNvPr id="4" name="TextBox 3"/>
          <p:cNvSpPr txBox="1"/>
          <p:nvPr/>
        </p:nvSpPr>
        <p:spPr>
          <a:xfrm>
            <a:off x="914400" y="1965960"/>
            <a:ext cx="1828800" cy="274320"/>
          </a:xfrm>
          <a:prstGeom prst="rect">
            <a:avLst/>
          </a:prstGeom>
          <a:noFill/>
        </p:spPr>
        <p:txBody>
          <a:bodyPr wrap="none">
            <a:spAutoFit/>
          </a:bodyPr>
          <a:lstStyle/>
          <a:p>
            <a:r>
              <a:rPr sz="1200" b="1" i="0">
                <a:solidFill>
                  <a:srgbClr val="6B7480"/>
                </a:solidFill>
                <a:latin typeface="Cambria"/>
              </a:rPr>
              <a:t>BASH</a:t>
            </a:r>
          </a:p>
        </p:txBody>
      </p:sp>
      <p:sp>
        <p:nvSpPr>
          <p:cNvPr id="5" name="Rounded Rectangle 4"/>
          <p:cNvSpPr/>
          <p:nvPr/>
        </p:nvSpPr>
        <p:spPr>
          <a:xfrm>
            <a:off x="91440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ls -la</a:t>
            </a:r>
          </a:p>
        </p:txBody>
      </p:sp>
      <p:sp>
        <p:nvSpPr>
          <p:cNvPr id="6" name="Rounded Rectangle 5"/>
          <p:cNvSpPr/>
          <p:nvPr/>
        </p:nvSpPr>
        <p:spPr>
          <a:xfrm>
            <a:off x="3931920" y="2331720"/>
            <a:ext cx="28346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raw text stream</a:t>
            </a:r>
          </a:p>
        </p:txBody>
      </p:sp>
      <p:sp>
        <p:nvSpPr>
          <p:cNvPr id="7" name="Rounded Rectangle 6"/>
          <p:cNvSpPr/>
          <p:nvPr/>
        </p:nvSpPr>
        <p:spPr>
          <a:xfrm>
            <a:off x="7406640" y="2331720"/>
            <a:ext cx="2377440" cy="640080"/>
          </a:xfrm>
          <a:prstGeom prst="roundRect">
            <a:avLst/>
          </a:prstGeom>
          <a:solidFill>
            <a:srgbClr val="E8EEF7"/>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grep foo</a:t>
            </a:r>
          </a:p>
        </p:txBody>
      </p:sp>
      <p:cxnSp>
        <p:nvCxnSpPr>
          <p:cNvPr id="8" name="Connector 7"/>
          <p:cNvCxnSpPr/>
          <p:nvPr/>
        </p:nvCxnSpPr>
        <p:spPr>
          <a:xfrm>
            <a:off x="329184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cxnSp>
        <p:nvCxnSpPr>
          <p:cNvPr id="10" name="Connector 9"/>
          <p:cNvCxnSpPr/>
          <p:nvPr/>
        </p:nvCxnSpPr>
        <p:spPr>
          <a:xfrm>
            <a:off x="6766560" y="265176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217920" y="2505456"/>
            <a:ext cx="1737360" cy="292608"/>
          </a:xfrm>
          <a:prstGeom prst="rect">
            <a:avLst/>
          </a:prstGeom>
          <a:noFill/>
        </p:spPr>
        <p:txBody>
          <a:bodyPr wrap="square" lIns="0" tIns="0">
            <a:spAutoFit/>
          </a:bodyPr>
          <a:lstStyle/>
          <a:p>
            <a:pPr algn="ctr"/>
            <a:r>
              <a:rPr sz="900" b="0" i="1">
                <a:solidFill>
                  <a:srgbClr val="404040"/>
                </a:solidFill>
                <a:latin typeface="Calibri"/>
              </a:rPr>
              <a:t>text</a:t>
            </a:r>
          </a:p>
        </p:txBody>
      </p:sp>
      <p:sp>
        <p:nvSpPr>
          <p:cNvPr id="12" name="TextBox 11"/>
          <p:cNvSpPr txBox="1"/>
          <p:nvPr/>
        </p:nvSpPr>
        <p:spPr>
          <a:xfrm>
            <a:off x="914400" y="3429000"/>
            <a:ext cx="2926080" cy="274320"/>
          </a:xfrm>
          <a:prstGeom prst="rect">
            <a:avLst/>
          </a:prstGeom>
          <a:noFill/>
        </p:spPr>
        <p:txBody>
          <a:bodyPr wrap="none">
            <a:spAutoFit/>
          </a:bodyPr>
          <a:lstStyle/>
          <a:p>
            <a:r>
              <a:rPr sz="1200" b="1" i="0">
                <a:solidFill>
                  <a:srgbClr val="1B2A4A"/>
                </a:solidFill>
                <a:latin typeface="Cambria"/>
              </a:rPr>
              <a:t>POWERSHELL</a:t>
            </a:r>
          </a:p>
        </p:txBody>
      </p:sp>
      <p:sp>
        <p:nvSpPr>
          <p:cNvPr id="13" name="Rounded Rectangle 12"/>
          <p:cNvSpPr/>
          <p:nvPr/>
        </p:nvSpPr>
        <p:spPr>
          <a:xfrm>
            <a:off x="914400" y="3794760"/>
            <a:ext cx="265176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Get-ADUser -Filter *</a:t>
            </a:r>
          </a:p>
        </p:txBody>
      </p:sp>
      <p:sp>
        <p:nvSpPr>
          <p:cNvPr id="14" name="Rounded Rectangle 13"/>
          <p:cNvSpPr/>
          <p:nvPr/>
        </p:nvSpPr>
        <p:spPr>
          <a:xfrm>
            <a:off x="4206240" y="3794760"/>
            <a:ext cx="283464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[ADUser objects]</a:t>
            </a:r>
          </a:p>
        </p:txBody>
      </p:sp>
      <p:sp>
        <p:nvSpPr>
          <p:cNvPr id="15" name="Rounded Rectangle 14"/>
          <p:cNvSpPr/>
          <p:nvPr/>
        </p:nvSpPr>
        <p:spPr>
          <a:xfrm>
            <a:off x="7680960" y="3794760"/>
            <a:ext cx="2743200" cy="64008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Where-Object {...}</a:t>
            </a:r>
          </a:p>
        </p:txBody>
      </p:sp>
      <p:cxnSp>
        <p:nvCxnSpPr>
          <p:cNvPr id="16" name="Connector 15"/>
          <p:cNvCxnSpPr/>
          <p:nvPr/>
        </p:nvCxnSpPr>
        <p:spPr>
          <a:xfrm>
            <a:off x="3566160" y="4114800"/>
            <a:ext cx="640080"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01752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cxnSp>
        <p:nvCxnSpPr>
          <p:cNvPr id="18" name="Connector 17"/>
          <p:cNvCxnSpPr/>
          <p:nvPr/>
        </p:nvCxnSpPr>
        <p:spPr>
          <a:xfrm>
            <a:off x="7040879" y="4114800"/>
            <a:ext cx="640081" cy="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92240" y="3968496"/>
            <a:ext cx="1737360" cy="292608"/>
          </a:xfrm>
          <a:prstGeom prst="rect">
            <a:avLst/>
          </a:prstGeom>
          <a:noFill/>
        </p:spPr>
        <p:txBody>
          <a:bodyPr wrap="square" lIns="0" tIns="0">
            <a:spAutoFit/>
          </a:bodyPr>
          <a:lstStyle/>
          <a:p>
            <a:pPr algn="ctr"/>
            <a:r>
              <a:rPr sz="900" b="0" i="1">
                <a:solidFill>
                  <a:srgbClr val="404040"/>
                </a:solidFill>
                <a:latin typeface="Calibri"/>
              </a:rPr>
              <a:t>structured objects</a:t>
            </a:r>
          </a:p>
        </p:txBody>
      </p:sp>
      <p:sp>
        <p:nvSpPr>
          <p:cNvPr id="20" name="Rounded Rectangle 19"/>
          <p:cNvSpPr/>
          <p:nvPr/>
        </p:nvSpPr>
        <p:spPr>
          <a:xfrm>
            <a:off x="4206240" y="4800600"/>
            <a:ext cx="2834640" cy="914400"/>
          </a:xfrm>
          <a:prstGeom prst="roundRect">
            <a:avLst/>
          </a:prstGeom>
          <a:solidFill>
            <a:srgbClr val="FFFFFF"/>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SamAccountName</a:t>
            </a:r>
          </a:p>
          <a:p>
            <a:pPr algn="ctr"/>
            <a:r>
              <a:rPr sz="1000" b="0" i="0">
                <a:solidFill>
                  <a:srgbClr val="111B30"/>
                </a:solidFill>
                <a:latin typeface="Calibri"/>
              </a:rPr>
              <a:t>Enabled</a:t>
            </a:r>
          </a:p>
          <a:p>
            <a:pPr algn="ctr"/>
            <a:r>
              <a:rPr sz="1000" b="0" i="0">
                <a:solidFill>
                  <a:srgbClr val="111B30"/>
                </a:solidFill>
                <a:latin typeface="Calibri"/>
              </a:rPr>
              <a:t>LastLogonDate</a:t>
            </a:r>
          </a:p>
        </p:txBody>
      </p:sp>
      <p:cxnSp>
        <p:nvCxnSpPr>
          <p:cNvPr id="21" name="Connector 20"/>
          <p:cNvCxnSpPr/>
          <p:nvPr/>
        </p:nvCxnSpPr>
        <p:spPr>
          <a:xfrm>
            <a:off x="5623559" y="4434840"/>
            <a:ext cx="0" cy="365760"/>
          </a:xfrm>
          <a:prstGeom prst="line">
            <a:avLst/>
          </a:prstGeom>
          <a:ln w="19050">
            <a:solidFill>
              <a:srgbClr val="00B4D8"/>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Filtering, Sorting &amp; Formatting</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Where-Object {condition} - filters objects by property, e.g. {$_.Enabled -eq $true}</a:t>
            </a:r>
          </a:p>
          <a:p>
            <a:pPr algn="l">
              <a:spcAft>
                <a:spcPts val="1200"/>
              </a:spcAft>
            </a:pPr>
            <a:r>
              <a:rPr sz="1600" b="0" i="0">
                <a:solidFill>
                  <a:srgbClr val="111B30"/>
                </a:solidFill>
                <a:latin typeface="Calibri"/>
              </a:rPr>
              <a:t>●   Select-Object property1, property2 - projects only the properties you need</a:t>
            </a:r>
          </a:p>
          <a:p>
            <a:pPr algn="l">
              <a:spcAft>
                <a:spcPts val="1200"/>
              </a:spcAft>
            </a:pPr>
            <a:r>
              <a:rPr sz="1600" b="0" i="0">
                <a:solidFill>
                  <a:srgbClr val="111B30"/>
                </a:solidFill>
                <a:latin typeface="Calibri"/>
              </a:rPr>
              <a:t>●   Sort-Object, Group-Object, Measure-Object - the rest of the verb-noun filtering toolkit</a:t>
            </a:r>
          </a:p>
          <a:p>
            <a:pPr algn="l">
              <a:spcAft>
                <a:spcPts val="1200"/>
              </a:spcAft>
            </a:pPr>
            <a:r>
              <a:rPr sz="1600" b="0" i="0">
                <a:solidFill>
                  <a:srgbClr val="111B30"/>
                </a:solidFill>
                <a:latin typeface="Calibri"/>
              </a:rPr>
              <a:t>●   Format-Table, Format-List, Export-Csv - how results get displayed or persisted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Active Directory Module Cmdlets Cheat Sheet</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Task</a:t>
                      </a:r>
                    </a:p>
                  </a:txBody>
                  <a:tcPr anchor="ctr" marL="76200" marR="76200" marT="38100" marB="38100">
                    <a:solidFill>
                      <a:srgbClr val="1B2A4A"/>
                    </a:solidFill>
                  </a:tcPr>
                </a:tc>
                <a:tc>
                  <a:txBody>
                    <a:bodyPr/>
                    <a:lstStyle/>
                    <a:p>
                      <a:pPr algn="l"/>
                      <a:r>
                        <a:rPr sz="1250" b="1" i="0">
                          <a:solidFill>
                            <a:srgbClr val="FFFFFF"/>
                          </a:solidFill>
                          <a:latin typeface="Calibri"/>
                        </a:rPr>
                        <a:t>Cmdlet</a:t>
                      </a:r>
                    </a:p>
                  </a:txBody>
                  <a:tcPr anchor="ctr" marL="76200" marR="76200" marT="38100" marB="38100">
                    <a:solidFill>
                      <a:srgbClr val="1B2A4A"/>
                    </a:solidFill>
                  </a:tcPr>
                </a:tc>
              </a:tr>
              <a:tr h="457200">
                <a:tc>
                  <a:txBody>
                    <a:bodyPr/>
                    <a:lstStyle/>
                    <a:p>
                      <a:pPr algn="l"/>
                      <a:r>
                        <a:rPr sz="1200" b="0" i="0">
                          <a:solidFill>
                            <a:srgbClr val="111B30"/>
                          </a:solidFill>
                          <a:latin typeface="Calibri"/>
                        </a:rPr>
                        <a:t>Query a user</a:t>
                      </a:r>
                    </a:p>
                  </a:txBody>
                  <a:tcPr anchor="ctr" marL="76200" marR="76200" marT="38100" marB="38100">
                    <a:solidFill>
                      <a:srgbClr val="FFFFFF"/>
                    </a:solidFill>
                  </a:tcPr>
                </a:tc>
                <a:tc>
                  <a:txBody>
                    <a:bodyPr/>
                    <a:lstStyle/>
                    <a:p>
                      <a:pPr algn="l"/>
                      <a:r>
                        <a:rPr sz="1200" b="0" i="0">
                          <a:solidFill>
                            <a:srgbClr val="111B30"/>
                          </a:solidFill>
                          <a:latin typeface="Calibri"/>
                        </a:rPr>
                        <a:t>Get-ADUser -Identity &lt;sam&gt; -Properties *</a:t>
                      </a:r>
                    </a:p>
                  </a:txBody>
                  <a:tcPr anchor="ctr" marL="76200" marR="76200" marT="38100" marB="38100">
                    <a:solidFill>
                      <a:srgbClr val="FFFFFF"/>
                    </a:solidFill>
                  </a:tcPr>
                </a:tc>
              </a:tr>
              <a:tr h="457200">
                <a:tc>
                  <a:txBody>
                    <a:bodyPr/>
                    <a:lstStyle/>
                    <a:p>
                      <a:pPr algn="l"/>
                      <a:r>
                        <a:rPr sz="1200" b="0" i="0">
                          <a:solidFill>
                            <a:srgbClr val="111B30"/>
                          </a:solidFill>
                          <a:latin typeface="Calibri"/>
                        </a:rPr>
                        <a:t>Query with a filter</a:t>
                      </a:r>
                    </a:p>
                  </a:txBody>
                  <a:tcPr anchor="ctr" marL="76200" marR="76200" marT="38100" marB="38100">
                    <a:solidFill>
                      <a:srgbClr val="E8EEF7"/>
                    </a:solidFill>
                  </a:tcPr>
                </a:tc>
                <a:tc>
                  <a:txBody>
                    <a:bodyPr/>
                    <a:lstStyle/>
                    <a:p>
                      <a:pPr algn="l"/>
                      <a:r>
                        <a:rPr sz="1200" b="0" i="0">
                          <a:solidFill>
                            <a:srgbClr val="111B30"/>
                          </a:solidFill>
                          <a:latin typeface="Calibri"/>
                        </a:rPr>
                        <a:t>Get-ADUser -Filter {Enabled -eq $true}</a:t>
                      </a:r>
                    </a:p>
                  </a:txBody>
                  <a:tcPr anchor="ctr" marL="76200" marR="76200" marT="38100" marB="38100">
                    <a:solidFill>
                      <a:srgbClr val="E8EEF7"/>
                    </a:solidFill>
                  </a:tcPr>
                </a:tc>
              </a:tr>
              <a:tr h="457200">
                <a:tc>
                  <a:txBody>
                    <a:bodyPr/>
                    <a:lstStyle/>
                    <a:p>
                      <a:pPr algn="l"/>
                      <a:r>
                        <a:rPr sz="1200" b="0" i="0">
                          <a:solidFill>
                            <a:srgbClr val="111B30"/>
                          </a:solidFill>
                          <a:latin typeface="Calibri"/>
                        </a:rPr>
                        <a:t>Create a user</a:t>
                      </a:r>
                    </a:p>
                  </a:txBody>
                  <a:tcPr anchor="ctr" marL="76200" marR="76200" marT="38100" marB="38100">
                    <a:solidFill>
                      <a:srgbClr val="FFFFFF"/>
                    </a:solidFill>
                  </a:tcPr>
                </a:tc>
                <a:tc>
                  <a:txBody>
                    <a:bodyPr/>
                    <a:lstStyle/>
                    <a:p>
                      <a:pPr algn="l"/>
                      <a:r>
                        <a:rPr sz="1200" b="0" i="0">
                          <a:solidFill>
                            <a:srgbClr val="111B30"/>
                          </a:solidFill>
                          <a:latin typeface="Calibri"/>
                        </a:rPr>
                        <a:t>New-ADUser</a:t>
                      </a:r>
                    </a:p>
                  </a:txBody>
                  <a:tcPr anchor="ctr" marL="76200" marR="76200" marT="38100" marB="38100">
                    <a:solidFill>
                      <a:srgbClr val="FFFFFF"/>
                    </a:solidFill>
                  </a:tcPr>
                </a:tc>
              </a:tr>
              <a:tr h="457200">
                <a:tc>
                  <a:txBody>
                    <a:bodyPr/>
                    <a:lstStyle/>
                    <a:p>
                      <a:pPr algn="l"/>
                      <a:r>
                        <a:rPr sz="1200" b="0" i="0">
                          <a:solidFill>
                            <a:srgbClr val="111B30"/>
                          </a:solidFill>
                          <a:latin typeface="Calibri"/>
                        </a:rPr>
                        <a:t>Create an OU</a:t>
                      </a:r>
                    </a:p>
                  </a:txBody>
                  <a:tcPr anchor="ctr" marL="76200" marR="76200" marT="38100" marB="38100">
                    <a:solidFill>
                      <a:srgbClr val="E8EEF7"/>
                    </a:solidFill>
                  </a:tcPr>
                </a:tc>
                <a:tc>
                  <a:txBody>
                    <a:bodyPr/>
                    <a:lstStyle/>
                    <a:p>
                      <a:pPr algn="l"/>
                      <a:r>
                        <a:rPr sz="1200" b="0" i="0">
                          <a:solidFill>
                            <a:srgbClr val="111B30"/>
                          </a:solidFill>
                          <a:latin typeface="Calibri"/>
                        </a:rPr>
                        <a:t>New-ADOrganizationalUnit</a:t>
                      </a:r>
                    </a:p>
                  </a:txBody>
                  <a:tcPr anchor="ctr" marL="76200" marR="76200" marT="38100" marB="38100">
                    <a:solidFill>
                      <a:srgbClr val="E8EEF7"/>
                    </a:solidFill>
                  </a:tcPr>
                </a:tc>
              </a:tr>
              <a:tr h="457200">
                <a:tc>
                  <a:txBody>
                    <a:bodyPr/>
                    <a:lstStyle/>
                    <a:p>
                      <a:pPr algn="l"/>
                      <a:r>
                        <a:rPr sz="1200" b="0" i="0">
                          <a:solidFill>
                            <a:srgbClr val="111B30"/>
                          </a:solidFill>
                          <a:latin typeface="Calibri"/>
                        </a:rPr>
                        <a:t>Modify a user attribute</a:t>
                      </a:r>
                    </a:p>
                  </a:txBody>
                  <a:tcPr anchor="ctr" marL="76200" marR="76200" marT="38100" marB="38100">
                    <a:solidFill>
                      <a:srgbClr val="FFFFFF"/>
                    </a:solidFill>
                  </a:tcPr>
                </a:tc>
                <a:tc>
                  <a:txBody>
                    <a:bodyPr/>
                    <a:lstStyle/>
                    <a:p>
                      <a:pPr algn="l"/>
                      <a:r>
                        <a:rPr sz="1200" b="0" i="0">
                          <a:solidFill>
                            <a:srgbClr val="111B30"/>
                          </a:solidFill>
                          <a:latin typeface="Calibri"/>
                        </a:rPr>
                        <a:t>Set-ADUser -Description "..."</a:t>
                      </a:r>
                    </a:p>
                  </a:txBody>
                  <a:tcPr anchor="ctr" marL="76200" marR="76200" marT="38100" marB="38100">
                    <a:solidFill>
                      <a:srgbClr val="FFFFFF"/>
                    </a:solidFill>
                  </a:tcPr>
                </a:tc>
              </a:tr>
              <a:tr h="457200">
                <a:tc>
                  <a:txBody>
                    <a:bodyPr/>
                    <a:lstStyle/>
                    <a:p>
                      <a:pPr algn="l"/>
                      <a:r>
                        <a:rPr sz="1200" b="0" i="0">
                          <a:solidFill>
                            <a:srgbClr val="111B30"/>
                          </a:solidFill>
                          <a:latin typeface="Calibri"/>
                        </a:rPr>
                        <a:t>Move an object between OUs</a:t>
                      </a:r>
                    </a:p>
                  </a:txBody>
                  <a:tcPr anchor="ctr" marL="76200" marR="76200" marT="38100" marB="38100">
                    <a:solidFill>
                      <a:srgbClr val="E8EEF7"/>
                    </a:solidFill>
                  </a:tcPr>
                </a:tc>
                <a:tc>
                  <a:txBody>
                    <a:bodyPr/>
                    <a:lstStyle/>
                    <a:p>
                      <a:pPr algn="l"/>
                      <a:r>
                        <a:rPr sz="1200" b="0" i="0">
                          <a:solidFill>
                            <a:srgbClr val="111B30"/>
                          </a:solidFill>
                          <a:latin typeface="Calibri"/>
                        </a:rPr>
                        <a:t>Move-ADObject -TargetPath &lt;OU DN&gt;</a:t>
                      </a:r>
                    </a:p>
                  </a:txBody>
                  <a:tcPr anchor="ctr" marL="76200" marR="76200" marT="38100" marB="38100">
                    <a:solidFill>
                      <a:srgbClr val="E8EEF7"/>
                    </a:solidFill>
                  </a:tcPr>
                </a:tc>
              </a:tr>
              <a:tr h="457200">
                <a:tc>
                  <a:txBody>
                    <a:bodyPr/>
                    <a:lstStyle/>
                    <a:p>
                      <a:pPr algn="l"/>
                      <a:r>
                        <a:rPr sz="1200" b="0" i="0">
                          <a:solidFill>
                            <a:srgbClr val="111B30"/>
                          </a:solidFill>
                          <a:latin typeface="Calibri"/>
                        </a:rPr>
                        <a:t>Find stale/disabled accounts</a:t>
                      </a:r>
                    </a:p>
                  </a:txBody>
                  <a:tcPr anchor="ctr" marL="76200" marR="76200" marT="38100" marB="38100">
                    <a:solidFill>
                      <a:srgbClr val="FFFFFF"/>
                    </a:solidFill>
                  </a:tcPr>
                </a:tc>
                <a:tc>
                  <a:txBody>
                    <a:bodyPr/>
                    <a:lstStyle/>
                    <a:p>
                      <a:pPr algn="l"/>
                      <a:r>
                        <a:rPr sz="1200" b="0" i="0">
                          <a:solidFill>
                            <a:srgbClr val="111B30"/>
                          </a:solidFill>
                          <a:latin typeface="Calibri"/>
                        </a:rPr>
                        <a:t>Search-ADAccount -AccountInactive / -AccountDisabled</a:t>
                      </a:r>
                    </a:p>
                  </a:txBody>
                  <a:tcPr anchor="ctr" marL="76200" marR="76200" marT="38100" marB="38100">
                    <a:solidFill>
                      <a:srgbClr val="FFFFFF"/>
                    </a:solidFill>
                  </a:tcPr>
                </a:tc>
              </a:tr>
              <a:tr h="457200">
                <a:tc>
                  <a:txBody>
                    <a:bodyPr/>
                    <a:lstStyle/>
                    <a:p>
                      <a:pPr algn="l"/>
                      <a:r>
                        <a:rPr sz="1200" b="0" i="0">
                          <a:solidFill>
                            <a:srgbClr val="111B30"/>
                          </a:solidFill>
                          <a:latin typeface="Calibri"/>
                        </a:rPr>
                        <a:t>Add/remove group membership</a:t>
                      </a:r>
                    </a:p>
                  </a:txBody>
                  <a:tcPr anchor="ctr" marL="76200" marR="76200" marT="38100" marB="38100">
                    <a:solidFill>
                      <a:srgbClr val="E8EEF7"/>
                    </a:solidFill>
                  </a:tcPr>
                </a:tc>
                <a:tc>
                  <a:txBody>
                    <a:bodyPr/>
                    <a:lstStyle/>
                    <a:p>
                      <a:pPr algn="l"/>
                      <a:r>
                        <a:rPr sz="1200" b="0" i="0">
                          <a:solidFill>
                            <a:srgbClr val="111B30"/>
                          </a:solidFill>
                          <a:latin typeface="Calibri"/>
                        </a:rPr>
                        <a:t>Add-ADGroupMember, Remove-ADGroupMember</a:t>
                      </a:r>
                    </a:p>
                  </a:txBody>
                  <a:tcPr anchor="ctr" marL="76200" marR="76200" marT="38100" marB="38100">
                    <a:solidFill>
                      <a:srgbClr val="E8EEF7"/>
                    </a:solidFill>
                  </a:tcPr>
                </a:tc>
              </a:tr>
              <a:tr h="457200">
                <a:tc>
                  <a:txBody>
                    <a:bodyPr/>
                    <a:lstStyle/>
                    <a:p>
                      <a:pPr algn="l"/>
                      <a:r>
                        <a:rPr sz="1200" b="0" i="0">
                          <a:solidFill>
                            <a:srgbClr val="111B30"/>
                          </a:solidFill>
                          <a:latin typeface="Calibri"/>
                        </a:rPr>
                        <a:t>Check resultant password policy</a:t>
                      </a:r>
                    </a:p>
                  </a:txBody>
                  <a:tcPr anchor="ctr" marL="76200" marR="76200" marT="38100" marB="38100">
                    <a:solidFill>
                      <a:srgbClr val="FFFFFF"/>
                    </a:solidFill>
                  </a:tcPr>
                </a:tc>
                <a:tc>
                  <a:txBody>
                    <a:bodyPr/>
                    <a:lstStyle/>
                    <a:p>
                      <a:pPr algn="l"/>
                      <a:r>
                        <a:rPr sz="1200" b="0" i="0">
                          <a:solidFill>
                            <a:srgbClr val="111B30"/>
                          </a:solidFill>
                          <a:latin typeface="Calibri"/>
                        </a:rPr>
                        <a:t>Get-ADUserResultantPasswordPolicy</a:t>
                      </a:r>
                    </a:p>
                  </a:txBody>
                  <a:tcPr anchor="ctr" marL="76200" marR="76200" marT="38100" marB="38100">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Anatomy of an Audit Script's Pipeline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This is the shape of the HW 3 audit script, generalized - you'll read this, not write it.</a:t>
            </a:r>
          </a:p>
        </p:txBody>
      </p:sp>
      <p:sp>
        <p:nvSpPr>
          <p:cNvPr id="4" name="Rounded Rectangle 3"/>
          <p:cNvSpPr/>
          <p:nvPr/>
        </p:nvSpPr>
        <p:spPr>
          <a:xfrm>
            <a:off x="91440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Get-ADUser -Filter</a:t>
            </a:r>
          </a:p>
          <a:p>
            <a:pPr algn="ctr"/>
            <a:r>
              <a:rPr sz="850" b="0" i="0">
                <a:solidFill>
                  <a:srgbClr val="111B30"/>
                </a:solidFill>
                <a:latin typeface="Calibri"/>
              </a:rPr>
              <a:t>{Enabled -eq $true}</a:t>
            </a:r>
          </a:p>
          <a:p>
            <a:pPr algn="ctr"/>
            <a:r>
              <a:rPr sz="850" b="0" i="0">
                <a:solidFill>
                  <a:srgbClr val="111B30"/>
                </a:solidFill>
                <a:latin typeface="Calibri"/>
              </a:rPr>
              <a:t>-Properties LastLogonDate,</a:t>
            </a:r>
          </a:p>
          <a:p>
            <a:pPr algn="ctr"/>
            <a:r>
              <a:rPr sz="850" b="0" i="0">
                <a:solidFill>
                  <a:srgbClr val="111B30"/>
                </a:solidFill>
                <a:latin typeface="Calibri"/>
              </a:rPr>
              <a:t>PasswordLastSet</a:t>
            </a:r>
          </a:p>
        </p:txBody>
      </p:sp>
      <p:sp>
        <p:nvSpPr>
          <p:cNvPr id="5" name="Rounded Rectangle 4"/>
          <p:cNvSpPr/>
          <p:nvPr/>
        </p:nvSpPr>
        <p:spPr>
          <a:xfrm>
            <a:off x="359633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Where-Object</a:t>
            </a:r>
          </a:p>
          <a:p>
            <a:pPr algn="ctr"/>
            <a:r>
              <a:rPr sz="900" b="0" i="0">
                <a:solidFill>
                  <a:srgbClr val="111B30"/>
                </a:solidFill>
                <a:latin typeface="Calibri"/>
              </a:rPr>
              <a:t>{ stale OR</a:t>
            </a:r>
          </a:p>
          <a:p>
            <a:pPr algn="ctr"/>
            <a:r>
              <a:rPr sz="900" b="0" i="0">
                <a:solidFill>
                  <a:srgbClr val="111B30"/>
                </a:solidFill>
                <a:latin typeface="Calibri"/>
              </a:rPr>
              <a:t>expired-password }</a:t>
            </a:r>
          </a:p>
        </p:txBody>
      </p:sp>
      <p:sp>
        <p:nvSpPr>
          <p:cNvPr id="6" name="Rounded Rectangle 5"/>
          <p:cNvSpPr/>
          <p:nvPr/>
        </p:nvSpPr>
        <p:spPr>
          <a:xfrm>
            <a:off x="6278270"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Select-Object</a:t>
            </a:r>
          </a:p>
          <a:p>
            <a:pPr algn="ctr"/>
            <a:r>
              <a:rPr sz="850" b="0" i="0">
                <a:solidFill>
                  <a:srgbClr val="111B30"/>
                </a:solidFill>
                <a:latin typeface="Calibri"/>
              </a:rPr>
              <a:t>SamAccountName,</a:t>
            </a:r>
          </a:p>
          <a:p>
            <a:pPr algn="ctr"/>
            <a:r>
              <a:rPr sz="850" b="0" i="0">
                <a:solidFill>
                  <a:srgbClr val="111B30"/>
                </a:solidFill>
                <a:latin typeface="Calibri"/>
              </a:rPr>
              <a:t>LastLogonDate, Reason</a:t>
            </a:r>
          </a:p>
        </p:txBody>
      </p:sp>
      <p:sp>
        <p:nvSpPr>
          <p:cNvPr id="7" name="Rounded Rectangle 6"/>
          <p:cNvSpPr/>
          <p:nvPr/>
        </p:nvSpPr>
        <p:spPr>
          <a:xfrm>
            <a:off x="8960205" y="2103120"/>
            <a:ext cx="2286000" cy="11887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Export-Csv</a:t>
            </a:r>
          </a:p>
          <a:p>
            <a:pPr algn="ctr"/>
            <a:r>
              <a:rPr sz="1000" b="0" i="0">
                <a:solidFill>
                  <a:srgbClr val="111B30"/>
                </a:solidFill>
                <a:latin typeface="Calibri"/>
              </a:rPr>
              <a:t>$OutputPath</a:t>
            </a:r>
          </a:p>
        </p:txBody>
      </p:sp>
      <p:cxnSp>
        <p:nvCxnSpPr>
          <p:cNvPr id="8" name="Connector 7"/>
          <p:cNvCxnSpPr/>
          <p:nvPr/>
        </p:nvCxnSpPr>
        <p:spPr>
          <a:xfrm>
            <a:off x="320040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69747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4400" y="3749039"/>
            <a:ext cx="10332720" cy="822960"/>
          </a:xfrm>
          <a:prstGeom prst="roundRect">
            <a:avLst/>
          </a:prstGeom>
          <a:solidFill>
            <a:srgbClr val="E8EEF7"/>
          </a:solidFill>
          <a:ln w="15875">
            <a:solidFill>
              <a:srgbClr val="3D5A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100" b="0" i="0">
                <a:solidFill>
                  <a:srgbClr val="111B30"/>
                </a:solidFill>
                <a:latin typeface="Calibri"/>
              </a:rPr>
              <a:t>Params: -Domain, -SearchBaseDN, -ExcludeList, -StaleDays (90), -PasswordDays (180), -OutputPath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Scheduling Scripts with Task Scheduler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scheduled task = Trigger (when) + Action (what) + Conditions/Settings (constraints)</a:t>
            </a:r>
          </a:p>
          <a:p>
            <a:pPr algn="l">
              <a:spcAft>
                <a:spcPts val="1200"/>
              </a:spcAft>
            </a:pPr>
            <a:r>
              <a:rPr sz="1600" b="0" i="0">
                <a:solidFill>
                  <a:srgbClr val="111B30"/>
                </a:solidFill>
                <a:latin typeface="Calibri"/>
              </a:rPr>
              <a:t>●   GUI: Task Scheduler (taskschd.msc); PowerShell: Register-ScheduledTask, New-ScheduledTaskTrigger, New-ScheduledTaskAction</a:t>
            </a:r>
          </a:p>
          <a:p>
            <a:pPr algn="l">
              <a:spcAft>
                <a:spcPts val="1200"/>
              </a:spcAft>
            </a:pPr>
            <a:r>
              <a:rPr sz="1600" b="0" i="0">
                <a:solidFill>
                  <a:srgbClr val="111B30"/>
                </a:solidFill>
                <a:latin typeface="Calibri"/>
              </a:rPr>
              <a:t>●   Run-as account matters: a task running as SYSTEM has different (usually broader) rights than one running as a service account</a:t>
            </a:r>
          </a:p>
          <a:p>
            <a:pPr algn="l">
              <a:spcAft>
                <a:spcPts val="1200"/>
              </a:spcAft>
            </a:pPr>
            <a:r>
              <a:rPr sz="1600" b="0" i="0">
                <a:solidFill>
                  <a:srgbClr val="111B30"/>
                </a:solidFill>
                <a:latin typeface="Calibri"/>
              </a:rPr>
              <a:t>●   Common admin use: nightly audit scripts, log rotation, backup kick-offs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PowerShell &amp; Scheduled Tasks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"Living off the land" PowerShell</a:t>
                      </a:r>
                    </a:p>
                  </a:txBody>
                  <a:tcPr anchor="ctr" marL="76200" marR="76200" marT="38100" marB="38100">
                    <a:solidFill>
                      <a:srgbClr val="FFFFFF"/>
                    </a:solidFill>
                  </a:tcPr>
                </a:tc>
                <a:tc>
                  <a:txBody>
                    <a:bodyPr/>
                    <a:lstStyle/>
                    <a:p>
                      <a:pPr algn="l"/>
                      <a:r>
                        <a:rPr sz="1200" b="0" i="0">
                          <a:solidFill>
                            <a:srgbClr val="111B30"/>
                          </a:solidFill>
                          <a:latin typeface="Calibri"/>
                        </a:rPr>
                        <a:t>Attacker uses built-in PowerShell instead of dropping malware binaries, evading file-based AV</a:t>
                      </a:r>
                    </a:p>
                  </a:txBody>
                  <a:tcPr anchor="ctr" marL="76200" marR="76200" marT="38100" marB="38100">
                    <a:solidFill>
                      <a:srgbClr val="FFFFFF"/>
                    </a:solidFill>
                  </a:tcPr>
                </a:tc>
                <a:tc>
                  <a:txBody>
                    <a:bodyPr/>
                    <a:lstStyle/>
                    <a:p>
                      <a:pPr algn="l"/>
                      <a:r>
                        <a:rPr sz="1200" b="1" i="0">
                          <a:solidFill>
                            <a:srgbClr val="2E7D32"/>
                          </a:solidFill>
                          <a:latin typeface="Calibri"/>
                        </a:rPr>
                        <a:t>Script Block Logging, Constrained Language Mode, AMSI integration</a:t>
                      </a:r>
                    </a:p>
                  </a:txBody>
                  <a:tcPr anchor="ctr" marL="76200" marR="76200" marT="38100" marB="38100">
                    <a:solidFill>
                      <a:srgbClr val="FFFFFF"/>
                    </a:solidFill>
                  </a:tcPr>
                </a:tc>
              </a:tr>
              <a:tr h="457200">
                <a:tc>
                  <a:txBody>
                    <a:bodyPr/>
                    <a:lstStyle/>
                    <a:p>
                      <a:pPr algn="l"/>
                      <a:r>
                        <a:rPr sz="1200" b="1" i="0">
                          <a:solidFill>
                            <a:srgbClr val="B02A2A"/>
                          </a:solidFill>
                          <a:latin typeface="Calibri"/>
                        </a:rPr>
                        <a:t>Obfuscated/encoded commands</a:t>
                      </a:r>
                    </a:p>
                  </a:txBody>
                  <a:tcPr anchor="ctr" marL="76200" marR="76200" marT="38100" marB="38100">
                    <a:solidFill>
                      <a:srgbClr val="E8EEF7"/>
                    </a:solidFill>
                  </a:tcPr>
                </a:tc>
                <a:tc>
                  <a:txBody>
                    <a:bodyPr/>
                    <a:lstStyle/>
                    <a:p>
                      <a:pPr algn="l"/>
                      <a:r>
                        <a:rPr sz="1200" b="0" i="0">
                          <a:solidFill>
                            <a:srgbClr val="111B30"/>
                          </a:solidFill>
                          <a:latin typeface="Calibri"/>
                        </a:rPr>
                        <a:t>-EncodedCommand or string obfuscation hides malicious intent from casual log review</a:t>
                      </a:r>
                    </a:p>
                  </a:txBody>
                  <a:tcPr anchor="ctr" marL="76200" marR="76200" marT="38100" marB="38100">
                    <a:solidFill>
                      <a:srgbClr val="E8EEF7"/>
                    </a:solidFill>
                  </a:tcPr>
                </a:tc>
                <a:tc>
                  <a:txBody>
                    <a:bodyPr/>
                    <a:lstStyle/>
                    <a:p>
                      <a:pPr algn="l"/>
                      <a:r>
                        <a:rPr sz="1200" b="1" i="0">
                          <a:solidFill>
                            <a:srgbClr val="2E7D32"/>
                          </a:solidFill>
                          <a:latin typeface="Calibri"/>
                        </a:rPr>
                        <a:t>Enable and review PowerShell transcription logging</a:t>
                      </a:r>
                    </a:p>
                  </a:txBody>
                  <a:tcPr anchor="ctr" marL="76200" marR="76200" marT="38100" marB="38100">
                    <a:solidFill>
                      <a:srgbClr val="E8EEF7"/>
                    </a:solidFill>
                  </a:tcPr>
                </a:tc>
              </a:tr>
              <a:tr h="457200">
                <a:tc>
                  <a:txBody>
                    <a:bodyPr/>
                    <a:lstStyle/>
                    <a:p>
                      <a:pPr algn="l"/>
                      <a:r>
                        <a:rPr sz="1200" b="1" i="0">
                          <a:solidFill>
                            <a:srgbClr val="B02A2A"/>
                          </a:solidFill>
                          <a:latin typeface="Calibri"/>
                        </a:rPr>
                        <a:t>Malicious scheduled task for persistence</a:t>
                      </a:r>
                    </a:p>
                  </a:txBody>
                  <a:tcPr anchor="ctr" marL="76200" marR="76200" marT="38100" marB="38100">
                    <a:solidFill>
                      <a:srgbClr val="FFFFFF"/>
                    </a:solidFill>
                  </a:tcPr>
                </a:tc>
                <a:tc>
                  <a:txBody>
                    <a:bodyPr/>
                    <a:lstStyle/>
                    <a:p>
                      <a:pPr algn="l"/>
                      <a:r>
                        <a:rPr sz="1200" b="0" i="0">
                          <a:solidFill>
                            <a:srgbClr val="111B30"/>
                          </a:solidFill>
                          <a:latin typeface="Calibri"/>
                        </a:rPr>
                        <a:t>Attacker registers a task to re-run a payload after reboot/logon</a:t>
                      </a:r>
                    </a:p>
                  </a:txBody>
                  <a:tcPr anchor="ctr" marL="76200" marR="76200" marT="38100" marB="38100">
                    <a:solidFill>
                      <a:srgbClr val="FFFFFF"/>
                    </a:solidFill>
                  </a:tcPr>
                </a:tc>
                <a:tc>
                  <a:txBody>
                    <a:bodyPr/>
                    <a:lstStyle/>
                    <a:p>
                      <a:pPr algn="l"/>
                      <a:r>
                        <a:rPr sz="1200" b="1" i="0">
                          <a:solidFill>
                            <a:srgbClr val="2E7D32"/>
                          </a:solidFill>
                          <a:latin typeface="Calibri"/>
                        </a:rPr>
                        <a:t>Audit new scheduled task creation (Event ID 4698); least-privilege run-as accounts</a:t>
                      </a:r>
                    </a:p>
                  </a:txBody>
                  <a:tcPr anchor="ctr" marL="76200" marR="76200" marT="38100" marB="38100">
                    <a:solidFill>
                      <a:srgbClr val="FFFFFF"/>
                    </a:solidFill>
                  </a:tcPr>
                </a:tc>
              </a:tr>
              <a:tr h="457200">
                <a:tc>
                  <a:txBody>
                    <a:bodyPr/>
                    <a:lstStyle/>
                    <a:p>
                      <a:pPr algn="l"/>
                      <a:r>
                        <a:rPr sz="1200" b="1" i="0">
                          <a:solidFill>
                            <a:srgbClr val="B02A2A"/>
                          </a:solidFill>
                          <a:latin typeface="Calibri"/>
                        </a:rPr>
                        <a:t>Overly-privileged automation account</a:t>
                      </a:r>
                    </a:p>
                  </a:txBody>
                  <a:tcPr anchor="ctr" marL="76200" marR="76200" marT="38100" marB="38100">
                    <a:solidFill>
                      <a:srgbClr val="E8EEF7"/>
                    </a:solidFill>
                  </a:tcPr>
                </a:tc>
                <a:tc>
                  <a:txBody>
                    <a:bodyPr/>
                    <a:lstStyle/>
                    <a:p>
                      <a:pPr algn="l"/>
                      <a:r>
                        <a:rPr sz="1200" b="0" i="0">
                          <a:solidFill>
                            <a:srgbClr val="111B30"/>
                          </a:solidFill>
                          <a:latin typeface="Calibri"/>
                        </a:rPr>
                        <a:t>A scheduled task's service account has far more rights than the task needs</a:t>
                      </a:r>
                    </a:p>
                  </a:txBody>
                  <a:tcPr anchor="ctr" marL="76200" marR="76200" marT="38100" marB="38100">
                    <a:solidFill>
                      <a:srgbClr val="E8EEF7"/>
                    </a:solidFill>
                  </a:tcPr>
                </a:tc>
                <a:tc>
                  <a:txBody>
                    <a:bodyPr/>
                    <a:lstStyle/>
                    <a:p>
                      <a:pPr algn="l"/>
                      <a:r>
                        <a:rPr sz="1200" b="1" i="0">
                          <a:solidFill>
                            <a:srgbClr val="2E7D32"/>
                          </a:solidFill>
                          <a:latin typeface="Calibri"/>
                        </a:rPr>
                        <a:t>Scope run-as account to only what the task requires</a:t>
                      </a:r>
                    </a:p>
                  </a:txBody>
                  <a:tcPr anchor="ctr" marL="76200" marR="76200" marT="38100" marB="38100">
                    <a:solidFill>
                      <a:srgbClr val="E8EEF7"/>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05</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Patching, Replication &amp; Backup: WSUS, DFS &amp; VSS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Architecture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Centralizes patch approval/distribution instead of every machine hitting Microsoft directly.</a:t>
            </a:r>
          </a:p>
        </p:txBody>
      </p:sp>
      <p:sp>
        <p:nvSpPr>
          <p:cNvPr id="4" name="Rounded Rectangle 3"/>
          <p:cNvSpPr/>
          <p:nvPr/>
        </p:nvSpPr>
        <p:spPr>
          <a:xfrm>
            <a:off x="4480560" y="192024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Microsoft Update (Internet)</a:t>
            </a:r>
          </a:p>
        </p:txBody>
      </p:sp>
      <p:sp>
        <p:nvSpPr>
          <p:cNvPr id="5" name="Rounded Rectangle 4"/>
          <p:cNvSpPr/>
          <p:nvPr/>
        </p:nvSpPr>
        <p:spPr>
          <a:xfrm>
            <a:off x="4480560" y="2788920"/>
            <a:ext cx="3200400" cy="5486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Upstream WSUS Server</a:t>
            </a:r>
          </a:p>
        </p:txBody>
      </p:sp>
      <p:sp>
        <p:nvSpPr>
          <p:cNvPr id="6" name="Rounded Rectangle 5"/>
          <p:cNvSpPr/>
          <p:nvPr/>
        </p:nvSpPr>
        <p:spPr>
          <a:xfrm>
            <a:off x="182880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(Autonomous mode)</a:t>
            </a:r>
          </a:p>
        </p:txBody>
      </p:sp>
      <p:sp>
        <p:nvSpPr>
          <p:cNvPr id="7" name="Rounded Rectangle 6"/>
          <p:cNvSpPr/>
          <p:nvPr/>
        </p:nvSpPr>
        <p:spPr>
          <a:xfrm>
            <a:off x="7040880" y="3657600"/>
            <a:ext cx="329184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Downstream WSUS</a:t>
            </a:r>
          </a:p>
          <a:p>
            <a:pPr algn="ctr"/>
            <a:r>
              <a:rPr sz="950" b="0" i="0">
                <a:solidFill>
                  <a:srgbClr val="111B30"/>
                </a:solidFill>
                <a:latin typeface="Calibri"/>
              </a:rPr>
              <a:t>(Replica mode)</a:t>
            </a:r>
          </a:p>
        </p:txBody>
      </p:sp>
      <p:sp>
        <p:nvSpPr>
          <p:cNvPr id="8" name="Rounded Rectangle 7"/>
          <p:cNvSpPr/>
          <p:nvPr/>
        </p:nvSpPr>
        <p:spPr>
          <a:xfrm>
            <a:off x="118872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A</a:t>
            </a:r>
          </a:p>
        </p:txBody>
      </p:sp>
      <p:sp>
        <p:nvSpPr>
          <p:cNvPr id="9" name="Rounded Rectangle 8"/>
          <p:cNvSpPr/>
          <p:nvPr/>
        </p:nvSpPr>
        <p:spPr>
          <a:xfrm>
            <a:off x="2743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B</a:t>
            </a:r>
          </a:p>
        </p:txBody>
      </p:sp>
      <p:sp>
        <p:nvSpPr>
          <p:cNvPr id="10" name="Rounded Rectangle 9"/>
          <p:cNvSpPr/>
          <p:nvPr/>
        </p:nvSpPr>
        <p:spPr>
          <a:xfrm>
            <a:off x="731520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C</a:t>
            </a:r>
          </a:p>
        </p:txBody>
      </p:sp>
      <p:sp>
        <p:nvSpPr>
          <p:cNvPr id="11" name="Rounded Rectangle 10"/>
          <p:cNvSpPr/>
          <p:nvPr/>
        </p:nvSpPr>
        <p:spPr>
          <a:xfrm>
            <a:off x="8869680" y="4617720"/>
            <a:ext cx="1371600" cy="502920"/>
          </a:xfrm>
          <a:prstGeom prst="roundRect">
            <a:avLst/>
          </a:prstGeom>
          <a:solidFill>
            <a:srgbClr val="FFFFFF"/>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Client Group D</a:t>
            </a:r>
          </a:p>
        </p:txBody>
      </p:sp>
      <p:cxnSp>
        <p:nvCxnSpPr>
          <p:cNvPr id="12" name="Connector 11"/>
          <p:cNvCxnSpPr/>
          <p:nvPr/>
        </p:nvCxnSpPr>
        <p:spPr>
          <a:xfrm>
            <a:off x="6080760" y="2468880"/>
            <a:ext cx="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347472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3337560"/>
            <a:ext cx="2606040" cy="32004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74519" y="4297680"/>
            <a:ext cx="1600201"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429000" y="4297680"/>
            <a:ext cx="4572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8001000" y="4297680"/>
            <a:ext cx="68580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4297680"/>
            <a:ext cx="868680" cy="32004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 Configuration Essentials</a:t>
            </a:r>
          </a:p>
        </p:txBody>
      </p:sp>
      <p:graphicFrame>
        <p:nvGraphicFramePr>
          <p:cNvPr id="3" name="Table 2"/>
          <p:cNvGraphicFramePr>
            <a:graphicFrameLocks noGrp="1"/>
          </p:cNvGraphicFramePr>
          <p:nvPr/>
        </p:nvGraphicFramePr>
        <p:xfrm>
          <a:off x="640080" y="1554480"/>
          <a:ext cx="10362895" cy="2743200"/>
        </p:xfrm>
        <a:graphic>
          <a:graphicData uri="http://schemas.openxmlformats.org/drawingml/2006/table">
            <a:tbl>
              <a:tblPr firstRow="1" bandRow="1">
                <a:tableStyleId>{5C22544A-7EE6-4342-B048-85BDC9FD1C3A}</a:tableStyleId>
              </a:tblPr>
              <a:tblGrid>
                <a:gridCol w="3200400"/>
                <a:gridCol w="7162495"/>
              </a:tblGrid>
              <a:tr h="457200">
                <a:tc>
                  <a:txBody>
                    <a:bodyPr/>
                    <a:lstStyle/>
                    <a:p>
                      <a:pPr algn="l"/>
                      <a:r>
                        <a:rPr sz="1250" b="1" i="0">
                          <a:solidFill>
                            <a:srgbClr val="FFFFFF"/>
                          </a:solidFill>
                          <a:latin typeface="Calibri"/>
                        </a:rPr>
                        <a:t>Concept</a:t>
                      </a:r>
                    </a:p>
                  </a:txBody>
                  <a:tcPr anchor="ctr" marL="76200" marR="76200" marT="38100" marB="38100">
                    <a:solidFill>
                      <a:srgbClr val="1B2A4A"/>
                    </a:solidFill>
                  </a:tcPr>
                </a:tc>
                <a:tc>
                  <a:txBody>
                    <a:bodyPr/>
                    <a:lstStyle/>
                    <a:p>
                      <a:pPr algn="l"/>
                      <a:r>
                        <a:rPr sz="1250" b="1" i="0">
                          <a:solidFill>
                            <a:srgbClr val="FFFFFF"/>
                          </a:solidFill>
                          <a:latin typeface="Calibri"/>
                        </a:rPr>
                        <a:t>What It Controls</a:t>
                      </a:r>
                    </a:p>
                  </a:txBody>
                  <a:tcPr anchor="ctr" marL="76200" marR="76200" marT="38100" marB="38100">
                    <a:solidFill>
                      <a:srgbClr val="1B2A4A"/>
                    </a:solidFill>
                  </a:tcPr>
                </a:tc>
              </a:tr>
              <a:tr h="457200">
                <a:tc>
                  <a:txBody>
                    <a:bodyPr/>
                    <a:lstStyle/>
                    <a:p>
                      <a:pPr algn="l"/>
                      <a:r>
                        <a:rPr sz="1250" b="0" i="0">
                          <a:solidFill>
                            <a:srgbClr val="111B30"/>
                          </a:solidFill>
                          <a:latin typeface="Calibri"/>
                        </a:rPr>
                        <a:t>Products</a:t>
                      </a:r>
                    </a:p>
                  </a:txBody>
                  <a:tcPr anchor="ctr" marL="76200" marR="76200" marT="38100" marB="38100">
                    <a:solidFill>
                      <a:srgbClr val="FFFFFF"/>
                    </a:solidFill>
                  </a:tcPr>
                </a:tc>
                <a:tc>
                  <a:txBody>
                    <a:bodyPr/>
                    <a:lstStyle/>
                    <a:p>
                      <a:pPr algn="l"/>
                      <a:r>
                        <a:rPr sz="1250" b="0" i="0">
                          <a:solidFill>
                            <a:srgbClr val="111B30"/>
                          </a:solidFill>
                          <a:latin typeface="Calibri"/>
                        </a:rPr>
                        <a:t>Which OS/software families WSUS synchronizes updates for</a:t>
                      </a:r>
                    </a:p>
                  </a:txBody>
                  <a:tcPr anchor="ctr" marL="76200" marR="76200" marT="38100" marB="38100">
                    <a:solidFill>
                      <a:srgbClr val="FFFFFF"/>
                    </a:solidFill>
                  </a:tcPr>
                </a:tc>
              </a:tr>
              <a:tr h="457200">
                <a:tc>
                  <a:txBody>
                    <a:bodyPr/>
                    <a:lstStyle/>
                    <a:p>
                      <a:pPr algn="l"/>
                      <a:r>
                        <a:rPr sz="1250" b="0" i="0">
                          <a:solidFill>
                            <a:srgbClr val="111B30"/>
                          </a:solidFill>
                          <a:latin typeface="Calibri"/>
                        </a:rPr>
                        <a:t>Classifications</a:t>
                      </a:r>
                    </a:p>
                  </a:txBody>
                  <a:tcPr anchor="ctr" marL="76200" marR="76200" marT="38100" marB="38100">
                    <a:solidFill>
                      <a:srgbClr val="E8EEF7"/>
                    </a:solidFill>
                  </a:tcPr>
                </a:tc>
                <a:tc>
                  <a:txBody>
                    <a:bodyPr/>
                    <a:lstStyle/>
                    <a:p>
                      <a:pPr algn="l"/>
                      <a:r>
                        <a:rPr sz="1250" b="0" i="0">
                          <a:solidFill>
                            <a:srgbClr val="111B30"/>
                          </a:solidFill>
                          <a:latin typeface="Calibri"/>
                        </a:rPr>
                        <a:t>Update types synced (Critical, Security, Feature, Drivers, etc.)</a:t>
                      </a:r>
                    </a:p>
                  </a:txBody>
                  <a:tcPr anchor="ctr" marL="76200" marR="76200" marT="38100" marB="38100">
                    <a:solidFill>
                      <a:srgbClr val="E8EEF7"/>
                    </a:solidFill>
                  </a:tcPr>
                </a:tc>
              </a:tr>
              <a:tr h="457200">
                <a:tc>
                  <a:txBody>
                    <a:bodyPr/>
                    <a:lstStyle/>
                    <a:p>
                      <a:pPr algn="l"/>
                      <a:r>
                        <a:rPr sz="1250" b="0" i="0">
                          <a:solidFill>
                            <a:srgbClr val="111B30"/>
                          </a:solidFill>
                          <a:latin typeface="Calibri"/>
                        </a:rPr>
                        <a:t>Computer Groups</a:t>
                      </a:r>
                    </a:p>
                  </a:txBody>
                  <a:tcPr anchor="ctr" marL="76200" marR="76200" marT="38100" marB="38100">
                    <a:solidFill>
                      <a:srgbClr val="FFFFFF"/>
                    </a:solidFill>
                  </a:tcPr>
                </a:tc>
                <a:tc>
                  <a:txBody>
                    <a:bodyPr/>
                    <a:lstStyle/>
                    <a:p>
                      <a:pPr algn="l"/>
                      <a:r>
                        <a:rPr sz="1250" b="0" i="0">
                          <a:solidFill>
                            <a:srgbClr val="111B30"/>
                          </a:solidFill>
                          <a:latin typeface="Calibri"/>
                        </a:rPr>
                        <a:t>Targeting - which machines get which approved updates, tied to GPO</a:t>
                      </a:r>
                    </a:p>
                  </a:txBody>
                  <a:tcPr anchor="ctr" marL="76200" marR="76200" marT="38100" marB="38100">
                    <a:solidFill>
                      <a:srgbClr val="FFFFFF"/>
                    </a:solidFill>
                  </a:tcPr>
                </a:tc>
              </a:tr>
              <a:tr h="457200">
                <a:tc>
                  <a:txBody>
                    <a:bodyPr/>
                    <a:lstStyle/>
                    <a:p>
                      <a:pPr algn="l"/>
                      <a:r>
                        <a:rPr sz="1250" b="0" i="0">
                          <a:solidFill>
                            <a:srgbClr val="111B30"/>
                          </a:solidFill>
                          <a:latin typeface="Calibri"/>
                        </a:rPr>
                        <a:t>Approval workflow</a:t>
                      </a:r>
                    </a:p>
                  </a:txBody>
                  <a:tcPr anchor="ctr" marL="76200" marR="76200" marT="38100" marB="38100">
                    <a:solidFill>
                      <a:srgbClr val="E8EEF7"/>
                    </a:solidFill>
                  </a:tcPr>
                </a:tc>
                <a:tc>
                  <a:txBody>
                    <a:bodyPr/>
                    <a:lstStyle/>
                    <a:p>
                      <a:pPr algn="l"/>
                      <a:r>
                        <a:rPr sz="1250" b="0" i="0">
                          <a:solidFill>
                            <a:srgbClr val="111B30"/>
                          </a:solidFill>
                          <a:latin typeface="Calibri"/>
                        </a:rPr>
                        <a:t>Updates don't deploy until approved for a target group (test group first)</a:t>
                      </a:r>
                    </a:p>
                  </a:txBody>
                  <a:tcPr anchor="ctr" marL="76200" marR="76200" marT="38100" marB="38100">
                    <a:solidFill>
                      <a:srgbClr val="E8EEF7"/>
                    </a:solidFill>
                  </a:tcPr>
                </a:tc>
              </a:tr>
              <a:tr h="457200">
                <a:tc>
                  <a:txBody>
                    <a:bodyPr/>
                    <a:lstStyle/>
                    <a:p>
                      <a:pPr algn="l"/>
                      <a:r>
                        <a:rPr sz="1250" b="0" i="0">
                          <a:solidFill>
                            <a:srgbClr val="111B30"/>
                          </a:solidFill>
                          <a:latin typeface="Calibri"/>
                        </a:rPr>
                        <a:t>Auto-approval rules</a:t>
                      </a:r>
                    </a:p>
                  </a:txBody>
                  <a:tcPr anchor="ctr" marL="76200" marR="76200" marT="38100" marB="38100">
                    <a:solidFill>
                      <a:srgbClr val="FFFFFF"/>
                    </a:solidFill>
                  </a:tcPr>
                </a:tc>
                <a:tc>
                  <a:txBody>
                    <a:bodyPr/>
                    <a:lstStyle/>
                    <a:p>
                      <a:pPr algn="l"/>
                      <a:r>
                        <a:rPr sz="1250" b="0" i="0">
                          <a:solidFill>
                            <a:srgbClr val="111B30"/>
                          </a:solidFill>
                          <a:latin typeface="Calibri"/>
                        </a:rPr>
                        <a:t>Optional automation for low-risk classifications (e.g. Critical + Security)</a:t>
                      </a:r>
                    </a:p>
                  </a:txBody>
                  <a:tcPr anchor="ctr" marL="76200" marR="76200" marT="38100" marB="38100">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WSUS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Unsigned/HTTP WSUS MITM</a:t>
                      </a:r>
                    </a:p>
                  </a:txBody>
                  <a:tcPr anchor="ctr" marL="76200" marR="76200" marT="38100" marB="38100">
                    <a:solidFill>
                      <a:srgbClr val="FFFFFF"/>
                    </a:solidFill>
                  </a:tcPr>
                </a:tc>
                <a:tc>
                  <a:txBody>
                    <a:bodyPr/>
                    <a:lstStyle/>
                    <a:p>
                      <a:pPr algn="l"/>
                      <a:r>
                        <a:rPr sz="1200" b="0" i="0">
                          <a:solidFill>
                            <a:srgbClr val="111B30"/>
                          </a:solidFill>
                          <a:latin typeface="Calibri"/>
                        </a:rPr>
                        <a:t>WSUS traffic over plain HTTP allows an attacker on-path to inject a malicious “update”</a:t>
                      </a:r>
                    </a:p>
                  </a:txBody>
                  <a:tcPr anchor="ctr" marL="76200" marR="76200" marT="38100" marB="38100">
                    <a:solidFill>
                      <a:srgbClr val="FFFFFF"/>
                    </a:solidFill>
                  </a:tcPr>
                </a:tc>
                <a:tc>
                  <a:txBody>
                    <a:bodyPr/>
                    <a:lstStyle/>
                    <a:p>
                      <a:pPr algn="l"/>
                      <a:r>
                        <a:rPr sz="1200" b="1" i="0">
                          <a:solidFill>
                            <a:srgbClr val="2E7D32"/>
                          </a:solidFill>
                          <a:latin typeface="Calibri"/>
                        </a:rPr>
                        <a:t>Configure WSUS over HTTPS (SSL binding)</a:t>
                      </a:r>
                    </a:p>
                  </a:txBody>
                  <a:tcPr anchor="ctr" marL="76200" marR="76200" marT="38100" marB="38100">
                    <a:solidFill>
                      <a:srgbClr val="FFFFFF"/>
                    </a:solidFill>
                  </a:tcPr>
                </a:tc>
              </a:tr>
              <a:tr h="457200">
                <a:tc>
                  <a:txBody>
                    <a:bodyPr/>
                    <a:lstStyle/>
                    <a:p>
                      <a:pPr algn="l"/>
                      <a:r>
                        <a:rPr sz="1200" b="1" i="0">
                          <a:solidFill>
                            <a:srgbClr val="B02A2A"/>
                          </a:solidFill>
                          <a:latin typeface="Calibri"/>
                        </a:rPr>
                        <a:t>Fake update injection</a:t>
                      </a:r>
                    </a:p>
                  </a:txBody>
                  <a:tcPr anchor="ctr" marL="76200" marR="76200" marT="38100" marB="38100">
                    <a:solidFill>
                      <a:srgbClr val="E8EEF7"/>
                    </a:solidFill>
                  </a:tcPr>
                </a:tc>
                <a:tc>
                  <a:txBody>
                    <a:bodyPr/>
                    <a:lstStyle/>
                    <a:p>
                      <a:pPr algn="l"/>
                      <a:r>
                        <a:rPr sz="1200" b="0" i="0">
                          <a:solidFill>
                            <a:srgbClr val="111B30"/>
                          </a:solidFill>
                          <a:latin typeface="Calibri"/>
                        </a:rPr>
                        <a:t>Attacker with WSUS server access approves a malicious package as a trusted update</a:t>
                      </a:r>
                    </a:p>
                  </a:txBody>
                  <a:tcPr anchor="ctr" marL="76200" marR="76200" marT="38100" marB="38100">
                    <a:solidFill>
                      <a:srgbClr val="E8EEF7"/>
                    </a:solidFill>
                  </a:tcPr>
                </a:tc>
                <a:tc>
                  <a:txBody>
                    <a:bodyPr/>
                    <a:lstStyle/>
                    <a:p>
                      <a:pPr algn="l"/>
                      <a:r>
                        <a:rPr sz="1200" b="1" i="0">
                          <a:solidFill>
                            <a:srgbClr val="2E7D32"/>
                          </a:solidFill>
                          <a:latin typeface="Calibri"/>
                        </a:rPr>
                        <a:t>Restrict WSUS admin rights; monitor approval activity</a:t>
                      </a:r>
                    </a:p>
                  </a:txBody>
                  <a:tcPr anchor="ctr" marL="76200" marR="76200" marT="38100" marB="38100">
                    <a:solidFill>
                      <a:srgbClr val="E8EEF7"/>
                    </a:solidFill>
                  </a:tcPr>
                </a:tc>
              </a:tr>
              <a:tr h="457200">
                <a:tc>
                  <a:txBody>
                    <a:bodyPr/>
                    <a:lstStyle/>
                    <a:p>
                      <a:pPr algn="l"/>
                      <a:r>
                        <a:rPr sz="1200" b="1" i="0">
                          <a:solidFill>
                            <a:srgbClr val="B02A2A"/>
                          </a:solidFill>
                          <a:latin typeface="Calibri"/>
                        </a:rPr>
                        <a:t>Client trusts WSUS implicitly</a:t>
                      </a:r>
                    </a:p>
                  </a:txBody>
                  <a:tcPr anchor="ctr" marL="76200" marR="76200" marT="38100" marB="38100">
                    <a:solidFill>
                      <a:srgbClr val="FFFFFF"/>
                    </a:solidFill>
                  </a:tcPr>
                </a:tc>
                <a:tc>
                  <a:txBody>
                    <a:bodyPr/>
                    <a:lstStyle/>
                    <a:p>
                      <a:pPr algn="l"/>
                      <a:r>
                        <a:rPr sz="1200" b="0" i="0">
                          <a:solidFill>
                            <a:srgbClr val="111B30"/>
                          </a:solidFill>
                          <a:latin typeface="Calibri"/>
                        </a:rPr>
                        <a:t>Domain-joined clients are configured via GPO to trust their WSUS server by default</a:t>
                      </a:r>
                    </a:p>
                  </a:txBody>
                  <a:tcPr anchor="ctr" marL="76200" marR="76200" marT="38100" marB="38100">
                    <a:solidFill>
                      <a:srgbClr val="FFFFFF"/>
                    </a:solidFill>
                  </a:tcPr>
                </a:tc>
                <a:tc>
                  <a:txBody>
                    <a:bodyPr/>
                    <a:lstStyle/>
                    <a:p>
                      <a:pPr algn="l"/>
                      <a:r>
                        <a:rPr sz="1200" b="1" i="0">
                          <a:solidFill>
                            <a:srgbClr val="2E7D32"/>
                          </a:solidFill>
                          <a:latin typeface="Calibri"/>
                        </a:rPr>
                        <a:t>Signed updates verified via Microsoft's code-signing chain regardless of transport</a:t>
                      </a:r>
                    </a:p>
                  </a:txBody>
                  <a:tcPr anchor="ctr" marL="76200" marR="76200" marT="38100" marB="38100">
                    <a:solidFill>
                      <a:srgbClr val="FFFFFF"/>
                    </a:solidFill>
                  </a:tcPr>
                </a:tc>
              </a:tr>
              <a:tr h="457200">
                <a:tc>
                  <a:txBody>
                    <a:bodyPr/>
                    <a:lstStyle/>
                    <a:p>
                      <a:pPr algn="l"/>
                      <a:r>
                        <a:rPr sz="1200" b="1" i="0">
                          <a:solidFill>
                            <a:srgbClr val="B02A2A"/>
                          </a:solidFill>
                          <a:latin typeface="Calibri"/>
                        </a:rPr>
                        <a:t>Delayed patching window</a:t>
                      </a:r>
                    </a:p>
                  </a:txBody>
                  <a:tcPr anchor="ctr" marL="76200" marR="76200" marT="38100" marB="38100">
                    <a:solidFill>
                      <a:srgbClr val="E8EEF7"/>
                    </a:solidFill>
                  </a:tcPr>
                </a:tc>
                <a:tc>
                  <a:txBody>
                    <a:bodyPr/>
                    <a:lstStyle/>
                    <a:p>
                      <a:pPr algn="l"/>
                      <a:r>
                        <a:rPr sz="1200" b="0" i="0">
                          <a:solidFill>
                            <a:srgbClr val="111B30"/>
                          </a:solidFill>
                          <a:latin typeface="Calibri"/>
                        </a:rPr>
                        <a:t>Slow approval process leaves known vulnerabilities unpatched longer</a:t>
                      </a:r>
                    </a:p>
                  </a:txBody>
                  <a:tcPr anchor="ctr" marL="76200" marR="76200" marT="38100" marB="38100">
                    <a:solidFill>
                      <a:srgbClr val="E8EEF7"/>
                    </a:solidFill>
                  </a:tcPr>
                </a:tc>
                <a:tc>
                  <a:txBody>
                    <a:bodyPr/>
                    <a:lstStyle/>
                    <a:p>
                      <a:pPr algn="l"/>
                      <a:r>
                        <a:rPr sz="1200" b="1" i="0">
                          <a:solidFill>
                            <a:srgbClr val="2E7D32"/>
                          </a:solidFill>
                          <a:latin typeface="Calibri"/>
                        </a:rPr>
                        <a:t>Auto-approval for Critical/Security; a defined SLA for patch review</a:t>
                      </a:r>
                    </a:p>
                  </a:txBody>
                  <a:tcPr anchor="ctr" marL="76200" marR="76200" marT="38100" marB="38100">
                    <a:solidFill>
                      <a:srgbClr val="E8EEF7"/>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Distributed File System: Namespaces &amp; Replication</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DFS solves “one logical path, multiple physical servers” for both availability and geography.</a:t>
            </a:r>
          </a:p>
        </p:txBody>
      </p:sp>
      <p:sp>
        <p:nvSpPr>
          <p:cNvPr id="4" name="Rounded Rectangle 3"/>
          <p:cNvSpPr/>
          <p:nvPr/>
        </p:nvSpPr>
        <p:spPr>
          <a:xfrm>
            <a:off x="4480560" y="2011680"/>
            <a:ext cx="3200400" cy="59436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1" i="0">
                <a:solidFill>
                  <a:srgbClr val="111B30"/>
                </a:solidFill>
                <a:latin typeface="Calibri"/>
              </a:rPr>
              <a:t>\\lab.local\Shared</a:t>
            </a:r>
          </a:p>
          <a:p>
            <a:pPr algn="ctr"/>
            <a:r>
              <a:rPr sz="1000" b="1" i="0">
                <a:solidFill>
                  <a:srgbClr val="111B30"/>
                </a:solidFill>
                <a:latin typeface="Calibri"/>
              </a:rPr>
              <a:t>(DFS Namespace Root)</a:t>
            </a:r>
          </a:p>
        </p:txBody>
      </p:sp>
      <p:sp>
        <p:nvSpPr>
          <p:cNvPr id="5" name="Rounded Rectangle 4"/>
          <p:cNvSpPr/>
          <p:nvPr/>
        </p:nvSpPr>
        <p:spPr>
          <a:xfrm>
            <a:off x="182880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FileSrv-A (Site 1)</a:t>
            </a:r>
          </a:p>
        </p:txBody>
      </p:sp>
      <p:sp>
        <p:nvSpPr>
          <p:cNvPr id="6" name="Rounded Rectangle 5"/>
          <p:cNvSpPr/>
          <p:nvPr/>
        </p:nvSpPr>
        <p:spPr>
          <a:xfrm>
            <a:off x="7223760" y="3108960"/>
            <a:ext cx="310896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Folder Target:</a:t>
            </a:r>
          </a:p>
          <a:p>
            <a:pPr algn="ctr"/>
            <a:r>
              <a:rPr sz="1000" b="0" i="0">
                <a:solidFill>
                  <a:srgbClr val="111B30"/>
                </a:solidFill>
                <a:latin typeface="Calibri"/>
              </a:rPr>
              <a:t>FileSrv-B (Site 2)</a:t>
            </a:r>
          </a:p>
        </p:txBody>
      </p:sp>
      <p:cxnSp>
        <p:nvCxnSpPr>
          <p:cNvPr id="7" name="Connector 6"/>
          <p:cNvCxnSpPr/>
          <p:nvPr/>
        </p:nvCxnSpPr>
        <p:spPr>
          <a:xfrm flipH="1">
            <a:off x="338328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606040"/>
            <a:ext cx="269748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77639"/>
            <a:ext cx="10911535" cy="365760"/>
          </a:xfrm>
          <a:prstGeom prst="rect">
            <a:avLst/>
          </a:prstGeom>
          <a:noFill/>
        </p:spPr>
        <p:txBody>
          <a:bodyPr wrap="square" lIns="0" tIns="0">
            <a:spAutoFit/>
          </a:bodyPr>
          <a:lstStyle/>
          <a:p>
            <a:r>
              <a:rPr sz="1250" b="0" i="1">
                <a:solidFill>
                  <a:srgbClr val="6B7480"/>
                </a:solidFill>
                <a:latin typeface="Calibri"/>
              </a:rPr>
              <a:t>Namespace = client-facing abstraction. Replication (below) is the separate backend sync mechanism.</a:t>
            </a:r>
          </a:p>
        </p:txBody>
      </p:sp>
      <p:sp>
        <p:nvSpPr>
          <p:cNvPr id="10" name="Rounded Rectangle 9"/>
          <p:cNvSpPr/>
          <p:nvPr/>
        </p:nvSpPr>
        <p:spPr>
          <a:xfrm>
            <a:off x="210312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FileSrv-A</a:t>
            </a:r>
          </a:p>
        </p:txBody>
      </p:sp>
      <p:sp>
        <p:nvSpPr>
          <p:cNvPr id="11" name="Rounded Rectangle 10"/>
          <p:cNvSpPr/>
          <p:nvPr/>
        </p:nvSpPr>
        <p:spPr>
          <a:xfrm>
            <a:off x="6949440" y="4480560"/>
            <a:ext cx="3108960" cy="68580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FileSrv-B</a:t>
            </a:r>
          </a:p>
        </p:txBody>
      </p:sp>
      <p:cxnSp>
        <p:nvCxnSpPr>
          <p:cNvPr id="12" name="Connector 11"/>
          <p:cNvCxnSpPr/>
          <p:nvPr/>
        </p:nvCxnSpPr>
        <p:spPr>
          <a:xfrm>
            <a:off x="5212079" y="4823460"/>
            <a:ext cx="1737361" cy="0"/>
          </a:xfrm>
          <a:prstGeom prst="line">
            <a:avLst/>
          </a:prstGeom>
          <a:ln w="25400">
            <a:solidFill>
              <a:srgbClr val="00B4D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12079" y="4677156"/>
            <a:ext cx="1737360" cy="292608"/>
          </a:xfrm>
          <a:prstGeom prst="rect">
            <a:avLst/>
          </a:prstGeom>
          <a:noFill/>
        </p:spPr>
        <p:txBody>
          <a:bodyPr wrap="square" lIns="0" tIns="0">
            <a:spAutoFit/>
          </a:bodyPr>
          <a:lstStyle/>
          <a:p>
            <a:pPr algn="ctr"/>
            <a:r>
              <a:rPr sz="900" b="0" i="1">
                <a:solidFill>
                  <a:srgbClr val="404040"/>
                </a:solidFill>
                <a:latin typeface="Calibri"/>
              </a:rPr>
              <a:t>DFS-R (multi-master)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DFS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Replication conflict exploitation</a:t>
                      </a:r>
                    </a:p>
                  </a:txBody>
                  <a:tcPr anchor="ctr" marL="76200" marR="76200" marT="38100" marB="38100">
                    <a:solidFill>
                      <a:srgbClr val="FFFFFF"/>
                    </a:solidFill>
                  </a:tcPr>
                </a:tc>
                <a:tc>
                  <a:txBody>
                    <a:bodyPr/>
                    <a:lstStyle/>
                    <a:p>
                      <a:pPr algn="l"/>
                      <a:r>
                        <a:rPr sz="1200" b="0" i="0">
                          <a:solidFill>
                            <a:srgbClr val="111B30"/>
                          </a:solidFill>
                          <a:latin typeface="Calibri"/>
                        </a:rPr>
                        <a:t>Attacker modifies the same file on two replica targets simultaneously to create confusion/data loss</a:t>
                      </a:r>
                    </a:p>
                  </a:txBody>
                  <a:tcPr anchor="ctr" marL="76200" marR="76200" marT="38100" marB="38100">
                    <a:solidFill>
                      <a:srgbClr val="FFFFFF"/>
                    </a:solidFill>
                  </a:tcPr>
                </a:tc>
                <a:tc>
                  <a:txBody>
                    <a:bodyPr/>
                    <a:lstStyle/>
                    <a:p>
                      <a:pPr algn="l"/>
                      <a:r>
                        <a:rPr sz="1200" b="1" i="0">
                          <a:solidFill>
                            <a:srgbClr val="2E7D32"/>
                          </a:solidFill>
                          <a:latin typeface="Calibri"/>
                        </a:rPr>
                        <a:t>Monitor DFS-R conflict logs; restrict write access to fewer authoritative targets</a:t>
                      </a:r>
                    </a:p>
                  </a:txBody>
                  <a:tcPr anchor="ctr" marL="76200" marR="76200" marT="38100" marB="38100">
                    <a:solidFill>
                      <a:srgbClr val="FFFFFF"/>
                    </a:solidFill>
                  </a:tcPr>
                </a:tc>
              </a:tr>
              <a:tr h="457200">
                <a:tc>
                  <a:txBody>
                    <a:bodyPr/>
                    <a:lstStyle/>
                    <a:p>
                      <a:pPr algn="l"/>
                      <a:r>
                        <a:rPr sz="1200" b="1" i="0">
                          <a:solidFill>
                            <a:srgbClr val="B02A2A"/>
                          </a:solidFill>
                          <a:latin typeface="Calibri"/>
                        </a:rPr>
                        <a:t>Stale/overly-broad namespace ACLs</a:t>
                      </a:r>
                    </a:p>
                  </a:txBody>
                  <a:tcPr anchor="ctr" marL="76200" marR="76200" marT="38100" marB="38100">
                    <a:solidFill>
                      <a:srgbClr val="E8EEF7"/>
                    </a:solidFill>
                  </a:tcPr>
                </a:tc>
                <a:tc>
                  <a:txBody>
                    <a:bodyPr/>
                    <a:lstStyle/>
                    <a:p>
                      <a:pPr algn="l"/>
                      <a:r>
                        <a:rPr sz="1200" b="0" i="0">
                          <a:solidFill>
                            <a:srgbClr val="111B30"/>
                          </a:solidFill>
                          <a:latin typeface="Calibri"/>
                        </a:rPr>
                        <a:t>Namespace permissions inherited loosely across all folder targets</a:t>
                      </a:r>
                    </a:p>
                  </a:txBody>
                  <a:tcPr anchor="ctr" marL="76200" marR="76200" marT="38100" marB="38100">
                    <a:solidFill>
                      <a:srgbClr val="E8EEF7"/>
                    </a:solidFill>
                  </a:tcPr>
                </a:tc>
                <a:tc>
                  <a:txBody>
                    <a:bodyPr/>
                    <a:lstStyle/>
                    <a:p>
                      <a:pPr algn="l"/>
                      <a:r>
                        <a:rPr sz="1200" b="1" i="0">
                          <a:solidFill>
                            <a:srgbClr val="2E7D32"/>
                          </a:solidFill>
                          <a:latin typeface="Calibri"/>
                        </a:rPr>
                        <a:t>Review folder target ACLs independently; least privilege</a:t>
                      </a:r>
                    </a:p>
                  </a:txBody>
                  <a:tcPr anchor="ctr" marL="76200" marR="76200" marT="38100" marB="38100">
                    <a:solidFill>
                      <a:srgbClr val="E8EEF7"/>
                    </a:solidFill>
                  </a:tcPr>
                </a:tc>
              </a:tr>
              <a:tr h="457200">
                <a:tc>
                  <a:txBody>
                    <a:bodyPr/>
                    <a:lstStyle/>
                    <a:p>
                      <a:pPr algn="l"/>
                      <a:r>
                        <a:rPr sz="1200" b="1" i="0">
                          <a:solidFill>
                            <a:srgbClr val="B02A2A"/>
                          </a:solidFill>
                          <a:latin typeface="Calibri"/>
                        </a:rPr>
                        <a:t>Replication lag as a cover window</a:t>
                      </a:r>
                    </a:p>
                  </a:txBody>
                  <a:tcPr anchor="ctr" marL="76200" marR="76200" marT="38100" marB="38100">
                    <a:solidFill>
                      <a:srgbClr val="FFFFFF"/>
                    </a:solidFill>
                  </a:tcPr>
                </a:tc>
                <a:tc>
                  <a:txBody>
                    <a:bodyPr/>
                    <a:lstStyle/>
                    <a:p>
                      <a:pPr algn="l"/>
                      <a:r>
                        <a:rPr sz="1200" b="0" i="0">
                          <a:solidFill>
                            <a:srgbClr val="111B30"/>
                          </a:solidFill>
                          <a:latin typeface="Calibri"/>
                        </a:rPr>
                        <a:t>Malicious file change on one target takes time to replicate/detect</a:t>
                      </a:r>
                    </a:p>
                  </a:txBody>
                  <a:tcPr anchor="ctr" marL="76200" marR="76200" marT="38100" marB="38100">
                    <a:solidFill>
                      <a:srgbClr val="FFFFFF"/>
                    </a:solidFill>
                  </a:tcPr>
                </a:tc>
                <a:tc>
                  <a:txBody>
                    <a:bodyPr/>
                    <a:lstStyle/>
                    <a:p>
                      <a:pPr algn="l"/>
                      <a:r>
                        <a:rPr sz="1200" b="1" i="0">
                          <a:solidFill>
                            <a:srgbClr val="2E7D32"/>
                          </a:solidFill>
                          <a:latin typeface="Calibri"/>
                        </a:rPr>
                        <a:t>Monitor replication health; don't rely on replication as a change-detection control</a:t>
                      </a:r>
                    </a:p>
                  </a:txBody>
                  <a:tcPr anchor="ctr" marL="76200" marR="76200" marT="38100" marB="38100">
                    <a:solidFill>
                      <a:srgbClr val="FFFFFF"/>
                    </a:solidFill>
                  </a:tcPr>
                </a:tc>
              </a:tr>
              <a:tr h="457200">
                <a:tc>
                  <a:txBody>
                    <a:bodyPr/>
                    <a:lstStyle/>
                    <a:p>
                      <a:pPr algn="l"/>
                      <a:r>
                        <a:rPr sz="1200" b="1" i="0">
                          <a:solidFill>
                            <a:srgbClr val="B02A2A"/>
                          </a:solidFill>
                          <a:latin typeface="Calibri"/>
                        </a:rPr>
                        <a:t>Single compromised folder target</a:t>
                      </a:r>
                    </a:p>
                  </a:txBody>
                  <a:tcPr anchor="ctr" marL="76200" marR="76200" marT="38100" marB="38100">
                    <a:solidFill>
                      <a:srgbClr val="E8EEF7"/>
                    </a:solidFill>
                  </a:tcPr>
                </a:tc>
                <a:tc>
                  <a:txBody>
                    <a:bodyPr/>
                    <a:lstStyle/>
                    <a:p>
                      <a:pPr algn="l"/>
                      <a:r>
                        <a:rPr sz="1200" b="0" i="0">
                          <a:solidFill>
                            <a:srgbClr val="111B30"/>
                          </a:solidFill>
                          <a:latin typeface="Calibri"/>
                        </a:rPr>
                        <a:t>Attacker with access to one physical server affects data seen across the whole namespace</a:t>
                      </a:r>
                    </a:p>
                  </a:txBody>
                  <a:tcPr anchor="ctr" marL="76200" marR="76200" marT="38100" marB="38100">
                    <a:solidFill>
                      <a:srgbClr val="E8EEF7"/>
                    </a:solidFill>
                  </a:tcPr>
                </a:tc>
                <a:tc>
                  <a:txBody>
                    <a:bodyPr/>
                    <a:lstStyle/>
                    <a:p>
                      <a:pPr algn="l"/>
                      <a:r>
                        <a:rPr sz="1200" b="1" i="0">
                          <a:solidFill>
                            <a:srgbClr val="2E7D32"/>
                          </a:solidFill>
                          <a:latin typeface="Calibri"/>
                        </a:rPr>
                        <a:t>Isolate/monitor each folder target's underlying server, not just the namespace layer</a:t>
                      </a:r>
                    </a:p>
                  </a:txBody>
                  <a:tcPr anchor="ctr" marL="76200" marR="76200" marT="38100" marB="38100">
                    <a:solidFill>
                      <a:srgbClr val="E8EEF7"/>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Backup &amp; VSS Snapshots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VSS (Volume Shadow Copy Service) makes backing up open/in-use files possible without downtime.</a:t>
            </a:r>
          </a:p>
        </p:txBody>
      </p:sp>
      <p:sp>
        <p:nvSpPr>
          <p:cNvPr id="4" name="Rounded Rectangle 3"/>
          <p:cNvSpPr/>
          <p:nvPr/>
        </p:nvSpPr>
        <p:spPr>
          <a:xfrm>
            <a:off x="914400" y="2194560"/>
            <a:ext cx="19202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Requestor</a:t>
            </a:r>
          </a:p>
          <a:p>
            <a:pPr algn="ctr"/>
            <a:r>
              <a:rPr sz="850" b="0" i="0">
                <a:solidFill>
                  <a:srgbClr val="111B30"/>
                </a:solidFill>
                <a:latin typeface="Calibri"/>
              </a:rPr>
              <a:t>(Windows Server</a:t>
            </a:r>
          </a:p>
          <a:p>
            <a:pPr algn="ctr"/>
            <a:r>
              <a:rPr sz="850" b="0" i="0">
                <a:solidFill>
                  <a:srgbClr val="111B30"/>
                </a:solidFill>
                <a:latin typeface="Calibri"/>
              </a:rPr>
              <a:t>Backup)</a:t>
            </a:r>
          </a:p>
        </p:txBody>
      </p:sp>
      <p:sp>
        <p:nvSpPr>
          <p:cNvPr id="5" name="Rounded Rectangle 4"/>
          <p:cNvSpPr/>
          <p:nvPr/>
        </p:nvSpPr>
        <p:spPr>
          <a:xfrm>
            <a:off x="3108960" y="2194560"/>
            <a:ext cx="17373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VSS Service</a:t>
            </a:r>
          </a:p>
          <a:p>
            <a:pPr algn="ctr"/>
            <a:r>
              <a:rPr sz="900" b="0" i="0">
                <a:solidFill>
                  <a:srgbClr val="111B30"/>
                </a:solidFill>
                <a:latin typeface="Calibri"/>
              </a:rPr>
              <a:t>(coordinator)</a:t>
            </a:r>
          </a:p>
        </p:txBody>
      </p:sp>
      <p:sp>
        <p:nvSpPr>
          <p:cNvPr id="6" name="Rounded Rectangle 5"/>
          <p:cNvSpPr/>
          <p:nvPr/>
        </p:nvSpPr>
        <p:spPr>
          <a:xfrm>
            <a:off x="5120640" y="164592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Writer</a:t>
            </a:r>
          </a:p>
          <a:p>
            <a:pPr algn="ctr"/>
            <a:r>
              <a:rPr sz="850" b="0" i="0">
                <a:solidFill>
                  <a:srgbClr val="111B30"/>
                </a:solidFill>
                <a:latin typeface="Calibri"/>
              </a:rPr>
              <a:t>(app-aware flush)</a:t>
            </a:r>
          </a:p>
        </p:txBody>
      </p:sp>
      <p:sp>
        <p:nvSpPr>
          <p:cNvPr id="7" name="Rounded Rectangle 6"/>
          <p:cNvSpPr/>
          <p:nvPr/>
        </p:nvSpPr>
        <p:spPr>
          <a:xfrm>
            <a:off x="5120640" y="2743200"/>
            <a:ext cx="1828800" cy="64008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VSS Provider</a:t>
            </a:r>
          </a:p>
          <a:p>
            <a:pPr algn="ctr"/>
            <a:r>
              <a:rPr sz="850" b="0" i="0">
                <a:solidFill>
                  <a:srgbClr val="111B30"/>
                </a:solidFill>
                <a:latin typeface="Calibri"/>
              </a:rPr>
              <a:t>(creates snapshot)</a:t>
            </a:r>
          </a:p>
        </p:txBody>
      </p:sp>
      <p:sp>
        <p:nvSpPr>
          <p:cNvPr id="8" name="Rounded Rectangle 7"/>
          <p:cNvSpPr/>
          <p:nvPr/>
        </p:nvSpPr>
        <p:spPr>
          <a:xfrm>
            <a:off x="7223760" y="2194560"/>
            <a:ext cx="18288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Shadow Copy</a:t>
            </a:r>
          </a:p>
          <a:p>
            <a:pPr algn="ctr"/>
            <a:r>
              <a:rPr sz="900" b="1" i="0">
                <a:solidFill>
                  <a:srgbClr val="111B30"/>
                </a:solidFill>
                <a:latin typeface="Calibri"/>
              </a:rPr>
              <a:t>(point-in-time)</a:t>
            </a:r>
          </a:p>
        </p:txBody>
      </p:sp>
      <p:sp>
        <p:nvSpPr>
          <p:cNvPr id="9" name="Rounded Rectangle 8"/>
          <p:cNvSpPr/>
          <p:nvPr/>
        </p:nvSpPr>
        <p:spPr>
          <a:xfrm>
            <a:off x="9326880" y="2194560"/>
            <a:ext cx="146304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1" i="0">
                <a:solidFill>
                  <a:srgbClr val="111B30"/>
                </a:solidFill>
                <a:latin typeface="Calibri"/>
              </a:rPr>
              <a:t>Backup</a:t>
            </a:r>
          </a:p>
          <a:p>
            <a:pPr algn="ctr"/>
            <a:r>
              <a:rPr sz="950" b="1" i="0">
                <a:solidFill>
                  <a:srgbClr val="111B30"/>
                </a:solidFill>
                <a:latin typeface="Calibri"/>
              </a:rPr>
              <a:t>Target</a:t>
            </a:r>
          </a:p>
        </p:txBody>
      </p:sp>
      <p:cxnSp>
        <p:nvCxnSpPr>
          <p:cNvPr id="10" name="Connector 9"/>
          <p:cNvCxnSpPr/>
          <p:nvPr/>
        </p:nvCxnSpPr>
        <p:spPr>
          <a:xfrm>
            <a:off x="283464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4632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1965960"/>
            <a:ext cx="274320" cy="59436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49440" y="2560320"/>
            <a:ext cx="274320" cy="50292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52560" y="2560320"/>
            <a:ext cx="27432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3794760"/>
            <a:ext cx="10911535" cy="365760"/>
          </a:xfrm>
          <a:prstGeom prst="rect">
            <a:avLst/>
          </a:prstGeom>
          <a:noFill/>
        </p:spPr>
        <p:txBody>
          <a:bodyPr wrap="square" lIns="0" tIns="0">
            <a:spAutoFit/>
          </a:bodyPr>
          <a:lstStyle/>
          <a:p>
            <a:r>
              <a:rPr sz="1250" b="0" i="1">
                <a:solidFill>
                  <a:srgbClr val="6B7480"/>
                </a:solidFill>
                <a:latin typeface="Calibri"/>
              </a:rPr>
              <a:t>Multiple shadow copies exist for rollback (this also powers self-service “Previous Versions” restore).</a:t>
            </a:r>
          </a:p>
        </p:txBody>
      </p:sp>
      <p:sp>
        <p:nvSpPr>
          <p:cNvPr id="17" name="Rounded Rectangle 16"/>
          <p:cNvSpPr/>
          <p:nvPr/>
        </p:nvSpPr>
        <p:spPr>
          <a:xfrm>
            <a:off x="228600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T-2d</a:t>
            </a:r>
          </a:p>
        </p:txBody>
      </p:sp>
      <p:sp>
        <p:nvSpPr>
          <p:cNvPr id="18" name="Rounded Rectangle 17"/>
          <p:cNvSpPr/>
          <p:nvPr/>
        </p:nvSpPr>
        <p:spPr>
          <a:xfrm>
            <a:off x="4663440" y="4206240"/>
            <a:ext cx="1645920" cy="502920"/>
          </a:xfrm>
          <a:prstGeom prst="roundRect">
            <a:avLst/>
          </a:prstGeom>
          <a:solidFill>
            <a:srgbClr val="FFFFFF"/>
          </a:solidFill>
          <a:ln w="15875">
            <a:solidFill>
              <a:srgbClr val="6B7480"/>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0" i="0">
                <a:solidFill>
                  <a:srgbClr val="111B30"/>
                </a:solidFill>
                <a:latin typeface="Calibri"/>
              </a:rPr>
              <a:t>T-1d</a:t>
            </a:r>
          </a:p>
        </p:txBody>
      </p:sp>
      <p:sp>
        <p:nvSpPr>
          <p:cNvPr id="19" name="Rounded Rectangle 18"/>
          <p:cNvSpPr/>
          <p:nvPr/>
        </p:nvSpPr>
        <p:spPr>
          <a:xfrm>
            <a:off x="7040880" y="4206240"/>
            <a:ext cx="2011680" cy="502920"/>
          </a:xfrm>
          <a:prstGeom prst="roundRect">
            <a:avLst/>
          </a:prstGeom>
          <a:solidFill>
            <a:srgbClr val="FFFFFF"/>
          </a:solidFill>
          <a:ln w="1587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00" b="1" i="0">
                <a:solidFill>
                  <a:srgbClr val="111B30"/>
                </a:solidFill>
                <a:latin typeface="Calibri"/>
              </a:rPr>
              <a:t>T-0 (current)</a:t>
            </a:r>
          </a:p>
        </p:txBody>
      </p:sp>
      <p:cxnSp>
        <p:nvCxnSpPr>
          <p:cNvPr id="20" name="Connector 19"/>
          <p:cNvCxnSpPr/>
          <p:nvPr/>
        </p:nvCxnSpPr>
        <p:spPr>
          <a:xfrm>
            <a:off x="3931920" y="4457700"/>
            <a:ext cx="731520"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4457700"/>
            <a:ext cx="731521" cy="0"/>
          </a:xfrm>
          <a:prstGeom prst="line">
            <a:avLst/>
          </a:prstGeom>
          <a:ln w="19050">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Backup &amp; VSS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Ransomware deletes shadow copies</a:t>
                      </a:r>
                    </a:p>
                  </a:txBody>
                  <a:tcPr anchor="ctr" marL="76200" marR="76200" marT="38100" marB="38100">
                    <a:solidFill>
                      <a:srgbClr val="FFFFFF"/>
                    </a:solidFill>
                  </a:tcPr>
                </a:tc>
                <a:tc>
                  <a:txBody>
                    <a:bodyPr/>
                    <a:lstStyle/>
                    <a:p>
                      <a:pPr algn="l"/>
                      <a:r>
                        <a:rPr sz="1200" b="0" i="0">
                          <a:solidFill>
                            <a:srgbClr val="111B30"/>
                          </a:solidFill>
                          <a:latin typeface="Calibri"/>
                        </a:rPr>
                        <a:t>vssadmin delete shadows /all (or similar) wipes local recovery points before encrypting data</a:t>
                      </a:r>
                    </a:p>
                  </a:txBody>
                  <a:tcPr anchor="ctr" marL="76200" marR="76200" marT="38100" marB="38100">
                    <a:solidFill>
                      <a:srgbClr val="FFFFFF"/>
                    </a:solidFill>
                  </a:tcPr>
                </a:tc>
                <a:tc>
                  <a:txBody>
                    <a:bodyPr/>
                    <a:lstStyle/>
                    <a:p>
                      <a:pPr algn="l"/>
                      <a:r>
                        <a:rPr sz="1200" b="1" i="0">
                          <a:solidFill>
                            <a:srgbClr val="2E7D32"/>
                          </a:solidFill>
                          <a:latin typeface="Calibri"/>
                        </a:rPr>
                        <a:t>Restrict vssadmin/WMI shadow-copy deletion; offline/immutable backup copies</a:t>
                      </a:r>
                    </a:p>
                  </a:txBody>
                  <a:tcPr anchor="ctr" marL="76200" marR="76200" marT="38100" marB="38100">
                    <a:solidFill>
                      <a:srgbClr val="FFFFFF"/>
                    </a:solidFill>
                  </a:tcPr>
                </a:tc>
              </a:tr>
              <a:tr h="457200">
                <a:tc>
                  <a:txBody>
                    <a:bodyPr/>
                    <a:lstStyle/>
                    <a:p>
                      <a:pPr algn="l"/>
                      <a:r>
                        <a:rPr sz="1200" b="1" i="0">
                          <a:solidFill>
                            <a:srgbClr val="B02A2A"/>
                          </a:solidFill>
                          <a:latin typeface="Calibri"/>
                        </a:rPr>
                        <a:t>Backup infrastructure as a primary target</a:t>
                      </a:r>
                    </a:p>
                  </a:txBody>
                  <a:tcPr anchor="ctr" marL="76200" marR="76200" marT="38100" marB="38100">
                    <a:solidFill>
                      <a:srgbClr val="E8EEF7"/>
                    </a:solidFill>
                  </a:tcPr>
                </a:tc>
                <a:tc>
                  <a:txBody>
                    <a:bodyPr/>
                    <a:lstStyle/>
                    <a:p>
                      <a:pPr algn="l"/>
                      <a:r>
                        <a:rPr sz="1200" b="0" i="0">
                          <a:solidFill>
                            <a:srgbClr val="111B30"/>
                          </a:solidFill>
                          <a:latin typeface="Calibri"/>
                        </a:rPr>
                        <a:t>Attackers specifically target backup servers/repositories, knowing it blocks recovery</a:t>
                      </a:r>
                    </a:p>
                  </a:txBody>
                  <a:tcPr anchor="ctr" marL="76200" marR="76200" marT="38100" marB="38100">
                    <a:solidFill>
                      <a:srgbClr val="E8EEF7"/>
                    </a:solidFill>
                  </a:tcPr>
                </a:tc>
                <a:tc>
                  <a:txBody>
                    <a:bodyPr/>
                    <a:lstStyle/>
                    <a:p>
                      <a:pPr algn="l"/>
                      <a:r>
                        <a:rPr sz="1200" b="1" i="0">
                          <a:solidFill>
                            <a:srgbClr val="2E7D32"/>
                          </a:solidFill>
                          <a:latin typeface="Calibri"/>
                        </a:rPr>
                        <a:t>Isolate backup infrastructure (separate credentials, network segment)</a:t>
                      </a:r>
                    </a:p>
                  </a:txBody>
                  <a:tcPr anchor="ctr" marL="76200" marR="76200" marT="38100" marB="38100">
                    <a:solidFill>
                      <a:srgbClr val="E8EEF7"/>
                    </a:solidFill>
                  </a:tcPr>
                </a:tc>
              </a:tr>
              <a:tr h="457200">
                <a:tc>
                  <a:txBody>
                    <a:bodyPr/>
                    <a:lstStyle/>
                    <a:p>
                      <a:pPr algn="l"/>
                      <a:r>
                        <a:rPr sz="1200" b="1" i="0">
                          <a:solidFill>
                            <a:srgbClr val="B02A2A"/>
                          </a:solidFill>
                          <a:latin typeface="Calibri"/>
                        </a:rPr>
                        <a:t>Untested restore process</a:t>
                      </a:r>
                    </a:p>
                  </a:txBody>
                  <a:tcPr anchor="ctr" marL="76200" marR="76200" marT="38100" marB="38100">
                    <a:solidFill>
                      <a:srgbClr val="FFFFFF"/>
                    </a:solidFill>
                  </a:tcPr>
                </a:tc>
                <a:tc>
                  <a:txBody>
                    <a:bodyPr/>
                    <a:lstStyle/>
                    <a:p>
                      <a:pPr algn="l"/>
                      <a:r>
                        <a:rPr sz="1200" b="0" i="0">
                          <a:solidFill>
                            <a:srgbClr val="111B30"/>
                          </a:solidFill>
                          <a:latin typeface="Calibri"/>
                        </a:rPr>
                        <a:t>Backups exist but the restore procedure has never been verified</a:t>
                      </a:r>
                    </a:p>
                  </a:txBody>
                  <a:tcPr anchor="ctr" marL="76200" marR="76200" marT="38100" marB="38100">
                    <a:solidFill>
                      <a:srgbClr val="FFFFFF"/>
                    </a:solidFill>
                  </a:tcPr>
                </a:tc>
                <a:tc>
                  <a:txBody>
                    <a:bodyPr/>
                    <a:lstStyle/>
                    <a:p>
                      <a:pPr algn="l"/>
                      <a:r>
                        <a:rPr sz="1200" b="1" i="0">
                          <a:solidFill>
                            <a:srgbClr val="2E7D32"/>
                          </a:solidFill>
                          <a:latin typeface="Calibri"/>
                        </a:rPr>
                        <a:t>Regular restore drills, not just “backup job succeeded” green checkmarks</a:t>
                      </a:r>
                    </a:p>
                  </a:txBody>
                  <a:tcPr anchor="ctr" marL="76200" marR="76200" marT="38100" marB="38100">
                    <a:solidFill>
                      <a:srgbClr val="FFFFFF"/>
                    </a:solidFill>
                  </a:tcPr>
                </a:tc>
              </a:tr>
              <a:tr h="457200">
                <a:tc>
                  <a:txBody>
                    <a:bodyPr/>
                    <a:lstStyle/>
                    <a:p>
                      <a:pPr algn="l"/>
                      <a:r>
                        <a:rPr sz="1200" b="1" i="0">
                          <a:solidFill>
                            <a:srgbClr val="B02A2A"/>
                          </a:solidFill>
                          <a:latin typeface="Calibri"/>
                        </a:rPr>
                        <a:t>Backup credentials with excessive rights</a:t>
                      </a:r>
                    </a:p>
                  </a:txBody>
                  <a:tcPr anchor="ctr" marL="76200" marR="76200" marT="38100" marB="38100">
                    <a:solidFill>
                      <a:srgbClr val="E8EEF7"/>
                    </a:solidFill>
                  </a:tcPr>
                </a:tc>
                <a:tc>
                  <a:txBody>
                    <a:bodyPr/>
                    <a:lstStyle/>
                    <a:p>
                      <a:pPr algn="l"/>
                      <a:r>
                        <a:rPr sz="1200" b="0" i="0">
                          <a:solidFill>
                            <a:srgbClr val="111B30"/>
                          </a:solidFill>
                          <a:latin typeface="Calibri"/>
                        </a:rPr>
                        <a:t>Backup service account has domain-wide rights it doesn't need</a:t>
                      </a:r>
                    </a:p>
                  </a:txBody>
                  <a:tcPr anchor="ctr" marL="76200" marR="76200" marT="38100" marB="38100">
                    <a:solidFill>
                      <a:srgbClr val="E8EEF7"/>
                    </a:solidFill>
                  </a:tcPr>
                </a:tc>
                <a:tc>
                  <a:txBody>
                    <a:bodyPr/>
                    <a:lstStyle/>
                    <a:p>
                      <a:pPr algn="l"/>
                      <a:r>
                        <a:rPr sz="1200" b="1" i="0">
                          <a:solidFill>
                            <a:srgbClr val="2E7D32"/>
                          </a:solidFill>
                          <a:latin typeface="Calibri"/>
                        </a:rPr>
                        <a:t>Least-privilege backup accounts (same tiering principle as Section 01)</a:t>
                      </a:r>
                    </a:p>
                  </a:txBody>
                  <a:tcPr anchor="ctr" marL="76200" marR="76200" marT="38100" marB="38100">
                    <a:solidFill>
                      <a:srgbClr val="E8EEF7"/>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06</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Licensing &amp; Virtualization Rights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Windows Server Licensing: Standard vs. Datacenter</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377440"/>
                <a:gridCol w="4206240"/>
                <a:gridCol w="432785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Standard</a:t>
                      </a:r>
                    </a:p>
                  </a:txBody>
                  <a:tcPr anchor="ctr" marL="76200" marR="76200" marT="38100" marB="38100">
                    <a:solidFill>
                      <a:srgbClr val="1B2A4A"/>
                    </a:solidFill>
                  </a:tcPr>
                </a:tc>
                <a:tc>
                  <a:txBody>
                    <a:bodyPr/>
                    <a:lstStyle/>
                    <a:p>
                      <a:pPr algn="l"/>
                      <a:r>
                        <a:rPr sz="1250" b="1" i="0">
                          <a:solidFill>
                            <a:srgbClr val="FFFFFF"/>
                          </a:solidFill>
                          <a:latin typeface="Calibri"/>
                        </a:rPr>
                        <a:t>Datacenter</a:t>
                      </a:r>
                    </a:p>
                  </a:txBody>
                  <a:tcPr anchor="ctr" marL="76200" marR="76200" marT="38100" marB="38100">
                    <a:solidFill>
                      <a:srgbClr val="1B2A4A"/>
                    </a:solidFill>
                  </a:tcPr>
                </a:tc>
              </a:tr>
              <a:tr h="457200">
                <a:tc>
                  <a:txBody>
                    <a:bodyPr/>
                    <a:lstStyle/>
                    <a:p>
                      <a:pPr algn="l"/>
                      <a:r>
                        <a:rPr sz="1150" b="0" i="0">
                          <a:solidFill>
                            <a:srgbClr val="111B30"/>
                          </a:solidFill>
                          <a:latin typeface="Calibri"/>
                        </a:rPr>
                        <a:t>Licensing model</a:t>
                      </a:r>
                    </a:p>
                  </a:txBody>
                  <a:tcPr anchor="ctr" marL="76200" marR="76200" marT="38100" marB="38100">
                    <a:solidFill>
                      <a:srgbClr val="FFFFFF"/>
                    </a:solidFill>
                  </a:tcPr>
                </a:tc>
                <a:tc>
                  <a:txBody>
                    <a:bodyPr/>
                    <a:lstStyle/>
                    <a:p>
                      <a:pPr algn="l"/>
                      <a:r>
                        <a:rPr sz="1150" b="0" i="0">
                          <a:solidFill>
                            <a:srgbClr val="111B30"/>
                          </a:solidFill>
                          <a:latin typeface="Calibri"/>
                        </a:rPr>
                        <a:t>Core-based (min. 8 cores/proc, 16 cores/server)</a:t>
                      </a:r>
                    </a:p>
                  </a:txBody>
                  <a:tcPr anchor="ctr" marL="76200" marR="76200" marT="38100" marB="38100">
                    <a:solidFill>
                      <a:srgbClr val="FFFFFF"/>
                    </a:solidFill>
                  </a:tcPr>
                </a:tc>
                <a:tc>
                  <a:txBody>
                    <a:bodyPr/>
                    <a:lstStyle/>
                    <a:p>
                      <a:pPr algn="l"/>
                      <a:r>
                        <a:rPr sz="1150" b="0" i="0">
                          <a:solidFill>
                            <a:srgbClr val="111B30"/>
                          </a:solidFill>
                          <a:latin typeface="Calibri"/>
                        </a:rPr>
                        <a:t>Core-based (same minimums)</a:t>
                      </a:r>
                    </a:p>
                  </a:txBody>
                  <a:tcPr anchor="ctr" marL="76200" marR="76200" marT="38100" marB="38100">
                    <a:solidFill>
                      <a:srgbClr val="FFFFFF"/>
                    </a:solidFill>
                  </a:tcPr>
                </a:tc>
              </a:tr>
              <a:tr h="457200">
                <a:tc>
                  <a:txBody>
                    <a:bodyPr/>
                    <a:lstStyle/>
                    <a:p>
                      <a:pPr algn="l"/>
                      <a:r>
                        <a:rPr sz="1150" b="0" i="0">
                          <a:solidFill>
                            <a:srgbClr val="111B30"/>
                          </a:solidFill>
                          <a:latin typeface="Calibri"/>
                        </a:rPr>
                        <a:t>Included VM rights</a:t>
                      </a:r>
                    </a:p>
                  </a:txBody>
                  <a:tcPr anchor="ctr" marL="76200" marR="76200" marT="38100" marB="38100">
                    <a:solidFill>
                      <a:srgbClr val="E8EEF7"/>
                    </a:solidFill>
                  </a:tcPr>
                </a:tc>
                <a:tc>
                  <a:txBody>
                    <a:bodyPr/>
                    <a:lstStyle/>
                    <a:p>
                      <a:pPr algn="l"/>
                      <a:r>
                        <a:rPr sz="1150" b="0" i="0">
                          <a:solidFill>
                            <a:srgbClr val="111B30"/>
                          </a:solidFill>
                          <a:latin typeface="Calibri"/>
                        </a:rPr>
                        <a:t>2 Windows Server VM instances (OSEs)</a:t>
                      </a:r>
                    </a:p>
                  </a:txBody>
                  <a:tcPr anchor="ctr" marL="76200" marR="76200" marT="38100" marB="38100">
                    <a:solidFill>
                      <a:srgbClr val="E8EEF7"/>
                    </a:solidFill>
                  </a:tcPr>
                </a:tc>
                <a:tc>
                  <a:txBody>
                    <a:bodyPr/>
                    <a:lstStyle/>
                    <a:p>
                      <a:pPr algn="l"/>
                      <a:r>
                        <a:rPr sz="1150" b="0" i="0">
                          <a:solidFill>
                            <a:srgbClr val="111B30"/>
                          </a:solidFill>
                          <a:latin typeface="Calibri"/>
                        </a:rPr>
                        <a:t>Unlimited Windows Server VM instances</a:t>
                      </a:r>
                    </a:p>
                  </a:txBody>
                  <a:tcPr anchor="ctr" marL="76200" marR="76200" marT="38100" marB="38100">
                    <a:solidFill>
                      <a:srgbClr val="E8EEF7"/>
                    </a:solidFill>
                  </a:tcPr>
                </a:tc>
              </a:tr>
              <a:tr h="457200">
                <a:tc>
                  <a:txBody>
                    <a:bodyPr/>
                    <a:lstStyle/>
                    <a:p>
                      <a:pPr algn="l"/>
                      <a:r>
                        <a:rPr sz="1150" b="0" i="0">
                          <a:solidFill>
                            <a:srgbClr val="111B30"/>
                          </a:solidFill>
                          <a:latin typeface="Calibri"/>
                        </a:rPr>
                        <a:t>Typical use case</a:t>
                      </a:r>
                    </a:p>
                  </a:txBody>
                  <a:tcPr anchor="ctr" marL="76200" marR="76200" marT="38100" marB="38100">
                    <a:solidFill>
                      <a:srgbClr val="FFFFFF"/>
                    </a:solidFill>
                  </a:tcPr>
                </a:tc>
                <a:tc>
                  <a:txBody>
                    <a:bodyPr/>
                    <a:lstStyle/>
                    <a:p>
                      <a:pPr algn="l"/>
                      <a:r>
                        <a:rPr sz="1150" b="0" i="0">
                          <a:solidFill>
                            <a:srgbClr val="111B30"/>
                          </a:solidFill>
                          <a:latin typeface="Calibri"/>
                        </a:rPr>
                        <a:t>Physical/lightly-virtualized workloads</a:t>
                      </a:r>
                    </a:p>
                  </a:txBody>
                  <a:tcPr anchor="ctr" marL="76200" marR="76200" marT="38100" marB="38100">
                    <a:solidFill>
                      <a:srgbClr val="FFFFFF"/>
                    </a:solidFill>
                  </a:tcPr>
                </a:tc>
                <a:tc>
                  <a:txBody>
                    <a:bodyPr/>
                    <a:lstStyle/>
                    <a:p>
                      <a:pPr algn="l"/>
                      <a:r>
                        <a:rPr sz="1150" b="0" i="0">
                          <a:solidFill>
                            <a:srgbClr val="111B30"/>
                          </a:solidFill>
                          <a:latin typeface="Calibri"/>
                        </a:rPr>
                        <a:t>Heavily virtualized hosts, private cloud</a:t>
                      </a:r>
                    </a:p>
                  </a:txBody>
                  <a:tcPr anchor="ctr" marL="76200" marR="76200" marT="38100" marB="38100">
                    <a:solidFill>
                      <a:srgbClr val="FFFFFF"/>
                    </a:solidFill>
                  </a:tcPr>
                </a:tc>
              </a:tr>
              <a:tr h="457200">
                <a:tc>
                  <a:txBody>
                    <a:bodyPr/>
                    <a:lstStyle/>
                    <a:p>
                      <a:pPr algn="l"/>
                      <a:r>
                        <a:rPr sz="1150" b="0" i="0">
                          <a:solidFill>
                            <a:srgbClr val="111B30"/>
                          </a:solidFill>
                          <a:latin typeface="Calibri"/>
                        </a:rPr>
                        <a:t>Feature parity</a:t>
                      </a:r>
                    </a:p>
                  </a:txBody>
                  <a:tcPr anchor="ctr" marL="76200" marR="76200" marT="38100" marB="38100">
                    <a:solidFill>
                      <a:srgbClr val="E8EEF7"/>
                    </a:solidFill>
                  </a:tcPr>
                </a:tc>
                <a:tc>
                  <a:txBody>
                    <a:bodyPr/>
                    <a:lstStyle/>
                    <a:p>
                      <a:pPr algn="l"/>
                      <a:r>
                        <a:rPr sz="1150" b="0" i="0">
                          <a:solidFill>
                            <a:srgbClr val="111B30"/>
                          </a:solidFill>
                          <a:latin typeface="Calibri"/>
                        </a:rPr>
                        <a:t>Same core Windows Server features as Datacenter</a:t>
                      </a:r>
                    </a:p>
                  </a:txBody>
                  <a:tcPr anchor="ctr" marL="76200" marR="76200" marT="38100" marB="38100">
                    <a:solidFill>
                      <a:srgbClr val="E8EEF7"/>
                    </a:solidFill>
                  </a:tcPr>
                </a:tc>
                <a:tc>
                  <a:txBody>
                    <a:bodyPr/>
                    <a:lstStyle/>
                    <a:p>
                      <a:pPr algn="l"/>
                      <a:r>
                        <a:rPr sz="1150" b="0" i="0">
                          <a:solidFill>
                            <a:srgbClr val="111B30"/>
                          </a:solidFill>
                          <a:latin typeface="Calibri"/>
                        </a:rPr>
                        <a:t>Adds Storage Spaces Direct, Storage Replica, Shielded VMs</a:t>
                      </a:r>
                    </a:p>
                  </a:txBody>
                  <a:tcPr anchor="ctr" marL="76200" marR="76200" marT="38100" marB="38100">
                    <a:solidFill>
                      <a:srgbClr val="E8EEF7"/>
                    </a:solidFill>
                  </a:tcPr>
                </a:tc>
              </a:tr>
              <a:tr h="457200">
                <a:tc>
                  <a:txBody>
                    <a:bodyPr/>
                    <a:lstStyle/>
                    <a:p>
                      <a:pPr algn="l"/>
                      <a:r>
                        <a:rPr sz="1150" b="0" i="0">
                          <a:solidFill>
                            <a:srgbClr val="111B30"/>
                          </a:solidFill>
                          <a:latin typeface="Calibri"/>
                        </a:rPr>
                        <a:t>Cost</a:t>
                      </a:r>
                    </a:p>
                  </a:txBody>
                  <a:tcPr anchor="ctr" marL="76200" marR="76200" marT="38100" marB="38100">
                    <a:solidFill>
                      <a:srgbClr val="FFFFFF"/>
                    </a:solidFill>
                  </a:tcPr>
                </a:tc>
                <a:tc>
                  <a:txBody>
                    <a:bodyPr/>
                    <a:lstStyle/>
                    <a:p>
                      <a:pPr algn="l"/>
                      <a:r>
                        <a:rPr sz="1150" b="0" i="0">
                          <a:solidFill>
                            <a:srgbClr val="111B30"/>
                          </a:solidFill>
                          <a:latin typeface="Calibri"/>
                        </a:rPr>
                        <a:t>Lower per-core cost</a:t>
                      </a:r>
                    </a:p>
                  </a:txBody>
                  <a:tcPr anchor="ctr" marL="76200" marR="76200" marT="38100" marB="38100">
                    <a:solidFill>
                      <a:srgbClr val="FFFFFF"/>
                    </a:solidFill>
                  </a:tcPr>
                </a:tc>
                <a:tc>
                  <a:txBody>
                    <a:bodyPr/>
                    <a:lstStyle/>
                    <a:p>
                      <a:pPr algn="l"/>
                      <a:r>
                        <a:rPr sz="1150" b="0" i="0">
                          <a:solidFill>
                            <a:srgbClr val="111B30"/>
                          </a:solidFill>
                          <a:latin typeface="Calibri"/>
                        </a:rPr>
                        <a:t>Higher per-core cost, justified by unlimited VM rights at scale</a:t>
                      </a:r>
                    </a:p>
                  </a:txBody>
                  <a:tcPr anchor="ctr" marL="76200" marR="76200" marT="38100" marB="38100">
                    <a:solidFill>
                      <a:srgbClr val="FFFFFF"/>
                    </a:solidFill>
                  </a:tcPr>
                </a:tc>
              </a:tr>
            </a:tbl>
          </a:graphicData>
        </a:graphic>
      </p:graphicFrame>
      <p:sp>
        <p:nvSpPr>
          <p:cNvPr id="4" name="TextBox 3"/>
          <p:cNvSpPr txBox="1"/>
          <p:nvPr/>
        </p:nvSpPr>
        <p:spPr>
          <a:xfrm>
            <a:off x="640080" y="5212080"/>
            <a:ext cx="10911535" cy="822960"/>
          </a:xfrm>
          <a:prstGeom prst="rect">
            <a:avLst/>
          </a:prstGeom>
          <a:noFill/>
        </p:spPr>
        <p:txBody>
          <a:bodyPr wrap="square">
            <a:spAutoFit/>
          </a:bodyPr>
          <a:lstStyle/>
          <a:p>
            <a:r>
              <a:rPr sz="1200" b="0" i="1">
                <a:solidFill>
                  <a:srgbClr val="3D5A80"/>
                </a:solidFill>
                <a:latin typeface="Calibri"/>
              </a:rPr>
              <a:t>Example: 1 physical server, 2 processors x 8 cores = 16 cores -&gt; minimum core-license requirement met exactly. A 3rd VM on this host would require a 2nd Standard license stack even though physical capacity allows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Client Access Licenses (CALs): Device vs. User</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A CAL grants the right to access Windows Server services - separate from the server license itself</a:t>
            </a:r>
          </a:p>
          <a:p>
            <a:pPr algn="l">
              <a:spcAft>
                <a:spcPts val="1200"/>
              </a:spcAft>
            </a:pPr>
            <a:r>
              <a:rPr sz="1600" b="0" i="0">
                <a:solidFill>
                  <a:srgbClr val="111B30"/>
                </a:solidFill>
                <a:latin typeface="Calibri"/>
              </a:rPr>
              <a:t>●   Device CAL: licensed per device, regardless of how many users share it (shift work, shared kiosks)</a:t>
            </a:r>
          </a:p>
          <a:p>
            <a:pPr algn="l">
              <a:spcAft>
                <a:spcPts val="1200"/>
              </a:spcAft>
            </a:pPr>
            <a:r>
              <a:rPr sz="1600" b="0" i="0">
                <a:solidFill>
                  <a:srgbClr val="111B30"/>
                </a:solidFill>
                <a:latin typeface="Calibri"/>
              </a:rPr>
              <a:t>●   User CAL: licensed per user, regardless of how many devices they use (BYOD, multi-device employees)</a:t>
            </a:r>
          </a:p>
          <a:p>
            <a:pPr algn="l">
              <a:spcAft>
                <a:spcPts val="1200"/>
              </a:spcAft>
            </a:pPr>
            <a:r>
              <a:rPr sz="1600" b="0" i="0">
                <a:solidFill>
                  <a:srgbClr val="111B30"/>
                </a:solidFill>
                <a:latin typeface="Calibri"/>
              </a:rPr>
              <a:t>●   Rule of thumb: more users than devices -&gt; Device CAL cheaper; more devices than users -&gt; User CAL cheaper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Volume Licensing: EA vs. CSP</a:t>
            </a:r>
          </a:p>
        </p:txBody>
      </p:sp>
      <p:graphicFrame>
        <p:nvGraphicFramePr>
          <p:cNvPr id="3" name="Table 2"/>
          <p:cNvGraphicFramePr>
            <a:graphicFrameLocks noGrp="1"/>
          </p:cNvGraphicFramePr>
          <p:nvPr/>
        </p:nvGraphicFramePr>
        <p:xfrm>
          <a:off x="640080" y="1554480"/>
          <a:ext cx="10911535" cy="2743200"/>
        </p:xfrm>
        <a:graphic>
          <a:graphicData uri="http://schemas.openxmlformats.org/drawingml/2006/table">
            <a:tbl>
              <a:tblPr firstRow="1" bandRow="1">
                <a:tableStyleId>{5C22544A-7EE6-4342-B048-85BDC9FD1C3A}</a:tableStyleId>
              </a:tblPr>
              <a:tblGrid>
                <a:gridCol w="2194560"/>
                <a:gridCol w="4206240"/>
                <a:gridCol w="4510735"/>
              </a:tblGrid>
              <a:tr h="457200">
                <a:tc>
                  <a:txBody>
                    <a:bodyPr/>
                    <a:lstStyle/>
                    <a:p>
                      <a:pPr algn="l"/>
                      <a:r>
                        <a:rPr sz="1250" b="1" i="0">
                          <a:solidFill>
                            <a:srgbClr val="FFFFFF"/>
                          </a:solidFill>
                          <a:latin typeface="Calibri"/>
                        </a:rPr>
                        <a:t>Aspect</a:t>
                      </a:r>
                    </a:p>
                  </a:txBody>
                  <a:tcPr anchor="ctr" marL="76200" marR="76200" marT="38100" marB="38100">
                    <a:solidFill>
                      <a:srgbClr val="1B2A4A"/>
                    </a:solidFill>
                  </a:tcPr>
                </a:tc>
                <a:tc>
                  <a:txBody>
                    <a:bodyPr/>
                    <a:lstStyle/>
                    <a:p>
                      <a:pPr algn="l"/>
                      <a:r>
                        <a:rPr sz="1250" b="1" i="0">
                          <a:solidFill>
                            <a:srgbClr val="FFFFFF"/>
                          </a:solidFill>
                          <a:latin typeface="Calibri"/>
                        </a:rPr>
                        <a:t>Enterprise Agreement (EA)</a:t>
                      </a:r>
                    </a:p>
                  </a:txBody>
                  <a:tcPr anchor="ctr" marL="76200" marR="76200" marT="38100" marB="38100">
                    <a:solidFill>
                      <a:srgbClr val="1B2A4A"/>
                    </a:solidFill>
                  </a:tcPr>
                </a:tc>
                <a:tc>
                  <a:txBody>
                    <a:bodyPr/>
                    <a:lstStyle/>
                    <a:p>
                      <a:pPr algn="l"/>
                      <a:r>
                        <a:rPr sz="1250" b="1" i="0">
                          <a:solidFill>
                            <a:srgbClr val="FFFFFF"/>
                          </a:solidFill>
                          <a:latin typeface="Calibri"/>
                        </a:rPr>
                        <a:t>Cloud Solution Provider (CSP)</a:t>
                      </a:r>
                    </a:p>
                  </a:txBody>
                  <a:tcPr anchor="ctr" marL="76200" marR="76200" marT="38100" marB="38100">
                    <a:solidFill>
                      <a:srgbClr val="1B2A4A"/>
                    </a:solidFill>
                  </a:tcPr>
                </a:tc>
              </a:tr>
              <a:tr h="457200">
                <a:tc>
                  <a:txBody>
                    <a:bodyPr/>
                    <a:lstStyle/>
                    <a:p>
                      <a:pPr algn="l"/>
                      <a:r>
                        <a:rPr sz="1200" b="0" i="0">
                          <a:solidFill>
                            <a:srgbClr val="111B30"/>
                          </a:solidFill>
                          <a:latin typeface="Calibri"/>
                        </a:rPr>
                        <a:t>Minimum org size</a:t>
                      </a:r>
                    </a:p>
                  </a:txBody>
                  <a:tcPr anchor="ctr" marL="76200" marR="76200" marT="38100" marB="38100">
                    <a:solidFill>
                      <a:srgbClr val="FFFFFF"/>
                    </a:solidFill>
                  </a:tcPr>
                </a:tc>
                <a:tc>
                  <a:txBody>
                    <a:bodyPr/>
                    <a:lstStyle/>
                    <a:p>
                      <a:pPr algn="l"/>
                      <a:r>
                        <a:rPr sz="1200" b="0" i="0">
                          <a:solidFill>
                            <a:srgbClr val="111B30"/>
                          </a:solidFill>
                          <a:latin typeface="Calibri"/>
                        </a:rPr>
                        <a:t>Typically 500+ devices/users</a:t>
                      </a:r>
                    </a:p>
                  </a:txBody>
                  <a:tcPr anchor="ctr" marL="76200" marR="76200" marT="38100" marB="38100">
                    <a:solidFill>
                      <a:srgbClr val="FFFFFF"/>
                    </a:solidFill>
                  </a:tcPr>
                </a:tc>
                <a:tc>
                  <a:txBody>
                    <a:bodyPr/>
                    <a:lstStyle/>
                    <a:p>
                      <a:pPr algn="l"/>
                      <a:r>
                        <a:rPr sz="1200" b="0" i="0">
                          <a:solidFill>
                            <a:srgbClr val="111B30"/>
                          </a:solidFill>
                          <a:latin typeface="Calibri"/>
                        </a:rPr>
                        <a:t>No minimum - scales to small orgs</a:t>
                      </a:r>
                    </a:p>
                  </a:txBody>
                  <a:tcPr anchor="ctr" marL="76200" marR="76200" marT="38100" marB="38100">
                    <a:solidFill>
                      <a:srgbClr val="FFFFFF"/>
                    </a:solidFill>
                  </a:tcPr>
                </a:tc>
              </a:tr>
              <a:tr h="457200">
                <a:tc>
                  <a:txBody>
                    <a:bodyPr/>
                    <a:lstStyle/>
                    <a:p>
                      <a:pPr algn="l"/>
                      <a:r>
                        <a:rPr sz="1200" b="0" i="0">
                          <a:solidFill>
                            <a:srgbClr val="111B30"/>
                          </a:solidFill>
                          <a:latin typeface="Calibri"/>
                        </a:rPr>
                        <a:t>Contract length</a:t>
                      </a:r>
                    </a:p>
                  </a:txBody>
                  <a:tcPr anchor="ctr" marL="76200" marR="76200" marT="38100" marB="38100">
                    <a:solidFill>
                      <a:srgbClr val="E8EEF7"/>
                    </a:solidFill>
                  </a:tcPr>
                </a:tc>
                <a:tc>
                  <a:txBody>
                    <a:bodyPr/>
                    <a:lstStyle/>
                    <a:p>
                      <a:pPr algn="l"/>
                      <a:r>
                        <a:rPr sz="1200" b="0" i="0">
                          <a:solidFill>
                            <a:srgbClr val="111B30"/>
                          </a:solidFill>
                          <a:latin typeface="Calibri"/>
                        </a:rPr>
                        <a:t>3-year commitment</a:t>
                      </a:r>
                    </a:p>
                  </a:txBody>
                  <a:tcPr anchor="ctr" marL="76200" marR="76200" marT="38100" marB="38100">
                    <a:solidFill>
                      <a:srgbClr val="E8EEF7"/>
                    </a:solidFill>
                  </a:tcPr>
                </a:tc>
                <a:tc>
                  <a:txBody>
                    <a:bodyPr/>
                    <a:lstStyle/>
                    <a:p>
                      <a:pPr algn="l"/>
                      <a:r>
                        <a:rPr sz="1200" b="0" i="0">
                          <a:solidFill>
                            <a:srgbClr val="111B30"/>
                          </a:solidFill>
                          <a:latin typeface="Calibri"/>
                        </a:rPr>
                        <a:t>Month-to-month or annual, more flexible</a:t>
                      </a:r>
                    </a:p>
                  </a:txBody>
                  <a:tcPr anchor="ctr" marL="76200" marR="76200" marT="38100" marB="38100">
                    <a:solidFill>
                      <a:srgbClr val="E8EEF7"/>
                    </a:solidFill>
                  </a:tcPr>
                </a:tc>
              </a:tr>
              <a:tr h="457200">
                <a:tc>
                  <a:txBody>
                    <a:bodyPr/>
                    <a:lstStyle/>
                    <a:p>
                      <a:pPr algn="l"/>
                      <a:r>
                        <a:rPr sz="1200" b="0" i="0">
                          <a:solidFill>
                            <a:srgbClr val="111B30"/>
                          </a:solidFill>
                          <a:latin typeface="Calibri"/>
                        </a:rPr>
                        <a:t>Who you buy from</a:t>
                      </a:r>
                    </a:p>
                  </a:txBody>
                  <a:tcPr anchor="ctr" marL="76200" marR="76200" marT="38100" marB="38100">
                    <a:solidFill>
                      <a:srgbClr val="FFFFFF"/>
                    </a:solidFill>
                  </a:tcPr>
                </a:tc>
                <a:tc>
                  <a:txBody>
                    <a:bodyPr/>
                    <a:lstStyle/>
                    <a:p>
                      <a:pPr algn="l"/>
                      <a:r>
                        <a:rPr sz="1200" b="0" i="0">
                          <a:solidFill>
                            <a:srgbClr val="111B30"/>
                          </a:solidFill>
                          <a:latin typeface="Calibri"/>
                        </a:rPr>
                        <a:t>Direct from Microsoft (or LSP)</a:t>
                      </a:r>
                    </a:p>
                  </a:txBody>
                  <a:tcPr anchor="ctr" marL="76200" marR="76200" marT="38100" marB="38100">
                    <a:solidFill>
                      <a:srgbClr val="FFFFFF"/>
                    </a:solidFill>
                  </a:tcPr>
                </a:tc>
                <a:tc>
                  <a:txBody>
                    <a:bodyPr/>
                    <a:lstStyle/>
                    <a:p>
                      <a:pPr algn="l"/>
                      <a:r>
                        <a:rPr sz="1200" b="0" i="0">
                          <a:solidFill>
                            <a:srgbClr val="111B30"/>
                          </a:solidFill>
                          <a:latin typeface="Calibri"/>
                        </a:rPr>
                        <a:t>Through a Microsoft partner (the CSP)</a:t>
                      </a:r>
                    </a:p>
                  </a:txBody>
                  <a:tcPr anchor="ctr" marL="76200" marR="76200" marT="38100" marB="38100">
                    <a:solidFill>
                      <a:srgbClr val="FFFFFF"/>
                    </a:solidFill>
                  </a:tcPr>
                </a:tc>
              </a:tr>
              <a:tr h="457200">
                <a:tc>
                  <a:txBody>
                    <a:bodyPr/>
                    <a:lstStyle/>
                    <a:p>
                      <a:pPr algn="l"/>
                      <a:r>
                        <a:rPr sz="1200" b="0" i="0">
                          <a:solidFill>
                            <a:srgbClr val="111B30"/>
                          </a:solidFill>
                          <a:latin typeface="Calibri"/>
                        </a:rPr>
                        <a:t>Payment model</a:t>
                      </a:r>
                    </a:p>
                  </a:txBody>
                  <a:tcPr anchor="ctr" marL="76200" marR="76200" marT="38100" marB="38100">
                    <a:solidFill>
                      <a:srgbClr val="E8EEF7"/>
                    </a:solidFill>
                  </a:tcPr>
                </a:tc>
                <a:tc>
                  <a:txBody>
                    <a:bodyPr/>
                    <a:lstStyle/>
                    <a:p>
                      <a:pPr algn="l"/>
                      <a:r>
                        <a:rPr sz="1200" b="0" i="0">
                          <a:solidFill>
                            <a:srgbClr val="111B30"/>
                          </a:solidFill>
                          <a:latin typeface="Calibri"/>
                        </a:rPr>
                        <a:t>Often upfront/annual true-up</a:t>
                      </a:r>
                    </a:p>
                  </a:txBody>
                  <a:tcPr anchor="ctr" marL="76200" marR="76200" marT="38100" marB="38100">
                    <a:solidFill>
                      <a:srgbClr val="E8EEF7"/>
                    </a:solidFill>
                  </a:tcPr>
                </a:tc>
                <a:tc>
                  <a:txBody>
                    <a:bodyPr/>
                    <a:lstStyle/>
                    <a:p>
                      <a:pPr algn="l"/>
                      <a:r>
                        <a:rPr sz="1200" b="0" i="0">
                          <a:solidFill>
                            <a:srgbClr val="111B30"/>
                          </a:solidFill>
                          <a:latin typeface="Calibri"/>
                        </a:rPr>
                        <a:t>Consumption-based/subscription billing</a:t>
                      </a:r>
                    </a:p>
                  </a:txBody>
                  <a:tcPr anchor="ctr" marL="76200" marR="76200" marT="38100" marB="38100">
                    <a:solidFill>
                      <a:srgbClr val="E8EEF7"/>
                    </a:solidFill>
                  </a:tcPr>
                </a:tc>
              </a:tr>
              <a:tr h="457200">
                <a:tc>
                  <a:txBody>
                    <a:bodyPr/>
                    <a:lstStyle/>
                    <a:p>
                      <a:pPr algn="l"/>
                      <a:r>
                        <a:rPr sz="1200" b="0" i="0">
                          <a:solidFill>
                            <a:srgbClr val="111B30"/>
                          </a:solidFill>
                          <a:latin typeface="Calibri"/>
                        </a:rPr>
                        <a:t>Best fit</a:t>
                      </a:r>
                    </a:p>
                  </a:txBody>
                  <a:tcPr anchor="ctr" marL="76200" marR="76200" marT="38100" marB="38100">
                    <a:solidFill>
                      <a:srgbClr val="FFFFFF"/>
                    </a:solidFill>
                  </a:tcPr>
                </a:tc>
                <a:tc>
                  <a:txBody>
                    <a:bodyPr/>
                    <a:lstStyle/>
                    <a:p>
                      <a:pPr algn="l"/>
                      <a:r>
                        <a:rPr sz="1200" b="0" i="0">
                          <a:solidFill>
                            <a:srgbClr val="111B30"/>
                          </a:solidFill>
                          <a:latin typeface="Calibri"/>
                        </a:rPr>
                        <a:t>Large, stable enterprise, predictable needs</a:t>
                      </a:r>
                    </a:p>
                  </a:txBody>
                  <a:tcPr anchor="ctr" marL="76200" marR="76200" marT="38100" marB="38100">
                    <a:solidFill>
                      <a:srgbClr val="FFFFFF"/>
                    </a:solidFill>
                  </a:tcPr>
                </a:tc>
                <a:tc>
                  <a:txBody>
                    <a:bodyPr/>
                    <a:lstStyle/>
                    <a:p>
                      <a:pPr algn="l"/>
                      <a:r>
                        <a:rPr sz="1200" b="0" i="0">
                          <a:solidFill>
                            <a:srgbClr val="111B30"/>
                          </a:solidFill>
                          <a:latin typeface="Calibri"/>
                        </a:rPr>
                        <a:t>Smaller/growing orgs, cloud-first workloads</a:t>
                      </a:r>
                    </a:p>
                  </a:txBody>
                  <a:tcPr anchor="ctr" marL="76200" marR="76200" marT="38100" marB="38100">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Hyper-V Virtualization Rights by Edition</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4114800"/>
                <a:gridCol w="6248095"/>
              </a:tblGrid>
              <a:tr h="457200">
                <a:tc>
                  <a:txBody>
                    <a:bodyPr/>
                    <a:lstStyle/>
                    <a:p>
                      <a:pPr algn="l"/>
                      <a:r>
                        <a:rPr sz="1250" b="1" i="0">
                          <a:solidFill>
                            <a:srgbClr val="FFFFFF"/>
                          </a:solidFill>
                          <a:latin typeface="Calibri"/>
                        </a:rPr>
                        <a:t>Edition</a:t>
                      </a:r>
                    </a:p>
                  </a:txBody>
                  <a:tcPr anchor="ctr" marL="76200" marR="76200" marT="38100" marB="38100">
                    <a:solidFill>
                      <a:srgbClr val="1B2A4A"/>
                    </a:solidFill>
                  </a:tcPr>
                </a:tc>
                <a:tc>
                  <a:txBody>
                    <a:bodyPr/>
                    <a:lstStyle/>
                    <a:p>
                      <a:pPr algn="l"/>
                      <a:r>
                        <a:rPr sz="1250" b="1" i="0">
                          <a:solidFill>
                            <a:srgbClr val="FFFFFF"/>
                          </a:solidFill>
                          <a:latin typeface="Calibri"/>
                        </a:rPr>
                        <a:t>Hyper-V Rights</a:t>
                      </a:r>
                    </a:p>
                  </a:txBody>
                  <a:tcPr anchor="ctr" marL="76200" marR="76200" marT="38100" marB="38100">
                    <a:solidFill>
                      <a:srgbClr val="1B2A4A"/>
                    </a:solidFill>
                  </a:tcPr>
                </a:tc>
              </a:tr>
              <a:tr h="457200">
                <a:tc>
                  <a:txBody>
                    <a:bodyPr/>
                    <a:lstStyle/>
                    <a:p>
                      <a:pPr algn="l"/>
                      <a:r>
                        <a:rPr sz="1300" b="0" i="0">
                          <a:solidFill>
                            <a:srgbClr val="111B30"/>
                          </a:solidFill>
                          <a:latin typeface="Calibri"/>
                        </a:rPr>
                        <a:t>Windows Server Standard</a:t>
                      </a:r>
                    </a:p>
                  </a:txBody>
                  <a:tcPr anchor="ctr" marL="76200" marR="76200" marT="38100" marB="38100">
                    <a:solidFill>
                      <a:srgbClr val="FFFFFF"/>
                    </a:solidFill>
                  </a:tcPr>
                </a:tc>
                <a:tc>
                  <a:txBody>
                    <a:bodyPr/>
                    <a:lstStyle/>
                    <a:p>
                      <a:pPr algn="l"/>
                      <a:r>
                        <a:rPr sz="1300" b="0" i="0">
                          <a:solidFill>
                            <a:srgbClr val="111B30"/>
                          </a:solidFill>
                          <a:latin typeface="Calibri"/>
                        </a:rPr>
                        <a:t>Host role + 2 Windows Server guest OSEs included</a:t>
                      </a:r>
                    </a:p>
                  </a:txBody>
                  <a:tcPr anchor="ctr" marL="76200" marR="76200" marT="38100" marB="38100">
                    <a:solidFill>
                      <a:srgbClr val="FFFFFF"/>
                    </a:solidFill>
                  </a:tcPr>
                </a:tc>
              </a:tr>
              <a:tr h="457200">
                <a:tc>
                  <a:txBody>
                    <a:bodyPr/>
                    <a:lstStyle/>
                    <a:p>
                      <a:pPr algn="l"/>
                      <a:r>
                        <a:rPr sz="1300" b="0" i="0">
                          <a:solidFill>
                            <a:srgbClr val="111B30"/>
                          </a:solidFill>
                          <a:latin typeface="Calibri"/>
                        </a:rPr>
                        <a:t>Windows Server Datacenter</a:t>
                      </a:r>
                    </a:p>
                  </a:txBody>
                  <a:tcPr anchor="ctr" marL="76200" marR="76200" marT="38100" marB="38100">
                    <a:solidFill>
                      <a:srgbClr val="E8EEF7"/>
                    </a:solidFill>
                  </a:tcPr>
                </a:tc>
                <a:tc>
                  <a:txBody>
                    <a:bodyPr/>
                    <a:lstStyle/>
                    <a:p>
                      <a:pPr algn="l"/>
                      <a:r>
                        <a:rPr sz="1300" b="0" i="0">
                          <a:solidFill>
                            <a:srgbClr val="111B30"/>
                          </a:solidFill>
                          <a:latin typeface="Calibri"/>
                        </a:rPr>
                        <a:t>Host role + unlimited Windows Server guest OSEs</a:t>
                      </a:r>
                    </a:p>
                  </a:txBody>
                  <a:tcPr anchor="ctr" marL="76200" marR="76200" marT="38100" marB="38100">
                    <a:solidFill>
                      <a:srgbClr val="E8EEF7"/>
                    </a:solidFill>
                  </a:tcPr>
                </a:tc>
              </a:tr>
              <a:tr h="457200">
                <a:tc>
                  <a:txBody>
                    <a:bodyPr/>
                    <a:lstStyle/>
                    <a:p>
                      <a:pPr algn="l"/>
                      <a:r>
                        <a:rPr sz="1300" b="0" i="0">
                          <a:solidFill>
                            <a:srgbClr val="111B30"/>
                          </a:solidFill>
                          <a:latin typeface="Calibri"/>
                        </a:rPr>
                        <a:t>Hyper-V Server (free, standalone)</a:t>
                      </a:r>
                    </a:p>
                  </a:txBody>
                  <a:tcPr anchor="ctr" marL="76200" marR="76200" marT="38100" marB="38100">
                    <a:solidFill>
                      <a:srgbClr val="FFFFFF"/>
                    </a:solidFill>
                  </a:tcPr>
                </a:tc>
                <a:tc>
                  <a:txBody>
                    <a:bodyPr/>
                    <a:lstStyle/>
                    <a:p>
                      <a:pPr algn="l"/>
                      <a:r>
                        <a:rPr sz="1300" b="0" i="0">
                          <a:solidFill>
                            <a:srgbClr val="111B30"/>
                          </a:solidFill>
                          <a:latin typeface="Calibri"/>
                        </a:rPr>
                        <a:t>Hypervisor only - guests must be separately licensed</a:t>
                      </a:r>
                    </a:p>
                  </a:txBody>
                  <a:tcPr anchor="ctr" marL="76200" marR="76200" marT="38100" marB="38100">
                    <a:solidFill>
                      <a:srgbClr val="FFFFFF"/>
                    </a:solidFill>
                  </a:tcPr>
                </a:tc>
              </a:tr>
              <a:tr h="457200">
                <a:tc>
                  <a:txBody>
                    <a:bodyPr/>
                    <a:lstStyle/>
                    <a:p>
                      <a:pPr algn="l"/>
                      <a:r>
                        <a:rPr sz="1300" b="0" i="0">
                          <a:solidFill>
                            <a:srgbClr val="111B30"/>
                          </a:solidFill>
                          <a:latin typeface="Calibri"/>
                        </a:rPr>
                        <a:t>Non-Windows guests (Linux, etc.)</a:t>
                      </a:r>
                    </a:p>
                  </a:txBody>
                  <a:tcPr anchor="ctr" marL="76200" marR="76200" marT="38100" marB="38100">
                    <a:solidFill>
                      <a:srgbClr val="E8EEF7"/>
                    </a:solidFill>
                  </a:tcPr>
                </a:tc>
                <a:tc>
                  <a:txBody>
                    <a:bodyPr/>
                    <a:lstStyle/>
                    <a:p>
                      <a:pPr algn="l"/>
                      <a:r>
                        <a:rPr sz="1300" b="0" i="0">
                          <a:solidFill>
                            <a:srgbClr val="111B30"/>
                          </a:solidFill>
                          <a:latin typeface="Calibri"/>
                        </a:rPr>
                        <a:t>Not covered by the host's Windows Server license</a:t>
                      </a:r>
                    </a:p>
                  </a:txBody>
                  <a:tcPr anchor="ctr" marL="76200" marR="76200" marT="38100" marB="38100">
                    <a:solidFill>
                      <a:srgbClr val="E8EEF7"/>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Licensing &amp; Virtualization: Compliance Risks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Risk / Mitigation (same visual language as Attacks &amp; Defenses, applied to a compliance topic)</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Risk</a:t>
                      </a:r>
                    </a:p>
                  </a:txBody>
                  <a:tcPr anchor="ctr" marL="76200" marR="76200" marT="38100" marB="38100">
                    <a:solidFill>
                      <a:srgbClr val="1B2A4A"/>
                    </a:solidFill>
                  </a:tcPr>
                </a:tc>
                <a:tc>
                  <a:txBody>
                    <a:bodyPr/>
                    <a:lstStyle/>
                    <a:p>
                      <a:pPr algn="l"/>
                      <a:r>
                        <a:rPr sz="1250" b="1" i="0">
                          <a:solidFill>
                            <a:srgbClr val="FFFFFF"/>
                          </a:solidFill>
                          <a:latin typeface="Calibri"/>
                        </a:rPr>
                        <a:t>Why It Happens</a:t>
                      </a:r>
                    </a:p>
                  </a:txBody>
                  <a:tcPr anchor="ctr" marL="76200" marR="76200" marT="38100" marB="38100">
                    <a:solidFill>
                      <a:srgbClr val="1B2A4A"/>
                    </a:solidFill>
                  </a:tcPr>
                </a:tc>
                <a:tc>
                  <a:txBody>
                    <a:bodyPr/>
                    <a:lstStyle/>
                    <a:p>
                      <a:pPr algn="l"/>
                      <a:r>
                        <a:rPr sz="1250" b="1" i="0">
                          <a:solidFill>
                            <a:srgbClr val="FFFFFF"/>
                          </a:solidFill>
                          <a:latin typeface="Calibri"/>
                        </a:rPr>
                        <a:t>Mitigation</a:t>
                      </a:r>
                    </a:p>
                  </a:txBody>
                  <a:tcPr anchor="ctr" marL="76200" marR="76200" marT="38100" marB="38100">
                    <a:solidFill>
                      <a:srgbClr val="1B2A4A"/>
                    </a:solidFill>
                  </a:tcPr>
                </a:tc>
              </a:tr>
              <a:tr h="457200">
                <a:tc>
                  <a:txBody>
                    <a:bodyPr/>
                    <a:lstStyle/>
                    <a:p>
                      <a:pPr algn="l"/>
                      <a:r>
                        <a:rPr sz="1200" b="1" i="0">
                          <a:solidFill>
                            <a:srgbClr val="B02A2A"/>
                          </a:solidFill>
                          <a:latin typeface="Calibri"/>
                        </a:rPr>
                        <a:t>Unlicensed VM sprawl</a:t>
                      </a:r>
                    </a:p>
                  </a:txBody>
                  <a:tcPr anchor="ctr" marL="76200" marR="76200" marT="38100" marB="38100">
                    <a:solidFill>
                      <a:srgbClr val="FFFFFF"/>
                    </a:solidFill>
                  </a:tcPr>
                </a:tc>
                <a:tc>
                  <a:txBody>
                    <a:bodyPr/>
                    <a:lstStyle/>
                    <a:p>
                      <a:pPr algn="l"/>
                      <a:r>
                        <a:rPr sz="1200" b="0" i="0">
                          <a:solidFill>
                            <a:srgbClr val="111B30"/>
                          </a:solidFill>
                          <a:latin typeface="Calibri"/>
                        </a:rPr>
                        <a:t>Standard host quietly exceeds its 2-VM guest limit as workloads grow</a:t>
                      </a:r>
                    </a:p>
                  </a:txBody>
                  <a:tcPr anchor="ctr" marL="76200" marR="76200" marT="38100" marB="38100">
                    <a:solidFill>
                      <a:srgbClr val="FFFFFF"/>
                    </a:solidFill>
                  </a:tcPr>
                </a:tc>
                <a:tc>
                  <a:txBody>
                    <a:bodyPr/>
                    <a:lstStyle/>
                    <a:p>
                      <a:pPr algn="l"/>
                      <a:r>
                        <a:rPr sz="1200" b="1" i="0">
                          <a:solidFill>
                            <a:srgbClr val="2E7D32"/>
                          </a:solidFill>
                          <a:latin typeface="Calibri"/>
                        </a:rPr>
                        <a:t>Track VM count per host; alert before exceeding licensed limit</a:t>
                      </a:r>
                    </a:p>
                  </a:txBody>
                  <a:tcPr anchor="ctr" marL="76200" marR="76200" marT="38100" marB="38100">
                    <a:solidFill>
                      <a:srgbClr val="FFFFFF"/>
                    </a:solidFill>
                  </a:tcPr>
                </a:tc>
              </a:tr>
              <a:tr h="457200">
                <a:tc>
                  <a:txBody>
                    <a:bodyPr/>
                    <a:lstStyle/>
                    <a:p>
                      <a:pPr algn="l"/>
                      <a:r>
                        <a:rPr sz="1200" b="1" i="0">
                          <a:solidFill>
                            <a:srgbClr val="B02A2A"/>
                          </a:solidFill>
                          <a:latin typeface="Calibri"/>
                        </a:rPr>
                        <a:t>License audit failure</a:t>
                      </a:r>
                    </a:p>
                  </a:txBody>
                  <a:tcPr anchor="ctr" marL="76200" marR="76200" marT="38100" marB="38100">
                    <a:solidFill>
                      <a:srgbClr val="E8EEF7"/>
                    </a:solidFill>
                  </a:tcPr>
                </a:tc>
                <a:tc>
                  <a:txBody>
                    <a:bodyPr/>
                    <a:lstStyle/>
                    <a:p>
                      <a:pPr algn="l"/>
                      <a:r>
                        <a:rPr sz="1200" b="0" i="0">
                          <a:solidFill>
                            <a:srgbClr val="111B30"/>
                          </a:solidFill>
                          <a:latin typeface="Calibri"/>
                        </a:rPr>
                        <a:t>Microsoft/vendor audit finds under-licensing, resulting in penalty costs</a:t>
                      </a:r>
                    </a:p>
                  </a:txBody>
                  <a:tcPr anchor="ctr" marL="76200" marR="76200" marT="38100" marB="38100">
                    <a:solidFill>
                      <a:srgbClr val="E8EEF7"/>
                    </a:solidFill>
                  </a:tcPr>
                </a:tc>
                <a:tc>
                  <a:txBody>
                    <a:bodyPr/>
                    <a:lstStyle/>
                    <a:p>
                      <a:pPr algn="l"/>
                      <a:r>
                        <a:rPr sz="1200" b="1" i="0">
                          <a:solidFill>
                            <a:srgbClr val="2E7D32"/>
                          </a:solidFill>
                          <a:latin typeface="Calibri"/>
                        </a:rPr>
                        <a:t>Maintain accurate license inventory; reconcile against deployed core counts</a:t>
                      </a:r>
                    </a:p>
                  </a:txBody>
                  <a:tcPr anchor="ctr" marL="76200" marR="76200" marT="38100" marB="38100">
                    <a:solidFill>
                      <a:srgbClr val="E8EEF7"/>
                    </a:solidFill>
                  </a:tcPr>
                </a:tc>
              </a:tr>
              <a:tr h="457200">
                <a:tc>
                  <a:txBody>
                    <a:bodyPr/>
                    <a:lstStyle/>
                    <a:p>
                      <a:pPr algn="l"/>
                      <a:r>
                        <a:rPr sz="1200" b="1" i="0">
                          <a:solidFill>
                            <a:srgbClr val="B02A2A"/>
                          </a:solidFill>
                          <a:latin typeface="Calibri"/>
                        </a:rPr>
                        <a:t>Core-count drift after hardware upgrade</a:t>
                      </a:r>
                    </a:p>
                  </a:txBody>
                  <a:tcPr anchor="ctr" marL="76200" marR="76200" marT="38100" marB="38100">
                    <a:solidFill>
                      <a:srgbClr val="FFFFFF"/>
                    </a:solidFill>
                  </a:tcPr>
                </a:tc>
                <a:tc>
                  <a:txBody>
                    <a:bodyPr/>
                    <a:lstStyle/>
                    <a:p>
                      <a:pPr algn="l"/>
                      <a:r>
                        <a:rPr sz="1200" b="0" i="0">
                          <a:solidFill>
                            <a:srgbClr val="111B30"/>
                          </a:solidFill>
                          <a:latin typeface="Calibri"/>
                        </a:rPr>
                        <a:t>Adding cores/processors to a host silently changes minimum license requirement</a:t>
                      </a:r>
                    </a:p>
                  </a:txBody>
                  <a:tcPr anchor="ctr" marL="76200" marR="76200" marT="38100" marB="38100">
                    <a:solidFill>
                      <a:srgbClr val="FFFFFF"/>
                    </a:solidFill>
                  </a:tcPr>
                </a:tc>
                <a:tc>
                  <a:txBody>
                    <a:bodyPr/>
                    <a:lstStyle/>
                    <a:p>
                      <a:pPr algn="l"/>
                      <a:r>
                        <a:rPr sz="1200" b="1" i="0">
                          <a:solidFill>
                            <a:srgbClr val="2E7D32"/>
                          </a:solidFill>
                          <a:latin typeface="Calibri"/>
                        </a:rPr>
                        <a:t>Re-evaluate licensing whenever hardware changes</a:t>
                      </a:r>
                    </a:p>
                  </a:txBody>
                  <a:tcPr anchor="ctr" marL="76200" marR="76200" marT="38100" marB="38100">
                    <a:solidFill>
                      <a:srgbClr val="FFFFFF"/>
                    </a:solidFill>
                  </a:tcPr>
                </a:tc>
              </a:tr>
              <a:tr h="457200">
                <a:tc>
                  <a:txBody>
                    <a:bodyPr/>
                    <a:lstStyle/>
                    <a:p>
                      <a:pPr algn="l"/>
                      <a:r>
                        <a:rPr sz="1200" b="1" i="0">
                          <a:solidFill>
                            <a:srgbClr val="B02A2A"/>
                          </a:solidFill>
                          <a:latin typeface="Calibri"/>
                        </a:rPr>
                        <a:t>Mismatched CAL type at scale</a:t>
                      </a:r>
                    </a:p>
                  </a:txBody>
                  <a:tcPr anchor="ctr" marL="76200" marR="76200" marT="38100" marB="38100">
                    <a:solidFill>
                      <a:srgbClr val="E8EEF7"/>
                    </a:solidFill>
                  </a:tcPr>
                </a:tc>
                <a:tc>
                  <a:txBody>
                    <a:bodyPr/>
                    <a:lstStyle/>
                    <a:p>
                      <a:pPr algn="l"/>
                      <a:r>
                        <a:rPr sz="1200" b="0" i="0">
                          <a:solidFill>
                            <a:srgbClr val="111B30"/>
                          </a:solidFill>
                          <a:latin typeface="Calibri"/>
                        </a:rPr>
                        <a:t>Wrong CAL model costs more than necessary as headcount/device count grows</a:t>
                      </a:r>
                    </a:p>
                  </a:txBody>
                  <a:tcPr anchor="ctr" marL="76200" marR="76200" marT="38100" marB="38100">
                    <a:solidFill>
                      <a:srgbClr val="E8EEF7"/>
                    </a:solidFill>
                  </a:tcPr>
                </a:tc>
                <a:tc>
                  <a:txBody>
                    <a:bodyPr/>
                    <a:lstStyle/>
                    <a:p>
                      <a:pPr algn="l"/>
                      <a:r>
                        <a:rPr sz="1200" b="1" i="0">
                          <a:solidFill>
                            <a:srgbClr val="2E7D32"/>
                          </a:solidFill>
                          <a:latin typeface="Calibri"/>
                        </a:rPr>
                        <a:t>Periodically re-run the CAL decision math as the org changes</a:t>
                      </a:r>
                    </a:p>
                  </a:txBody>
                  <a:tcPr anchor="ctr" marL="76200" marR="76200" marT="38100" marB="38100">
                    <a:solidFill>
                      <a:srgbClr val="E8EEF7"/>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07</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Centralized AAA: LDAP Queries &amp; RADIUS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Directory Tree Structure</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Same abstraction as AD's OU tree from Section 01 - this is the exact sample tree used in HW 3 Part 4.</a:t>
            </a:r>
          </a:p>
        </p:txBody>
      </p:sp>
      <p:sp>
        <p:nvSpPr>
          <p:cNvPr id="4" name="Rounded Rectangle 3"/>
          <p:cNvSpPr/>
          <p:nvPr/>
        </p:nvSpPr>
        <p:spPr>
          <a:xfrm>
            <a:off x="4709160" y="1874519"/>
            <a:ext cx="2743200" cy="502920"/>
          </a:xfrm>
          <a:prstGeom prst="roundRect">
            <a:avLst/>
          </a:prstGeom>
          <a:solidFill>
            <a:srgbClr val="1B2A4A"/>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FFFFFF"/>
                </a:solidFill>
                <a:latin typeface="Calibri"/>
              </a:rPr>
              <a:t>dc=corp,dc=lab</a:t>
            </a:r>
          </a:p>
        </p:txBody>
      </p:sp>
      <p:sp>
        <p:nvSpPr>
          <p:cNvPr id="5" name="Rounded Rectangle 4"/>
          <p:cNvSpPr/>
          <p:nvPr/>
        </p:nvSpPr>
        <p:spPr>
          <a:xfrm>
            <a:off x="182880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ou=People</a:t>
            </a:r>
          </a:p>
        </p:txBody>
      </p:sp>
      <p:sp>
        <p:nvSpPr>
          <p:cNvPr id="6" name="Rounded Rectangle 5"/>
          <p:cNvSpPr/>
          <p:nvPr/>
        </p:nvSpPr>
        <p:spPr>
          <a:xfrm>
            <a:off x="7406640" y="28346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0" i="0">
                <a:solidFill>
                  <a:srgbClr val="111B30"/>
                </a:solidFill>
                <a:latin typeface="Calibri"/>
              </a:rPr>
              <a:t>ou=Groups</a:t>
            </a:r>
          </a:p>
        </p:txBody>
      </p:sp>
      <p:cxnSp>
        <p:nvCxnSpPr>
          <p:cNvPr id="7" name="Connector 6"/>
          <p:cNvCxnSpPr/>
          <p:nvPr/>
        </p:nvCxnSpPr>
        <p:spPr>
          <a:xfrm flipH="1">
            <a:off x="329184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80760" y="2377439"/>
            <a:ext cx="2788920" cy="457201"/>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79476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uid=jsmith (memberOf=NetworkAdmins, uAC=512)</a:t>
            </a:r>
          </a:p>
        </p:txBody>
      </p:sp>
      <p:sp>
        <p:nvSpPr>
          <p:cNvPr id="10" name="Rounded Rectangle 9"/>
          <p:cNvSpPr/>
          <p:nvPr/>
        </p:nvSpPr>
        <p:spPr>
          <a:xfrm>
            <a:off x="914400" y="443484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uid=bvance (memberOf=HelpDesk, uAC=514)</a:t>
            </a:r>
          </a:p>
        </p:txBody>
      </p:sp>
      <p:sp>
        <p:nvSpPr>
          <p:cNvPr id="11" name="Rounded Rectangle 10"/>
          <p:cNvSpPr/>
          <p:nvPr/>
        </p:nvSpPr>
        <p:spPr>
          <a:xfrm>
            <a:off x="914400" y="5074920"/>
            <a:ext cx="365760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uid=tlowe (memberOf=NetworkAdmins, uAC=66050)</a:t>
            </a:r>
          </a:p>
        </p:txBody>
      </p:sp>
      <p:sp>
        <p:nvSpPr>
          <p:cNvPr id="12" name="Rounded Rectangle 11"/>
          <p:cNvSpPr/>
          <p:nvPr/>
        </p:nvSpPr>
        <p:spPr>
          <a:xfrm>
            <a:off x="7406640" y="379476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cn=NetworkAdmins</a:t>
            </a:r>
          </a:p>
        </p:txBody>
      </p:sp>
      <p:sp>
        <p:nvSpPr>
          <p:cNvPr id="13" name="Rounded Rectangle 12"/>
          <p:cNvSpPr/>
          <p:nvPr/>
        </p:nvSpPr>
        <p:spPr>
          <a:xfrm>
            <a:off x="7406640" y="4434840"/>
            <a:ext cx="2926080" cy="5029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cn=HelpDesk</a:t>
            </a:r>
          </a:p>
        </p:txBody>
      </p:sp>
      <p:cxnSp>
        <p:nvCxnSpPr>
          <p:cNvPr id="14" name="Connector 13"/>
          <p:cNvCxnSpPr/>
          <p:nvPr/>
        </p:nvCxnSpPr>
        <p:spPr>
          <a:xfrm flipH="1">
            <a:off x="2743200" y="3337560"/>
            <a:ext cx="54864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743200" y="3337560"/>
            <a:ext cx="54864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743200" y="3337560"/>
            <a:ext cx="548640" cy="173736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69680" y="3337560"/>
            <a:ext cx="0" cy="45720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69680" y="3337560"/>
            <a:ext cx="0" cy="1097280"/>
          </a:xfrm>
          <a:prstGeom prst="line">
            <a:avLst/>
          </a:prstGeom>
          <a:ln w="1270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72000" y="404622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72000" y="4046220"/>
            <a:ext cx="2834640" cy="128016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572000" y="4686300"/>
            <a:ext cx="2834640" cy="0"/>
          </a:xfrm>
          <a:prstGeom prst="line">
            <a:avLst/>
          </a:prstGeom>
          <a:ln w="1587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5760720"/>
            <a:ext cx="10911535" cy="365760"/>
          </a:xfrm>
          <a:prstGeom prst="rect">
            <a:avLst/>
          </a:prstGeom>
          <a:noFill/>
        </p:spPr>
        <p:txBody>
          <a:bodyPr wrap="square" lIns="0" tIns="0">
            <a:spAutoFit/>
          </a:bodyPr>
          <a:lstStyle/>
          <a:p>
            <a:r>
              <a:rPr sz="1250" b="0" i="1">
                <a:solidFill>
                  <a:srgbClr val="6B7480"/>
                </a:solidFill>
                <a:latin typeface="Calibri"/>
              </a:rPr>
              <a:t>Dashed cyan lines = memberOf cross-references (not tree edges) - previews the AND-filter exercise next.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Filter Syntax Cheat Sheet</a:t>
            </a:r>
          </a:p>
        </p:txBody>
      </p:sp>
      <p:graphicFrame>
        <p:nvGraphicFramePr>
          <p:cNvPr id="3" name="Table 2"/>
          <p:cNvGraphicFramePr>
            <a:graphicFrameLocks noGrp="1"/>
          </p:cNvGraphicFramePr>
          <p:nvPr/>
        </p:nvGraphicFramePr>
        <p:xfrm>
          <a:off x="640080" y="1554480"/>
          <a:ext cx="10820095" cy="2286000"/>
        </p:xfrm>
        <a:graphic>
          <a:graphicData uri="http://schemas.openxmlformats.org/drawingml/2006/table">
            <a:tbl>
              <a:tblPr firstRow="1" bandRow="1">
                <a:tableStyleId>{5C22544A-7EE6-4342-B048-85BDC9FD1C3A}</a:tableStyleId>
              </a:tblPr>
              <a:tblGrid>
                <a:gridCol w="2011680"/>
                <a:gridCol w="3200400"/>
                <a:gridCol w="5608015"/>
              </a:tblGrid>
              <a:tr h="457200">
                <a:tc>
                  <a:txBody>
                    <a:bodyPr/>
                    <a:lstStyle/>
                    <a:p>
                      <a:pPr algn="l"/>
                      <a:r>
                        <a:rPr sz="1250" b="1" i="0">
                          <a:solidFill>
                            <a:srgbClr val="FFFFFF"/>
                          </a:solidFill>
                          <a:latin typeface="Calibri"/>
                        </a:rPr>
                        <a:t>Operator</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c>
                  <a:txBody>
                    <a:bodyPr/>
                    <a:lstStyle/>
                    <a:p>
                      <a:pPr algn="l"/>
                      <a:r>
                        <a:rPr sz="1250" b="1" i="0">
                          <a:solidFill>
                            <a:srgbClr val="FFFFFF"/>
                          </a:solidFill>
                          <a:latin typeface="Calibri"/>
                        </a:rPr>
                        <a:t>Example</a:t>
                      </a:r>
                    </a:p>
                  </a:txBody>
                  <a:tcPr anchor="ctr" marL="76200" marR="76200" marT="38100" marB="38100">
                    <a:solidFill>
                      <a:srgbClr val="1B2A4A"/>
                    </a:solidFill>
                  </a:tcPr>
                </a:tc>
              </a:tr>
              <a:tr h="457200">
                <a:tc>
                  <a:txBody>
                    <a:bodyPr/>
                    <a:lstStyle/>
                    <a:p>
                      <a:pPr algn="l"/>
                      <a:r>
                        <a:rPr sz="1100" b="0" i="0">
                          <a:solidFill>
                            <a:srgbClr val="111B30"/>
                          </a:solidFill>
                          <a:latin typeface="Calibri"/>
                        </a:rPr>
                        <a:t>(&amp;(A)(B))</a:t>
                      </a:r>
                    </a:p>
                  </a:txBody>
                  <a:tcPr anchor="ctr" marL="76200" marR="76200" marT="38100" marB="38100">
                    <a:solidFill>
                      <a:srgbClr val="FFFFFF"/>
                    </a:solidFill>
                  </a:tcPr>
                </a:tc>
                <a:tc>
                  <a:txBody>
                    <a:bodyPr/>
                    <a:lstStyle/>
                    <a:p>
                      <a:pPr algn="l"/>
                      <a:r>
                        <a:rPr sz="1100" b="0" i="0">
                          <a:solidFill>
                            <a:srgbClr val="111B30"/>
                          </a:solidFill>
                          <a:latin typeface="Calibri"/>
                        </a:rPr>
                        <a:t>AND - both conditions must match</a:t>
                      </a:r>
                    </a:p>
                  </a:txBody>
                  <a:tcPr anchor="ctr" marL="76200" marR="76200" marT="38100" marB="38100">
                    <a:solidFill>
                      <a:srgbClr val="FFFFFF"/>
                    </a:solidFill>
                  </a:tcPr>
                </a:tc>
                <a:tc>
                  <a:txBody>
                    <a:bodyPr/>
                    <a:lstStyle/>
                    <a:p>
                      <a:pPr algn="l"/>
                      <a:r>
                        <a:rPr sz="1100" b="0" i="0">
                          <a:solidFill>
                            <a:srgbClr val="111B30"/>
                          </a:solidFill>
                          <a:latin typeface="Calibri"/>
                        </a:rPr>
                        <a:t>(&amp;(objectClass=person)(memberOf=cn=NetworkAdmins,ou=Groups,dc=corp,dc=lab))</a:t>
                      </a:r>
                    </a:p>
                  </a:txBody>
                  <a:tcPr anchor="ctr" marL="76200" marR="76200" marT="38100" marB="38100">
                    <a:solidFill>
                      <a:srgbClr val="FFFFFF"/>
                    </a:solidFill>
                  </a:tcPr>
                </a:tc>
              </a:tr>
              <a:tr h="457200">
                <a:tc>
                  <a:txBody>
                    <a:bodyPr/>
                    <a:lstStyle/>
                    <a:p>
                      <a:pPr algn="l"/>
                      <a:r>
                        <a:rPr sz="1100" b="0" i="0">
                          <a:solidFill>
                            <a:srgbClr val="111B30"/>
                          </a:solidFill>
                          <a:latin typeface="Calibri"/>
                        </a:rPr>
                        <a:t>(|(A)(B))</a:t>
                      </a:r>
                    </a:p>
                  </a:txBody>
                  <a:tcPr anchor="ctr" marL="76200" marR="76200" marT="38100" marB="38100">
                    <a:solidFill>
                      <a:srgbClr val="E8EEF7"/>
                    </a:solidFill>
                  </a:tcPr>
                </a:tc>
                <a:tc>
                  <a:txBody>
                    <a:bodyPr/>
                    <a:lstStyle/>
                    <a:p>
                      <a:pPr algn="l"/>
                      <a:r>
                        <a:rPr sz="1100" b="0" i="0">
                          <a:solidFill>
                            <a:srgbClr val="111B30"/>
                          </a:solidFill>
                          <a:latin typeface="Calibri"/>
                        </a:rPr>
                        <a:t>OR - either condition matches</a:t>
                      </a:r>
                    </a:p>
                  </a:txBody>
                  <a:tcPr anchor="ctr" marL="76200" marR="76200" marT="38100" marB="38100">
                    <a:solidFill>
                      <a:srgbClr val="E8EEF7"/>
                    </a:solidFill>
                  </a:tcPr>
                </a:tc>
                <a:tc>
                  <a:txBody>
                    <a:bodyPr/>
                    <a:lstStyle/>
                    <a:p>
                      <a:pPr algn="l"/>
                      <a:r>
                        <a:rPr sz="1100" b="0" i="0">
                          <a:solidFill>
                            <a:srgbClr val="111B30"/>
                          </a:solidFill>
                          <a:latin typeface="Calibri"/>
                        </a:rPr>
                        <a:t>(|(uid=jsmith)(uid=tlowe))</a:t>
                      </a:r>
                    </a:p>
                  </a:txBody>
                  <a:tcPr anchor="ctr" marL="76200" marR="76200" marT="38100" marB="38100">
                    <a:solidFill>
                      <a:srgbClr val="E8EEF7"/>
                    </a:solidFill>
                  </a:tcPr>
                </a:tc>
              </a:tr>
              <a:tr h="457200">
                <a:tc>
                  <a:txBody>
                    <a:bodyPr/>
                    <a:lstStyle/>
                    <a:p>
                      <a:pPr algn="l"/>
                      <a:r>
                        <a:rPr sz="1100" b="0" i="0">
                          <a:solidFill>
                            <a:srgbClr val="111B30"/>
                          </a:solidFill>
                          <a:latin typeface="Calibri"/>
                        </a:rPr>
                        <a:t>(!(A))</a:t>
                      </a:r>
                    </a:p>
                  </a:txBody>
                  <a:tcPr anchor="ctr" marL="76200" marR="76200" marT="38100" marB="38100">
                    <a:solidFill>
                      <a:srgbClr val="FFFFFF"/>
                    </a:solidFill>
                  </a:tcPr>
                </a:tc>
                <a:tc>
                  <a:txBody>
                    <a:bodyPr/>
                    <a:lstStyle/>
                    <a:p>
                      <a:pPr algn="l"/>
                      <a:r>
                        <a:rPr sz="1100" b="0" i="0">
                          <a:solidFill>
                            <a:srgbClr val="111B30"/>
                          </a:solidFill>
                          <a:latin typeface="Calibri"/>
                        </a:rPr>
                        <a:t>NOT - negation</a:t>
                      </a:r>
                    </a:p>
                  </a:txBody>
                  <a:tcPr anchor="ctr" marL="76200" marR="76200" marT="38100" marB="38100">
                    <a:solidFill>
                      <a:srgbClr val="FFFFFF"/>
                    </a:solidFill>
                  </a:tcPr>
                </a:tc>
                <a:tc>
                  <a:txBody>
                    <a:bodyPr/>
                    <a:lstStyle/>
                    <a:p>
                      <a:pPr algn="l"/>
                      <a:r>
                        <a:rPr sz="1100" b="0" i="0">
                          <a:solidFill>
                            <a:srgbClr val="111B30"/>
                          </a:solidFill>
                          <a:latin typeface="Calibri"/>
                        </a:rPr>
                        <a:t>(!(userAccountControl=512))</a:t>
                      </a:r>
                    </a:p>
                  </a:txBody>
                  <a:tcPr anchor="ctr" marL="76200" marR="76200" marT="38100" marB="38100">
                    <a:solidFill>
                      <a:srgbClr val="FFFFFF"/>
                    </a:solidFill>
                  </a:tcPr>
                </a:tc>
              </a:tr>
              <a:tr h="457200">
                <a:tc>
                  <a:txBody>
                    <a:bodyPr/>
                    <a:lstStyle/>
                    <a:p>
                      <a:pPr algn="l"/>
                      <a:r>
                        <a:rPr sz="1100" b="0" i="0">
                          <a:solidFill>
                            <a:srgbClr val="111B30"/>
                          </a:solidFill>
                          <a:latin typeface="Calibri"/>
                        </a:rPr>
                        <a:t>attr:OID:=value</a:t>
                      </a:r>
                    </a:p>
                  </a:txBody>
                  <a:tcPr anchor="ctr" marL="76200" marR="76200" marT="38100" marB="38100">
                    <a:solidFill>
                      <a:srgbClr val="E8EEF7"/>
                    </a:solidFill>
                  </a:tcPr>
                </a:tc>
                <a:tc>
                  <a:txBody>
                    <a:bodyPr/>
                    <a:lstStyle/>
                    <a:p>
                      <a:pPr algn="l"/>
                      <a:r>
                        <a:rPr sz="1100" b="0" i="0">
                          <a:solidFill>
                            <a:srgbClr val="111B30"/>
                          </a:solidFill>
                          <a:latin typeface="Calibri"/>
                        </a:rPr>
                        <a:t>Bitwise matching rule (flag attributes)</a:t>
                      </a:r>
                    </a:p>
                  </a:txBody>
                  <a:tcPr anchor="ctr" marL="76200" marR="76200" marT="38100" marB="38100">
                    <a:solidFill>
                      <a:srgbClr val="E8EEF7"/>
                    </a:solidFill>
                  </a:tcPr>
                </a:tc>
                <a:tc>
                  <a:txBody>
                    <a:bodyPr/>
                    <a:lstStyle/>
                    <a:p>
                      <a:pPr algn="l"/>
                      <a:r>
                        <a:rPr sz="1100" b="0" i="0">
                          <a:solidFill>
                            <a:srgbClr val="111B30"/>
                          </a:solidFill>
                          <a:latin typeface="Calibri"/>
                        </a:rPr>
                        <a:t>(userAccountControl:1.2.840.113556.1.4.803:=2) - bit 2 set (disabled)</a:t>
                      </a:r>
                    </a:p>
                  </a:txBody>
                  <a:tcPr anchor="ctr" marL="76200" marR="76200" marT="38100" marB="38100">
                    <a:solidFill>
                      <a:srgbClr val="E8EEF7"/>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userAccountControl: Reading the Bitwise Flags</a:t>
            </a:r>
          </a:p>
        </p:txBody>
      </p:sp>
      <p:graphicFrame>
        <p:nvGraphicFramePr>
          <p:cNvPr id="3" name="Table 2"/>
          <p:cNvGraphicFramePr>
            <a:graphicFrameLocks noGrp="1"/>
          </p:cNvGraphicFramePr>
          <p:nvPr/>
        </p:nvGraphicFramePr>
        <p:xfrm>
          <a:off x="640080" y="1554480"/>
          <a:ext cx="10362895" cy="2286000"/>
        </p:xfrm>
        <a:graphic>
          <a:graphicData uri="http://schemas.openxmlformats.org/drawingml/2006/table">
            <a:tbl>
              <a:tblPr firstRow="1" bandRow="1">
                <a:tableStyleId>{5C22544A-7EE6-4342-B048-85BDC9FD1C3A}</a:tableStyleId>
              </a:tblPr>
              <a:tblGrid>
                <a:gridCol w="2743200"/>
                <a:gridCol w="7619695"/>
              </a:tblGrid>
              <a:tr h="457200">
                <a:tc>
                  <a:txBody>
                    <a:bodyPr/>
                    <a:lstStyle/>
                    <a:p>
                      <a:pPr algn="l"/>
                      <a:r>
                        <a:rPr sz="1250" b="1" i="0">
                          <a:solidFill>
                            <a:srgbClr val="FFFFFF"/>
                          </a:solidFill>
                          <a:latin typeface="Calibri"/>
                        </a:rPr>
                        <a:t>Value</a:t>
                      </a:r>
                    </a:p>
                  </a:txBody>
                  <a:tcPr anchor="ctr" marL="76200" marR="76200" marT="38100" marB="38100">
                    <a:solidFill>
                      <a:srgbClr val="1B2A4A"/>
                    </a:solidFill>
                  </a:tcPr>
                </a:tc>
                <a:tc>
                  <a:txBody>
                    <a:bodyPr/>
                    <a:lstStyle/>
                    <a:p>
                      <a:pPr algn="l"/>
                      <a:r>
                        <a:rPr sz="1250" b="1" i="0">
                          <a:solidFill>
                            <a:srgbClr val="FFFFFF"/>
                          </a:solidFill>
                          <a:latin typeface="Calibri"/>
                        </a:rPr>
                        <a:t>Meaning</a:t>
                      </a:r>
                    </a:p>
                  </a:txBody>
                  <a:tcPr anchor="ctr" marL="76200" marR="76200" marT="38100" marB="38100">
                    <a:solidFill>
                      <a:srgbClr val="1B2A4A"/>
                    </a:solidFill>
                  </a:tcPr>
                </a:tc>
              </a:tr>
              <a:tr h="457200">
                <a:tc>
                  <a:txBody>
                    <a:bodyPr/>
                    <a:lstStyle/>
                    <a:p>
                      <a:pPr algn="l"/>
                      <a:r>
                        <a:rPr sz="1350" b="0" i="0">
                          <a:solidFill>
                            <a:srgbClr val="111B30"/>
                          </a:solidFill>
                          <a:latin typeface="Calibri"/>
                        </a:rPr>
                        <a:t>512</a:t>
                      </a:r>
                    </a:p>
                  </a:txBody>
                  <a:tcPr anchor="ctr" marL="76200" marR="76200" marT="38100" marB="38100">
                    <a:solidFill>
                      <a:srgbClr val="FFFFFF"/>
                    </a:solidFill>
                  </a:tcPr>
                </a:tc>
                <a:tc>
                  <a:txBody>
                    <a:bodyPr/>
                    <a:lstStyle/>
                    <a:p>
                      <a:pPr algn="l"/>
                      <a:r>
                        <a:rPr sz="1350" b="0" i="0">
                          <a:solidFill>
                            <a:srgbClr val="111B30"/>
                          </a:solidFill>
                          <a:latin typeface="Calibri"/>
                        </a:rPr>
                        <a:t>Normal enabled account</a:t>
                      </a:r>
                    </a:p>
                  </a:txBody>
                  <a:tcPr anchor="ctr" marL="76200" marR="76200" marT="38100" marB="38100">
                    <a:solidFill>
                      <a:srgbClr val="FFFFFF"/>
                    </a:solidFill>
                  </a:tcPr>
                </a:tc>
              </a:tr>
              <a:tr h="457200">
                <a:tc>
                  <a:txBody>
                    <a:bodyPr/>
                    <a:lstStyle/>
                    <a:p>
                      <a:pPr algn="l"/>
                      <a:r>
                        <a:rPr sz="1350" b="0" i="0">
                          <a:solidFill>
                            <a:srgbClr val="111B30"/>
                          </a:solidFill>
                          <a:latin typeface="Calibri"/>
                        </a:rPr>
                        <a:t>514</a:t>
                      </a:r>
                    </a:p>
                  </a:txBody>
                  <a:tcPr anchor="ctr" marL="76200" marR="76200" marT="38100" marB="38100">
                    <a:solidFill>
                      <a:srgbClr val="E8EEF7"/>
                    </a:solidFill>
                  </a:tcPr>
                </a:tc>
                <a:tc>
                  <a:txBody>
                    <a:bodyPr/>
                    <a:lstStyle/>
                    <a:p>
                      <a:pPr algn="l"/>
                      <a:r>
                        <a:rPr sz="1350" b="0" i="0">
                          <a:solidFill>
                            <a:srgbClr val="111B30"/>
                          </a:solidFill>
                          <a:latin typeface="Calibri"/>
                        </a:rPr>
                        <a:t>Disabled account (512 + disabled bit 2)</a:t>
                      </a:r>
                    </a:p>
                  </a:txBody>
                  <a:tcPr anchor="ctr" marL="76200" marR="76200" marT="38100" marB="38100">
                    <a:solidFill>
                      <a:srgbClr val="E8EEF7"/>
                    </a:solidFill>
                  </a:tcPr>
                </a:tc>
              </a:tr>
              <a:tr h="457200">
                <a:tc>
                  <a:txBody>
                    <a:bodyPr/>
                    <a:lstStyle/>
                    <a:p>
                      <a:pPr algn="l"/>
                      <a:r>
                        <a:rPr sz="1350" b="0" i="0">
                          <a:solidFill>
                            <a:srgbClr val="111B30"/>
                          </a:solidFill>
                          <a:latin typeface="Calibri"/>
                        </a:rPr>
                        <a:t>66050</a:t>
                      </a:r>
                    </a:p>
                  </a:txBody>
                  <a:tcPr anchor="ctr" marL="76200" marR="76200" marT="38100" marB="38100">
                    <a:solidFill>
                      <a:srgbClr val="FFFFFF"/>
                    </a:solidFill>
                  </a:tcPr>
                </a:tc>
                <a:tc>
                  <a:txBody>
                    <a:bodyPr/>
                    <a:lstStyle/>
                    <a:p>
                      <a:pPr algn="l"/>
                      <a:r>
                        <a:rPr sz="1350" b="0" i="0">
                          <a:solidFill>
                            <a:srgbClr val="111B30"/>
                          </a:solidFill>
                          <a:latin typeface="Calibri"/>
                        </a:rPr>
                        <a:t>Disabled + password never expires (514 + 65536)</a:t>
                      </a:r>
                    </a:p>
                  </a:txBody>
                  <a:tcPr anchor="ctr" marL="76200" marR="76200" marT="38100" marB="38100">
                    <a:solidFill>
                      <a:srgbClr val="FFFFFF"/>
                    </a:solidFill>
                  </a:tcPr>
                </a:tc>
              </a:tr>
              <a:tr h="457200">
                <a:tc>
                  <a:txBody>
                    <a:bodyPr/>
                    <a:lstStyle/>
                    <a:p>
                      <a:pPr algn="l"/>
                      <a:r>
                        <a:rPr sz="1350" b="0" i="0">
                          <a:solidFill>
                            <a:srgbClr val="111B30"/>
                          </a:solidFill>
                          <a:latin typeface="Calibri"/>
                        </a:rPr>
                        <a:t>Bit 2 (0x2)</a:t>
                      </a:r>
                    </a:p>
                  </a:txBody>
                  <a:tcPr anchor="ctr" marL="76200" marR="76200" marT="38100" marB="38100">
                    <a:solidFill>
                      <a:srgbClr val="E8EEF7"/>
                    </a:solidFill>
                  </a:tcPr>
                </a:tc>
                <a:tc>
                  <a:txBody>
                    <a:bodyPr/>
                    <a:lstStyle/>
                    <a:p>
                      <a:pPr algn="l"/>
                      <a:r>
                        <a:rPr sz="1350" b="0" i="0">
                          <a:solidFill>
                            <a:srgbClr val="111B30"/>
                          </a:solidFill>
                          <a:latin typeface="Calibri"/>
                        </a:rPr>
                        <a:t>The “disabled” flag specifically - this is what the matching-rule OID filter targets</a:t>
                      </a:r>
                    </a:p>
                  </a:txBody>
                  <a:tcPr anchor="ctr" marL="76200" marR="76200" marT="38100" marB="38100">
                    <a:solidFill>
                      <a:srgbClr val="E8EEF7"/>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RADIUS AAA 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Centralizing network device logins - routers/switches/VPN concentrators face the same credential-sprawl problem as workstations.</a:t>
            </a:r>
          </a:p>
        </p:txBody>
      </p:sp>
      <p:sp>
        <p:nvSpPr>
          <p:cNvPr id="4" name="Rounded Rectangle 3"/>
          <p:cNvSpPr/>
          <p:nvPr/>
        </p:nvSpPr>
        <p:spPr>
          <a:xfrm>
            <a:off x="914400" y="3291840"/>
            <a:ext cx="210312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Admin /</a:t>
            </a:r>
          </a:p>
          <a:p>
            <a:pPr algn="ctr"/>
            <a:r>
              <a:rPr sz="1000" b="0" i="0">
                <a:solidFill>
                  <a:srgbClr val="111B30"/>
                </a:solidFill>
                <a:latin typeface="Calibri"/>
              </a:rPr>
              <a:t>Supplicant</a:t>
            </a:r>
          </a:p>
        </p:txBody>
      </p:sp>
      <p:sp>
        <p:nvSpPr>
          <p:cNvPr id="5" name="Rounded Rectangle 4"/>
          <p:cNvSpPr/>
          <p:nvPr/>
        </p:nvSpPr>
        <p:spPr>
          <a:xfrm>
            <a:off x="3657600" y="3291840"/>
            <a:ext cx="228600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0" i="0">
                <a:solidFill>
                  <a:srgbClr val="111B30"/>
                </a:solidFill>
                <a:latin typeface="Calibri"/>
              </a:rPr>
              <a:t>Network Device</a:t>
            </a:r>
          </a:p>
          <a:p>
            <a:pPr algn="ctr"/>
            <a:r>
              <a:rPr sz="1000" b="0" i="0">
                <a:solidFill>
                  <a:srgbClr val="111B30"/>
                </a:solidFill>
                <a:latin typeface="Calibri"/>
              </a:rPr>
              <a:t>(NAS)</a:t>
            </a:r>
          </a:p>
        </p:txBody>
      </p:sp>
      <p:sp>
        <p:nvSpPr>
          <p:cNvPr id="6" name="Rounded Rectangle 5"/>
          <p:cNvSpPr/>
          <p:nvPr/>
        </p:nvSpPr>
        <p:spPr>
          <a:xfrm>
            <a:off x="6537960" y="3291840"/>
            <a:ext cx="219456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50" b="1" i="0">
                <a:solidFill>
                  <a:srgbClr val="111B30"/>
                </a:solidFill>
                <a:latin typeface="Calibri"/>
              </a:rPr>
              <a:t>RADIUS Server</a:t>
            </a:r>
          </a:p>
        </p:txBody>
      </p:sp>
      <p:sp>
        <p:nvSpPr>
          <p:cNvPr id="7" name="Rounded Rectangle 6"/>
          <p:cNvSpPr/>
          <p:nvPr/>
        </p:nvSpPr>
        <p:spPr>
          <a:xfrm>
            <a:off x="9281160" y="3291840"/>
            <a:ext cx="2011680" cy="73152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950" b="0" i="0">
                <a:solidFill>
                  <a:srgbClr val="111B30"/>
                </a:solidFill>
                <a:latin typeface="Calibri"/>
              </a:rPr>
              <a:t>Identity Store</a:t>
            </a:r>
          </a:p>
          <a:p>
            <a:pPr algn="ctr"/>
            <a:r>
              <a:rPr sz="950" b="0" i="0">
                <a:solidFill>
                  <a:srgbClr val="111B30"/>
                </a:solidFill>
                <a:latin typeface="Calibri"/>
              </a:rPr>
              <a:t>(AD/LDAP)</a:t>
            </a:r>
          </a:p>
        </p:txBody>
      </p:sp>
      <p:cxnSp>
        <p:nvCxnSpPr>
          <p:cNvPr id="8" name="Connector 7"/>
          <p:cNvCxnSpPr/>
          <p:nvPr/>
        </p:nvCxnSpPr>
        <p:spPr>
          <a:xfrm>
            <a:off x="3017520" y="3657600"/>
            <a:ext cx="64008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468880" y="3511296"/>
            <a:ext cx="1737360" cy="292608"/>
          </a:xfrm>
          <a:prstGeom prst="rect">
            <a:avLst/>
          </a:prstGeom>
          <a:noFill/>
        </p:spPr>
        <p:txBody>
          <a:bodyPr wrap="square" lIns="0" tIns="0">
            <a:spAutoFit/>
          </a:bodyPr>
          <a:lstStyle/>
          <a:p>
            <a:pPr algn="ctr"/>
            <a:r>
              <a:rPr sz="900" b="0" i="1">
                <a:solidFill>
                  <a:srgbClr val="404040"/>
                </a:solidFill>
                <a:latin typeface="Calibri"/>
              </a:rPr>
              <a:t>credentials</a:t>
            </a:r>
          </a:p>
        </p:txBody>
      </p:sp>
      <p:cxnSp>
        <p:nvCxnSpPr>
          <p:cNvPr id="10" name="Connector 9"/>
          <p:cNvCxnSpPr/>
          <p:nvPr/>
        </p:nvCxnSpPr>
        <p:spPr>
          <a:xfrm>
            <a:off x="5943600" y="3657600"/>
            <a:ext cx="59436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372100" y="3511296"/>
            <a:ext cx="1737360" cy="292608"/>
          </a:xfrm>
          <a:prstGeom prst="rect">
            <a:avLst/>
          </a:prstGeom>
          <a:noFill/>
        </p:spPr>
        <p:txBody>
          <a:bodyPr wrap="square" lIns="0" tIns="0">
            <a:spAutoFit/>
          </a:bodyPr>
          <a:lstStyle/>
          <a:p>
            <a:pPr algn="ctr"/>
            <a:r>
              <a:rPr sz="900" b="0" i="1">
                <a:solidFill>
                  <a:srgbClr val="404040"/>
                </a:solidFill>
                <a:latin typeface="Calibri"/>
              </a:rPr>
              <a:t>Access-Request</a:t>
            </a:r>
          </a:p>
        </p:txBody>
      </p:sp>
      <p:cxnSp>
        <p:nvCxnSpPr>
          <p:cNvPr id="12" name="Connector 11"/>
          <p:cNvCxnSpPr/>
          <p:nvPr/>
        </p:nvCxnSpPr>
        <p:spPr>
          <a:xfrm>
            <a:off x="8732520" y="3657600"/>
            <a:ext cx="548640"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38160" y="3511296"/>
            <a:ext cx="1737360" cy="292608"/>
          </a:xfrm>
          <a:prstGeom prst="rect">
            <a:avLst/>
          </a:prstGeom>
          <a:noFill/>
        </p:spPr>
        <p:txBody>
          <a:bodyPr wrap="square" lIns="0" tIns="0">
            <a:spAutoFit/>
          </a:bodyPr>
          <a:lstStyle/>
          <a:p>
            <a:pPr algn="ctr"/>
            <a:r>
              <a:rPr sz="900" b="0" i="1">
                <a:solidFill>
                  <a:srgbClr val="404040"/>
                </a:solidFill>
                <a:latin typeface="Calibri"/>
              </a:rPr>
              <a:t>queries</a:t>
            </a:r>
          </a:p>
        </p:txBody>
      </p:sp>
      <p:cxnSp>
        <p:nvCxnSpPr>
          <p:cNvPr id="14" name="Connector 13"/>
          <p:cNvCxnSpPr/>
          <p:nvPr/>
        </p:nvCxnSpPr>
        <p:spPr>
          <a:xfrm flipH="1">
            <a:off x="7635240" y="4023360"/>
            <a:ext cx="265176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092440" y="3877056"/>
            <a:ext cx="1737360" cy="292608"/>
          </a:xfrm>
          <a:prstGeom prst="rect">
            <a:avLst/>
          </a:prstGeom>
          <a:noFill/>
        </p:spPr>
        <p:txBody>
          <a:bodyPr wrap="square" lIns="0" tIns="0">
            <a:spAutoFit/>
          </a:bodyPr>
          <a:lstStyle/>
          <a:p>
            <a:pPr algn="ctr"/>
            <a:r>
              <a:rPr sz="900" b="0" i="1">
                <a:solidFill>
                  <a:srgbClr val="404040"/>
                </a:solidFill>
                <a:latin typeface="Calibri"/>
              </a:rPr>
              <a:t>auth result</a:t>
            </a:r>
          </a:p>
        </p:txBody>
      </p:sp>
      <p:cxnSp>
        <p:nvCxnSpPr>
          <p:cNvPr id="16" name="Connector 15"/>
          <p:cNvCxnSpPr/>
          <p:nvPr/>
        </p:nvCxnSpPr>
        <p:spPr>
          <a:xfrm flipH="1">
            <a:off x="480060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49240" y="3877056"/>
            <a:ext cx="1737360" cy="292608"/>
          </a:xfrm>
          <a:prstGeom prst="rect">
            <a:avLst/>
          </a:prstGeom>
          <a:noFill/>
        </p:spPr>
        <p:txBody>
          <a:bodyPr wrap="square" lIns="0" tIns="0">
            <a:spAutoFit/>
          </a:bodyPr>
          <a:lstStyle/>
          <a:p>
            <a:pPr algn="ctr"/>
            <a:r>
              <a:rPr sz="900" b="0" i="1">
                <a:solidFill>
                  <a:srgbClr val="404040"/>
                </a:solidFill>
                <a:latin typeface="Calibri"/>
              </a:rPr>
              <a:t>Access-Accept/Reject</a:t>
            </a:r>
          </a:p>
        </p:txBody>
      </p:sp>
      <p:cxnSp>
        <p:nvCxnSpPr>
          <p:cNvPr id="18" name="Connector 17"/>
          <p:cNvCxnSpPr/>
          <p:nvPr/>
        </p:nvCxnSpPr>
        <p:spPr>
          <a:xfrm flipH="1">
            <a:off x="1965960" y="4023360"/>
            <a:ext cx="2834640" cy="0"/>
          </a:xfrm>
          <a:prstGeom prst="line">
            <a:avLst/>
          </a:prstGeom>
          <a:ln w="19050">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14600" y="3877056"/>
            <a:ext cx="1737360" cy="292608"/>
          </a:xfrm>
          <a:prstGeom prst="rect">
            <a:avLst/>
          </a:prstGeom>
          <a:noFill/>
        </p:spPr>
        <p:txBody>
          <a:bodyPr wrap="square" lIns="0" tIns="0">
            <a:spAutoFit/>
          </a:bodyPr>
          <a:lstStyle/>
          <a:p>
            <a:pPr algn="ctr"/>
            <a:r>
              <a:rPr sz="900" b="0" i="1">
                <a:solidFill>
                  <a:srgbClr val="404040"/>
                </a:solidFill>
                <a:latin typeface="Calibri"/>
              </a:rPr>
              <a:t>access granted/denied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Minimal FreeRADIUS Deployment: Test-First Approach</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Lab 3 Part 8: FreeRADIUS installed on a separate Ubuntu VM (lab03-radius01), never on the domain controller itself</a:t>
            </a:r>
          </a:p>
          <a:p>
            <a:pPr algn="l">
              <a:spcAft>
                <a:spcPts val="1200"/>
              </a:spcAft>
            </a:pPr>
            <a:r>
              <a:rPr sz="1600" b="0" i="0">
                <a:solidFill>
                  <a:srgbClr val="111B30"/>
                </a:solidFill>
                <a:latin typeface="Calibri"/>
              </a:rPr>
              <a:t>●   Step 1 - sanity check with a local flat-file user before touching AD integration: add a test user to /etc/freeradius/3.0/users</a:t>
            </a:r>
          </a:p>
          <a:p>
            <a:pPr algn="l">
              <a:spcAft>
                <a:spcPts val="1200"/>
              </a:spcAft>
            </a:pPr>
            <a:r>
              <a:rPr sz="1600" b="0" i="0">
                <a:solidFill>
                  <a:srgbClr val="111B30"/>
                </a:solidFill>
                <a:latin typeface="Calibri"/>
              </a:rPr>
              <a:t>●   Step 2 - run freeradius -X (foreground debug mode) in one terminal to watch requests live</a:t>
            </a:r>
          </a:p>
          <a:p>
            <a:pPr algn="l">
              <a:spcAft>
                <a:spcPts val="1200"/>
              </a:spcAft>
            </a:pPr>
            <a:r>
              <a:rPr sz="1600" b="0" i="0">
                <a:solidFill>
                  <a:srgbClr val="111B30"/>
                </a:solidFill>
                <a:latin typeface="Calibri"/>
              </a:rPr>
              <a:t>●   Step 3 - from a second terminal, radtest testuser testpass123 localhost 0 testing123 sends a real Access-Request</a:t>
            </a:r>
          </a:p>
          <a:p>
            <a:pPr algn="l">
              <a:spcAft>
                <a:spcPts val="1200"/>
              </a:spcAft>
            </a:pPr>
            <a:r>
              <a:rPr sz="1600" b="0" i="0">
                <a:solidFill>
                  <a:srgbClr val="111B30"/>
                </a:solidFill>
                <a:latin typeface="Calibri"/>
              </a:rPr>
              <a:t>●   Success = debug output shows the Access-Request arriving and an Access-Accept going back out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LDAP &amp; RADIUS</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Attacks &amp; Defenses</a:t>
            </a:r>
          </a:p>
        </p:txBody>
      </p:sp>
      <p:graphicFrame>
        <p:nvGraphicFramePr>
          <p:cNvPr id="4" name="Table 3"/>
          <p:cNvGraphicFramePr>
            <a:graphicFrameLocks noGrp="1"/>
          </p:cNvGraphicFramePr>
          <p:nvPr/>
        </p:nvGraphicFramePr>
        <p:xfrm>
          <a:off x="640080" y="1828800"/>
          <a:ext cx="10911535" cy="2286000"/>
        </p:xfrm>
        <a:graphic>
          <a:graphicData uri="http://schemas.openxmlformats.org/drawingml/2006/table">
            <a:tbl>
              <a:tblPr firstRow="1" bandRow="1">
                <a:tableStyleId>{5C22544A-7EE6-4342-B048-85BDC9FD1C3A}</a:tableStyleId>
              </a:tblPr>
              <a:tblGrid>
                <a:gridCol w="3200400"/>
                <a:gridCol w="4572000"/>
                <a:gridCol w="3139135"/>
              </a:tblGrid>
              <a:tr h="457200">
                <a:tc>
                  <a:txBody>
                    <a:bodyPr/>
                    <a:lstStyle/>
                    <a:p>
                      <a:pPr algn="l"/>
                      <a:r>
                        <a:rPr sz="1250" b="1" i="0">
                          <a:solidFill>
                            <a:srgbClr val="FFFFFF"/>
                          </a:solidFill>
                          <a:latin typeface="Calibri"/>
                        </a:rPr>
                        <a:t>Attack</a:t>
                      </a:r>
                    </a:p>
                  </a:txBody>
                  <a:tcPr anchor="ctr" marL="76200" marR="76200" marT="38100" marB="38100">
                    <a:solidFill>
                      <a:srgbClr val="1B2A4A"/>
                    </a:solidFill>
                  </a:tcPr>
                </a:tc>
                <a:tc>
                  <a:txBody>
                    <a:bodyPr/>
                    <a:lstStyle/>
                    <a:p>
                      <a:pPr algn="l"/>
                      <a:r>
                        <a:rPr sz="1250" b="1" i="0">
                          <a:solidFill>
                            <a:srgbClr val="FFFFFF"/>
                          </a:solidFill>
                          <a:latin typeface="Calibri"/>
                        </a:rPr>
                        <a:t>How It Works</a:t>
                      </a:r>
                    </a:p>
                  </a:txBody>
                  <a:tcPr anchor="ctr" marL="76200" marR="76200" marT="38100" marB="38100">
                    <a:solidFill>
                      <a:srgbClr val="1B2A4A"/>
                    </a:solidFill>
                  </a:tcPr>
                </a:tc>
                <a:tc>
                  <a:txBody>
                    <a:bodyPr/>
                    <a:lstStyle/>
                    <a:p>
                      <a:pPr algn="l"/>
                      <a:r>
                        <a:rPr sz="1250" b="1" i="0">
                          <a:solidFill>
                            <a:srgbClr val="FFFFFF"/>
                          </a:solidFill>
                          <a:latin typeface="Calibri"/>
                        </a:rPr>
                        <a:t>Defense</a:t>
                      </a:r>
                    </a:p>
                  </a:txBody>
                  <a:tcPr anchor="ctr" marL="76200" marR="76200" marT="38100" marB="38100">
                    <a:solidFill>
                      <a:srgbClr val="1B2A4A"/>
                    </a:solidFill>
                  </a:tcPr>
                </a:tc>
              </a:tr>
              <a:tr h="457200">
                <a:tc>
                  <a:txBody>
                    <a:bodyPr/>
                    <a:lstStyle/>
                    <a:p>
                      <a:pPr algn="l"/>
                      <a:r>
                        <a:rPr sz="1200" b="1" i="0">
                          <a:solidFill>
                            <a:srgbClr val="B02A2A"/>
                          </a:solidFill>
                          <a:latin typeface="Calibri"/>
                        </a:rPr>
                        <a:t>LDAP anonymous bind</a:t>
                      </a:r>
                    </a:p>
                  </a:txBody>
                  <a:tcPr anchor="ctr" marL="76200" marR="76200" marT="38100" marB="38100">
                    <a:solidFill>
                      <a:srgbClr val="FFFFFF"/>
                    </a:solidFill>
                  </a:tcPr>
                </a:tc>
                <a:tc>
                  <a:txBody>
                    <a:bodyPr/>
                    <a:lstStyle/>
                    <a:p>
                      <a:pPr algn="l"/>
                      <a:r>
                        <a:rPr sz="1200" b="0" i="0">
                          <a:solidFill>
                            <a:srgbClr val="111B30"/>
                          </a:solidFill>
                          <a:latin typeface="Calibri"/>
                        </a:rPr>
                        <a:t>Unauthenticated queries reveal directory structure/user data</a:t>
                      </a:r>
                    </a:p>
                  </a:txBody>
                  <a:tcPr anchor="ctr" marL="76200" marR="76200" marT="38100" marB="38100">
                    <a:solidFill>
                      <a:srgbClr val="FFFFFF"/>
                    </a:solidFill>
                  </a:tcPr>
                </a:tc>
                <a:tc>
                  <a:txBody>
                    <a:bodyPr/>
                    <a:lstStyle/>
                    <a:p>
                      <a:pPr algn="l"/>
                      <a:r>
                        <a:rPr sz="1200" b="1" i="0">
                          <a:solidFill>
                            <a:srgbClr val="2E7D32"/>
                          </a:solidFill>
                          <a:latin typeface="Calibri"/>
                        </a:rPr>
                        <a:t>Disable anonymous bind; require authenticated LDAP</a:t>
                      </a:r>
                    </a:p>
                  </a:txBody>
                  <a:tcPr anchor="ctr" marL="76200" marR="76200" marT="38100" marB="38100">
                    <a:solidFill>
                      <a:srgbClr val="FFFFFF"/>
                    </a:solidFill>
                  </a:tcPr>
                </a:tc>
              </a:tr>
              <a:tr h="457200">
                <a:tc>
                  <a:txBody>
                    <a:bodyPr/>
                    <a:lstStyle/>
                    <a:p>
                      <a:pPr algn="l"/>
                      <a:r>
                        <a:rPr sz="1200" b="1" i="0">
                          <a:solidFill>
                            <a:srgbClr val="B02A2A"/>
                          </a:solidFill>
                          <a:latin typeface="Calibri"/>
                        </a:rPr>
                        <a:t>LDAP in plaintext</a:t>
                      </a:r>
                    </a:p>
                  </a:txBody>
                  <a:tcPr anchor="ctr" marL="76200" marR="76200" marT="38100" marB="38100">
                    <a:solidFill>
                      <a:srgbClr val="E8EEF7"/>
                    </a:solidFill>
                  </a:tcPr>
                </a:tc>
                <a:tc>
                  <a:txBody>
                    <a:bodyPr/>
                    <a:lstStyle/>
                    <a:p>
                      <a:pPr algn="l"/>
                      <a:r>
                        <a:rPr sz="1200" b="0" i="0">
                          <a:solidFill>
                            <a:srgbClr val="111B30"/>
                          </a:solidFill>
                          <a:latin typeface="Calibri"/>
                        </a:rPr>
                        <a:t>Credentials and query data sent unencrypted, sniffable on the wire</a:t>
                      </a:r>
                    </a:p>
                  </a:txBody>
                  <a:tcPr anchor="ctr" marL="76200" marR="76200" marT="38100" marB="38100">
                    <a:solidFill>
                      <a:srgbClr val="E8EEF7"/>
                    </a:solidFill>
                  </a:tcPr>
                </a:tc>
                <a:tc>
                  <a:txBody>
                    <a:bodyPr/>
                    <a:lstStyle/>
                    <a:p>
                      <a:pPr algn="l"/>
                      <a:r>
                        <a:rPr sz="1200" b="1" i="0">
                          <a:solidFill>
                            <a:srgbClr val="2E7D32"/>
                          </a:solidFill>
                          <a:latin typeface="Calibri"/>
                        </a:rPr>
                        <a:t>LDAPS (LDAP over TLS) instead of plain LDAP</a:t>
                      </a:r>
                    </a:p>
                  </a:txBody>
                  <a:tcPr anchor="ctr" marL="76200" marR="76200" marT="38100" marB="38100">
                    <a:solidFill>
                      <a:srgbClr val="E8EEF7"/>
                    </a:solidFill>
                  </a:tcPr>
                </a:tc>
              </a:tr>
              <a:tr h="457200">
                <a:tc>
                  <a:txBody>
                    <a:bodyPr/>
                    <a:lstStyle/>
                    <a:p>
                      <a:pPr algn="l"/>
                      <a:r>
                        <a:rPr sz="1200" b="1" i="0">
                          <a:solidFill>
                            <a:srgbClr val="B02A2A"/>
                          </a:solidFill>
                          <a:latin typeface="Calibri"/>
                        </a:rPr>
                        <a:t>Weak/shared RADIUS secret</a:t>
                      </a:r>
                    </a:p>
                  </a:txBody>
                  <a:tcPr anchor="ctr" marL="76200" marR="76200" marT="38100" marB="38100">
                    <a:solidFill>
                      <a:srgbClr val="FFFFFF"/>
                    </a:solidFill>
                  </a:tcPr>
                </a:tc>
                <a:tc>
                  <a:txBody>
                    <a:bodyPr/>
                    <a:lstStyle/>
                    <a:p>
                      <a:pPr algn="l"/>
                      <a:r>
                        <a:rPr sz="1200" b="0" i="0">
                          <a:solidFill>
                            <a:srgbClr val="111B30"/>
                          </a:solidFill>
                          <a:latin typeface="Calibri"/>
                        </a:rPr>
                        <a:t>Shared secret between NAS and RADIUS server is weak, default, or reused across many devices</a:t>
                      </a:r>
                    </a:p>
                  </a:txBody>
                  <a:tcPr anchor="ctr" marL="76200" marR="76200" marT="38100" marB="38100">
                    <a:solidFill>
                      <a:srgbClr val="FFFFFF"/>
                    </a:solidFill>
                  </a:tcPr>
                </a:tc>
                <a:tc>
                  <a:txBody>
                    <a:bodyPr/>
                    <a:lstStyle/>
                    <a:p>
                      <a:pPr algn="l"/>
                      <a:r>
                        <a:rPr sz="1200" b="1" i="0">
                          <a:solidFill>
                            <a:srgbClr val="2E7D32"/>
                          </a:solidFill>
                          <a:latin typeface="Calibri"/>
                        </a:rPr>
                        <a:t>Strong unique shared secrets per NAS; rotate periodically</a:t>
                      </a:r>
                    </a:p>
                  </a:txBody>
                  <a:tcPr anchor="ctr" marL="76200" marR="76200" marT="38100" marB="38100">
                    <a:solidFill>
                      <a:srgbClr val="FFFFFF"/>
                    </a:solidFill>
                  </a:tcPr>
                </a:tc>
              </a:tr>
              <a:tr h="457200">
                <a:tc>
                  <a:txBody>
                    <a:bodyPr/>
                    <a:lstStyle/>
                    <a:p>
                      <a:pPr algn="l"/>
                      <a:r>
                        <a:rPr sz="1200" b="1" i="0">
                          <a:solidFill>
                            <a:srgbClr val="B02A2A"/>
                          </a:solidFill>
                          <a:latin typeface="Calibri"/>
                        </a:rPr>
                        <a:t>Legacy RADIUS auth (PAP over UDP)</a:t>
                      </a:r>
                    </a:p>
                  </a:txBody>
                  <a:tcPr anchor="ctr" marL="76200" marR="76200" marT="38100" marB="38100">
                    <a:solidFill>
                      <a:srgbClr val="E8EEF7"/>
                    </a:solidFill>
                  </a:tcPr>
                </a:tc>
                <a:tc>
                  <a:txBody>
                    <a:bodyPr/>
                    <a:lstStyle/>
                    <a:p>
                      <a:pPr algn="l"/>
                      <a:r>
                        <a:rPr sz="1200" b="0" i="0">
                          <a:solidFill>
                            <a:srgbClr val="111B30"/>
                          </a:solidFill>
                          <a:latin typeface="Calibri"/>
                        </a:rPr>
                        <a:t>RADIUS's own protocol is UDP-based with comparatively weak legacy auth methods</a:t>
                      </a:r>
                    </a:p>
                  </a:txBody>
                  <a:tcPr anchor="ctr" marL="76200" marR="76200" marT="38100" marB="38100">
                    <a:solidFill>
                      <a:srgbClr val="E8EEF7"/>
                    </a:solidFill>
                  </a:tcPr>
                </a:tc>
                <a:tc>
                  <a:txBody>
                    <a:bodyPr/>
                    <a:lstStyle/>
                    <a:p>
                      <a:pPr algn="l"/>
                      <a:r>
                        <a:rPr sz="1200" b="1" i="0">
                          <a:solidFill>
                            <a:srgbClr val="2E7D32"/>
                          </a:solidFill>
                          <a:latin typeface="Calibri"/>
                        </a:rPr>
                        <a:t>Prefer MSCHAPv2/EAP; consider RadSec (RADIUS over TLS)</a:t>
                      </a:r>
                    </a:p>
                  </a:txBody>
                  <a:tcPr anchor="ctr" marL="76200" marR="76200" marT="38100" marB="38100">
                    <a:solidFill>
                      <a:srgbClr val="E8EEF7"/>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822960" y="2962656"/>
            <a:ext cx="1005840" cy="1005840"/>
          </a:xfrm>
          <a:prstGeom prst="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4000" b="1" i="0">
                <a:solidFill>
                  <a:srgbClr val="1B2A4A"/>
                </a:solidFill>
                <a:latin typeface="Calibri"/>
              </a:rPr>
              <a:t>08</a:t>
            </a:r>
          </a:p>
        </p:txBody>
      </p:sp>
      <p:sp>
        <p:nvSpPr>
          <p:cNvPr id="3" name="TextBox 2"/>
          <p:cNvSpPr txBox="1"/>
          <p:nvPr/>
        </p:nvSpPr>
        <p:spPr>
          <a:xfrm>
            <a:off x="2103120" y="2962656"/>
            <a:ext cx="9448495" cy="1005840"/>
          </a:xfrm>
          <a:prstGeom prst="rect">
            <a:avLst/>
          </a:prstGeom>
          <a:noFill/>
        </p:spPr>
        <p:txBody>
          <a:bodyPr wrap="square" anchor="ctr">
            <a:spAutoFit/>
          </a:bodyPr>
          <a:lstStyle/>
          <a:p>
            <a:r>
              <a:rPr sz="3200" b="1" i="0">
                <a:solidFill>
                  <a:srgbClr val="FFFFFF"/>
                </a:solidFill>
                <a:latin typeface="Cambria"/>
              </a:rPr>
              <a:t>This Week's Work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The Dormant Account Problem</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Every dormant/stale account is a credential an attacker can leverage without triggering recent-login monitoring</a:t>
            </a:r>
          </a:p>
          <a:p>
            <a:pPr algn="l">
              <a:spcAft>
                <a:spcPts val="1200"/>
              </a:spcAft>
            </a:pPr>
            <a:r>
              <a:rPr sz="1600" b="0" i="0">
                <a:solidFill>
                  <a:srgbClr val="111B30"/>
                </a:solidFill>
                <a:latin typeface="Calibri"/>
              </a:rPr>
              <a:t>●   Risk goes beyond “wasted CAL licenses” - a stale account with valid credentials and unmonitored activity is a quiet foothold</a:t>
            </a:r>
          </a:p>
          <a:p>
            <a:pPr algn="l">
              <a:spcAft>
                <a:spcPts val="1200"/>
              </a:spcAft>
            </a:pPr>
            <a:r>
              <a:rPr sz="1600" b="0" i="0">
                <a:solidFill>
                  <a:srgbClr val="111B30"/>
                </a:solidFill>
                <a:latin typeface="Calibri"/>
              </a:rPr>
              <a:t>●   Real-world breaches have involved exactly this pattern (HW 3's write-up asks you to research and cite a specific documented incident - no single “correct” answer is given here)</a:t>
            </a:r>
          </a:p>
          <a:p>
            <a:pPr algn="l">
              <a:spcAft>
                <a:spcPts val="1200"/>
              </a:spcAft>
            </a:pPr>
            <a:r>
              <a:rPr sz="1600" b="0" i="0">
                <a:solidFill>
                  <a:srgbClr val="111B30"/>
                </a:solidFill>
                <a:latin typeface="Calibri"/>
              </a:rPr>
              <a:t>●   HW 3 hands you a provided read-only audit script rather than having you build one - the assignment is about interpreting findings and remediating correctly, not scripting from scratch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Why LastLogonDate Isn't Enough</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560320"/>
                <a:gridCol w="4937760"/>
                <a:gridCol w="3413455"/>
              </a:tblGrid>
              <a:tr h="457200">
                <a:tc>
                  <a:txBody>
                    <a:bodyPr/>
                    <a:lstStyle/>
                    <a:p>
                      <a:pPr algn="l"/>
                      <a:r>
                        <a:rPr sz="1250" b="1" i="0">
                          <a:solidFill>
                            <a:srgbClr val="FFFFFF"/>
                          </a:solidFill>
                          <a:latin typeface="Calibri"/>
                        </a:rPr>
                        <a:t>Limitation</a:t>
                      </a:r>
                    </a:p>
                  </a:txBody>
                  <a:tcPr anchor="ctr" marL="76200" marR="76200" marT="38100" marB="38100">
                    <a:solidFill>
                      <a:srgbClr val="1B2A4A"/>
                    </a:solidFill>
                  </a:tcPr>
                </a:tc>
                <a:tc>
                  <a:txBody>
                    <a:bodyPr/>
                    <a:lstStyle/>
                    <a:p>
                      <a:pPr algn="l"/>
                      <a:r>
                        <a:rPr sz="1250" b="1" i="0">
                          <a:solidFill>
                            <a:srgbClr val="FFFFFF"/>
                          </a:solidFill>
                          <a:latin typeface="Calibri"/>
                        </a:rPr>
                        <a:t>Explanation</a:t>
                      </a:r>
                    </a:p>
                  </a:txBody>
                  <a:tcPr anchor="ctr" marL="76200" marR="76200" marT="38100" marB="38100">
                    <a:solidFill>
                      <a:srgbClr val="1B2A4A"/>
                    </a:solidFill>
                  </a:tcPr>
                </a:tc>
                <a:tc>
                  <a:txBody>
                    <a:bodyPr/>
                    <a:lstStyle/>
                    <a:p>
                      <a:pPr algn="l"/>
                      <a:r>
                        <a:rPr sz="1250" b="1" i="0">
                          <a:solidFill>
                            <a:srgbClr val="FFFFFF"/>
                          </a:solidFill>
                          <a:latin typeface="Calibri"/>
                        </a:rPr>
                        <a:t>Better Signal / Supplement</a:t>
                      </a:r>
                    </a:p>
                  </a:txBody>
                  <a:tcPr anchor="ctr" marL="76200" marR="76200" marT="38100" marB="38100">
                    <a:solidFill>
                      <a:srgbClr val="1B2A4A"/>
                    </a:solidFill>
                  </a:tcPr>
                </a:tc>
              </a:tr>
              <a:tr h="457200">
                <a:tc>
                  <a:txBody>
                    <a:bodyPr/>
                    <a:lstStyle/>
                    <a:p>
                      <a:pPr algn="l"/>
                      <a:r>
                        <a:rPr sz="1050" b="0" i="0">
                          <a:solidFill>
                            <a:srgbClr val="111B30"/>
                          </a:solidFill>
                          <a:latin typeface="Calibri"/>
                        </a:rPr>
                        <a:t>Replication lag</a:t>
                      </a:r>
                    </a:p>
                  </a:txBody>
                  <a:tcPr anchor="ctr" marL="76200" marR="76200" marT="38100" marB="38100">
                    <a:solidFill>
                      <a:srgbClr val="FFFFFF"/>
                    </a:solidFill>
                  </a:tcPr>
                </a:tc>
                <a:tc>
                  <a:txBody>
                    <a:bodyPr/>
                    <a:lstStyle/>
                    <a:p>
                      <a:pPr algn="l"/>
                      <a:r>
                        <a:rPr sz="1050" b="0" i="0">
                          <a:solidFill>
                            <a:srgbClr val="111B30"/>
                          </a:solidFill>
                          <a:latin typeface="Calibri"/>
                        </a:rPr>
                        <a:t>LastLogonDate is non-replicated (or slowly-replicated) per DC - a user authenticating against a different DC may look staler than they are</a:t>
                      </a:r>
                    </a:p>
                  </a:txBody>
                  <a:tcPr anchor="ctr" marL="76200" marR="76200" marT="38100" marB="38100">
                    <a:solidFill>
                      <a:srgbClr val="FFFFFF"/>
                    </a:solidFill>
                  </a:tcPr>
                </a:tc>
                <a:tc>
                  <a:txBody>
                    <a:bodyPr/>
                    <a:lstStyle/>
                    <a:p>
                      <a:pPr algn="l"/>
                      <a:r>
                        <a:rPr sz="1050" b="0" i="0">
                          <a:solidFill>
                            <a:srgbClr val="111B30"/>
                          </a:solidFill>
                          <a:latin typeface="Calibri"/>
                        </a:rPr>
                        <a:t>Query all DCs and take the most recent value, or use msDS-LastLogonTimestamp</a:t>
                      </a:r>
                    </a:p>
                  </a:txBody>
                  <a:tcPr anchor="ctr" marL="76200" marR="76200" marT="38100" marB="38100">
                    <a:solidFill>
                      <a:srgbClr val="FFFFFF"/>
                    </a:solidFill>
                  </a:tcPr>
                </a:tc>
              </a:tr>
              <a:tr h="457200">
                <a:tc>
                  <a:txBody>
                    <a:bodyPr/>
                    <a:lstStyle/>
                    <a:p>
                      <a:pPr algn="l"/>
                      <a:r>
                        <a:rPr sz="1050" b="0" i="0">
                          <a:solidFill>
                            <a:srgbClr val="111B30"/>
                          </a:solidFill>
                          <a:latin typeface="Calibri"/>
                        </a:rPr>
                        <a:t>msDS-LastLogonTimestamp isn't perfect either</a:t>
                      </a:r>
                    </a:p>
                  </a:txBody>
                  <a:tcPr anchor="ctr" marL="76200" marR="76200" marT="38100" marB="38100">
                    <a:solidFill>
                      <a:srgbClr val="E8EEF7"/>
                    </a:solidFill>
                  </a:tcPr>
                </a:tc>
                <a:tc>
                  <a:txBody>
                    <a:bodyPr/>
                    <a:lstStyle/>
                    <a:p>
                      <a:pPr algn="l"/>
                      <a:r>
                        <a:rPr sz="1050" b="0" i="0">
                          <a:solidFill>
                            <a:srgbClr val="111B30"/>
                          </a:solidFill>
                          <a:latin typeface="Calibri"/>
                        </a:rPr>
                        <a:t>It IS replicated, but only updates roughly every 9-14 days by design</a:t>
                      </a:r>
                    </a:p>
                  </a:txBody>
                  <a:tcPr anchor="ctr" marL="76200" marR="76200" marT="38100" marB="38100">
                    <a:solidFill>
                      <a:srgbClr val="E8EEF7"/>
                    </a:solidFill>
                  </a:tcPr>
                </a:tc>
                <a:tc>
                  <a:txBody>
                    <a:bodyPr/>
                    <a:lstStyle/>
                    <a:p>
                      <a:pPr algn="l"/>
                      <a:r>
                        <a:rPr sz="1050" b="0" i="0">
                          <a:solidFill>
                            <a:srgbClr val="111B30"/>
                          </a:solidFill>
                          <a:latin typeface="Calibri"/>
                        </a:rPr>
                        <a:t>Treat it as a coarse supplement, not a precise timestamp</a:t>
                      </a:r>
                    </a:p>
                  </a:txBody>
                  <a:tcPr anchor="ctr" marL="76200" marR="76200" marT="38100" marB="38100">
                    <a:solidFill>
                      <a:srgbClr val="E8EEF7"/>
                    </a:solidFill>
                  </a:tcPr>
                </a:tc>
              </a:tr>
              <a:tr h="457200">
                <a:tc>
                  <a:txBody>
                    <a:bodyPr/>
                    <a:lstStyle/>
                    <a:p>
                      <a:pPr algn="l"/>
                      <a:r>
                        <a:rPr sz="1050" b="0" i="0">
                          <a:solidFill>
                            <a:srgbClr val="111B30"/>
                          </a:solidFill>
                          <a:latin typeface="Calibri"/>
                        </a:rPr>
                        <a:t>No visibility into cached/local logons</a:t>
                      </a:r>
                    </a:p>
                  </a:txBody>
                  <a:tcPr anchor="ctr" marL="76200" marR="76200" marT="38100" marB="38100">
                    <a:solidFill>
                      <a:srgbClr val="FFFFFF"/>
                    </a:solidFill>
                  </a:tcPr>
                </a:tc>
                <a:tc>
                  <a:txBody>
                    <a:bodyPr/>
                    <a:lstStyle/>
                    <a:p>
                      <a:pPr algn="l"/>
                      <a:r>
                        <a:rPr sz="1050" b="0" i="0">
                          <a:solidFill>
                            <a:srgbClr val="111B30"/>
                          </a:solidFill>
                          <a:latin typeface="Calibri"/>
                        </a:rPr>
                        <a:t>Some authentication doesn't touch a DC in ways that update this attribute consistently</a:t>
                      </a:r>
                    </a:p>
                  </a:txBody>
                  <a:tcPr anchor="ctr" marL="76200" marR="76200" marT="38100" marB="38100">
                    <a:solidFill>
                      <a:srgbClr val="FFFFFF"/>
                    </a:solidFill>
                  </a:tcPr>
                </a:tc>
                <a:tc>
                  <a:txBody>
                    <a:bodyPr/>
                    <a:lstStyle/>
                    <a:p>
                      <a:pPr algn="l"/>
                      <a:r>
                        <a:rPr sz="1050" b="0" i="0">
                          <a:solidFill>
                            <a:srgbClr val="111B30"/>
                          </a:solidFill>
                          <a:latin typeface="Calibri"/>
                        </a:rPr>
                        <a:t>Centralized sign-in correlation (SIEM / Windows Event Forwarding)</a:t>
                      </a:r>
                    </a:p>
                  </a:txBody>
                  <a:tcPr anchor="ctr" marL="76200" marR="76200" marT="38100" marB="38100">
                    <a:solidFill>
                      <a:srgbClr val="FFFFFF"/>
                    </a:solidFill>
                  </a:tcPr>
                </a:tc>
              </a:tr>
              <a:tr h="457200">
                <a:tc>
                  <a:txBody>
                    <a:bodyPr/>
                    <a:lstStyle/>
                    <a:p>
                      <a:pPr algn="l"/>
                      <a:r>
                        <a:rPr sz="1050" b="0" i="0">
                          <a:solidFill>
                            <a:srgbClr val="111B30"/>
                          </a:solidFill>
                          <a:latin typeface="Calibri"/>
                        </a:rPr>
                        <a:t>Single-attribute risk</a:t>
                      </a:r>
                    </a:p>
                  </a:txBody>
                  <a:tcPr anchor="ctr" marL="76200" marR="76200" marT="38100" marB="38100">
                    <a:solidFill>
                      <a:srgbClr val="E8EEF7"/>
                    </a:solidFill>
                  </a:tcPr>
                </a:tc>
                <a:tc>
                  <a:txBody>
                    <a:bodyPr/>
                    <a:lstStyle/>
                    <a:p>
                      <a:pPr algn="l"/>
                      <a:r>
                        <a:rPr sz="1050" b="0" i="0">
                          <a:solidFill>
                            <a:srgbClr val="111B30"/>
                          </a:solidFill>
                          <a:latin typeface="Calibri"/>
                        </a:rPr>
                        <a:t>Relying on one field as the sole staleness signal misses accounts active only via automation, not a human</a:t>
                      </a:r>
                    </a:p>
                  </a:txBody>
                  <a:tcPr anchor="ctr" marL="76200" marR="76200" marT="38100" marB="38100">
                    <a:solidFill>
                      <a:srgbClr val="E8EEF7"/>
                    </a:solidFill>
                  </a:tcPr>
                </a:tc>
                <a:tc>
                  <a:txBody>
                    <a:bodyPr/>
                    <a:lstStyle/>
                    <a:p>
                      <a:pPr algn="l"/>
                      <a:r>
                        <a:rPr sz="1050" b="0" i="0">
                          <a:solidFill>
                            <a:srgbClr val="111B30"/>
                          </a:solidFill>
                          <a:latin typeface="Calibri"/>
                        </a:rPr>
                        <a:t>Combine with PasswordLastSet, group membership review, behavioral analysis</a:t>
                      </a:r>
                    </a:p>
                  </a:txBody>
                  <a:tcPr anchor="ctr" marL="76200" marR="76200" marT="38100" marB="38100">
                    <a:solidFill>
                      <a:srgbClr val="E8EEF7"/>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Quarantine OU &amp; Staged Remediation Workflow</a:t>
            </a:r>
          </a:p>
        </p:txBody>
      </p:sp>
      <p:sp>
        <p:nvSpPr>
          <p:cNvPr id="3" name="TextBox 2"/>
          <p:cNvSpPr txBox="1"/>
          <p:nvPr/>
        </p:nvSpPr>
        <p:spPr>
          <a:xfrm>
            <a:off x="640080" y="1243584"/>
            <a:ext cx="10911535" cy="411480"/>
          </a:xfrm>
          <a:prstGeom prst="rect">
            <a:avLst/>
          </a:prstGeom>
          <a:noFill/>
        </p:spPr>
        <p:txBody>
          <a:bodyPr wrap="square" lIns="0" tIns="0">
            <a:spAutoFit/>
          </a:bodyPr>
          <a:lstStyle/>
          <a:p>
            <a:r>
              <a:rPr sz="1350" b="0" i="1">
                <a:solidFill>
                  <a:srgbClr val="3D5A80"/>
                </a:solidFill>
                <a:latin typeface="Calibri"/>
              </a:rPr>
              <a:t>HW 3 Part 2's exact manual remediation sequence - same OU=Disabled quarantine previewed in Section 01.</a:t>
            </a:r>
          </a:p>
        </p:txBody>
      </p:sp>
      <p:sp>
        <p:nvSpPr>
          <p:cNvPr id="4" name="Rounded Rectangle 3"/>
          <p:cNvSpPr/>
          <p:nvPr/>
        </p:nvSpPr>
        <p:spPr>
          <a:xfrm>
            <a:off x="914400"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1. Disable the</a:t>
            </a:r>
          </a:p>
          <a:p>
            <a:pPr algn="ctr"/>
            <a:r>
              <a:rPr sz="850" b="0" i="0">
                <a:solidFill>
                  <a:srgbClr val="111B30"/>
                </a:solidFill>
                <a:latin typeface="Calibri"/>
              </a:rPr>
              <a:t>account</a:t>
            </a:r>
          </a:p>
          <a:p>
            <a:pPr algn="ctr"/>
            <a:r>
              <a:rPr sz="850" b="0" i="0">
                <a:solidFill>
                  <a:srgbClr val="111B30"/>
                </a:solidFill>
                <a:latin typeface="Calibri"/>
              </a:rPr>
              <a:t>(Set-ADUser</a:t>
            </a:r>
          </a:p>
          <a:p>
            <a:pPr algn="ctr"/>
            <a:r>
              <a:rPr sz="850" b="0" i="0">
                <a:solidFill>
                  <a:srgbClr val="111B30"/>
                </a:solidFill>
                <a:latin typeface="Calibri"/>
              </a:rPr>
              <a:t>-Enabled $false)</a:t>
            </a:r>
          </a:p>
        </p:txBody>
      </p:sp>
      <p:sp>
        <p:nvSpPr>
          <p:cNvPr id="5" name="Rounded Rectangle 4"/>
          <p:cNvSpPr/>
          <p:nvPr/>
        </p:nvSpPr>
        <p:spPr>
          <a:xfrm>
            <a:off x="359633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00" b="0" i="0">
                <a:solidFill>
                  <a:srgbClr val="111B30"/>
                </a:solidFill>
                <a:latin typeface="Calibri"/>
              </a:rPr>
              <a:t>2. Set Description:</a:t>
            </a:r>
          </a:p>
          <a:p>
            <a:pPr algn="ctr"/>
            <a:r>
              <a:rPr sz="800" b="0" i="0">
                <a:solidFill>
                  <a:srgbClr val="111B30"/>
                </a:solidFill>
                <a:latin typeface="Calibri"/>
              </a:rPr>
              <a:t>[DISABLED] Manual</a:t>
            </a:r>
          </a:p>
          <a:p>
            <a:pPr algn="ctr"/>
            <a:r>
              <a:rPr sz="800" b="0" i="0">
                <a:solidFill>
                  <a:srgbClr val="111B30"/>
                </a:solidFill>
                <a:latin typeface="Calibri"/>
              </a:rPr>
              <a:t>review - stale &gt;Nd.</a:t>
            </a:r>
          </a:p>
          <a:p>
            <a:pPr algn="ctr"/>
            <a:r>
              <a:rPr sz="800" b="0" i="0">
                <a:solidFill>
                  <a:srgbClr val="111B30"/>
                </a:solidFill>
                <a:latin typeface="Calibri"/>
              </a:rPr>
              <a:t>Disabled by/on...</a:t>
            </a:r>
          </a:p>
        </p:txBody>
      </p:sp>
      <p:sp>
        <p:nvSpPr>
          <p:cNvPr id="6" name="Rounded Rectangle 5"/>
          <p:cNvSpPr/>
          <p:nvPr/>
        </p:nvSpPr>
        <p:spPr>
          <a:xfrm>
            <a:off x="6278270" y="2103120"/>
            <a:ext cx="2286000" cy="1234440"/>
          </a:xfrm>
          <a:prstGeom prst="roundRect">
            <a:avLst/>
          </a:prstGeom>
          <a:solidFill>
            <a:srgbClr val="E8EEF7"/>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1" i="0">
                <a:solidFill>
                  <a:srgbClr val="111B30"/>
                </a:solidFill>
                <a:latin typeface="Calibri"/>
              </a:rPr>
              <a:t>3. Move to</a:t>
            </a:r>
          </a:p>
          <a:p>
            <a:pPr algn="ctr"/>
            <a:r>
              <a:rPr sz="850" b="1" i="0">
                <a:solidFill>
                  <a:srgbClr val="111B30"/>
                </a:solidFill>
                <a:latin typeface="Calibri"/>
              </a:rPr>
              <a:t>OU=Disabled,...</a:t>
            </a:r>
          </a:p>
          <a:p>
            <a:pPr algn="ctr"/>
            <a:r>
              <a:rPr sz="850" b="1" i="0">
                <a:solidFill>
                  <a:srgbClr val="111B30"/>
                </a:solidFill>
                <a:latin typeface="Calibri"/>
              </a:rPr>
              <a:t>(create the OU</a:t>
            </a:r>
          </a:p>
          <a:p>
            <a:pPr algn="ctr"/>
            <a:r>
              <a:rPr sz="850" b="1" i="0">
                <a:solidFill>
                  <a:srgbClr val="111B30"/>
                </a:solidFill>
                <a:latin typeface="Calibri"/>
              </a:rPr>
              <a:t>first if needed)</a:t>
            </a:r>
          </a:p>
        </p:txBody>
      </p:sp>
      <p:sp>
        <p:nvSpPr>
          <p:cNvPr id="7" name="Rounded Rectangle 6"/>
          <p:cNvSpPr/>
          <p:nvPr/>
        </p:nvSpPr>
        <p:spPr>
          <a:xfrm>
            <a:off x="8960205" y="2103120"/>
            <a:ext cx="2286000" cy="1234440"/>
          </a:xfrm>
          <a:prstGeom prst="roundRect">
            <a:avLst/>
          </a:prstGeom>
          <a:solidFill>
            <a:srgbClr val="E8EEF7"/>
          </a:solidFill>
          <a:ln w="15875">
            <a:solidFill>
              <a:srgbClr val="1B2A4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850" b="0" i="0">
                <a:solidFill>
                  <a:srgbClr val="111B30"/>
                </a:solidFill>
                <a:latin typeface="Calibri"/>
              </a:rPr>
              <a:t>4. Log the action:</a:t>
            </a:r>
          </a:p>
          <a:p>
            <a:pPr algn="ctr"/>
            <a:r>
              <a:rPr sz="850" b="0" i="0">
                <a:solidFill>
                  <a:srgbClr val="111B30"/>
                </a:solidFill>
                <a:latin typeface="Calibri"/>
              </a:rPr>
              <a:t>timestamp +</a:t>
            </a:r>
          </a:p>
          <a:p>
            <a:pPr algn="ctr"/>
            <a:r>
              <a:rPr sz="850" b="0" i="0">
                <a:solidFill>
                  <a:srgbClr val="111B30"/>
                </a:solidFill>
                <a:latin typeface="Calibri"/>
              </a:rPr>
              <a:t>SamAccountName +</a:t>
            </a:r>
          </a:p>
          <a:p>
            <a:pPr algn="ctr"/>
            <a:r>
              <a:rPr sz="850" b="0" i="0">
                <a:solidFill>
                  <a:srgbClr val="111B30"/>
                </a:solidFill>
                <a:latin typeface="Calibri"/>
              </a:rPr>
              <a:t>action taken</a:t>
            </a:r>
          </a:p>
        </p:txBody>
      </p:sp>
      <p:cxnSp>
        <p:nvCxnSpPr>
          <p:cNvPr id="8" name="Connector 7"/>
          <p:cNvCxnSpPr/>
          <p:nvPr/>
        </p:nvCxnSpPr>
        <p:spPr>
          <a:xfrm>
            <a:off x="320040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82335"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564270" y="2720339"/>
            <a:ext cx="395935" cy="0"/>
          </a:xfrm>
          <a:prstGeom prst="line">
            <a:avLst/>
          </a:prstGeom>
          <a:ln w="1905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120640" y="3794760"/>
            <a:ext cx="3657600" cy="914400"/>
          </a:xfrm>
          <a:prstGeom prst="roundRect">
            <a:avLst/>
          </a:prstGeom>
          <a:solidFill>
            <a:srgbClr val="E8EEF7"/>
          </a:solidFill>
          <a:ln w="15875">
            <a:solidFill>
              <a:srgbClr val="B02A2A"/>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000" b="1" i="0">
                <a:solidFill>
                  <a:srgbClr val="B02A2A"/>
                </a:solidFill>
                <a:latin typeface="Calibri"/>
              </a:rPr>
              <a:t>Why quarantine, not delete?</a:t>
            </a:r>
          </a:p>
          <a:p>
            <a:pPr algn="ctr"/>
            <a:r>
              <a:rPr sz="1000" b="1" i="0">
                <a:solidFill>
                  <a:srgbClr val="B02A2A"/>
                </a:solidFill>
                <a:latin typeface="Calibri"/>
              </a:rPr>
              <a:t>Staged deletion window + approval</a:t>
            </a:r>
          </a:p>
          <a:p>
            <a:pPr algn="ctr"/>
            <a:r>
              <a:rPr sz="1000" b="1" i="0">
                <a:solidFill>
                  <a:srgbClr val="B02A2A"/>
                </a:solidFill>
                <a:latin typeface="Calibri"/>
              </a:rPr>
              <a:t>workflow before permanent removal</a:t>
            </a:r>
          </a:p>
        </p:txBody>
      </p:sp>
      <p:cxnSp>
        <p:nvCxnSpPr>
          <p:cNvPr id="12" name="Connector 11"/>
          <p:cNvCxnSpPr/>
          <p:nvPr/>
        </p:nvCxnSpPr>
        <p:spPr>
          <a:xfrm flipH="1">
            <a:off x="6949440" y="3337560"/>
            <a:ext cx="471830" cy="457200"/>
          </a:xfrm>
          <a:prstGeom prst="line">
            <a:avLst/>
          </a:prstGeom>
          <a:ln w="19050">
            <a:solidFill>
              <a:srgbClr val="B02A2A"/>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Manual Remediation at Scale: Risk vs. Automation</a:t>
            </a:r>
          </a:p>
        </p:txBody>
      </p:sp>
      <p:graphicFrame>
        <p:nvGraphicFramePr>
          <p:cNvPr id="3" name="Table 2"/>
          <p:cNvGraphicFramePr>
            <a:graphicFrameLocks noGrp="1"/>
          </p:cNvGraphicFramePr>
          <p:nvPr/>
        </p:nvGraphicFramePr>
        <p:xfrm>
          <a:off x="640080" y="1554480"/>
          <a:ext cx="10911535" cy="2286000"/>
        </p:xfrm>
        <a:graphic>
          <a:graphicData uri="http://schemas.openxmlformats.org/drawingml/2006/table">
            <a:tbl>
              <a:tblPr firstRow="1" bandRow="1">
                <a:tableStyleId>{5C22544A-7EE6-4342-B048-85BDC9FD1C3A}</a:tableStyleId>
              </a:tblPr>
              <a:tblGrid>
                <a:gridCol w="2743200"/>
                <a:gridCol w="4937760"/>
                <a:gridCol w="3230575"/>
              </a:tblGrid>
              <a:tr h="457200">
                <a:tc>
                  <a:txBody>
                    <a:bodyPr/>
                    <a:lstStyle/>
                    <a:p>
                      <a:pPr algn="l"/>
                      <a:r>
                        <a:rPr sz="1250" b="1" i="0">
                          <a:solidFill>
                            <a:srgbClr val="FFFFFF"/>
                          </a:solidFill>
                          <a:latin typeface="Calibri"/>
                        </a:rPr>
                        <a:t>Risk</a:t>
                      </a:r>
                    </a:p>
                  </a:txBody>
                  <a:tcPr anchor="ctr" marL="76200" marR="76200" marT="38100" marB="38100">
                    <a:solidFill>
                      <a:srgbClr val="1B2A4A"/>
                    </a:solidFill>
                  </a:tcPr>
                </a:tc>
                <a:tc>
                  <a:txBody>
                    <a:bodyPr/>
                    <a:lstStyle/>
                    <a:p>
                      <a:pPr algn="l"/>
                      <a:r>
                        <a:rPr sz="1250" b="1" i="0">
                          <a:solidFill>
                            <a:srgbClr val="FFFFFF"/>
                          </a:solidFill>
                          <a:latin typeface="Calibri"/>
                        </a:rPr>
                        <a:t>How It Happens</a:t>
                      </a:r>
                    </a:p>
                  </a:txBody>
                  <a:tcPr anchor="ctr" marL="76200" marR="76200" marT="38100" marB="38100">
                    <a:solidFill>
                      <a:srgbClr val="1B2A4A"/>
                    </a:solidFill>
                  </a:tcPr>
                </a:tc>
                <a:tc>
                  <a:txBody>
                    <a:bodyPr/>
                    <a:lstStyle/>
                    <a:p>
                      <a:pPr algn="l"/>
                      <a:r>
                        <a:rPr sz="1250" b="1" i="0">
                          <a:solidFill>
                            <a:srgbClr val="FFFFFF"/>
                          </a:solidFill>
                          <a:latin typeface="Calibri"/>
                        </a:rPr>
                        <a:t>Mitigation</a:t>
                      </a:r>
                    </a:p>
                  </a:txBody>
                  <a:tcPr anchor="ctr" marL="76200" marR="76200" marT="38100" marB="38100">
                    <a:solidFill>
                      <a:srgbClr val="1B2A4A"/>
                    </a:solidFill>
                  </a:tcPr>
                </a:tc>
              </a:tr>
              <a:tr h="457200">
                <a:tc>
                  <a:txBody>
                    <a:bodyPr/>
                    <a:lstStyle/>
                    <a:p>
                      <a:pPr algn="l"/>
                      <a:r>
                        <a:rPr sz="1050" b="1" i="0">
                          <a:solidFill>
                            <a:srgbClr val="B02A2A"/>
                          </a:solidFill>
                          <a:latin typeface="Calibri"/>
                        </a:rPr>
                        <a:t>Human error at volume</a:t>
                      </a:r>
                    </a:p>
                  </a:txBody>
                  <a:tcPr anchor="ctr" marL="76200" marR="76200" marT="38100" marB="38100">
                    <a:solidFill>
                      <a:srgbClr val="FFFFFF"/>
                    </a:solidFill>
                  </a:tcPr>
                </a:tc>
                <a:tc>
                  <a:txBody>
                    <a:bodyPr/>
                    <a:lstStyle/>
                    <a:p>
                      <a:pPr algn="l"/>
                      <a:r>
                        <a:rPr sz="1050" b="0" i="0">
                          <a:solidFill>
                            <a:srgbClr val="111B30"/>
                          </a:solidFill>
                          <a:latin typeface="Calibri"/>
                        </a:rPr>
                        <a:t>Manually remediating hundreds of accounts by hand - inconsistent execution (missed steps, typos)</a:t>
                      </a:r>
                    </a:p>
                  </a:txBody>
                  <a:tcPr anchor="ctr" marL="76200" marR="76200" marT="38100" marB="38100">
                    <a:solidFill>
                      <a:srgbClr val="FFFFFF"/>
                    </a:solidFill>
                  </a:tcPr>
                </a:tc>
                <a:tc>
                  <a:txBody>
                    <a:bodyPr/>
                    <a:lstStyle/>
                    <a:p>
                      <a:pPr algn="l"/>
                      <a:r>
                        <a:rPr sz="1050" b="1" i="0">
                          <a:solidFill>
                            <a:srgbClr val="2E7D32"/>
                          </a:solidFill>
                          <a:latin typeface="Calibri"/>
                        </a:rPr>
                        <a:t>Standardized runbook/checklist; spot-check sampling</a:t>
                      </a:r>
                    </a:p>
                  </a:txBody>
                  <a:tcPr anchor="ctr" marL="76200" marR="76200" marT="38100" marB="38100">
                    <a:solidFill>
                      <a:srgbClr val="FFFFFF"/>
                    </a:solidFill>
                  </a:tcPr>
                </a:tc>
              </a:tr>
              <a:tr h="457200">
                <a:tc>
                  <a:txBody>
                    <a:bodyPr/>
                    <a:lstStyle/>
                    <a:p>
                      <a:pPr algn="l"/>
                      <a:r>
                        <a:rPr sz="1050" b="1" i="0">
                          <a:solidFill>
                            <a:srgbClr val="B02A2A"/>
                          </a:solidFill>
                          <a:latin typeface="Calibri"/>
                        </a:rPr>
                        <a:t>No verification trail</a:t>
                      </a:r>
                    </a:p>
                  </a:txBody>
                  <a:tcPr anchor="ctr" marL="76200" marR="76200" marT="38100" marB="38100">
                    <a:solidFill>
                      <a:srgbClr val="E8EEF7"/>
                    </a:solidFill>
                  </a:tcPr>
                </a:tc>
                <a:tc>
                  <a:txBody>
                    <a:bodyPr/>
                    <a:lstStyle/>
                    <a:p>
                      <a:pPr algn="l"/>
                      <a:r>
                        <a:rPr sz="1050" b="0" i="0">
                          <a:solidFill>
                            <a:srgbClr val="111B30"/>
                          </a:solidFill>
                          <a:latin typeface="Calibri"/>
                        </a:rPr>
                        <a:t>No way to confirm every flagged account was actually remediated correctly</a:t>
                      </a:r>
                    </a:p>
                  </a:txBody>
                  <a:tcPr anchor="ctr" marL="76200" marR="76200" marT="38100" marB="38100">
                    <a:solidFill>
                      <a:srgbClr val="E8EEF7"/>
                    </a:solidFill>
                  </a:tcPr>
                </a:tc>
                <a:tc>
                  <a:txBody>
                    <a:bodyPr/>
                    <a:lstStyle/>
                    <a:p>
                      <a:pPr algn="l"/>
                      <a:r>
                        <a:rPr sz="1050" b="1" i="0">
                          <a:solidFill>
                            <a:srgbClr val="2E7D32"/>
                          </a:solidFill>
                          <a:latin typeface="Calibri"/>
                        </a:rPr>
                        <a:t>Structured logging (HW 3's remediation log) reviewed against the original CSV, one-to-one</a:t>
                      </a:r>
                    </a:p>
                  </a:txBody>
                  <a:tcPr anchor="ctr" marL="76200" marR="76200" marT="38100" marB="38100">
                    <a:solidFill>
                      <a:srgbClr val="E8EEF7"/>
                    </a:solidFill>
                  </a:tcPr>
                </a:tc>
              </a:tr>
              <a:tr h="457200">
                <a:tc>
                  <a:txBody>
                    <a:bodyPr/>
                    <a:lstStyle/>
                    <a:p>
                      <a:pPr algn="l"/>
                      <a:r>
                        <a:rPr sz="1050" b="1" i="0">
                          <a:solidFill>
                            <a:srgbClr val="B02A2A"/>
                          </a:solidFill>
                          <a:latin typeface="Calibri"/>
                        </a:rPr>
                        <a:t>Delayed remediation</a:t>
                      </a:r>
                    </a:p>
                  </a:txBody>
                  <a:tcPr anchor="ctr" marL="76200" marR="76200" marT="38100" marB="38100">
                    <a:solidFill>
                      <a:srgbClr val="FFFFFF"/>
                    </a:solidFill>
                  </a:tcPr>
                </a:tc>
                <a:tc>
                  <a:txBody>
                    <a:bodyPr/>
                    <a:lstStyle/>
                    <a:p>
                      <a:pPr algn="l"/>
                      <a:r>
                        <a:rPr sz="1050" b="0" i="0">
                          <a:solidFill>
                            <a:srgbClr val="111B30"/>
                          </a:solidFill>
                          <a:latin typeface="Calibri"/>
                        </a:rPr>
                        <a:t>Manual process can't keep pace with continuous account creation/staleness</a:t>
                      </a:r>
                    </a:p>
                  </a:txBody>
                  <a:tcPr anchor="ctr" marL="76200" marR="76200" marT="38100" marB="38100">
                    <a:solidFill>
                      <a:srgbClr val="FFFFFF"/>
                    </a:solidFill>
                  </a:tcPr>
                </a:tc>
                <a:tc>
                  <a:txBody>
                    <a:bodyPr/>
                    <a:lstStyle/>
                    <a:p>
                      <a:pPr algn="l"/>
                      <a:r>
                        <a:rPr sz="1050" b="1" i="0">
                          <a:solidFill>
                            <a:srgbClr val="2E7D32"/>
                          </a:solidFill>
                          <a:latin typeface="Calibri"/>
                        </a:rPr>
                        <a:t>Scheduled re-runs of the audit script (Section 04) even if remediation stays manual</a:t>
                      </a:r>
                    </a:p>
                  </a:txBody>
                  <a:tcPr anchor="ctr" marL="76200" marR="76200" marT="38100" marB="38100">
                    <a:solidFill>
                      <a:srgbClr val="FFFFFF"/>
                    </a:solidFill>
                  </a:tcPr>
                </a:tc>
              </a:tr>
              <a:tr h="457200">
                <a:tc>
                  <a:txBody>
                    <a:bodyPr/>
                    <a:lstStyle/>
                    <a:p>
                      <a:pPr algn="l"/>
                      <a:r>
                        <a:rPr sz="1050" b="1" i="0">
                          <a:solidFill>
                            <a:srgbClr val="B02A2A"/>
                          </a:solidFill>
                          <a:latin typeface="Calibri"/>
                        </a:rPr>
                        <a:t>Full automation without review</a:t>
                      </a:r>
                    </a:p>
                  </a:txBody>
                  <a:tcPr anchor="ctr" marL="76200" marR="76200" marT="38100" marB="38100">
                    <a:solidFill>
                      <a:srgbClr val="E8EEF7"/>
                    </a:solidFill>
                  </a:tcPr>
                </a:tc>
                <a:tc>
                  <a:txBody>
                    <a:bodyPr/>
                    <a:lstStyle/>
                    <a:p>
                      <a:pPr algn="l"/>
                      <a:r>
                        <a:rPr sz="1050" b="0" i="0">
                          <a:solidFill>
                            <a:srgbClr val="111B30"/>
                          </a:solidFill>
                          <a:latin typeface="Calibri"/>
                        </a:rPr>
                        <a:t>Auto-disabling/deleting accounts with zero human check risks false positives on active accounts</a:t>
                      </a:r>
                    </a:p>
                  </a:txBody>
                  <a:tcPr anchor="ctr" marL="76200" marR="76200" marT="38100" marB="38100">
                    <a:solidFill>
                      <a:srgbClr val="E8EEF7"/>
                    </a:solidFill>
                  </a:tcPr>
                </a:tc>
                <a:tc>
                  <a:txBody>
                    <a:bodyPr/>
                    <a:lstStyle/>
                    <a:p>
                      <a:pPr algn="l"/>
                      <a:r>
                        <a:rPr sz="1050" b="1" i="0">
                          <a:solidFill>
                            <a:srgbClr val="2E7D32"/>
                          </a:solidFill>
                          <a:latin typeface="Calibri"/>
                        </a:rPr>
                        <a:t>Automate detection; keep a human approval gate before disable/delete at scale</a:t>
                      </a:r>
                    </a:p>
                  </a:txBody>
                  <a:tcPr anchor="ctr" marL="76200" marR="76200" marT="38100" marB="38100">
                    <a:solidFill>
                      <a:srgbClr val="E8EEF7"/>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Lab 3 Recap: Active Directory, GPO &amp; Centralized AAA</a:t>
            </a:r>
          </a:p>
        </p:txBody>
      </p:sp>
      <p:sp>
        <p:nvSpPr>
          <p:cNvPr id="3" name="TextBox 2"/>
          <p:cNvSpPr txBox="1"/>
          <p:nvPr/>
        </p:nvSpPr>
        <p:spPr>
          <a:xfrm>
            <a:off x="685800" y="1554480"/>
            <a:ext cx="10820095" cy="4892040"/>
          </a:xfrm>
          <a:prstGeom prst="rect">
            <a:avLst/>
          </a:prstGeom>
          <a:noFill/>
        </p:spPr>
        <p:txBody>
          <a:bodyPr wrap="square" lIns="0" tIns="0">
            <a:spAutoFit/>
          </a:bodyPr>
          <a:lstStyle/>
          <a:p>
            <a:pPr algn="l">
              <a:spcAft>
                <a:spcPts val="1200"/>
              </a:spcAft>
            </a:pPr>
            <a:r>
              <a:rPr sz="1600" b="0" i="0">
                <a:solidFill>
                  <a:srgbClr val="111B30"/>
                </a:solidFill>
                <a:latin typeface="Calibri"/>
              </a:rPr>
              <a:t>●   Objectives: verify a pre-promoted DC; build a multi-tiered OU structure; implement Security Baseline + Audit Policy GPOs; configure a PSO; test lockout/audit; write LDAP filters and stand up a minimal FreeRADIUS instance</a:t>
            </a:r>
          </a:p>
          <a:p>
            <a:pPr algn="l">
              <a:spcAft>
                <a:spcPts val="1200"/>
              </a:spcAft>
            </a:pPr>
            <a:r>
              <a:rPr sz="1600" b="0" i="0">
                <a:solidFill>
                  <a:srgbClr val="111B30"/>
                </a:solidFill>
                <a:latin typeface="Calibri"/>
              </a:rPr>
              <a:t>●   Tools/Accounts: hw03-addc (reused from HW 3, already promoted), lab03-radius01 (Ubuntu 22.04), GPMC, ADUC, ADAC, ldapsearch</a:t>
            </a:r>
          </a:p>
          <a:p>
            <a:pPr algn="l">
              <a:spcAft>
                <a:spcPts val="1200"/>
              </a:spcAft>
            </a:pPr>
            <a:r>
              <a:rPr sz="1600" b="0" i="0">
                <a:solidFill>
                  <a:srgbClr val="111B30"/>
                </a:solidFill>
                <a:latin typeface="Calibri"/>
              </a:rPr>
              <a:t>●   Structure: 8 parts, PowerShell-first - no GUI for OU creation (“this is a senior course”)</a:t>
            </a:r>
          </a:p>
          <a:p>
            <a:pPr algn="l">
              <a:spcAft>
                <a:spcPts val="1200"/>
              </a:spcAft>
            </a:pPr>
            <a:r>
              <a:rPr sz="1600" b="0" i="0">
                <a:solidFill>
                  <a:srgbClr val="111B30"/>
                </a:solidFill>
                <a:latin typeface="Calibri"/>
              </a:rPr>
              <a:t>●   Framing theme: every control here maps to a specific attack it prevents, not just administrative housekeeping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Lab 3 Grading Breakdown</a:t>
            </a:r>
          </a:p>
        </p:txBody>
      </p:sp>
      <p:graphicFrame>
        <p:nvGraphicFramePr>
          <p:cNvPr id="3" name="Table 2"/>
          <p:cNvGraphicFramePr>
            <a:graphicFrameLocks noGrp="1"/>
          </p:cNvGraphicFramePr>
          <p:nvPr/>
        </p:nvGraphicFramePr>
        <p:xfrm>
          <a:off x="640080" y="1554480"/>
          <a:ext cx="10362895" cy="4572000"/>
        </p:xfrm>
        <a:graphic>
          <a:graphicData uri="http://schemas.openxmlformats.org/drawingml/2006/table">
            <a:tbl>
              <a:tblPr firstRow="1" bandRow="1">
                <a:tableStyleId>{5C22544A-7EE6-4342-B048-85BDC9FD1C3A}</a:tableStyleId>
              </a:tblPr>
              <a:tblGrid>
                <a:gridCol w="8991295"/>
                <a:gridCol w="1371600"/>
              </a:tblGrid>
              <a:tr h="457200">
                <a:tc>
                  <a:txBody>
                    <a:bodyPr/>
                    <a:lstStyle/>
                    <a:p>
                      <a:pPr algn="l"/>
                      <a:r>
                        <a:rPr sz="1250" b="1" i="0">
                          <a:solidFill>
                            <a:srgbClr val="FFFFFF"/>
                          </a:solidFill>
                          <a:latin typeface="Calibri"/>
                        </a:rPr>
                        <a:t>Item</a:t>
                      </a:r>
                    </a:p>
                  </a:txBody>
                  <a:tcPr anchor="ctr" marL="76200" marR="76200" marT="38100" marB="38100">
                    <a:solidFill>
                      <a:srgbClr val="1B2A4A"/>
                    </a:solidFill>
                  </a:tcPr>
                </a:tc>
                <a:tc>
                  <a:txBody>
                    <a:bodyPr/>
                    <a:lstStyle/>
                    <a:p>
                      <a:pPr algn="l"/>
                      <a:r>
                        <a:rPr sz="1250" b="1" i="0">
                          <a:solidFill>
                            <a:srgbClr val="FFFFFF"/>
                          </a:solidFill>
                          <a:latin typeface="Calibri"/>
                        </a:rPr>
                        <a:t>Points</a:t>
                      </a:r>
                    </a:p>
                  </a:txBody>
                  <a:tcPr anchor="ctr" marL="76200" marR="76200" marT="38100" marB="38100">
                    <a:solidFill>
                      <a:srgbClr val="1B2A4A"/>
                    </a:solidFill>
                  </a:tcPr>
                </a:tc>
              </a:tr>
              <a:tr h="457200">
                <a:tc>
                  <a:txBody>
                    <a:bodyPr/>
                    <a:lstStyle/>
                    <a:p>
                      <a:pPr algn="l"/>
                      <a:r>
                        <a:rPr sz="1300" b="0" i="0">
                          <a:solidFill>
                            <a:srgbClr val="111B30"/>
                          </a:solidFill>
                          <a:latin typeface="Calibri"/>
                        </a:rPr>
                        <a:t>OU structure design and verification (Parts 1-2)</a:t>
                      </a:r>
                    </a:p>
                  </a:txBody>
                  <a:tcPr anchor="ctr" marL="76200" marR="76200" marT="38100" marB="38100">
                    <a:solidFill>
                      <a:srgbClr val="FFFFFF"/>
                    </a:solidFill>
                  </a:tcPr>
                </a:tc>
                <a:tc>
                  <a:txBody>
                    <a:bodyPr/>
                    <a:lstStyle/>
                    <a:p>
                      <a:pPr algn="l"/>
                      <a:r>
                        <a:rPr sz="1300" b="0" i="0">
                          <a:solidFill>
                            <a:srgbClr val="111B30"/>
                          </a:solidFill>
                          <a:latin typeface="Calibri"/>
                        </a:rPr>
                        <a:t>15</a:t>
                      </a:r>
                    </a:p>
                  </a:txBody>
                  <a:tcPr anchor="ctr" marL="76200" marR="76200" marT="38100" marB="38100">
                    <a:solidFill>
                      <a:srgbClr val="FFFFFF"/>
                    </a:solidFill>
                  </a:tcPr>
                </a:tc>
              </a:tr>
              <a:tr h="457200">
                <a:tc>
                  <a:txBody>
                    <a:bodyPr/>
                    <a:lstStyle/>
                    <a:p>
                      <a:pPr algn="l"/>
                      <a:r>
                        <a:rPr sz="1300" b="0" i="0">
                          <a:solidFill>
                            <a:srgbClr val="111B30"/>
                          </a:solidFill>
                          <a:latin typeface="Calibri"/>
                        </a:rPr>
                        <a:t>User and group creation (Part 3)</a:t>
                      </a:r>
                    </a:p>
                  </a:txBody>
                  <a:tcPr anchor="ctr" marL="76200" marR="76200" marT="38100" marB="38100">
                    <a:solidFill>
                      <a:srgbClr val="E8EEF7"/>
                    </a:solidFill>
                  </a:tcPr>
                </a:tc>
                <a:tc>
                  <a:txBody>
                    <a:bodyPr/>
                    <a:lstStyle/>
                    <a:p>
                      <a:pPr algn="l"/>
                      <a:r>
                        <a:rPr sz="1300" b="0" i="0">
                          <a:solidFill>
                            <a:srgbClr val="111B30"/>
                          </a:solidFill>
                          <a:latin typeface="Calibri"/>
                        </a:rPr>
                        <a:t>10</a:t>
                      </a:r>
                    </a:p>
                  </a:txBody>
                  <a:tcPr anchor="ctr" marL="76200" marR="76200" marT="38100" marB="38100">
                    <a:solidFill>
                      <a:srgbClr val="E8EEF7"/>
                    </a:solidFill>
                  </a:tcPr>
                </a:tc>
              </a:tr>
              <a:tr h="457200">
                <a:tc>
                  <a:txBody>
                    <a:bodyPr/>
                    <a:lstStyle/>
                    <a:p>
                      <a:pPr algn="l"/>
                      <a:r>
                        <a:rPr sz="1300" b="0" i="0">
                          <a:solidFill>
                            <a:srgbClr val="111B30"/>
                          </a:solidFill>
                          <a:latin typeface="Calibri"/>
                        </a:rPr>
                        <a:t>Security Baseline GPO (Part 4)</a:t>
                      </a:r>
                    </a:p>
                  </a:txBody>
                  <a:tcPr anchor="ctr" marL="76200" marR="76200" marT="38100" marB="38100">
                    <a:solidFill>
                      <a:srgbClr val="FFFFFF"/>
                    </a:solidFill>
                  </a:tcPr>
                </a:tc>
                <a:tc>
                  <a:txBody>
                    <a:bodyPr/>
                    <a:lstStyle/>
                    <a:p>
                      <a:pPr algn="l"/>
                      <a:r>
                        <a:rPr sz="1300" b="0" i="0">
                          <a:solidFill>
                            <a:srgbClr val="111B30"/>
                          </a:solidFill>
                          <a:latin typeface="Calibri"/>
                        </a:rPr>
                        <a:t>12</a:t>
                      </a:r>
                    </a:p>
                  </a:txBody>
                  <a:tcPr anchor="ctr" marL="76200" marR="76200" marT="38100" marB="38100">
                    <a:solidFill>
                      <a:srgbClr val="FFFFFF"/>
                    </a:solidFill>
                  </a:tcPr>
                </a:tc>
              </a:tr>
              <a:tr h="457200">
                <a:tc>
                  <a:txBody>
                    <a:bodyPr/>
                    <a:lstStyle/>
                    <a:p>
                      <a:pPr algn="l"/>
                      <a:r>
                        <a:rPr sz="1300" b="0" i="0">
                          <a:solidFill>
                            <a:srgbClr val="111B30"/>
                          </a:solidFill>
                          <a:latin typeface="Calibri"/>
                        </a:rPr>
                        <a:t>Audit Policy GPO (Part 5)</a:t>
                      </a:r>
                    </a:p>
                  </a:txBody>
                  <a:tcPr anchor="ctr" marL="76200" marR="76200" marT="38100" marB="38100">
                    <a:solidFill>
                      <a:srgbClr val="E8EEF7"/>
                    </a:solidFill>
                  </a:tcPr>
                </a:tc>
                <a:tc>
                  <a:txBody>
                    <a:bodyPr/>
                    <a:lstStyle/>
                    <a:p>
                      <a:pPr algn="l"/>
                      <a:r>
                        <a:rPr sz="1300" b="0" i="0">
                          <a:solidFill>
                            <a:srgbClr val="111B30"/>
                          </a:solidFill>
                          <a:latin typeface="Calibri"/>
                        </a:rPr>
                        <a:t>10</a:t>
                      </a:r>
                    </a:p>
                  </a:txBody>
                  <a:tcPr anchor="ctr" marL="76200" marR="76200" marT="38100" marB="38100">
                    <a:solidFill>
                      <a:srgbClr val="E8EEF7"/>
                    </a:solidFill>
                  </a:tcPr>
                </a:tc>
              </a:tr>
              <a:tr h="457200">
                <a:tc>
                  <a:txBody>
                    <a:bodyPr/>
                    <a:lstStyle/>
                    <a:p>
                      <a:pPr algn="l"/>
                      <a:r>
                        <a:rPr sz="1300" b="0" i="0">
                          <a:solidFill>
                            <a:srgbClr val="111B30"/>
                          </a:solidFill>
                          <a:latin typeface="Calibri"/>
                        </a:rPr>
                        <a:t>Fine-Grained Password Policy / PSO (Part 6)</a:t>
                      </a:r>
                    </a:p>
                  </a:txBody>
                  <a:tcPr anchor="ctr" marL="76200" marR="76200" marT="38100" marB="38100">
                    <a:solidFill>
                      <a:srgbClr val="FFFFFF"/>
                    </a:solidFill>
                  </a:tcPr>
                </a:tc>
                <a:tc>
                  <a:txBody>
                    <a:bodyPr/>
                    <a:lstStyle/>
                    <a:p>
                      <a:pPr algn="l"/>
                      <a:r>
                        <a:rPr sz="1300" b="0" i="0">
                          <a:solidFill>
                            <a:srgbClr val="111B30"/>
                          </a:solidFill>
                          <a:latin typeface="Calibri"/>
                        </a:rPr>
                        <a:t>10</a:t>
                      </a:r>
                    </a:p>
                  </a:txBody>
                  <a:tcPr anchor="ctr" marL="76200" marR="76200" marT="38100" marB="38100">
                    <a:solidFill>
                      <a:srgbClr val="FFFFFF"/>
                    </a:solidFill>
                  </a:tcPr>
                </a:tc>
              </a:tr>
              <a:tr h="457200">
                <a:tc>
                  <a:txBody>
                    <a:bodyPr/>
                    <a:lstStyle/>
                    <a:p>
                      <a:pPr algn="l"/>
                      <a:r>
                        <a:rPr sz="1300" b="0" i="0">
                          <a:solidFill>
                            <a:srgbClr val="111B30"/>
                          </a:solidFill>
                          <a:latin typeface="Calibri"/>
                        </a:rPr>
                        <a:t>Verification - lockout test, audit events (Part 7)</a:t>
                      </a:r>
                    </a:p>
                  </a:txBody>
                  <a:tcPr anchor="ctr" marL="76200" marR="76200" marT="38100" marB="38100">
                    <a:solidFill>
                      <a:srgbClr val="E8EEF7"/>
                    </a:solidFill>
                  </a:tcPr>
                </a:tc>
                <a:tc>
                  <a:txBody>
                    <a:bodyPr/>
                    <a:lstStyle/>
                    <a:p>
                      <a:pPr algn="l"/>
                      <a:r>
                        <a:rPr sz="1300" b="0" i="0">
                          <a:solidFill>
                            <a:srgbClr val="111B30"/>
                          </a:solidFill>
                          <a:latin typeface="Calibri"/>
                        </a:rPr>
                        <a:t>13</a:t>
                      </a:r>
                    </a:p>
                  </a:txBody>
                  <a:tcPr anchor="ctr" marL="76200" marR="76200" marT="38100" marB="38100">
                    <a:solidFill>
                      <a:srgbClr val="E8EEF7"/>
                    </a:solidFill>
                  </a:tcPr>
                </a:tc>
              </a:tr>
              <a:tr h="457200">
                <a:tc>
                  <a:txBody>
                    <a:bodyPr/>
                    <a:lstStyle/>
                    <a:p>
                      <a:pPr algn="l"/>
                      <a:r>
                        <a:rPr sz="1300" b="0" i="0">
                          <a:solidFill>
                            <a:srgbClr val="111B30"/>
                          </a:solidFill>
                          <a:latin typeface="Calibri"/>
                        </a:rPr>
                        <a:t>LDAP filters and query outputs (Part 8)</a:t>
                      </a:r>
                    </a:p>
                  </a:txBody>
                  <a:tcPr anchor="ctr" marL="76200" marR="76200" marT="38100" marB="38100">
                    <a:solidFill>
                      <a:srgbClr val="FFFFFF"/>
                    </a:solidFill>
                  </a:tcPr>
                </a:tc>
                <a:tc>
                  <a:txBody>
                    <a:bodyPr/>
                    <a:lstStyle/>
                    <a:p>
                      <a:pPr algn="l"/>
                      <a:r>
                        <a:rPr sz="1300" b="0" i="0">
                          <a:solidFill>
                            <a:srgbClr val="111B30"/>
                          </a:solidFill>
                          <a:latin typeface="Calibri"/>
                        </a:rPr>
                        <a:t>15</a:t>
                      </a:r>
                    </a:p>
                  </a:txBody>
                  <a:tcPr anchor="ctr" marL="76200" marR="76200" marT="38100" marB="38100">
                    <a:solidFill>
                      <a:srgbClr val="FFFFFF"/>
                    </a:solidFill>
                  </a:tcPr>
                </a:tc>
              </a:tr>
              <a:tr h="457200">
                <a:tc>
                  <a:txBody>
                    <a:bodyPr/>
                    <a:lstStyle/>
                    <a:p>
                      <a:pPr algn="l"/>
                      <a:r>
                        <a:rPr sz="1300" b="0" i="0">
                          <a:solidFill>
                            <a:srgbClr val="111B30"/>
                          </a:solidFill>
                          <a:latin typeface="Calibri"/>
                        </a:rPr>
                        <a:t>FreeRADIUS local deployment and debug analysis (Part 8)</a:t>
                      </a:r>
                    </a:p>
                  </a:txBody>
                  <a:tcPr anchor="ctr" marL="76200" marR="76200" marT="38100" marB="38100">
                    <a:solidFill>
                      <a:srgbClr val="E8EEF7"/>
                    </a:solidFill>
                  </a:tcPr>
                </a:tc>
                <a:tc>
                  <a:txBody>
                    <a:bodyPr/>
                    <a:lstStyle/>
                    <a:p>
                      <a:pPr algn="l"/>
                      <a:r>
                        <a:rPr sz="1300" b="0" i="0">
                          <a:solidFill>
                            <a:srgbClr val="111B30"/>
                          </a:solidFill>
                          <a:latin typeface="Calibri"/>
                        </a:rPr>
                        <a:t>15</a:t>
                      </a:r>
                    </a:p>
                  </a:txBody>
                  <a:tcPr anchor="ctr" marL="76200" marR="76200" marT="38100" marB="38100">
                    <a:solidFill>
                      <a:srgbClr val="E8EEF7"/>
                    </a:solidFill>
                  </a:tcPr>
                </a:tc>
              </a:tr>
              <a:tr h="457200">
                <a:tc>
                  <a:txBody>
                    <a:bodyPr/>
                    <a:lstStyle/>
                    <a:p>
                      <a:pPr algn="l"/>
                      <a:r>
                        <a:rPr sz="1300" b="0" i="0">
                          <a:solidFill>
                            <a:srgbClr val="111B30"/>
                          </a:solidFill>
                          <a:latin typeface="Calibri"/>
                        </a:rPr>
                        <a:t>Total</a:t>
                      </a:r>
                    </a:p>
                  </a:txBody>
                  <a:tcPr anchor="ctr" marL="76200" marR="76200" marT="38100" marB="38100">
                    <a:solidFill>
                      <a:srgbClr val="FFFFFF"/>
                    </a:solidFill>
                  </a:tcPr>
                </a:tc>
                <a:tc>
                  <a:txBody>
                    <a:bodyPr/>
                    <a:lstStyle/>
                    <a:p>
                      <a:pPr algn="l"/>
                      <a:r>
                        <a:rPr sz="1300" b="0" i="0">
                          <a:solidFill>
                            <a:srgbClr val="111B30"/>
                          </a:solidFill>
                          <a:latin typeface="Calibri"/>
                        </a:rPr>
                        <a:t>100</a:t>
                      </a:r>
                    </a:p>
                  </a:txBody>
                  <a:tcPr anchor="ctr" marL="76200" marR="76200" marT="38100" marB="38100">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11535" cy="777240"/>
          </a:xfrm>
          <a:prstGeom prst="rect">
            <a:avLst/>
          </a:prstGeom>
          <a:noFill/>
        </p:spPr>
        <p:txBody>
          <a:bodyPr wrap="square" lIns="0" tIns="0">
            <a:spAutoFit/>
          </a:bodyPr>
          <a:lstStyle/>
          <a:p>
            <a:pPr algn="l"/>
            <a:r>
              <a:rPr sz="2900" b="1" i="0">
                <a:solidFill>
                  <a:srgbClr val="1B2A4A"/>
                </a:solidFill>
                <a:latin typeface="Cambria"/>
              </a:rPr>
              <a:t>HW 3 Recap &amp; Q&amp;A</a:t>
            </a:r>
          </a:p>
        </p:txBody>
      </p:sp>
      <p:sp>
        <p:nvSpPr>
          <p:cNvPr id="3" name="TextBox 2"/>
          <p:cNvSpPr txBox="1"/>
          <p:nvPr/>
        </p:nvSpPr>
        <p:spPr>
          <a:xfrm>
            <a:off x="685800" y="1554480"/>
            <a:ext cx="10820095" cy="3566159"/>
          </a:xfrm>
          <a:prstGeom prst="rect">
            <a:avLst/>
          </a:prstGeom>
          <a:noFill/>
        </p:spPr>
        <p:txBody>
          <a:bodyPr wrap="square" lIns="0" tIns="0">
            <a:spAutoFit/>
          </a:bodyPr>
          <a:lstStyle/>
          <a:p>
            <a:pPr algn="l">
              <a:spcAft>
                <a:spcPts val="800"/>
              </a:spcAft>
            </a:pPr>
            <a:r>
              <a:rPr sz="1450" b="0" i="0">
                <a:solidFill>
                  <a:srgbClr val="111B30"/>
                </a:solidFill>
                <a:latin typeface="Calibri"/>
              </a:rPr>
              <a:t>●   HW 3 - Inactive AD Account PowerShell Script &amp; LDAP Filters (Both Tracks, same assignment)</a:t>
            </a:r>
          </a:p>
          <a:p>
            <a:pPr algn="l">
              <a:spcAft>
                <a:spcPts val="800"/>
              </a:spcAft>
            </a:pPr>
            <a:r>
              <a:rPr sz="1450" b="0" i="0">
                <a:solidFill>
                  <a:srgbClr val="111B30"/>
                </a:solidFill>
                <a:latin typeface="Calibri"/>
              </a:rPr>
              <a:t>●   Part 1 (25 pts): run the provided hw-03-audit.ps1, interpret the CSV's Reason column</a:t>
            </a:r>
          </a:p>
          <a:p>
            <a:pPr algn="l">
              <a:spcAft>
                <a:spcPts val="800"/>
              </a:spcAft>
            </a:pPr>
            <a:r>
              <a:rPr sz="1450" b="0" i="0">
                <a:solidFill>
                  <a:srgbClr val="111B30"/>
                </a:solidFill>
                <a:latin typeface="Calibri"/>
              </a:rPr>
              <a:t>●   Part 2 (35 pts): manual remediation - disable, set Description, move to OU=Disabled, log every action</a:t>
            </a:r>
          </a:p>
          <a:p>
            <a:pPr algn="l">
              <a:spcAft>
                <a:spcPts val="800"/>
              </a:spcAft>
            </a:pPr>
            <a:r>
              <a:rPr sz="1450" b="0" i="0">
                <a:solidFill>
                  <a:srgbClr val="111B30"/>
                </a:solidFill>
                <a:latin typeface="Calibri"/>
              </a:rPr>
              <a:t>●   Part 3 (20 pts): write-up - dormant account risk + real breach citation, quarantine OU justification, LastLogonDate limitations, remediation issues at scale</a:t>
            </a:r>
          </a:p>
          <a:p>
            <a:pPr algn="l">
              <a:spcAft>
                <a:spcPts val="800"/>
              </a:spcAft>
            </a:pPr>
            <a:r>
              <a:rPr sz="1450" b="0" i="0">
                <a:solidFill>
                  <a:srgbClr val="111B30"/>
                </a:solidFill>
                <a:latin typeface="Calibri"/>
              </a:rPr>
              <a:t>●   Part 4 (20 pts): 3 LDAP filter-writing exercises against the sample directory tree</a:t>
            </a:r>
          </a:p>
        </p:txBody>
      </p:sp>
      <p:sp>
        <p:nvSpPr>
          <p:cNvPr id="4" name="Rounded Rectangle 3"/>
          <p:cNvSpPr/>
          <p:nvPr/>
        </p:nvSpPr>
        <p:spPr>
          <a:xfrm>
            <a:off x="914400" y="5349240"/>
            <a:ext cx="914400" cy="914400"/>
          </a:xfrm>
          <a:prstGeom prst="roundRect">
            <a:avLst/>
          </a:prstGeom>
          <a:solidFill>
            <a:srgbClr val="00B4D8"/>
          </a:solidFill>
          <a:ln w="15875">
            <a:solidFill>
              <a:srgbClr val="00B4D8"/>
            </a:solidFill>
          </a:ln>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3600" b="1" i="0">
                <a:solidFill>
                  <a:srgbClr val="1B2A4A"/>
                </a:solidFill>
                <a:latin typeface="Calibri"/>
              </a:rPr>
              <a:t>?</a:t>
            </a:r>
          </a:p>
        </p:txBody>
      </p:sp>
      <p:sp>
        <p:nvSpPr>
          <p:cNvPr id="5" name="TextBox 4"/>
          <p:cNvSpPr txBox="1"/>
          <p:nvPr/>
        </p:nvSpPr>
        <p:spPr>
          <a:xfrm>
            <a:off x="2103120" y="5349240"/>
            <a:ext cx="8229600" cy="914400"/>
          </a:xfrm>
          <a:prstGeom prst="rect">
            <a:avLst/>
          </a:prstGeom>
          <a:noFill/>
        </p:spPr>
        <p:txBody>
          <a:bodyPr wrap="square" anchor="ctr">
            <a:spAutoFit/>
          </a:bodyPr>
          <a:lstStyle/>
          <a:p>
            <a:r>
              <a:rPr sz="1400" b="0" i="0">
                <a:solidFill>
                  <a:srgbClr val="3D5A80"/>
                </a:solidFill>
                <a:latin typeface="Calibri"/>
              </a:rPr>
              <a:t>Questions? sebastian.hayes@byu.edu · CYBER 444 Discord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