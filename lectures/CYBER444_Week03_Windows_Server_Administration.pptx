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Week 3 as the Windows-side mirror of Week 2's Linux administration week — same underlying goals (identity, policy enforcement, network services, patching, backup, licensing) but through AD, GPO, and PowerShell instead of flat config files and sudoers. Preview that everything taught this week is load-bearing for this week's hands-on exercises (AD/GPO/AAA administration, plus a stale-account audit and LDAP filter practice), so students should watch for the PowerShell and LDAP syntax patterns specifically — they'll use them almost verbatim.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Transition slide. Everything in this section is what students build by hand in the hands-on exercises this week — verifying a domain controller, then designing and creating a tiered OU structure and the accounts that live in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intentionally the simplest possible AD picture, because the hands-on exercises don't have students promote a forest — the assigned domain controller ships pre-promoted specifically so hands-on time goes to OU/GPO design, not DCPROMO mechanics. Make sure students can still say what a DC actually does conceptually (authentication, directory replication, policy distribution), since every later slide this week assumes that baseline.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the two trust mechanisms concretely: corp.local and emea.corp.local trust each other automatically the moment emea is created as a child domain — nobody configures that trust, it's a side effect of the forest structure. partner.com is a completely separate forest (a different company, a different AD install) — for anyone in corp.local to authenticate against partner.com resources or vice versa, an admin on both sides has to deliberately stand up a forest trust. Ask the class: why might an organization deliberately choose multiple domains within one forest instead of one big domain? (Common real answers: geographic replication boundaries, distinct password policies before PSOs existed, or the result of a merger/acquisition where each side kept its own domain.)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why each test matters: replication failures mean OU/GPO changes might not propagate to other DCs (less visible with a single DC here, but always a concern in production), DNS failures break Kerberos SPN lookups, and netlogon failures mean nobody can log on at all. If any dcdiag test fails, stop and fix it before touching OUs - building on an unhealthy DC just compounds the problem later.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each command live and point at the specific fields that matter: Get-ADDomain's DomainMode (functional level) and PDCEmulator; dcdiag's per-test pass/fail banner; netlogon /query's service state. If any dcdiag test fails, stop and fix it before doing anything else - it's the single most common root cause of confusing downstream errors.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DCSync doesn't require touching a DC at all - it abuses a legitimate AD replication permission from any domain-joined machine with the right rights, which is exactly why it's so dangerous and so easy to miss. Land the point hard: everything downstream this week (GPO, PSO, LDAP, RADIUS) ultimately inherits its trust from the DC, so a DC-level compromise is a domain-wide compromise.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direct motivation for Tier 0 isolation, the topic right after this run of slides - if literally nobody outside a small Tier 0 admin group can ever get local admin on a DC, this attack has no foothold to start from. Contrast with DCSync: this one needs a foothold ON the DC itself, DCSync needs only a permission granted to some other account.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“indefinitely” framing is the scary part worth dwelling on - a Golden Ticket survives ordinary incident response like resetting a compromised user's password, because it isn't tied to that user's credential at all, it's signed by the domain's own trust anchor. This is also why KRBTGT rotation has to happen twice: the account keeps its current AND previous password valid for compatibility, so one rotation alone doesn't invalidate an existing forged ticket.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closing spotlight is the thesis statement for the whole tiering discussion that follows - it's not one specific technique, it's the structural fact that every other attack in this run of slides depends on. Ask the class to connect it forward: if DC compromise is this catastrophic, what does that imply about who should ever be allowed to log into one? That's the tiering rule coming up next.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anchor for the entire OU design exercise - quote it directly: “a poorly designed OU/tiering model doesn't just create administrative headaches, it creates privilege-escalation paths.” Ask the class: if a helpdesk tech RDPs into a workstation using their Tier-0 domain admin account to fix a printer, what's the actual attack path an adversary now has? (Credential theft off that workstation now yields Tier-0 access.)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tree left to right and ask students, for each branch, who should have delegated rights over it - Tier0/AdminAccts should have almost nobody with rights beyond a couple of senior admins, while Workstations/IT could reasonably be delegated to a helpdesk group. Point out OU=Disabled now, even though it isn't used until the remediation workflow later this week - planning for account lifecycle, including deletion staging, is part of good OU design from day one, not an afterthought.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two or three levels of the tree live rather than the whole thing, to keep the demo moving - the pattern (create the parent, then reference its DN as -Path for the child) is the entire lesson. Close with Get-ADOrganizationalUnit -Filter * so students see the whole tree confirmed from the directory itself, not just trusted from memory - the same verify-don't-assume habit as the DC health demo.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practical implementation of the tiering rule from two slides ago - a single human can and should hold multiple accounts with different privilege levels, used for strictly different purposes. The “-adm” suffix is a naming convention, not a technical control by itself; the real control is OU placement plus GPO/PSO scoping, which gets stricter password requirements in Section 03.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-Path on New-ADUser places the account directly into the correct OU at creation time - no separate move step needed, unlike editing an existing account. Closing with Get-ADGroupMember proves the addition actually worked, the same verify-don't-assume habit as the earlier demos.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Section 01 by tying the OU discussion back to attacker behavior. The last row is a deliberate bridge to Section 08's dormant-account discussion - tell students to hold that thought, because the whole point of a dormant-account sweep is what happens when organizations don't follow the “Disabled OU” discipline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This is Windows Server's equivalent of Week 2's BIND/DHCP/NFS section - same protocols, different administrative surface (Server Manager / PowerShell *Dns*, *Dhcp*, *Smb* cmdlet families instead of flat config files).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SRV-record point hard - it's the single most common “AD is broken” root cause in the real world (a workstation pointed at the wrong DNS server can't find a DC at all, so it fails to authenticate and everyone blames “the domain” instead of DNS). Ask students to connect this back to any LDAP query's -H hostname argument later this week - that hostname resolution is doing real work.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Resolve-DnsName at the end is the payoff - it proves the record you just added is actually being served, not just sitting in the zone. Tie this back to the SRV-record discussion: the same zone that just answered for a hand-added A record is also what silently makes or breaks every domain-joined client's ability to find a DC.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Explicitly call back to Week 2's DORA diagram rather than redrawing it - the wire protocol didn't change, only the administrative tooling did (Add-DhcpServerv4Scope, Add-DhcpServerv4Reservation instead of editing dhcpd.conf by hand). Spend real time on failover, since that's the concept genuinely new to the Windows side and matters anywhere DHCP being down means nobody can join the network.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restrictive wins” rule is the fact students most often get wrong on exams - walk a concrete example: share permission = Everyone Full Control, NTFS permission = a specific group Read-only, so effective access is Read-only. This is the direct Windows analog to the Week 2 Linux lesson that NFS export options are the real security boundary, not what the client thinks it can 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reference slide - tell students it's meant to be screenshotted/saved, not memorized live. Use it to reinforce that Windows administration this week trends toward “PowerShell cmdlet families that mirror the GUI role,” which sets up Section 04's deeper PowerShell dive.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rogue-DHCP row is worth a show of hands: who has, on a home network, plugged in a router that also runs DHCP and caused chaos? That's the benign version of this attack, and it's a good bridge into why enterprise switches need DHCP snooping as a network-layer control - DHCP itself can't defend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This is the biggest section of the week - it's the direct source material for this week's Security Baseline GPO, Audit Policy GPO, PSO, and verification/lockout testing work.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exam-style trap: Local Security Policy settings get silently overridden the moment a GPO delivers a conflicting setting - so “I set it locally and it's not sticking” is almost always “a GPO is winning.” This is exactly why the hands-on exercises this week have you build GPOs rather than touch secpol.msc on each machine by hand.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is the “why” behind the instruction to link both GPOs at the domain root rather than a specific OU - a domain-root link means every OU (Tier0, Servers, Workstations, UserAccounts) inherits the baseline and audit settings automatically. Ask the class: if you wanted Tier0/AdminAccts to have stricter password rules than the rest of the domain, would you do it with another GPO, or something else? (Answer: PSO - coming up next, since GPO password settings can only be set once per domain via the Default Domain Policy.)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students memorize 4624/4625 cold - they'll use 4625 directly in the lockout verification work later this week (Get-WinEvent -LogName Security | Where-Object {$_.Id -eq 4625}). Mention that Event Log data only exists because Audit Policy is turned on for that category in the first place - an event ID means nothing if the GPO on the next two slides never enabled logging for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both directions - the raw MaxEvents dump so students see what a full event object actually looks like (TimeCreated, Id, Message, etc.), then the filtered Where-Object query they'll actually use in practice. Mention eventvwr.msc explicitly so students who prefer the GUI know where to find the identical data.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table and ask, for each row, what specific attack it blunts - length/complexity/history slow offline cracking and reuse, lockout threshold/duration blunt online brute force, and “don't display last signed-in” removes free reconnaissance for an attacker at a locked console.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that GPO creation and linking are one-liners, but the actual security settings inside the GPO are typically set through the Group Policy Management Editor GUI, not scripted - there's no single cmdlet for "apply the CIS baseline." Show New-GPO creating an empty GPO, then GPMC to open it and set one setting, so students see both halves of the workflow.</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“Advanced Audit Policy” is deliberate, not stylistic - the legacy 9-category Local Policy audit settings are coarser and get silently overridden by Advanced Audit Policy the moment it's configured, so mixing the two creates confusing gaps. gpupdate /force plus auditpol /get /category:* is how you prove the settings actually landed - screenshots of Group Policy Editor alone don't prove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Flag the precedence-number inversion explicitly and slowly - it trips up almost everyone the first time (intuition says higher number = higher priority, but PSOs are the opposite). This is built with New-ADFineGrainedPasswordPolicy -Precedence 10 and tighter settings scoped only to a specific admin account via Add-ADFineGrainedPasswordPolicySubject, verified with Get-ADUserResultantPasswordPolicy.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rows deserve extra time: Min Password Age (1 day) exists specifically to stop someone from changing their password repeatedly in rapid succession just to cycle back to a favorite one, defeating password history; and Protected From Accidental Deletion sets an AD object flag that blocks deletion until explicitly removed - a safety net for an object that's easy to fat-finger given how few of these an environment usually has.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 proving policy-as-written equals policy-as-enforced, a habit, not a one-time check. Ask students why testing against ajohnson instead of enovak-adm matters: it's not just “don't lock yourself out,” it's that the two accounts are under different PSOs with different thresholds, so testing the wrong one gives a false read on which policy is actually in effect.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Section 03 by tying GPO/audit/PSO back to attacker behavior, same pattern as Section 01's closing slide. The “cleared logs” row connects to the Event Log overview slide - Event ID 1102 is itself auditable, so even hiding tracks leaves a trace if centralized logging is in place, foreshadowing the dormant-account/SIEM discussion in Section 08.</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Literally every PowerShell snippet shown so far this lecture (New-ADOrganizationalUnit, New-GPO, Get-ADUserResultantPasswordPolicy) has been building toward this section's explanation of why PowerShell looks the way it does.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important conceptual shift for students coming from Week 2's Linux/Bash world - in Bash you'd parse text with awk/grep/cut, but in PowerShell you filter and select on named properties directly, which is exactly what makes a stale-account audit script's Where-Object staleness logic readable without any string parsing. Ask the class: what property would you filter on to find stale accounts? (LastLogonDate, PasswordLastSet - direct object properties, no text-scraping needed.)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students type one live example if time allows: Get-ADUser -Filter * -Properties LastLogonDate | Where-Object {$_.LastLogonDate -lt (Get-Date).AddDays(-90)} | Select-Object Name, LastLogonDate - that one line is functionally most of what a stale-account audit script does for the “stale” condition, just without the CSV export and parameterization.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deck's master reference table for both the OU/user-creation exercises and the stale-account remediation workflow - the former uses New-ADOrganizationalUnit/New-ADUser, and the latter uses Set-ADUser/Move-ADObject in the exact same style. Point out Search-ADAccount -AccountInactive as a built-in alternative to custom Where-Object staleness logic - worth knowing it exists even though a purpose-built audit script might roll its own filtering for more control (-StaleDays/-PasswordDays).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build this script live - this is typically handed to you already written, and the point is reading and running it, not authoring it. Use this slide only to make sure every stage of the pipeline is legible: parameterized query, object filter, projection, export - the exact same four-stage pattern from the “Filtering, Sorting &amp; Formatting” slide, just chained together.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this directly to the stale-account exercise's framing - it has students run the audit script manually and remediate by hand specifically to build muscle memory; in a real environment, this exact script would be registered as a nightly scheduled task so stale accounts get caught continuously instead of once. Ask: what could go wrong if you scheduled the remediation workflow itself, unattended, with no human review? Good lead-in to Section 08.</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genuinely important inflection point - PowerShell is simultaneously this week's most useful administrative tool and one of the most common attacker tools in real intrusions, precisely because it's trusted and already installed everywhere. If time allows, briefly show Get-WinEvent output for Event ID 4104 (Script Block Logging) so students see what defensive visibility into this actually looks like.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Frame these three as the unglamorous but load-bearing infrastructure roles - none show up directly in this week's hands-on exercises, but all three are explicit week-03 topics and common exam/interview material for Windows admins.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Autonomous vs. replica mode is the one distinction worth pausing on: autonomous downstream servers make their own approval decisions, replica servers just mirror the upstream server's approvals exactly - which one you pick depends on whether branch offices need local patch-approval authority or should just inherit HQ's decisions verbatim.</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staged-rollout point (test group before broad deployment) is worth a real anecdote if you have one - patch-related outages are a well-known operational risk, and WSUS's approval-workflow design exists specifically to let admins catch a bad patch on 5 test machines before it hits 5,000 production ones.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HTTP MITM row is the classic WSUS cautionary tale in security literature - a WSUS server configured over plain HTTP effectively becomes a code-execution-as-a-service pivot point for anyone who can position themselves on the network path, which is exactly why HTTPS-for-WSUS should be treated as non-optional, not a nice-to-have.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 the two DFS concepts clearly, since students often conflate them: the Namespace is the client-facing abstraction (one path, resolved to whichever server is closest/available), while Replication (DFS-R) is the backend mechanism that keeps the actual file content consistent across those servers. Connect back to Section 02's File Services slide - DFS is built directly on top of SMB shares and NTFS permissions, it doesn't replace either.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replication-lag row is worth explicitly linking forward to Section 08's discussion of AD replication lag affecting LastLogonDate - it's the same underlying theme (distributed systems have consistency windows, and security controls that assume instant consistency have a blind spot) showing up in a different subsystem.</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Requestor/Writer/Provider split is worth making students name back to you - Writers matter because an application-unaware snapshot of, say, a database mid-write is not a consistent, restorable backup, while a VSS-aware writer flushes state first so the shadow copy is actually usable. Mention shadow copies also power the self-service “Previous Versions” file restore feature end users sometimes use without realizing it's the same underlying technology.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vssadmin delete shadows row is one of the most reliable ransomware indicators-of-compromise in real incident response - nearly every major ransomware family runs this command as one of its first steps precisely because it's so effective at removing the easy, local rollback option before encryption even starts. This closes the section by tying back to the tiering theme (least-privilege backup accounts) that's now run through Sections 01, 03, and 05.</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Set expectations that this section is less hands-on/technical and more “know this for real-world budgeting and compliance conversations” - it won't show up in this week's hands-on exercises, but it's an explicit week-03 topic and a common gap in otherwise-strong technical admins.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example callout below the table - licensing minimum core counts are about licenses required, not physical capacity, so a lightly-loaded 2-proc/8-core box can be fully licensed while nowhere near CPU-constrained. The VM-count difference (2 vs. unlimited) is the actual decision driver in practice: once you need a 3rd Windows Server VM on one host, Datacenter usually becomes cheaper than stacking multiple Standard licenses.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this in a concrete example both ways - a 24/7 call center with 3 shifts sharing one workstation clearly wants Device CALs (one license covers all three shift workers), while a sales team that each has a laptop, tablet, and phone all hitting the same file server clearly wants User CALs (one license per person covers every device they own).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practical rather than exhaustive - the takeaway is that “volume licensing” isn't one thing, and the right vehicle depends heavily on organization size and appetite for long-term commitment versus flexibility, exactly the kind of decision a Windows admin gets pulled into even though it's technically a procurement/finance question.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directly back to the Standard/Datacenter table - Hyper-V rights are exactly the “included VM instances” row restated for virtualization specifically, so a Datacenter host isn't just “more powerful,” it's “unlimited free Windows Server guest licensing on that hardware,” which is the actual value proposition IT decision-makers care about.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Explicitly tell students this slide uses the same red/green visual language as the rest of the deck, even though “risk” replaces “attack” here - licensing non-compliance isn't a cybersecurity attack, but it's a real operational and financial risk a Windows admin is expected to manage, and the pattern of “something goes wrong because of a gap -&gt; here's the process control that prevents it” is identical to every other Attacks &amp; Defenses slide this week.</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Frame this section as a shared foundation - the same LDAP filter syntax skills, applied first to querying the domain directly, then to authenticating non-Windows network infrastructure against that same domain conceptually.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explicitly that this is structurally identical to the AD OU tree from Section 01 - dc=, ou=, and leaf objects are the generic LDAP vocabulary underneath what AD calls “domain” and “OU.” The cross-reference lines for memberOf are worth lingering on, since they preview the next slide's AND-filter exercise (finding accounts by both object type and group membership simultaneously).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effectively the answer-key structure (not the literal answers) for the LDAP filter-writing exercises - walk through why the bitwise matching rule OID is necessary at all: userAccountControl packs many boolean flags into one integer, so a plain equality filter only matches accounts with EXACTLY that combination of flags, while the bitwise rule matches any account with a specific bit set regardless of what else is set. Have students work out, as a group, why (uid=jsmith) alone isn't an OR filter but (|(uid=jsmith)(uid=tlowe)) is - the outer | is what makes it explicit.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these decimal values are sums of independent power-of-two flags, exactly why a bitwise filter is required instead of plain equality. Ask students to predict what filter would find “every account that's either disabled OR has a never-expiring password” using OR combined with two separate bitwise-matching-rule clauses - effectively the second filter-writing exercise.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the direct parallel to Section 01's tiering discussion - a network device authenticating admins locally has exactly the same “credential sprawl” problem as workstations with local admin accounts, just for infrastructure gear instead of desktops; RADIUS-backed-by-AD is the network-device equivalent of domain join. Mention TACACS+ exists as an alternative more common specifically for network-device administration, but RADIUS is the focus here.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slowing down on since it's genuinely new vocabulary: NAS doesn't mean “network-attached storage” here, it means whatever device is asking to authenticate someone on RADIUS's behalf - a switch, a VPN concentrator, or in a hands-on version of this, a Linux box running radtest playing the NAS role. UDP rather than TCP is also worth a beat: RADIUS predates the reliability assumptions protocol design would make today, part of why RadSec (RADIUS over TLS/TCP) exists as a modern alternative.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pedagogical reason for the flat-file-first step: if AD integration were configured first and the test failed, there'd be no way to tell whether the problem is RADIUS itself or the AD backend - proving RADIUS works in isolation first isolates the variable, a debugging habit worth calling out explicitly on its own.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Auth-Type line is the crux of the whole slide: unlike a flat file where FreeRADIUS just compares a stored value, AD demands FreeRADIUS actually attempt to log in as the user via LDAP to prove the password is correct, which forces PAP specifically since that's the only client-side method compatible with a plaintext bind. Test against a real domain account afterward, never the flat-file test user, since that user only exists locally and proves nothing about the LDAP path.</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pam_succeed_if scoping is the single most important line in this whole exercise, worth stating explicitly and slowly: an unscoped change routes every SSH login on the box - including your own admin session - through RADIUS, and any mistake in the RADIUS config locks everyone out at once, not just the one test account. Generalize the lesson beyond RADIUS: any time you're about to change how authentication itself works on a box you're logged into, keep your current session open until you've proven the change works from a second, independent connection.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Section 07 by pointing out an irony worth naming directly: RADIUS solves the credential-sprawl problem from the AAA-flow slide, but it introduces its own new trust relationship (the shared secret between each network device and the RADIUS server) that must be managed carefully, or you've just moved the weak point rather than eliminated it - a good closing thought before the dormant-account material, a different kind of trust-relationship decay.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Same closing pattern as Week 1/2 - a short conceptual bridge into this week's core theme, then a recap and Q&amp;A.</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Colonial Pipeline detail specifically: it wasn't a sophisticated exploit, it was a forgotten VPN account with a reused, previously-leaked password and no MFA - the security failure was entirely about account lifecycle hygiene, not clever attacker tradecraft. That's the whole argument for building the audit-and-remediate habit this week covers: dormant-account sweeps aren't busywork, they close exactly this kind of gap before it becomes an entry point.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LastLogonDate specifically reflects interactive and Kerberos ticket-granting activity, replicated with a real default lag (~14 days) - not just “logs can be wrong” hand-waving. The fix is never a single better field, it's pairing this signal with PasswordLastSet, federated sign-in logs, and mailbox activity so no single narrow or lagging signal drives a deletion decision on its own.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all four steps in order - doing all four for every flagged account matters, not just disabling; it's easy to disable and stop there. On the quarantine-duration callout, be concrete: ~90 days gives an account owner or their manager a real chance to flag a false positive, and requiring sign-off from someone other than whoever ran the sweep means final deletion is never a unilateral action by one admin. Connect back to Section 01's OU=Disabled slide: the OU existed in the tiering design from day one specifically so this reversible path is available.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deliberately the last conceptual slide before the recap, tying together Section 04's Task Scheduler content and the quarantine workflow. A good discussion question: what could go wrong at scale with an all-manual process like this? The honest answer: neither pure-manual nor pure-automated is right - detection should scale via automation (ticketing, dry-run mode, idempotent scripts), but the disable/delete action itself still benefits from a human checkpoint, exactly like the quarantine-OU staging from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Reassure students this is a long exercise but each piece is a direct extension of a slide they just saw this lecture - the DC-verification step mirrors the DC-verification slide, the OU/user creation steps mirror the OU/user slides, the GPO/PSO/verification steps mirror the GPO/PSO/verification slides, and the LDAP/RADIUS step mirrors the LDAP/RADIUS slides. Point that mapping out explicitly so it doesn't feel like new material dropped in cold.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heaviest chunk of points now sits in the RADIUS/LDAP work - four separate items worth 60 points combined - because it's the newest, most advanced material and the one most likely to need extra help, so budget study time accordingly.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connecting this recap back to the lecture: the audit-script anatomy diagram, the quarantine-workflow diagram, the dormant-account and LastLogonDate slides, and the LDAP tree/filter-syntax slides earlier this section together cover everything needed here - the goal is zero surprises, only applying what was just taught against a real assigned environment.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TextBox 1"/>
          <p:cNvSpPr txBox="1"/>
          <p:nvPr/>
        </p:nvSpPr>
        <p:spPr>
          <a:xfrm>
            <a:off x="640080" y="1874519"/>
            <a:ext cx="10911535" cy="548640"/>
          </a:xfrm>
          <a:prstGeom prst="rect">
            <a:avLst/>
          </a:prstGeom>
          <a:noFill/>
        </p:spPr>
        <p:txBody>
          <a:bodyPr wrap="none">
            <a:spAutoFit/>
          </a:bodyPr>
          <a:lstStyle/>
          <a:p>
            <a:r>
              <a:rPr sz="2200" b="1" i="0">
                <a:solidFill>
                  <a:srgbClr val="00B4D8"/>
                </a:solidFill>
                <a:latin typeface="Cambria"/>
              </a:rPr>
              <a:t>WEEK 3</a:t>
            </a:r>
          </a:p>
        </p:txBody>
      </p:sp>
      <p:sp>
        <p:nvSpPr>
          <p:cNvPr id="3" name="TextBox 2"/>
          <p:cNvSpPr txBox="1"/>
          <p:nvPr/>
        </p:nvSpPr>
        <p:spPr>
          <a:xfrm>
            <a:off x="640080" y="2468880"/>
            <a:ext cx="10911535" cy="1188720"/>
          </a:xfrm>
          <a:prstGeom prst="rect">
            <a:avLst/>
          </a:prstGeom>
          <a:noFill/>
        </p:spPr>
        <p:txBody>
          <a:bodyPr wrap="square">
            <a:spAutoFit/>
          </a:bodyPr>
          <a:lstStyle/>
          <a:p>
            <a:r>
              <a:rPr sz="4200" b="1" i="0">
                <a:solidFill>
                  <a:srgbClr val="FFFFFF"/>
                </a:solidFill>
                <a:latin typeface="Cambria"/>
              </a:rPr>
              <a:t>Windows Server Administration</a:t>
            </a:r>
          </a:p>
        </p:txBody>
      </p:sp>
      <p:sp>
        <p:nvSpPr>
          <p:cNvPr id="4" name="TextBox 3"/>
          <p:cNvSpPr txBox="1"/>
          <p:nvPr/>
        </p:nvSpPr>
        <p:spPr>
          <a:xfrm>
            <a:off x="640080" y="3794760"/>
            <a:ext cx="10911535" cy="822960"/>
          </a:xfrm>
          <a:prstGeom prst="rect">
            <a:avLst/>
          </a:prstGeom>
          <a:noFill/>
        </p:spPr>
        <p:txBody>
          <a:bodyPr wrap="square">
            <a:spAutoFit/>
          </a:bodyPr>
          <a:lstStyle/>
          <a:p>
            <a:r>
              <a:rPr sz="1600" b="0" i="0">
                <a:solidFill>
                  <a:srgbClr val="E8EEF7"/>
                </a:solidFill>
                <a:latin typeface="Calibri"/>
              </a:rPr>
              <a:t>CYBER 444 — Systems &amp; Network Administration</a:t>
            </a:r>
          </a:p>
          <a:p>
            <a:pPr>
              <a:spcBef>
                <a:spcPts val="600"/>
              </a:spcBef>
            </a:pPr>
            <a:r>
              <a:rPr sz="1300" b="0" i="1">
                <a:solidFill>
                  <a:srgbClr val="00B4D8"/>
                </a:solidFill>
                <a:latin typeface="Calibri"/>
              </a:rPr>
              <a:t>Active Directory · GPO · PowerShell · Centralized AAA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01</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Active Directory Architecture &amp; OU Design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Active Directory Architecture: Forests, Domains &amp; Domain Controllers</a:t>
            </a:r>
          </a:p>
        </p:txBody>
      </p:sp>
      <p:sp>
        <p:nvSpPr>
          <p:cNvPr id="3" name="TextBox 2"/>
          <p:cNvSpPr txBox="1"/>
          <p:nvPr/>
        </p:nvSpPr>
        <p:spPr>
          <a:xfrm>
            <a:off x="640080" y="1417320"/>
            <a:ext cx="10911535" cy="365760"/>
          </a:xfrm>
          <a:prstGeom prst="rect">
            <a:avLst/>
          </a:prstGeom>
          <a:noFill/>
        </p:spPr>
        <p:txBody>
          <a:bodyPr wrap="square" lIns="0" tIns="0">
            <a:spAutoFit/>
          </a:bodyPr>
          <a:lstStyle/>
          <a:p>
            <a:r>
              <a:rPr sz="1250" b="0" i="1">
                <a:solidFill>
                  <a:srgbClr val="6B7480"/>
                </a:solidFill>
                <a:latin typeface="Calibri"/>
              </a:rPr>
              <a:t>Single-domain forest used in this course (lab.local) — a DC hosts AD DS, DNS, and replicates the directory.</a:t>
            </a:r>
          </a:p>
        </p:txBody>
      </p:sp>
      <p:sp>
        <p:nvSpPr>
          <p:cNvPr id="4" name="Rounded Rectangle 3"/>
          <p:cNvSpPr/>
          <p:nvPr/>
        </p:nvSpPr>
        <p:spPr>
          <a:xfrm>
            <a:off x="914400" y="1874519"/>
            <a:ext cx="10332720" cy="4160520"/>
          </a:xfrm>
          <a:prstGeom prst="roundRect">
            <a:avLst/>
          </a:prstGeom>
          <a:solidFill>
            <a:srgbClr val="FFFFFF"/>
          </a:solidFill>
          <a:ln w="19050">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
            </a:r>
          </a:p>
        </p:txBody>
      </p:sp>
      <p:sp>
        <p:nvSpPr>
          <p:cNvPr id="5" name="TextBox 4"/>
          <p:cNvSpPr txBox="1"/>
          <p:nvPr/>
        </p:nvSpPr>
        <p:spPr>
          <a:xfrm>
            <a:off x="1051560" y="1920240"/>
            <a:ext cx="3657600" cy="274320"/>
          </a:xfrm>
          <a:prstGeom prst="rect">
            <a:avLst/>
          </a:prstGeom>
          <a:noFill/>
        </p:spPr>
        <p:txBody>
          <a:bodyPr wrap="none">
            <a:spAutoFit/>
          </a:bodyPr>
          <a:lstStyle/>
          <a:p>
            <a:r>
              <a:rPr sz="1100" b="1" i="0">
                <a:solidFill>
                  <a:srgbClr val="3D5A80"/>
                </a:solidFill>
                <a:latin typeface="Cambria"/>
              </a:rPr>
              <a:t>FOREST: lab.local</a:t>
            </a:r>
          </a:p>
        </p:txBody>
      </p:sp>
      <p:sp>
        <p:nvSpPr>
          <p:cNvPr id="6" name="Rounded Rectangle 5"/>
          <p:cNvSpPr/>
          <p:nvPr/>
        </p:nvSpPr>
        <p:spPr>
          <a:xfrm>
            <a:off x="1280160" y="2331720"/>
            <a:ext cx="9601200" cy="33832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
            </a:r>
          </a:p>
        </p:txBody>
      </p:sp>
      <p:sp>
        <p:nvSpPr>
          <p:cNvPr id="7" name="TextBox 6"/>
          <p:cNvSpPr txBox="1"/>
          <p:nvPr/>
        </p:nvSpPr>
        <p:spPr>
          <a:xfrm>
            <a:off x="1417320" y="2377440"/>
            <a:ext cx="3657600" cy="274320"/>
          </a:xfrm>
          <a:prstGeom prst="rect">
            <a:avLst/>
          </a:prstGeom>
          <a:noFill/>
        </p:spPr>
        <p:txBody>
          <a:bodyPr wrap="none">
            <a:spAutoFit/>
          </a:bodyPr>
          <a:lstStyle/>
          <a:p>
            <a:r>
              <a:rPr sz="1100" b="1" i="0">
                <a:solidFill>
                  <a:srgbClr val="1B2A4A"/>
                </a:solidFill>
                <a:latin typeface="Cambria"/>
              </a:rPr>
              <a:t>DOMAIN: lab.local</a:t>
            </a:r>
          </a:p>
        </p:txBody>
      </p:sp>
      <p:sp>
        <p:nvSpPr>
          <p:cNvPr id="8" name="Rounded Rectangle 7"/>
          <p:cNvSpPr/>
          <p:nvPr/>
        </p:nvSpPr>
        <p:spPr>
          <a:xfrm>
            <a:off x="1645920" y="2926080"/>
            <a:ext cx="2651760" cy="9601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DC01</a:t>
            </a:r>
          </a:p>
          <a:p>
            <a:pPr algn="ctr"/>
            <a:r>
              <a:rPr sz="1050" b="1" i="0">
                <a:solidFill>
                  <a:srgbClr val="111B30"/>
                </a:solidFill>
                <a:latin typeface="Calibri"/>
              </a:rPr>
              <a:t>(AD DS + DNS)</a:t>
            </a:r>
          </a:p>
        </p:txBody>
      </p:sp>
      <p:sp>
        <p:nvSpPr>
          <p:cNvPr id="9" name="Rounded Rectangle 8"/>
          <p:cNvSpPr/>
          <p:nvPr/>
        </p:nvSpPr>
        <p:spPr>
          <a:xfrm>
            <a:off x="4617720" y="2926080"/>
            <a:ext cx="2651760" cy="9601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Global Catalog</a:t>
            </a:r>
          </a:p>
        </p:txBody>
      </p:sp>
      <p:sp>
        <p:nvSpPr>
          <p:cNvPr id="10" name="Rounded Rectangle 9"/>
          <p:cNvSpPr/>
          <p:nvPr/>
        </p:nvSpPr>
        <p:spPr>
          <a:xfrm>
            <a:off x="7589520" y="2926080"/>
            <a:ext cx="2926080" cy="9601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SYSVOL / NETLOGON</a:t>
            </a:r>
          </a:p>
          <a:p>
            <a:pPr algn="ctr"/>
            <a:r>
              <a:rPr sz="1050" b="0" i="0">
                <a:solidFill>
                  <a:srgbClr val="111B30"/>
                </a:solidFill>
                <a:latin typeface="Calibri"/>
              </a:rPr>
              <a:t>Shares</a:t>
            </a:r>
          </a:p>
        </p:txBody>
      </p:sp>
      <p:sp>
        <p:nvSpPr>
          <p:cNvPr id="11" name="Rounded Rectangle 10"/>
          <p:cNvSpPr/>
          <p:nvPr/>
        </p:nvSpPr>
        <p:spPr>
          <a:xfrm>
            <a:off x="2468880" y="4434840"/>
            <a:ext cx="2377440" cy="86868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DC01</a:t>
            </a:r>
          </a:p>
        </p:txBody>
      </p:sp>
      <p:sp>
        <p:nvSpPr>
          <p:cNvPr id="12" name="Rounded Rectangle 11"/>
          <p:cNvSpPr/>
          <p:nvPr/>
        </p:nvSpPr>
        <p:spPr>
          <a:xfrm>
            <a:off x="6949440" y="4434840"/>
            <a:ext cx="2377440" cy="86868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DC02 (example)</a:t>
            </a:r>
          </a:p>
        </p:txBody>
      </p:sp>
      <p:cxnSp>
        <p:nvCxnSpPr>
          <p:cNvPr id="13" name="Connector 12"/>
          <p:cNvCxnSpPr/>
          <p:nvPr/>
        </p:nvCxnSpPr>
        <p:spPr>
          <a:xfrm>
            <a:off x="4846320" y="4869179"/>
            <a:ext cx="2103120" cy="0"/>
          </a:xfrm>
          <a:prstGeom prst="line">
            <a:avLst/>
          </a:prstGeom>
          <a:ln w="22225">
            <a:solidFill>
              <a:srgbClr val="00B4D8"/>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029200" y="4722875"/>
            <a:ext cx="1737360" cy="292608"/>
          </a:xfrm>
          <a:prstGeom prst="rect">
            <a:avLst/>
          </a:prstGeom>
          <a:noFill/>
        </p:spPr>
        <p:txBody>
          <a:bodyPr wrap="square" lIns="0" tIns="0">
            <a:spAutoFit/>
          </a:bodyPr>
          <a:lstStyle/>
          <a:p>
            <a:pPr algn="ctr"/>
            <a:r>
              <a:rPr sz="900" b="0" i="1">
                <a:solidFill>
                  <a:srgbClr val="404040"/>
                </a:solidFill>
                <a:latin typeface="Calibri"/>
              </a:rPr>
              <a:t>multi-master replication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Beyond a Single Domain: Multi-Forest &amp; Multi-Domain Example</a:t>
            </a:r>
          </a:p>
        </p:txBody>
      </p:sp>
      <p:sp>
        <p:nvSpPr>
          <p:cNvPr id="3" name="TextBox 2"/>
          <p:cNvSpPr txBox="1"/>
          <p:nvPr/>
        </p:nvSpPr>
        <p:spPr>
          <a:xfrm>
            <a:off x="640080" y="1417320"/>
            <a:ext cx="10911535" cy="365760"/>
          </a:xfrm>
          <a:prstGeom prst="rect">
            <a:avLst/>
          </a:prstGeom>
          <a:noFill/>
        </p:spPr>
        <p:txBody>
          <a:bodyPr wrap="square" lIns="0" tIns="0">
            <a:spAutoFit/>
          </a:bodyPr>
          <a:lstStyle/>
          <a:p>
            <a:r>
              <a:rPr sz="1250" b="0" i="1">
                <a:solidFill>
                  <a:srgbClr val="6B7480"/>
                </a:solidFill>
                <a:latin typeface="Calibri"/>
              </a:rPr>
              <a:t>This course's environment uses a single forest/single domain (lab.local) for simplicity — production orgs often span more.</a:t>
            </a:r>
          </a:p>
        </p:txBody>
      </p:sp>
      <p:sp>
        <p:nvSpPr>
          <p:cNvPr id="4" name="Rounded Rectangle 3"/>
          <p:cNvSpPr/>
          <p:nvPr/>
        </p:nvSpPr>
        <p:spPr>
          <a:xfrm>
            <a:off x="914400" y="1920240"/>
            <a:ext cx="5303520" cy="2926080"/>
          </a:xfrm>
          <a:prstGeom prst="roundRect">
            <a:avLst/>
          </a:prstGeom>
          <a:solidFill>
            <a:srgbClr val="FFFFFF"/>
          </a:solidFill>
          <a:ln w="19050">
            <a:solidFill>
              <a:srgbClr val="3D5A80"/>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
            </a:r>
          </a:p>
        </p:txBody>
      </p:sp>
      <p:sp>
        <p:nvSpPr>
          <p:cNvPr id="5" name="TextBox 4"/>
          <p:cNvSpPr txBox="1"/>
          <p:nvPr/>
        </p:nvSpPr>
        <p:spPr>
          <a:xfrm>
            <a:off x="1051560" y="1965960"/>
            <a:ext cx="3657600" cy="274320"/>
          </a:xfrm>
          <a:prstGeom prst="rect">
            <a:avLst/>
          </a:prstGeom>
          <a:noFill/>
        </p:spPr>
        <p:txBody>
          <a:bodyPr wrap="none">
            <a:spAutoFit/>
          </a:bodyPr>
          <a:lstStyle/>
          <a:p>
            <a:r>
              <a:rPr sz="1100" b="1" i="0">
                <a:solidFill>
                  <a:srgbClr val="3D5A80"/>
                </a:solidFill>
                <a:latin typeface="Cambria"/>
              </a:rPr>
              <a:t>FOREST A</a:t>
            </a:r>
          </a:p>
        </p:txBody>
      </p:sp>
      <p:sp>
        <p:nvSpPr>
          <p:cNvPr id="6" name="Rounded Rectangle 5"/>
          <p:cNvSpPr/>
          <p:nvPr/>
        </p:nvSpPr>
        <p:spPr>
          <a:xfrm>
            <a:off x="1371600" y="2468880"/>
            <a:ext cx="4206240" cy="82296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corp.local</a:t>
            </a:r>
          </a:p>
          <a:p>
            <a:pPr algn="ctr"/>
            <a:r>
              <a:rPr sz="1050" b="1" i="0">
                <a:solidFill>
                  <a:srgbClr val="111B30"/>
                </a:solidFill>
                <a:latin typeface="Calibri"/>
              </a:rPr>
              <a:t>(forest root domain)</a:t>
            </a:r>
          </a:p>
        </p:txBody>
      </p:sp>
      <p:sp>
        <p:nvSpPr>
          <p:cNvPr id="7" name="Rounded Rectangle 6"/>
          <p:cNvSpPr/>
          <p:nvPr/>
        </p:nvSpPr>
        <p:spPr>
          <a:xfrm>
            <a:off x="2103120" y="3749039"/>
            <a:ext cx="3657600" cy="82296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emea.corp.local</a:t>
            </a:r>
          </a:p>
          <a:p>
            <a:pPr algn="ctr"/>
            <a:r>
              <a:rPr sz="1000" b="0" i="0">
                <a:solidFill>
                  <a:srgbClr val="111B30"/>
                </a:solidFill>
                <a:latin typeface="Calibri"/>
              </a:rPr>
              <a:t>(child domain)</a:t>
            </a:r>
          </a:p>
        </p:txBody>
      </p:sp>
      <p:cxnSp>
        <p:nvCxnSpPr>
          <p:cNvPr id="8" name="Connector 7"/>
          <p:cNvCxnSpPr/>
          <p:nvPr/>
        </p:nvCxnSpPr>
        <p:spPr>
          <a:xfrm>
            <a:off x="3474720" y="3291840"/>
            <a:ext cx="457200" cy="457199"/>
          </a:xfrm>
          <a:prstGeom prst="line">
            <a:avLst/>
          </a:prstGeom>
          <a:ln w="22225">
            <a:solidFill>
              <a:srgbClr val="1B2A4A"/>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39" y="3374135"/>
            <a:ext cx="1737360" cy="292608"/>
          </a:xfrm>
          <a:prstGeom prst="rect">
            <a:avLst/>
          </a:prstGeom>
          <a:noFill/>
        </p:spPr>
        <p:txBody>
          <a:bodyPr wrap="square" lIns="0" tIns="0">
            <a:spAutoFit/>
          </a:bodyPr>
          <a:lstStyle/>
          <a:p>
            <a:pPr algn="ctr"/>
            <a:r>
              <a:rPr sz="900" b="0" i="1">
                <a:solidFill>
                  <a:srgbClr val="404040"/>
                </a:solidFill>
                <a:latin typeface="Calibri"/>
              </a:rPr>
              <a:t>two-way transitive trust (auto)</a:t>
            </a:r>
          </a:p>
        </p:txBody>
      </p:sp>
      <p:sp>
        <p:nvSpPr>
          <p:cNvPr id="10" name="Rounded Rectangle 9"/>
          <p:cNvSpPr/>
          <p:nvPr/>
        </p:nvSpPr>
        <p:spPr>
          <a:xfrm>
            <a:off x="7589520" y="1920240"/>
            <a:ext cx="3685032" cy="2103120"/>
          </a:xfrm>
          <a:prstGeom prst="roundRect">
            <a:avLst/>
          </a:prstGeom>
          <a:solidFill>
            <a:srgbClr val="FFFFFF"/>
          </a:solidFill>
          <a:ln w="19050">
            <a:solidFill>
              <a:srgbClr val="3D5A80"/>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
            </a:r>
          </a:p>
        </p:txBody>
      </p:sp>
      <p:sp>
        <p:nvSpPr>
          <p:cNvPr id="11" name="TextBox 10"/>
          <p:cNvSpPr txBox="1"/>
          <p:nvPr/>
        </p:nvSpPr>
        <p:spPr>
          <a:xfrm>
            <a:off x="7726679" y="1965960"/>
            <a:ext cx="3657600" cy="274320"/>
          </a:xfrm>
          <a:prstGeom prst="rect">
            <a:avLst/>
          </a:prstGeom>
          <a:noFill/>
        </p:spPr>
        <p:txBody>
          <a:bodyPr wrap="none">
            <a:spAutoFit/>
          </a:bodyPr>
          <a:lstStyle/>
          <a:p>
            <a:r>
              <a:rPr sz="1100" b="1" i="0">
                <a:solidFill>
                  <a:srgbClr val="3D5A80"/>
                </a:solidFill>
                <a:latin typeface="Cambria"/>
              </a:rPr>
              <a:t>FOREST B</a:t>
            </a:r>
          </a:p>
        </p:txBody>
      </p:sp>
      <p:sp>
        <p:nvSpPr>
          <p:cNvPr id="12" name="Rounded Rectangle 11"/>
          <p:cNvSpPr/>
          <p:nvPr/>
        </p:nvSpPr>
        <p:spPr>
          <a:xfrm>
            <a:off x="7955279" y="2651760"/>
            <a:ext cx="2926080" cy="82296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partner.com</a:t>
            </a:r>
          </a:p>
          <a:p>
            <a:pPr algn="ctr"/>
            <a:r>
              <a:rPr sz="1050" b="1" i="0">
                <a:solidFill>
                  <a:srgbClr val="111B30"/>
                </a:solidFill>
                <a:latin typeface="Calibri"/>
              </a:rPr>
              <a:t>(separate forest)</a:t>
            </a:r>
          </a:p>
        </p:txBody>
      </p:sp>
      <p:cxnSp>
        <p:nvCxnSpPr>
          <p:cNvPr id="13" name="Connector 12"/>
          <p:cNvCxnSpPr/>
          <p:nvPr/>
        </p:nvCxnSpPr>
        <p:spPr>
          <a:xfrm>
            <a:off x="5577840" y="2880360"/>
            <a:ext cx="2377439" cy="182880"/>
          </a:xfrm>
          <a:prstGeom prst="line">
            <a:avLst/>
          </a:prstGeom>
          <a:ln w="22225">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897879" y="2825496"/>
            <a:ext cx="1737360" cy="292608"/>
          </a:xfrm>
          <a:prstGeom prst="rect">
            <a:avLst/>
          </a:prstGeom>
          <a:noFill/>
        </p:spPr>
        <p:txBody>
          <a:bodyPr wrap="square" lIns="0" tIns="0">
            <a:spAutoFit/>
          </a:bodyPr>
          <a:lstStyle/>
          <a:p>
            <a:pPr algn="ctr"/>
            <a:r>
              <a:rPr sz="900" b="0" i="1">
                <a:solidFill>
                  <a:srgbClr val="404040"/>
                </a:solidFill>
                <a:latin typeface="Calibri"/>
              </a:rPr>
              <a:t>forest trust (explicit)</a:t>
            </a:r>
          </a:p>
        </p:txBody>
      </p:sp>
      <p:sp>
        <p:nvSpPr>
          <p:cNvPr id="15" name="TextBox 14"/>
          <p:cNvSpPr txBox="1"/>
          <p:nvPr/>
        </p:nvSpPr>
        <p:spPr>
          <a:xfrm>
            <a:off x="914400" y="5120640"/>
            <a:ext cx="10332720" cy="1097280"/>
          </a:xfrm>
          <a:prstGeom prst="rect">
            <a:avLst/>
          </a:prstGeom>
          <a:noFill/>
        </p:spPr>
        <p:txBody>
          <a:bodyPr wrap="square">
            <a:spAutoFit/>
          </a:bodyPr>
          <a:lstStyle/>
          <a:p>
            <a:r>
              <a:rPr sz="1100" b="0" i="1">
                <a:solidFill>
                  <a:srgbClr val="404040"/>
                </a:solidFill>
                <a:latin typeface="Calibri"/>
              </a:rPr>
              <a:t>Within a forest, parent-child domain trust is automatic and transitive — every domain in the forest implicitly trusts every other. Between separate forests, trust is never automatic: it has to be explicitly configured, can be one-way or two-way, and can be scoped narrower than a full two-way forest trust.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Verifying a Domain Controller: Health Before You Trust It</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Never assume a DC is healthy - especially one you didn't build yourself</a:t>
            </a:r>
          </a:p>
          <a:p>
            <a:pPr algn="l">
              <a:spcAft>
                <a:spcPts val="1200"/>
              </a:spcAft>
            </a:pPr>
            <a:r>
              <a:rPr sz="1600" b="0" i="0">
                <a:solidFill>
                  <a:srgbClr val="111B30"/>
                </a:solidFill>
                <a:latin typeface="Calibri"/>
              </a:rPr>
              <a:t>●   Get-ADDomain - confirms domain name, functional level, PDC emulator location</a:t>
            </a:r>
          </a:p>
          <a:p>
            <a:pPr algn="l">
              <a:spcAft>
                <a:spcPts val="1200"/>
              </a:spcAft>
            </a:pPr>
            <a:r>
              <a:rPr sz="1600" b="0" i="0">
                <a:solidFill>
                  <a:srgbClr val="111B30"/>
                </a:solidFill>
                <a:latin typeface="Calibri"/>
              </a:rPr>
              <a:t>●   dcdiag /test:replications /test:dns /test:netlogon - the standard AD health-check triad</a:t>
            </a:r>
          </a:p>
          <a:p>
            <a:pPr algn="l">
              <a:spcAft>
                <a:spcPts val="1200"/>
              </a:spcAft>
            </a:pPr>
            <a:r>
              <a:rPr sz="1600" b="0" i="0">
                <a:solidFill>
                  <a:srgbClr val="111B30"/>
                </a:solidFill>
                <a:latin typeface="Calibri"/>
              </a:rPr>
              <a:t>●   netlogon /query - confirms the DC can actually process authentication requests</a:t>
            </a:r>
          </a:p>
          <a:p>
            <a:pPr algn="l">
              <a:spcAft>
                <a:spcPts val="1200"/>
              </a:spcAft>
            </a:pPr>
            <a:r>
              <a:rPr sz="1600" b="0" i="0">
                <a:solidFill>
                  <a:srgbClr val="111B30"/>
                </a:solidFill>
                <a:latin typeface="Calibri"/>
              </a:rPr>
              <a:t>●   All dcdiag tests must pass before you touch OUs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Checking Domain Health</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Get-ADDomain</a:t>
            </a:r>
          </a:p>
          <a:p>
            <a:pPr algn="l">
              <a:spcAft>
                <a:spcPts val="1000"/>
              </a:spcAft>
            </a:pPr>
            <a:r>
              <a:rPr sz="1300" b="0" i="1">
                <a:solidFill>
                  <a:srgbClr val="3D5A80"/>
                </a:solidFill>
                <a:latin typeface="Calibri"/>
              </a:rPr>
              <a:t>confirms domain name, functional level, and PDC emulator location</a:t>
            </a:r>
          </a:p>
          <a:p>
            <a:pPr algn="l">
              <a:spcAft>
                <a:spcPts val="1000"/>
              </a:spcAft>
            </a:pPr>
            <a:r>
              <a:rPr sz="1400" b="0" i="0">
                <a:solidFill>
                  <a:srgbClr val="111B30"/>
                </a:solidFill>
                <a:latin typeface="Courier New"/>
              </a:rPr>
              <a:t>dcdiag /test:replications /test:dns /test:netlogon</a:t>
            </a:r>
          </a:p>
          <a:p>
            <a:pPr algn="l">
              <a:spcAft>
                <a:spcPts val="1000"/>
              </a:spcAft>
            </a:pPr>
            <a:r>
              <a:rPr sz="1300" b="0" i="1">
                <a:solidFill>
                  <a:srgbClr val="3D5A80"/>
                </a:solidFill>
                <a:latin typeface="Calibri"/>
              </a:rPr>
              <a:t>the standard three-test AD health-check triad</a:t>
            </a:r>
          </a:p>
          <a:p>
            <a:pPr algn="l">
              <a:spcAft>
                <a:spcPts val="1000"/>
              </a:spcAft>
            </a:pPr>
            <a:r>
              <a:rPr sz="1400" b="0" i="0">
                <a:solidFill>
                  <a:srgbClr val="111B30"/>
                </a:solidFill>
                <a:latin typeface="Courier New"/>
              </a:rPr>
              <a:t>netlogon /query</a:t>
            </a:r>
          </a:p>
          <a:p>
            <a:pPr algn="l">
              <a:spcAft>
                <a:spcPts val="1000"/>
              </a:spcAft>
            </a:pPr>
            <a:r>
              <a:rPr sz="1300" b="0" i="1">
                <a:solidFill>
                  <a:srgbClr val="3D5A80"/>
                </a:solidFill>
                <a:latin typeface="Calibri"/>
              </a:rPr>
              <a:t>confirms the Netlogon service is running and can process authentication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DCSync</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holds</a:t>
            </a:r>
          </a:p>
          <a:p>
            <a:pPr algn="ctr"/>
            <a:r>
              <a:rPr sz="1100" b="0" i="0">
                <a:solidFill>
                  <a:srgbClr val="111B30"/>
                </a:solidFill>
                <a:latin typeface="Calibri"/>
              </a:rPr>
              <a:t>“Replicating Directory</a:t>
            </a:r>
          </a:p>
          <a:p>
            <a:pPr algn="ctr"/>
            <a:r>
              <a:rPr sz="1100" b="0" i="0">
                <a:solidFill>
                  <a:srgbClr val="111B30"/>
                </a:solidFill>
                <a:latin typeface="Calibri"/>
              </a:rPr>
              <a:t>Changes” rights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Impersonates a DC and</a:t>
            </a:r>
          </a:p>
          <a:p>
            <a:pPr algn="ctr"/>
            <a:r>
              <a:rPr sz="1100" b="1" i="0">
                <a:solidFill>
                  <a:srgbClr val="111B30"/>
                </a:solidFill>
                <a:latin typeface="Calibri"/>
              </a:rPr>
              <a:t>requests directory</a:t>
            </a:r>
          </a:p>
          <a:p>
            <a:pPr algn="ctr"/>
            <a:r>
              <a:rPr sz="1100" b="1" i="0">
                <a:solidFill>
                  <a:srgbClr val="111B30"/>
                </a:solidFill>
                <a:latin typeface="Calibri"/>
              </a:rPr>
              <a:t>replication (DCSync)</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Extracts password hashes</a:t>
            </a:r>
          </a:p>
          <a:p>
            <a:pPr algn="ctr"/>
            <a:r>
              <a:rPr sz="1100" b="0" i="0">
                <a:solidFill>
                  <a:srgbClr val="111B30"/>
                </a:solidFill>
                <a:latin typeface="Calibri"/>
              </a:rPr>
              <a:t>for any account,</a:t>
            </a:r>
          </a:p>
          <a:p>
            <a:pPr algn="ctr"/>
            <a:r>
              <a:rPr sz="1100" b="0" i="0">
                <a:solidFill>
                  <a:srgbClr val="111B30"/>
                </a:solidFill>
                <a:latin typeface="Calibri"/>
              </a:rPr>
              <a:t>including krbtgt</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Restrict “Replicating Directory Changes” rights; monitor Event ID 4662</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NTDS.dit Theft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has local</a:t>
            </a:r>
          </a:p>
          <a:p>
            <a:pPr algn="ctr"/>
            <a:r>
              <a:rPr sz="1100" b="0" i="0">
                <a:solidFill>
                  <a:srgbClr val="111B30"/>
                </a:solidFill>
                <a:latin typeface="Calibri"/>
              </a:rPr>
              <a:t>admin on a DC</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Copies NTDS.dit + the</a:t>
            </a:r>
          </a:p>
          <a:p>
            <a:pPr algn="ctr"/>
            <a:r>
              <a:rPr sz="1100" b="1" i="0">
                <a:solidFill>
                  <a:srgbClr val="111B30"/>
                </a:solidFill>
                <a:latin typeface="Calibri"/>
              </a:rPr>
              <a:t>SYSTEM registry hive</a:t>
            </a:r>
          </a:p>
          <a:p>
            <a:pPr algn="ctr"/>
            <a:r>
              <a:rPr sz="1100" b="1" i="0">
                <a:solidFill>
                  <a:srgbClr val="111B30"/>
                </a:solidFill>
                <a:latin typeface="Calibri"/>
              </a:rPr>
              <a:t>offline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Extracts every password</a:t>
            </a:r>
          </a:p>
          <a:p>
            <a:pPr algn="ctr"/>
            <a:r>
              <a:rPr sz="1100" b="0" i="0">
                <a:solidFill>
                  <a:srgbClr val="111B30"/>
                </a:solidFill>
                <a:latin typeface="Calibri"/>
              </a:rPr>
              <a:t>hash in the domain</a:t>
            </a:r>
          </a:p>
          <a:p>
            <a:pPr algn="ctr"/>
            <a:r>
              <a:rPr sz="1100" b="0" i="0">
                <a:solidFill>
                  <a:srgbClr val="111B30"/>
                </a:solidFill>
                <a:latin typeface="Calibri"/>
              </a:rPr>
              <a:t>offline, undetected</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Tier 0 isolation - no non-DC admin ever logs onto a DC; disk encryption</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Golden Ticket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has stolen</a:t>
            </a:r>
          </a:p>
          <a:p>
            <a:pPr algn="ctr"/>
            <a:r>
              <a:rPr sz="1100" b="0" i="0">
                <a:solidFill>
                  <a:srgbClr val="111B30"/>
                </a:solidFill>
                <a:latin typeface="Calibri"/>
              </a:rPr>
              <a:t>the KRBTGT account's</a:t>
            </a:r>
          </a:p>
          <a:p>
            <a:pPr algn="ctr"/>
            <a:r>
              <a:rPr sz="1100" b="0" i="0">
                <a:solidFill>
                  <a:srgbClr val="111B30"/>
                </a:solidFill>
                <a:latin typeface="Calibri"/>
              </a:rPr>
              <a:t>password hash</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Forges a Kerberos TGT</a:t>
            </a:r>
          </a:p>
          <a:p>
            <a:pPr algn="ctr"/>
            <a:r>
              <a:rPr sz="1100" b="1" i="0">
                <a:solidFill>
                  <a:srgbClr val="111B30"/>
                </a:solidFill>
                <a:latin typeface="Calibri"/>
              </a:rPr>
              <a:t>signed with that</a:t>
            </a:r>
          </a:p>
          <a:p>
            <a:pPr algn="ctr"/>
            <a:r>
              <a:rPr sz="1100" b="1" i="0">
                <a:solidFill>
                  <a:srgbClr val="111B30"/>
                </a:solidFill>
                <a:latin typeface="Calibri"/>
              </a:rPr>
              <a:t>stolen hash</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Domain-wide access,</a:t>
            </a:r>
          </a:p>
          <a:p>
            <a:pPr algn="ctr"/>
            <a:r>
              <a:rPr sz="1100" b="0" i="0">
                <a:solidFill>
                  <a:srgbClr val="111B30"/>
                </a:solidFill>
                <a:latin typeface="Calibri"/>
              </a:rPr>
              <a:t>indefinitely - even after</a:t>
            </a:r>
          </a:p>
          <a:p>
            <a:pPr algn="ctr"/>
            <a:r>
              <a:rPr sz="1100" b="0" i="0">
                <a:solidFill>
                  <a:srgbClr val="111B30"/>
                </a:solidFill>
                <a:latin typeface="Calibri"/>
              </a:rPr>
              <a:t>user password resets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Rotate the KRBTGT password (twice, with time between rotations); monitor abnormal TGT lifetimes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DC as a Single Point of Trust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Any single domain</a:t>
            </a:r>
          </a:p>
          <a:p>
            <a:pPr algn="ctr"/>
            <a:r>
              <a:rPr sz="1100" b="0" i="0">
                <a:solidFill>
                  <a:srgbClr val="111B30"/>
                </a:solidFill>
                <a:latin typeface="Calibri"/>
              </a:rPr>
              <a:t>controller is</a:t>
            </a:r>
          </a:p>
          <a:p>
            <a:pPr algn="ctr"/>
            <a:r>
              <a:rPr sz="1100" b="0" i="0">
                <a:solidFill>
                  <a:srgbClr val="111B30"/>
                </a:solidFill>
                <a:latin typeface="Calibri"/>
              </a:rPr>
              <a:t>compromised</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Attacker inherits that</a:t>
            </a:r>
          </a:p>
          <a:p>
            <a:pPr algn="ctr"/>
            <a:r>
              <a:rPr sz="1100" b="1" i="0">
                <a:solidFill>
                  <a:srgbClr val="111B30"/>
                </a:solidFill>
                <a:latin typeface="Calibri"/>
              </a:rPr>
              <a:t>DC's position as a</a:t>
            </a:r>
          </a:p>
          <a:p>
            <a:pPr algn="ctr"/>
            <a:r>
              <a:rPr sz="1100" b="1" i="0">
                <a:solidFill>
                  <a:srgbClr val="111B30"/>
                </a:solidFill>
                <a:latin typeface="Calibri"/>
              </a:rPr>
              <a:t>trust anchor</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The whole domain's</a:t>
            </a:r>
          </a:p>
          <a:p>
            <a:pPr algn="ctr"/>
            <a:r>
              <a:rPr sz="1100" b="0" i="0">
                <a:solidFill>
                  <a:srgbClr val="111B30"/>
                </a:solidFill>
                <a:latin typeface="Calibri"/>
              </a:rPr>
              <a:t>trust model is</a:t>
            </a:r>
          </a:p>
          <a:p>
            <a:pPr algn="ctr"/>
            <a:r>
              <a:rPr sz="1100" b="0" i="0">
                <a:solidFill>
                  <a:srgbClr val="111B30"/>
                </a:solidFill>
                <a:latin typeface="Calibri"/>
              </a:rPr>
              <a:t>compromised at once</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Tiered administration (next topic); no cross-tier logons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OU Design as Privilege-Escalation Prevention</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An OU is a container for delegation, GPO scope, and administrative boundaries - not just a folder for tidiness</a:t>
            </a:r>
          </a:p>
          <a:p>
            <a:pPr algn="l">
              <a:spcAft>
                <a:spcPts val="1200"/>
              </a:spcAft>
            </a:pPr>
            <a:r>
              <a:rPr sz="1600" b="0" i="0">
                <a:solidFill>
                  <a:srgbClr val="111B30"/>
                </a:solidFill>
                <a:latin typeface="Calibri"/>
              </a:rPr>
              <a:t>●   This course's framing: a Tier 0 credential exposed on a Tier 2 workstation is a real attack surface, not an inconvenience</a:t>
            </a:r>
          </a:p>
          <a:p>
            <a:pPr algn="l">
              <a:spcAft>
                <a:spcPts val="1200"/>
              </a:spcAft>
            </a:pPr>
            <a:r>
              <a:rPr sz="1600" b="0" i="0">
                <a:solidFill>
                  <a:srgbClr val="111B30"/>
                </a:solidFill>
                <a:latin typeface="Calibri"/>
              </a:rPr>
              <a:t>●   Tiering model: Tier 0 = domain-wide control (DCs, AD admin accounts), Tier 1 = server admin, Tier 2 = workstation/user admin</a:t>
            </a:r>
          </a:p>
          <a:p>
            <a:pPr algn="l">
              <a:spcAft>
                <a:spcPts val="1200"/>
              </a:spcAft>
            </a:pPr>
            <a:r>
              <a:rPr sz="1600" b="0" i="0">
                <a:solidFill>
                  <a:srgbClr val="111B30"/>
                </a:solidFill>
                <a:latin typeface="Calibri"/>
              </a:rPr>
              <a:t>●   Rule: never log a higher-tier credential onto a lower-tier asset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Tiered OU Structure Example</a:t>
            </a:r>
          </a:p>
        </p:txBody>
      </p:sp>
      <p:sp>
        <p:nvSpPr>
          <p:cNvPr id="3" name="TextBox 2"/>
          <p:cNvSpPr txBox="1"/>
          <p:nvPr/>
        </p:nvSpPr>
        <p:spPr>
          <a:xfrm>
            <a:off x="640080" y="1417320"/>
            <a:ext cx="10911535" cy="365760"/>
          </a:xfrm>
          <a:prstGeom prst="rect">
            <a:avLst/>
          </a:prstGeom>
          <a:noFill/>
        </p:spPr>
        <p:txBody>
          <a:bodyPr wrap="square" lIns="0" tIns="0">
            <a:spAutoFit/>
          </a:bodyPr>
          <a:lstStyle/>
          <a:p>
            <a:r>
              <a:rPr sz="1250" b="0" i="1">
                <a:solidFill>
                  <a:srgbClr val="6B7480"/>
                </a:solidFill>
                <a:latin typeface="Calibri"/>
              </a:rPr>
              <a:t>Each OU is an administrative and delegation boundary, not just a folder for tidiness.</a:t>
            </a:r>
          </a:p>
        </p:txBody>
      </p:sp>
      <p:sp>
        <p:nvSpPr>
          <p:cNvPr id="4" name="Rounded Rectangle 3"/>
          <p:cNvSpPr/>
          <p:nvPr/>
        </p:nvSpPr>
        <p:spPr>
          <a:xfrm>
            <a:off x="5166360" y="1874519"/>
            <a:ext cx="1828800" cy="548640"/>
          </a:xfrm>
          <a:prstGeom prst="roundRect">
            <a:avLst/>
          </a:prstGeom>
          <a:solidFill>
            <a:srgbClr val="1B2A4A"/>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FFFFFF"/>
                </a:solidFill>
                <a:latin typeface="Calibri"/>
              </a:rPr>
              <a:t>lab.local</a:t>
            </a:r>
          </a:p>
        </p:txBody>
      </p:sp>
      <p:sp>
        <p:nvSpPr>
          <p:cNvPr id="5" name="Rounded Rectangle 4"/>
          <p:cNvSpPr/>
          <p:nvPr/>
        </p:nvSpPr>
        <p:spPr>
          <a:xfrm>
            <a:off x="914400" y="2926080"/>
            <a:ext cx="2286000" cy="68580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1" i="0">
                <a:solidFill>
                  <a:srgbClr val="B02A2A"/>
                </a:solidFill>
                <a:latin typeface="Calibri"/>
              </a:rPr>
              <a:t>OU=Tier0</a:t>
            </a:r>
          </a:p>
          <a:p>
            <a:pPr algn="ctr"/>
            <a:r>
              <a:rPr sz="900" b="1" i="0">
                <a:solidFill>
                  <a:srgbClr val="B02A2A"/>
                </a:solidFill>
                <a:latin typeface="Calibri"/>
              </a:rPr>
              <a:t>DCs, privileged admin workstations</a:t>
            </a:r>
          </a:p>
        </p:txBody>
      </p:sp>
      <p:sp>
        <p:nvSpPr>
          <p:cNvPr id="6" name="Rounded Rectangle 5"/>
          <p:cNvSpPr/>
          <p:nvPr/>
        </p:nvSpPr>
        <p:spPr>
          <a:xfrm>
            <a:off x="3593592" y="2926080"/>
            <a:ext cx="2286000" cy="685800"/>
          </a:xfrm>
          <a:prstGeom prst="roundRect">
            <a:avLst/>
          </a:prstGeom>
          <a:solidFill>
            <a:srgbClr val="FFFFFF"/>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1" i="0">
                <a:solidFill>
                  <a:srgbClr val="111B30"/>
                </a:solidFill>
                <a:latin typeface="Calibri"/>
              </a:rPr>
              <a:t>OU=Servers</a:t>
            </a:r>
          </a:p>
          <a:p>
            <a:pPr algn="ctr"/>
            <a:r>
              <a:rPr sz="900" b="1" i="0">
                <a:solidFill>
                  <a:srgbClr val="111B30"/>
                </a:solidFill>
                <a:latin typeface="Calibri"/>
              </a:rPr>
              <a:t>Tier 1</a:t>
            </a:r>
          </a:p>
        </p:txBody>
      </p:sp>
      <p:sp>
        <p:nvSpPr>
          <p:cNvPr id="7" name="Rounded Rectangle 6"/>
          <p:cNvSpPr/>
          <p:nvPr/>
        </p:nvSpPr>
        <p:spPr>
          <a:xfrm>
            <a:off x="6272784" y="2926080"/>
            <a:ext cx="2286000" cy="68580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1" i="0">
                <a:solidFill>
                  <a:srgbClr val="111B30"/>
                </a:solidFill>
                <a:latin typeface="Calibri"/>
              </a:rPr>
              <a:t>OU=Workstations</a:t>
            </a:r>
          </a:p>
          <a:p>
            <a:pPr algn="ctr"/>
            <a:r>
              <a:rPr sz="900" b="1" i="0">
                <a:solidFill>
                  <a:srgbClr val="111B30"/>
                </a:solidFill>
                <a:latin typeface="Calibri"/>
              </a:rPr>
              <a:t>Tier 2</a:t>
            </a:r>
          </a:p>
        </p:txBody>
      </p:sp>
      <p:sp>
        <p:nvSpPr>
          <p:cNvPr id="8" name="Rounded Rectangle 7"/>
          <p:cNvSpPr/>
          <p:nvPr/>
        </p:nvSpPr>
        <p:spPr>
          <a:xfrm>
            <a:off x="8951976" y="2926080"/>
            <a:ext cx="2286000" cy="68580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1" i="0">
                <a:solidFill>
                  <a:srgbClr val="111B30"/>
                </a:solidFill>
                <a:latin typeface="Calibri"/>
              </a:rPr>
              <a:t>OU=UserAccounts</a:t>
            </a:r>
          </a:p>
          <a:p>
            <a:pPr algn="ctr"/>
            <a:r>
              <a:rPr sz="900" b="1" i="0">
                <a:solidFill>
                  <a:srgbClr val="111B30"/>
                </a:solidFill>
                <a:latin typeface="Calibri"/>
              </a:rPr>
              <a:t>Tier 2</a:t>
            </a:r>
          </a:p>
        </p:txBody>
      </p:sp>
      <p:cxnSp>
        <p:nvCxnSpPr>
          <p:cNvPr id="9" name="Connector 8"/>
          <p:cNvCxnSpPr/>
          <p:nvPr/>
        </p:nvCxnSpPr>
        <p:spPr>
          <a:xfrm flipH="1">
            <a:off x="2057400" y="2423160"/>
            <a:ext cx="4023360" cy="50292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4736592" y="2423160"/>
            <a:ext cx="1344168" cy="50292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80760" y="2423160"/>
            <a:ext cx="1335023" cy="50292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80760" y="2423160"/>
            <a:ext cx="4014216" cy="50292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4400" y="4160520"/>
            <a:ext cx="2286000" cy="54864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OU=AdminAccts</a:t>
            </a:r>
          </a:p>
        </p:txBody>
      </p:sp>
      <p:sp>
        <p:nvSpPr>
          <p:cNvPr id="14" name="Rounded Rectangle 13"/>
          <p:cNvSpPr/>
          <p:nvPr/>
        </p:nvSpPr>
        <p:spPr>
          <a:xfrm>
            <a:off x="3593592" y="4160520"/>
            <a:ext cx="1074420" cy="548640"/>
          </a:xfrm>
          <a:prstGeom prst="roundRect">
            <a:avLst/>
          </a:prstGeom>
          <a:solidFill>
            <a:srgbClr val="E8EEF7"/>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OU=Production</a:t>
            </a:r>
          </a:p>
        </p:txBody>
      </p:sp>
      <p:sp>
        <p:nvSpPr>
          <p:cNvPr id="15" name="Rounded Rectangle 14"/>
          <p:cNvSpPr/>
          <p:nvPr/>
        </p:nvSpPr>
        <p:spPr>
          <a:xfrm>
            <a:off x="4805172" y="4160520"/>
            <a:ext cx="1074420" cy="548640"/>
          </a:xfrm>
          <a:prstGeom prst="roundRect">
            <a:avLst/>
          </a:prstGeom>
          <a:solidFill>
            <a:srgbClr val="E8EEF7"/>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OU=Development</a:t>
            </a:r>
          </a:p>
        </p:txBody>
      </p:sp>
      <p:sp>
        <p:nvSpPr>
          <p:cNvPr id="16" name="Rounded Rectangle 15"/>
          <p:cNvSpPr/>
          <p:nvPr/>
        </p:nvSpPr>
        <p:spPr>
          <a:xfrm>
            <a:off x="6272784" y="4160520"/>
            <a:ext cx="1074420"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OU=IT</a:t>
            </a:r>
          </a:p>
        </p:txBody>
      </p:sp>
      <p:sp>
        <p:nvSpPr>
          <p:cNvPr id="17" name="Rounded Rectangle 16"/>
          <p:cNvSpPr/>
          <p:nvPr/>
        </p:nvSpPr>
        <p:spPr>
          <a:xfrm>
            <a:off x="7484364" y="4160520"/>
            <a:ext cx="1074420"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OU=Users</a:t>
            </a:r>
          </a:p>
        </p:txBody>
      </p:sp>
      <p:sp>
        <p:nvSpPr>
          <p:cNvPr id="18" name="Rounded Rectangle 17"/>
          <p:cNvSpPr/>
          <p:nvPr/>
        </p:nvSpPr>
        <p:spPr>
          <a:xfrm>
            <a:off x="8951976" y="4160520"/>
            <a:ext cx="670255"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OU=IT</a:t>
            </a:r>
          </a:p>
        </p:txBody>
      </p:sp>
      <p:sp>
        <p:nvSpPr>
          <p:cNvPr id="19" name="Rounded Rectangle 18"/>
          <p:cNvSpPr/>
          <p:nvPr/>
        </p:nvSpPr>
        <p:spPr>
          <a:xfrm>
            <a:off x="9759391" y="4160520"/>
            <a:ext cx="670255"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OU=Finance</a:t>
            </a:r>
          </a:p>
        </p:txBody>
      </p:sp>
      <p:sp>
        <p:nvSpPr>
          <p:cNvPr id="20" name="Rounded Rectangle 19"/>
          <p:cNvSpPr/>
          <p:nvPr/>
        </p:nvSpPr>
        <p:spPr>
          <a:xfrm>
            <a:off x="10566806" y="4160520"/>
            <a:ext cx="670255" cy="548640"/>
          </a:xfrm>
          <a:prstGeom prst="roundRect">
            <a:avLst/>
          </a:prstGeom>
          <a:solidFill>
            <a:srgbClr val="E8EEF7"/>
          </a:solidFill>
          <a:ln w="15875">
            <a:solidFill>
              <a:srgbClr val="6B7480"/>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OU=Disabled</a:t>
            </a:r>
          </a:p>
        </p:txBody>
      </p:sp>
      <p:cxnSp>
        <p:nvCxnSpPr>
          <p:cNvPr id="21" name="Connector 20"/>
          <p:cNvCxnSpPr/>
          <p:nvPr/>
        </p:nvCxnSpPr>
        <p:spPr>
          <a:xfrm>
            <a:off x="2057400" y="3611880"/>
            <a:ext cx="0"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130802" y="3611880"/>
            <a:ext cx="605790"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736592" y="3611880"/>
            <a:ext cx="605790"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809994" y="3611880"/>
            <a:ext cx="605789"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415783" y="3611880"/>
            <a:ext cx="605791"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9287103" y="3611880"/>
            <a:ext cx="807873"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10094518" y="3611880"/>
            <a:ext cx="458"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094976" y="3611880"/>
            <a:ext cx="806958"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14400" y="5029200"/>
            <a:ext cx="10332720" cy="1188720"/>
          </a:xfrm>
          <a:prstGeom prst="rect">
            <a:avLst/>
          </a:prstGeom>
          <a:noFill/>
        </p:spPr>
        <p:txBody>
          <a:bodyPr wrap="square">
            <a:spAutoFit/>
          </a:bodyPr>
          <a:lstStyle/>
          <a:p>
            <a:r>
              <a:rPr sz="1100" b="0" i="1">
                <a:solidFill>
                  <a:srgbClr val="404040"/>
                </a:solidFill>
                <a:latin typeface="Calibri"/>
              </a:rPr>
              <a:t>OU=Disabled is a quarantine OU for accounts pending deletion (dashed border) - it isn't used until the remediation workflow covered later this week, but good OU design plans for account lifecycle from day 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Creating &amp; Managing OUs</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$domain = "DC=lab,DC=local"</a:t>
            </a:r>
          </a:p>
          <a:p>
            <a:pPr algn="l">
              <a:spcAft>
                <a:spcPts val="1000"/>
              </a:spcAft>
            </a:pPr>
            <a:r>
              <a:rPr sz="1400" b="0" i="0">
                <a:solidFill>
                  <a:srgbClr val="111B30"/>
                </a:solidFill>
                <a:latin typeface="Courier New"/>
              </a:rPr>
              <a:t>New-ADOrganizationalUnit -Name "Tier0" -Path $domain</a:t>
            </a:r>
          </a:p>
          <a:p>
            <a:pPr algn="l">
              <a:spcAft>
                <a:spcPts val="1000"/>
              </a:spcAft>
            </a:pPr>
            <a:r>
              <a:rPr sz="1400" b="0" i="0">
                <a:solidFill>
                  <a:srgbClr val="111B30"/>
                </a:solidFill>
                <a:latin typeface="Courier New"/>
              </a:rPr>
              <a:t>New-ADOrganizationalUnit -Name "AdminAccts" -Path "OU=Tier0,$domain"</a:t>
            </a:r>
          </a:p>
          <a:p>
            <a:pPr algn="l">
              <a:spcAft>
                <a:spcPts val="1000"/>
              </a:spcAft>
            </a:pPr>
            <a:r>
              <a:rPr sz="1300" b="0" i="1">
                <a:solidFill>
                  <a:srgbClr val="3D5A80"/>
                </a:solidFill>
                <a:latin typeface="Calibri"/>
              </a:rPr>
              <a:t>repeat the pattern for Servers/Production, Workstations/IT, UserAccounts/Disabled, etc.</a:t>
            </a:r>
          </a:p>
          <a:p>
            <a:pPr algn="l">
              <a:spcAft>
                <a:spcPts val="1000"/>
              </a:spcAft>
            </a:pPr>
            <a:r>
              <a:rPr sz="1400" b="0" i="0">
                <a:solidFill>
                  <a:srgbClr val="111B30"/>
                </a:solidFill>
                <a:latin typeface="Courier New"/>
              </a:rPr>
              <a:t>Get-ADOrganizationalUnit -Filter * | Select-Object Name, DistinguishedName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Users, Groups &amp; the Tier-0 Admin Account Pattern</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New-ADUser with -Path places accounts directly in the correct OU at creation time - no separate move step</a:t>
            </a:r>
          </a:p>
          <a:p>
            <a:pPr algn="l">
              <a:spcAft>
                <a:spcPts val="1200"/>
              </a:spcAft>
            </a:pPr>
            <a:r>
              <a:rPr sz="1600" b="0" i="0">
                <a:solidFill>
                  <a:srgbClr val="111B30"/>
                </a:solidFill>
                <a:latin typeface="Calibri"/>
              </a:rPr>
              <a:t>●   Security groups (GRP-IT-Staff, GRP-Finance-Staff) - role-based access, never assign rights to individual users directly</a:t>
            </a:r>
          </a:p>
          <a:p>
            <a:pPr algn="l">
              <a:spcAft>
                <a:spcPts val="1200"/>
              </a:spcAft>
            </a:pPr>
            <a:r>
              <a:rPr sz="1600" b="0" i="0">
                <a:solidFill>
                  <a:srgbClr val="111B30"/>
                </a:solidFill>
                <a:latin typeface="Calibri"/>
              </a:rPr>
              <a:t>●   Separate accounts per tier for the same human: enovak (daily-use, Tier 2) vs. enovak-adm (Tier 0, Domain Admins member)</a:t>
            </a:r>
          </a:p>
          <a:p>
            <a:pPr algn="l">
              <a:spcAft>
                <a:spcPts val="1200"/>
              </a:spcAft>
            </a:pPr>
            <a:r>
              <a:rPr sz="1600" b="0" i="0">
                <a:solidFill>
                  <a:srgbClr val="111B30"/>
                </a:solidFill>
                <a:latin typeface="Calibri"/>
              </a:rPr>
              <a:t>●   enovak-adm lives in OU=AdminAccts, is added only to Domain Admins, and is never used for email/browsing/helpdesk work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Creating Users &amp; Groups</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New-ADUser -Name "Alice Johnson" -SamAccountName ajohnson `</a:t>
            </a:r>
          </a:p>
          <a:p>
            <a:pPr algn="l">
              <a:spcAft>
                <a:spcPts val="1000"/>
              </a:spcAft>
            </a:pPr>
            <a:r>
              <a:rPr sz="1400" b="0" i="0">
                <a:solidFill>
                  <a:srgbClr val="111B30"/>
                </a:solidFill>
                <a:latin typeface="Courier New"/>
              </a:rPr>
              <a:t>  -Path "OU=IT,OU=UserAccounts,DC=lab,DC=local" -Enabled $true `</a:t>
            </a:r>
          </a:p>
          <a:p>
            <a:pPr algn="l">
              <a:spcAft>
                <a:spcPts val="1000"/>
              </a:spcAft>
            </a:pPr>
            <a:r>
              <a:rPr sz="1400" b="0" i="0">
                <a:solidFill>
                  <a:srgbClr val="111B30"/>
                </a:solidFill>
                <a:latin typeface="Courier New"/>
              </a:rPr>
              <a:t>  -AccountPassword (ConvertTo-SecureString "P@ssw0rd123!" -AsPlainText -Force)</a:t>
            </a:r>
          </a:p>
          <a:p>
            <a:pPr algn="l">
              <a:spcAft>
                <a:spcPts val="1000"/>
              </a:spcAft>
            </a:pPr>
            <a:r>
              <a:rPr sz="1400" b="0" i="0">
                <a:solidFill>
                  <a:srgbClr val="111B30"/>
                </a:solidFill>
                <a:latin typeface="Courier New"/>
              </a:rPr>
              <a:t>New-ADGroup -Name "GRP-IT-Staff" -GroupScope Global -Path "OU=IT,OU=UserAccounts,DC=lab,DC=local"</a:t>
            </a:r>
          </a:p>
          <a:p>
            <a:pPr algn="l">
              <a:spcAft>
                <a:spcPts val="1000"/>
              </a:spcAft>
            </a:pPr>
            <a:r>
              <a:rPr sz="1400" b="0" i="0">
                <a:solidFill>
                  <a:srgbClr val="111B30"/>
                </a:solidFill>
                <a:latin typeface="Courier New"/>
              </a:rPr>
              <a:t>Add-ADGroupMember -Identity "GRP-IT-Staff" -Members ajohnson</a:t>
            </a:r>
          </a:p>
          <a:p>
            <a:pPr algn="l">
              <a:spcAft>
                <a:spcPts val="1000"/>
              </a:spcAft>
            </a:pPr>
            <a:r>
              <a:rPr sz="1400" b="0" i="0">
                <a:solidFill>
                  <a:srgbClr val="111B30"/>
                </a:solidFill>
                <a:latin typeface="Courier New"/>
              </a:rPr>
              <a:t>Get-ADGroupMember -Identity "GRP-IT-Staff"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OU Design &amp; Privilege Tiering</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Attacks &amp; Defenses</a:t>
            </a:r>
          </a:p>
        </p:txBody>
      </p:sp>
      <p:graphicFrame>
        <p:nvGraphicFramePr>
          <p:cNvPr id="4" name="Table 3"/>
          <p:cNvGraphicFramePr>
            <a:graphicFrameLocks noGrp="1"/>
          </p:cNvGraphicFramePr>
          <p:nvPr/>
        </p:nvGraphicFramePr>
        <p:xfrm>
          <a:off x="640080" y="1828800"/>
          <a:ext cx="10911535" cy="2286000"/>
        </p:xfrm>
        <a:graphic>
          <a:graphicData uri="http://schemas.openxmlformats.org/drawingml/2006/table">
            <a:tbl>
              <a:tblPr firstRow="1" bandRow="1">
                <a:tableStyleId>{5C22544A-7EE6-4342-B048-85BDC9FD1C3A}</a:tableStyleId>
              </a:tblPr>
              <a:tblGrid>
                <a:gridCol w="3200400"/>
                <a:gridCol w="4572000"/>
                <a:gridCol w="3139135"/>
              </a:tblGrid>
              <a:tr h="457200">
                <a:tc>
                  <a:txBody>
                    <a:bodyPr/>
                    <a:lstStyle/>
                    <a:p>
                      <a:pPr algn="l"/>
                      <a:r>
                        <a:rPr sz="1250" b="1" i="0">
                          <a:solidFill>
                            <a:srgbClr val="FFFFFF"/>
                          </a:solidFill>
                          <a:latin typeface="Calibri"/>
                        </a:rPr>
                        <a:t>Attack</a:t>
                      </a:r>
                    </a:p>
                  </a:txBody>
                  <a:tcPr anchor="ctr" marL="76200" marR="76200" marT="38100" marB="38100">
                    <a:solidFill>
                      <a:srgbClr val="1B2A4A"/>
                    </a:solidFill>
                  </a:tcPr>
                </a:tc>
                <a:tc>
                  <a:txBody>
                    <a:bodyPr/>
                    <a:lstStyle/>
                    <a:p>
                      <a:pPr algn="l"/>
                      <a:r>
                        <a:rPr sz="1250" b="1" i="0">
                          <a:solidFill>
                            <a:srgbClr val="FFFFFF"/>
                          </a:solidFill>
                          <a:latin typeface="Calibri"/>
                        </a:rPr>
                        <a:t>How It Works</a:t>
                      </a:r>
                    </a:p>
                  </a:txBody>
                  <a:tcPr anchor="ctr" marL="76200" marR="76200" marT="38100" marB="38100">
                    <a:solidFill>
                      <a:srgbClr val="1B2A4A"/>
                    </a:solidFill>
                  </a:tcPr>
                </a:tc>
                <a:tc>
                  <a:txBody>
                    <a:bodyPr/>
                    <a:lstStyle/>
                    <a:p>
                      <a:pPr algn="l"/>
                      <a:r>
                        <a:rPr sz="1250" b="1" i="0">
                          <a:solidFill>
                            <a:srgbClr val="FFFFFF"/>
                          </a:solidFill>
                          <a:latin typeface="Calibri"/>
                        </a:rPr>
                        <a:t>Defense</a:t>
                      </a:r>
                    </a:p>
                  </a:txBody>
                  <a:tcPr anchor="ctr" marL="76200" marR="76200" marT="38100" marB="38100">
                    <a:solidFill>
                      <a:srgbClr val="1B2A4A"/>
                    </a:solidFill>
                  </a:tcPr>
                </a:tc>
              </a:tr>
              <a:tr h="457200">
                <a:tc>
                  <a:txBody>
                    <a:bodyPr/>
                    <a:lstStyle/>
                    <a:p>
                      <a:pPr algn="l"/>
                      <a:r>
                        <a:rPr sz="1200" b="1" i="0">
                          <a:solidFill>
                            <a:srgbClr val="B02A2A"/>
                          </a:solidFill>
                          <a:latin typeface="Calibri"/>
                        </a:rPr>
                        <a:t>Tier bleed-over</a:t>
                      </a:r>
                    </a:p>
                  </a:txBody>
                  <a:tcPr anchor="ctr" marL="76200" marR="76200" marT="38100" marB="38100">
                    <a:solidFill>
                      <a:srgbClr val="FFFFFF"/>
                    </a:solidFill>
                  </a:tcPr>
                </a:tc>
                <a:tc>
                  <a:txBody>
                    <a:bodyPr/>
                    <a:lstStyle/>
                    <a:p>
                      <a:pPr algn="l"/>
                      <a:r>
                        <a:rPr sz="1200" b="0" i="0">
                          <a:solidFill>
                            <a:srgbClr val="111B30"/>
                          </a:solidFill>
                          <a:latin typeface="Calibri"/>
                        </a:rPr>
                        <a:t>Admin uses a Tier-0 credential to log into a Tier-2 workstation for convenience</a:t>
                      </a:r>
                    </a:p>
                  </a:txBody>
                  <a:tcPr anchor="ctr" marL="76200" marR="76200" marT="38100" marB="38100">
                    <a:solidFill>
                      <a:srgbClr val="FFFFFF"/>
                    </a:solidFill>
                  </a:tcPr>
                </a:tc>
                <a:tc>
                  <a:txBody>
                    <a:bodyPr/>
                    <a:lstStyle/>
                    <a:p>
                      <a:pPr algn="l"/>
                      <a:r>
                        <a:rPr sz="1200" b="1" i="0">
                          <a:solidFill>
                            <a:srgbClr val="2E7D32"/>
                          </a:solidFill>
                          <a:latin typeface="Calibri"/>
                        </a:rPr>
                        <a:t>Enforce via policy plus technical controls (deny logon rights by tier)</a:t>
                      </a:r>
                    </a:p>
                  </a:txBody>
                  <a:tcPr anchor="ctr" marL="76200" marR="76200" marT="38100" marB="38100">
                    <a:solidFill>
                      <a:srgbClr val="FFFFFF"/>
                    </a:solidFill>
                  </a:tcPr>
                </a:tc>
              </a:tr>
              <a:tr h="457200">
                <a:tc>
                  <a:txBody>
                    <a:bodyPr/>
                    <a:lstStyle/>
                    <a:p>
                      <a:pPr algn="l"/>
                      <a:r>
                        <a:rPr sz="1200" b="1" i="0">
                          <a:solidFill>
                            <a:srgbClr val="B02A2A"/>
                          </a:solidFill>
                          <a:latin typeface="Calibri"/>
                        </a:rPr>
                        <a:t>Flat OU / no delegation</a:t>
                      </a:r>
                    </a:p>
                  </a:txBody>
                  <a:tcPr anchor="ctr" marL="76200" marR="76200" marT="38100" marB="38100">
                    <a:solidFill>
                      <a:srgbClr val="E8EEF7"/>
                    </a:solidFill>
                  </a:tcPr>
                </a:tc>
                <a:tc>
                  <a:txBody>
                    <a:bodyPr/>
                    <a:lstStyle/>
                    <a:p>
                      <a:pPr algn="l"/>
                      <a:r>
                        <a:rPr sz="1200" b="0" i="0">
                          <a:solidFill>
                            <a:srgbClr val="111B30"/>
                          </a:solidFill>
                          <a:latin typeface="Calibri"/>
                        </a:rPr>
                        <a:t>All users in one OU; GPOs apply too broadly or admins over-delegate</a:t>
                      </a:r>
                    </a:p>
                  </a:txBody>
                  <a:tcPr anchor="ctr" marL="76200" marR="76200" marT="38100" marB="38100">
                    <a:solidFill>
                      <a:srgbClr val="E8EEF7"/>
                    </a:solidFill>
                  </a:tcPr>
                </a:tc>
                <a:tc>
                  <a:txBody>
                    <a:bodyPr/>
                    <a:lstStyle/>
                    <a:p>
                      <a:pPr algn="l"/>
                      <a:r>
                        <a:rPr sz="1200" b="1" i="0">
                          <a:solidFill>
                            <a:srgbClr val="2E7D32"/>
                          </a:solidFill>
                          <a:latin typeface="Calibri"/>
                        </a:rPr>
                        <a:t>Multi-tier OU model; delegate at the narrowest OU possible</a:t>
                      </a:r>
                    </a:p>
                  </a:txBody>
                  <a:tcPr anchor="ctr" marL="76200" marR="76200" marT="38100" marB="38100">
                    <a:solidFill>
                      <a:srgbClr val="E8EEF7"/>
                    </a:solidFill>
                  </a:tcPr>
                </a:tc>
              </a:tr>
              <a:tr h="457200">
                <a:tc>
                  <a:txBody>
                    <a:bodyPr/>
                    <a:lstStyle/>
                    <a:p>
                      <a:pPr algn="l"/>
                      <a:r>
                        <a:rPr sz="1200" b="1" i="0">
                          <a:solidFill>
                            <a:srgbClr val="B02A2A"/>
                          </a:solidFill>
                          <a:latin typeface="Calibri"/>
                        </a:rPr>
                        <a:t>Shared admin account</a:t>
                      </a:r>
                    </a:p>
                  </a:txBody>
                  <a:tcPr anchor="ctr" marL="76200" marR="76200" marT="38100" marB="38100">
                    <a:solidFill>
                      <a:srgbClr val="FFFFFF"/>
                    </a:solidFill>
                  </a:tcPr>
                </a:tc>
                <a:tc>
                  <a:txBody>
                    <a:bodyPr/>
                    <a:lstStyle/>
                    <a:p>
                      <a:pPr algn="l"/>
                      <a:r>
                        <a:rPr sz="1200" b="0" i="0">
                          <a:solidFill>
                            <a:srgbClr val="111B30"/>
                          </a:solidFill>
                          <a:latin typeface="Calibri"/>
                        </a:rPr>
                        <a:t>One shared “admin” login used across tiers, no attribution</a:t>
                      </a:r>
                    </a:p>
                  </a:txBody>
                  <a:tcPr anchor="ctr" marL="76200" marR="76200" marT="38100" marB="38100">
                    <a:solidFill>
                      <a:srgbClr val="FFFFFF"/>
                    </a:solidFill>
                  </a:tcPr>
                </a:tc>
                <a:tc>
                  <a:txBody>
                    <a:bodyPr/>
                    <a:lstStyle/>
                    <a:p>
                      <a:pPr algn="l"/>
                      <a:r>
                        <a:rPr sz="1200" b="1" i="0">
                          <a:solidFill>
                            <a:srgbClr val="2E7D32"/>
                          </a:solidFill>
                          <a:latin typeface="Calibri"/>
                        </a:rPr>
                        <a:t>Individual named -adm accounts per tier per person</a:t>
                      </a:r>
                    </a:p>
                  </a:txBody>
                  <a:tcPr anchor="ctr" marL="76200" marR="76200" marT="38100" marB="38100">
                    <a:solidFill>
                      <a:srgbClr val="FFFFFF"/>
                    </a:solidFill>
                  </a:tcPr>
                </a:tc>
              </a:tr>
              <a:tr h="457200">
                <a:tc>
                  <a:txBody>
                    <a:bodyPr/>
                    <a:lstStyle/>
                    <a:p>
                      <a:pPr algn="l"/>
                      <a:r>
                        <a:rPr sz="1200" b="1" i="0">
                          <a:solidFill>
                            <a:srgbClr val="B02A2A"/>
                          </a:solidFill>
                          <a:latin typeface="Calibri"/>
                        </a:rPr>
                        <a:t>Stale accounts left in active OUs</a:t>
                      </a:r>
                    </a:p>
                  </a:txBody>
                  <a:tcPr anchor="ctr" marL="76200" marR="76200" marT="38100" marB="38100">
                    <a:solidFill>
                      <a:srgbClr val="E8EEF7"/>
                    </a:solidFill>
                  </a:tcPr>
                </a:tc>
                <a:tc>
                  <a:txBody>
                    <a:bodyPr/>
                    <a:lstStyle/>
                    <a:p>
                      <a:pPr algn="l"/>
                      <a:r>
                        <a:rPr sz="1200" b="0" i="0">
                          <a:solidFill>
                            <a:srgbClr val="111B30"/>
                          </a:solidFill>
                          <a:latin typeface="Calibri"/>
                        </a:rPr>
                        <a:t>Dormant credentials remain reachable and monitored the same as active ones</a:t>
                      </a:r>
                    </a:p>
                  </a:txBody>
                  <a:tcPr anchor="ctr" marL="76200" marR="76200" marT="38100" marB="38100">
                    <a:solidFill>
                      <a:srgbClr val="E8EEF7"/>
                    </a:solidFill>
                  </a:tcPr>
                </a:tc>
                <a:tc>
                  <a:txBody>
                    <a:bodyPr/>
                    <a:lstStyle/>
                    <a:p>
                      <a:pPr algn="l"/>
                      <a:r>
                        <a:rPr sz="1200" b="1" i="0">
                          <a:solidFill>
                            <a:srgbClr val="2E7D32"/>
                          </a:solidFill>
                          <a:latin typeface="Calibri"/>
                        </a:rPr>
                        <a:t>Dedicated OU=Disabled quarantine (detailed in Section 08)</a:t>
                      </a:r>
                    </a:p>
                  </a:txBody>
                  <a:tcPr anchor="ctr" marL="76200" marR="76200" marT="38100" marB="38100">
                    <a:solidFill>
                      <a:srgbClr val="E8EEF7"/>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02</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Windows Server Roles: DNS, DHCP &amp; File Services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DNS on Windows Server: AD-Integrated Zones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SRV records are how domain-joined clients find DCs/Kerberos/LDAP services - AD literally depends on DNS.</a:t>
            </a:r>
          </a:p>
        </p:txBody>
      </p:sp>
      <p:sp>
        <p:nvSpPr>
          <p:cNvPr id="4" name="TextBox 3"/>
          <p:cNvSpPr txBox="1"/>
          <p:nvPr/>
        </p:nvSpPr>
        <p:spPr>
          <a:xfrm>
            <a:off x="685800" y="1874519"/>
            <a:ext cx="10820095" cy="1554480"/>
          </a:xfrm>
          <a:prstGeom prst="rect">
            <a:avLst/>
          </a:prstGeom>
          <a:noFill/>
        </p:spPr>
        <p:txBody>
          <a:bodyPr wrap="square" lIns="0" tIns="0">
            <a:spAutoFit/>
          </a:bodyPr>
          <a:lstStyle/>
          <a:p>
            <a:pPr algn="l">
              <a:spcAft>
                <a:spcPts val="800"/>
              </a:spcAft>
            </a:pPr>
            <a:r>
              <a:rPr sz="1450" b="0" i="0">
                <a:solidFill>
                  <a:srgbClr val="111B30"/>
                </a:solidFill>
                <a:latin typeface="Calibri"/>
              </a:rPr>
              <a:t>●   AD-integrated zone: DNS data stored in AD itself, replicates automatically with the directory</a:t>
            </a:r>
          </a:p>
          <a:p>
            <a:pPr algn="l">
              <a:spcAft>
                <a:spcPts val="800"/>
              </a:spcAft>
            </a:pPr>
            <a:r>
              <a:rPr sz="1450" b="0" i="0">
                <a:solidFill>
                  <a:srgbClr val="111B30"/>
                </a:solidFill>
                <a:latin typeface="Calibri"/>
              </a:rPr>
              <a:t>●   Forward lookup zone (name to IP) vs. reverse lookup zone (IP to name, PTR records)</a:t>
            </a:r>
          </a:p>
          <a:p>
            <a:pPr algn="l">
              <a:spcAft>
                <a:spcPts val="800"/>
              </a:spcAft>
            </a:pPr>
            <a:r>
              <a:rPr sz="1450" b="0" i="0">
                <a:solidFill>
                  <a:srgbClr val="111B30"/>
                </a:solidFill>
                <a:latin typeface="Calibri"/>
              </a:rPr>
              <a:t>●   Conditional forwarders / root hints resolve names outside the domain</a:t>
            </a:r>
          </a:p>
        </p:txBody>
      </p:sp>
      <p:sp>
        <p:nvSpPr>
          <p:cNvPr id="5" name="Rounded Rectangle 4"/>
          <p:cNvSpPr/>
          <p:nvPr/>
        </p:nvSpPr>
        <p:spPr>
          <a:xfrm>
            <a:off x="914400" y="3383280"/>
            <a:ext cx="210312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Client</a:t>
            </a:r>
          </a:p>
        </p:txBody>
      </p:sp>
      <p:sp>
        <p:nvSpPr>
          <p:cNvPr id="6" name="Rounded Rectangle 5"/>
          <p:cNvSpPr/>
          <p:nvPr/>
        </p:nvSpPr>
        <p:spPr>
          <a:xfrm>
            <a:off x="3429000" y="3383280"/>
            <a:ext cx="228600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DC01 (DNS)</a:t>
            </a:r>
          </a:p>
        </p:txBody>
      </p:sp>
      <p:sp>
        <p:nvSpPr>
          <p:cNvPr id="7" name="Diamond 6"/>
          <p:cNvSpPr/>
          <p:nvPr/>
        </p:nvSpPr>
        <p:spPr>
          <a:xfrm>
            <a:off x="6172200" y="3200400"/>
            <a:ext cx="2286000" cy="1051560"/>
          </a:xfrm>
          <a:prstGeom prst="diamond">
            <a:avLst/>
          </a:prstGeom>
          <a:solidFill>
            <a:srgbClr val="FFFFFF"/>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In lab.local</a:t>
            </a:r>
          </a:p>
          <a:p>
            <a:pPr algn="ctr"/>
            <a:r>
              <a:rPr sz="1000" b="0" i="0">
                <a:solidFill>
                  <a:srgbClr val="111B30"/>
                </a:solidFill>
                <a:latin typeface="Calibri"/>
              </a:rPr>
              <a:t>zone?</a:t>
            </a:r>
          </a:p>
        </p:txBody>
      </p:sp>
      <p:sp>
        <p:nvSpPr>
          <p:cNvPr id="8" name="Rounded Rectangle 7"/>
          <p:cNvSpPr/>
          <p:nvPr/>
        </p:nvSpPr>
        <p:spPr>
          <a:xfrm>
            <a:off x="4846320" y="4846320"/>
            <a:ext cx="2743200" cy="91440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Yes</a:t>
            </a:r>
          </a:p>
          <a:p>
            <a:pPr algn="ctr"/>
            <a:r>
              <a:rPr sz="1000" b="0" i="0">
                <a:solidFill>
                  <a:srgbClr val="111B30"/>
                </a:solidFill>
                <a:latin typeface="Calibri"/>
              </a:rPr>
              <a:t>Answered from local zone (A record)</a:t>
            </a:r>
          </a:p>
        </p:txBody>
      </p:sp>
      <p:sp>
        <p:nvSpPr>
          <p:cNvPr id="9" name="Rounded Rectangle 8"/>
          <p:cNvSpPr/>
          <p:nvPr/>
        </p:nvSpPr>
        <p:spPr>
          <a:xfrm>
            <a:off x="8732520" y="4846320"/>
            <a:ext cx="2560320" cy="914400"/>
          </a:xfrm>
          <a:prstGeom prst="roundRect">
            <a:avLst/>
          </a:prstGeom>
          <a:solidFill>
            <a:srgbClr val="E8EEF7"/>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No</a:t>
            </a:r>
          </a:p>
          <a:p>
            <a:pPr algn="ctr"/>
            <a:r>
              <a:rPr sz="950" b="0" i="0">
                <a:solidFill>
                  <a:srgbClr val="111B30"/>
                </a:solidFill>
                <a:latin typeface="Calibri"/>
              </a:rPr>
              <a:t>Forwarder / Root Hints (resolved externally)</a:t>
            </a:r>
          </a:p>
        </p:txBody>
      </p:sp>
      <p:cxnSp>
        <p:nvCxnSpPr>
          <p:cNvPr id="10" name="Connector 9"/>
          <p:cNvCxnSpPr/>
          <p:nvPr/>
        </p:nvCxnSpPr>
        <p:spPr>
          <a:xfrm>
            <a:off x="3017520" y="3749040"/>
            <a:ext cx="41148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354580" y="3602736"/>
            <a:ext cx="1737360" cy="292608"/>
          </a:xfrm>
          <a:prstGeom prst="rect">
            <a:avLst/>
          </a:prstGeom>
          <a:noFill/>
        </p:spPr>
        <p:txBody>
          <a:bodyPr wrap="square" lIns="0" tIns="0">
            <a:spAutoFit/>
          </a:bodyPr>
          <a:lstStyle/>
          <a:p>
            <a:pPr algn="ctr"/>
            <a:r>
              <a:rPr sz="900" b="0" i="1">
                <a:solidFill>
                  <a:srgbClr val="404040"/>
                </a:solidFill>
                <a:latin typeface="Calibri"/>
              </a:rPr>
              <a:t>query</a:t>
            </a:r>
          </a:p>
        </p:txBody>
      </p:sp>
      <p:cxnSp>
        <p:nvCxnSpPr>
          <p:cNvPr id="12" name="Connector 11"/>
          <p:cNvCxnSpPr/>
          <p:nvPr/>
        </p:nvCxnSpPr>
        <p:spPr>
          <a:xfrm flipV="1">
            <a:off x="5715000" y="3726180"/>
            <a:ext cx="457200" cy="2286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74920" y="3591306"/>
            <a:ext cx="1737360" cy="292608"/>
          </a:xfrm>
          <a:prstGeom prst="rect">
            <a:avLst/>
          </a:prstGeom>
          <a:noFill/>
        </p:spPr>
        <p:txBody>
          <a:bodyPr wrap="square" lIns="0" tIns="0">
            <a:spAutoFit/>
          </a:bodyPr>
          <a:lstStyle/>
          <a:p>
            <a:pPr algn="ctr"/>
            <a:r>
              <a:rPr sz="900" b="0" i="1">
                <a:solidFill>
                  <a:srgbClr val="404040"/>
                </a:solidFill>
                <a:latin typeface="Calibri"/>
              </a:rPr>
              <a:t>lookup</a:t>
            </a:r>
          </a:p>
        </p:txBody>
      </p:sp>
      <p:cxnSp>
        <p:nvCxnSpPr>
          <p:cNvPr id="14" name="Connector 13"/>
          <p:cNvCxnSpPr/>
          <p:nvPr/>
        </p:nvCxnSpPr>
        <p:spPr>
          <a:xfrm flipH="1">
            <a:off x="6217920" y="4251960"/>
            <a:ext cx="1097280" cy="59436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458200" y="3726180"/>
            <a:ext cx="274320" cy="15773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Managing DNS</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Add-DnsServerResourceRecordA -Name "fileserver" -ZoneName "lab.local" -IPv4Address "10.0.0.50"</a:t>
            </a:r>
          </a:p>
          <a:p>
            <a:pPr algn="l">
              <a:spcAft>
                <a:spcPts val="1000"/>
              </a:spcAft>
            </a:pPr>
            <a:r>
              <a:rPr sz="1400" b="0" i="0">
                <a:solidFill>
                  <a:srgbClr val="111B30"/>
                </a:solidFill>
                <a:latin typeface="Courier New"/>
              </a:rPr>
              <a:t>Get-DnsServerZone</a:t>
            </a:r>
          </a:p>
          <a:p>
            <a:pPr algn="l">
              <a:spcAft>
                <a:spcPts val="1000"/>
              </a:spcAft>
            </a:pPr>
            <a:r>
              <a:rPr sz="1400" b="0" i="0">
                <a:solidFill>
                  <a:srgbClr val="111B30"/>
                </a:solidFill>
                <a:latin typeface="Courier New"/>
              </a:rPr>
              <a:t>Resolve-DnsName fileserver.lab.local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DHCP on Windows Server: Scopes, Reservations &amp; Failover</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Scope = a range of leasable addresses for one subnet - still uses DORA underneath</a:t>
            </a:r>
          </a:p>
          <a:p>
            <a:pPr algn="l">
              <a:spcAft>
                <a:spcPts val="1200"/>
              </a:spcAft>
            </a:pPr>
            <a:r>
              <a:rPr sz="1600" b="0" i="0">
                <a:solidFill>
                  <a:srgbClr val="111B30"/>
                </a:solidFill>
                <a:latin typeface="Calibri"/>
              </a:rPr>
              <a:t>●   Reservation = a fixed IP tied to a MAC address within a scope - printers, servers that still want DHCP-managed config</a:t>
            </a:r>
          </a:p>
          <a:p>
            <a:pPr algn="l">
              <a:spcAft>
                <a:spcPts val="1200"/>
              </a:spcAft>
            </a:pPr>
            <a:r>
              <a:rPr sz="1600" b="0" i="0">
                <a:solidFill>
                  <a:srgbClr val="111B30"/>
                </a:solidFill>
                <a:latin typeface="Calibri"/>
              </a:rPr>
              <a:t>●   Scope options (006 DNS servers, 003 router) usually pushed from AD-integrated DHCP</a:t>
            </a:r>
          </a:p>
          <a:p>
            <a:pPr algn="l">
              <a:spcAft>
                <a:spcPts val="1200"/>
              </a:spcAft>
            </a:pPr>
            <a:r>
              <a:rPr sz="1600" b="0" i="0">
                <a:solidFill>
                  <a:srgbClr val="111B30"/>
                </a:solidFill>
                <a:latin typeface="Calibri"/>
              </a:rPr>
              <a:t>●   DHCP failover (load-balance or hot-standby) avoids the single-server-outage problem inherent to DHCP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File Services: Shares, NTFS &amp; FSRM</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Share permissions (SMB level) vs. NTFS permissions (filesystem level) - effective access is the MORE restrictive of the two</a:t>
            </a:r>
          </a:p>
          <a:p>
            <a:pPr algn="l">
              <a:spcAft>
                <a:spcPts val="1200"/>
              </a:spcAft>
            </a:pPr>
            <a:r>
              <a:rPr sz="1600" b="0" i="0">
                <a:solidFill>
                  <a:srgbClr val="111B30"/>
                </a:solidFill>
                <a:latin typeface="Calibri"/>
              </a:rPr>
              <a:t>●   New-SmbShare creates a share; NTFS ACLs still control real access underneath it</a:t>
            </a:r>
          </a:p>
          <a:p>
            <a:pPr algn="l">
              <a:spcAft>
                <a:spcPts val="1200"/>
              </a:spcAft>
            </a:pPr>
            <a:r>
              <a:rPr sz="1600" b="0" i="0">
                <a:solidFill>
                  <a:srgbClr val="111B30"/>
                </a:solidFill>
                <a:latin typeface="Calibri"/>
              </a:rPr>
              <a:t>●   File Server Resource Manager (FSRM): quotas, file screening, storage reports</a:t>
            </a:r>
          </a:p>
          <a:p>
            <a:pPr algn="l">
              <a:spcAft>
                <a:spcPts val="1200"/>
              </a:spcAft>
            </a:pPr>
            <a:r>
              <a:rPr sz="1600" b="0" i="0">
                <a:solidFill>
                  <a:srgbClr val="111B30"/>
                </a:solidFill>
                <a:latin typeface="Calibri"/>
              </a:rPr>
              <a:t>●   DFS builds on top of file shares - previewed here, detailed in Section 05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DNS / DHCP / File Services Cheat Sheet</a:t>
            </a:r>
          </a:p>
        </p:txBody>
      </p:sp>
      <p:graphicFrame>
        <p:nvGraphicFramePr>
          <p:cNvPr id="3" name="Table 2"/>
          <p:cNvGraphicFramePr>
            <a:graphicFrameLocks noGrp="1"/>
          </p:cNvGraphicFramePr>
          <p:nvPr/>
        </p:nvGraphicFramePr>
        <p:xfrm>
          <a:off x="640080" y="1554480"/>
          <a:ext cx="10911535" cy="1828800"/>
        </p:xfrm>
        <a:graphic>
          <a:graphicData uri="http://schemas.openxmlformats.org/drawingml/2006/table">
            <a:tbl>
              <a:tblPr firstRow="1" bandRow="1">
                <a:tableStyleId>{5C22544A-7EE6-4342-B048-85BDC9FD1C3A}</a:tableStyleId>
              </a:tblPr>
              <a:tblGrid>
                <a:gridCol w="2011680"/>
                <a:gridCol w="5303520"/>
                <a:gridCol w="3596335"/>
              </a:tblGrid>
              <a:tr h="457200">
                <a:tc>
                  <a:txBody>
                    <a:bodyPr/>
                    <a:lstStyle/>
                    <a:p>
                      <a:pPr algn="l"/>
                      <a:r>
                        <a:rPr sz="1250" b="1" i="0">
                          <a:solidFill>
                            <a:srgbClr val="FFFFFF"/>
                          </a:solidFill>
                          <a:latin typeface="Calibri"/>
                        </a:rPr>
                        <a:t>Role</a:t>
                      </a:r>
                    </a:p>
                  </a:txBody>
                  <a:tcPr anchor="ctr" marL="76200" marR="76200" marT="38100" marB="38100">
                    <a:solidFill>
                      <a:srgbClr val="1B2A4A"/>
                    </a:solidFill>
                  </a:tcPr>
                </a:tc>
                <a:tc>
                  <a:txBody>
                    <a:bodyPr/>
                    <a:lstStyle/>
                    <a:p>
                      <a:pPr algn="l"/>
                      <a:r>
                        <a:rPr sz="1250" b="1" i="0">
                          <a:solidFill>
                            <a:srgbClr val="FFFFFF"/>
                          </a:solidFill>
                          <a:latin typeface="Calibri"/>
                        </a:rPr>
                        <a:t>Key PowerShell Cmdlets</a:t>
                      </a:r>
                    </a:p>
                  </a:txBody>
                  <a:tcPr anchor="ctr" marL="76200" marR="76200" marT="38100" marB="38100">
                    <a:solidFill>
                      <a:srgbClr val="1B2A4A"/>
                    </a:solidFill>
                  </a:tcPr>
                </a:tc>
                <a:tc>
                  <a:txBody>
                    <a:bodyPr/>
                    <a:lstStyle/>
                    <a:p>
                      <a:pPr algn="l"/>
                      <a:r>
                        <a:rPr sz="1250" b="1" i="0">
                          <a:solidFill>
                            <a:srgbClr val="FFFFFF"/>
                          </a:solidFill>
                          <a:latin typeface="Calibri"/>
                        </a:rPr>
                        <a:t>What to Check First</a:t>
                      </a:r>
                    </a:p>
                  </a:txBody>
                  <a:tcPr anchor="ctr" marL="76200" marR="76200" marT="38100" marB="38100">
                    <a:solidFill>
                      <a:srgbClr val="1B2A4A"/>
                    </a:solidFill>
                  </a:tcPr>
                </a:tc>
              </a:tr>
              <a:tr h="457200">
                <a:tc>
                  <a:txBody>
                    <a:bodyPr/>
                    <a:lstStyle/>
                    <a:p>
                      <a:pPr algn="l"/>
                      <a:r>
                        <a:rPr sz="1250" b="0" i="0">
                          <a:solidFill>
                            <a:srgbClr val="111B30"/>
                          </a:solidFill>
                          <a:latin typeface="Calibri"/>
                        </a:rPr>
                        <a:t>DNS</a:t>
                      </a:r>
                    </a:p>
                  </a:txBody>
                  <a:tcPr anchor="ctr" marL="76200" marR="76200" marT="38100" marB="38100">
                    <a:solidFill>
                      <a:srgbClr val="FFFFFF"/>
                    </a:solidFill>
                  </a:tcPr>
                </a:tc>
                <a:tc>
                  <a:txBody>
                    <a:bodyPr/>
                    <a:lstStyle/>
                    <a:p>
                      <a:pPr algn="l"/>
                      <a:r>
                        <a:rPr sz="1250" b="0" i="0">
                          <a:solidFill>
                            <a:srgbClr val="111B30"/>
                          </a:solidFill>
                          <a:latin typeface="Calibri"/>
                        </a:rPr>
                        <a:t>Add-DnsServerResourceRecordA, Get-DnsServerZone, Resolve-DnsName</a:t>
                      </a:r>
                    </a:p>
                  </a:txBody>
                  <a:tcPr anchor="ctr" marL="76200" marR="76200" marT="38100" marB="38100">
                    <a:solidFill>
                      <a:srgbClr val="FFFFFF"/>
                    </a:solidFill>
                  </a:tcPr>
                </a:tc>
                <a:tc>
                  <a:txBody>
                    <a:bodyPr/>
                    <a:lstStyle/>
                    <a:p>
                      <a:pPr algn="l"/>
                      <a:r>
                        <a:rPr sz="1250" b="0" i="0">
                          <a:solidFill>
                            <a:srgbClr val="111B30"/>
                          </a:solidFill>
                          <a:latin typeface="Calibri"/>
                        </a:rPr>
                        <a:t>Is the zone AD-integrated? Are SRV records present?</a:t>
                      </a:r>
                    </a:p>
                  </a:txBody>
                  <a:tcPr anchor="ctr" marL="76200" marR="76200" marT="38100" marB="38100">
                    <a:solidFill>
                      <a:srgbClr val="FFFFFF"/>
                    </a:solidFill>
                  </a:tcPr>
                </a:tc>
              </a:tr>
              <a:tr h="457200">
                <a:tc>
                  <a:txBody>
                    <a:bodyPr/>
                    <a:lstStyle/>
                    <a:p>
                      <a:pPr algn="l"/>
                      <a:r>
                        <a:rPr sz="1250" b="0" i="0">
                          <a:solidFill>
                            <a:srgbClr val="111B30"/>
                          </a:solidFill>
                          <a:latin typeface="Calibri"/>
                        </a:rPr>
                        <a:t>DHCP</a:t>
                      </a:r>
                    </a:p>
                  </a:txBody>
                  <a:tcPr anchor="ctr" marL="76200" marR="76200" marT="38100" marB="38100">
                    <a:solidFill>
                      <a:srgbClr val="E8EEF7"/>
                    </a:solidFill>
                  </a:tcPr>
                </a:tc>
                <a:tc>
                  <a:txBody>
                    <a:bodyPr/>
                    <a:lstStyle/>
                    <a:p>
                      <a:pPr algn="l"/>
                      <a:r>
                        <a:rPr sz="1250" b="0" i="0">
                          <a:solidFill>
                            <a:srgbClr val="111B30"/>
                          </a:solidFill>
                          <a:latin typeface="Calibri"/>
                        </a:rPr>
                        <a:t>Add-DhcpServerv4Scope, Get-DhcpServerv4Lease, Add-DhcpServerv4Reservation</a:t>
                      </a:r>
                    </a:p>
                  </a:txBody>
                  <a:tcPr anchor="ctr" marL="76200" marR="76200" marT="38100" marB="38100">
                    <a:solidFill>
                      <a:srgbClr val="E8EEF7"/>
                    </a:solidFill>
                  </a:tcPr>
                </a:tc>
                <a:tc>
                  <a:txBody>
                    <a:bodyPr/>
                    <a:lstStyle/>
                    <a:p>
                      <a:pPr algn="l"/>
                      <a:r>
                        <a:rPr sz="1250" b="0" i="0">
                          <a:solidFill>
                            <a:srgbClr val="111B30"/>
                          </a:solidFill>
                          <a:latin typeface="Calibri"/>
                        </a:rPr>
                        <a:t>Scope not exhausted; correct DNS/gateway options set</a:t>
                      </a:r>
                    </a:p>
                  </a:txBody>
                  <a:tcPr anchor="ctr" marL="76200" marR="76200" marT="38100" marB="38100">
                    <a:solidFill>
                      <a:srgbClr val="E8EEF7"/>
                    </a:solidFill>
                  </a:tcPr>
                </a:tc>
              </a:tr>
              <a:tr h="457200">
                <a:tc>
                  <a:txBody>
                    <a:bodyPr/>
                    <a:lstStyle/>
                    <a:p>
                      <a:pPr algn="l"/>
                      <a:r>
                        <a:rPr sz="1250" b="0" i="0">
                          <a:solidFill>
                            <a:srgbClr val="111B30"/>
                          </a:solidFill>
                          <a:latin typeface="Calibri"/>
                        </a:rPr>
                        <a:t>File Services</a:t>
                      </a:r>
                    </a:p>
                  </a:txBody>
                  <a:tcPr anchor="ctr" marL="76200" marR="76200" marT="38100" marB="38100">
                    <a:solidFill>
                      <a:srgbClr val="FFFFFF"/>
                    </a:solidFill>
                  </a:tcPr>
                </a:tc>
                <a:tc>
                  <a:txBody>
                    <a:bodyPr/>
                    <a:lstStyle/>
                    <a:p>
                      <a:pPr algn="l"/>
                      <a:r>
                        <a:rPr sz="1250" b="0" i="0">
                          <a:solidFill>
                            <a:srgbClr val="111B30"/>
                          </a:solidFill>
                          <a:latin typeface="Calibri"/>
                        </a:rPr>
                        <a:t>New-SmbShare, Get-SmbShareAccess, Get-Acl / Set-Acl</a:t>
                      </a:r>
                    </a:p>
                  </a:txBody>
                  <a:tcPr anchor="ctr" marL="76200" marR="76200" marT="38100" marB="38100">
                    <a:solidFill>
                      <a:srgbClr val="FFFFFF"/>
                    </a:solidFill>
                  </a:tcPr>
                </a:tc>
                <a:tc>
                  <a:txBody>
                    <a:bodyPr/>
                    <a:lstStyle/>
                    <a:p>
                      <a:pPr algn="l"/>
                      <a:r>
                        <a:rPr sz="1250" b="0" i="0">
                          <a:solidFill>
                            <a:srgbClr val="111B30"/>
                          </a:solidFill>
                          <a:latin typeface="Calibri"/>
                        </a:rPr>
                        <a:t>Combined effective permission (share (intersect) NTFS)</a:t>
                      </a:r>
                    </a:p>
                  </a:txBody>
                  <a:tcPr anchor="ctr" marL="76200" marR="76200" marT="38100" marB="38100">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DNS, DHCP &amp; File Services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Attacks &amp; Defenses</a:t>
            </a:r>
          </a:p>
        </p:txBody>
      </p:sp>
      <p:graphicFrame>
        <p:nvGraphicFramePr>
          <p:cNvPr id="4" name="Table 3"/>
          <p:cNvGraphicFramePr>
            <a:graphicFrameLocks noGrp="1"/>
          </p:cNvGraphicFramePr>
          <p:nvPr/>
        </p:nvGraphicFramePr>
        <p:xfrm>
          <a:off x="640080" y="1828800"/>
          <a:ext cx="10911535" cy="2286000"/>
        </p:xfrm>
        <a:graphic>
          <a:graphicData uri="http://schemas.openxmlformats.org/drawingml/2006/table">
            <a:tbl>
              <a:tblPr firstRow="1" bandRow="1">
                <a:tableStyleId>{5C22544A-7EE6-4342-B048-85BDC9FD1C3A}</a:tableStyleId>
              </a:tblPr>
              <a:tblGrid>
                <a:gridCol w="3200400"/>
                <a:gridCol w="4572000"/>
                <a:gridCol w="3139135"/>
              </a:tblGrid>
              <a:tr h="457200">
                <a:tc>
                  <a:txBody>
                    <a:bodyPr/>
                    <a:lstStyle/>
                    <a:p>
                      <a:pPr algn="l"/>
                      <a:r>
                        <a:rPr sz="1250" b="1" i="0">
                          <a:solidFill>
                            <a:srgbClr val="FFFFFF"/>
                          </a:solidFill>
                          <a:latin typeface="Calibri"/>
                        </a:rPr>
                        <a:t>Attack</a:t>
                      </a:r>
                    </a:p>
                  </a:txBody>
                  <a:tcPr anchor="ctr" marL="76200" marR="76200" marT="38100" marB="38100">
                    <a:solidFill>
                      <a:srgbClr val="1B2A4A"/>
                    </a:solidFill>
                  </a:tcPr>
                </a:tc>
                <a:tc>
                  <a:txBody>
                    <a:bodyPr/>
                    <a:lstStyle/>
                    <a:p>
                      <a:pPr algn="l"/>
                      <a:r>
                        <a:rPr sz="1250" b="1" i="0">
                          <a:solidFill>
                            <a:srgbClr val="FFFFFF"/>
                          </a:solidFill>
                          <a:latin typeface="Calibri"/>
                        </a:rPr>
                        <a:t>How It Works</a:t>
                      </a:r>
                    </a:p>
                  </a:txBody>
                  <a:tcPr anchor="ctr" marL="76200" marR="76200" marT="38100" marB="38100">
                    <a:solidFill>
                      <a:srgbClr val="1B2A4A"/>
                    </a:solidFill>
                  </a:tcPr>
                </a:tc>
                <a:tc>
                  <a:txBody>
                    <a:bodyPr/>
                    <a:lstStyle/>
                    <a:p>
                      <a:pPr algn="l"/>
                      <a:r>
                        <a:rPr sz="1250" b="1" i="0">
                          <a:solidFill>
                            <a:srgbClr val="FFFFFF"/>
                          </a:solidFill>
                          <a:latin typeface="Calibri"/>
                        </a:rPr>
                        <a:t>Defense</a:t>
                      </a:r>
                    </a:p>
                  </a:txBody>
                  <a:tcPr anchor="ctr" marL="76200" marR="76200" marT="38100" marB="38100">
                    <a:solidFill>
                      <a:srgbClr val="1B2A4A"/>
                    </a:solidFill>
                  </a:tcPr>
                </a:tc>
              </a:tr>
              <a:tr h="457200">
                <a:tc>
                  <a:txBody>
                    <a:bodyPr/>
                    <a:lstStyle/>
                    <a:p>
                      <a:pPr algn="l"/>
                      <a:r>
                        <a:rPr sz="1200" b="1" i="0">
                          <a:solidFill>
                            <a:srgbClr val="B02A2A"/>
                          </a:solidFill>
                          <a:latin typeface="Calibri"/>
                        </a:rPr>
                        <a:t>DNS cache poisoning / zone transfer abuse</a:t>
                      </a:r>
                    </a:p>
                  </a:txBody>
                  <a:tcPr anchor="ctr" marL="76200" marR="76200" marT="38100" marB="38100">
                    <a:solidFill>
                      <a:srgbClr val="FFFFFF"/>
                    </a:solidFill>
                  </a:tcPr>
                </a:tc>
                <a:tc>
                  <a:txBody>
                    <a:bodyPr/>
                    <a:lstStyle/>
                    <a:p>
                      <a:pPr algn="l"/>
                      <a:r>
                        <a:rPr sz="1200" b="0" i="0">
                          <a:solidFill>
                            <a:srgbClr val="111B30"/>
                          </a:solidFill>
                          <a:latin typeface="Calibri"/>
                        </a:rPr>
                        <a:t>Attacker injects bad records or pulls full zone data via unrestricted transfer</a:t>
                      </a:r>
                    </a:p>
                  </a:txBody>
                  <a:tcPr anchor="ctr" marL="76200" marR="76200" marT="38100" marB="38100">
                    <a:solidFill>
                      <a:srgbClr val="FFFFFF"/>
                    </a:solidFill>
                  </a:tcPr>
                </a:tc>
                <a:tc>
                  <a:txBody>
                    <a:bodyPr/>
                    <a:lstStyle/>
                    <a:p>
                      <a:pPr algn="l"/>
                      <a:r>
                        <a:rPr sz="1200" b="1" i="0">
                          <a:solidFill>
                            <a:srgbClr val="2E7D32"/>
                          </a:solidFill>
                          <a:latin typeface="Calibri"/>
                        </a:rPr>
                        <a:t>Restrict zone transfers to named secondaries; disable if unused</a:t>
                      </a:r>
                    </a:p>
                  </a:txBody>
                  <a:tcPr anchor="ctr" marL="76200" marR="76200" marT="38100" marB="38100">
                    <a:solidFill>
                      <a:srgbClr val="FFFFFF"/>
                    </a:solidFill>
                  </a:tcPr>
                </a:tc>
              </a:tr>
              <a:tr h="457200">
                <a:tc>
                  <a:txBody>
                    <a:bodyPr/>
                    <a:lstStyle/>
                    <a:p>
                      <a:pPr algn="l"/>
                      <a:r>
                        <a:rPr sz="1200" b="1" i="0">
                          <a:solidFill>
                            <a:srgbClr val="B02A2A"/>
                          </a:solidFill>
                          <a:latin typeface="Calibri"/>
                        </a:rPr>
                        <a:t>Rogue DHCP server</a:t>
                      </a:r>
                    </a:p>
                  </a:txBody>
                  <a:tcPr anchor="ctr" marL="76200" marR="76200" marT="38100" marB="38100">
                    <a:solidFill>
                      <a:srgbClr val="E8EEF7"/>
                    </a:solidFill>
                  </a:tcPr>
                </a:tc>
                <a:tc>
                  <a:txBody>
                    <a:bodyPr/>
                    <a:lstStyle/>
                    <a:p>
                      <a:pPr algn="l"/>
                      <a:r>
                        <a:rPr sz="1200" b="0" i="0">
                          <a:solidFill>
                            <a:srgbClr val="111B30"/>
                          </a:solidFill>
                          <a:latin typeface="Calibri"/>
                        </a:rPr>
                        <a:t>Unauthorized DHCP server hands out attacker-controlled DNS/gateway</a:t>
                      </a:r>
                    </a:p>
                  </a:txBody>
                  <a:tcPr anchor="ctr" marL="76200" marR="76200" marT="38100" marB="38100">
                    <a:solidFill>
                      <a:srgbClr val="E8EEF7"/>
                    </a:solidFill>
                  </a:tcPr>
                </a:tc>
                <a:tc>
                  <a:txBody>
                    <a:bodyPr/>
                    <a:lstStyle/>
                    <a:p>
                      <a:pPr algn="l"/>
                      <a:r>
                        <a:rPr sz="1200" b="1" i="0">
                          <a:solidFill>
                            <a:srgbClr val="2E7D32"/>
                          </a:solidFill>
                          <a:latin typeface="Calibri"/>
                        </a:rPr>
                        <a:t>DHCP snooping at the switch; authorize DHCP servers in AD</a:t>
                      </a:r>
                    </a:p>
                  </a:txBody>
                  <a:tcPr anchor="ctr" marL="76200" marR="76200" marT="38100" marB="38100">
                    <a:solidFill>
                      <a:srgbClr val="E8EEF7"/>
                    </a:solidFill>
                  </a:tcPr>
                </a:tc>
              </a:tr>
              <a:tr h="457200">
                <a:tc>
                  <a:txBody>
                    <a:bodyPr/>
                    <a:lstStyle/>
                    <a:p>
                      <a:pPr algn="l"/>
                      <a:r>
                        <a:rPr sz="1200" b="1" i="0">
                          <a:solidFill>
                            <a:srgbClr val="B02A2A"/>
                          </a:solidFill>
                          <a:latin typeface="Calibri"/>
                        </a:rPr>
                        <a:t>Share permission misconfiguration</a:t>
                      </a:r>
                    </a:p>
                  </a:txBody>
                  <a:tcPr anchor="ctr" marL="76200" marR="76200" marT="38100" marB="38100">
                    <a:solidFill>
                      <a:srgbClr val="FFFFFF"/>
                    </a:solidFill>
                  </a:tcPr>
                </a:tc>
                <a:tc>
                  <a:txBody>
                    <a:bodyPr/>
                    <a:lstStyle/>
                    <a:p>
                      <a:pPr algn="l"/>
                      <a:r>
                        <a:rPr sz="1200" b="0" i="0">
                          <a:solidFill>
                            <a:srgbClr val="111B30"/>
                          </a:solidFill>
                          <a:latin typeface="Calibri"/>
                        </a:rPr>
                        <a:t>Overly permissive share exposes sensitive files org-wide</a:t>
                      </a:r>
                    </a:p>
                  </a:txBody>
                  <a:tcPr anchor="ctr" marL="76200" marR="76200" marT="38100" marB="38100">
                    <a:solidFill>
                      <a:srgbClr val="FFFFFF"/>
                    </a:solidFill>
                  </a:tcPr>
                </a:tc>
                <a:tc>
                  <a:txBody>
                    <a:bodyPr/>
                    <a:lstStyle/>
                    <a:p>
                      <a:pPr algn="l"/>
                      <a:r>
                        <a:rPr sz="1200" b="1" i="0">
                          <a:solidFill>
                            <a:srgbClr val="2E7D32"/>
                          </a:solidFill>
                          <a:latin typeface="Calibri"/>
                        </a:rPr>
                        <a:t>Least-privilege NTFS ACLs; periodic access review; FSRM screening</a:t>
                      </a:r>
                    </a:p>
                  </a:txBody>
                  <a:tcPr anchor="ctr" marL="76200" marR="76200" marT="38100" marB="38100">
                    <a:solidFill>
                      <a:srgbClr val="FFFFFF"/>
                    </a:solidFill>
                  </a:tcPr>
                </a:tc>
              </a:tr>
              <a:tr h="457200">
                <a:tc>
                  <a:txBody>
                    <a:bodyPr/>
                    <a:lstStyle/>
                    <a:p>
                      <a:pPr algn="l"/>
                      <a:r>
                        <a:rPr sz="1200" b="1" i="0">
                          <a:solidFill>
                            <a:srgbClr val="B02A2A"/>
                          </a:solidFill>
                          <a:latin typeface="Calibri"/>
                        </a:rPr>
                        <a:t>SMB/NTLM relay</a:t>
                      </a:r>
                    </a:p>
                  </a:txBody>
                  <a:tcPr anchor="ctr" marL="76200" marR="76200" marT="38100" marB="38100">
                    <a:solidFill>
                      <a:srgbClr val="E8EEF7"/>
                    </a:solidFill>
                  </a:tcPr>
                </a:tc>
                <a:tc>
                  <a:txBody>
                    <a:bodyPr/>
                    <a:lstStyle/>
                    <a:p>
                      <a:pPr algn="l"/>
                      <a:r>
                        <a:rPr sz="1200" b="0" i="0">
                          <a:solidFill>
                            <a:srgbClr val="111B30"/>
                          </a:solidFill>
                          <a:latin typeface="Calibri"/>
                        </a:rPr>
                        <a:t>Captured SMB auth attempt relayed to another host for lateral movement</a:t>
                      </a:r>
                    </a:p>
                  </a:txBody>
                  <a:tcPr anchor="ctr" marL="76200" marR="76200" marT="38100" marB="38100">
                    <a:solidFill>
                      <a:srgbClr val="E8EEF7"/>
                    </a:solidFill>
                  </a:tcPr>
                </a:tc>
                <a:tc>
                  <a:txBody>
                    <a:bodyPr/>
                    <a:lstStyle/>
                    <a:p>
                      <a:pPr algn="l"/>
                      <a:r>
                        <a:rPr sz="1200" b="1" i="0">
                          <a:solidFill>
                            <a:srgbClr val="2E7D32"/>
                          </a:solidFill>
                          <a:latin typeface="Calibri"/>
                        </a:rPr>
                        <a:t>Enforce SMB signing; disable NTLM where possible</a:t>
                      </a:r>
                    </a:p>
                  </a:txBody>
                  <a:tcPr anchor="ctr" marL="76200" marR="76200" marT="38100" marB="38100">
                    <a:solidFill>
                      <a:srgbClr val="E8EEF7"/>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03</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Group Policy, Local Security Policy &amp; Auditing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Local Security Policy vs. Group Policy</a:t>
            </a:r>
          </a:p>
        </p:txBody>
      </p:sp>
      <p:graphicFrame>
        <p:nvGraphicFramePr>
          <p:cNvPr id="3" name="Table 2"/>
          <p:cNvGraphicFramePr>
            <a:graphicFrameLocks noGrp="1"/>
          </p:cNvGraphicFramePr>
          <p:nvPr/>
        </p:nvGraphicFramePr>
        <p:xfrm>
          <a:off x="640080" y="1554480"/>
          <a:ext cx="10911535" cy="2743200"/>
        </p:xfrm>
        <a:graphic>
          <a:graphicData uri="http://schemas.openxmlformats.org/drawingml/2006/table">
            <a:tbl>
              <a:tblPr firstRow="1" bandRow="1">
                <a:tableStyleId>{5C22544A-7EE6-4342-B048-85BDC9FD1C3A}</a:tableStyleId>
              </a:tblPr>
              <a:tblGrid>
                <a:gridCol w="1828800"/>
                <a:gridCol w="4114800"/>
                <a:gridCol w="4967935"/>
              </a:tblGrid>
              <a:tr h="457200">
                <a:tc>
                  <a:txBody>
                    <a:bodyPr/>
                    <a:lstStyle/>
                    <a:p>
                      <a:pPr algn="l"/>
                      <a:r>
                        <a:rPr sz="1250" b="1" i="0">
                          <a:solidFill>
                            <a:srgbClr val="FFFFFF"/>
                          </a:solidFill>
                          <a:latin typeface="Calibri"/>
                        </a:rPr>
                        <a:t>Aspect</a:t>
                      </a:r>
                    </a:p>
                  </a:txBody>
                  <a:tcPr anchor="ctr" marL="76200" marR="76200" marT="38100" marB="38100">
                    <a:solidFill>
                      <a:srgbClr val="1B2A4A"/>
                    </a:solidFill>
                  </a:tcPr>
                </a:tc>
                <a:tc>
                  <a:txBody>
                    <a:bodyPr/>
                    <a:lstStyle/>
                    <a:p>
                      <a:pPr algn="l"/>
                      <a:r>
                        <a:rPr sz="1250" b="1" i="0">
                          <a:solidFill>
                            <a:srgbClr val="FFFFFF"/>
                          </a:solidFill>
                          <a:latin typeface="Calibri"/>
                        </a:rPr>
                        <a:t>Local Security Policy</a:t>
                      </a:r>
                    </a:p>
                  </a:txBody>
                  <a:tcPr anchor="ctr" marL="76200" marR="76200" marT="38100" marB="38100">
                    <a:solidFill>
                      <a:srgbClr val="1B2A4A"/>
                    </a:solidFill>
                  </a:tcPr>
                </a:tc>
                <a:tc>
                  <a:txBody>
                    <a:bodyPr/>
                    <a:lstStyle/>
                    <a:p>
                      <a:pPr algn="l"/>
                      <a:r>
                        <a:rPr sz="1250" b="1" i="0">
                          <a:solidFill>
                            <a:srgbClr val="FFFFFF"/>
                          </a:solidFill>
                          <a:latin typeface="Calibri"/>
                        </a:rPr>
                        <a:t>Group Policy</a:t>
                      </a:r>
                    </a:p>
                  </a:txBody>
                  <a:tcPr anchor="ctr" marL="76200" marR="76200" marT="38100" marB="38100">
                    <a:solidFill>
                      <a:srgbClr val="1B2A4A"/>
                    </a:solidFill>
                  </a:tcPr>
                </a:tc>
              </a:tr>
              <a:tr h="457200">
                <a:tc>
                  <a:txBody>
                    <a:bodyPr/>
                    <a:lstStyle/>
                    <a:p>
                      <a:pPr algn="l"/>
                      <a:r>
                        <a:rPr sz="1250" b="0" i="0">
                          <a:solidFill>
                            <a:srgbClr val="111B30"/>
                          </a:solidFill>
                          <a:latin typeface="Calibri"/>
                        </a:rPr>
                        <a:t>Scope</a:t>
                      </a:r>
                    </a:p>
                  </a:txBody>
                  <a:tcPr anchor="ctr" marL="76200" marR="76200" marT="38100" marB="38100">
                    <a:solidFill>
                      <a:srgbClr val="FFFFFF"/>
                    </a:solidFill>
                  </a:tcPr>
                </a:tc>
                <a:tc>
                  <a:txBody>
                    <a:bodyPr/>
                    <a:lstStyle/>
                    <a:p>
                      <a:pPr algn="l"/>
                      <a:r>
                        <a:rPr sz="1250" b="0" i="0">
                          <a:solidFill>
                            <a:srgbClr val="111B30"/>
                          </a:solidFill>
                          <a:latin typeface="Calibri"/>
                        </a:rPr>
                        <a:t>Single machine only</a:t>
                      </a:r>
                    </a:p>
                  </a:txBody>
                  <a:tcPr anchor="ctr" marL="76200" marR="76200" marT="38100" marB="38100">
                    <a:solidFill>
                      <a:srgbClr val="FFFFFF"/>
                    </a:solidFill>
                  </a:tcPr>
                </a:tc>
                <a:tc>
                  <a:txBody>
                    <a:bodyPr/>
                    <a:lstStyle/>
                    <a:p>
                      <a:pPr algn="l"/>
                      <a:r>
                        <a:rPr sz="1250" b="0" i="0">
                          <a:solidFill>
                            <a:srgbClr val="111B30"/>
                          </a:solidFill>
                          <a:latin typeface="Calibri"/>
                        </a:rPr>
                        <a:t>Site / Domain / OU - many machines at once</a:t>
                      </a:r>
                    </a:p>
                  </a:txBody>
                  <a:tcPr anchor="ctr" marL="76200" marR="76200" marT="38100" marB="38100">
                    <a:solidFill>
                      <a:srgbClr val="FFFFFF"/>
                    </a:solidFill>
                  </a:tcPr>
                </a:tc>
              </a:tr>
              <a:tr h="457200">
                <a:tc>
                  <a:txBody>
                    <a:bodyPr/>
                    <a:lstStyle/>
                    <a:p>
                      <a:pPr algn="l"/>
                      <a:r>
                        <a:rPr sz="1250" b="0" i="0">
                          <a:solidFill>
                            <a:srgbClr val="111B30"/>
                          </a:solidFill>
                          <a:latin typeface="Calibri"/>
                        </a:rPr>
                        <a:t>Tool</a:t>
                      </a:r>
                    </a:p>
                  </a:txBody>
                  <a:tcPr anchor="ctr" marL="76200" marR="76200" marT="38100" marB="38100">
                    <a:solidFill>
                      <a:srgbClr val="E8EEF7"/>
                    </a:solidFill>
                  </a:tcPr>
                </a:tc>
                <a:tc>
                  <a:txBody>
                    <a:bodyPr/>
                    <a:lstStyle/>
                    <a:p>
                      <a:pPr algn="l"/>
                      <a:r>
                        <a:rPr sz="1250" b="0" i="0">
                          <a:solidFill>
                            <a:srgbClr val="111B30"/>
                          </a:solidFill>
                          <a:latin typeface="Calibri"/>
                        </a:rPr>
                        <a:t>secpol.msc</a:t>
                      </a:r>
                    </a:p>
                  </a:txBody>
                  <a:tcPr anchor="ctr" marL="76200" marR="76200" marT="38100" marB="38100">
                    <a:solidFill>
                      <a:srgbClr val="E8EEF7"/>
                    </a:solidFill>
                  </a:tcPr>
                </a:tc>
                <a:tc>
                  <a:txBody>
                    <a:bodyPr/>
                    <a:lstStyle/>
                    <a:p>
                      <a:pPr algn="l"/>
                      <a:r>
                        <a:rPr sz="1250" b="0" i="0">
                          <a:solidFill>
                            <a:srgbClr val="111B30"/>
                          </a:solidFill>
                          <a:latin typeface="Calibri"/>
                        </a:rPr>
                        <a:t>Group Policy Management Console (GPMC), New-GPO</a:t>
                      </a:r>
                    </a:p>
                  </a:txBody>
                  <a:tcPr anchor="ctr" marL="76200" marR="76200" marT="38100" marB="38100">
                    <a:solidFill>
                      <a:srgbClr val="E8EEF7"/>
                    </a:solidFill>
                  </a:tcPr>
                </a:tc>
              </a:tr>
              <a:tr h="457200">
                <a:tc>
                  <a:txBody>
                    <a:bodyPr/>
                    <a:lstStyle/>
                    <a:p>
                      <a:pPr algn="l"/>
                      <a:r>
                        <a:rPr sz="1250" b="0" i="0">
                          <a:solidFill>
                            <a:srgbClr val="111B30"/>
                          </a:solidFill>
                          <a:latin typeface="Calibri"/>
                        </a:rPr>
                        <a:t>Storage</a:t>
                      </a:r>
                    </a:p>
                  </a:txBody>
                  <a:tcPr anchor="ctr" marL="76200" marR="76200" marT="38100" marB="38100">
                    <a:solidFill>
                      <a:srgbClr val="FFFFFF"/>
                    </a:solidFill>
                  </a:tcPr>
                </a:tc>
                <a:tc>
                  <a:txBody>
                    <a:bodyPr/>
                    <a:lstStyle/>
                    <a:p>
                      <a:pPr algn="l"/>
                      <a:r>
                        <a:rPr sz="1250" b="0" i="0">
                          <a:solidFill>
                            <a:srgbClr val="111B30"/>
                          </a:solidFill>
                          <a:latin typeface="Calibri"/>
                        </a:rPr>
                        <a:t>Local registry/security database</a:t>
                      </a:r>
                    </a:p>
                  </a:txBody>
                  <a:tcPr anchor="ctr" marL="76200" marR="76200" marT="38100" marB="38100">
                    <a:solidFill>
                      <a:srgbClr val="FFFFFF"/>
                    </a:solidFill>
                  </a:tcPr>
                </a:tc>
                <a:tc>
                  <a:txBody>
                    <a:bodyPr/>
                    <a:lstStyle/>
                    <a:p>
                      <a:pPr algn="l"/>
                      <a:r>
                        <a:rPr sz="1250" b="0" i="0">
                          <a:solidFill>
                            <a:srgbClr val="111B30"/>
                          </a:solidFill>
                          <a:latin typeface="Calibri"/>
                        </a:rPr>
                        <a:t>SYSVOL + AD (GPT + GPC)</a:t>
                      </a:r>
                    </a:p>
                  </a:txBody>
                  <a:tcPr anchor="ctr" marL="76200" marR="76200" marT="38100" marB="38100">
                    <a:solidFill>
                      <a:srgbClr val="FFFFFF"/>
                    </a:solidFill>
                  </a:tcPr>
                </a:tc>
              </a:tr>
              <a:tr h="457200">
                <a:tc>
                  <a:txBody>
                    <a:bodyPr/>
                    <a:lstStyle/>
                    <a:p>
                      <a:pPr algn="l"/>
                      <a:r>
                        <a:rPr sz="1250" b="0" i="0">
                          <a:solidFill>
                            <a:srgbClr val="111B30"/>
                          </a:solidFill>
                          <a:latin typeface="Calibri"/>
                        </a:rPr>
                        <a:t>Overridden by?</a:t>
                      </a:r>
                    </a:p>
                  </a:txBody>
                  <a:tcPr anchor="ctr" marL="76200" marR="76200" marT="38100" marB="38100">
                    <a:solidFill>
                      <a:srgbClr val="E8EEF7"/>
                    </a:solidFill>
                  </a:tcPr>
                </a:tc>
                <a:tc>
                  <a:txBody>
                    <a:bodyPr/>
                    <a:lstStyle/>
                    <a:p>
                      <a:pPr algn="l"/>
                      <a:r>
                        <a:rPr sz="1250" b="0" i="0">
                          <a:solidFill>
                            <a:srgbClr val="111B30"/>
                          </a:solidFill>
                          <a:latin typeface="Calibri"/>
                        </a:rPr>
                        <a:t>Nothing, unless a GPO applies</a:t>
                      </a:r>
                    </a:p>
                  </a:txBody>
                  <a:tcPr anchor="ctr" marL="76200" marR="76200" marT="38100" marB="38100">
                    <a:solidFill>
                      <a:srgbClr val="E8EEF7"/>
                    </a:solidFill>
                  </a:tcPr>
                </a:tc>
                <a:tc>
                  <a:txBody>
                    <a:bodyPr/>
                    <a:lstStyle/>
                    <a:p>
                      <a:pPr algn="l"/>
                      <a:r>
                        <a:rPr sz="1250" b="0" i="0">
                          <a:solidFill>
                            <a:srgbClr val="111B30"/>
                          </a:solidFill>
                          <a:latin typeface="Calibri"/>
                        </a:rPr>
                        <a:t>Higher-precedence GPOs</a:t>
                      </a:r>
                    </a:p>
                  </a:txBody>
                  <a:tcPr anchor="ctr" marL="76200" marR="76200" marT="38100" marB="38100">
                    <a:solidFill>
                      <a:srgbClr val="E8EEF7"/>
                    </a:solidFill>
                  </a:tcPr>
                </a:tc>
              </a:tr>
              <a:tr h="457200">
                <a:tc>
                  <a:txBody>
                    <a:bodyPr/>
                    <a:lstStyle/>
                    <a:p>
                      <a:pPr algn="l"/>
                      <a:r>
                        <a:rPr sz="1250" b="0" i="0">
                          <a:solidFill>
                            <a:srgbClr val="111B30"/>
                          </a:solidFill>
                          <a:latin typeface="Calibri"/>
                        </a:rPr>
                        <a:t>Use case</a:t>
                      </a:r>
                    </a:p>
                  </a:txBody>
                  <a:tcPr anchor="ctr" marL="76200" marR="76200" marT="38100" marB="38100">
                    <a:solidFill>
                      <a:srgbClr val="FFFFFF"/>
                    </a:solidFill>
                  </a:tcPr>
                </a:tc>
                <a:tc>
                  <a:txBody>
                    <a:bodyPr/>
                    <a:lstStyle/>
                    <a:p>
                      <a:pPr algn="l"/>
                      <a:r>
                        <a:rPr sz="1250" b="0" i="0">
                          <a:solidFill>
                            <a:srgbClr val="111B30"/>
                          </a:solidFill>
                          <a:latin typeface="Calibri"/>
                        </a:rPr>
                        <a:t>Standalone/workgroup machines, break-glass config</a:t>
                      </a:r>
                    </a:p>
                  </a:txBody>
                  <a:tcPr anchor="ctr" marL="76200" marR="76200" marT="38100" marB="38100">
                    <a:solidFill>
                      <a:srgbClr val="FFFFFF"/>
                    </a:solidFill>
                  </a:tcPr>
                </a:tc>
                <a:tc>
                  <a:txBody>
                    <a:bodyPr/>
                    <a:lstStyle/>
                    <a:p>
                      <a:pPr algn="l"/>
                      <a:r>
                        <a:rPr sz="1250" b="0" i="0">
                          <a:solidFill>
                            <a:srgbClr val="111B30"/>
                          </a:solidFill>
                          <a:latin typeface="Calibri"/>
                        </a:rPr>
                        <a:t>Any domain-joined fleet - the default choice at scale</a:t>
                      </a:r>
                    </a:p>
                  </a:txBody>
                  <a:tcPr anchor="ctr" marL="76200" marR="76200" marT="38100" marB="38100">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GPO Processing &amp; Inheritance Order</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Mnemonic: LSDOU - Local, Site, Domain, OU. Nearest-to-the-object OU normally wins unless blocked/enforced.</a:t>
            </a:r>
          </a:p>
        </p:txBody>
      </p:sp>
      <p:sp>
        <p:nvSpPr>
          <p:cNvPr id="4" name="Rounded Rectangle 3"/>
          <p:cNvSpPr/>
          <p:nvPr/>
        </p:nvSpPr>
        <p:spPr>
          <a:xfrm>
            <a:off x="914400" y="1920240"/>
            <a:ext cx="39319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Local Policy</a:t>
            </a:r>
          </a:p>
        </p:txBody>
      </p:sp>
      <p:sp>
        <p:nvSpPr>
          <p:cNvPr id="5" name="Rounded Rectangle 4"/>
          <p:cNvSpPr/>
          <p:nvPr/>
        </p:nvSpPr>
        <p:spPr>
          <a:xfrm>
            <a:off x="914400" y="2697480"/>
            <a:ext cx="39319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Site GPOs</a:t>
            </a:r>
          </a:p>
        </p:txBody>
      </p:sp>
      <p:sp>
        <p:nvSpPr>
          <p:cNvPr id="6" name="Rounded Rectangle 5"/>
          <p:cNvSpPr/>
          <p:nvPr/>
        </p:nvSpPr>
        <p:spPr>
          <a:xfrm>
            <a:off x="914400" y="3474720"/>
            <a:ext cx="39319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Domain GPOs</a:t>
            </a:r>
          </a:p>
        </p:txBody>
      </p:sp>
      <p:sp>
        <p:nvSpPr>
          <p:cNvPr id="7" name="Rounded Rectangle 6"/>
          <p:cNvSpPr/>
          <p:nvPr/>
        </p:nvSpPr>
        <p:spPr>
          <a:xfrm>
            <a:off x="914400" y="4251960"/>
            <a:ext cx="3931920"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OU GPOs (nearest wins)</a:t>
            </a:r>
          </a:p>
        </p:txBody>
      </p:sp>
      <p:cxnSp>
        <p:nvCxnSpPr>
          <p:cNvPr id="8" name="Connector 7"/>
          <p:cNvCxnSpPr/>
          <p:nvPr/>
        </p:nvCxnSpPr>
        <p:spPr>
          <a:xfrm>
            <a:off x="2880360" y="2468880"/>
            <a:ext cx="0" cy="22860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880360" y="3246120"/>
            <a:ext cx="0" cy="22860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880360" y="4023359"/>
            <a:ext cx="0" cy="228601"/>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40080" y="4983480"/>
            <a:ext cx="10911535" cy="365760"/>
          </a:xfrm>
          <a:prstGeom prst="rect">
            <a:avLst/>
          </a:prstGeom>
          <a:noFill/>
        </p:spPr>
        <p:txBody>
          <a:bodyPr wrap="square" lIns="0" tIns="0">
            <a:spAutoFit/>
          </a:bodyPr>
          <a:lstStyle/>
          <a:p>
            <a:r>
              <a:rPr sz="1250" b="0" i="1">
                <a:solidFill>
                  <a:srgbClr val="6B7480"/>
                </a:solidFill>
                <a:latin typeface="Calibri"/>
              </a:rPr>
              <a:t>Enforced / No Override flags can reverse this default order.</a:t>
            </a:r>
          </a:p>
        </p:txBody>
      </p:sp>
      <p:sp>
        <p:nvSpPr>
          <p:cNvPr id="12" name="Rounded Rectangle 11"/>
          <p:cNvSpPr/>
          <p:nvPr/>
        </p:nvSpPr>
        <p:spPr>
          <a:xfrm>
            <a:off x="6309360" y="1920240"/>
            <a:ext cx="3108960" cy="594360"/>
          </a:xfrm>
          <a:prstGeom prst="roundRect">
            <a:avLst/>
          </a:prstGeom>
          <a:solidFill>
            <a:srgbClr val="1B2A4A"/>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FFFFFF"/>
                </a:solidFill>
                <a:latin typeface="Calibri"/>
              </a:rPr>
              <a:t>GPO linked at domain root</a:t>
            </a:r>
          </a:p>
        </p:txBody>
      </p:sp>
      <p:sp>
        <p:nvSpPr>
          <p:cNvPr id="13" name="Rounded Rectangle 12"/>
          <p:cNvSpPr/>
          <p:nvPr/>
        </p:nvSpPr>
        <p:spPr>
          <a:xfrm>
            <a:off x="5760720" y="3246120"/>
            <a:ext cx="11887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Tier0</a:t>
            </a:r>
          </a:p>
        </p:txBody>
      </p:sp>
      <p:sp>
        <p:nvSpPr>
          <p:cNvPr id="14" name="Rounded Rectangle 13"/>
          <p:cNvSpPr/>
          <p:nvPr/>
        </p:nvSpPr>
        <p:spPr>
          <a:xfrm>
            <a:off x="7196328" y="3246120"/>
            <a:ext cx="11887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Servers</a:t>
            </a:r>
          </a:p>
        </p:txBody>
      </p:sp>
      <p:sp>
        <p:nvSpPr>
          <p:cNvPr id="15" name="Rounded Rectangle 14"/>
          <p:cNvSpPr/>
          <p:nvPr/>
        </p:nvSpPr>
        <p:spPr>
          <a:xfrm>
            <a:off x="8622792" y="3246120"/>
            <a:ext cx="11887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Workstations</a:t>
            </a:r>
          </a:p>
        </p:txBody>
      </p:sp>
      <p:sp>
        <p:nvSpPr>
          <p:cNvPr id="16" name="Rounded Rectangle 15"/>
          <p:cNvSpPr/>
          <p:nvPr/>
        </p:nvSpPr>
        <p:spPr>
          <a:xfrm>
            <a:off x="10058400" y="3246120"/>
            <a:ext cx="11887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UserAccounts</a:t>
            </a:r>
          </a:p>
        </p:txBody>
      </p:sp>
      <p:cxnSp>
        <p:nvCxnSpPr>
          <p:cNvPr id="17" name="Connector 16"/>
          <p:cNvCxnSpPr/>
          <p:nvPr/>
        </p:nvCxnSpPr>
        <p:spPr>
          <a:xfrm flipH="1">
            <a:off x="6355080" y="2514600"/>
            <a:ext cx="1508760" cy="73152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7790688" y="2514600"/>
            <a:ext cx="73152" cy="73152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863840" y="2514600"/>
            <a:ext cx="1353312" cy="73152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863840" y="2514600"/>
            <a:ext cx="2788920" cy="73152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760720" y="3977639"/>
            <a:ext cx="5486400" cy="640080"/>
          </a:xfrm>
          <a:prstGeom prst="rect">
            <a:avLst/>
          </a:prstGeom>
          <a:noFill/>
        </p:spPr>
        <p:txBody>
          <a:bodyPr wrap="square">
            <a:spAutoFit/>
          </a:bodyPr>
          <a:lstStyle/>
          <a:p>
            <a:r>
              <a:rPr sz="1100" b="0" i="1">
                <a:solidFill>
                  <a:srgbClr val="404040"/>
                </a:solidFill>
                <a:latin typeface="Calibri"/>
              </a:rPr>
              <a:t>Linking at the domain root means every OU inherits without linking 4 separate times.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Windows Event Log Overview</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Three core logs: Security (auth/audit events), System (OS/service events), Application (app-level events)</a:t>
            </a:r>
          </a:p>
          <a:p>
            <a:pPr algn="l">
              <a:spcAft>
                <a:spcPts val="1200"/>
              </a:spcAft>
            </a:pPr>
            <a:r>
              <a:rPr sz="1600" b="0" i="0">
                <a:solidFill>
                  <a:srgbClr val="111B30"/>
                </a:solidFill>
                <a:latin typeface="Calibri"/>
              </a:rPr>
              <a:t>●   Event Viewer (eventvwr.msc) or Get-WinEvent from PowerShell - same data, scriptable access</a:t>
            </a:r>
          </a:p>
          <a:p>
            <a:pPr algn="l">
              <a:spcAft>
                <a:spcPts val="1200"/>
              </a:spcAft>
            </a:pPr>
            <a:r>
              <a:rPr sz="1600" b="0" i="0">
                <a:solidFill>
                  <a:srgbClr val="111B30"/>
                </a:solidFill>
                <a:latin typeface="Calibri"/>
              </a:rPr>
              <a:t>●   Key Security Event IDs: 4624 (successful logon), 4625 (failed logon), 4720 (user created), 4738 (user changed), 4767 (account unlocked)</a:t>
            </a:r>
          </a:p>
          <a:p>
            <a:pPr algn="l">
              <a:spcAft>
                <a:spcPts val="1200"/>
              </a:spcAft>
            </a:pPr>
            <a:r>
              <a:rPr sz="1600" b="0" i="0">
                <a:solidFill>
                  <a:srgbClr val="111B30"/>
                </a:solidFill>
                <a:latin typeface="Calibri"/>
              </a:rPr>
              <a:t>●   Logs are local per-machine by default - centralizing them (SIEM, Windows Event Forwarding) is a recurring theme this week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Windows Event Logs</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Get-WinEvent -LogName Security -MaxEvents 5 | Format-List</a:t>
            </a:r>
          </a:p>
          <a:p>
            <a:pPr algn="l">
              <a:spcAft>
                <a:spcPts val="1000"/>
              </a:spcAft>
            </a:pPr>
            <a:r>
              <a:rPr sz="1400" b="0" i="0">
                <a:solidFill>
                  <a:srgbClr val="111B30"/>
                </a:solidFill>
                <a:latin typeface="Courier New"/>
              </a:rPr>
              <a:t>Get-WinEvent -LogName Security | Where-Object {$_.Id -eq 4625} | Select-Object -First 5</a:t>
            </a:r>
          </a:p>
          <a:p>
            <a:pPr algn="l">
              <a:spcAft>
                <a:spcPts val="1000"/>
              </a:spcAft>
            </a:pPr>
            <a:r>
              <a:rPr sz="1300" b="0" i="1">
                <a:solidFill>
                  <a:srgbClr val="3D5A80"/>
                </a:solidFill>
                <a:latin typeface="Calibri"/>
              </a:rPr>
              <a:t>GUI equivalent: eventvwr.msc -&gt; Windows Logs -&gt; Security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Building the Security Baseline GPO</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Linked at the domain root</a:t>
            </a:r>
          </a:p>
        </p:txBody>
      </p:sp>
      <p:graphicFrame>
        <p:nvGraphicFramePr>
          <p:cNvPr id="4" name="Table 3"/>
          <p:cNvGraphicFramePr>
            <a:graphicFrameLocks noGrp="1"/>
          </p:cNvGraphicFramePr>
          <p:nvPr/>
        </p:nvGraphicFramePr>
        <p:xfrm>
          <a:off x="640080" y="1828800"/>
          <a:ext cx="10911535" cy="4114800"/>
        </p:xfrm>
        <a:graphic>
          <a:graphicData uri="http://schemas.openxmlformats.org/drawingml/2006/table">
            <a:tbl>
              <a:tblPr firstRow="1" bandRow="1">
                <a:tableStyleId>{5C22544A-7EE6-4342-B048-85BDC9FD1C3A}</a:tableStyleId>
              </a:tblPr>
              <a:tblGrid>
                <a:gridCol w="4572000"/>
                <a:gridCol w="3200400"/>
                <a:gridCol w="3139135"/>
              </a:tblGrid>
              <a:tr h="457200">
                <a:tc>
                  <a:txBody>
                    <a:bodyPr/>
                    <a:lstStyle/>
                    <a:p>
                      <a:pPr algn="l"/>
                      <a:r>
                        <a:rPr sz="1250" b="1" i="0">
                          <a:solidFill>
                            <a:srgbClr val="FFFFFF"/>
                          </a:solidFill>
                          <a:latin typeface="Calibri"/>
                        </a:rPr>
                        <a:t>Setting</a:t>
                      </a:r>
                    </a:p>
                  </a:txBody>
                  <a:tcPr anchor="ctr" marL="76200" marR="76200" marT="38100" marB="38100">
                    <a:solidFill>
                      <a:srgbClr val="1B2A4A"/>
                    </a:solidFill>
                  </a:tcPr>
                </a:tc>
                <a:tc>
                  <a:txBody>
                    <a:bodyPr/>
                    <a:lstStyle/>
                    <a:p>
                      <a:pPr algn="l"/>
                      <a:r>
                        <a:rPr sz="1250" b="1" i="0">
                          <a:solidFill>
                            <a:srgbClr val="FFFFFF"/>
                          </a:solidFill>
                          <a:latin typeface="Calibri"/>
                        </a:rPr>
                        <a:t>Value</a:t>
                      </a:r>
                    </a:p>
                  </a:txBody>
                  <a:tcPr anchor="ctr" marL="76200" marR="76200" marT="38100" marB="38100">
                    <a:solidFill>
                      <a:srgbClr val="1B2A4A"/>
                    </a:solidFill>
                  </a:tcPr>
                </a:tc>
                <a:tc>
                  <a:txBody>
                    <a:bodyPr/>
                    <a:lstStyle/>
                    <a:p>
                      <a:pPr algn="l"/>
                      <a:r>
                        <a:rPr sz="1250" b="1" i="0">
                          <a:solidFill>
                            <a:srgbClr val="FFFFFF"/>
                          </a:solidFill>
                          <a:latin typeface="Calibri"/>
                        </a:rPr>
                        <a:t>CIS Reference</a:t>
                      </a:r>
                    </a:p>
                  </a:txBody>
                  <a:tcPr anchor="ctr" marL="76200" marR="76200" marT="38100" marB="38100">
                    <a:solidFill>
                      <a:srgbClr val="1B2A4A"/>
                    </a:solidFill>
                  </a:tcPr>
                </a:tc>
              </a:tr>
              <a:tr h="457200">
                <a:tc>
                  <a:txBody>
                    <a:bodyPr/>
                    <a:lstStyle/>
                    <a:p>
                      <a:pPr algn="l"/>
                      <a:r>
                        <a:rPr sz="1200" b="0" i="0">
                          <a:solidFill>
                            <a:srgbClr val="111B30"/>
                          </a:solidFill>
                          <a:latin typeface="Calibri"/>
                        </a:rPr>
                        <a:t>Minimum password length</a:t>
                      </a:r>
                    </a:p>
                  </a:txBody>
                  <a:tcPr anchor="ctr" marL="76200" marR="76200" marT="38100" marB="38100">
                    <a:solidFill>
                      <a:srgbClr val="FFFFFF"/>
                    </a:solidFill>
                  </a:tcPr>
                </a:tc>
                <a:tc>
                  <a:txBody>
                    <a:bodyPr/>
                    <a:lstStyle/>
                    <a:p>
                      <a:pPr algn="l"/>
                      <a:r>
                        <a:rPr sz="1200" b="0" i="0">
                          <a:solidFill>
                            <a:srgbClr val="111B30"/>
                          </a:solidFill>
                          <a:latin typeface="Calibri"/>
                        </a:rPr>
                        <a:t>14 characters</a:t>
                      </a:r>
                    </a:p>
                  </a:txBody>
                  <a:tcPr anchor="ctr" marL="76200" marR="76200" marT="38100" marB="38100">
                    <a:solidFill>
                      <a:srgbClr val="FFFFFF"/>
                    </a:solidFill>
                  </a:tcPr>
                </a:tc>
                <a:tc>
                  <a:txBody>
                    <a:bodyPr/>
                    <a:lstStyle/>
                    <a:p>
                      <a:pPr algn="l"/>
                      <a:r>
                        <a:rPr sz="1200" b="0" i="0">
                          <a:solidFill>
                            <a:srgbClr val="111B30"/>
                          </a:solidFill>
                          <a:latin typeface="Calibri"/>
                        </a:rPr>
                        <a:t>CIS 1.1.4</a:t>
                      </a:r>
                    </a:p>
                  </a:txBody>
                  <a:tcPr anchor="ctr" marL="76200" marR="76200" marT="38100" marB="38100">
                    <a:solidFill>
                      <a:srgbClr val="FFFFFF"/>
                    </a:solidFill>
                  </a:tcPr>
                </a:tc>
              </a:tr>
              <a:tr h="457200">
                <a:tc>
                  <a:txBody>
                    <a:bodyPr/>
                    <a:lstStyle/>
                    <a:p>
                      <a:pPr algn="l"/>
                      <a:r>
                        <a:rPr sz="1200" b="0" i="0">
                          <a:solidFill>
                            <a:srgbClr val="111B30"/>
                          </a:solidFill>
                          <a:latin typeface="Calibri"/>
                        </a:rPr>
                        <a:t>Password complexity</a:t>
                      </a:r>
                    </a:p>
                  </a:txBody>
                  <a:tcPr anchor="ctr" marL="76200" marR="76200" marT="38100" marB="38100">
                    <a:solidFill>
                      <a:srgbClr val="E8EEF7"/>
                    </a:solidFill>
                  </a:tcPr>
                </a:tc>
                <a:tc>
                  <a:txBody>
                    <a:bodyPr/>
                    <a:lstStyle/>
                    <a:p>
                      <a:pPr algn="l"/>
                      <a:r>
                        <a:rPr sz="1200" b="0" i="0">
                          <a:solidFill>
                            <a:srgbClr val="111B30"/>
                          </a:solidFill>
                          <a:latin typeface="Calibri"/>
                        </a:rPr>
                        <a:t>Enabled</a:t>
                      </a:r>
                    </a:p>
                  </a:txBody>
                  <a:tcPr anchor="ctr" marL="76200" marR="76200" marT="38100" marB="38100">
                    <a:solidFill>
                      <a:srgbClr val="E8EEF7"/>
                    </a:solidFill>
                  </a:tcPr>
                </a:tc>
                <a:tc>
                  <a:txBody>
                    <a:bodyPr/>
                    <a:lstStyle/>
                    <a:p>
                      <a:pPr algn="l"/>
                      <a:r>
                        <a:rPr sz="1200" b="0" i="0">
                          <a:solidFill>
                            <a:srgbClr val="111B30"/>
                          </a:solidFill>
                          <a:latin typeface="Calibri"/>
                        </a:rPr>
                        <a:t>CIS 1.1.5</a:t>
                      </a:r>
                    </a:p>
                  </a:txBody>
                  <a:tcPr anchor="ctr" marL="76200" marR="76200" marT="38100" marB="38100">
                    <a:solidFill>
                      <a:srgbClr val="E8EEF7"/>
                    </a:solidFill>
                  </a:tcPr>
                </a:tc>
              </a:tr>
              <a:tr h="457200">
                <a:tc>
                  <a:txBody>
                    <a:bodyPr/>
                    <a:lstStyle/>
                    <a:p>
                      <a:pPr algn="l"/>
                      <a:r>
                        <a:rPr sz="1200" b="0" i="0">
                          <a:solidFill>
                            <a:srgbClr val="111B30"/>
                          </a:solidFill>
                          <a:latin typeface="Calibri"/>
                        </a:rPr>
                        <a:t>Password history</a:t>
                      </a:r>
                    </a:p>
                  </a:txBody>
                  <a:tcPr anchor="ctr" marL="76200" marR="76200" marT="38100" marB="38100">
                    <a:solidFill>
                      <a:srgbClr val="FFFFFF"/>
                    </a:solidFill>
                  </a:tcPr>
                </a:tc>
                <a:tc>
                  <a:txBody>
                    <a:bodyPr/>
                    <a:lstStyle/>
                    <a:p>
                      <a:pPr algn="l"/>
                      <a:r>
                        <a:rPr sz="1200" b="0" i="0">
                          <a:solidFill>
                            <a:srgbClr val="111B30"/>
                          </a:solidFill>
                          <a:latin typeface="Calibri"/>
                        </a:rPr>
                        <a:t>24 passwords remembered</a:t>
                      </a:r>
                    </a:p>
                  </a:txBody>
                  <a:tcPr anchor="ctr" marL="76200" marR="76200" marT="38100" marB="38100">
                    <a:solidFill>
                      <a:srgbClr val="FFFFFF"/>
                    </a:solidFill>
                  </a:tcPr>
                </a:tc>
                <a:tc>
                  <a:txBody>
                    <a:bodyPr/>
                    <a:lstStyle/>
                    <a:p>
                      <a:pPr algn="l"/>
                      <a:r>
                        <a:rPr sz="1200" b="0" i="0">
                          <a:solidFill>
                            <a:srgbClr val="111B30"/>
                          </a:solidFill>
                          <a:latin typeface="Calibri"/>
                        </a:rPr>
                        <a:t>CIS 1.1.1</a:t>
                      </a:r>
                    </a:p>
                  </a:txBody>
                  <a:tcPr anchor="ctr" marL="76200" marR="76200" marT="38100" marB="38100">
                    <a:solidFill>
                      <a:srgbClr val="FFFFFF"/>
                    </a:solidFill>
                  </a:tcPr>
                </a:tc>
              </a:tr>
              <a:tr h="457200">
                <a:tc>
                  <a:txBody>
                    <a:bodyPr/>
                    <a:lstStyle/>
                    <a:p>
                      <a:pPr algn="l"/>
                      <a:r>
                        <a:rPr sz="1200" b="0" i="0">
                          <a:solidFill>
                            <a:srgbClr val="111B30"/>
                          </a:solidFill>
                          <a:latin typeface="Calibri"/>
                        </a:rPr>
                        <a:t>Max password age</a:t>
                      </a:r>
                    </a:p>
                  </a:txBody>
                  <a:tcPr anchor="ctr" marL="76200" marR="76200" marT="38100" marB="38100">
                    <a:solidFill>
                      <a:srgbClr val="E8EEF7"/>
                    </a:solidFill>
                  </a:tcPr>
                </a:tc>
                <a:tc>
                  <a:txBody>
                    <a:bodyPr/>
                    <a:lstStyle/>
                    <a:p>
                      <a:pPr algn="l"/>
                      <a:r>
                        <a:rPr sz="1200" b="0" i="0">
                          <a:solidFill>
                            <a:srgbClr val="111B30"/>
                          </a:solidFill>
                          <a:latin typeface="Calibri"/>
                        </a:rPr>
                        <a:t>365 days</a:t>
                      </a:r>
                    </a:p>
                  </a:txBody>
                  <a:tcPr anchor="ctr" marL="76200" marR="76200" marT="38100" marB="38100">
                    <a:solidFill>
                      <a:srgbClr val="E8EEF7"/>
                    </a:solidFill>
                  </a:tcPr>
                </a:tc>
                <a:tc>
                  <a:txBody>
                    <a:bodyPr/>
                    <a:lstStyle/>
                    <a:p>
                      <a:pPr algn="l"/>
                      <a:r>
                        <a:rPr sz="1200" b="0" i="0">
                          <a:solidFill>
                            <a:srgbClr val="111B30"/>
                          </a:solidFill>
                          <a:latin typeface="Calibri"/>
                        </a:rPr>
                        <a:t>CIS 1.1.2</a:t>
                      </a:r>
                    </a:p>
                  </a:txBody>
                  <a:tcPr anchor="ctr" marL="76200" marR="76200" marT="38100" marB="38100">
                    <a:solidFill>
                      <a:srgbClr val="E8EEF7"/>
                    </a:solidFill>
                  </a:tcPr>
                </a:tc>
              </a:tr>
              <a:tr h="457200">
                <a:tc>
                  <a:txBody>
                    <a:bodyPr/>
                    <a:lstStyle/>
                    <a:p>
                      <a:pPr algn="l"/>
                      <a:r>
                        <a:rPr sz="1200" b="0" i="0">
                          <a:solidFill>
                            <a:srgbClr val="111B30"/>
                          </a:solidFill>
                          <a:latin typeface="Calibri"/>
                        </a:rPr>
                        <a:t>Account lockout threshold</a:t>
                      </a:r>
                    </a:p>
                  </a:txBody>
                  <a:tcPr anchor="ctr" marL="76200" marR="76200" marT="38100" marB="38100">
                    <a:solidFill>
                      <a:srgbClr val="FFFFFF"/>
                    </a:solidFill>
                  </a:tcPr>
                </a:tc>
                <a:tc>
                  <a:txBody>
                    <a:bodyPr/>
                    <a:lstStyle/>
                    <a:p>
                      <a:pPr algn="l"/>
                      <a:r>
                        <a:rPr sz="1200" b="0" i="0">
                          <a:solidFill>
                            <a:srgbClr val="111B30"/>
                          </a:solidFill>
                          <a:latin typeface="Calibri"/>
                        </a:rPr>
                        <a:t>5 invalid attempts</a:t>
                      </a:r>
                    </a:p>
                  </a:txBody>
                  <a:tcPr anchor="ctr" marL="76200" marR="76200" marT="38100" marB="38100">
                    <a:solidFill>
                      <a:srgbClr val="FFFFFF"/>
                    </a:solidFill>
                  </a:tcPr>
                </a:tc>
                <a:tc>
                  <a:txBody>
                    <a:bodyPr/>
                    <a:lstStyle/>
                    <a:p>
                      <a:pPr algn="l"/>
                      <a:r>
                        <a:rPr sz="1200" b="0" i="0">
                          <a:solidFill>
                            <a:srgbClr val="111B30"/>
                          </a:solidFill>
                          <a:latin typeface="Calibri"/>
                        </a:rPr>
                        <a:t>CIS 1.2.2</a:t>
                      </a:r>
                    </a:p>
                  </a:txBody>
                  <a:tcPr anchor="ctr" marL="76200" marR="76200" marT="38100" marB="38100">
                    <a:solidFill>
                      <a:srgbClr val="FFFFFF"/>
                    </a:solidFill>
                  </a:tcPr>
                </a:tc>
              </a:tr>
              <a:tr h="457200">
                <a:tc>
                  <a:txBody>
                    <a:bodyPr/>
                    <a:lstStyle/>
                    <a:p>
                      <a:pPr algn="l"/>
                      <a:r>
                        <a:rPr sz="1200" b="0" i="0">
                          <a:solidFill>
                            <a:srgbClr val="111B30"/>
                          </a:solidFill>
                          <a:latin typeface="Calibri"/>
                        </a:rPr>
                        <a:t>Account lockout duration</a:t>
                      </a:r>
                    </a:p>
                  </a:txBody>
                  <a:tcPr anchor="ctr" marL="76200" marR="76200" marT="38100" marB="38100">
                    <a:solidFill>
                      <a:srgbClr val="E8EEF7"/>
                    </a:solidFill>
                  </a:tcPr>
                </a:tc>
                <a:tc>
                  <a:txBody>
                    <a:bodyPr/>
                    <a:lstStyle/>
                    <a:p>
                      <a:pPr algn="l"/>
                      <a:r>
                        <a:rPr sz="1200" b="0" i="0">
                          <a:solidFill>
                            <a:srgbClr val="111B30"/>
                          </a:solidFill>
                          <a:latin typeface="Calibri"/>
                        </a:rPr>
                        <a:t>15 minutes</a:t>
                      </a:r>
                    </a:p>
                  </a:txBody>
                  <a:tcPr anchor="ctr" marL="76200" marR="76200" marT="38100" marB="38100">
                    <a:solidFill>
                      <a:srgbClr val="E8EEF7"/>
                    </a:solidFill>
                  </a:tcPr>
                </a:tc>
                <a:tc>
                  <a:txBody>
                    <a:bodyPr/>
                    <a:lstStyle/>
                    <a:p>
                      <a:pPr algn="l"/>
                      <a:r>
                        <a:rPr sz="1200" b="0" i="0">
                          <a:solidFill>
                            <a:srgbClr val="111B30"/>
                          </a:solidFill>
                          <a:latin typeface="Calibri"/>
                        </a:rPr>
                        <a:t>CIS 1.2.1</a:t>
                      </a:r>
                    </a:p>
                  </a:txBody>
                  <a:tcPr anchor="ctr" marL="76200" marR="76200" marT="38100" marB="38100">
                    <a:solidFill>
                      <a:srgbClr val="E8EEF7"/>
                    </a:solidFill>
                  </a:tcPr>
                </a:tc>
              </a:tr>
              <a:tr h="457200">
                <a:tc>
                  <a:txBody>
                    <a:bodyPr/>
                    <a:lstStyle/>
                    <a:p>
                      <a:pPr algn="l"/>
                      <a:r>
                        <a:rPr sz="1200" b="0" i="0">
                          <a:solidFill>
                            <a:srgbClr val="111B30"/>
                          </a:solidFill>
                          <a:latin typeface="Calibri"/>
                        </a:rPr>
                        <a:t>Reset lockout counter after</a:t>
                      </a:r>
                    </a:p>
                  </a:txBody>
                  <a:tcPr anchor="ctr" marL="76200" marR="76200" marT="38100" marB="38100">
                    <a:solidFill>
                      <a:srgbClr val="FFFFFF"/>
                    </a:solidFill>
                  </a:tcPr>
                </a:tc>
                <a:tc>
                  <a:txBody>
                    <a:bodyPr/>
                    <a:lstStyle/>
                    <a:p>
                      <a:pPr algn="l"/>
                      <a:r>
                        <a:rPr sz="1200" b="0" i="0">
                          <a:solidFill>
                            <a:srgbClr val="111B30"/>
                          </a:solidFill>
                          <a:latin typeface="Calibri"/>
                        </a:rPr>
                        <a:t>15 minutes</a:t>
                      </a:r>
                    </a:p>
                  </a:txBody>
                  <a:tcPr anchor="ctr" marL="76200" marR="76200" marT="38100" marB="38100">
                    <a:solidFill>
                      <a:srgbClr val="FFFFFF"/>
                    </a:solidFill>
                  </a:tcPr>
                </a:tc>
                <a:tc>
                  <a:txBody>
                    <a:bodyPr/>
                    <a:lstStyle/>
                    <a:p>
                      <a:pPr algn="l"/>
                      <a:r>
                        <a:rPr sz="1200" b="0" i="0">
                          <a:solidFill>
                            <a:srgbClr val="111B30"/>
                          </a:solidFill>
                          <a:latin typeface="Calibri"/>
                        </a:rPr>
                        <a:t>CIS 1.2.4</a:t>
                      </a:r>
                    </a:p>
                  </a:txBody>
                  <a:tcPr anchor="ctr" marL="76200" marR="76200" marT="38100" marB="38100">
                    <a:solidFill>
                      <a:srgbClr val="FFFFFF"/>
                    </a:solidFill>
                  </a:tcPr>
                </a:tc>
              </a:tr>
              <a:tr h="457200">
                <a:tc>
                  <a:txBody>
                    <a:bodyPr/>
                    <a:lstStyle/>
                    <a:p>
                      <a:pPr algn="l"/>
                      <a:r>
                        <a:rPr sz="1200" b="0" i="0">
                          <a:solidFill>
                            <a:srgbClr val="111B30"/>
                          </a:solidFill>
                          <a:latin typeface="Calibri"/>
                        </a:rPr>
                        <a:t>Don't display last signed-in</a:t>
                      </a:r>
                    </a:p>
                  </a:txBody>
                  <a:tcPr anchor="ctr" marL="76200" marR="76200" marT="38100" marB="38100">
                    <a:solidFill>
                      <a:srgbClr val="E8EEF7"/>
                    </a:solidFill>
                  </a:tcPr>
                </a:tc>
                <a:tc>
                  <a:txBody>
                    <a:bodyPr/>
                    <a:lstStyle/>
                    <a:p>
                      <a:pPr algn="l"/>
                      <a:r>
                        <a:rPr sz="1200" b="0" i="0">
                          <a:solidFill>
                            <a:srgbClr val="111B30"/>
                          </a:solidFill>
                          <a:latin typeface="Calibri"/>
                        </a:rPr>
                        <a:t>Enabled</a:t>
                      </a:r>
                    </a:p>
                  </a:txBody>
                  <a:tcPr anchor="ctr" marL="76200" marR="76200" marT="38100" marB="38100">
                    <a:solidFill>
                      <a:srgbClr val="E8EEF7"/>
                    </a:solidFill>
                  </a:tcPr>
                </a:tc>
                <a:tc>
                  <a:txBody>
                    <a:bodyPr/>
                    <a:lstStyle/>
                    <a:p>
                      <a:pPr algn="l"/>
                      <a:r>
                        <a:rPr sz="1200" b="0" i="0">
                          <a:solidFill>
                            <a:srgbClr val="111B30"/>
                          </a:solidFill>
                          <a:latin typeface="Calibri"/>
                        </a:rPr>
                        <a:t>CIS 2.3.7.2</a:t>
                      </a:r>
                    </a:p>
                  </a:txBody>
                  <a:tcPr anchor="ctr" marL="76200" marR="76200" marT="38100" marB="38100">
                    <a:solidFill>
                      <a:srgbClr val="E8EEF7"/>
                    </a:solidFill>
                  </a:tcPr>
                </a:tc>
              </a:tr>
            </a:tbl>
          </a:graphicData>
        </a:graphic>
      </p:graphicFrame>
      <p:sp>
        <p:nvSpPr>
          <p:cNvPr id="5" name="TextBox 4"/>
          <p:cNvSpPr txBox="1"/>
          <p:nvPr/>
        </p:nvSpPr>
        <p:spPr>
          <a:xfrm>
            <a:off x="640080" y="5989320"/>
            <a:ext cx="10911535" cy="365760"/>
          </a:xfrm>
          <a:prstGeom prst="rect">
            <a:avLst/>
          </a:prstGeom>
          <a:noFill/>
        </p:spPr>
        <p:txBody>
          <a:bodyPr wrap="square" lIns="0" tIns="0">
            <a:spAutoFit/>
          </a:bodyPr>
          <a:lstStyle/>
          <a:p>
            <a:r>
              <a:rPr sz="1050" b="0" i="1">
                <a:solidFill>
                  <a:srgbClr val="6B7480"/>
                </a:solidFill>
                <a:latin typeface="Calibri"/>
              </a:rPr>
              <a:t>CIS references are to the CIS Microsoft Windows Server 2022 Benchmark v3.0.0 specifically - item numbers can shift between benchmark releases.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Creating Group Policy Objects</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$gpo = New-GPO -Name "Security-Baseline" -Comment "CIS-aligned password and lockout baseline"</a:t>
            </a:r>
          </a:p>
          <a:p>
            <a:pPr algn="l">
              <a:spcAft>
                <a:spcPts val="1000"/>
              </a:spcAft>
            </a:pPr>
            <a:r>
              <a:rPr sz="1400" b="0" i="0">
                <a:solidFill>
                  <a:srgbClr val="111B30"/>
                </a:solidFill>
                <a:latin typeface="Courier New"/>
              </a:rPr>
              <a:t>New-GPLink -Name "Security-Baseline" -Target $domain</a:t>
            </a:r>
          </a:p>
          <a:p>
            <a:pPr algn="l">
              <a:spcAft>
                <a:spcPts val="1000"/>
              </a:spcAft>
            </a:pPr>
            <a:r>
              <a:rPr sz="1300" b="0" i="1">
                <a:solidFill>
                  <a:srgbClr val="3D5A80"/>
                </a:solidFill>
                <a:latin typeface="Calibri"/>
              </a:rPr>
              <a:t>most individual settings inside the GPO are still edited via GPMC (GUI), not one-liners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Building the Audit Policy GPO</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Advanced Audit Policy (not legacy), linked at the domain root</a:t>
            </a:r>
          </a:p>
        </p:txBody>
      </p:sp>
      <p:graphicFrame>
        <p:nvGraphicFramePr>
          <p:cNvPr id="4" name="Table 3"/>
          <p:cNvGraphicFramePr>
            <a:graphicFrameLocks noGrp="1"/>
          </p:cNvGraphicFramePr>
          <p:nvPr/>
        </p:nvGraphicFramePr>
        <p:xfrm>
          <a:off x="640080" y="1828800"/>
          <a:ext cx="10362895" cy="4114800"/>
        </p:xfrm>
        <a:graphic>
          <a:graphicData uri="http://schemas.openxmlformats.org/drawingml/2006/table">
            <a:tbl>
              <a:tblPr firstRow="1" bandRow="1">
                <a:tableStyleId>{5C22544A-7EE6-4342-B048-85BDC9FD1C3A}</a:tableStyleId>
              </a:tblPr>
              <a:tblGrid>
                <a:gridCol w="3200400"/>
                <a:gridCol w="4389120"/>
                <a:gridCol w="2773375"/>
              </a:tblGrid>
              <a:tr h="457200">
                <a:tc>
                  <a:txBody>
                    <a:bodyPr/>
                    <a:lstStyle/>
                    <a:p>
                      <a:pPr algn="l"/>
                      <a:r>
                        <a:rPr sz="1250" b="1" i="0">
                          <a:solidFill>
                            <a:srgbClr val="FFFFFF"/>
                          </a:solidFill>
                          <a:latin typeface="Calibri"/>
                        </a:rPr>
                        <a:t>Category</a:t>
                      </a:r>
                    </a:p>
                  </a:txBody>
                  <a:tcPr anchor="ctr" marL="76200" marR="76200" marT="38100" marB="38100">
                    <a:solidFill>
                      <a:srgbClr val="1B2A4A"/>
                    </a:solidFill>
                  </a:tcPr>
                </a:tc>
                <a:tc>
                  <a:txBody>
                    <a:bodyPr/>
                    <a:lstStyle/>
                    <a:p>
                      <a:pPr algn="l"/>
                      <a:r>
                        <a:rPr sz="1250" b="1" i="0">
                          <a:solidFill>
                            <a:srgbClr val="FFFFFF"/>
                          </a:solidFill>
                          <a:latin typeface="Calibri"/>
                        </a:rPr>
                        <a:t>Subcategory</a:t>
                      </a:r>
                    </a:p>
                  </a:txBody>
                  <a:tcPr anchor="ctr" marL="76200" marR="76200" marT="38100" marB="38100">
                    <a:solidFill>
                      <a:srgbClr val="1B2A4A"/>
                    </a:solidFill>
                  </a:tcPr>
                </a:tc>
                <a:tc>
                  <a:txBody>
                    <a:bodyPr/>
                    <a:lstStyle/>
                    <a:p>
                      <a:pPr algn="l"/>
                      <a:r>
                        <a:rPr sz="1250" b="1" i="0">
                          <a:solidFill>
                            <a:srgbClr val="FFFFFF"/>
                          </a:solidFill>
                          <a:latin typeface="Calibri"/>
                        </a:rPr>
                        <a:t>Setting</a:t>
                      </a:r>
                    </a:p>
                  </a:txBody>
                  <a:tcPr anchor="ctr" marL="76200" marR="76200" marT="38100" marB="38100">
                    <a:solidFill>
                      <a:srgbClr val="1B2A4A"/>
                    </a:solidFill>
                  </a:tcPr>
                </a:tc>
              </a:tr>
              <a:tr h="457200">
                <a:tc>
                  <a:txBody>
                    <a:bodyPr/>
                    <a:lstStyle/>
                    <a:p>
                      <a:pPr algn="l"/>
                      <a:r>
                        <a:rPr sz="1200" b="0" i="0">
                          <a:solidFill>
                            <a:srgbClr val="111B30"/>
                          </a:solidFill>
                          <a:latin typeface="Calibri"/>
                        </a:rPr>
                        <a:t>Account Logon</a:t>
                      </a:r>
                    </a:p>
                  </a:txBody>
                  <a:tcPr anchor="ctr" marL="76200" marR="76200" marT="38100" marB="38100">
                    <a:solidFill>
                      <a:srgbClr val="FFFFFF"/>
                    </a:solidFill>
                  </a:tcPr>
                </a:tc>
                <a:tc>
                  <a:txBody>
                    <a:bodyPr/>
                    <a:lstStyle/>
                    <a:p>
                      <a:pPr algn="l"/>
                      <a:r>
                        <a:rPr sz="1200" b="0" i="0">
                          <a:solidFill>
                            <a:srgbClr val="111B30"/>
                          </a:solidFill>
                          <a:latin typeface="Calibri"/>
                        </a:rPr>
                        <a:t>Credential Validation</a:t>
                      </a:r>
                    </a:p>
                  </a:txBody>
                  <a:tcPr anchor="ctr" marL="76200" marR="76200" marT="38100" marB="38100">
                    <a:solidFill>
                      <a:srgbClr val="FFFFFF"/>
                    </a:solidFill>
                  </a:tcPr>
                </a:tc>
                <a:tc>
                  <a:txBody>
                    <a:bodyPr/>
                    <a:lstStyle/>
                    <a:p>
                      <a:pPr algn="l"/>
                      <a:r>
                        <a:rPr sz="1200" b="0" i="0">
                          <a:solidFill>
                            <a:srgbClr val="111B30"/>
                          </a:solidFill>
                          <a:latin typeface="Calibri"/>
                        </a:rPr>
                        <a:t>Success, Failure</a:t>
                      </a:r>
                    </a:p>
                  </a:txBody>
                  <a:tcPr anchor="ctr" marL="76200" marR="76200" marT="38100" marB="38100">
                    <a:solidFill>
                      <a:srgbClr val="FFFFFF"/>
                    </a:solidFill>
                  </a:tcPr>
                </a:tc>
              </a:tr>
              <a:tr h="457200">
                <a:tc>
                  <a:txBody>
                    <a:bodyPr/>
                    <a:lstStyle/>
                    <a:p>
                      <a:pPr algn="l"/>
                      <a:r>
                        <a:rPr sz="1200" b="0" i="0">
                          <a:solidFill>
                            <a:srgbClr val="111B30"/>
                          </a:solidFill>
                          <a:latin typeface="Calibri"/>
                        </a:rPr>
                        <a:t>Account Management</a:t>
                      </a:r>
                    </a:p>
                  </a:txBody>
                  <a:tcPr anchor="ctr" marL="76200" marR="76200" marT="38100" marB="38100">
                    <a:solidFill>
                      <a:srgbClr val="E8EEF7"/>
                    </a:solidFill>
                  </a:tcPr>
                </a:tc>
                <a:tc>
                  <a:txBody>
                    <a:bodyPr/>
                    <a:lstStyle/>
                    <a:p>
                      <a:pPr algn="l"/>
                      <a:r>
                        <a:rPr sz="1200" b="0" i="0">
                          <a:solidFill>
                            <a:srgbClr val="111B30"/>
                          </a:solidFill>
                          <a:latin typeface="Calibri"/>
                        </a:rPr>
                        <a:t>User Account Management</a:t>
                      </a:r>
                    </a:p>
                  </a:txBody>
                  <a:tcPr anchor="ctr" marL="76200" marR="76200" marT="38100" marB="38100">
                    <a:solidFill>
                      <a:srgbClr val="E8EEF7"/>
                    </a:solidFill>
                  </a:tcPr>
                </a:tc>
                <a:tc>
                  <a:txBody>
                    <a:bodyPr/>
                    <a:lstStyle/>
                    <a:p>
                      <a:pPr algn="l"/>
                      <a:r>
                        <a:rPr sz="1200" b="0" i="0">
                          <a:solidFill>
                            <a:srgbClr val="111B30"/>
                          </a:solidFill>
                          <a:latin typeface="Calibri"/>
                        </a:rPr>
                        <a:t>Success, Failure</a:t>
                      </a:r>
                    </a:p>
                  </a:txBody>
                  <a:tcPr anchor="ctr" marL="76200" marR="76200" marT="38100" marB="38100">
                    <a:solidFill>
                      <a:srgbClr val="E8EEF7"/>
                    </a:solidFill>
                  </a:tcPr>
                </a:tc>
              </a:tr>
              <a:tr h="457200">
                <a:tc>
                  <a:txBody>
                    <a:bodyPr/>
                    <a:lstStyle/>
                    <a:p>
                      <a:pPr algn="l"/>
                      <a:r>
                        <a:rPr sz="1200" b="0" i="0">
                          <a:solidFill>
                            <a:srgbClr val="111B30"/>
                          </a:solidFill>
                          <a:latin typeface="Calibri"/>
                        </a:rPr>
                        <a:t>Account Management</a:t>
                      </a:r>
                    </a:p>
                  </a:txBody>
                  <a:tcPr anchor="ctr" marL="76200" marR="76200" marT="38100" marB="38100">
                    <a:solidFill>
                      <a:srgbClr val="FFFFFF"/>
                    </a:solidFill>
                  </a:tcPr>
                </a:tc>
                <a:tc>
                  <a:txBody>
                    <a:bodyPr/>
                    <a:lstStyle/>
                    <a:p>
                      <a:pPr algn="l"/>
                      <a:r>
                        <a:rPr sz="1200" b="0" i="0">
                          <a:solidFill>
                            <a:srgbClr val="111B30"/>
                          </a:solidFill>
                          <a:latin typeface="Calibri"/>
                        </a:rPr>
                        <a:t>Security Group Management</a:t>
                      </a:r>
                    </a:p>
                  </a:txBody>
                  <a:tcPr anchor="ctr" marL="76200" marR="76200" marT="38100" marB="38100">
                    <a:solidFill>
                      <a:srgbClr val="FFFFFF"/>
                    </a:solidFill>
                  </a:tcPr>
                </a:tc>
                <a:tc>
                  <a:txBody>
                    <a:bodyPr/>
                    <a:lstStyle/>
                    <a:p>
                      <a:pPr algn="l"/>
                      <a:r>
                        <a:rPr sz="1200" b="0" i="0">
                          <a:solidFill>
                            <a:srgbClr val="111B30"/>
                          </a:solidFill>
                          <a:latin typeface="Calibri"/>
                        </a:rPr>
                        <a:t>Success</a:t>
                      </a:r>
                    </a:p>
                  </a:txBody>
                  <a:tcPr anchor="ctr" marL="76200" marR="76200" marT="38100" marB="38100">
                    <a:solidFill>
                      <a:srgbClr val="FFFFFF"/>
                    </a:solidFill>
                  </a:tcPr>
                </a:tc>
              </a:tr>
              <a:tr h="457200">
                <a:tc>
                  <a:txBody>
                    <a:bodyPr/>
                    <a:lstStyle/>
                    <a:p>
                      <a:pPr algn="l"/>
                      <a:r>
                        <a:rPr sz="1200" b="0" i="0">
                          <a:solidFill>
                            <a:srgbClr val="111B30"/>
                          </a:solidFill>
                          <a:latin typeface="Calibri"/>
                        </a:rPr>
                        <a:t>Logon/Logoff</a:t>
                      </a:r>
                    </a:p>
                  </a:txBody>
                  <a:tcPr anchor="ctr" marL="76200" marR="76200" marT="38100" marB="38100">
                    <a:solidFill>
                      <a:srgbClr val="E8EEF7"/>
                    </a:solidFill>
                  </a:tcPr>
                </a:tc>
                <a:tc>
                  <a:txBody>
                    <a:bodyPr/>
                    <a:lstStyle/>
                    <a:p>
                      <a:pPr algn="l"/>
                      <a:r>
                        <a:rPr sz="1200" b="0" i="0">
                          <a:solidFill>
                            <a:srgbClr val="111B30"/>
                          </a:solidFill>
                          <a:latin typeface="Calibri"/>
                        </a:rPr>
                        <a:t>Logon</a:t>
                      </a:r>
                    </a:p>
                  </a:txBody>
                  <a:tcPr anchor="ctr" marL="76200" marR="76200" marT="38100" marB="38100">
                    <a:solidFill>
                      <a:srgbClr val="E8EEF7"/>
                    </a:solidFill>
                  </a:tcPr>
                </a:tc>
                <a:tc>
                  <a:txBody>
                    <a:bodyPr/>
                    <a:lstStyle/>
                    <a:p>
                      <a:pPr algn="l"/>
                      <a:r>
                        <a:rPr sz="1200" b="0" i="0">
                          <a:solidFill>
                            <a:srgbClr val="111B30"/>
                          </a:solidFill>
                          <a:latin typeface="Calibri"/>
                        </a:rPr>
                        <a:t>Success, Failure</a:t>
                      </a:r>
                    </a:p>
                  </a:txBody>
                  <a:tcPr anchor="ctr" marL="76200" marR="76200" marT="38100" marB="38100">
                    <a:solidFill>
                      <a:srgbClr val="E8EEF7"/>
                    </a:solidFill>
                  </a:tcPr>
                </a:tc>
              </a:tr>
              <a:tr h="457200">
                <a:tc>
                  <a:txBody>
                    <a:bodyPr/>
                    <a:lstStyle/>
                    <a:p>
                      <a:pPr algn="l"/>
                      <a:r>
                        <a:rPr sz="1200" b="0" i="0">
                          <a:solidFill>
                            <a:srgbClr val="111B30"/>
                          </a:solidFill>
                          <a:latin typeface="Calibri"/>
                        </a:rPr>
                        <a:t>Logon/Logoff</a:t>
                      </a:r>
                    </a:p>
                  </a:txBody>
                  <a:tcPr anchor="ctr" marL="76200" marR="76200" marT="38100" marB="38100">
                    <a:solidFill>
                      <a:srgbClr val="FFFFFF"/>
                    </a:solidFill>
                  </a:tcPr>
                </a:tc>
                <a:tc>
                  <a:txBody>
                    <a:bodyPr/>
                    <a:lstStyle/>
                    <a:p>
                      <a:pPr algn="l"/>
                      <a:r>
                        <a:rPr sz="1200" b="0" i="0">
                          <a:solidFill>
                            <a:srgbClr val="111B30"/>
                          </a:solidFill>
                          <a:latin typeface="Calibri"/>
                        </a:rPr>
                        <a:t>Account Lockout</a:t>
                      </a:r>
                    </a:p>
                  </a:txBody>
                  <a:tcPr anchor="ctr" marL="76200" marR="76200" marT="38100" marB="38100">
                    <a:solidFill>
                      <a:srgbClr val="FFFFFF"/>
                    </a:solidFill>
                  </a:tcPr>
                </a:tc>
                <a:tc>
                  <a:txBody>
                    <a:bodyPr/>
                    <a:lstStyle/>
                    <a:p>
                      <a:pPr algn="l"/>
                      <a:r>
                        <a:rPr sz="1200" b="0" i="0">
                          <a:solidFill>
                            <a:srgbClr val="111B30"/>
                          </a:solidFill>
                          <a:latin typeface="Calibri"/>
                        </a:rPr>
                        <a:t>Failure</a:t>
                      </a:r>
                    </a:p>
                  </a:txBody>
                  <a:tcPr anchor="ctr" marL="76200" marR="76200" marT="38100" marB="38100">
                    <a:solidFill>
                      <a:srgbClr val="FFFFFF"/>
                    </a:solidFill>
                  </a:tcPr>
                </a:tc>
              </a:tr>
              <a:tr h="457200">
                <a:tc>
                  <a:txBody>
                    <a:bodyPr/>
                    <a:lstStyle/>
                    <a:p>
                      <a:pPr algn="l"/>
                      <a:r>
                        <a:rPr sz="1200" b="0" i="0">
                          <a:solidFill>
                            <a:srgbClr val="111B30"/>
                          </a:solidFill>
                          <a:latin typeface="Calibri"/>
                        </a:rPr>
                        <a:t>Object Access</a:t>
                      </a:r>
                    </a:p>
                  </a:txBody>
                  <a:tcPr anchor="ctr" marL="76200" marR="76200" marT="38100" marB="38100">
                    <a:solidFill>
                      <a:srgbClr val="E8EEF7"/>
                    </a:solidFill>
                  </a:tcPr>
                </a:tc>
                <a:tc>
                  <a:txBody>
                    <a:bodyPr/>
                    <a:lstStyle/>
                    <a:p>
                      <a:pPr algn="l"/>
                      <a:r>
                        <a:rPr sz="1200" b="0" i="0">
                          <a:solidFill>
                            <a:srgbClr val="111B30"/>
                          </a:solidFill>
                          <a:latin typeface="Calibri"/>
                        </a:rPr>
                        <a:t>File System</a:t>
                      </a:r>
                    </a:p>
                  </a:txBody>
                  <a:tcPr anchor="ctr" marL="76200" marR="76200" marT="38100" marB="38100">
                    <a:solidFill>
                      <a:srgbClr val="E8EEF7"/>
                    </a:solidFill>
                  </a:tcPr>
                </a:tc>
                <a:tc>
                  <a:txBody>
                    <a:bodyPr/>
                    <a:lstStyle/>
                    <a:p>
                      <a:pPr algn="l"/>
                      <a:r>
                        <a:rPr sz="1200" b="0" i="0">
                          <a:solidFill>
                            <a:srgbClr val="111B30"/>
                          </a:solidFill>
                          <a:latin typeface="Calibri"/>
                        </a:rPr>
                        <a:t>Success, Failure</a:t>
                      </a:r>
                    </a:p>
                  </a:txBody>
                  <a:tcPr anchor="ctr" marL="76200" marR="76200" marT="38100" marB="38100">
                    <a:solidFill>
                      <a:srgbClr val="E8EEF7"/>
                    </a:solidFill>
                  </a:tcPr>
                </a:tc>
              </a:tr>
              <a:tr h="457200">
                <a:tc>
                  <a:txBody>
                    <a:bodyPr/>
                    <a:lstStyle/>
                    <a:p>
                      <a:pPr algn="l"/>
                      <a:r>
                        <a:rPr sz="1200" b="0" i="0">
                          <a:solidFill>
                            <a:srgbClr val="111B30"/>
                          </a:solidFill>
                          <a:latin typeface="Calibri"/>
                        </a:rPr>
                        <a:t>Privilege Use</a:t>
                      </a:r>
                    </a:p>
                  </a:txBody>
                  <a:tcPr anchor="ctr" marL="76200" marR="76200" marT="38100" marB="38100">
                    <a:solidFill>
                      <a:srgbClr val="FFFFFF"/>
                    </a:solidFill>
                  </a:tcPr>
                </a:tc>
                <a:tc>
                  <a:txBody>
                    <a:bodyPr/>
                    <a:lstStyle/>
                    <a:p>
                      <a:pPr algn="l"/>
                      <a:r>
                        <a:rPr sz="1200" b="0" i="0">
                          <a:solidFill>
                            <a:srgbClr val="111B30"/>
                          </a:solidFill>
                          <a:latin typeface="Calibri"/>
                        </a:rPr>
                        <a:t>Sensitive Privilege Use</a:t>
                      </a:r>
                    </a:p>
                  </a:txBody>
                  <a:tcPr anchor="ctr" marL="76200" marR="76200" marT="38100" marB="38100">
                    <a:solidFill>
                      <a:srgbClr val="FFFFFF"/>
                    </a:solidFill>
                  </a:tcPr>
                </a:tc>
                <a:tc>
                  <a:txBody>
                    <a:bodyPr/>
                    <a:lstStyle/>
                    <a:p>
                      <a:pPr algn="l"/>
                      <a:r>
                        <a:rPr sz="1200" b="0" i="0">
                          <a:solidFill>
                            <a:srgbClr val="111B30"/>
                          </a:solidFill>
                          <a:latin typeface="Calibri"/>
                        </a:rPr>
                        <a:t>Success, Failure</a:t>
                      </a:r>
                    </a:p>
                  </a:txBody>
                  <a:tcPr anchor="ctr" marL="76200" marR="76200" marT="38100" marB="38100">
                    <a:solidFill>
                      <a:srgbClr val="FFFFFF"/>
                    </a:solidFill>
                  </a:tcPr>
                </a:tc>
              </a:tr>
              <a:tr h="457200">
                <a:tc>
                  <a:txBody>
                    <a:bodyPr/>
                    <a:lstStyle/>
                    <a:p>
                      <a:pPr algn="l"/>
                      <a:r>
                        <a:rPr sz="1200" b="0" i="0">
                          <a:solidFill>
                            <a:srgbClr val="111B30"/>
                          </a:solidFill>
                          <a:latin typeface="Calibri"/>
                        </a:rPr>
                        <a:t>Policy Change</a:t>
                      </a:r>
                    </a:p>
                  </a:txBody>
                  <a:tcPr anchor="ctr" marL="76200" marR="76200" marT="38100" marB="38100">
                    <a:solidFill>
                      <a:srgbClr val="E8EEF7"/>
                    </a:solidFill>
                  </a:tcPr>
                </a:tc>
                <a:tc>
                  <a:txBody>
                    <a:bodyPr/>
                    <a:lstStyle/>
                    <a:p>
                      <a:pPr algn="l"/>
                      <a:r>
                        <a:rPr sz="1200" b="0" i="0">
                          <a:solidFill>
                            <a:srgbClr val="111B30"/>
                          </a:solidFill>
                          <a:latin typeface="Calibri"/>
                        </a:rPr>
                        <a:t>Audit Policy Change</a:t>
                      </a:r>
                    </a:p>
                  </a:txBody>
                  <a:tcPr anchor="ctr" marL="76200" marR="76200" marT="38100" marB="38100">
                    <a:solidFill>
                      <a:srgbClr val="E8EEF7"/>
                    </a:solidFill>
                  </a:tcPr>
                </a:tc>
                <a:tc>
                  <a:txBody>
                    <a:bodyPr/>
                    <a:lstStyle/>
                    <a:p>
                      <a:pPr algn="l"/>
                      <a:r>
                        <a:rPr sz="1200" b="0" i="0">
                          <a:solidFill>
                            <a:srgbClr val="111B30"/>
                          </a:solidFill>
                          <a:latin typeface="Calibri"/>
                        </a:rPr>
                        <a:t>Success</a:t>
                      </a:r>
                    </a:p>
                  </a:txBody>
                  <a:tcPr anchor="ctr" marL="76200" marR="76200" marT="38100" marB="38100">
                    <a:solidFill>
                      <a:srgbClr val="E8EEF7"/>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Fine-Grained Password Policy (PSO): Precedence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GPO can only set ONE password policy per domain (Default Domain Policy) - PSOs solve “stricter rules for just my admins.”</a:t>
            </a:r>
          </a:p>
        </p:txBody>
      </p:sp>
      <p:sp>
        <p:nvSpPr>
          <p:cNvPr id="4" name="Rounded Rectangle 3"/>
          <p:cNvSpPr/>
          <p:nvPr/>
        </p:nvSpPr>
        <p:spPr>
          <a:xfrm>
            <a:off x="914400" y="2103120"/>
            <a:ext cx="3383280" cy="91440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Default Domain Policy</a:t>
            </a:r>
          </a:p>
          <a:p>
            <a:pPr algn="ctr"/>
            <a:r>
              <a:rPr sz="1050" b="0" i="0">
                <a:solidFill>
                  <a:srgbClr val="111B30"/>
                </a:solidFill>
                <a:latin typeface="Calibri"/>
              </a:rPr>
              <a:t>(baseline, applies to all)</a:t>
            </a:r>
          </a:p>
        </p:txBody>
      </p:sp>
      <p:sp>
        <p:nvSpPr>
          <p:cNvPr id="5" name="Rounded Rectangle 4"/>
          <p:cNvSpPr/>
          <p:nvPr/>
        </p:nvSpPr>
        <p:spPr>
          <a:xfrm>
            <a:off x="914400" y="3246120"/>
            <a:ext cx="3383280" cy="91440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PSO-AdminAccts</a:t>
            </a:r>
          </a:p>
          <a:p>
            <a:pPr algn="ctr"/>
            <a:r>
              <a:rPr sz="1050" b="1" i="0">
                <a:solidFill>
                  <a:srgbClr val="111B30"/>
                </a:solidFill>
                <a:latin typeface="Calibri"/>
              </a:rPr>
              <a:t>(Precedence 10, applies to enovak-adm)</a:t>
            </a:r>
          </a:p>
        </p:txBody>
      </p:sp>
      <p:sp>
        <p:nvSpPr>
          <p:cNvPr id="6" name="Diamond 5"/>
          <p:cNvSpPr/>
          <p:nvPr/>
        </p:nvSpPr>
        <p:spPr>
          <a:xfrm>
            <a:off x="4846320" y="2377440"/>
            <a:ext cx="2651760" cy="1463040"/>
          </a:xfrm>
          <a:prstGeom prst="diamond">
            <a:avLst/>
          </a:prstGeom>
          <a:solidFill>
            <a:srgbClr val="FFFFFF"/>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Get-ADUserResultant-</a:t>
            </a:r>
          </a:p>
          <a:p>
            <a:pPr algn="ctr"/>
            <a:r>
              <a:rPr sz="950" b="0" i="0">
                <a:solidFill>
                  <a:srgbClr val="111B30"/>
                </a:solidFill>
                <a:latin typeface="Calibri"/>
              </a:rPr>
              <a:t>PasswordPolicy</a:t>
            </a:r>
          </a:p>
        </p:txBody>
      </p:sp>
      <p:sp>
        <p:nvSpPr>
          <p:cNvPr id="7" name="Rounded Rectangle 6"/>
          <p:cNvSpPr/>
          <p:nvPr/>
        </p:nvSpPr>
        <p:spPr>
          <a:xfrm>
            <a:off x="8138160" y="2651760"/>
            <a:ext cx="3108960" cy="91440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Resultant policy =</a:t>
            </a:r>
          </a:p>
          <a:p>
            <a:pPr algn="ctr"/>
            <a:r>
              <a:rPr sz="1050" b="1" i="0">
                <a:solidFill>
                  <a:srgbClr val="111B30"/>
                </a:solidFill>
                <a:latin typeface="Calibri"/>
              </a:rPr>
              <a:t>LOWEST Precedence number wins</a:t>
            </a:r>
          </a:p>
        </p:txBody>
      </p:sp>
      <p:cxnSp>
        <p:nvCxnSpPr>
          <p:cNvPr id="8" name="Connector 7"/>
          <p:cNvCxnSpPr/>
          <p:nvPr/>
        </p:nvCxnSpPr>
        <p:spPr>
          <a:xfrm>
            <a:off x="4297680" y="2560320"/>
            <a:ext cx="548640" cy="5486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297680" y="3108960"/>
            <a:ext cx="548640" cy="59436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98079" y="3108960"/>
            <a:ext cx="640081"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17520" y="4754880"/>
            <a:ext cx="6035040" cy="82296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B02A2A"/>
                </a:solidFill>
                <a:latin typeface="Calibri"/>
              </a:rPr>
              <a:t>Precedence 10 beats Precedence 50 — LOWER number = HIGHER priority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Fine-Grained Password Policy (PSO) Settings</a:t>
            </a:r>
          </a:p>
        </p:txBody>
      </p:sp>
      <p:graphicFrame>
        <p:nvGraphicFramePr>
          <p:cNvPr id="3" name="Table 2"/>
          <p:cNvGraphicFramePr>
            <a:graphicFrameLocks noGrp="1"/>
          </p:cNvGraphicFramePr>
          <p:nvPr/>
        </p:nvGraphicFramePr>
        <p:xfrm>
          <a:off x="640080" y="1554480"/>
          <a:ext cx="10820095" cy="5029200"/>
        </p:xfrm>
        <a:graphic>
          <a:graphicData uri="http://schemas.openxmlformats.org/drawingml/2006/table">
            <a:tbl>
              <a:tblPr firstRow="1" bandRow="1">
                <a:tableStyleId>{5C22544A-7EE6-4342-B048-85BDC9FD1C3A}</a:tableStyleId>
              </a:tblPr>
              <a:tblGrid>
                <a:gridCol w="5029200"/>
                <a:gridCol w="5790895"/>
              </a:tblGrid>
              <a:tr h="457200">
                <a:tc>
                  <a:txBody>
                    <a:bodyPr/>
                    <a:lstStyle/>
                    <a:p>
                      <a:pPr algn="l"/>
                      <a:r>
                        <a:rPr sz="1250" b="1" i="0">
                          <a:solidFill>
                            <a:srgbClr val="FFFFFF"/>
                          </a:solidFill>
                          <a:latin typeface="Calibri"/>
                        </a:rPr>
                        <a:t>Setting</a:t>
                      </a:r>
                    </a:p>
                  </a:txBody>
                  <a:tcPr anchor="ctr" marL="76200" marR="76200" marT="38100" marB="38100">
                    <a:solidFill>
                      <a:srgbClr val="1B2A4A"/>
                    </a:solidFill>
                  </a:tcPr>
                </a:tc>
                <a:tc>
                  <a:txBody>
                    <a:bodyPr/>
                    <a:lstStyle/>
                    <a:p>
                      <a:pPr algn="l"/>
                      <a:r>
                        <a:rPr sz="1250" b="1" i="0">
                          <a:solidFill>
                            <a:srgbClr val="FFFFFF"/>
                          </a:solidFill>
                          <a:latin typeface="Calibri"/>
                        </a:rPr>
                        <a:t>Value</a:t>
                      </a:r>
                    </a:p>
                  </a:txBody>
                  <a:tcPr anchor="ctr" marL="76200" marR="76200" marT="38100" marB="38100">
                    <a:solidFill>
                      <a:srgbClr val="1B2A4A"/>
                    </a:solidFill>
                  </a:tcPr>
                </a:tc>
              </a:tr>
              <a:tr h="457200">
                <a:tc>
                  <a:txBody>
                    <a:bodyPr/>
                    <a:lstStyle/>
                    <a:p>
                      <a:pPr algn="l"/>
                      <a:r>
                        <a:rPr sz="1300" b="0" i="0">
                          <a:solidFill>
                            <a:srgbClr val="111B30"/>
                          </a:solidFill>
                          <a:latin typeface="Calibri"/>
                        </a:rPr>
                        <a:t>Precedence</a:t>
                      </a:r>
                    </a:p>
                  </a:txBody>
                  <a:tcPr anchor="ctr" marL="76200" marR="76200" marT="38100" marB="38100">
                    <a:solidFill>
                      <a:srgbClr val="FFFFFF"/>
                    </a:solidFill>
                  </a:tcPr>
                </a:tc>
                <a:tc>
                  <a:txBody>
                    <a:bodyPr/>
                    <a:lstStyle/>
                    <a:p>
                      <a:pPr algn="l"/>
                      <a:r>
                        <a:rPr sz="1300" b="0" i="0">
                          <a:solidFill>
                            <a:srgbClr val="111B30"/>
                          </a:solidFill>
                          <a:latin typeface="Calibri"/>
                        </a:rPr>
                        <a:t>10 (lower number = higher priority)</a:t>
                      </a:r>
                    </a:p>
                  </a:txBody>
                  <a:tcPr anchor="ctr" marL="76200" marR="76200" marT="38100" marB="38100">
                    <a:solidFill>
                      <a:srgbClr val="FFFFFF"/>
                    </a:solidFill>
                  </a:tcPr>
                </a:tc>
              </a:tr>
              <a:tr h="457200">
                <a:tc>
                  <a:txBody>
                    <a:bodyPr/>
                    <a:lstStyle/>
                    <a:p>
                      <a:pPr algn="l"/>
                      <a:r>
                        <a:rPr sz="1300" b="0" i="0">
                          <a:solidFill>
                            <a:srgbClr val="111B30"/>
                          </a:solidFill>
                          <a:latin typeface="Calibri"/>
                        </a:rPr>
                        <a:t>Min Password Length</a:t>
                      </a:r>
                    </a:p>
                  </a:txBody>
                  <a:tcPr anchor="ctr" marL="76200" marR="76200" marT="38100" marB="38100">
                    <a:solidFill>
                      <a:srgbClr val="E8EEF7"/>
                    </a:solidFill>
                  </a:tcPr>
                </a:tc>
                <a:tc>
                  <a:txBody>
                    <a:bodyPr/>
                    <a:lstStyle/>
                    <a:p>
                      <a:pPr algn="l"/>
                      <a:r>
                        <a:rPr sz="1300" b="0" i="0">
                          <a:solidFill>
                            <a:srgbClr val="111B30"/>
                          </a:solidFill>
                          <a:latin typeface="Calibri"/>
                        </a:rPr>
                        <a:t>20 characters</a:t>
                      </a:r>
                    </a:p>
                  </a:txBody>
                  <a:tcPr anchor="ctr" marL="76200" marR="76200" marT="38100" marB="38100">
                    <a:solidFill>
                      <a:srgbClr val="E8EEF7"/>
                    </a:solidFill>
                  </a:tcPr>
                </a:tc>
              </a:tr>
              <a:tr h="457200">
                <a:tc>
                  <a:txBody>
                    <a:bodyPr/>
                    <a:lstStyle/>
                    <a:p>
                      <a:pPr algn="l"/>
                      <a:r>
                        <a:rPr sz="1300" b="0" i="0">
                          <a:solidFill>
                            <a:srgbClr val="111B30"/>
                          </a:solidFill>
                          <a:latin typeface="Calibri"/>
                        </a:rPr>
                        <a:t>Complexity Enabled</a:t>
                      </a:r>
                    </a:p>
                  </a:txBody>
                  <a:tcPr anchor="ctr" marL="76200" marR="76200" marT="38100" marB="38100">
                    <a:solidFill>
                      <a:srgbClr val="FFFFFF"/>
                    </a:solidFill>
                  </a:tcPr>
                </a:tc>
                <a:tc>
                  <a:txBody>
                    <a:bodyPr/>
                    <a:lstStyle/>
                    <a:p>
                      <a:pPr algn="l"/>
                      <a:r>
                        <a:rPr sz="1300" b="0" i="0">
                          <a:solidFill>
                            <a:srgbClr val="111B30"/>
                          </a:solidFill>
                          <a:latin typeface="Calibri"/>
                        </a:rPr>
                        <a:t>True</a:t>
                      </a:r>
                    </a:p>
                  </a:txBody>
                  <a:tcPr anchor="ctr" marL="76200" marR="76200" marT="38100" marB="38100">
                    <a:solidFill>
                      <a:srgbClr val="FFFFFF"/>
                    </a:solidFill>
                  </a:tcPr>
                </a:tc>
              </a:tr>
              <a:tr h="457200">
                <a:tc>
                  <a:txBody>
                    <a:bodyPr/>
                    <a:lstStyle/>
                    <a:p>
                      <a:pPr algn="l"/>
                      <a:r>
                        <a:rPr sz="1300" b="0" i="0">
                          <a:solidFill>
                            <a:srgbClr val="111B30"/>
                          </a:solidFill>
                          <a:latin typeface="Calibri"/>
                        </a:rPr>
                        <a:t>Password History Count</a:t>
                      </a:r>
                    </a:p>
                  </a:txBody>
                  <a:tcPr anchor="ctr" marL="76200" marR="76200" marT="38100" marB="38100">
                    <a:solidFill>
                      <a:srgbClr val="E8EEF7"/>
                    </a:solidFill>
                  </a:tcPr>
                </a:tc>
                <a:tc>
                  <a:txBody>
                    <a:bodyPr/>
                    <a:lstStyle/>
                    <a:p>
                      <a:pPr algn="l"/>
                      <a:r>
                        <a:rPr sz="1300" b="0" i="0">
                          <a:solidFill>
                            <a:srgbClr val="111B30"/>
                          </a:solidFill>
                          <a:latin typeface="Calibri"/>
                        </a:rPr>
                        <a:t>24</a:t>
                      </a:r>
                    </a:p>
                  </a:txBody>
                  <a:tcPr anchor="ctr" marL="76200" marR="76200" marT="38100" marB="38100">
                    <a:solidFill>
                      <a:srgbClr val="E8EEF7"/>
                    </a:solidFill>
                  </a:tcPr>
                </a:tc>
              </a:tr>
              <a:tr h="457200">
                <a:tc>
                  <a:txBody>
                    <a:bodyPr/>
                    <a:lstStyle/>
                    <a:p>
                      <a:pPr algn="l"/>
                      <a:r>
                        <a:rPr sz="1300" b="0" i="0">
                          <a:solidFill>
                            <a:srgbClr val="111B30"/>
                          </a:solidFill>
                          <a:latin typeface="Calibri"/>
                        </a:rPr>
                        <a:t>Max Password Age</a:t>
                      </a:r>
                    </a:p>
                  </a:txBody>
                  <a:tcPr anchor="ctr" marL="76200" marR="76200" marT="38100" marB="38100">
                    <a:solidFill>
                      <a:srgbClr val="FFFFFF"/>
                    </a:solidFill>
                  </a:tcPr>
                </a:tc>
                <a:tc>
                  <a:txBody>
                    <a:bodyPr/>
                    <a:lstStyle/>
                    <a:p>
                      <a:pPr algn="l"/>
                      <a:r>
                        <a:rPr sz="1300" b="0" i="0">
                          <a:solidFill>
                            <a:srgbClr val="111B30"/>
                          </a:solidFill>
                          <a:latin typeface="Calibri"/>
                        </a:rPr>
                        <a:t>90 days</a:t>
                      </a:r>
                    </a:p>
                  </a:txBody>
                  <a:tcPr anchor="ctr" marL="76200" marR="76200" marT="38100" marB="38100">
                    <a:solidFill>
                      <a:srgbClr val="FFFFFF"/>
                    </a:solidFill>
                  </a:tcPr>
                </a:tc>
              </a:tr>
              <a:tr h="457200">
                <a:tc>
                  <a:txBody>
                    <a:bodyPr/>
                    <a:lstStyle/>
                    <a:p>
                      <a:pPr algn="l"/>
                      <a:r>
                        <a:rPr sz="1300" b="0" i="0">
                          <a:solidFill>
                            <a:srgbClr val="111B30"/>
                          </a:solidFill>
                          <a:latin typeface="Calibri"/>
                        </a:rPr>
                        <a:t>Min Password Age</a:t>
                      </a:r>
                    </a:p>
                  </a:txBody>
                  <a:tcPr anchor="ctr" marL="76200" marR="76200" marT="38100" marB="38100">
                    <a:solidFill>
                      <a:srgbClr val="E8EEF7"/>
                    </a:solidFill>
                  </a:tcPr>
                </a:tc>
                <a:tc>
                  <a:txBody>
                    <a:bodyPr/>
                    <a:lstStyle/>
                    <a:p>
                      <a:pPr algn="l"/>
                      <a:r>
                        <a:rPr sz="1300" b="0" i="0">
                          <a:solidFill>
                            <a:srgbClr val="111B30"/>
                          </a:solidFill>
                          <a:latin typeface="Calibri"/>
                        </a:rPr>
                        <a:t>1 day</a:t>
                      </a:r>
                    </a:p>
                  </a:txBody>
                  <a:tcPr anchor="ctr" marL="76200" marR="76200" marT="38100" marB="38100">
                    <a:solidFill>
                      <a:srgbClr val="E8EEF7"/>
                    </a:solidFill>
                  </a:tcPr>
                </a:tc>
              </a:tr>
              <a:tr h="457200">
                <a:tc>
                  <a:txBody>
                    <a:bodyPr/>
                    <a:lstStyle/>
                    <a:p>
                      <a:pPr algn="l"/>
                      <a:r>
                        <a:rPr sz="1300" b="0" i="0">
                          <a:solidFill>
                            <a:srgbClr val="111B30"/>
                          </a:solidFill>
                          <a:latin typeface="Calibri"/>
                        </a:rPr>
                        <a:t>Lockout Threshold</a:t>
                      </a:r>
                    </a:p>
                  </a:txBody>
                  <a:tcPr anchor="ctr" marL="76200" marR="76200" marT="38100" marB="38100">
                    <a:solidFill>
                      <a:srgbClr val="FFFFFF"/>
                    </a:solidFill>
                  </a:tcPr>
                </a:tc>
                <a:tc>
                  <a:txBody>
                    <a:bodyPr/>
                    <a:lstStyle/>
                    <a:p>
                      <a:pPr algn="l"/>
                      <a:r>
                        <a:rPr sz="1300" b="0" i="0">
                          <a:solidFill>
                            <a:srgbClr val="111B30"/>
                          </a:solidFill>
                          <a:latin typeface="Calibri"/>
                        </a:rPr>
                        <a:t>3 attempts</a:t>
                      </a:r>
                    </a:p>
                  </a:txBody>
                  <a:tcPr anchor="ctr" marL="76200" marR="76200" marT="38100" marB="38100">
                    <a:solidFill>
                      <a:srgbClr val="FFFFFF"/>
                    </a:solidFill>
                  </a:tcPr>
                </a:tc>
              </a:tr>
              <a:tr h="457200">
                <a:tc>
                  <a:txBody>
                    <a:bodyPr/>
                    <a:lstStyle/>
                    <a:p>
                      <a:pPr algn="l"/>
                      <a:r>
                        <a:rPr sz="1300" b="0" i="0">
                          <a:solidFill>
                            <a:srgbClr val="111B30"/>
                          </a:solidFill>
                          <a:latin typeface="Calibri"/>
                        </a:rPr>
                        <a:t>Lockout Duration</a:t>
                      </a:r>
                    </a:p>
                  </a:txBody>
                  <a:tcPr anchor="ctr" marL="76200" marR="76200" marT="38100" marB="38100">
                    <a:solidFill>
                      <a:srgbClr val="E8EEF7"/>
                    </a:solidFill>
                  </a:tcPr>
                </a:tc>
                <a:tc>
                  <a:txBody>
                    <a:bodyPr/>
                    <a:lstStyle/>
                    <a:p>
                      <a:pPr algn="l"/>
                      <a:r>
                        <a:rPr sz="1300" b="0" i="0">
                          <a:solidFill>
                            <a:srgbClr val="111B30"/>
                          </a:solidFill>
                          <a:latin typeface="Calibri"/>
                        </a:rPr>
                        <a:t>30 minutes</a:t>
                      </a:r>
                    </a:p>
                  </a:txBody>
                  <a:tcPr anchor="ctr" marL="76200" marR="76200" marT="38100" marB="38100">
                    <a:solidFill>
                      <a:srgbClr val="E8EEF7"/>
                    </a:solidFill>
                  </a:tcPr>
                </a:tc>
              </a:tr>
              <a:tr h="457200">
                <a:tc>
                  <a:txBody>
                    <a:bodyPr/>
                    <a:lstStyle/>
                    <a:p>
                      <a:pPr algn="l"/>
                      <a:r>
                        <a:rPr sz="1300" b="0" i="0">
                          <a:solidFill>
                            <a:srgbClr val="111B30"/>
                          </a:solidFill>
                          <a:latin typeface="Calibri"/>
                        </a:rPr>
                        <a:t>Lockout Observation Window</a:t>
                      </a:r>
                    </a:p>
                  </a:txBody>
                  <a:tcPr anchor="ctr" marL="76200" marR="76200" marT="38100" marB="38100">
                    <a:solidFill>
                      <a:srgbClr val="FFFFFF"/>
                    </a:solidFill>
                  </a:tcPr>
                </a:tc>
                <a:tc>
                  <a:txBody>
                    <a:bodyPr/>
                    <a:lstStyle/>
                    <a:p>
                      <a:pPr algn="l"/>
                      <a:r>
                        <a:rPr sz="1300" b="0" i="0">
                          <a:solidFill>
                            <a:srgbClr val="111B30"/>
                          </a:solidFill>
                          <a:latin typeface="Calibri"/>
                        </a:rPr>
                        <a:t>30 minutes</a:t>
                      </a:r>
                    </a:p>
                  </a:txBody>
                  <a:tcPr anchor="ctr" marL="76200" marR="76200" marT="38100" marB="38100">
                    <a:solidFill>
                      <a:srgbClr val="FFFFFF"/>
                    </a:solidFill>
                  </a:tcPr>
                </a:tc>
              </a:tr>
              <a:tr h="457200">
                <a:tc>
                  <a:txBody>
                    <a:bodyPr/>
                    <a:lstStyle/>
                    <a:p>
                      <a:pPr algn="l"/>
                      <a:r>
                        <a:rPr sz="1300" b="0" i="0">
                          <a:solidFill>
                            <a:srgbClr val="111B30"/>
                          </a:solidFill>
                          <a:latin typeface="Calibri"/>
                        </a:rPr>
                        <a:t>Protected From Accidental Deletion</a:t>
                      </a:r>
                    </a:p>
                  </a:txBody>
                  <a:tcPr anchor="ctr" marL="76200" marR="76200" marT="38100" marB="38100">
                    <a:solidFill>
                      <a:srgbClr val="E8EEF7"/>
                    </a:solidFill>
                  </a:tcPr>
                </a:tc>
                <a:tc>
                  <a:txBody>
                    <a:bodyPr/>
                    <a:lstStyle/>
                    <a:p>
                      <a:pPr algn="l"/>
                      <a:r>
                        <a:rPr sz="1300" b="0" i="0">
                          <a:solidFill>
                            <a:srgbClr val="111B30"/>
                          </a:solidFill>
                          <a:latin typeface="Calibri"/>
                        </a:rPr>
                        <a:t>True</a:t>
                      </a:r>
                    </a:p>
                  </a:txBody>
                  <a:tcPr anchor="ctr" marL="76200" marR="76200" marT="38100" marB="38100">
                    <a:solidFill>
                      <a:srgbClr val="E8EEF7"/>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Verification &amp; Lockout Testing</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gpresult /H C:\gpresult.html /F - proves which GPOs actually applied, not just which are linked</a:t>
            </a:r>
          </a:p>
          <a:p>
            <a:pPr algn="l">
              <a:spcAft>
                <a:spcPts val="1200"/>
              </a:spcAft>
            </a:pPr>
            <a:r>
              <a:rPr sz="1600" b="0" i="0">
                <a:solidFill>
                  <a:srgbClr val="111B30"/>
                </a:solidFill>
                <a:latin typeface="Calibri"/>
              </a:rPr>
              <a:t>●   Simulated lockout test: loop runas /user:ajohnson with a wrong password 6 times -&gt; account locks at threshold 5</a:t>
            </a:r>
          </a:p>
          <a:p>
            <a:pPr algn="l">
              <a:spcAft>
                <a:spcPts val="1200"/>
              </a:spcAft>
            </a:pPr>
            <a:r>
              <a:rPr sz="1600" b="0" i="0">
                <a:solidFill>
                  <a:srgbClr val="111B30"/>
                </a:solidFill>
                <a:latin typeface="Calibri"/>
              </a:rPr>
              <a:t>●   Do NOT run this against enovak-adm - its PSO locks at 3 attempts, not 5</a:t>
            </a:r>
          </a:p>
          <a:p>
            <a:pPr algn="l">
              <a:spcAft>
                <a:spcPts val="1200"/>
              </a:spcAft>
            </a:pPr>
            <a:r>
              <a:rPr sz="1600" b="0" i="0">
                <a:solidFill>
                  <a:srgbClr val="111B30"/>
                </a:solidFill>
                <a:latin typeface="Calibri"/>
              </a:rPr>
              <a:t>●   Get-ADUser ajohnson -Properties LockedOut confirms lock state; Unlock-ADAccount reverses it</a:t>
            </a:r>
          </a:p>
          <a:p>
            <a:pPr algn="l">
              <a:spcAft>
                <a:spcPts val="1200"/>
              </a:spcAft>
            </a:pPr>
            <a:r>
              <a:rPr sz="1600" b="0" i="0">
                <a:solidFill>
                  <a:srgbClr val="111B30"/>
                </a:solidFill>
                <a:latin typeface="Calibri"/>
              </a:rPr>
              <a:t>●   Cross-check the lockout generated a 4625 event via Get-WinEvent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Group Policy, Auditing &amp; Account Lockout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Attacks &amp; Defenses</a:t>
            </a:r>
          </a:p>
        </p:txBody>
      </p:sp>
      <p:graphicFrame>
        <p:nvGraphicFramePr>
          <p:cNvPr id="4" name="Table 3"/>
          <p:cNvGraphicFramePr>
            <a:graphicFrameLocks noGrp="1"/>
          </p:cNvGraphicFramePr>
          <p:nvPr/>
        </p:nvGraphicFramePr>
        <p:xfrm>
          <a:off x="640080" y="1828800"/>
          <a:ext cx="10911535" cy="2286000"/>
        </p:xfrm>
        <a:graphic>
          <a:graphicData uri="http://schemas.openxmlformats.org/drawingml/2006/table">
            <a:tbl>
              <a:tblPr firstRow="1" bandRow="1">
                <a:tableStyleId>{5C22544A-7EE6-4342-B048-85BDC9FD1C3A}</a:tableStyleId>
              </a:tblPr>
              <a:tblGrid>
                <a:gridCol w="3200400"/>
                <a:gridCol w="4572000"/>
                <a:gridCol w="3139135"/>
              </a:tblGrid>
              <a:tr h="457200">
                <a:tc>
                  <a:txBody>
                    <a:bodyPr/>
                    <a:lstStyle/>
                    <a:p>
                      <a:pPr algn="l"/>
                      <a:r>
                        <a:rPr sz="1250" b="1" i="0">
                          <a:solidFill>
                            <a:srgbClr val="FFFFFF"/>
                          </a:solidFill>
                          <a:latin typeface="Calibri"/>
                        </a:rPr>
                        <a:t>Attack</a:t>
                      </a:r>
                    </a:p>
                  </a:txBody>
                  <a:tcPr anchor="ctr" marL="76200" marR="76200" marT="38100" marB="38100">
                    <a:solidFill>
                      <a:srgbClr val="1B2A4A"/>
                    </a:solidFill>
                  </a:tcPr>
                </a:tc>
                <a:tc>
                  <a:txBody>
                    <a:bodyPr/>
                    <a:lstStyle/>
                    <a:p>
                      <a:pPr algn="l"/>
                      <a:r>
                        <a:rPr sz="1250" b="1" i="0">
                          <a:solidFill>
                            <a:srgbClr val="FFFFFF"/>
                          </a:solidFill>
                          <a:latin typeface="Calibri"/>
                        </a:rPr>
                        <a:t>How It Works</a:t>
                      </a:r>
                    </a:p>
                  </a:txBody>
                  <a:tcPr anchor="ctr" marL="76200" marR="76200" marT="38100" marB="38100">
                    <a:solidFill>
                      <a:srgbClr val="1B2A4A"/>
                    </a:solidFill>
                  </a:tcPr>
                </a:tc>
                <a:tc>
                  <a:txBody>
                    <a:bodyPr/>
                    <a:lstStyle/>
                    <a:p>
                      <a:pPr algn="l"/>
                      <a:r>
                        <a:rPr sz="1250" b="1" i="0">
                          <a:solidFill>
                            <a:srgbClr val="FFFFFF"/>
                          </a:solidFill>
                          <a:latin typeface="Calibri"/>
                        </a:rPr>
                        <a:t>Defense</a:t>
                      </a:r>
                    </a:p>
                  </a:txBody>
                  <a:tcPr anchor="ctr" marL="76200" marR="76200" marT="38100" marB="38100">
                    <a:solidFill>
                      <a:srgbClr val="1B2A4A"/>
                    </a:solidFill>
                  </a:tcPr>
                </a:tc>
              </a:tr>
              <a:tr h="457200">
                <a:tc>
                  <a:txBody>
                    <a:bodyPr/>
                    <a:lstStyle/>
                    <a:p>
                      <a:pPr algn="l"/>
                      <a:r>
                        <a:rPr sz="1200" b="1" i="0">
                          <a:solidFill>
                            <a:srgbClr val="B02A2A"/>
                          </a:solidFill>
                          <a:latin typeface="Calibri"/>
                        </a:rPr>
                        <a:t>GPO tampering</a:t>
                      </a:r>
                    </a:p>
                  </a:txBody>
                  <a:tcPr anchor="ctr" marL="76200" marR="76200" marT="38100" marB="38100">
                    <a:solidFill>
                      <a:srgbClr val="FFFFFF"/>
                    </a:solidFill>
                  </a:tcPr>
                </a:tc>
                <a:tc>
                  <a:txBody>
                    <a:bodyPr/>
                    <a:lstStyle/>
                    <a:p>
                      <a:pPr algn="l"/>
                      <a:r>
                        <a:rPr sz="1200" b="0" i="0">
                          <a:solidFill>
                            <a:srgbClr val="111B30"/>
                          </a:solidFill>
                          <a:latin typeface="Calibri"/>
                        </a:rPr>
                        <a:t>Attacker with GPO-edit rights weakens password/lockout settings domain-wide</a:t>
                      </a:r>
                    </a:p>
                  </a:txBody>
                  <a:tcPr anchor="ctr" marL="76200" marR="76200" marT="38100" marB="38100">
                    <a:solidFill>
                      <a:srgbClr val="FFFFFF"/>
                    </a:solidFill>
                  </a:tcPr>
                </a:tc>
                <a:tc>
                  <a:txBody>
                    <a:bodyPr/>
                    <a:lstStyle/>
                    <a:p>
                      <a:pPr algn="l"/>
                      <a:r>
                        <a:rPr sz="1200" b="1" i="0">
                          <a:solidFill>
                            <a:srgbClr val="2E7D32"/>
                          </a:solidFill>
                          <a:latin typeface="Calibri"/>
                        </a:rPr>
                        <a:t>Restrict GPO edit rights to Tier 0; monitor Policy Change audit category</a:t>
                      </a:r>
                    </a:p>
                  </a:txBody>
                  <a:tcPr anchor="ctr" marL="76200" marR="76200" marT="38100" marB="38100">
                    <a:solidFill>
                      <a:srgbClr val="FFFFFF"/>
                    </a:solidFill>
                  </a:tcPr>
                </a:tc>
              </a:tr>
              <a:tr h="457200">
                <a:tc>
                  <a:txBody>
                    <a:bodyPr/>
                    <a:lstStyle/>
                    <a:p>
                      <a:pPr algn="l"/>
                      <a:r>
                        <a:rPr sz="1200" b="1" i="0">
                          <a:solidFill>
                            <a:srgbClr val="B02A2A"/>
                          </a:solidFill>
                          <a:latin typeface="Calibri"/>
                        </a:rPr>
                        <a:t>Audit policy disabled/cleared</a:t>
                      </a:r>
                    </a:p>
                  </a:txBody>
                  <a:tcPr anchor="ctr" marL="76200" marR="76200" marT="38100" marB="38100">
                    <a:solidFill>
                      <a:srgbClr val="E8EEF7"/>
                    </a:solidFill>
                  </a:tcPr>
                </a:tc>
                <a:tc>
                  <a:txBody>
                    <a:bodyPr/>
                    <a:lstStyle/>
                    <a:p>
                      <a:pPr algn="l"/>
                      <a:r>
                        <a:rPr sz="1200" b="0" i="0">
                          <a:solidFill>
                            <a:srgbClr val="111B30"/>
                          </a:solidFill>
                          <a:latin typeface="Calibri"/>
                        </a:rPr>
                        <a:t>Attacker turns off or clears logs to hide activity</a:t>
                      </a:r>
                    </a:p>
                  </a:txBody>
                  <a:tcPr anchor="ctr" marL="76200" marR="76200" marT="38100" marB="38100">
                    <a:solidFill>
                      <a:srgbClr val="E8EEF7"/>
                    </a:solidFill>
                  </a:tcPr>
                </a:tc>
                <a:tc>
                  <a:txBody>
                    <a:bodyPr/>
                    <a:lstStyle/>
                    <a:p>
                      <a:pPr algn="l"/>
                      <a:r>
                        <a:rPr sz="1200" b="1" i="0">
                          <a:solidFill>
                            <a:srgbClr val="2E7D32"/>
                          </a:solidFill>
                          <a:latin typeface="Calibri"/>
                        </a:rPr>
                        <a:t>Alert on Event ID 1102 (log cleared); forward logs off-box</a:t>
                      </a:r>
                    </a:p>
                  </a:txBody>
                  <a:tcPr anchor="ctr" marL="76200" marR="76200" marT="38100" marB="38100">
                    <a:solidFill>
                      <a:srgbClr val="E8EEF7"/>
                    </a:solidFill>
                  </a:tcPr>
                </a:tc>
              </a:tr>
              <a:tr h="457200">
                <a:tc>
                  <a:txBody>
                    <a:bodyPr/>
                    <a:lstStyle/>
                    <a:p>
                      <a:pPr algn="l"/>
                      <a:r>
                        <a:rPr sz="1200" b="1" i="0">
                          <a:solidFill>
                            <a:srgbClr val="B02A2A"/>
                          </a:solidFill>
                          <a:latin typeface="Calibri"/>
                        </a:rPr>
                        <a:t>Lockout threshold abused as DoS</a:t>
                      </a:r>
                    </a:p>
                  </a:txBody>
                  <a:tcPr anchor="ctr" marL="76200" marR="76200" marT="38100" marB="38100">
                    <a:solidFill>
                      <a:srgbClr val="FFFFFF"/>
                    </a:solidFill>
                  </a:tcPr>
                </a:tc>
                <a:tc>
                  <a:txBody>
                    <a:bodyPr/>
                    <a:lstStyle/>
                    <a:p>
                      <a:pPr algn="l"/>
                      <a:r>
                        <a:rPr sz="1200" b="0" i="0">
                          <a:solidFill>
                            <a:srgbClr val="111B30"/>
                          </a:solidFill>
                          <a:latin typeface="Calibri"/>
                        </a:rPr>
                        <a:t>Attacker deliberately fails logins to lock out legitimate users/admins</a:t>
                      </a:r>
                    </a:p>
                  </a:txBody>
                  <a:tcPr anchor="ctr" marL="76200" marR="76200" marT="38100" marB="38100">
                    <a:solidFill>
                      <a:srgbClr val="FFFFFF"/>
                    </a:solidFill>
                  </a:tcPr>
                </a:tc>
                <a:tc>
                  <a:txBody>
                    <a:bodyPr/>
                    <a:lstStyle/>
                    <a:p>
                      <a:pPr algn="l"/>
                      <a:r>
                        <a:rPr sz="1200" b="1" i="0">
                          <a:solidFill>
                            <a:srgbClr val="2E7D32"/>
                          </a:solidFill>
                          <a:latin typeface="Calibri"/>
                        </a:rPr>
                        <a:t>Reasonable threshold/duration balance; monitor for lockout spikes</a:t>
                      </a:r>
                    </a:p>
                  </a:txBody>
                  <a:tcPr anchor="ctr" marL="76200" marR="76200" marT="38100" marB="38100">
                    <a:solidFill>
                      <a:srgbClr val="FFFFFF"/>
                    </a:solidFill>
                  </a:tcPr>
                </a:tc>
              </a:tr>
              <a:tr h="457200">
                <a:tc>
                  <a:txBody>
                    <a:bodyPr/>
                    <a:lstStyle/>
                    <a:p>
                      <a:pPr algn="l"/>
                      <a:r>
                        <a:rPr sz="1200" b="1" i="0">
                          <a:solidFill>
                            <a:srgbClr val="B02A2A"/>
                          </a:solidFill>
                          <a:latin typeface="Calibri"/>
                        </a:rPr>
                        <a:t>Password spraying under the radar</a:t>
                      </a:r>
                    </a:p>
                  </a:txBody>
                  <a:tcPr anchor="ctr" marL="76200" marR="76200" marT="38100" marB="38100">
                    <a:solidFill>
                      <a:srgbClr val="E8EEF7"/>
                    </a:solidFill>
                  </a:tcPr>
                </a:tc>
                <a:tc>
                  <a:txBody>
                    <a:bodyPr/>
                    <a:lstStyle/>
                    <a:p>
                      <a:pPr algn="l"/>
                      <a:r>
                        <a:rPr sz="1200" b="0" i="0">
                          <a:solidFill>
                            <a:srgbClr val="111B30"/>
                          </a:solidFill>
                          <a:latin typeface="Calibri"/>
                        </a:rPr>
                        <a:t>Low-and-slow guessing across many accounts to stay under per-account lockout threshold</a:t>
                      </a:r>
                    </a:p>
                  </a:txBody>
                  <a:tcPr anchor="ctr" marL="76200" marR="76200" marT="38100" marB="38100">
                    <a:solidFill>
                      <a:srgbClr val="E8EEF7"/>
                    </a:solidFill>
                  </a:tcPr>
                </a:tc>
                <a:tc>
                  <a:txBody>
                    <a:bodyPr/>
                    <a:lstStyle/>
                    <a:p>
                      <a:pPr algn="l"/>
                      <a:r>
                        <a:rPr sz="1200" b="1" i="0">
                          <a:solidFill>
                            <a:srgbClr val="2E7D32"/>
                          </a:solidFill>
                          <a:latin typeface="Calibri"/>
                        </a:rPr>
                        <a:t>Lockout + login-anomaly detection across accounts, not just per-account</a:t>
                      </a:r>
                    </a:p>
                  </a:txBody>
                  <a:tcPr anchor="ctr" marL="76200" marR="76200" marT="38100" marB="38100">
                    <a:solidFill>
                      <a:srgbClr val="E8EEF7"/>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04</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PowerShell for Administration &amp; Task Scheduler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The Object Pipeline: Why PowerShell Is Different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Bash pipes pass text; PowerShell pipes pass full .NET objects with properties and methods intact.</a:t>
            </a:r>
          </a:p>
        </p:txBody>
      </p:sp>
      <p:sp>
        <p:nvSpPr>
          <p:cNvPr id="4" name="TextBox 3"/>
          <p:cNvSpPr txBox="1"/>
          <p:nvPr/>
        </p:nvSpPr>
        <p:spPr>
          <a:xfrm>
            <a:off x="914400" y="1965960"/>
            <a:ext cx="1828800" cy="274320"/>
          </a:xfrm>
          <a:prstGeom prst="rect">
            <a:avLst/>
          </a:prstGeom>
          <a:noFill/>
        </p:spPr>
        <p:txBody>
          <a:bodyPr wrap="none">
            <a:spAutoFit/>
          </a:bodyPr>
          <a:lstStyle/>
          <a:p>
            <a:r>
              <a:rPr sz="1200" b="1" i="0">
                <a:solidFill>
                  <a:srgbClr val="6B7480"/>
                </a:solidFill>
                <a:latin typeface="Cambria"/>
              </a:rPr>
              <a:t>BASH</a:t>
            </a:r>
          </a:p>
        </p:txBody>
      </p:sp>
      <p:sp>
        <p:nvSpPr>
          <p:cNvPr id="5" name="Rounded Rectangle 4"/>
          <p:cNvSpPr/>
          <p:nvPr/>
        </p:nvSpPr>
        <p:spPr>
          <a:xfrm>
            <a:off x="914400" y="2331720"/>
            <a:ext cx="2377440" cy="640080"/>
          </a:xfrm>
          <a:prstGeom prst="roundRect">
            <a:avLst/>
          </a:prstGeom>
          <a:solidFill>
            <a:srgbClr val="E8EEF7"/>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ls -la</a:t>
            </a:r>
          </a:p>
        </p:txBody>
      </p:sp>
      <p:sp>
        <p:nvSpPr>
          <p:cNvPr id="6" name="Rounded Rectangle 5"/>
          <p:cNvSpPr/>
          <p:nvPr/>
        </p:nvSpPr>
        <p:spPr>
          <a:xfrm>
            <a:off x="3931920" y="2331720"/>
            <a:ext cx="2834640" cy="640080"/>
          </a:xfrm>
          <a:prstGeom prst="roundRect">
            <a:avLst/>
          </a:prstGeom>
          <a:solidFill>
            <a:srgbClr val="E8EEF7"/>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raw text stream</a:t>
            </a:r>
          </a:p>
        </p:txBody>
      </p:sp>
      <p:sp>
        <p:nvSpPr>
          <p:cNvPr id="7" name="Rounded Rectangle 6"/>
          <p:cNvSpPr/>
          <p:nvPr/>
        </p:nvSpPr>
        <p:spPr>
          <a:xfrm>
            <a:off x="7406640" y="2331720"/>
            <a:ext cx="2377440" cy="640080"/>
          </a:xfrm>
          <a:prstGeom prst="roundRect">
            <a:avLst/>
          </a:prstGeom>
          <a:solidFill>
            <a:srgbClr val="E8EEF7"/>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grep foo</a:t>
            </a:r>
          </a:p>
        </p:txBody>
      </p:sp>
      <p:cxnSp>
        <p:nvCxnSpPr>
          <p:cNvPr id="8" name="Connector 7"/>
          <p:cNvCxnSpPr/>
          <p:nvPr/>
        </p:nvCxnSpPr>
        <p:spPr>
          <a:xfrm>
            <a:off x="3291840" y="2651760"/>
            <a:ext cx="64008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2505456"/>
            <a:ext cx="1737360" cy="292608"/>
          </a:xfrm>
          <a:prstGeom prst="rect">
            <a:avLst/>
          </a:prstGeom>
          <a:noFill/>
        </p:spPr>
        <p:txBody>
          <a:bodyPr wrap="square" lIns="0" tIns="0">
            <a:spAutoFit/>
          </a:bodyPr>
          <a:lstStyle/>
          <a:p>
            <a:pPr algn="ctr"/>
            <a:r>
              <a:rPr sz="900" b="0" i="1">
                <a:solidFill>
                  <a:srgbClr val="404040"/>
                </a:solidFill>
                <a:latin typeface="Calibri"/>
              </a:rPr>
              <a:t>text</a:t>
            </a:r>
          </a:p>
        </p:txBody>
      </p:sp>
      <p:cxnSp>
        <p:nvCxnSpPr>
          <p:cNvPr id="10" name="Connector 9"/>
          <p:cNvCxnSpPr/>
          <p:nvPr/>
        </p:nvCxnSpPr>
        <p:spPr>
          <a:xfrm>
            <a:off x="6766560" y="2651760"/>
            <a:ext cx="64008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217920" y="2505456"/>
            <a:ext cx="1737360" cy="292608"/>
          </a:xfrm>
          <a:prstGeom prst="rect">
            <a:avLst/>
          </a:prstGeom>
          <a:noFill/>
        </p:spPr>
        <p:txBody>
          <a:bodyPr wrap="square" lIns="0" tIns="0">
            <a:spAutoFit/>
          </a:bodyPr>
          <a:lstStyle/>
          <a:p>
            <a:pPr algn="ctr"/>
            <a:r>
              <a:rPr sz="900" b="0" i="1">
                <a:solidFill>
                  <a:srgbClr val="404040"/>
                </a:solidFill>
                <a:latin typeface="Calibri"/>
              </a:rPr>
              <a:t>text</a:t>
            </a:r>
          </a:p>
        </p:txBody>
      </p:sp>
      <p:sp>
        <p:nvSpPr>
          <p:cNvPr id="12" name="TextBox 11"/>
          <p:cNvSpPr txBox="1"/>
          <p:nvPr/>
        </p:nvSpPr>
        <p:spPr>
          <a:xfrm>
            <a:off x="914400" y="3429000"/>
            <a:ext cx="2926080" cy="274320"/>
          </a:xfrm>
          <a:prstGeom prst="rect">
            <a:avLst/>
          </a:prstGeom>
          <a:noFill/>
        </p:spPr>
        <p:txBody>
          <a:bodyPr wrap="none">
            <a:spAutoFit/>
          </a:bodyPr>
          <a:lstStyle/>
          <a:p>
            <a:r>
              <a:rPr sz="1200" b="1" i="0">
                <a:solidFill>
                  <a:srgbClr val="1B2A4A"/>
                </a:solidFill>
                <a:latin typeface="Cambria"/>
              </a:rPr>
              <a:t>POWERSHELL</a:t>
            </a:r>
          </a:p>
        </p:txBody>
      </p:sp>
      <p:sp>
        <p:nvSpPr>
          <p:cNvPr id="13" name="Rounded Rectangle 12"/>
          <p:cNvSpPr/>
          <p:nvPr/>
        </p:nvSpPr>
        <p:spPr>
          <a:xfrm>
            <a:off x="914400" y="3794760"/>
            <a:ext cx="2651760" cy="64008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Get-ADUser -Filter *</a:t>
            </a:r>
          </a:p>
        </p:txBody>
      </p:sp>
      <p:sp>
        <p:nvSpPr>
          <p:cNvPr id="14" name="Rounded Rectangle 13"/>
          <p:cNvSpPr/>
          <p:nvPr/>
        </p:nvSpPr>
        <p:spPr>
          <a:xfrm>
            <a:off x="4206240" y="3794760"/>
            <a:ext cx="2834640" cy="64008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[ADUser objects]</a:t>
            </a:r>
          </a:p>
        </p:txBody>
      </p:sp>
      <p:sp>
        <p:nvSpPr>
          <p:cNvPr id="15" name="Rounded Rectangle 14"/>
          <p:cNvSpPr/>
          <p:nvPr/>
        </p:nvSpPr>
        <p:spPr>
          <a:xfrm>
            <a:off x="7680960" y="3794760"/>
            <a:ext cx="2743200" cy="64008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Where-Object {...}</a:t>
            </a:r>
          </a:p>
        </p:txBody>
      </p:sp>
      <p:cxnSp>
        <p:nvCxnSpPr>
          <p:cNvPr id="16" name="Connector 15"/>
          <p:cNvCxnSpPr/>
          <p:nvPr/>
        </p:nvCxnSpPr>
        <p:spPr>
          <a:xfrm>
            <a:off x="3566160" y="4114800"/>
            <a:ext cx="640080" cy="0"/>
          </a:xfrm>
          <a:prstGeom prst="line">
            <a:avLst/>
          </a:prstGeom>
          <a:ln w="19050">
            <a:solidFill>
              <a:srgbClr val="00B4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017520" y="3968496"/>
            <a:ext cx="1737360" cy="292608"/>
          </a:xfrm>
          <a:prstGeom prst="rect">
            <a:avLst/>
          </a:prstGeom>
          <a:noFill/>
        </p:spPr>
        <p:txBody>
          <a:bodyPr wrap="square" lIns="0" tIns="0">
            <a:spAutoFit/>
          </a:bodyPr>
          <a:lstStyle/>
          <a:p>
            <a:pPr algn="ctr"/>
            <a:r>
              <a:rPr sz="900" b="0" i="1">
                <a:solidFill>
                  <a:srgbClr val="404040"/>
                </a:solidFill>
                <a:latin typeface="Calibri"/>
              </a:rPr>
              <a:t>structured objects</a:t>
            </a:r>
          </a:p>
        </p:txBody>
      </p:sp>
      <p:cxnSp>
        <p:nvCxnSpPr>
          <p:cNvPr id="18" name="Connector 17"/>
          <p:cNvCxnSpPr/>
          <p:nvPr/>
        </p:nvCxnSpPr>
        <p:spPr>
          <a:xfrm>
            <a:off x="7040879" y="4114800"/>
            <a:ext cx="640081" cy="0"/>
          </a:xfrm>
          <a:prstGeom prst="line">
            <a:avLst/>
          </a:prstGeom>
          <a:ln w="19050">
            <a:solidFill>
              <a:srgbClr val="00B4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92240" y="3968496"/>
            <a:ext cx="1737360" cy="292608"/>
          </a:xfrm>
          <a:prstGeom prst="rect">
            <a:avLst/>
          </a:prstGeom>
          <a:noFill/>
        </p:spPr>
        <p:txBody>
          <a:bodyPr wrap="square" lIns="0" tIns="0">
            <a:spAutoFit/>
          </a:bodyPr>
          <a:lstStyle/>
          <a:p>
            <a:pPr algn="ctr"/>
            <a:r>
              <a:rPr sz="900" b="0" i="1">
                <a:solidFill>
                  <a:srgbClr val="404040"/>
                </a:solidFill>
                <a:latin typeface="Calibri"/>
              </a:rPr>
              <a:t>structured objects</a:t>
            </a:r>
          </a:p>
        </p:txBody>
      </p:sp>
      <p:sp>
        <p:nvSpPr>
          <p:cNvPr id="20" name="Rounded Rectangle 19"/>
          <p:cNvSpPr/>
          <p:nvPr/>
        </p:nvSpPr>
        <p:spPr>
          <a:xfrm>
            <a:off x="4206240" y="4800600"/>
            <a:ext cx="2834640" cy="91440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SamAccountName</a:t>
            </a:r>
          </a:p>
          <a:p>
            <a:pPr algn="ctr"/>
            <a:r>
              <a:rPr sz="1000" b="0" i="0">
                <a:solidFill>
                  <a:srgbClr val="111B30"/>
                </a:solidFill>
                <a:latin typeface="Calibri"/>
              </a:rPr>
              <a:t>Enabled</a:t>
            </a:r>
          </a:p>
          <a:p>
            <a:pPr algn="ctr"/>
            <a:r>
              <a:rPr sz="1000" b="0" i="0">
                <a:solidFill>
                  <a:srgbClr val="111B30"/>
                </a:solidFill>
                <a:latin typeface="Calibri"/>
              </a:rPr>
              <a:t>LastLogonDate</a:t>
            </a:r>
          </a:p>
        </p:txBody>
      </p:sp>
      <p:cxnSp>
        <p:nvCxnSpPr>
          <p:cNvPr id="21" name="Connector 20"/>
          <p:cNvCxnSpPr/>
          <p:nvPr/>
        </p:nvCxnSpPr>
        <p:spPr>
          <a:xfrm>
            <a:off x="5623559" y="4434840"/>
            <a:ext cx="0" cy="365760"/>
          </a:xfrm>
          <a:prstGeom prst="line">
            <a:avLst/>
          </a:prstGeom>
          <a:ln w="19050">
            <a:solidFill>
              <a:srgbClr val="00B4D8"/>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Filtering, Sorting &amp; Formatting</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Where-Object {condition} - filters objects by property, e.g. {$_.Enabled -eq $true}</a:t>
            </a:r>
          </a:p>
          <a:p>
            <a:pPr algn="l">
              <a:spcAft>
                <a:spcPts val="1200"/>
              </a:spcAft>
            </a:pPr>
            <a:r>
              <a:rPr sz="1600" b="0" i="0">
                <a:solidFill>
                  <a:srgbClr val="111B30"/>
                </a:solidFill>
                <a:latin typeface="Calibri"/>
              </a:rPr>
              <a:t>●   Select-Object property1, property2 - projects only the properties you need</a:t>
            </a:r>
          </a:p>
          <a:p>
            <a:pPr algn="l">
              <a:spcAft>
                <a:spcPts val="1200"/>
              </a:spcAft>
            </a:pPr>
            <a:r>
              <a:rPr sz="1600" b="0" i="0">
                <a:solidFill>
                  <a:srgbClr val="111B30"/>
                </a:solidFill>
                <a:latin typeface="Calibri"/>
              </a:rPr>
              <a:t>●   Sort-Object, Group-Object, Measure-Object - the rest of the verb-noun filtering toolkit</a:t>
            </a:r>
          </a:p>
          <a:p>
            <a:pPr algn="l">
              <a:spcAft>
                <a:spcPts val="1200"/>
              </a:spcAft>
            </a:pPr>
            <a:r>
              <a:rPr sz="1600" b="0" i="0">
                <a:solidFill>
                  <a:srgbClr val="111B30"/>
                </a:solidFill>
                <a:latin typeface="Calibri"/>
              </a:rPr>
              <a:t>●   Format-Table, Format-List, Export-Csv - how results get displayed or persisted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Active Directory Module Cmdlets Cheat Sheet</a:t>
            </a:r>
          </a:p>
        </p:txBody>
      </p:sp>
      <p:graphicFrame>
        <p:nvGraphicFramePr>
          <p:cNvPr id="3" name="Table 2"/>
          <p:cNvGraphicFramePr>
            <a:graphicFrameLocks noGrp="1"/>
          </p:cNvGraphicFramePr>
          <p:nvPr/>
        </p:nvGraphicFramePr>
        <p:xfrm>
          <a:off x="640080" y="1554480"/>
          <a:ext cx="10362895" cy="4572000"/>
        </p:xfrm>
        <a:graphic>
          <a:graphicData uri="http://schemas.openxmlformats.org/drawingml/2006/table">
            <a:tbl>
              <a:tblPr firstRow="1" bandRow="1">
                <a:tableStyleId>{5C22544A-7EE6-4342-B048-85BDC9FD1C3A}</a:tableStyleId>
              </a:tblPr>
              <a:tblGrid>
                <a:gridCol w="4114800"/>
                <a:gridCol w="6248095"/>
              </a:tblGrid>
              <a:tr h="457200">
                <a:tc>
                  <a:txBody>
                    <a:bodyPr/>
                    <a:lstStyle/>
                    <a:p>
                      <a:pPr algn="l"/>
                      <a:r>
                        <a:rPr sz="1250" b="1" i="0">
                          <a:solidFill>
                            <a:srgbClr val="FFFFFF"/>
                          </a:solidFill>
                          <a:latin typeface="Calibri"/>
                        </a:rPr>
                        <a:t>Task</a:t>
                      </a:r>
                    </a:p>
                  </a:txBody>
                  <a:tcPr anchor="ctr" marL="76200" marR="76200" marT="38100" marB="38100">
                    <a:solidFill>
                      <a:srgbClr val="1B2A4A"/>
                    </a:solidFill>
                  </a:tcPr>
                </a:tc>
                <a:tc>
                  <a:txBody>
                    <a:bodyPr/>
                    <a:lstStyle/>
                    <a:p>
                      <a:pPr algn="l"/>
                      <a:r>
                        <a:rPr sz="1250" b="1" i="0">
                          <a:solidFill>
                            <a:srgbClr val="FFFFFF"/>
                          </a:solidFill>
                          <a:latin typeface="Calibri"/>
                        </a:rPr>
                        <a:t>Cmdlet</a:t>
                      </a:r>
                    </a:p>
                  </a:txBody>
                  <a:tcPr anchor="ctr" marL="76200" marR="76200" marT="38100" marB="38100">
                    <a:solidFill>
                      <a:srgbClr val="1B2A4A"/>
                    </a:solidFill>
                  </a:tcPr>
                </a:tc>
              </a:tr>
              <a:tr h="457200">
                <a:tc>
                  <a:txBody>
                    <a:bodyPr/>
                    <a:lstStyle/>
                    <a:p>
                      <a:pPr algn="l"/>
                      <a:r>
                        <a:rPr sz="1200" b="0" i="0">
                          <a:solidFill>
                            <a:srgbClr val="111B30"/>
                          </a:solidFill>
                          <a:latin typeface="Calibri"/>
                        </a:rPr>
                        <a:t>Query a user</a:t>
                      </a:r>
                    </a:p>
                  </a:txBody>
                  <a:tcPr anchor="ctr" marL="76200" marR="76200" marT="38100" marB="38100">
                    <a:solidFill>
                      <a:srgbClr val="FFFFFF"/>
                    </a:solidFill>
                  </a:tcPr>
                </a:tc>
                <a:tc>
                  <a:txBody>
                    <a:bodyPr/>
                    <a:lstStyle/>
                    <a:p>
                      <a:pPr algn="l"/>
                      <a:r>
                        <a:rPr sz="1200" b="0" i="0">
                          <a:solidFill>
                            <a:srgbClr val="111B30"/>
                          </a:solidFill>
                          <a:latin typeface="Calibri"/>
                        </a:rPr>
                        <a:t>Get-ADUser -Identity &lt;sam&gt; -Properties *</a:t>
                      </a:r>
                    </a:p>
                  </a:txBody>
                  <a:tcPr anchor="ctr" marL="76200" marR="76200" marT="38100" marB="38100">
                    <a:solidFill>
                      <a:srgbClr val="FFFFFF"/>
                    </a:solidFill>
                  </a:tcPr>
                </a:tc>
              </a:tr>
              <a:tr h="457200">
                <a:tc>
                  <a:txBody>
                    <a:bodyPr/>
                    <a:lstStyle/>
                    <a:p>
                      <a:pPr algn="l"/>
                      <a:r>
                        <a:rPr sz="1200" b="0" i="0">
                          <a:solidFill>
                            <a:srgbClr val="111B30"/>
                          </a:solidFill>
                          <a:latin typeface="Calibri"/>
                        </a:rPr>
                        <a:t>Query with a filter</a:t>
                      </a:r>
                    </a:p>
                  </a:txBody>
                  <a:tcPr anchor="ctr" marL="76200" marR="76200" marT="38100" marB="38100">
                    <a:solidFill>
                      <a:srgbClr val="E8EEF7"/>
                    </a:solidFill>
                  </a:tcPr>
                </a:tc>
                <a:tc>
                  <a:txBody>
                    <a:bodyPr/>
                    <a:lstStyle/>
                    <a:p>
                      <a:pPr algn="l"/>
                      <a:r>
                        <a:rPr sz="1200" b="0" i="0">
                          <a:solidFill>
                            <a:srgbClr val="111B30"/>
                          </a:solidFill>
                          <a:latin typeface="Calibri"/>
                        </a:rPr>
                        <a:t>Get-ADUser -Filter {Enabled -eq $true}</a:t>
                      </a:r>
                    </a:p>
                  </a:txBody>
                  <a:tcPr anchor="ctr" marL="76200" marR="76200" marT="38100" marB="38100">
                    <a:solidFill>
                      <a:srgbClr val="E8EEF7"/>
                    </a:solidFill>
                  </a:tcPr>
                </a:tc>
              </a:tr>
              <a:tr h="457200">
                <a:tc>
                  <a:txBody>
                    <a:bodyPr/>
                    <a:lstStyle/>
                    <a:p>
                      <a:pPr algn="l"/>
                      <a:r>
                        <a:rPr sz="1200" b="0" i="0">
                          <a:solidFill>
                            <a:srgbClr val="111B30"/>
                          </a:solidFill>
                          <a:latin typeface="Calibri"/>
                        </a:rPr>
                        <a:t>Create a user</a:t>
                      </a:r>
                    </a:p>
                  </a:txBody>
                  <a:tcPr anchor="ctr" marL="76200" marR="76200" marT="38100" marB="38100">
                    <a:solidFill>
                      <a:srgbClr val="FFFFFF"/>
                    </a:solidFill>
                  </a:tcPr>
                </a:tc>
                <a:tc>
                  <a:txBody>
                    <a:bodyPr/>
                    <a:lstStyle/>
                    <a:p>
                      <a:pPr algn="l"/>
                      <a:r>
                        <a:rPr sz="1200" b="0" i="0">
                          <a:solidFill>
                            <a:srgbClr val="111B30"/>
                          </a:solidFill>
                          <a:latin typeface="Calibri"/>
                        </a:rPr>
                        <a:t>New-ADUser</a:t>
                      </a:r>
                    </a:p>
                  </a:txBody>
                  <a:tcPr anchor="ctr" marL="76200" marR="76200" marT="38100" marB="38100">
                    <a:solidFill>
                      <a:srgbClr val="FFFFFF"/>
                    </a:solidFill>
                  </a:tcPr>
                </a:tc>
              </a:tr>
              <a:tr h="457200">
                <a:tc>
                  <a:txBody>
                    <a:bodyPr/>
                    <a:lstStyle/>
                    <a:p>
                      <a:pPr algn="l"/>
                      <a:r>
                        <a:rPr sz="1200" b="0" i="0">
                          <a:solidFill>
                            <a:srgbClr val="111B30"/>
                          </a:solidFill>
                          <a:latin typeface="Calibri"/>
                        </a:rPr>
                        <a:t>Create an OU</a:t>
                      </a:r>
                    </a:p>
                  </a:txBody>
                  <a:tcPr anchor="ctr" marL="76200" marR="76200" marT="38100" marB="38100">
                    <a:solidFill>
                      <a:srgbClr val="E8EEF7"/>
                    </a:solidFill>
                  </a:tcPr>
                </a:tc>
                <a:tc>
                  <a:txBody>
                    <a:bodyPr/>
                    <a:lstStyle/>
                    <a:p>
                      <a:pPr algn="l"/>
                      <a:r>
                        <a:rPr sz="1200" b="0" i="0">
                          <a:solidFill>
                            <a:srgbClr val="111B30"/>
                          </a:solidFill>
                          <a:latin typeface="Calibri"/>
                        </a:rPr>
                        <a:t>New-ADOrganizationalUnit</a:t>
                      </a:r>
                    </a:p>
                  </a:txBody>
                  <a:tcPr anchor="ctr" marL="76200" marR="76200" marT="38100" marB="38100">
                    <a:solidFill>
                      <a:srgbClr val="E8EEF7"/>
                    </a:solidFill>
                  </a:tcPr>
                </a:tc>
              </a:tr>
              <a:tr h="457200">
                <a:tc>
                  <a:txBody>
                    <a:bodyPr/>
                    <a:lstStyle/>
                    <a:p>
                      <a:pPr algn="l"/>
                      <a:r>
                        <a:rPr sz="1200" b="0" i="0">
                          <a:solidFill>
                            <a:srgbClr val="111B30"/>
                          </a:solidFill>
                          <a:latin typeface="Calibri"/>
                        </a:rPr>
                        <a:t>Modify a user attribute</a:t>
                      </a:r>
                    </a:p>
                  </a:txBody>
                  <a:tcPr anchor="ctr" marL="76200" marR="76200" marT="38100" marB="38100">
                    <a:solidFill>
                      <a:srgbClr val="FFFFFF"/>
                    </a:solidFill>
                  </a:tcPr>
                </a:tc>
                <a:tc>
                  <a:txBody>
                    <a:bodyPr/>
                    <a:lstStyle/>
                    <a:p>
                      <a:pPr algn="l"/>
                      <a:r>
                        <a:rPr sz="1200" b="0" i="0">
                          <a:solidFill>
                            <a:srgbClr val="111B30"/>
                          </a:solidFill>
                          <a:latin typeface="Calibri"/>
                        </a:rPr>
                        <a:t>Set-ADUser -Description "..."</a:t>
                      </a:r>
                    </a:p>
                  </a:txBody>
                  <a:tcPr anchor="ctr" marL="76200" marR="76200" marT="38100" marB="38100">
                    <a:solidFill>
                      <a:srgbClr val="FFFFFF"/>
                    </a:solidFill>
                  </a:tcPr>
                </a:tc>
              </a:tr>
              <a:tr h="457200">
                <a:tc>
                  <a:txBody>
                    <a:bodyPr/>
                    <a:lstStyle/>
                    <a:p>
                      <a:pPr algn="l"/>
                      <a:r>
                        <a:rPr sz="1200" b="0" i="0">
                          <a:solidFill>
                            <a:srgbClr val="111B30"/>
                          </a:solidFill>
                          <a:latin typeface="Calibri"/>
                        </a:rPr>
                        <a:t>Move an object between OUs</a:t>
                      </a:r>
                    </a:p>
                  </a:txBody>
                  <a:tcPr anchor="ctr" marL="76200" marR="76200" marT="38100" marB="38100">
                    <a:solidFill>
                      <a:srgbClr val="E8EEF7"/>
                    </a:solidFill>
                  </a:tcPr>
                </a:tc>
                <a:tc>
                  <a:txBody>
                    <a:bodyPr/>
                    <a:lstStyle/>
                    <a:p>
                      <a:pPr algn="l"/>
                      <a:r>
                        <a:rPr sz="1200" b="0" i="0">
                          <a:solidFill>
                            <a:srgbClr val="111B30"/>
                          </a:solidFill>
                          <a:latin typeface="Calibri"/>
                        </a:rPr>
                        <a:t>Move-ADObject -TargetPath &lt;OU DN&gt;</a:t>
                      </a:r>
                    </a:p>
                  </a:txBody>
                  <a:tcPr anchor="ctr" marL="76200" marR="76200" marT="38100" marB="38100">
                    <a:solidFill>
                      <a:srgbClr val="E8EEF7"/>
                    </a:solidFill>
                  </a:tcPr>
                </a:tc>
              </a:tr>
              <a:tr h="457200">
                <a:tc>
                  <a:txBody>
                    <a:bodyPr/>
                    <a:lstStyle/>
                    <a:p>
                      <a:pPr algn="l"/>
                      <a:r>
                        <a:rPr sz="1200" b="0" i="0">
                          <a:solidFill>
                            <a:srgbClr val="111B30"/>
                          </a:solidFill>
                          <a:latin typeface="Calibri"/>
                        </a:rPr>
                        <a:t>Find stale/disabled accounts</a:t>
                      </a:r>
                    </a:p>
                  </a:txBody>
                  <a:tcPr anchor="ctr" marL="76200" marR="76200" marT="38100" marB="38100">
                    <a:solidFill>
                      <a:srgbClr val="FFFFFF"/>
                    </a:solidFill>
                  </a:tcPr>
                </a:tc>
                <a:tc>
                  <a:txBody>
                    <a:bodyPr/>
                    <a:lstStyle/>
                    <a:p>
                      <a:pPr algn="l"/>
                      <a:r>
                        <a:rPr sz="1200" b="0" i="0">
                          <a:solidFill>
                            <a:srgbClr val="111B30"/>
                          </a:solidFill>
                          <a:latin typeface="Calibri"/>
                        </a:rPr>
                        <a:t>Search-ADAccount -AccountInactive / -AccountDisabled</a:t>
                      </a:r>
                    </a:p>
                  </a:txBody>
                  <a:tcPr anchor="ctr" marL="76200" marR="76200" marT="38100" marB="38100">
                    <a:solidFill>
                      <a:srgbClr val="FFFFFF"/>
                    </a:solidFill>
                  </a:tcPr>
                </a:tc>
              </a:tr>
              <a:tr h="457200">
                <a:tc>
                  <a:txBody>
                    <a:bodyPr/>
                    <a:lstStyle/>
                    <a:p>
                      <a:pPr algn="l"/>
                      <a:r>
                        <a:rPr sz="1200" b="0" i="0">
                          <a:solidFill>
                            <a:srgbClr val="111B30"/>
                          </a:solidFill>
                          <a:latin typeface="Calibri"/>
                        </a:rPr>
                        <a:t>Add/remove group membership</a:t>
                      </a:r>
                    </a:p>
                  </a:txBody>
                  <a:tcPr anchor="ctr" marL="76200" marR="76200" marT="38100" marB="38100">
                    <a:solidFill>
                      <a:srgbClr val="E8EEF7"/>
                    </a:solidFill>
                  </a:tcPr>
                </a:tc>
                <a:tc>
                  <a:txBody>
                    <a:bodyPr/>
                    <a:lstStyle/>
                    <a:p>
                      <a:pPr algn="l"/>
                      <a:r>
                        <a:rPr sz="1200" b="0" i="0">
                          <a:solidFill>
                            <a:srgbClr val="111B30"/>
                          </a:solidFill>
                          <a:latin typeface="Calibri"/>
                        </a:rPr>
                        <a:t>Add-ADGroupMember, Remove-ADGroupMember</a:t>
                      </a:r>
                    </a:p>
                  </a:txBody>
                  <a:tcPr anchor="ctr" marL="76200" marR="76200" marT="38100" marB="38100">
                    <a:solidFill>
                      <a:srgbClr val="E8EEF7"/>
                    </a:solidFill>
                  </a:tcPr>
                </a:tc>
              </a:tr>
              <a:tr h="457200">
                <a:tc>
                  <a:txBody>
                    <a:bodyPr/>
                    <a:lstStyle/>
                    <a:p>
                      <a:pPr algn="l"/>
                      <a:r>
                        <a:rPr sz="1200" b="0" i="0">
                          <a:solidFill>
                            <a:srgbClr val="111B30"/>
                          </a:solidFill>
                          <a:latin typeface="Calibri"/>
                        </a:rPr>
                        <a:t>Check resultant password policy</a:t>
                      </a:r>
                    </a:p>
                  </a:txBody>
                  <a:tcPr anchor="ctr" marL="76200" marR="76200" marT="38100" marB="38100">
                    <a:solidFill>
                      <a:srgbClr val="FFFFFF"/>
                    </a:solidFill>
                  </a:tcPr>
                </a:tc>
                <a:tc>
                  <a:txBody>
                    <a:bodyPr/>
                    <a:lstStyle/>
                    <a:p>
                      <a:pPr algn="l"/>
                      <a:r>
                        <a:rPr sz="1200" b="0" i="0">
                          <a:solidFill>
                            <a:srgbClr val="111B30"/>
                          </a:solidFill>
                          <a:latin typeface="Calibri"/>
                        </a:rPr>
                        <a:t>Get-ADUserResultantPasswordPolicy</a:t>
                      </a:r>
                    </a:p>
                  </a:txBody>
                  <a:tcPr anchor="ctr" marL="76200" marR="76200" marT="38100" marB="38100">
                    <a:solidFill>
                      <a:srgbClr val="FFFF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Anatomy of an Audit Script's Pipeline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This is the shape of a stale-account audit script, generalized - you'll read this, not write it.</a:t>
            </a:r>
          </a:p>
        </p:txBody>
      </p:sp>
      <p:sp>
        <p:nvSpPr>
          <p:cNvPr id="4" name="Rounded Rectangle 3"/>
          <p:cNvSpPr/>
          <p:nvPr/>
        </p:nvSpPr>
        <p:spPr>
          <a:xfrm>
            <a:off x="914400" y="2103120"/>
            <a:ext cx="2286000" cy="11887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Get-ADUser -Filter</a:t>
            </a:r>
          </a:p>
          <a:p>
            <a:pPr algn="ctr"/>
            <a:r>
              <a:rPr sz="850" b="0" i="0">
                <a:solidFill>
                  <a:srgbClr val="111B30"/>
                </a:solidFill>
                <a:latin typeface="Calibri"/>
              </a:rPr>
              <a:t>{Enabled -eq $true}</a:t>
            </a:r>
          </a:p>
          <a:p>
            <a:pPr algn="ctr"/>
            <a:r>
              <a:rPr sz="850" b="0" i="0">
                <a:solidFill>
                  <a:srgbClr val="111B30"/>
                </a:solidFill>
                <a:latin typeface="Calibri"/>
              </a:rPr>
              <a:t>-Properties LastLogonDate,</a:t>
            </a:r>
          </a:p>
          <a:p>
            <a:pPr algn="ctr"/>
            <a:r>
              <a:rPr sz="850" b="0" i="0">
                <a:solidFill>
                  <a:srgbClr val="111B30"/>
                </a:solidFill>
                <a:latin typeface="Calibri"/>
              </a:rPr>
              <a:t>PasswordLastSet</a:t>
            </a:r>
          </a:p>
        </p:txBody>
      </p:sp>
      <p:sp>
        <p:nvSpPr>
          <p:cNvPr id="5" name="Rounded Rectangle 4"/>
          <p:cNvSpPr/>
          <p:nvPr/>
        </p:nvSpPr>
        <p:spPr>
          <a:xfrm>
            <a:off x="3596335" y="2103120"/>
            <a:ext cx="2286000" cy="11887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Where-Object</a:t>
            </a:r>
          </a:p>
          <a:p>
            <a:pPr algn="ctr"/>
            <a:r>
              <a:rPr sz="900" b="0" i="0">
                <a:solidFill>
                  <a:srgbClr val="111B30"/>
                </a:solidFill>
                <a:latin typeface="Calibri"/>
              </a:rPr>
              <a:t>{ stale OR</a:t>
            </a:r>
          </a:p>
          <a:p>
            <a:pPr algn="ctr"/>
            <a:r>
              <a:rPr sz="900" b="0" i="0">
                <a:solidFill>
                  <a:srgbClr val="111B30"/>
                </a:solidFill>
                <a:latin typeface="Calibri"/>
              </a:rPr>
              <a:t>expired-password }</a:t>
            </a:r>
          </a:p>
        </p:txBody>
      </p:sp>
      <p:sp>
        <p:nvSpPr>
          <p:cNvPr id="6" name="Rounded Rectangle 5"/>
          <p:cNvSpPr/>
          <p:nvPr/>
        </p:nvSpPr>
        <p:spPr>
          <a:xfrm>
            <a:off x="6278270" y="2103120"/>
            <a:ext cx="2286000" cy="11887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Select-Object</a:t>
            </a:r>
          </a:p>
          <a:p>
            <a:pPr algn="ctr"/>
            <a:r>
              <a:rPr sz="850" b="0" i="0">
                <a:solidFill>
                  <a:srgbClr val="111B30"/>
                </a:solidFill>
                <a:latin typeface="Calibri"/>
              </a:rPr>
              <a:t>SamAccountName,</a:t>
            </a:r>
          </a:p>
          <a:p>
            <a:pPr algn="ctr"/>
            <a:r>
              <a:rPr sz="850" b="0" i="0">
                <a:solidFill>
                  <a:srgbClr val="111B30"/>
                </a:solidFill>
                <a:latin typeface="Calibri"/>
              </a:rPr>
              <a:t>LastLogonDate, Reason</a:t>
            </a:r>
          </a:p>
        </p:txBody>
      </p:sp>
      <p:sp>
        <p:nvSpPr>
          <p:cNvPr id="7" name="Rounded Rectangle 6"/>
          <p:cNvSpPr/>
          <p:nvPr/>
        </p:nvSpPr>
        <p:spPr>
          <a:xfrm>
            <a:off x="8960205" y="2103120"/>
            <a:ext cx="2286000" cy="11887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Export-Csv</a:t>
            </a:r>
          </a:p>
          <a:p>
            <a:pPr algn="ctr"/>
            <a:r>
              <a:rPr sz="1000" b="0" i="0">
                <a:solidFill>
                  <a:srgbClr val="111B30"/>
                </a:solidFill>
                <a:latin typeface="Calibri"/>
              </a:rPr>
              <a:t>$OutputPath</a:t>
            </a:r>
          </a:p>
        </p:txBody>
      </p:sp>
      <p:cxnSp>
        <p:nvCxnSpPr>
          <p:cNvPr id="8" name="Connector 7"/>
          <p:cNvCxnSpPr/>
          <p:nvPr/>
        </p:nvCxnSpPr>
        <p:spPr>
          <a:xfrm>
            <a:off x="3200400" y="269747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882335" y="269747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564270" y="269747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14400" y="3749039"/>
            <a:ext cx="10332720" cy="822960"/>
          </a:xfrm>
          <a:prstGeom prst="roundRect">
            <a:avLst/>
          </a:prstGeom>
          <a:solidFill>
            <a:srgbClr val="E8EEF7"/>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Params: -Domain, -SearchBaseDN, -ExcludeList, -StaleDays (90), -PasswordDays (180), -OutputPath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Scheduling Scripts with Task Scheduler</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A scheduled task = Trigger (when) + Action (what) + Conditions/Settings (constraints)</a:t>
            </a:r>
          </a:p>
          <a:p>
            <a:pPr algn="l">
              <a:spcAft>
                <a:spcPts val="1200"/>
              </a:spcAft>
            </a:pPr>
            <a:r>
              <a:rPr sz="1600" b="0" i="0">
                <a:solidFill>
                  <a:srgbClr val="111B30"/>
                </a:solidFill>
                <a:latin typeface="Calibri"/>
              </a:rPr>
              <a:t>●   GUI: Task Scheduler (taskschd.msc); PowerShell: Register-ScheduledTask, New-ScheduledTaskTrigger, New-ScheduledTaskAction</a:t>
            </a:r>
          </a:p>
          <a:p>
            <a:pPr algn="l">
              <a:spcAft>
                <a:spcPts val="1200"/>
              </a:spcAft>
            </a:pPr>
            <a:r>
              <a:rPr sz="1600" b="0" i="0">
                <a:solidFill>
                  <a:srgbClr val="111B30"/>
                </a:solidFill>
                <a:latin typeface="Calibri"/>
              </a:rPr>
              <a:t>●   Run-as account matters: a task running as SYSTEM has different (usually broader) rights than one running as a service account</a:t>
            </a:r>
          </a:p>
          <a:p>
            <a:pPr algn="l">
              <a:spcAft>
                <a:spcPts val="1200"/>
              </a:spcAft>
            </a:pPr>
            <a:r>
              <a:rPr sz="1600" b="0" i="0">
                <a:solidFill>
                  <a:srgbClr val="111B30"/>
                </a:solidFill>
                <a:latin typeface="Calibri"/>
              </a:rPr>
              <a:t>●   Common admin use: nightly audit scripts, log rotation, backup kick-offs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PowerShell &amp; Scheduled Tasks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Attacks &amp; Defenses</a:t>
            </a:r>
          </a:p>
        </p:txBody>
      </p:sp>
      <p:graphicFrame>
        <p:nvGraphicFramePr>
          <p:cNvPr id="4" name="Table 3"/>
          <p:cNvGraphicFramePr>
            <a:graphicFrameLocks noGrp="1"/>
          </p:cNvGraphicFramePr>
          <p:nvPr/>
        </p:nvGraphicFramePr>
        <p:xfrm>
          <a:off x="640080" y="1828800"/>
          <a:ext cx="10911535" cy="2286000"/>
        </p:xfrm>
        <a:graphic>
          <a:graphicData uri="http://schemas.openxmlformats.org/drawingml/2006/table">
            <a:tbl>
              <a:tblPr firstRow="1" bandRow="1">
                <a:tableStyleId>{5C22544A-7EE6-4342-B048-85BDC9FD1C3A}</a:tableStyleId>
              </a:tblPr>
              <a:tblGrid>
                <a:gridCol w="3200400"/>
                <a:gridCol w="4572000"/>
                <a:gridCol w="3139135"/>
              </a:tblGrid>
              <a:tr h="457200">
                <a:tc>
                  <a:txBody>
                    <a:bodyPr/>
                    <a:lstStyle/>
                    <a:p>
                      <a:pPr algn="l"/>
                      <a:r>
                        <a:rPr sz="1250" b="1" i="0">
                          <a:solidFill>
                            <a:srgbClr val="FFFFFF"/>
                          </a:solidFill>
                          <a:latin typeface="Calibri"/>
                        </a:rPr>
                        <a:t>Attack</a:t>
                      </a:r>
                    </a:p>
                  </a:txBody>
                  <a:tcPr anchor="ctr" marL="76200" marR="76200" marT="38100" marB="38100">
                    <a:solidFill>
                      <a:srgbClr val="1B2A4A"/>
                    </a:solidFill>
                  </a:tcPr>
                </a:tc>
                <a:tc>
                  <a:txBody>
                    <a:bodyPr/>
                    <a:lstStyle/>
                    <a:p>
                      <a:pPr algn="l"/>
                      <a:r>
                        <a:rPr sz="1250" b="1" i="0">
                          <a:solidFill>
                            <a:srgbClr val="FFFFFF"/>
                          </a:solidFill>
                          <a:latin typeface="Calibri"/>
                        </a:rPr>
                        <a:t>How It Works</a:t>
                      </a:r>
                    </a:p>
                  </a:txBody>
                  <a:tcPr anchor="ctr" marL="76200" marR="76200" marT="38100" marB="38100">
                    <a:solidFill>
                      <a:srgbClr val="1B2A4A"/>
                    </a:solidFill>
                  </a:tcPr>
                </a:tc>
                <a:tc>
                  <a:txBody>
                    <a:bodyPr/>
                    <a:lstStyle/>
                    <a:p>
                      <a:pPr algn="l"/>
                      <a:r>
                        <a:rPr sz="1250" b="1" i="0">
                          <a:solidFill>
                            <a:srgbClr val="FFFFFF"/>
                          </a:solidFill>
                          <a:latin typeface="Calibri"/>
                        </a:rPr>
                        <a:t>Defense</a:t>
                      </a:r>
                    </a:p>
                  </a:txBody>
                  <a:tcPr anchor="ctr" marL="76200" marR="76200" marT="38100" marB="38100">
                    <a:solidFill>
                      <a:srgbClr val="1B2A4A"/>
                    </a:solidFill>
                  </a:tcPr>
                </a:tc>
              </a:tr>
              <a:tr h="457200">
                <a:tc>
                  <a:txBody>
                    <a:bodyPr/>
                    <a:lstStyle/>
                    <a:p>
                      <a:pPr algn="l"/>
                      <a:r>
                        <a:rPr sz="1200" b="1" i="0">
                          <a:solidFill>
                            <a:srgbClr val="B02A2A"/>
                          </a:solidFill>
                          <a:latin typeface="Calibri"/>
                        </a:rPr>
                        <a:t>"Living off the land" PowerShell</a:t>
                      </a:r>
                    </a:p>
                  </a:txBody>
                  <a:tcPr anchor="ctr" marL="76200" marR="76200" marT="38100" marB="38100">
                    <a:solidFill>
                      <a:srgbClr val="FFFFFF"/>
                    </a:solidFill>
                  </a:tcPr>
                </a:tc>
                <a:tc>
                  <a:txBody>
                    <a:bodyPr/>
                    <a:lstStyle/>
                    <a:p>
                      <a:pPr algn="l"/>
                      <a:r>
                        <a:rPr sz="1200" b="0" i="0">
                          <a:solidFill>
                            <a:srgbClr val="111B30"/>
                          </a:solidFill>
                          <a:latin typeface="Calibri"/>
                        </a:rPr>
                        <a:t>Attacker uses built-in PowerShell instead of dropping malware binaries, evading file-based AV</a:t>
                      </a:r>
                    </a:p>
                  </a:txBody>
                  <a:tcPr anchor="ctr" marL="76200" marR="76200" marT="38100" marB="38100">
                    <a:solidFill>
                      <a:srgbClr val="FFFFFF"/>
                    </a:solidFill>
                  </a:tcPr>
                </a:tc>
                <a:tc>
                  <a:txBody>
                    <a:bodyPr/>
                    <a:lstStyle/>
                    <a:p>
                      <a:pPr algn="l"/>
                      <a:r>
                        <a:rPr sz="1200" b="1" i="0">
                          <a:solidFill>
                            <a:srgbClr val="2E7D32"/>
                          </a:solidFill>
                          <a:latin typeface="Calibri"/>
                        </a:rPr>
                        <a:t>Script Block Logging, Constrained Language Mode, AMSI integration</a:t>
                      </a:r>
                    </a:p>
                  </a:txBody>
                  <a:tcPr anchor="ctr" marL="76200" marR="76200" marT="38100" marB="38100">
                    <a:solidFill>
                      <a:srgbClr val="FFFFFF"/>
                    </a:solidFill>
                  </a:tcPr>
                </a:tc>
              </a:tr>
              <a:tr h="457200">
                <a:tc>
                  <a:txBody>
                    <a:bodyPr/>
                    <a:lstStyle/>
                    <a:p>
                      <a:pPr algn="l"/>
                      <a:r>
                        <a:rPr sz="1200" b="1" i="0">
                          <a:solidFill>
                            <a:srgbClr val="B02A2A"/>
                          </a:solidFill>
                          <a:latin typeface="Calibri"/>
                        </a:rPr>
                        <a:t>Obfuscated/encoded commands</a:t>
                      </a:r>
                    </a:p>
                  </a:txBody>
                  <a:tcPr anchor="ctr" marL="76200" marR="76200" marT="38100" marB="38100">
                    <a:solidFill>
                      <a:srgbClr val="E8EEF7"/>
                    </a:solidFill>
                  </a:tcPr>
                </a:tc>
                <a:tc>
                  <a:txBody>
                    <a:bodyPr/>
                    <a:lstStyle/>
                    <a:p>
                      <a:pPr algn="l"/>
                      <a:r>
                        <a:rPr sz="1200" b="0" i="0">
                          <a:solidFill>
                            <a:srgbClr val="111B30"/>
                          </a:solidFill>
                          <a:latin typeface="Calibri"/>
                        </a:rPr>
                        <a:t>-EncodedCommand or string obfuscation hides malicious intent from casual log review</a:t>
                      </a:r>
                    </a:p>
                  </a:txBody>
                  <a:tcPr anchor="ctr" marL="76200" marR="76200" marT="38100" marB="38100">
                    <a:solidFill>
                      <a:srgbClr val="E8EEF7"/>
                    </a:solidFill>
                  </a:tcPr>
                </a:tc>
                <a:tc>
                  <a:txBody>
                    <a:bodyPr/>
                    <a:lstStyle/>
                    <a:p>
                      <a:pPr algn="l"/>
                      <a:r>
                        <a:rPr sz="1200" b="1" i="0">
                          <a:solidFill>
                            <a:srgbClr val="2E7D32"/>
                          </a:solidFill>
                          <a:latin typeface="Calibri"/>
                        </a:rPr>
                        <a:t>Enable and review PowerShell transcription logging</a:t>
                      </a:r>
                    </a:p>
                  </a:txBody>
                  <a:tcPr anchor="ctr" marL="76200" marR="76200" marT="38100" marB="38100">
                    <a:solidFill>
                      <a:srgbClr val="E8EEF7"/>
                    </a:solidFill>
                  </a:tcPr>
                </a:tc>
              </a:tr>
              <a:tr h="457200">
                <a:tc>
                  <a:txBody>
                    <a:bodyPr/>
                    <a:lstStyle/>
                    <a:p>
                      <a:pPr algn="l"/>
                      <a:r>
                        <a:rPr sz="1200" b="1" i="0">
                          <a:solidFill>
                            <a:srgbClr val="B02A2A"/>
                          </a:solidFill>
                          <a:latin typeface="Calibri"/>
                        </a:rPr>
                        <a:t>Malicious scheduled task for persistence</a:t>
                      </a:r>
                    </a:p>
                  </a:txBody>
                  <a:tcPr anchor="ctr" marL="76200" marR="76200" marT="38100" marB="38100">
                    <a:solidFill>
                      <a:srgbClr val="FFFFFF"/>
                    </a:solidFill>
                  </a:tcPr>
                </a:tc>
                <a:tc>
                  <a:txBody>
                    <a:bodyPr/>
                    <a:lstStyle/>
                    <a:p>
                      <a:pPr algn="l"/>
                      <a:r>
                        <a:rPr sz="1200" b="0" i="0">
                          <a:solidFill>
                            <a:srgbClr val="111B30"/>
                          </a:solidFill>
                          <a:latin typeface="Calibri"/>
                        </a:rPr>
                        <a:t>Attacker registers a task to re-run a payload after reboot/logon</a:t>
                      </a:r>
                    </a:p>
                  </a:txBody>
                  <a:tcPr anchor="ctr" marL="76200" marR="76200" marT="38100" marB="38100">
                    <a:solidFill>
                      <a:srgbClr val="FFFFFF"/>
                    </a:solidFill>
                  </a:tcPr>
                </a:tc>
                <a:tc>
                  <a:txBody>
                    <a:bodyPr/>
                    <a:lstStyle/>
                    <a:p>
                      <a:pPr algn="l"/>
                      <a:r>
                        <a:rPr sz="1200" b="1" i="0">
                          <a:solidFill>
                            <a:srgbClr val="2E7D32"/>
                          </a:solidFill>
                          <a:latin typeface="Calibri"/>
                        </a:rPr>
                        <a:t>Audit new scheduled task creation (Event ID 4698); least-privilege run-as accounts</a:t>
                      </a:r>
                    </a:p>
                  </a:txBody>
                  <a:tcPr anchor="ctr" marL="76200" marR="76200" marT="38100" marB="38100">
                    <a:solidFill>
                      <a:srgbClr val="FFFFFF"/>
                    </a:solidFill>
                  </a:tcPr>
                </a:tc>
              </a:tr>
              <a:tr h="457200">
                <a:tc>
                  <a:txBody>
                    <a:bodyPr/>
                    <a:lstStyle/>
                    <a:p>
                      <a:pPr algn="l"/>
                      <a:r>
                        <a:rPr sz="1200" b="1" i="0">
                          <a:solidFill>
                            <a:srgbClr val="B02A2A"/>
                          </a:solidFill>
                          <a:latin typeface="Calibri"/>
                        </a:rPr>
                        <a:t>Overly-privileged automation account</a:t>
                      </a:r>
                    </a:p>
                  </a:txBody>
                  <a:tcPr anchor="ctr" marL="76200" marR="76200" marT="38100" marB="38100">
                    <a:solidFill>
                      <a:srgbClr val="E8EEF7"/>
                    </a:solidFill>
                  </a:tcPr>
                </a:tc>
                <a:tc>
                  <a:txBody>
                    <a:bodyPr/>
                    <a:lstStyle/>
                    <a:p>
                      <a:pPr algn="l"/>
                      <a:r>
                        <a:rPr sz="1200" b="0" i="0">
                          <a:solidFill>
                            <a:srgbClr val="111B30"/>
                          </a:solidFill>
                          <a:latin typeface="Calibri"/>
                        </a:rPr>
                        <a:t>A scheduled task's service account has far more rights than the task needs</a:t>
                      </a:r>
                    </a:p>
                  </a:txBody>
                  <a:tcPr anchor="ctr" marL="76200" marR="76200" marT="38100" marB="38100">
                    <a:solidFill>
                      <a:srgbClr val="E8EEF7"/>
                    </a:solidFill>
                  </a:tcPr>
                </a:tc>
                <a:tc>
                  <a:txBody>
                    <a:bodyPr/>
                    <a:lstStyle/>
                    <a:p>
                      <a:pPr algn="l"/>
                      <a:r>
                        <a:rPr sz="1200" b="1" i="0">
                          <a:solidFill>
                            <a:srgbClr val="2E7D32"/>
                          </a:solidFill>
                          <a:latin typeface="Calibri"/>
                        </a:rPr>
                        <a:t>Scope run-as account to only what the task requires</a:t>
                      </a:r>
                    </a:p>
                  </a:txBody>
                  <a:tcPr anchor="ctr" marL="76200" marR="76200" marT="38100" marB="38100">
                    <a:solidFill>
                      <a:srgbClr val="E8EEF7"/>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05</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Patching, Replication &amp; Backup: WSUS, DFS &amp; VSS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WSUS Architecture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Centralizes patch approval/distribution instead of every machine hitting Microsoft directly.</a:t>
            </a:r>
          </a:p>
        </p:txBody>
      </p:sp>
      <p:sp>
        <p:nvSpPr>
          <p:cNvPr id="4" name="Rounded Rectangle 3"/>
          <p:cNvSpPr/>
          <p:nvPr/>
        </p:nvSpPr>
        <p:spPr>
          <a:xfrm>
            <a:off x="4480560" y="1920240"/>
            <a:ext cx="320040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Microsoft Update (Internet)</a:t>
            </a:r>
          </a:p>
        </p:txBody>
      </p:sp>
      <p:sp>
        <p:nvSpPr>
          <p:cNvPr id="5" name="Rounded Rectangle 4"/>
          <p:cNvSpPr/>
          <p:nvPr/>
        </p:nvSpPr>
        <p:spPr>
          <a:xfrm>
            <a:off x="4480560" y="2788920"/>
            <a:ext cx="320040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Upstream WSUS Server</a:t>
            </a:r>
          </a:p>
        </p:txBody>
      </p:sp>
      <p:sp>
        <p:nvSpPr>
          <p:cNvPr id="6" name="Rounded Rectangle 5"/>
          <p:cNvSpPr/>
          <p:nvPr/>
        </p:nvSpPr>
        <p:spPr>
          <a:xfrm>
            <a:off x="1828800" y="3657600"/>
            <a:ext cx="329184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Downstream WSUS</a:t>
            </a:r>
          </a:p>
          <a:p>
            <a:pPr algn="ctr"/>
            <a:r>
              <a:rPr sz="950" b="0" i="0">
                <a:solidFill>
                  <a:srgbClr val="111B30"/>
                </a:solidFill>
                <a:latin typeface="Calibri"/>
              </a:rPr>
              <a:t>(Autonomous mode)</a:t>
            </a:r>
          </a:p>
        </p:txBody>
      </p:sp>
      <p:sp>
        <p:nvSpPr>
          <p:cNvPr id="7" name="Rounded Rectangle 6"/>
          <p:cNvSpPr/>
          <p:nvPr/>
        </p:nvSpPr>
        <p:spPr>
          <a:xfrm>
            <a:off x="7040880" y="3657600"/>
            <a:ext cx="329184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Downstream WSUS</a:t>
            </a:r>
          </a:p>
          <a:p>
            <a:pPr algn="ctr"/>
            <a:r>
              <a:rPr sz="950" b="0" i="0">
                <a:solidFill>
                  <a:srgbClr val="111B30"/>
                </a:solidFill>
                <a:latin typeface="Calibri"/>
              </a:rPr>
              <a:t>(Replica mode)</a:t>
            </a:r>
          </a:p>
        </p:txBody>
      </p:sp>
      <p:sp>
        <p:nvSpPr>
          <p:cNvPr id="8" name="Rounded Rectangle 7"/>
          <p:cNvSpPr/>
          <p:nvPr/>
        </p:nvSpPr>
        <p:spPr>
          <a:xfrm>
            <a:off x="1188720" y="4617720"/>
            <a:ext cx="1371600" cy="5029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Client Group A</a:t>
            </a:r>
          </a:p>
        </p:txBody>
      </p:sp>
      <p:sp>
        <p:nvSpPr>
          <p:cNvPr id="9" name="Rounded Rectangle 8"/>
          <p:cNvSpPr/>
          <p:nvPr/>
        </p:nvSpPr>
        <p:spPr>
          <a:xfrm>
            <a:off x="2743200" y="4617720"/>
            <a:ext cx="1371600" cy="5029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Client Group B</a:t>
            </a:r>
          </a:p>
        </p:txBody>
      </p:sp>
      <p:sp>
        <p:nvSpPr>
          <p:cNvPr id="10" name="Rounded Rectangle 9"/>
          <p:cNvSpPr/>
          <p:nvPr/>
        </p:nvSpPr>
        <p:spPr>
          <a:xfrm>
            <a:off x="7315200" y="4617720"/>
            <a:ext cx="1371600" cy="5029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Client Group C</a:t>
            </a:r>
          </a:p>
        </p:txBody>
      </p:sp>
      <p:sp>
        <p:nvSpPr>
          <p:cNvPr id="11" name="Rounded Rectangle 10"/>
          <p:cNvSpPr/>
          <p:nvPr/>
        </p:nvSpPr>
        <p:spPr>
          <a:xfrm>
            <a:off x="8869680" y="4617720"/>
            <a:ext cx="1371600" cy="5029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Client Group D</a:t>
            </a:r>
          </a:p>
        </p:txBody>
      </p:sp>
      <p:cxnSp>
        <p:nvCxnSpPr>
          <p:cNvPr id="12" name="Connector 11"/>
          <p:cNvCxnSpPr/>
          <p:nvPr/>
        </p:nvCxnSpPr>
        <p:spPr>
          <a:xfrm>
            <a:off x="6080760" y="2468880"/>
            <a:ext cx="0" cy="3200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3474720" y="3337560"/>
            <a:ext cx="2606040" cy="3200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080760" y="3337560"/>
            <a:ext cx="2606040" cy="3200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1874519" y="4297680"/>
            <a:ext cx="1600201" cy="3200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3429000" y="4297680"/>
            <a:ext cx="45720" cy="3200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8001000" y="4297680"/>
            <a:ext cx="685800" cy="3200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686800" y="4297680"/>
            <a:ext cx="868680" cy="3200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WSUS Configuration Essentials</a:t>
            </a:r>
          </a:p>
        </p:txBody>
      </p:sp>
      <p:graphicFrame>
        <p:nvGraphicFramePr>
          <p:cNvPr id="3" name="Table 2"/>
          <p:cNvGraphicFramePr>
            <a:graphicFrameLocks noGrp="1"/>
          </p:cNvGraphicFramePr>
          <p:nvPr/>
        </p:nvGraphicFramePr>
        <p:xfrm>
          <a:off x="640080" y="1554480"/>
          <a:ext cx="10362895" cy="2743200"/>
        </p:xfrm>
        <a:graphic>
          <a:graphicData uri="http://schemas.openxmlformats.org/drawingml/2006/table">
            <a:tbl>
              <a:tblPr firstRow="1" bandRow="1">
                <a:tableStyleId>{5C22544A-7EE6-4342-B048-85BDC9FD1C3A}</a:tableStyleId>
              </a:tblPr>
              <a:tblGrid>
                <a:gridCol w="3200400"/>
                <a:gridCol w="7162495"/>
              </a:tblGrid>
              <a:tr h="457200">
                <a:tc>
                  <a:txBody>
                    <a:bodyPr/>
                    <a:lstStyle/>
                    <a:p>
                      <a:pPr algn="l"/>
                      <a:r>
                        <a:rPr sz="1250" b="1" i="0">
                          <a:solidFill>
                            <a:srgbClr val="FFFFFF"/>
                          </a:solidFill>
                          <a:latin typeface="Calibri"/>
                        </a:rPr>
                        <a:t>Concept</a:t>
                      </a:r>
                    </a:p>
                  </a:txBody>
                  <a:tcPr anchor="ctr" marL="76200" marR="76200" marT="38100" marB="38100">
                    <a:solidFill>
                      <a:srgbClr val="1B2A4A"/>
                    </a:solidFill>
                  </a:tcPr>
                </a:tc>
                <a:tc>
                  <a:txBody>
                    <a:bodyPr/>
                    <a:lstStyle/>
                    <a:p>
                      <a:pPr algn="l"/>
                      <a:r>
                        <a:rPr sz="1250" b="1" i="0">
                          <a:solidFill>
                            <a:srgbClr val="FFFFFF"/>
                          </a:solidFill>
                          <a:latin typeface="Calibri"/>
                        </a:rPr>
                        <a:t>What It Controls</a:t>
                      </a:r>
                    </a:p>
                  </a:txBody>
                  <a:tcPr anchor="ctr" marL="76200" marR="76200" marT="38100" marB="38100">
                    <a:solidFill>
                      <a:srgbClr val="1B2A4A"/>
                    </a:solidFill>
                  </a:tcPr>
                </a:tc>
              </a:tr>
              <a:tr h="457200">
                <a:tc>
                  <a:txBody>
                    <a:bodyPr/>
                    <a:lstStyle/>
                    <a:p>
                      <a:pPr algn="l"/>
                      <a:r>
                        <a:rPr sz="1250" b="0" i="0">
                          <a:solidFill>
                            <a:srgbClr val="111B30"/>
                          </a:solidFill>
                          <a:latin typeface="Calibri"/>
                        </a:rPr>
                        <a:t>Products</a:t>
                      </a:r>
                    </a:p>
                  </a:txBody>
                  <a:tcPr anchor="ctr" marL="76200" marR="76200" marT="38100" marB="38100">
                    <a:solidFill>
                      <a:srgbClr val="FFFFFF"/>
                    </a:solidFill>
                  </a:tcPr>
                </a:tc>
                <a:tc>
                  <a:txBody>
                    <a:bodyPr/>
                    <a:lstStyle/>
                    <a:p>
                      <a:pPr algn="l"/>
                      <a:r>
                        <a:rPr sz="1250" b="0" i="0">
                          <a:solidFill>
                            <a:srgbClr val="111B30"/>
                          </a:solidFill>
                          <a:latin typeface="Calibri"/>
                        </a:rPr>
                        <a:t>Which OS/software families WSUS synchronizes updates for</a:t>
                      </a:r>
                    </a:p>
                  </a:txBody>
                  <a:tcPr anchor="ctr" marL="76200" marR="76200" marT="38100" marB="38100">
                    <a:solidFill>
                      <a:srgbClr val="FFFFFF"/>
                    </a:solidFill>
                  </a:tcPr>
                </a:tc>
              </a:tr>
              <a:tr h="457200">
                <a:tc>
                  <a:txBody>
                    <a:bodyPr/>
                    <a:lstStyle/>
                    <a:p>
                      <a:pPr algn="l"/>
                      <a:r>
                        <a:rPr sz="1250" b="0" i="0">
                          <a:solidFill>
                            <a:srgbClr val="111B30"/>
                          </a:solidFill>
                          <a:latin typeface="Calibri"/>
                        </a:rPr>
                        <a:t>Classifications</a:t>
                      </a:r>
                    </a:p>
                  </a:txBody>
                  <a:tcPr anchor="ctr" marL="76200" marR="76200" marT="38100" marB="38100">
                    <a:solidFill>
                      <a:srgbClr val="E8EEF7"/>
                    </a:solidFill>
                  </a:tcPr>
                </a:tc>
                <a:tc>
                  <a:txBody>
                    <a:bodyPr/>
                    <a:lstStyle/>
                    <a:p>
                      <a:pPr algn="l"/>
                      <a:r>
                        <a:rPr sz="1250" b="0" i="0">
                          <a:solidFill>
                            <a:srgbClr val="111B30"/>
                          </a:solidFill>
                          <a:latin typeface="Calibri"/>
                        </a:rPr>
                        <a:t>Update types synced (Critical, Security, Feature, Drivers, etc.)</a:t>
                      </a:r>
                    </a:p>
                  </a:txBody>
                  <a:tcPr anchor="ctr" marL="76200" marR="76200" marT="38100" marB="38100">
                    <a:solidFill>
                      <a:srgbClr val="E8EEF7"/>
                    </a:solidFill>
                  </a:tcPr>
                </a:tc>
              </a:tr>
              <a:tr h="457200">
                <a:tc>
                  <a:txBody>
                    <a:bodyPr/>
                    <a:lstStyle/>
                    <a:p>
                      <a:pPr algn="l"/>
                      <a:r>
                        <a:rPr sz="1250" b="0" i="0">
                          <a:solidFill>
                            <a:srgbClr val="111B30"/>
                          </a:solidFill>
                          <a:latin typeface="Calibri"/>
                        </a:rPr>
                        <a:t>Computer Groups</a:t>
                      </a:r>
                    </a:p>
                  </a:txBody>
                  <a:tcPr anchor="ctr" marL="76200" marR="76200" marT="38100" marB="38100">
                    <a:solidFill>
                      <a:srgbClr val="FFFFFF"/>
                    </a:solidFill>
                  </a:tcPr>
                </a:tc>
                <a:tc>
                  <a:txBody>
                    <a:bodyPr/>
                    <a:lstStyle/>
                    <a:p>
                      <a:pPr algn="l"/>
                      <a:r>
                        <a:rPr sz="1250" b="0" i="0">
                          <a:solidFill>
                            <a:srgbClr val="111B30"/>
                          </a:solidFill>
                          <a:latin typeface="Calibri"/>
                        </a:rPr>
                        <a:t>Targeting - which machines get which approved updates, tied to GPO</a:t>
                      </a:r>
                    </a:p>
                  </a:txBody>
                  <a:tcPr anchor="ctr" marL="76200" marR="76200" marT="38100" marB="38100">
                    <a:solidFill>
                      <a:srgbClr val="FFFFFF"/>
                    </a:solidFill>
                  </a:tcPr>
                </a:tc>
              </a:tr>
              <a:tr h="457200">
                <a:tc>
                  <a:txBody>
                    <a:bodyPr/>
                    <a:lstStyle/>
                    <a:p>
                      <a:pPr algn="l"/>
                      <a:r>
                        <a:rPr sz="1250" b="0" i="0">
                          <a:solidFill>
                            <a:srgbClr val="111B30"/>
                          </a:solidFill>
                          <a:latin typeface="Calibri"/>
                        </a:rPr>
                        <a:t>Approval workflow</a:t>
                      </a:r>
                    </a:p>
                  </a:txBody>
                  <a:tcPr anchor="ctr" marL="76200" marR="76200" marT="38100" marB="38100">
                    <a:solidFill>
                      <a:srgbClr val="E8EEF7"/>
                    </a:solidFill>
                  </a:tcPr>
                </a:tc>
                <a:tc>
                  <a:txBody>
                    <a:bodyPr/>
                    <a:lstStyle/>
                    <a:p>
                      <a:pPr algn="l"/>
                      <a:r>
                        <a:rPr sz="1250" b="0" i="0">
                          <a:solidFill>
                            <a:srgbClr val="111B30"/>
                          </a:solidFill>
                          <a:latin typeface="Calibri"/>
                        </a:rPr>
                        <a:t>Updates don't deploy until approved for a target group (test group first)</a:t>
                      </a:r>
                    </a:p>
                  </a:txBody>
                  <a:tcPr anchor="ctr" marL="76200" marR="76200" marT="38100" marB="38100">
                    <a:solidFill>
                      <a:srgbClr val="E8EEF7"/>
                    </a:solidFill>
                  </a:tcPr>
                </a:tc>
              </a:tr>
              <a:tr h="457200">
                <a:tc>
                  <a:txBody>
                    <a:bodyPr/>
                    <a:lstStyle/>
                    <a:p>
                      <a:pPr algn="l"/>
                      <a:r>
                        <a:rPr sz="1250" b="0" i="0">
                          <a:solidFill>
                            <a:srgbClr val="111B30"/>
                          </a:solidFill>
                          <a:latin typeface="Calibri"/>
                        </a:rPr>
                        <a:t>Auto-approval rules</a:t>
                      </a:r>
                    </a:p>
                  </a:txBody>
                  <a:tcPr anchor="ctr" marL="76200" marR="76200" marT="38100" marB="38100">
                    <a:solidFill>
                      <a:srgbClr val="FFFFFF"/>
                    </a:solidFill>
                  </a:tcPr>
                </a:tc>
                <a:tc>
                  <a:txBody>
                    <a:bodyPr/>
                    <a:lstStyle/>
                    <a:p>
                      <a:pPr algn="l"/>
                      <a:r>
                        <a:rPr sz="1250" b="0" i="0">
                          <a:solidFill>
                            <a:srgbClr val="111B30"/>
                          </a:solidFill>
                          <a:latin typeface="Calibri"/>
                        </a:rPr>
                        <a:t>Optional automation for low-risk classifications (e.g. Critical + Security)</a:t>
                      </a:r>
                    </a:p>
                  </a:txBody>
                  <a:tcPr anchor="ctr" marL="76200" marR="76200" marT="38100" marB="38100">
                    <a:solidFill>
                      <a:srgbClr val="FFFF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WSUS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Attacks &amp; Defenses</a:t>
            </a:r>
          </a:p>
        </p:txBody>
      </p:sp>
      <p:graphicFrame>
        <p:nvGraphicFramePr>
          <p:cNvPr id="4" name="Table 3"/>
          <p:cNvGraphicFramePr>
            <a:graphicFrameLocks noGrp="1"/>
          </p:cNvGraphicFramePr>
          <p:nvPr/>
        </p:nvGraphicFramePr>
        <p:xfrm>
          <a:off x="640080" y="1828800"/>
          <a:ext cx="10911535" cy="2286000"/>
        </p:xfrm>
        <a:graphic>
          <a:graphicData uri="http://schemas.openxmlformats.org/drawingml/2006/table">
            <a:tbl>
              <a:tblPr firstRow="1" bandRow="1">
                <a:tableStyleId>{5C22544A-7EE6-4342-B048-85BDC9FD1C3A}</a:tableStyleId>
              </a:tblPr>
              <a:tblGrid>
                <a:gridCol w="3200400"/>
                <a:gridCol w="4572000"/>
                <a:gridCol w="3139135"/>
              </a:tblGrid>
              <a:tr h="457200">
                <a:tc>
                  <a:txBody>
                    <a:bodyPr/>
                    <a:lstStyle/>
                    <a:p>
                      <a:pPr algn="l"/>
                      <a:r>
                        <a:rPr sz="1250" b="1" i="0">
                          <a:solidFill>
                            <a:srgbClr val="FFFFFF"/>
                          </a:solidFill>
                          <a:latin typeface="Calibri"/>
                        </a:rPr>
                        <a:t>Attack</a:t>
                      </a:r>
                    </a:p>
                  </a:txBody>
                  <a:tcPr anchor="ctr" marL="76200" marR="76200" marT="38100" marB="38100">
                    <a:solidFill>
                      <a:srgbClr val="1B2A4A"/>
                    </a:solidFill>
                  </a:tcPr>
                </a:tc>
                <a:tc>
                  <a:txBody>
                    <a:bodyPr/>
                    <a:lstStyle/>
                    <a:p>
                      <a:pPr algn="l"/>
                      <a:r>
                        <a:rPr sz="1250" b="1" i="0">
                          <a:solidFill>
                            <a:srgbClr val="FFFFFF"/>
                          </a:solidFill>
                          <a:latin typeface="Calibri"/>
                        </a:rPr>
                        <a:t>How It Works</a:t>
                      </a:r>
                    </a:p>
                  </a:txBody>
                  <a:tcPr anchor="ctr" marL="76200" marR="76200" marT="38100" marB="38100">
                    <a:solidFill>
                      <a:srgbClr val="1B2A4A"/>
                    </a:solidFill>
                  </a:tcPr>
                </a:tc>
                <a:tc>
                  <a:txBody>
                    <a:bodyPr/>
                    <a:lstStyle/>
                    <a:p>
                      <a:pPr algn="l"/>
                      <a:r>
                        <a:rPr sz="1250" b="1" i="0">
                          <a:solidFill>
                            <a:srgbClr val="FFFFFF"/>
                          </a:solidFill>
                          <a:latin typeface="Calibri"/>
                        </a:rPr>
                        <a:t>Defense</a:t>
                      </a:r>
                    </a:p>
                  </a:txBody>
                  <a:tcPr anchor="ctr" marL="76200" marR="76200" marT="38100" marB="38100">
                    <a:solidFill>
                      <a:srgbClr val="1B2A4A"/>
                    </a:solidFill>
                  </a:tcPr>
                </a:tc>
              </a:tr>
              <a:tr h="457200">
                <a:tc>
                  <a:txBody>
                    <a:bodyPr/>
                    <a:lstStyle/>
                    <a:p>
                      <a:pPr algn="l"/>
                      <a:r>
                        <a:rPr sz="1200" b="1" i="0">
                          <a:solidFill>
                            <a:srgbClr val="B02A2A"/>
                          </a:solidFill>
                          <a:latin typeface="Calibri"/>
                        </a:rPr>
                        <a:t>Unsigned/HTTP WSUS MITM</a:t>
                      </a:r>
                    </a:p>
                  </a:txBody>
                  <a:tcPr anchor="ctr" marL="76200" marR="76200" marT="38100" marB="38100">
                    <a:solidFill>
                      <a:srgbClr val="FFFFFF"/>
                    </a:solidFill>
                  </a:tcPr>
                </a:tc>
                <a:tc>
                  <a:txBody>
                    <a:bodyPr/>
                    <a:lstStyle/>
                    <a:p>
                      <a:pPr algn="l"/>
                      <a:r>
                        <a:rPr sz="1200" b="0" i="0">
                          <a:solidFill>
                            <a:srgbClr val="111B30"/>
                          </a:solidFill>
                          <a:latin typeface="Calibri"/>
                        </a:rPr>
                        <a:t>WSUS traffic over plain HTTP allows an attacker on-path to inject a malicious “update”</a:t>
                      </a:r>
                    </a:p>
                  </a:txBody>
                  <a:tcPr anchor="ctr" marL="76200" marR="76200" marT="38100" marB="38100">
                    <a:solidFill>
                      <a:srgbClr val="FFFFFF"/>
                    </a:solidFill>
                  </a:tcPr>
                </a:tc>
                <a:tc>
                  <a:txBody>
                    <a:bodyPr/>
                    <a:lstStyle/>
                    <a:p>
                      <a:pPr algn="l"/>
                      <a:r>
                        <a:rPr sz="1200" b="1" i="0">
                          <a:solidFill>
                            <a:srgbClr val="2E7D32"/>
                          </a:solidFill>
                          <a:latin typeface="Calibri"/>
                        </a:rPr>
                        <a:t>Configure WSUS over HTTPS (SSL binding)</a:t>
                      </a:r>
                    </a:p>
                  </a:txBody>
                  <a:tcPr anchor="ctr" marL="76200" marR="76200" marT="38100" marB="38100">
                    <a:solidFill>
                      <a:srgbClr val="FFFFFF"/>
                    </a:solidFill>
                  </a:tcPr>
                </a:tc>
              </a:tr>
              <a:tr h="457200">
                <a:tc>
                  <a:txBody>
                    <a:bodyPr/>
                    <a:lstStyle/>
                    <a:p>
                      <a:pPr algn="l"/>
                      <a:r>
                        <a:rPr sz="1200" b="1" i="0">
                          <a:solidFill>
                            <a:srgbClr val="B02A2A"/>
                          </a:solidFill>
                          <a:latin typeface="Calibri"/>
                        </a:rPr>
                        <a:t>Fake update injection</a:t>
                      </a:r>
                    </a:p>
                  </a:txBody>
                  <a:tcPr anchor="ctr" marL="76200" marR="76200" marT="38100" marB="38100">
                    <a:solidFill>
                      <a:srgbClr val="E8EEF7"/>
                    </a:solidFill>
                  </a:tcPr>
                </a:tc>
                <a:tc>
                  <a:txBody>
                    <a:bodyPr/>
                    <a:lstStyle/>
                    <a:p>
                      <a:pPr algn="l"/>
                      <a:r>
                        <a:rPr sz="1200" b="0" i="0">
                          <a:solidFill>
                            <a:srgbClr val="111B30"/>
                          </a:solidFill>
                          <a:latin typeface="Calibri"/>
                        </a:rPr>
                        <a:t>Attacker with WSUS server access approves a malicious package as a trusted update</a:t>
                      </a:r>
                    </a:p>
                  </a:txBody>
                  <a:tcPr anchor="ctr" marL="76200" marR="76200" marT="38100" marB="38100">
                    <a:solidFill>
                      <a:srgbClr val="E8EEF7"/>
                    </a:solidFill>
                  </a:tcPr>
                </a:tc>
                <a:tc>
                  <a:txBody>
                    <a:bodyPr/>
                    <a:lstStyle/>
                    <a:p>
                      <a:pPr algn="l"/>
                      <a:r>
                        <a:rPr sz="1200" b="1" i="0">
                          <a:solidFill>
                            <a:srgbClr val="2E7D32"/>
                          </a:solidFill>
                          <a:latin typeface="Calibri"/>
                        </a:rPr>
                        <a:t>Restrict WSUS admin rights; monitor approval activity</a:t>
                      </a:r>
                    </a:p>
                  </a:txBody>
                  <a:tcPr anchor="ctr" marL="76200" marR="76200" marT="38100" marB="38100">
                    <a:solidFill>
                      <a:srgbClr val="E8EEF7"/>
                    </a:solidFill>
                  </a:tcPr>
                </a:tc>
              </a:tr>
              <a:tr h="457200">
                <a:tc>
                  <a:txBody>
                    <a:bodyPr/>
                    <a:lstStyle/>
                    <a:p>
                      <a:pPr algn="l"/>
                      <a:r>
                        <a:rPr sz="1200" b="1" i="0">
                          <a:solidFill>
                            <a:srgbClr val="B02A2A"/>
                          </a:solidFill>
                          <a:latin typeface="Calibri"/>
                        </a:rPr>
                        <a:t>Client trusts WSUS implicitly</a:t>
                      </a:r>
                    </a:p>
                  </a:txBody>
                  <a:tcPr anchor="ctr" marL="76200" marR="76200" marT="38100" marB="38100">
                    <a:solidFill>
                      <a:srgbClr val="FFFFFF"/>
                    </a:solidFill>
                  </a:tcPr>
                </a:tc>
                <a:tc>
                  <a:txBody>
                    <a:bodyPr/>
                    <a:lstStyle/>
                    <a:p>
                      <a:pPr algn="l"/>
                      <a:r>
                        <a:rPr sz="1200" b="0" i="0">
                          <a:solidFill>
                            <a:srgbClr val="111B30"/>
                          </a:solidFill>
                          <a:latin typeface="Calibri"/>
                        </a:rPr>
                        <a:t>Domain-joined clients are configured via GPO to trust their WSUS server by default</a:t>
                      </a:r>
                    </a:p>
                  </a:txBody>
                  <a:tcPr anchor="ctr" marL="76200" marR="76200" marT="38100" marB="38100">
                    <a:solidFill>
                      <a:srgbClr val="FFFFFF"/>
                    </a:solidFill>
                  </a:tcPr>
                </a:tc>
                <a:tc>
                  <a:txBody>
                    <a:bodyPr/>
                    <a:lstStyle/>
                    <a:p>
                      <a:pPr algn="l"/>
                      <a:r>
                        <a:rPr sz="1200" b="1" i="0">
                          <a:solidFill>
                            <a:srgbClr val="2E7D32"/>
                          </a:solidFill>
                          <a:latin typeface="Calibri"/>
                        </a:rPr>
                        <a:t>Signed updates verified via Microsoft's code-signing chain regardless of transport</a:t>
                      </a:r>
                    </a:p>
                  </a:txBody>
                  <a:tcPr anchor="ctr" marL="76200" marR="76200" marT="38100" marB="38100">
                    <a:solidFill>
                      <a:srgbClr val="FFFFFF"/>
                    </a:solidFill>
                  </a:tcPr>
                </a:tc>
              </a:tr>
              <a:tr h="457200">
                <a:tc>
                  <a:txBody>
                    <a:bodyPr/>
                    <a:lstStyle/>
                    <a:p>
                      <a:pPr algn="l"/>
                      <a:r>
                        <a:rPr sz="1200" b="1" i="0">
                          <a:solidFill>
                            <a:srgbClr val="B02A2A"/>
                          </a:solidFill>
                          <a:latin typeface="Calibri"/>
                        </a:rPr>
                        <a:t>Delayed patching window</a:t>
                      </a:r>
                    </a:p>
                  </a:txBody>
                  <a:tcPr anchor="ctr" marL="76200" marR="76200" marT="38100" marB="38100">
                    <a:solidFill>
                      <a:srgbClr val="E8EEF7"/>
                    </a:solidFill>
                  </a:tcPr>
                </a:tc>
                <a:tc>
                  <a:txBody>
                    <a:bodyPr/>
                    <a:lstStyle/>
                    <a:p>
                      <a:pPr algn="l"/>
                      <a:r>
                        <a:rPr sz="1200" b="0" i="0">
                          <a:solidFill>
                            <a:srgbClr val="111B30"/>
                          </a:solidFill>
                          <a:latin typeface="Calibri"/>
                        </a:rPr>
                        <a:t>Slow approval process leaves known vulnerabilities unpatched longer</a:t>
                      </a:r>
                    </a:p>
                  </a:txBody>
                  <a:tcPr anchor="ctr" marL="76200" marR="76200" marT="38100" marB="38100">
                    <a:solidFill>
                      <a:srgbClr val="E8EEF7"/>
                    </a:solidFill>
                  </a:tcPr>
                </a:tc>
                <a:tc>
                  <a:txBody>
                    <a:bodyPr/>
                    <a:lstStyle/>
                    <a:p>
                      <a:pPr algn="l"/>
                      <a:r>
                        <a:rPr sz="1200" b="1" i="0">
                          <a:solidFill>
                            <a:srgbClr val="2E7D32"/>
                          </a:solidFill>
                          <a:latin typeface="Calibri"/>
                        </a:rPr>
                        <a:t>Auto-approval for Critical/Security; a defined SLA for patch review</a:t>
                      </a:r>
                    </a:p>
                  </a:txBody>
                  <a:tcPr anchor="ctr" marL="76200" marR="76200" marT="38100" marB="38100">
                    <a:solidFill>
                      <a:srgbClr val="E8EEF7"/>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Distributed File System: Namespaces &amp; Replication</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DFS solves “one logical path, multiple physical servers” for both availability and geography.</a:t>
            </a:r>
          </a:p>
        </p:txBody>
      </p:sp>
      <p:sp>
        <p:nvSpPr>
          <p:cNvPr id="4" name="Rounded Rectangle 3"/>
          <p:cNvSpPr/>
          <p:nvPr/>
        </p:nvSpPr>
        <p:spPr>
          <a:xfrm>
            <a:off x="4480560" y="2011680"/>
            <a:ext cx="3200400" cy="59436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1" i="0">
                <a:solidFill>
                  <a:srgbClr val="111B30"/>
                </a:solidFill>
                <a:latin typeface="Calibri"/>
              </a:rPr>
              <a:t>\\lab.local\Shared</a:t>
            </a:r>
          </a:p>
          <a:p>
            <a:pPr algn="ctr"/>
            <a:r>
              <a:rPr sz="1000" b="1" i="0">
                <a:solidFill>
                  <a:srgbClr val="111B30"/>
                </a:solidFill>
                <a:latin typeface="Calibri"/>
              </a:rPr>
              <a:t>(DFS Namespace Root)</a:t>
            </a:r>
          </a:p>
        </p:txBody>
      </p:sp>
      <p:sp>
        <p:nvSpPr>
          <p:cNvPr id="5" name="Rounded Rectangle 4"/>
          <p:cNvSpPr/>
          <p:nvPr/>
        </p:nvSpPr>
        <p:spPr>
          <a:xfrm>
            <a:off x="1828800" y="3108960"/>
            <a:ext cx="310896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Folder Target:</a:t>
            </a:r>
          </a:p>
          <a:p>
            <a:pPr algn="ctr"/>
            <a:r>
              <a:rPr sz="1000" b="0" i="0">
                <a:solidFill>
                  <a:srgbClr val="111B30"/>
                </a:solidFill>
                <a:latin typeface="Calibri"/>
              </a:rPr>
              <a:t>FileSrv-A (Site 1)</a:t>
            </a:r>
          </a:p>
        </p:txBody>
      </p:sp>
      <p:sp>
        <p:nvSpPr>
          <p:cNvPr id="6" name="Rounded Rectangle 5"/>
          <p:cNvSpPr/>
          <p:nvPr/>
        </p:nvSpPr>
        <p:spPr>
          <a:xfrm>
            <a:off x="7223760" y="3108960"/>
            <a:ext cx="310896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Folder Target:</a:t>
            </a:r>
          </a:p>
          <a:p>
            <a:pPr algn="ctr"/>
            <a:r>
              <a:rPr sz="1000" b="0" i="0">
                <a:solidFill>
                  <a:srgbClr val="111B30"/>
                </a:solidFill>
                <a:latin typeface="Calibri"/>
              </a:rPr>
              <a:t>FileSrv-B (Site 2)</a:t>
            </a:r>
          </a:p>
        </p:txBody>
      </p:sp>
      <p:cxnSp>
        <p:nvCxnSpPr>
          <p:cNvPr id="7" name="Connector 6"/>
          <p:cNvCxnSpPr/>
          <p:nvPr/>
        </p:nvCxnSpPr>
        <p:spPr>
          <a:xfrm flipH="1">
            <a:off x="3383280" y="2606040"/>
            <a:ext cx="2697480" cy="50292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80760" y="2606040"/>
            <a:ext cx="2697480" cy="50292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3977639"/>
            <a:ext cx="10911535" cy="365760"/>
          </a:xfrm>
          <a:prstGeom prst="rect">
            <a:avLst/>
          </a:prstGeom>
          <a:noFill/>
        </p:spPr>
        <p:txBody>
          <a:bodyPr wrap="square" lIns="0" tIns="0">
            <a:spAutoFit/>
          </a:bodyPr>
          <a:lstStyle/>
          <a:p>
            <a:r>
              <a:rPr sz="1250" b="0" i="1">
                <a:solidFill>
                  <a:srgbClr val="6B7480"/>
                </a:solidFill>
                <a:latin typeface="Calibri"/>
              </a:rPr>
              <a:t>Namespace = client-facing abstraction. Replication (below) is the separate backend sync mechanism.</a:t>
            </a:r>
          </a:p>
        </p:txBody>
      </p:sp>
      <p:sp>
        <p:nvSpPr>
          <p:cNvPr id="10" name="Rounded Rectangle 9"/>
          <p:cNvSpPr/>
          <p:nvPr/>
        </p:nvSpPr>
        <p:spPr>
          <a:xfrm>
            <a:off x="2103120" y="4480560"/>
            <a:ext cx="3108960" cy="68580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FileSrv-A</a:t>
            </a:r>
          </a:p>
        </p:txBody>
      </p:sp>
      <p:sp>
        <p:nvSpPr>
          <p:cNvPr id="11" name="Rounded Rectangle 10"/>
          <p:cNvSpPr/>
          <p:nvPr/>
        </p:nvSpPr>
        <p:spPr>
          <a:xfrm>
            <a:off x="6949440" y="4480560"/>
            <a:ext cx="3108960" cy="68580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FileSrv-B</a:t>
            </a:r>
          </a:p>
        </p:txBody>
      </p:sp>
      <p:cxnSp>
        <p:nvCxnSpPr>
          <p:cNvPr id="12" name="Connector 11"/>
          <p:cNvCxnSpPr/>
          <p:nvPr/>
        </p:nvCxnSpPr>
        <p:spPr>
          <a:xfrm>
            <a:off x="5212079" y="4823460"/>
            <a:ext cx="1737361" cy="0"/>
          </a:xfrm>
          <a:prstGeom prst="line">
            <a:avLst/>
          </a:prstGeom>
          <a:ln w="25400">
            <a:solidFill>
              <a:srgbClr val="00B4D8"/>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212079" y="4677156"/>
            <a:ext cx="1737360" cy="292608"/>
          </a:xfrm>
          <a:prstGeom prst="rect">
            <a:avLst/>
          </a:prstGeom>
          <a:noFill/>
        </p:spPr>
        <p:txBody>
          <a:bodyPr wrap="square" lIns="0" tIns="0">
            <a:spAutoFit/>
          </a:bodyPr>
          <a:lstStyle/>
          <a:p>
            <a:pPr algn="ctr"/>
            <a:r>
              <a:rPr sz="900" b="0" i="1">
                <a:solidFill>
                  <a:srgbClr val="404040"/>
                </a:solidFill>
                <a:latin typeface="Calibri"/>
              </a:rPr>
              <a:t>DFS-R (multi-master)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DFS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Attacks &amp; Defenses</a:t>
            </a:r>
          </a:p>
        </p:txBody>
      </p:sp>
      <p:graphicFrame>
        <p:nvGraphicFramePr>
          <p:cNvPr id="4" name="Table 3"/>
          <p:cNvGraphicFramePr>
            <a:graphicFrameLocks noGrp="1"/>
          </p:cNvGraphicFramePr>
          <p:nvPr/>
        </p:nvGraphicFramePr>
        <p:xfrm>
          <a:off x="640080" y="1828800"/>
          <a:ext cx="10911535" cy="2286000"/>
        </p:xfrm>
        <a:graphic>
          <a:graphicData uri="http://schemas.openxmlformats.org/drawingml/2006/table">
            <a:tbl>
              <a:tblPr firstRow="1" bandRow="1">
                <a:tableStyleId>{5C22544A-7EE6-4342-B048-85BDC9FD1C3A}</a:tableStyleId>
              </a:tblPr>
              <a:tblGrid>
                <a:gridCol w="3200400"/>
                <a:gridCol w="4572000"/>
                <a:gridCol w="3139135"/>
              </a:tblGrid>
              <a:tr h="457200">
                <a:tc>
                  <a:txBody>
                    <a:bodyPr/>
                    <a:lstStyle/>
                    <a:p>
                      <a:pPr algn="l"/>
                      <a:r>
                        <a:rPr sz="1250" b="1" i="0">
                          <a:solidFill>
                            <a:srgbClr val="FFFFFF"/>
                          </a:solidFill>
                          <a:latin typeface="Calibri"/>
                        </a:rPr>
                        <a:t>Attack</a:t>
                      </a:r>
                    </a:p>
                  </a:txBody>
                  <a:tcPr anchor="ctr" marL="76200" marR="76200" marT="38100" marB="38100">
                    <a:solidFill>
                      <a:srgbClr val="1B2A4A"/>
                    </a:solidFill>
                  </a:tcPr>
                </a:tc>
                <a:tc>
                  <a:txBody>
                    <a:bodyPr/>
                    <a:lstStyle/>
                    <a:p>
                      <a:pPr algn="l"/>
                      <a:r>
                        <a:rPr sz="1250" b="1" i="0">
                          <a:solidFill>
                            <a:srgbClr val="FFFFFF"/>
                          </a:solidFill>
                          <a:latin typeface="Calibri"/>
                        </a:rPr>
                        <a:t>How It Works</a:t>
                      </a:r>
                    </a:p>
                  </a:txBody>
                  <a:tcPr anchor="ctr" marL="76200" marR="76200" marT="38100" marB="38100">
                    <a:solidFill>
                      <a:srgbClr val="1B2A4A"/>
                    </a:solidFill>
                  </a:tcPr>
                </a:tc>
                <a:tc>
                  <a:txBody>
                    <a:bodyPr/>
                    <a:lstStyle/>
                    <a:p>
                      <a:pPr algn="l"/>
                      <a:r>
                        <a:rPr sz="1250" b="1" i="0">
                          <a:solidFill>
                            <a:srgbClr val="FFFFFF"/>
                          </a:solidFill>
                          <a:latin typeface="Calibri"/>
                        </a:rPr>
                        <a:t>Defense</a:t>
                      </a:r>
                    </a:p>
                  </a:txBody>
                  <a:tcPr anchor="ctr" marL="76200" marR="76200" marT="38100" marB="38100">
                    <a:solidFill>
                      <a:srgbClr val="1B2A4A"/>
                    </a:solidFill>
                  </a:tcPr>
                </a:tc>
              </a:tr>
              <a:tr h="457200">
                <a:tc>
                  <a:txBody>
                    <a:bodyPr/>
                    <a:lstStyle/>
                    <a:p>
                      <a:pPr algn="l"/>
                      <a:r>
                        <a:rPr sz="1200" b="1" i="0">
                          <a:solidFill>
                            <a:srgbClr val="B02A2A"/>
                          </a:solidFill>
                          <a:latin typeface="Calibri"/>
                        </a:rPr>
                        <a:t>Replication conflict exploitation</a:t>
                      </a:r>
                    </a:p>
                  </a:txBody>
                  <a:tcPr anchor="ctr" marL="76200" marR="76200" marT="38100" marB="38100">
                    <a:solidFill>
                      <a:srgbClr val="FFFFFF"/>
                    </a:solidFill>
                  </a:tcPr>
                </a:tc>
                <a:tc>
                  <a:txBody>
                    <a:bodyPr/>
                    <a:lstStyle/>
                    <a:p>
                      <a:pPr algn="l"/>
                      <a:r>
                        <a:rPr sz="1200" b="0" i="0">
                          <a:solidFill>
                            <a:srgbClr val="111B30"/>
                          </a:solidFill>
                          <a:latin typeface="Calibri"/>
                        </a:rPr>
                        <a:t>Attacker modifies the same file on two replica targets simultaneously to create confusion/data loss</a:t>
                      </a:r>
                    </a:p>
                  </a:txBody>
                  <a:tcPr anchor="ctr" marL="76200" marR="76200" marT="38100" marB="38100">
                    <a:solidFill>
                      <a:srgbClr val="FFFFFF"/>
                    </a:solidFill>
                  </a:tcPr>
                </a:tc>
                <a:tc>
                  <a:txBody>
                    <a:bodyPr/>
                    <a:lstStyle/>
                    <a:p>
                      <a:pPr algn="l"/>
                      <a:r>
                        <a:rPr sz="1200" b="1" i="0">
                          <a:solidFill>
                            <a:srgbClr val="2E7D32"/>
                          </a:solidFill>
                          <a:latin typeface="Calibri"/>
                        </a:rPr>
                        <a:t>Monitor DFS-R conflict logs; restrict write access to fewer authoritative targets</a:t>
                      </a:r>
                    </a:p>
                  </a:txBody>
                  <a:tcPr anchor="ctr" marL="76200" marR="76200" marT="38100" marB="38100">
                    <a:solidFill>
                      <a:srgbClr val="FFFFFF"/>
                    </a:solidFill>
                  </a:tcPr>
                </a:tc>
              </a:tr>
              <a:tr h="457200">
                <a:tc>
                  <a:txBody>
                    <a:bodyPr/>
                    <a:lstStyle/>
                    <a:p>
                      <a:pPr algn="l"/>
                      <a:r>
                        <a:rPr sz="1200" b="1" i="0">
                          <a:solidFill>
                            <a:srgbClr val="B02A2A"/>
                          </a:solidFill>
                          <a:latin typeface="Calibri"/>
                        </a:rPr>
                        <a:t>Stale/overly-broad namespace ACLs</a:t>
                      </a:r>
                    </a:p>
                  </a:txBody>
                  <a:tcPr anchor="ctr" marL="76200" marR="76200" marT="38100" marB="38100">
                    <a:solidFill>
                      <a:srgbClr val="E8EEF7"/>
                    </a:solidFill>
                  </a:tcPr>
                </a:tc>
                <a:tc>
                  <a:txBody>
                    <a:bodyPr/>
                    <a:lstStyle/>
                    <a:p>
                      <a:pPr algn="l"/>
                      <a:r>
                        <a:rPr sz="1200" b="0" i="0">
                          <a:solidFill>
                            <a:srgbClr val="111B30"/>
                          </a:solidFill>
                          <a:latin typeface="Calibri"/>
                        </a:rPr>
                        <a:t>Namespace permissions inherited loosely across all folder targets</a:t>
                      </a:r>
                    </a:p>
                  </a:txBody>
                  <a:tcPr anchor="ctr" marL="76200" marR="76200" marT="38100" marB="38100">
                    <a:solidFill>
                      <a:srgbClr val="E8EEF7"/>
                    </a:solidFill>
                  </a:tcPr>
                </a:tc>
                <a:tc>
                  <a:txBody>
                    <a:bodyPr/>
                    <a:lstStyle/>
                    <a:p>
                      <a:pPr algn="l"/>
                      <a:r>
                        <a:rPr sz="1200" b="1" i="0">
                          <a:solidFill>
                            <a:srgbClr val="2E7D32"/>
                          </a:solidFill>
                          <a:latin typeface="Calibri"/>
                        </a:rPr>
                        <a:t>Review folder target ACLs independently; least privilege</a:t>
                      </a:r>
                    </a:p>
                  </a:txBody>
                  <a:tcPr anchor="ctr" marL="76200" marR="76200" marT="38100" marB="38100">
                    <a:solidFill>
                      <a:srgbClr val="E8EEF7"/>
                    </a:solidFill>
                  </a:tcPr>
                </a:tc>
              </a:tr>
              <a:tr h="457200">
                <a:tc>
                  <a:txBody>
                    <a:bodyPr/>
                    <a:lstStyle/>
                    <a:p>
                      <a:pPr algn="l"/>
                      <a:r>
                        <a:rPr sz="1200" b="1" i="0">
                          <a:solidFill>
                            <a:srgbClr val="B02A2A"/>
                          </a:solidFill>
                          <a:latin typeface="Calibri"/>
                        </a:rPr>
                        <a:t>Replication lag as a cover window</a:t>
                      </a:r>
                    </a:p>
                  </a:txBody>
                  <a:tcPr anchor="ctr" marL="76200" marR="76200" marT="38100" marB="38100">
                    <a:solidFill>
                      <a:srgbClr val="FFFFFF"/>
                    </a:solidFill>
                  </a:tcPr>
                </a:tc>
                <a:tc>
                  <a:txBody>
                    <a:bodyPr/>
                    <a:lstStyle/>
                    <a:p>
                      <a:pPr algn="l"/>
                      <a:r>
                        <a:rPr sz="1200" b="0" i="0">
                          <a:solidFill>
                            <a:srgbClr val="111B30"/>
                          </a:solidFill>
                          <a:latin typeface="Calibri"/>
                        </a:rPr>
                        <a:t>Malicious file change on one target takes time to replicate/detect</a:t>
                      </a:r>
                    </a:p>
                  </a:txBody>
                  <a:tcPr anchor="ctr" marL="76200" marR="76200" marT="38100" marB="38100">
                    <a:solidFill>
                      <a:srgbClr val="FFFFFF"/>
                    </a:solidFill>
                  </a:tcPr>
                </a:tc>
                <a:tc>
                  <a:txBody>
                    <a:bodyPr/>
                    <a:lstStyle/>
                    <a:p>
                      <a:pPr algn="l"/>
                      <a:r>
                        <a:rPr sz="1200" b="1" i="0">
                          <a:solidFill>
                            <a:srgbClr val="2E7D32"/>
                          </a:solidFill>
                          <a:latin typeface="Calibri"/>
                        </a:rPr>
                        <a:t>Monitor replication health; don't rely on replication as a change-detection control</a:t>
                      </a:r>
                    </a:p>
                  </a:txBody>
                  <a:tcPr anchor="ctr" marL="76200" marR="76200" marT="38100" marB="38100">
                    <a:solidFill>
                      <a:srgbClr val="FFFFFF"/>
                    </a:solidFill>
                  </a:tcPr>
                </a:tc>
              </a:tr>
              <a:tr h="457200">
                <a:tc>
                  <a:txBody>
                    <a:bodyPr/>
                    <a:lstStyle/>
                    <a:p>
                      <a:pPr algn="l"/>
                      <a:r>
                        <a:rPr sz="1200" b="1" i="0">
                          <a:solidFill>
                            <a:srgbClr val="B02A2A"/>
                          </a:solidFill>
                          <a:latin typeface="Calibri"/>
                        </a:rPr>
                        <a:t>Single compromised folder target</a:t>
                      </a:r>
                    </a:p>
                  </a:txBody>
                  <a:tcPr anchor="ctr" marL="76200" marR="76200" marT="38100" marB="38100">
                    <a:solidFill>
                      <a:srgbClr val="E8EEF7"/>
                    </a:solidFill>
                  </a:tcPr>
                </a:tc>
                <a:tc>
                  <a:txBody>
                    <a:bodyPr/>
                    <a:lstStyle/>
                    <a:p>
                      <a:pPr algn="l"/>
                      <a:r>
                        <a:rPr sz="1200" b="0" i="0">
                          <a:solidFill>
                            <a:srgbClr val="111B30"/>
                          </a:solidFill>
                          <a:latin typeface="Calibri"/>
                        </a:rPr>
                        <a:t>Attacker with access to one physical server affects data seen across the whole namespace</a:t>
                      </a:r>
                    </a:p>
                  </a:txBody>
                  <a:tcPr anchor="ctr" marL="76200" marR="76200" marT="38100" marB="38100">
                    <a:solidFill>
                      <a:srgbClr val="E8EEF7"/>
                    </a:solidFill>
                  </a:tcPr>
                </a:tc>
                <a:tc>
                  <a:txBody>
                    <a:bodyPr/>
                    <a:lstStyle/>
                    <a:p>
                      <a:pPr algn="l"/>
                      <a:r>
                        <a:rPr sz="1200" b="1" i="0">
                          <a:solidFill>
                            <a:srgbClr val="2E7D32"/>
                          </a:solidFill>
                          <a:latin typeface="Calibri"/>
                        </a:rPr>
                        <a:t>Isolate/monitor each folder target's underlying server, not just the namespace layer</a:t>
                      </a:r>
                    </a:p>
                  </a:txBody>
                  <a:tcPr anchor="ctr" marL="76200" marR="76200" marT="38100" marB="38100">
                    <a:solidFill>
                      <a:srgbClr val="E8EEF7"/>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Windows Server Backup &amp; VSS Snapshots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VSS (Volume Shadow Copy Service) makes backing up open/in-use files possible without downtime.</a:t>
            </a:r>
          </a:p>
        </p:txBody>
      </p:sp>
      <p:sp>
        <p:nvSpPr>
          <p:cNvPr id="4" name="Rounded Rectangle 3"/>
          <p:cNvSpPr/>
          <p:nvPr/>
        </p:nvSpPr>
        <p:spPr>
          <a:xfrm>
            <a:off x="914400" y="2194560"/>
            <a:ext cx="192024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VSS Requestor</a:t>
            </a:r>
          </a:p>
          <a:p>
            <a:pPr algn="ctr"/>
            <a:r>
              <a:rPr sz="850" b="0" i="0">
                <a:solidFill>
                  <a:srgbClr val="111B30"/>
                </a:solidFill>
                <a:latin typeface="Calibri"/>
              </a:rPr>
              <a:t>(Windows Server</a:t>
            </a:r>
          </a:p>
          <a:p>
            <a:pPr algn="ctr"/>
            <a:r>
              <a:rPr sz="850" b="0" i="0">
                <a:solidFill>
                  <a:srgbClr val="111B30"/>
                </a:solidFill>
                <a:latin typeface="Calibri"/>
              </a:rPr>
              <a:t>Backup)</a:t>
            </a:r>
          </a:p>
        </p:txBody>
      </p:sp>
      <p:sp>
        <p:nvSpPr>
          <p:cNvPr id="5" name="Rounded Rectangle 4"/>
          <p:cNvSpPr/>
          <p:nvPr/>
        </p:nvSpPr>
        <p:spPr>
          <a:xfrm>
            <a:off x="3108960" y="2194560"/>
            <a:ext cx="173736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VSS Service</a:t>
            </a:r>
          </a:p>
          <a:p>
            <a:pPr algn="ctr"/>
            <a:r>
              <a:rPr sz="900" b="0" i="0">
                <a:solidFill>
                  <a:srgbClr val="111B30"/>
                </a:solidFill>
                <a:latin typeface="Calibri"/>
              </a:rPr>
              <a:t>(coordinator)</a:t>
            </a:r>
          </a:p>
        </p:txBody>
      </p:sp>
      <p:sp>
        <p:nvSpPr>
          <p:cNvPr id="6" name="Rounded Rectangle 5"/>
          <p:cNvSpPr/>
          <p:nvPr/>
        </p:nvSpPr>
        <p:spPr>
          <a:xfrm>
            <a:off x="5120640" y="1645920"/>
            <a:ext cx="182880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VSS Writer</a:t>
            </a:r>
          </a:p>
          <a:p>
            <a:pPr algn="ctr"/>
            <a:r>
              <a:rPr sz="850" b="0" i="0">
                <a:solidFill>
                  <a:srgbClr val="111B30"/>
                </a:solidFill>
                <a:latin typeface="Calibri"/>
              </a:rPr>
              <a:t>(app-aware flush)</a:t>
            </a:r>
          </a:p>
        </p:txBody>
      </p:sp>
      <p:sp>
        <p:nvSpPr>
          <p:cNvPr id="7" name="Rounded Rectangle 6"/>
          <p:cNvSpPr/>
          <p:nvPr/>
        </p:nvSpPr>
        <p:spPr>
          <a:xfrm>
            <a:off x="5120640" y="2743200"/>
            <a:ext cx="182880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VSS Provider</a:t>
            </a:r>
          </a:p>
          <a:p>
            <a:pPr algn="ctr"/>
            <a:r>
              <a:rPr sz="850" b="0" i="0">
                <a:solidFill>
                  <a:srgbClr val="111B30"/>
                </a:solidFill>
                <a:latin typeface="Calibri"/>
              </a:rPr>
              <a:t>(creates snapshot)</a:t>
            </a:r>
          </a:p>
        </p:txBody>
      </p:sp>
      <p:sp>
        <p:nvSpPr>
          <p:cNvPr id="8" name="Rounded Rectangle 7"/>
          <p:cNvSpPr/>
          <p:nvPr/>
        </p:nvSpPr>
        <p:spPr>
          <a:xfrm>
            <a:off x="7223760" y="2194560"/>
            <a:ext cx="182880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1" i="0">
                <a:solidFill>
                  <a:srgbClr val="111B30"/>
                </a:solidFill>
                <a:latin typeface="Calibri"/>
              </a:rPr>
              <a:t>Shadow Copy</a:t>
            </a:r>
          </a:p>
          <a:p>
            <a:pPr algn="ctr"/>
            <a:r>
              <a:rPr sz="900" b="1" i="0">
                <a:solidFill>
                  <a:srgbClr val="111B30"/>
                </a:solidFill>
                <a:latin typeface="Calibri"/>
              </a:rPr>
              <a:t>(point-in-time)</a:t>
            </a:r>
          </a:p>
        </p:txBody>
      </p:sp>
      <p:sp>
        <p:nvSpPr>
          <p:cNvPr id="9" name="Rounded Rectangle 8"/>
          <p:cNvSpPr/>
          <p:nvPr/>
        </p:nvSpPr>
        <p:spPr>
          <a:xfrm>
            <a:off x="9326880" y="2194560"/>
            <a:ext cx="146304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1" i="0">
                <a:solidFill>
                  <a:srgbClr val="111B30"/>
                </a:solidFill>
                <a:latin typeface="Calibri"/>
              </a:rPr>
              <a:t>Backup</a:t>
            </a:r>
          </a:p>
          <a:p>
            <a:pPr algn="ctr"/>
            <a:r>
              <a:rPr sz="950" b="1" i="0">
                <a:solidFill>
                  <a:srgbClr val="111B30"/>
                </a:solidFill>
                <a:latin typeface="Calibri"/>
              </a:rPr>
              <a:t>Target</a:t>
            </a:r>
          </a:p>
        </p:txBody>
      </p:sp>
      <p:cxnSp>
        <p:nvCxnSpPr>
          <p:cNvPr id="10" name="Connector 9"/>
          <p:cNvCxnSpPr/>
          <p:nvPr/>
        </p:nvCxnSpPr>
        <p:spPr>
          <a:xfrm>
            <a:off x="2834640" y="2560320"/>
            <a:ext cx="27432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4846320" y="1965960"/>
            <a:ext cx="274320" cy="59436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846320" y="2560320"/>
            <a:ext cx="274320" cy="50292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49440" y="1965960"/>
            <a:ext cx="274320" cy="59436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6949440" y="2560320"/>
            <a:ext cx="274320" cy="50292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052560" y="2560320"/>
            <a:ext cx="27432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0080" y="3794760"/>
            <a:ext cx="10911535" cy="365760"/>
          </a:xfrm>
          <a:prstGeom prst="rect">
            <a:avLst/>
          </a:prstGeom>
          <a:noFill/>
        </p:spPr>
        <p:txBody>
          <a:bodyPr wrap="square" lIns="0" tIns="0">
            <a:spAutoFit/>
          </a:bodyPr>
          <a:lstStyle/>
          <a:p>
            <a:r>
              <a:rPr sz="1250" b="0" i="1">
                <a:solidFill>
                  <a:srgbClr val="6B7480"/>
                </a:solidFill>
                <a:latin typeface="Calibri"/>
              </a:rPr>
              <a:t>Multiple shadow copies exist for rollback (this also powers self-service “Previous Versions” restore).</a:t>
            </a:r>
          </a:p>
        </p:txBody>
      </p:sp>
      <p:sp>
        <p:nvSpPr>
          <p:cNvPr id="17" name="Rounded Rectangle 16"/>
          <p:cNvSpPr/>
          <p:nvPr/>
        </p:nvSpPr>
        <p:spPr>
          <a:xfrm>
            <a:off x="2286000" y="4206240"/>
            <a:ext cx="1645920" cy="502920"/>
          </a:xfrm>
          <a:prstGeom prst="roundRect">
            <a:avLst/>
          </a:prstGeom>
          <a:solidFill>
            <a:srgbClr val="FFFFFF"/>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T-2d</a:t>
            </a:r>
          </a:p>
        </p:txBody>
      </p:sp>
      <p:sp>
        <p:nvSpPr>
          <p:cNvPr id="18" name="Rounded Rectangle 17"/>
          <p:cNvSpPr/>
          <p:nvPr/>
        </p:nvSpPr>
        <p:spPr>
          <a:xfrm>
            <a:off x="4663440" y="4206240"/>
            <a:ext cx="1645920" cy="502920"/>
          </a:xfrm>
          <a:prstGeom prst="roundRect">
            <a:avLst/>
          </a:prstGeom>
          <a:solidFill>
            <a:srgbClr val="FFFFFF"/>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T-1d</a:t>
            </a:r>
          </a:p>
        </p:txBody>
      </p:sp>
      <p:sp>
        <p:nvSpPr>
          <p:cNvPr id="19" name="Rounded Rectangle 18"/>
          <p:cNvSpPr/>
          <p:nvPr/>
        </p:nvSpPr>
        <p:spPr>
          <a:xfrm>
            <a:off x="7040880" y="4206240"/>
            <a:ext cx="2011680" cy="502920"/>
          </a:xfrm>
          <a:prstGeom prst="roundRect">
            <a:avLst/>
          </a:prstGeom>
          <a:solidFill>
            <a:srgbClr val="FFFFFF"/>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1" i="0">
                <a:solidFill>
                  <a:srgbClr val="111B30"/>
                </a:solidFill>
                <a:latin typeface="Calibri"/>
              </a:rPr>
              <a:t>T-0 (current)</a:t>
            </a:r>
          </a:p>
        </p:txBody>
      </p:sp>
      <p:cxnSp>
        <p:nvCxnSpPr>
          <p:cNvPr id="20" name="Connector 19"/>
          <p:cNvCxnSpPr/>
          <p:nvPr/>
        </p:nvCxnSpPr>
        <p:spPr>
          <a:xfrm>
            <a:off x="3931920" y="4457700"/>
            <a:ext cx="731520" cy="0"/>
          </a:xfrm>
          <a:prstGeom prst="line">
            <a:avLst/>
          </a:prstGeom>
          <a:ln w="1905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309359" y="4457700"/>
            <a:ext cx="731521" cy="0"/>
          </a:xfrm>
          <a:prstGeom prst="line">
            <a:avLst/>
          </a:prstGeom>
          <a:ln w="19050">
            <a:solidFill>
              <a:srgbClr val="6B748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Backup &amp; VSS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Attacks &amp; Defenses</a:t>
            </a:r>
          </a:p>
        </p:txBody>
      </p:sp>
      <p:graphicFrame>
        <p:nvGraphicFramePr>
          <p:cNvPr id="4" name="Table 3"/>
          <p:cNvGraphicFramePr>
            <a:graphicFrameLocks noGrp="1"/>
          </p:cNvGraphicFramePr>
          <p:nvPr/>
        </p:nvGraphicFramePr>
        <p:xfrm>
          <a:off x="640080" y="1828800"/>
          <a:ext cx="10911535" cy="2286000"/>
        </p:xfrm>
        <a:graphic>
          <a:graphicData uri="http://schemas.openxmlformats.org/drawingml/2006/table">
            <a:tbl>
              <a:tblPr firstRow="1" bandRow="1">
                <a:tableStyleId>{5C22544A-7EE6-4342-B048-85BDC9FD1C3A}</a:tableStyleId>
              </a:tblPr>
              <a:tblGrid>
                <a:gridCol w="3200400"/>
                <a:gridCol w="4572000"/>
                <a:gridCol w="3139135"/>
              </a:tblGrid>
              <a:tr h="457200">
                <a:tc>
                  <a:txBody>
                    <a:bodyPr/>
                    <a:lstStyle/>
                    <a:p>
                      <a:pPr algn="l"/>
                      <a:r>
                        <a:rPr sz="1250" b="1" i="0">
                          <a:solidFill>
                            <a:srgbClr val="FFFFFF"/>
                          </a:solidFill>
                          <a:latin typeface="Calibri"/>
                        </a:rPr>
                        <a:t>Attack</a:t>
                      </a:r>
                    </a:p>
                  </a:txBody>
                  <a:tcPr anchor="ctr" marL="76200" marR="76200" marT="38100" marB="38100">
                    <a:solidFill>
                      <a:srgbClr val="1B2A4A"/>
                    </a:solidFill>
                  </a:tcPr>
                </a:tc>
                <a:tc>
                  <a:txBody>
                    <a:bodyPr/>
                    <a:lstStyle/>
                    <a:p>
                      <a:pPr algn="l"/>
                      <a:r>
                        <a:rPr sz="1250" b="1" i="0">
                          <a:solidFill>
                            <a:srgbClr val="FFFFFF"/>
                          </a:solidFill>
                          <a:latin typeface="Calibri"/>
                        </a:rPr>
                        <a:t>How It Works</a:t>
                      </a:r>
                    </a:p>
                  </a:txBody>
                  <a:tcPr anchor="ctr" marL="76200" marR="76200" marT="38100" marB="38100">
                    <a:solidFill>
                      <a:srgbClr val="1B2A4A"/>
                    </a:solidFill>
                  </a:tcPr>
                </a:tc>
                <a:tc>
                  <a:txBody>
                    <a:bodyPr/>
                    <a:lstStyle/>
                    <a:p>
                      <a:pPr algn="l"/>
                      <a:r>
                        <a:rPr sz="1250" b="1" i="0">
                          <a:solidFill>
                            <a:srgbClr val="FFFFFF"/>
                          </a:solidFill>
                          <a:latin typeface="Calibri"/>
                        </a:rPr>
                        <a:t>Defense</a:t>
                      </a:r>
                    </a:p>
                  </a:txBody>
                  <a:tcPr anchor="ctr" marL="76200" marR="76200" marT="38100" marB="38100">
                    <a:solidFill>
                      <a:srgbClr val="1B2A4A"/>
                    </a:solidFill>
                  </a:tcPr>
                </a:tc>
              </a:tr>
              <a:tr h="457200">
                <a:tc>
                  <a:txBody>
                    <a:bodyPr/>
                    <a:lstStyle/>
                    <a:p>
                      <a:pPr algn="l"/>
                      <a:r>
                        <a:rPr sz="1200" b="1" i="0">
                          <a:solidFill>
                            <a:srgbClr val="B02A2A"/>
                          </a:solidFill>
                          <a:latin typeface="Calibri"/>
                        </a:rPr>
                        <a:t>Ransomware deletes shadow copies</a:t>
                      </a:r>
                    </a:p>
                  </a:txBody>
                  <a:tcPr anchor="ctr" marL="76200" marR="76200" marT="38100" marB="38100">
                    <a:solidFill>
                      <a:srgbClr val="FFFFFF"/>
                    </a:solidFill>
                  </a:tcPr>
                </a:tc>
                <a:tc>
                  <a:txBody>
                    <a:bodyPr/>
                    <a:lstStyle/>
                    <a:p>
                      <a:pPr algn="l"/>
                      <a:r>
                        <a:rPr sz="1200" b="0" i="0">
                          <a:solidFill>
                            <a:srgbClr val="111B30"/>
                          </a:solidFill>
                          <a:latin typeface="Calibri"/>
                        </a:rPr>
                        <a:t>vssadmin delete shadows /all (or similar) wipes local recovery points before encrypting data</a:t>
                      </a:r>
                    </a:p>
                  </a:txBody>
                  <a:tcPr anchor="ctr" marL="76200" marR="76200" marT="38100" marB="38100">
                    <a:solidFill>
                      <a:srgbClr val="FFFFFF"/>
                    </a:solidFill>
                  </a:tcPr>
                </a:tc>
                <a:tc>
                  <a:txBody>
                    <a:bodyPr/>
                    <a:lstStyle/>
                    <a:p>
                      <a:pPr algn="l"/>
                      <a:r>
                        <a:rPr sz="1200" b="1" i="0">
                          <a:solidFill>
                            <a:srgbClr val="2E7D32"/>
                          </a:solidFill>
                          <a:latin typeface="Calibri"/>
                        </a:rPr>
                        <a:t>Restrict vssadmin/WMI shadow-copy deletion; offline/immutable backup copies</a:t>
                      </a:r>
                    </a:p>
                  </a:txBody>
                  <a:tcPr anchor="ctr" marL="76200" marR="76200" marT="38100" marB="38100">
                    <a:solidFill>
                      <a:srgbClr val="FFFFFF"/>
                    </a:solidFill>
                  </a:tcPr>
                </a:tc>
              </a:tr>
              <a:tr h="457200">
                <a:tc>
                  <a:txBody>
                    <a:bodyPr/>
                    <a:lstStyle/>
                    <a:p>
                      <a:pPr algn="l"/>
                      <a:r>
                        <a:rPr sz="1200" b="1" i="0">
                          <a:solidFill>
                            <a:srgbClr val="B02A2A"/>
                          </a:solidFill>
                          <a:latin typeface="Calibri"/>
                        </a:rPr>
                        <a:t>Backup infrastructure as a primary target</a:t>
                      </a:r>
                    </a:p>
                  </a:txBody>
                  <a:tcPr anchor="ctr" marL="76200" marR="76200" marT="38100" marB="38100">
                    <a:solidFill>
                      <a:srgbClr val="E8EEF7"/>
                    </a:solidFill>
                  </a:tcPr>
                </a:tc>
                <a:tc>
                  <a:txBody>
                    <a:bodyPr/>
                    <a:lstStyle/>
                    <a:p>
                      <a:pPr algn="l"/>
                      <a:r>
                        <a:rPr sz="1200" b="0" i="0">
                          <a:solidFill>
                            <a:srgbClr val="111B30"/>
                          </a:solidFill>
                          <a:latin typeface="Calibri"/>
                        </a:rPr>
                        <a:t>Attackers specifically target backup servers/repositories, knowing it blocks recovery</a:t>
                      </a:r>
                    </a:p>
                  </a:txBody>
                  <a:tcPr anchor="ctr" marL="76200" marR="76200" marT="38100" marB="38100">
                    <a:solidFill>
                      <a:srgbClr val="E8EEF7"/>
                    </a:solidFill>
                  </a:tcPr>
                </a:tc>
                <a:tc>
                  <a:txBody>
                    <a:bodyPr/>
                    <a:lstStyle/>
                    <a:p>
                      <a:pPr algn="l"/>
                      <a:r>
                        <a:rPr sz="1200" b="1" i="0">
                          <a:solidFill>
                            <a:srgbClr val="2E7D32"/>
                          </a:solidFill>
                          <a:latin typeface="Calibri"/>
                        </a:rPr>
                        <a:t>Isolate backup infrastructure (separate credentials, network segment)</a:t>
                      </a:r>
                    </a:p>
                  </a:txBody>
                  <a:tcPr anchor="ctr" marL="76200" marR="76200" marT="38100" marB="38100">
                    <a:solidFill>
                      <a:srgbClr val="E8EEF7"/>
                    </a:solidFill>
                  </a:tcPr>
                </a:tc>
              </a:tr>
              <a:tr h="457200">
                <a:tc>
                  <a:txBody>
                    <a:bodyPr/>
                    <a:lstStyle/>
                    <a:p>
                      <a:pPr algn="l"/>
                      <a:r>
                        <a:rPr sz="1200" b="1" i="0">
                          <a:solidFill>
                            <a:srgbClr val="B02A2A"/>
                          </a:solidFill>
                          <a:latin typeface="Calibri"/>
                        </a:rPr>
                        <a:t>Untested restore process</a:t>
                      </a:r>
                    </a:p>
                  </a:txBody>
                  <a:tcPr anchor="ctr" marL="76200" marR="76200" marT="38100" marB="38100">
                    <a:solidFill>
                      <a:srgbClr val="FFFFFF"/>
                    </a:solidFill>
                  </a:tcPr>
                </a:tc>
                <a:tc>
                  <a:txBody>
                    <a:bodyPr/>
                    <a:lstStyle/>
                    <a:p>
                      <a:pPr algn="l"/>
                      <a:r>
                        <a:rPr sz="1200" b="0" i="0">
                          <a:solidFill>
                            <a:srgbClr val="111B30"/>
                          </a:solidFill>
                          <a:latin typeface="Calibri"/>
                        </a:rPr>
                        <a:t>Backups exist but the restore procedure has never been verified</a:t>
                      </a:r>
                    </a:p>
                  </a:txBody>
                  <a:tcPr anchor="ctr" marL="76200" marR="76200" marT="38100" marB="38100">
                    <a:solidFill>
                      <a:srgbClr val="FFFFFF"/>
                    </a:solidFill>
                  </a:tcPr>
                </a:tc>
                <a:tc>
                  <a:txBody>
                    <a:bodyPr/>
                    <a:lstStyle/>
                    <a:p>
                      <a:pPr algn="l"/>
                      <a:r>
                        <a:rPr sz="1200" b="1" i="0">
                          <a:solidFill>
                            <a:srgbClr val="2E7D32"/>
                          </a:solidFill>
                          <a:latin typeface="Calibri"/>
                        </a:rPr>
                        <a:t>Regular restore drills, not just “backup job succeeded” green checkmarks</a:t>
                      </a:r>
                    </a:p>
                  </a:txBody>
                  <a:tcPr anchor="ctr" marL="76200" marR="76200" marT="38100" marB="38100">
                    <a:solidFill>
                      <a:srgbClr val="FFFFFF"/>
                    </a:solidFill>
                  </a:tcPr>
                </a:tc>
              </a:tr>
              <a:tr h="457200">
                <a:tc>
                  <a:txBody>
                    <a:bodyPr/>
                    <a:lstStyle/>
                    <a:p>
                      <a:pPr algn="l"/>
                      <a:r>
                        <a:rPr sz="1200" b="1" i="0">
                          <a:solidFill>
                            <a:srgbClr val="B02A2A"/>
                          </a:solidFill>
                          <a:latin typeface="Calibri"/>
                        </a:rPr>
                        <a:t>Backup credentials with excessive rights</a:t>
                      </a:r>
                    </a:p>
                  </a:txBody>
                  <a:tcPr anchor="ctr" marL="76200" marR="76200" marT="38100" marB="38100">
                    <a:solidFill>
                      <a:srgbClr val="E8EEF7"/>
                    </a:solidFill>
                  </a:tcPr>
                </a:tc>
                <a:tc>
                  <a:txBody>
                    <a:bodyPr/>
                    <a:lstStyle/>
                    <a:p>
                      <a:pPr algn="l"/>
                      <a:r>
                        <a:rPr sz="1200" b="0" i="0">
                          <a:solidFill>
                            <a:srgbClr val="111B30"/>
                          </a:solidFill>
                          <a:latin typeface="Calibri"/>
                        </a:rPr>
                        <a:t>Backup service account has domain-wide rights it doesn't need</a:t>
                      </a:r>
                    </a:p>
                  </a:txBody>
                  <a:tcPr anchor="ctr" marL="76200" marR="76200" marT="38100" marB="38100">
                    <a:solidFill>
                      <a:srgbClr val="E8EEF7"/>
                    </a:solidFill>
                  </a:tcPr>
                </a:tc>
                <a:tc>
                  <a:txBody>
                    <a:bodyPr/>
                    <a:lstStyle/>
                    <a:p>
                      <a:pPr algn="l"/>
                      <a:r>
                        <a:rPr sz="1200" b="1" i="0">
                          <a:solidFill>
                            <a:srgbClr val="2E7D32"/>
                          </a:solidFill>
                          <a:latin typeface="Calibri"/>
                        </a:rPr>
                        <a:t>Least-privilege backup accounts (same tiering principle as Section 01)</a:t>
                      </a:r>
                    </a:p>
                  </a:txBody>
                  <a:tcPr anchor="ctr" marL="76200" marR="76200" marT="38100" marB="38100">
                    <a:solidFill>
                      <a:srgbClr val="E8EEF7"/>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06</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Licensing &amp; Virtualization Rights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Windows Server Licensing: Standard vs. Datacenter</a:t>
            </a:r>
          </a:p>
        </p:txBody>
      </p:sp>
      <p:graphicFrame>
        <p:nvGraphicFramePr>
          <p:cNvPr id="3" name="Table 2"/>
          <p:cNvGraphicFramePr>
            <a:graphicFrameLocks noGrp="1"/>
          </p:cNvGraphicFramePr>
          <p:nvPr/>
        </p:nvGraphicFramePr>
        <p:xfrm>
          <a:off x="640080" y="1554480"/>
          <a:ext cx="10911535" cy="2743200"/>
        </p:xfrm>
        <a:graphic>
          <a:graphicData uri="http://schemas.openxmlformats.org/drawingml/2006/table">
            <a:tbl>
              <a:tblPr firstRow="1" bandRow="1">
                <a:tableStyleId>{5C22544A-7EE6-4342-B048-85BDC9FD1C3A}</a:tableStyleId>
              </a:tblPr>
              <a:tblGrid>
                <a:gridCol w="2377440"/>
                <a:gridCol w="4206240"/>
                <a:gridCol w="4327855"/>
              </a:tblGrid>
              <a:tr h="457200">
                <a:tc>
                  <a:txBody>
                    <a:bodyPr/>
                    <a:lstStyle/>
                    <a:p>
                      <a:pPr algn="l"/>
                      <a:r>
                        <a:rPr sz="1250" b="1" i="0">
                          <a:solidFill>
                            <a:srgbClr val="FFFFFF"/>
                          </a:solidFill>
                          <a:latin typeface="Calibri"/>
                        </a:rPr>
                        <a:t>Aspect</a:t>
                      </a:r>
                    </a:p>
                  </a:txBody>
                  <a:tcPr anchor="ctr" marL="76200" marR="76200" marT="38100" marB="38100">
                    <a:solidFill>
                      <a:srgbClr val="1B2A4A"/>
                    </a:solidFill>
                  </a:tcPr>
                </a:tc>
                <a:tc>
                  <a:txBody>
                    <a:bodyPr/>
                    <a:lstStyle/>
                    <a:p>
                      <a:pPr algn="l"/>
                      <a:r>
                        <a:rPr sz="1250" b="1" i="0">
                          <a:solidFill>
                            <a:srgbClr val="FFFFFF"/>
                          </a:solidFill>
                          <a:latin typeface="Calibri"/>
                        </a:rPr>
                        <a:t>Standard</a:t>
                      </a:r>
                    </a:p>
                  </a:txBody>
                  <a:tcPr anchor="ctr" marL="76200" marR="76200" marT="38100" marB="38100">
                    <a:solidFill>
                      <a:srgbClr val="1B2A4A"/>
                    </a:solidFill>
                  </a:tcPr>
                </a:tc>
                <a:tc>
                  <a:txBody>
                    <a:bodyPr/>
                    <a:lstStyle/>
                    <a:p>
                      <a:pPr algn="l"/>
                      <a:r>
                        <a:rPr sz="1250" b="1" i="0">
                          <a:solidFill>
                            <a:srgbClr val="FFFFFF"/>
                          </a:solidFill>
                          <a:latin typeface="Calibri"/>
                        </a:rPr>
                        <a:t>Datacenter</a:t>
                      </a:r>
                    </a:p>
                  </a:txBody>
                  <a:tcPr anchor="ctr" marL="76200" marR="76200" marT="38100" marB="38100">
                    <a:solidFill>
                      <a:srgbClr val="1B2A4A"/>
                    </a:solidFill>
                  </a:tcPr>
                </a:tc>
              </a:tr>
              <a:tr h="457200">
                <a:tc>
                  <a:txBody>
                    <a:bodyPr/>
                    <a:lstStyle/>
                    <a:p>
                      <a:pPr algn="l"/>
                      <a:r>
                        <a:rPr sz="1150" b="0" i="0">
                          <a:solidFill>
                            <a:srgbClr val="111B30"/>
                          </a:solidFill>
                          <a:latin typeface="Calibri"/>
                        </a:rPr>
                        <a:t>Licensing model</a:t>
                      </a:r>
                    </a:p>
                  </a:txBody>
                  <a:tcPr anchor="ctr" marL="76200" marR="76200" marT="38100" marB="38100">
                    <a:solidFill>
                      <a:srgbClr val="FFFFFF"/>
                    </a:solidFill>
                  </a:tcPr>
                </a:tc>
                <a:tc>
                  <a:txBody>
                    <a:bodyPr/>
                    <a:lstStyle/>
                    <a:p>
                      <a:pPr algn="l"/>
                      <a:r>
                        <a:rPr sz="1150" b="0" i="0">
                          <a:solidFill>
                            <a:srgbClr val="111B30"/>
                          </a:solidFill>
                          <a:latin typeface="Calibri"/>
                        </a:rPr>
                        <a:t>Core-based (min. 8 cores/proc, 16 cores/server)</a:t>
                      </a:r>
                    </a:p>
                  </a:txBody>
                  <a:tcPr anchor="ctr" marL="76200" marR="76200" marT="38100" marB="38100">
                    <a:solidFill>
                      <a:srgbClr val="FFFFFF"/>
                    </a:solidFill>
                  </a:tcPr>
                </a:tc>
                <a:tc>
                  <a:txBody>
                    <a:bodyPr/>
                    <a:lstStyle/>
                    <a:p>
                      <a:pPr algn="l"/>
                      <a:r>
                        <a:rPr sz="1150" b="0" i="0">
                          <a:solidFill>
                            <a:srgbClr val="111B30"/>
                          </a:solidFill>
                          <a:latin typeface="Calibri"/>
                        </a:rPr>
                        <a:t>Core-based (same minimums)</a:t>
                      </a:r>
                    </a:p>
                  </a:txBody>
                  <a:tcPr anchor="ctr" marL="76200" marR="76200" marT="38100" marB="38100">
                    <a:solidFill>
                      <a:srgbClr val="FFFFFF"/>
                    </a:solidFill>
                  </a:tcPr>
                </a:tc>
              </a:tr>
              <a:tr h="457200">
                <a:tc>
                  <a:txBody>
                    <a:bodyPr/>
                    <a:lstStyle/>
                    <a:p>
                      <a:pPr algn="l"/>
                      <a:r>
                        <a:rPr sz="1150" b="0" i="0">
                          <a:solidFill>
                            <a:srgbClr val="111B30"/>
                          </a:solidFill>
                          <a:latin typeface="Calibri"/>
                        </a:rPr>
                        <a:t>Included VM rights</a:t>
                      </a:r>
                    </a:p>
                  </a:txBody>
                  <a:tcPr anchor="ctr" marL="76200" marR="76200" marT="38100" marB="38100">
                    <a:solidFill>
                      <a:srgbClr val="E8EEF7"/>
                    </a:solidFill>
                  </a:tcPr>
                </a:tc>
                <a:tc>
                  <a:txBody>
                    <a:bodyPr/>
                    <a:lstStyle/>
                    <a:p>
                      <a:pPr algn="l"/>
                      <a:r>
                        <a:rPr sz="1150" b="0" i="0">
                          <a:solidFill>
                            <a:srgbClr val="111B30"/>
                          </a:solidFill>
                          <a:latin typeface="Calibri"/>
                        </a:rPr>
                        <a:t>2 Windows Server VM instances (OSEs)</a:t>
                      </a:r>
                    </a:p>
                  </a:txBody>
                  <a:tcPr anchor="ctr" marL="76200" marR="76200" marT="38100" marB="38100">
                    <a:solidFill>
                      <a:srgbClr val="E8EEF7"/>
                    </a:solidFill>
                  </a:tcPr>
                </a:tc>
                <a:tc>
                  <a:txBody>
                    <a:bodyPr/>
                    <a:lstStyle/>
                    <a:p>
                      <a:pPr algn="l"/>
                      <a:r>
                        <a:rPr sz="1150" b="0" i="0">
                          <a:solidFill>
                            <a:srgbClr val="111B30"/>
                          </a:solidFill>
                          <a:latin typeface="Calibri"/>
                        </a:rPr>
                        <a:t>Unlimited Windows Server VM instances</a:t>
                      </a:r>
                    </a:p>
                  </a:txBody>
                  <a:tcPr anchor="ctr" marL="76200" marR="76200" marT="38100" marB="38100">
                    <a:solidFill>
                      <a:srgbClr val="E8EEF7"/>
                    </a:solidFill>
                  </a:tcPr>
                </a:tc>
              </a:tr>
              <a:tr h="457200">
                <a:tc>
                  <a:txBody>
                    <a:bodyPr/>
                    <a:lstStyle/>
                    <a:p>
                      <a:pPr algn="l"/>
                      <a:r>
                        <a:rPr sz="1150" b="0" i="0">
                          <a:solidFill>
                            <a:srgbClr val="111B30"/>
                          </a:solidFill>
                          <a:latin typeface="Calibri"/>
                        </a:rPr>
                        <a:t>Typical use case</a:t>
                      </a:r>
                    </a:p>
                  </a:txBody>
                  <a:tcPr anchor="ctr" marL="76200" marR="76200" marT="38100" marB="38100">
                    <a:solidFill>
                      <a:srgbClr val="FFFFFF"/>
                    </a:solidFill>
                  </a:tcPr>
                </a:tc>
                <a:tc>
                  <a:txBody>
                    <a:bodyPr/>
                    <a:lstStyle/>
                    <a:p>
                      <a:pPr algn="l"/>
                      <a:r>
                        <a:rPr sz="1150" b="0" i="0">
                          <a:solidFill>
                            <a:srgbClr val="111B30"/>
                          </a:solidFill>
                          <a:latin typeface="Calibri"/>
                        </a:rPr>
                        <a:t>Physical/lightly-virtualized workloads</a:t>
                      </a:r>
                    </a:p>
                  </a:txBody>
                  <a:tcPr anchor="ctr" marL="76200" marR="76200" marT="38100" marB="38100">
                    <a:solidFill>
                      <a:srgbClr val="FFFFFF"/>
                    </a:solidFill>
                  </a:tcPr>
                </a:tc>
                <a:tc>
                  <a:txBody>
                    <a:bodyPr/>
                    <a:lstStyle/>
                    <a:p>
                      <a:pPr algn="l"/>
                      <a:r>
                        <a:rPr sz="1150" b="0" i="0">
                          <a:solidFill>
                            <a:srgbClr val="111B30"/>
                          </a:solidFill>
                          <a:latin typeface="Calibri"/>
                        </a:rPr>
                        <a:t>Heavily virtualized hosts, private cloud</a:t>
                      </a:r>
                    </a:p>
                  </a:txBody>
                  <a:tcPr anchor="ctr" marL="76200" marR="76200" marT="38100" marB="38100">
                    <a:solidFill>
                      <a:srgbClr val="FFFFFF"/>
                    </a:solidFill>
                  </a:tcPr>
                </a:tc>
              </a:tr>
              <a:tr h="457200">
                <a:tc>
                  <a:txBody>
                    <a:bodyPr/>
                    <a:lstStyle/>
                    <a:p>
                      <a:pPr algn="l"/>
                      <a:r>
                        <a:rPr sz="1150" b="0" i="0">
                          <a:solidFill>
                            <a:srgbClr val="111B30"/>
                          </a:solidFill>
                          <a:latin typeface="Calibri"/>
                        </a:rPr>
                        <a:t>Feature parity</a:t>
                      </a:r>
                    </a:p>
                  </a:txBody>
                  <a:tcPr anchor="ctr" marL="76200" marR="76200" marT="38100" marB="38100">
                    <a:solidFill>
                      <a:srgbClr val="E8EEF7"/>
                    </a:solidFill>
                  </a:tcPr>
                </a:tc>
                <a:tc>
                  <a:txBody>
                    <a:bodyPr/>
                    <a:lstStyle/>
                    <a:p>
                      <a:pPr algn="l"/>
                      <a:r>
                        <a:rPr sz="1150" b="0" i="0">
                          <a:solidFill>
                            <a:srgbClr val="111B30"/>
                          </a:solidFill>
                          <a:latin typeface="Calibri"/>
                        </a:rPr>
                        <a:t>Same core Windows Server features as Datacenter</a:t>
                      </a:r>
                    </a:p>
                  </a:txBody>
                  <a:tcPr anchor="ctr" marL="76200" marR="76200" marT="38100" marB="38100">
                    <a:solidFill>
                      <a:srgbClr val="E8EEF7"/>
                    </a:solidFill>
                  </a:tcPr>
                </a:tc>
                <a:tc>
                  <a:txBody>
                    <a:bodyPr/>
                    <a:lstStyle/>
                    <a:p>
                      <a:pPr algn="l"/>
                      <a:r>
                        <a:rPr sz="1150" b="0" i="0">
                          <a:solidFill>
                            <a:srgbClr val="111B30"/>
                          </a:solidFill>
                          <a:latin typeface="Calibri"/>
                        </a:rPr>
                        <a:t>Adds Storage Spaces Direct, Storage Replica, Shielded VMs</a:t>
                      </a:r>
                    </a:p>
                  </a:txBody>
                  <a:tcPr anchor="ctr" marL="76200" marR="76200" marT="38100" marB="38100">
                    <a:solidFill>
                      <a:srgbClr val="E8EEF7"/>
                    </a:solidFill>
                  </a:tcPr>
                </a:tc>
              </a:tr>
              <a:tr h="457200">
                <a:tc>
                  <a:txBody>
                    <a:bodyPr/>
                    <a:lstStyle/>
                    <a:p>
                      <a:pPr algn="l"/>
                      <a:r>
                        <a:rPr sz="1150" b="0" i="0">
                          <a:solidFill>
                            <a:srgbClr val="111B30"/>
                          </a:solidFill>
                          <a:latin typeface="Calibri"/>
                        </a:rPr>
                        <a:t>Cost</a:t>
                      </a:r>
                    </a:p>
                  </a:txBody>
                  <a:tcPr anchor="ctr" marL="76200" marR="76200" marT="38100" marB="38100">
                    <a:solidFill>
                      <a:srgbClr val="FFFFFF"/>
                    </a:solidFill>
                  </a:tcPr>
                </a:tc>
                <a:tc>
                  <a:txBody>
                    <a:bodyPr/>
                    <a:lstStyle/>
                    <a:p>
                      <a:pPr algn="l"/>
                      <a:r>
                        <a:rPr sz="1150" b="0" i="0">
                          <a:solidFill>
                            <a:srgbClr val="111B30"/>
                          </a:solidFill>
                          <a:latin typeface="Calibri"/>
                        </a:rPr>
                        <a:t>Lower per-core cost</a:t>
                      </a:r>
                    </a:p>
                  </a:txBody>
                  <a:tcPr anchor="ctr" marL="76200" marR="76200" marT="38100" marB="38100">
                    <a:solidFill>
                      <a:srgbClr val="FFFFFF"/>
                    </a:solidFill>
                  </a:tcPr>
                </a:tc>
                <a:tc>
                  <a:txBody>
                    <a:bodyPr/>
                    <a:lstStyle/>
                    <a:p>
                      <a:pPr algn="l"/>
                      <a:r>
                        <a:rPr sz="1150" b="0" i="0">
                          <a:solidFill>
                            <a:srgbClr val="111B30"/>
                          </a:solidFill>
                          <a:latin typeface="Calibri"/>
                        </a:rPr>
                        <a:t>Higher per-core cost, justified by unlimited VM rights at scale</a:t>
                      </a:r>
                    </a:p>
                  </a:txBody>
                  <a:tcPr anchor="ctr" marL="76200" marR="76200" marT="38100" marB="38100">
                    <a:solidFill>
                      <a:srgbClr val="FFFFFF"/>
                    </a:solidFill>
                  </a:tcPr>
                </a:tc>
              </a:tr>
            </a:tbl>
          </a:graphicData>
        </a:graphic>
      </p:graphicFrame>
      <p:sp>
        <p:nvSpPr>
          <p:cNvPr id="4" name="TextBox 3"/>
          <p:cNvSpPr txBox="1"/>
          <p:nvPr/>
        </p:nvSpPr>
        <p:spPr>
          <a:xfrm>
            <a:off x="640080" y="5212080"/>
            <a:ext cx="10911535" cy="822960"/>
          </a:xfrm>
          <a:prstGeom prst="rect">
            <a:avLst/>
          </a:prstGeom>
          <a:noFill/>
        </p:spPr>
        <p:txBody>
          <a:bodyPr wrap="square">
            <a:spAutoFit/>
          </a:bodyPr>
          <a:lstStyle/>
          <a:p>
            <a:r>
              <a:rPr sz="1200" b="0" i="1">
                <a:solidFill>
                  <a:srgbClr val="3D5A80"/>
                </a:solidFill>
                <a:latin typeface="Calibri"/>
              </a:rPr>
              <a:t>Example: 1 physical server, 2 processors x 8 cores = 16 cores -&gt; minimum core-license requirement met exactly. A 3rd VM on this host would require a 2nd Standard license stack even though physical capacity allows it.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Client Access Licenses (CALs): Device vs. User</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A CAL grants the right to access Windows Server services - separate from the server license itself</a:t>
            </a:r>
          </a:p>
          <a:p>
            <a:pPr algn="l">
              <a:spcAft>
                <a:spcPts val="1200"/>
              </a:spcAft>
            </a:pPr>
            <a:r>
              <a:rPr sz="1600" b="0" i="0">
                <a:solidFill>
                  <a:srgbClr val="111B30"/>
                </a:solidFill>
                <a:latin typeface="Calibri"/>
              </a:rPr>
              <a:t>●   Device CAL: licensed per device, regardless of how many users share it (shift work, shared kiosks)</a:t>
            </a:r>
          </a:p>
          <a:p>
            <a:pPr algn="l">
              <a:spcAft>
                <a:spcPts val="1200"/>
              </a:spcAft>
            </a:pPr>
            <a:r>
              <a:rPr sz="1600" b="0" i="0">
                <a:solidFill>
                  <a:srgbClr val="111B30"/>
                </a:solidFill>
                <a:latin typeface="Calibri"/>
              </a:rPr>
              <a:t>●   User CAL: licensed per user, regardless of how many devices they use (BYOD, multi-device employees)</a:t>
            </a:r>
          </a:p>
          <a:p>
            <a:pPr algn="l">
              <a:spcAft>
                <a:spcPts val="1200"/>
              </a:spcAft>
            </a:pPr>
            <a:r>
              <a:rPr sz="1600" b="0" i="0">
                <a:solidFill>
                  <a:srgbClr val="111B30"/>
                </a:solidFill>
                <a:latin typeface="Calibri"/>
              </a:rPr>
              <a:t>●   Rule of thumb: more users than devices -&gt; Device CAL cheaper; more devices than users -&gt; User CAL cheaper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Volume Licensing: EA vs. CSP</a:t>
            </a:r>
          </a:p>
        </p:txBody>
      </p:sp>
      <p:graphicFrame>
        <p:nvGraphicFramePr>
          <p:cNvPr id="3" name="Table 2"/>
          <p:cNvGraphicFramePr>
            <a:graphicFrameLocks noGrp="1"/>
          </p:cNvGraphicFramePr>
          <p:nvPr/>
        </p:nvGraphicFramePr>
        <p:xfrm>
          <a:off x="640080" y="1554480"/>
          <a:ext cx="10911535" cy="2743200"/>
        </p:xfrm>
        <a:graphic>
          <a:graphicData uri="http://schemas.openxmlformats.org/drawingml/2006/table">
            <a:tbl>
              <a:tblPr firstRow="1" bandRow="1">
                <a:tableStyleId>{5C22544A-7EE6-4342-B048-85BDC9FD1C3A}</a:tableStyleId>
              </a:tblPr>
              <a:tblGrid>
                <a:gridCol w="2194560"/>
                <a:gridCol w="4206240"/>
                <a:gridCol w="4510735"/>
              </a:tblGrid>
              <a:tr h="457200">
                <a:tc>
                  <a:txBody>
                    <a:bodyPr/>
                    <a:lstStyle/>
                    <a:p>
                      <a:pPr algn="l"/>
                      <a:r>
                        <a:rPr sz="1250" b="1" i="0">
                          <a:solidFill>
                            <a:srgbClr val="FFFFFF"/>
                          </a:solidFill>
                          <a:latin typeface="Calibri"/>
                        </a:rPr>
                        <a:t>Aspect</a:t>
                      </a:r>
                    </a:p>
                  </a:txBody>
                  <a:tcPr anchor="ctr" marL="76200" marR="76200" marT="38100" marB="38100">
                    <a:solidFill>
                      <a:srgbClr val="1B2A4A"/>
                    </a:solidFill>
                  </a:tcPr>
                </a:tc>
                <a:tc>
                  <a:txBody>
                    <a:bodyPr/>
                    <a:lstStyle/>
                    <a:p>
                      <a:pPr algn="l"/>
                      <a:r>
                        <a:rPr sz="1250" b="1" i="0">
                          <a:solidFill>
                            <a:srgbClr val="FFFFFF"/>
                          </a:solidFill>
                          <a:latin typeface="Calibri"/>
                        </a:rPr>
                        <a:t>Enterprise Agreement (EA)</a:t>
                      </a:r>
                    </a:p>
                  </a:txBody>
                  <a:tcPr anchor="ctr" marL="76200" marR="76200" marT="38100" marB="38100">
                    <a:solidFill>
                      <a:srgbClr val="1B2A4A"/>
                    </a:solidFill>
                  </a:tcPr>
                </a:tc>
                <a:tc>
                  <a:txBody>
                    <a:bodyPr/>
                    <a:lstStyle/>
                    <a:p>
                      <a:pPr algn="l"/>
                      <a:r>
                        <a:rPr sz="1250" b="1" i="0">
                          <a:solidFill>
                            <a:srgbClr val="FFFFFF"/>
                          </a:solidFill>
                          <a:latin typeface="Calibri"/>
                        </a:rPr>
                        <a:t>Cloud Solution Provider (CSP)</a:t>
                      </a:r>
                    </a:p>
                  </a:txBody>
                  <a:tcPr anchor="ctr" marL="76200" marR="76200" marT="38100" marB="38100">
                    <a:solidFill>
                      <a:srgbClr val="1B2A4A"/>
                    </a:solidFill>
                  </a:tcPr>
                </a:tc>
              </a:tr>
              <a:tr h="457200">
                <a:tc>
                  <a:txBody>
                    <a:bodyPr/>
                    <a:lstStyle/>
                    <a:p>
                      <a:pPr algn="l"/>
                      <a:r>
                        <a:rPr sz="1200" b="0" i="0">
                          <a:solidFill>
                            <a:srgbClr val="111B30"/>
                          </a:solidFill>
                          <a:latin typeface="Calibri"/>
                        </a:rPr>
                        <a:t>Minimum org size</a:t>
                      </a:r>
                    </a:p>
                  </a:txBody>
                  <a:tcPr anchor="ctr" marL="76200" marR="76200" marT="38100" marB="38100">
                    <a:solidFill>
                      <a:srgbClr val="FFFFFF"/>
                    </a:solidFill>
                  </a:tcPr>
                </a:tc>
                <a:tc>
                  <a:txBody>
                    <a:bodyPr/>
                    <a:lstStyle/>
                    <a:p>
                      <a:pPr algn="l"/>
                      <a:r>
                        <a:rPr sz="1200" b="0" i="0">
                          <a:solidFill>
                            <a:srgbClr val="111B30"/>
                          </a:solidFill>
                          <a:latin typeface="Calibri"/>
                        </a:rPr>
                        <a:t>Typically 500+ devices/users</a:t>
                      </a:r>
                    </a:p>
                  </a:txBody>
                  <a:tcPr anchor="ctr" marL="76200" marR="76200" marT="38100" marB="38100">
                    <a:solidFill>
                      <a:srgbClr val="FFFFFF"/>
                    </a:solidFill>
                  </a:tcPr>
                </a:tc>
                <a:tc>
                  <a:txBody>
                    <a:bodyPr/>
                    <a:lstStyle/>
                    <a:p>
                      <a:pPr algn="l"/>
                      <a:r>
                        <a:rPr sz="1200" b="0" i="0">
                          <a:solidFill>
                            <a:srgbClr val="111B30"/>
                          </a:solidFill>
                          <a:latin typeface="Calibri"/>
                        </a:rPr>
                        <a:t>No minimum - scales to small orgs</a:t>
                      </a:r>
                    </a:p>
                  </a:txBody>
                  <a:tcPr anchor="ctr" marL="76200" marR="76200" marT="38100" marB="38100">
                    <a:solidFill>
                      <a:srgbClr val="FFFFFF"/>
                    </a:solidFill>
                  </a:tcPr>
                </a:tc>
              </a:tr>
              <a:tr h="457200">
                <a:tc>
                  <a:txBody>
                    <a:bodyPr/>
                    <a:lstStyle/>
                    <a:p>
                      <a:pPr algn="l"/>
                      <a:r>
                        <a:rPr sz="1200" b="0" i="0">
                          <a:solidFill>
                            <a:srgbClr val="111B30"/>
                          </a:solidFill>
                          <a:latin typeface="Calibri"/>
                        </a:rPr>
                        <a:t>Contract length</a:t>
                      </a:r>
                    </a:p>
                  </a:txBody>
                  <a:tcPr anchor="ctr" marL="76200" marR="76200" marT="38100" marB="38100">
                    <a:solidFill>
                      <a:srgbClr val="E8EEF7"/>
                    </a:solidFill>
                  </a:tcPr>
                </a:tc>
                <a:tc>
                  <a:txBody>
                    <a:bodyPr/>
                    <a:lstStyle/>
                    <a:p>
                      <a:pPr algn="l"/>
                      <a:r>
                        <a:rPr sz="1200" b="0" i="0">
                          <a:solidFill>
                            <a:srgbClr val="111B30"/>
                          </a:solidFill>
                          <a:latin typeface="Calibri"/>
                        </a:rPr>
                        <a:t>3-year commitment</a:t>
                      </a:r>
                    </a:p>
                  </a:txBody>
                  <a:tcPr anchor="ctr" marL="76200" marR="76200" marT="38100" marB="38100">
                    <a:solidFill>
                      <a:srgbClr val="E8EEF7"/>
                    </a:solidFill>
                  </a:tcPr>
                </a:tc>
                <a:tc>
                  <a:txBody>
                    <a:bodyPr/>
                    <a:lstStyle/>
                    <a:p>
                      <a:pPr algn="l"/>
                      <a:r>
                        <a:rPr sz="1200" b="0" i="0">
                          <a:solidFill>
                            <a:srgbClr val="111B30"/>
                          </a:solidFill>
                          <a:latin typeface="Calibri"/>
                        </a:rPr>
                        <a:t>Month-to-month or annual, more flexible</a:t>
                      </a:r>
                    </a:p>
                  </a:txBody>
                  <a:tcPr anchor="ctr" marL="76200" marR="76200" marT="38100" marB="38100">
                    <a:solidFill>
                      <a:srgbClr val="E8EEF7"/>
                    </a:solidFill>
                  </a:tcPr>
                </a:tc>
              </a:tr>
              <a:tr h="457200">
                <a:tc>
                  <a:txBody>
                    <a:bodyPr/>
                    <a:lstStyle/>
                    <a:p>
                      <a:pPr algn="l"/>
                      <a:r>
                        <a:rPr sz="1200" b="0" i="0">
                          <a:solidFill>
                            <a:srgbClr val="111B30"/>
                          </a:solidFill>
                          <a:latin typeface="Calibri"/>
                        </a:rPr>
                        <a:t>Who you buy from</a:t>
                      </a:r>
                    </a:p>
                  </a:txBody>
                  <a:tcPr anchor="ctr" marL="76200" marR="76200" marT="38100" marB="38100">
                    <a:solidFill>
                      <a:srgbClr val="FFFFFF"/>
                    </a:solidFill>
                  </a:tcPr>
                </a:tc>
                <a:tc>
                  <a:txBody>
                    <a:bodyPr/>
                    <a:lstStyle/>
                    <a:p>
                      <a:pPr algn="l"/>
                      <a:r>
                        <a:rPr sz="1200" b="0" i="0">
                          <a:solidFill>
                            <a:srgbClr val="111B30"/>
                          </a:solidFill>
                          <a:latin typeface="Calibri"/>
                        </a:rPr>
                        <a:t>Direct from Microsoft (or LSP)</a:t>
                      </a:r>
                    </a:p>
                  </a:txBody>
                  <a:tcPr anchor="ctr" marL="76200" marR="76200" marT="38100" marB="38100">
                    <a:solidFill>
                      <a:srgbClr val="FFFFFF"/>
                    </a:solidFill>
                  </a:tcPr>
                </a:tc>
                <a:tc>
                  <a:txBody>
                    <a:bodyPr/>
                    <a:lstStyle/>
                    <a:p>
                      <a:pPr algn="l"/>
                      <a:r>
                        <a:rPr sz="1200" b="0" i="0">
                          <a:solidFill>
                            <a:srgbClr val="111B30"/>
                          </a:solidFill>
                          <a:latin typeface="Calibri"/>
                        </a:rPr>
                        <a:t>Through a Microsoft partner (the CSP)</a:t>
                      </a:r>
                    </a:p>
                  </a:txBody>
                  <a:tcPr anchor="ctr" marL="76200" marR="76200" marT="38100" marB="38100">
                    <a:solidFill>
                      <a:srgbClr val="FFFFFF"/>
                    </a:solidFill>
                  </a:tcPr>
                </a:tc>
              </a:tr>
              <a:tr h="457200">
                <a:tc>
                  <a:txBody>
                    <a:bodyPr/>
                    <a:lstStyle/>
                    <a:p>
                      <a:pPr algn="l"/>
                      <a:r>
                        <a:rPr sz="1200" b="0" i="0">
                          <a:solidFill>
                            <a:srgbClr val="111B30"/>
                          </a:solidFill>
                          <a:latin typeface="Calibri"/>
                        </a:rPr>
                        <a:t>Payment model</a:t>
                      </a:r>
                    </a:p>
                  </a:txBody>
                  <a:tcPr anchor="ctr" marL="76200" marR="76200" marT="38100" marB="38100">
                    <a:solidFill>
                      <a:srgbClr val="E8EEF7"/>
                    </a:solidFill>
                  </a:tcPr>
                </a:tc>
                <a:tc>
                  <a:txBody>
                    <a:bodyPr/>
                    <a:lstStyle/>
                    <a:p>
                      <a:pPr algn="l"/>
                      <a:r>
                        <a:rPr sz="1200" b="0" i="0">
                          <a:solidFill>
                            <a:srgbClr val="111B30"/>
                          </a:solidFill>
                          <a:latin typeface="Calibri"/>
                        </a:rPr>
                        <a:t>Often upfront/annual true-up</a:t>
                      </a:r>
                    </a:p>
                  </a:txBody>
                  <a:tcPr anchor="ctr" marL="76200" marR="76200" marT="38100" marB="38100">
                    <a:solidFill>
                      <a:srgbClr val="E8EEF7"/>
                    </a:solidFill>
                  </a:tcPr>
                </a:tc>
                <a:tc>
                  <a:txBody>
                    <a:bodyPr/>
                    <a:lstStyle/>
                    <a:p>
                      <a:pPr algn="l"/>
                      <a:r>
                        <a:rPr sz="1200" b="0" i="0">
                          <a:solidFill>
                            <a:srgbClr val="111B30"/>
                          </a:solidFill>
                          <a:latin typeface="Calibri"/>
                        </a:rPr>
                        <a:t>Consumption-based/subscription billing</a:t>
                      </a:r>
                    </a:p>
                  </a:txBody>
                  <a:tcPr anchor="ctr" marL="76200" marR="76200" marT="38100" marB="38100">
                    <a:solidFill>
                      <a:srgbClr val="E8EEF7"/>
                    </a:solidFill>
                  </a:tcPr>
                </a:tc>
              </a:tr>
              <a:tr h="457200">
                <a:tc>
                  <a:txBody>
                    <a:bodyPr/>
                    <a:lstStyle/>
                    <a:p>
                      <a:pPr algn="l"/>
                      <a:r>
                        <a:rPr sz="1200" b="0" i="0">
                          <a:solidFill>
                            <a:srgbClr val="111B30"/>
                          </a:solidFill>
                          <a:latin typeface="Calibri"/>
                        </a:rPr>
                        <a:t>Best fit</a:t>
                      </a:r>
                    </a:p>
                  </a:txBody>
                  <a:tcPr anchor="ctr" marL="76200" marR="76200" marT="38100" marB="38100">
                    <a:solidFill>
                      <a:srgbClr val="FFFFFF"/>
                    </a:solidFill>
                  </a:tcPr>
                </a:tc>
                <a:tc>
                  <a:txBody>
                    <a:bodyPr/>
                    <a:lstStyle/>
                    <a:p>
                      <a:pPr algn="l"/>
                      <a:r>
                        <a:rPr sz="1200" b="0" i="0">
                          <a:solidFill>
                            <a:srgbClr val="111B30"/>
                          </a:solidFill>
                          <a:latin typeface="Calibri"/>
                        </a:rPr>
                        <a:t>Large, stable enterprise, predictable needs</a:t>
                      </a:r>
                    </a:p>
                  </a:txBody>
                  <a:tcPr anchor="ctr" marL="76200" marR="76200" marT="38100" marB="38100">
                    <a:solidFill>
                      <a:srgbClr val="FFFFFF"/>
                    </a:solidFill>
                  </a:tcPr>
                </a:tc>
                <a:tc>
                  <a:txBody>
                    <a:bodyPr/>
                    <a:lstStyle/>
                    <a:p>
                      <a:pPr algn="l"/>
                      <a:r>
                        <a:rPr sz="1200" b="0" i="0">
                          <a:solidFill>
                            <a:srgbClr val="111B30"/>
                          </a:solidFill>
                          <a:latin typeface="Calibri"/>
                        </a:rPr>
                        <a:t>Smaller/growing orgs, cloud-first workloads</a:t>
                      </a:r>
                    </a:p>
                  </a:txBody>
                  <a:tcPr anchor="ctr" marL="76200" marR="76200" marT="38100" marB="38100">
                    <a:solidFill>
                      <a:srgbClr val="FFFFFF"/>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Hyper-V Virtualization Rights by Edition</a:t>
            </a:r>
          </a:p>
        </p:txBody>
      </p:sp>
      <p:graphicFrame>
        <p:nvGraphicFramePr>
          <p:cNvPr id="3" name="Table 2"/>
          <p:cNvGraphicFramePr>
            <a:graphicFrameLocks noGrp="1"/>
          </p:cNvGraphicFramePr>
          <p:nvPr/>
        </p:nvGraphicFramePr>
        <p:xfrm>
          <a:off x="640080" y="1554480"/>
          <a:ext cx="10362895" cy="2286000"/>
        </p:xfrm>
        <a:graphic>
          <a:graphicData uri="http://schemas.openxmlformats.org/drawingml/2006/table">
            <a:tbl>
              <a:tblPr firstRow="1" bandRow="1">
                <a:tableStyleId>{5C22544A-7EE6-4342-B048-85BDC9FD1C3A}</a:tableStyleId>
              </a:tblPr>
              <a:tblGrid>
                <a:gridCol w="4114800"/>
                <a:gridCol w="6248095"/>
              </a:tblGrid>
              <a:tr h="457200">
                <a:tc>
                  <a:txBody>
                    <a:bodyPr/>
                    <a:lstStyle/>
                    <a:p>
                      <a:pPr algn="l"/>
                      <a:r>
                        <a:rPr sz="1250" b="1" i="0">
                          <a:solidFill>
                            <a:srgbClr val="FFFFFF"/>
                          </a:solidFill>
                          <a:latin typeface="Calibri"/>
                        </a:rPr>
                        <a:t>Edition</a:t>
                      </a:r>
                    </a:p>
                  </a:txBody>
                  <a:tcPr anchor="ctr" marL="76200" marR="76200" marT="38100" marB="38100">
                    <a:solidFill>
                      <a:srgbClr val="1B2A4A"/>
                    </a:solidFill>
                  </a:tcPr>
                </a:tc>
                <a:tc>
                  <a:txBody>
                    <a:bodyPr/>
                    <a:lstStyle/>
                    <a:p>
                      <a:pPr algn="l"/>
                      <a:r>
                        <a:rPr sz="1250" b="1" i="0">
                          <a:solidFill>
                            <a:srgbClr val="FFFFFF"/>
                          </a:solidFill>
                          <a:latin typeface="Calibri"/>
                        </a:rPr>
                        <a:t>Hyper-V Rights</a:t>
                      </a:r>
                    </a:p>
                  </a:txBody>
                  <a:tcPr anchor="ctr" marL="76200" marR="76200" marT="38100" marB="38100">
                    <a:solidFill>
                      <a:srgbClr val="1B2A4A"/>
                    </a:solidFill>
                  </a:tcPr>
                </a:tc>
              </a:tr>
              <a:tr h="457200">
                <a:tc>
                  <a:txBody>
                    <a:bodyPr/>
                    <a:lstStyle/>
                    <a:p>
                      <a:pPr algn="l"/>
                      <a:r>
                        <a:rPr sz="1300" b="0" i="0">
                          <a:solidFill>
                            <a:srgbClr val="111B30"/>
                          </a:solidFill>
                          <a:latin typeface="Calibri"/>
                        </a:rPr>
                        <a:t>Windows Server Standard</a:t>
                      </a:r>
                    </a:p>
                  </a:txBody>
                  <a:tcPr anchor="ctr" marL="76200" marR="76200" marT="38100" marB="38100">
                    <a:solidFill>
                      <a:srgbClr val="FFFFFF"/>
                    </a:solidFill>
                  </a:tcPr>
                </a:tc>
                <a:tc>
                  <a:txBody>
                    <a:bodyPr/>
                    <a:lstStyle/>
                    <a:p>
                      <a:pPr algn="l"/>
                      <a:r>
                        <a:rPr sz="1300" b="0" i="0">
                          <a:solidFill>
                            <a:srgbClr val="111B30"/>
                          </a:solidFill>
                          <a:latin typeface="Calibri"/>
                        </a:rPr>
                        <a:t>Host role + 2 Windows Server guest OSEs included</a:t>
                      </a:r>
                    </a:p>
                  </a:txBody>
                  <a:tcPr anchor="ctr" marL="76200" marR="76200" marT="38100" marB="38100">
                    <a:solidFill>
                      <a:srgbClr val="FFFFFF"/>
                    </a:solidFill>
                  </a:tcPr>
                </a:tc>
              </a:tr>
              <a:tr h="457200">
                <a:tc>
                  <a:txBody>
                    <a:bodyPr/>
                    <a:lstStyle/>
                    <a:p>
                      <a:pPr algn="l"/>
                      <a:r>
                        <a:rPr sz="1300" b="0" i="0">
                          <a:solidFill>
                            <a:srgbClr val="111B30"/>
                          </a:solidFill>
                          <a:latin typeface="Calibri"/>
                        </a:rPr>
                        <a:t>Windows Server Datacenter</a:t>
                      </a:r>
                    </a:p>
                  </a:txBody>
                  <a:tcPr anchor="ctr" marL="76200" marR="76200" marT="38100" marB="38100">
                    <a:solidFill>
                      <a:srgbClr val="E8EEF7"/>
                    </a:solidFill>
                  </a:tcPr>
                </a:tc>
                <a:tc>
                  <a:txBody>
                    <a:bodyPr/>
                    <a:lstStyle/>
                    <a:p>
                      <a:pPr algn="l"/>
                      <a:r>
                        <a:rPr sz="1300" b="0" i="0">
                          <a:solidFill>
                            <a:srgbClr val="111B30"/>
                          </a:solidFill>
                          <a:latin typeface="Calibri"/>
                        </a:rPr>
                        <a:t>Host role + unlimited Windows Server guest OSEs</a:t>
                      </a:r>
                    </a:p>
                  </a:txBody>
                  <a:tcPr anchor="ctr" marL="76200" marR="76200" marT="38100" marB="38100">
                    <a:solidFill>
                      <a:srgbClr val="E8EEF7"/>
                    </a:solidFill>
                  </a:tcPr>
                </a:tc>
              </a:tr>
              <a:tr h="457200">
                <a:tc>
                  <a:txBody>
                    <a:bodyPr/>
                    <a:lstStyle/>
                    <a:p>
                      <a:pPr algn="l"/>
                      <a:r>
                        <a:rPr sz="1300" b="0" i="0">
                          <a:solidFill>
                            <a:srgbClr val="111B30"/>
                          </a:solidFill>
                          <a:latin typeface="Calibri"/>
                        </a:rPr>
                        <a:t>Hyper-V Server (free, standalone)</a:t>
                      </a:r>
                    </a:p>
                  </a:txBody>
                  <a:tcPr anchor="ctr" marL="76200" marR="76200" marT="38100" marB="38100">
                    <a:solidFill>
                      <a:srgbClr val="FFFFFF"/>
                    </a:solidFill>
                  </a:tcPr>
                </a:tc>
                <a:tc>
                  <a:txBody>
                    <a:bodyPr/>
                    <a:lstStyle/>
                    <a:p>
                      <a:pPr algn="l"/>
                      <a:r>
                        <a:rPr sz="1300" b="0" i="0">
                          <a:solidFill>
                            <a:srgbClr val="111B30"/>
                          </a:solidFill>
                          <a:latin typeface="Calibri"/>
                        </a:rPr>
                        <a:t>Hypervisor only - guests must be separately licensed</a:t>
                      </a:r>
                    </a:p>
                  </a:txBody>
                  <a:tcPr anchor="ctr" marL="76200" marR="76200" marT="38100" marB="38100">
                    <a:solidFill>
                      <a:srgbClr val="FFFFFF"/>
                    </a:solidFill>
                  </a:tcPr>
                </a:tc>
              </a:tr>
              <a:tr h="457200">
                <a:tc>
                  <a:txBody>
                    <a:bodyPr/>
                    <a:lstStyle/>
                    <a:p>
                      <a:pPr algn="l"/>
                      <a:r>
                        <a:rPr sz="1300" b="0" i="0">
                          <a:solidFill>
                            <a:srgbClr val="111B30"/>
                          </a:solidFill>
                          <a:latin typeface="Calibri"/>
                        </a:rPr>
                        <a:t>Non-Windows guests (Linux, etc.)</a:t>
                      </a:r>
                    </a:p>
                  </a:txBody>
                  <a:tcPr anchor="ctr" marL="76200" marR="76200" marT="38100" marB="38100">
                    <a:solidFill>
                      <a:srgbClr val="E8EEF7"/>
                    </a:solidFill>
                  </a:tcPr>
                </a:tc>
                <a:tc>
                  <a:txBody>
                    <a:bodyPr/>
                    <a:lstStyle/>
                    <a:p>
                      <a:pPr algn="l"/>
                      <a:r>
                        <a:rPr sz="1300" b="0" i="0">
                          <a:solidFill>
                            <a:srgbClr val="111B30"/>
                          </a:solidFill>
                          <a:latin typeface="Calibri"/>
                        </a:rPr>
                        <a:t>Not covered by the host's Windows Server license</a:t>
                      </a:r>
                    </a:p>
                  </a:txBody>
                  <a:tcPr anchor="ctr" marL="76200" marR="76200" marT="38100" marB="38100">
                    <a:solidFill>
                      <a:srgbClr val="E8EEF7"/>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Licensing &amp; Virtualization: Compliance Risks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Risk / Mitigation (same visual language as Attacks &amp; Defenses, applied to a compliance topic)</a:t>
            </a:r>
          </a:p>
        </p:txBody>
      </p:sp>
      <p:graphicFrame>
        <p:nvGraphicFramePr>
          <p:cNvPr id="4" name="Table 3"/>
          <p:cNvGraphicFramePr>
            <a:graphicFrameLocks noGrp="1"/>
          </p:cNvGraphicFramePr>
          <p:nvPr/>
        </p:nvGraphicFramePr>
        <p:xfrm>
          <a:off x="640080" y="1828800"/>
          <a:ext cx="10911535" cy="2286000"/>
        </p:xfrm>
        <a:graphic>
          <a:graphicData uri="http://schemas.openxmlformats.org/drawingml/2006/table">
            <a:tbl>
              <a:tblPr firstRow="1" bandRow="1">
                <a:tableStyleId>{5C22544A-7EE6-4342-B048-85BDC9FD1C3A}</a:tableStyleId>
              </a:tblPr>
              <a:tblGrid>
                <a:gridCol w="3200400"/>
                <a:gridCol w="4572000"/>
                <a:gridCol w="3139135"/>
              </a:tblGrid>
              <a:tr h="457200">
                <a:tc>
                  <a:txBody>
                    <a:bodyPr/>
                    <a:lstStyle/>
                    <a:p>
                      <a:pPr algn="l"/>
                      <a:r>
                        <a:rPr sz="1250" b="1" i="0">
                          <a:solidFill>
                            <a:srgbClr val="FFFFFF"/>
                          </a:solidFill>
                          <a:latin typeface="Calibri"/>
                        </a:rPr>
                        <a:t>Risk</a:t>
                      </a:r>
                    </a:p>
                  </a:txBody>
                  <a:tcPr anchor="ctr" marL="76200" marR="76200" marT="38100" marB="38100">
                    <a:solidFill>
                      <a:srgbClr val="1B2A4A"/>
                    </a:solidFill>
                  </a:tcPr>
                </a:tc>
                <a:tc>
                  <a:txBody>
                    <a:bodyPr/>
                    <a:lstStyle/>
                    <a:p>
                      <a:pPr algn="l"/>
                      <a:r>
                        <a:rPr sz="1250" b="1" i="0">
                          <a:solidFill>
                            <a:srgbClr val="FFFFFF"/>
                          </a:solidFill>
                          <a:latin typeface="Calibri"/>
                        </a:rPr>
                        <a:t>Why It Happens</a:t>
                      </a:r>
                    </a:p>
                  </a:txBody>
                  <a:tcPr anchor="ctr" marL="76200" marR="76200" marT="38100" marB="38100">
                    <a:solidFill>
                      <a:srgbClr val="1B2A4A"/>
                    </a:solidFill>
                  </a:tcPr>
                </a:tc>
                <a:tc>
                  <a:txBody>
                    <a:bodyPr/>
                    <a:lstStyle/>
                    <a:p>
                      <a:pPr algn="l"/>
                      <a:r>
                        <a:rPr sz="1250" b="1" i="0">
                          <a:solidFill>
                            <a:srgbClr val="FFFFFF"/>
                          </a:solidFill>
                          <a:latin typeface="Calibri"/>
                        </a:rPr>
                        <a:t>Mitigation</a:t>
                      </a:r>
                    </a:p>
                  </a:txBody>
                  <a:tcPr anchor="ctr" marL="76200" marR="76200" marT="38100" marB="38100">
                    <a:solidFill>
                      <a:srgbClr val="1B2A4A"/>
                    </a:solidFill>
                  </a:tcPr>
                </a:tc>
              </a:tr>
              <a:tr h="457200">
                <a:tc>
                  <a:txBody>
                    <a:bodyPr/>
                    <a:lstStyle/>
                    <a:p>
                      <a:pPr algn="l"/>
                      <a:r>
                        <a:rPr sz="1200" b="1" i="0">
                          <a:solidFill>
                            <a:srgbClr val="B02A2A"/>
                          </a:solidFill>
                          <a:latin typeface="Calibri"/>
                        </a:rPr>
                        <a:t>Unlicensed VM sprawl</a:t>
                      </a:r>
                    </a:p>
                  </a:txBody>
                  <a:tcPr anchor="ctr" marL="76200" marR="76200" marT="38100" marB="38100">
                    <a:solidFill>
                      <a:srgbClr val="FFFFFF"/>
                    </a:solidFill>
                  </a:tcPr>
                </a:tc>
                <a:tc>
                  <a:txBody>
                    <a:bodyPr/>
                    <a:lstStyle/>
                    <a:p>
                      <a:pPr algn="l"/>
                      <a:r>
                        <a:rPr sz="1200" b="0" i="0">
                          <a:solidFill>
                            <a:srgbClr val="111B30"/>
                          </a:solidFill>
                          <a:latin typeface="Calibri"/>
                        </a:rPr>
                        <a:t>Standard host quietly exceeds its 2-VM guest limit as workloads grow</a:t>
                      </a:r>
                    </a:p>
                  </a:txBody>
                  <a:tcPr anchor="ctr" marL="76200" marR="76200" marT="38100" marB="38100">
                    <a:solidFill>
                      <a:srgbClr val="FFFFFF"/>
                    </a:solidFill>
                  </a:tcPr>
                </a:tc>
                <a:tc>
                  <a:txBody>
                    <a:bodyPr/>
                    <a:lstStyle/>
                    <a:p>
                      <a:pPr algn="l"/>
                      <a:r>
                        <a:rPr sz="1200" b="1" i="0">
                          <a:solidFill>
                            <a:srgbClr val="2E7D32"/>
                          </a:solidFill>
                          <a:latin typeface="Calibri"/>
                        </a:rPr>
                        <a:t>Track VM count per host; alert before exceeding licensed limit</a:t>
                      </a:r>
                    </a:p>
                  </a:txBody>
                  <a:tcPr anchor="ctr" marL="76200" marR="76200" marT="38100" marB="38100">
                    <a:solidFill>
                      <a:srgbClr val="FFFFFF"/>
                    </a:solidFill>
                  </a:tcPr>
                </a:tc>
              </a:tr>
              <a:tr h="457200">
                <a:tc>
                  <a:txBody>
                    <a:bodyPr/>
                    <a:lstStyle/>
                    <a:p>
                      <a:pPr algn="l"/>
                      <a:r>
                        <a:rPr sz="1200" b="1" i="0">
                          <a:solidFill>
                            <a:srgbClr val="B02A2A"/>
                          </a:solidFill>
                          <a:latin typeface="Calibri"/>
                        </a:rPr>
                        <a:t>License audit failure</a:t>
                      </a:r>
                    </a:p>
                  </a:txBody>
                  <a:tcPr anchor="ctr" marL="76200" marR="76200" marT="38100" marB="38100">
                    <a:solidFill>
                      <a:srgbClr val="E8EEF7"/>
                    </a:solidFill>
                  </a:tcPr>
                </a:tc>
                <a:tc>
                  <a:txBody>
                    <a:bodyPr/>
                    <a:lstStyle/>
                    <a:p>
                      <a:pPr algn="l"/>
                      <a:r>
                        <a:rPr sz="1200" b="0" i="0">
                          <a:solidFill>
                            <a:srgbClr val="111B30"/>
                          </a:solidFill>
                          <a:latin typeface="Calibri"/>
                        </a:rPr>
                        <a:t>Microsoft/vendor audit finds under-licensing, resulting in penalty costs</a:t>
                      </a:r>
                    </a:p>
                  </a:txBody>
                  <a:tcPr anchor="ctr" marL="76200" marR="76200" marT="38100" marB="38100">
                    <a:solidFill>
                      <a:srgbClr val="E8EEF7"/>
                    </a:solidFill>
                  </a:tcPr>
                </a:tc>
                <a:tc>
                  <a:txBody>
                    <a:bodyPr/>
                    <a:lstStyle/>
                    <a:p>
                      <a:pPr algn="l"/>
                      <a:r>
                        <a:rPr sz="1200" b="1" i="0">
                          <a:solidFill>
                            <a:srgbClr val="2E7D32"/>
                          </a:solidFill>
                          <a:latin typeface="Calibri"/>
                        </a:rPr>
                        <a:t>Maintain accurate license inventory; reconcile against deployed core counts</a:t>
                      </a:r>
                    </a:p>
                  </a:txBody>
                  <a:tcPr anchor="ctr" marL="76200" marR="76200" marT="38100" marB="38100">
                    <a:solidFill>
                      <a:srgbClr val="E8EEF7"/>
                    </a:solidFill>
                  </a:tcPr>
                </a:tc>
              </a:tr>
              <a:tr h="457200">
                <a:tc>
                  <a:txBody>
                    <a:bodyPr/>
                    <a:lstStyle/>
                    <a:p>
                      <a:pPr algn="l"/>
                      <a:r>
                        <a:rPr sz="1200" b="1" i="0">
                          <a:solidFill>
                            <a:srgbClr val="B02A2A"/>
                          </a:solidFill>
                          <a:latin typeface="Calibri"/>
                        </a:rPr>
                        <a:t>Core-count drift after hardware upgrade</a:t>
                      </a:r>
                    </a:p>
                  </a:txBody>
                  <a:tcPr anchor="ctr" marL="76200" marR="76200" marT="38100" marB="38100">
                    <a:solidFill>
                      <a:srgbClr val="FFFFFF"/>
                    </a:solidFill>
                  </a:tcPr>
                </a:tc>
                <a:tc>
                  <a:txBody>
                    <a:bodyPr/>
                    <a:lstStyle/>
                    <a:p>
                      <a:pPr algn="l"/>
                      <a:r>
                        <a:rPr sz="1200" b="0" i="0">
                          <a:solidFill>
                            <a:srgbClr val="111B30"/>
                          </a:solidFill>
                          <a:latin typeface="Calibri"/>
                        </a:rPr>
                        <a:t>Adding cores/processors to a host silently changes minimum license requirement</a:t>
                      </a:r>
                    </a:p>
                  </a:txBody>
                  <a:tcPr anchor="ctr" marL="76200" marR="76200" marT="38100" marB="38100">
                    <a:solidFill>
                      <a:srgbClr val="FFFFFF"/>
                    </a:solidFill>
                  </a:tcPr>
                </a:tc>
                <a:tc>
                  <a:txBody>
                    <a:bodyPr/>
                    <a:lstStyle/>
                    <a:p>
                      <a:pPr algn="l"/>
                      <a:r>
                        <a:rPr sz="1200" b="1" i="0">
                          <a:solidFill>
                            <a:srgbClr val="2E7D32"/>
                          </a:solidFill>
                          <a:latin typeface="Calibri"/>
                        </a:rPr>
                        <a:t>Re-evaluate licensing whenever hardware changes</a:t>
                      </a:r>
                    </a:p>
                  </a:txBody>
                  <a:tcPr anchor="ctr" marL="76200" marR="76200" marT="38100" marB="38100">
                    <a:solidFill>
                      <a:srgbClr val="FFFFFF"/>
                    </a:solidFill>
                  </a:tcPr>
                </a:tc>
              </a:tr>
              <a:tr h="457200">
                <a:tc>
                  <a:txBody>
                    <a:bodyPr/>
                    <a:lstStyle/>
                    <a:p>
                      <a:pPr algn="l"/>
                      <a:r>
                        <a:rPr sz="1200" b="1" i="0">
                          <a:solidFill>
                            <a:srgbClr val="B02A2A"/>
                          </a:solidFill>
                          <a:latin typeface="Calibri"/>
                        </a:rPr>
                        <a:t>Mismatched CAL type at scale</a:t>
                      </a:r>
                    </a:p>
                  </a:txBody>
                  <a:tcPr anchor="ctr" marL="76200" marR="76200" marT="38100" marB="38100">
                    <a:solidFill>
                      <a:srgbClr val="E8EEF7"/>
                    </a:solidFill>
                  </a:tcPr>
                </a:tc>
                <a:tc>
                  <a:txBody>
                    <a:bodyPr/>
                    <a:lstStyle/>
                    <a:p>
                      <a:pPr algn="l"/>
                      <a:r>
                        <a:rPr sz="1200" b="0" i="0">
                          <a:solidFill>
                            <a:srgbClr val="111B30"/>
                          </a:solidFill>
                          <a:latin typeface="Calibri"/>
                        </a:rPr>
                        <a:t>Wrong CAL model costs more than necessary as headcount/device count grows</a:t>
                      </a:r>
                    </a:p>
                  </a:txBody>
                  <a:tcPr anchor="ctr" marL="76200" marR="76200" marT="38100" marB="38100">
                    <a:solidFill>
                      <a:srgbClr val="E8EEF7"/>
                    </a:solidFill>
                  </a:tcPr>
                </a:tc>
                <a:tc>
                  <a:txBody>
                    <a:bodyPr/>
                    <a:lstStyle/>
                    <a:p>
                      <a:pPr algn="l"/>
                      <a:r>
                        <a:rPr sz="1200" b="1" i="0">
                          <a:solidFill>
                            <a:srgbClr val="2E7D32"/>
                          </a:solidFill>
                          <a:latin typeface="Calibri"/>
                        </a:rPr>
                        <a:t>Periodically re-run the CAL decision math as the org changes</a:t>
                      </a:r>
                    </a:p>
                  </a:txBody>
                  <a:tcPr anchor="ctr" marL="76200" marR="76200" marT="38100" marB="38100">
                    <a:solidFill>
                      <a:srgbClr val="E8EEF7"/>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07</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Centralized AAA: LDAP Queries &amp; RADIUS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LDAP Directory Tree Structure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Same abstraction as AD's OU tree from Section 01 - this is the exact sample tree used in the LDAP filter exercises.</a:t>
            </a:r>
          </a:p>
        </p:txBody>
      </p:sp>
      <p:sp>
        <p:nvSpPr>
          <p:cNvPr id="4" name="Rounded Rectangle 3"/>
          <p:cNvSpPr/>
          <p:nvPr/>
        </p:nvSpPr>
        <p:spPr>
          <a:xfrm>
            <a:off x="4709160" y="1874519"/>
            <a:ext cx="2743200" cy="502920"/>
          </a:xfrm>
          <a:prstGeom prst="roundRect">
            <a:avLst/>
          </a:prstGeom>
          <a:solidFill>
            <a:srgbClr val="1B2A4A"/>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FFFFFF"/>
                </a:solidFill>
                <a:latin typeface="Calibri"/>
              </a:rPr>
              <a:t>dc=corp,dc=lab</a:t>
            </a:r>
          </a:p>
        </p:txBody>
      </p:sp>
      <p:sp>
        <p:nvSpPr>
          <p:cNvPr id="5" name="Rounded Rectangle 4"/>
          <p:cNvSpPr/>
          <p:nvPr/>
        </p:nvSpPr>
        <p:spPr>
          <a:xfrm>
            <a:off x="1828800" y="2834640"/>
            <a:ext cx="292608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ou=People</a:t>
            </a:r>
          </a:p>
        </p:txBody>
      </p:sp>
      <p:sp>
        <p:nvSpPr>
          <p:cNvPr id="6" name="Rounded Rectangle 5"/>
          <p:cNvSpPr/>
          <p:nvPr/>
        </p:nvSpPr>
        <p:spPr>
          <a:xfrm>
            <a:off x="7406640" y="2834640"/>
            <a:ext cx="292608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ou=Groups</a:t>
            </a:r>
          </a:p>
        </p:txBody>
      </p:sp>
      <p:cxnSp>
        <p:nvCxnSpPr>
          <p:cNvPr id="7" name="Connector 6"/>
          <p:cNvCxnSpPr/>
          <p:nvPr/>
        </p:nvCxnSpPr>
        <p:spPr>
          <a:xfrm flipH="1">
            <a:off x="3291840" y="2377439"/>
            <a:ext cx="2788920" cy="457201"/>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80760" y="2377439"/>
            <a:ext cx="2788920" cy="457201"/>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14400" y="3794760"/>
            <a:ext cx="365760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uid=jsmith (memberOf=NetworkAdmins, uAC=512)</a:t>
            </a:r>
          </a:p>
        </p:txBody>
      </p:sp>
      <p:sp>
        <p:nvSpPr>
          <p:cNvPr id="10" name="Rounded Rectangle 9"/>
          <p:cNvSpPr/>
          <p:nvPr/>
        </p:nvSpPr>
        <p:spPr>
          <a:xfrm>
            <a:off x="914400" y="4434840"/>
            <a:ext cx="365760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uid=bvance (memberOf=HelpDesk, uAC=514)</a:t>
            </a:r>
          </a:p>
        </p:txBody>
      </p:sp>
      <p:sp>
        <p:nvSpPr>
          <p:cNvPr id="11" name="Rounded Rectangle 10"/>
          <p:cNvSpPr/>
          <p:nvPr/>
        </p:nvSpPr>
        <p:spPr>
          <a:xfrm>
            <a:off x="914400" y="5074920"/>
            <a:ext cx="365760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uid=tlowe (memberOf=NetworkAdmins, uAC=66050)</a:t>
            </a:r>
          </a:p>
        </p:txBody>
      </p:sp>
      <p:sp>
        <p:nvSpPr>
          <p:cNvPr id="12" name="Rounded Rectangle 11"/>
          <p:cNvSpPr/>
          <p:nvPr/>
        </p:nvSpPr>
        <p:spPr>
          <a:xfrm>
            <a:off x="7406640" y="3794760"/>
            <a:ext cx="292608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cn=NetworkAdmins</a:t>
            </a:r>
          </a:p>
        </p:txBody>
      </p:sp>
      <p:sp>
        <p:nvSpPr>
          <p:cNvPr id="13" name="Rounded Rectangle 12"/>
          <p:cNvSpPr/>
          <p:nvPr/>
        </p:nvSpPr>
        <p:spPr>
          <a:xfrm>
            <a:off x="7406640" y="4434840"/>
            <a:ext cx="292608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cn=HelpDesk</a:t>
            </a:r>
          </a:p>
        </p:txBody>
      </p:sp>
      <p:cxnSp>
        <p:nvCxnSpPr>
          <p:cNvPr id="14" name="Connector 13"/>
          <p:cNvCxnSpPr/>
          <p:nvPr/>
        </p:nvCxnSpPr>
        <p:spPr>
          <a:xfrm flipH="1">
            <a:off x="2743200" y="3337560"/>
            <a:ext cx="548640" cy="45720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2743200" y="3337560"/>
            <a:ext cx="548640" cy="109728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743200" y="3337560"/>
            <a:ext cx="548640" cy="173736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869680" y="3337560"/>
            <a:ext cx="0" cy="45720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69680" y="3337560"/>
            <a:ext cx="0" cy="109728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572000" y="4046220"/>
            <a:ext cx="2834640" cy="0"/>
          </a:xfrm>
          <a:prstGeom prst="line">
            <a:avLst/>
          </a:prstGeom>
          <a:ln w="15875">
            <a:solidFill>
              <a:srgbClr val="00B4D8"/>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4572000" y="4046220"/>
            <a:ext cx="2834640" cy="1280160"/>
          </a:xfrm>
          <a:prstGeom prst="line">
            <a:avLst/>
          </a:prstGeom>
          <a:ln w="15875">
            <a:solidFill>
              <a:srgbClr val="00B4D8"/>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572000" y="4686300"/>
            <a:ext cx="2834640" cy="0"/>
          </a:xfrm>
          <a:prstGeom prst="line">
            <a:avLst/>
          </a:prstGeom>
          <a:ln w="15875">
            <a:solidFill>
              <a:srgbClr val="00B4D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0080" y="5760720"/>
            <a:ext cx="10911535" cy="365760"/>
          </a:xfrm>
          <a:prstGeom prst="rect">
            <a:avLst/>
          </a:prstGeom>
          <a:noFill/>
        </p:spPr>
        <p:txBody>
          <a:bodyPr wrap="square" lIns="0" tIns="0">
            <a:spAutoFit/>
          </a:bodyPr>
          <a:lstStyle/>
          <a:p>
            <a:r>
              <a:rPr sz="1250" b="0" i="1">
                <a:solidFill>
                  <a:srgbClr val="6B7480"/>
                </a:solidFill>
                <a:latin typeface="Calibri"/>
              </a:rPr>
              <a:t>Dashed cyan lines = memberOf cross-references (not tree edges) - previews the AND-filter exercise next.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LDAP Filter Syntax Cheat Sheet</a:t>
            </a:r>
          </a:p>
        </p:txBody>
      </p:sp>
      <p:graphicFrame>
        <p:nvGraphicFramePr>
          <p:cNvPr id="3" name="Table 2"/>
          <p:cNvGraphicFramePr>
            <a:graphicFrameLocks noGrp="1"/>
          </p:cNvGraphicFramePr>
          <p:nvPr/>
        </p:nvGraphicFramePr>
        <p:xfrm>
          <a:off x="640080" y="1554480"/>
          <a:ext cx="10820095" cy="2286000"/>
        </p:xfrm>
        <a:graphic>
          <a:graphicData uri="http://schemas.openxmlformats.org/drawingml/2006/table">
            <a:tbl>
              <a:tblPr firstRow="1" bandRow="1">
                <a:tableStyleId>{5C22544A-7EE6-4342-B048-85BDC9FD1C3A}</a:tableStyleId>
              </a:tblPr>
              <a:tblGrid>
                <a:gridCol w="2011680"/>
                <a:gridCol w="3200400"/>
                <a:gridCol w="5608015"/>
              </a:tblGrid>
              <a:tr h="457200">
                <a:tc>
                  <a:txBody>
                    <a:bodyPr/>
                    <a:lstStyle/>
                    <a:p>
                      <a:pPr algn="l"/>
                      <a:r>
                        <a:rPr sz="1250" b="1" i="0">
                          <a:solidFill>
                            <a:srgbClr val="FFFFFF"/>
                          </a:solidFill>
                          <a:latin typeface="Calibri"/>
                        </a:rPr>
                        <a:t>Operator</a:t>
                      </a:r>
                    </a:p>
                  </a:txBody>
                  <a:tcPr anchor="ctr" marL="76200" marR="76200" marT="38100" marB="38100">
                    <a:solidFill>
                      <a:srgbClr val="1B2A4A"/>
                    </a:solidFill>
                  </a:tcPr>
                </a:tc>
                <a:tc>
                  <a:txBody>
                    <a:bodyPr/>
                    <a:lstStyle/>
                    <a:p>
                      <a:pPr algn="l"/>
                      <a:r>
                        <a:rPr sz="1250" b="1" i="0">
                          <a:solidFill>
                            <a:srgbClr val="FFFFFF"/>
                          </a:solidFill>
                          <a:latin typeface="Calibri"/>
                        </a:rPr>
                        <a:t>Meaning</a:t>
                      </a:r>
                    </a:p>
                  </a:txBody>
                  <a:tcPr anchor="ctr" marL="76200" marR="76200" marT="38100" marB="38100">
                    <a:solidFill>
                      <a:srgbClr val="1B2A4A"/>
                    </a:solidFill>
                  </a:tcPr>
                </a:tc>
                <a:tc>
                  <a:txBody>
                    <a:bodyPr/>
                    <a:lstStyle/>
                    <a:p>
                      <a:pPr algn="l"/>
                      <a:r>
                        <a:rPr sz="1250" b="1" i="0">
                          <a:solidFill>
                            <a:srgbClr val="FFFFFF"/>
                          </a:solidFill>
                          <a:latin typeface="Calibri"/>
                        </a:rPr>
                        <a:t>Example</a:t>
                      </a:r>
                    </a:p>
                  </a:txBody>
                  <a:tcPr anchor="ctr" marL="76200" marR="76200" marT="38100" marB="38100">
                    <a:solidFill>
                      <a:srgbClr val="1B2A4A"/>
                    </a:solidFill>
                  </a:tcPr>
                </a:tc>
              </a:tr>
              <a:tr h="457200">
                <a:tc>
                  <a:txBody>
                    <a:bodyPr/>
                    <a:lstStyle/>
                    <a:p>
                      <a:pPr algn="l"/>
                      <a:r>
                        <a:rPr sz="1100" b="0" i="0">
                          <a:solidFill>
                            <a:srgbClr val="111B30"/>
                          </a:solidFill>
                          <a:latin typeface="Calibri"/>
                        </a:rPr>
                        <a:t>(&amp;(A)(B))</a:t>
                      </a:r>
                    </a:p>
                  </a:txBody>
                  <a:tcPr anchor="ctr" marL="76200" marR="76200" marT="38100" marB="38100">
                    <a:solidFill>
                      <a:srgbClr val="FFFFFF"/>
                    </a:solidFill>
                  </a:tcPr>
                </a:tc>
                <a:tc>
                  <a:txBody>
                    <a:bodyPr/>
                    <a:lstStyle/>
                    <a:p>
                      <a:pPr algn="l"/>
                      <a:r>
                        <a:rPr sz="1100" b="0" i="0">
                          <a:solidFill>
                            <a:srgbClr val="111B30"/>
                          </a:solidFill>
                          <a:latin typeface="Calibri"/>
                        </a:rPr>
                        <a:t>AND - both conditions must match</a:t>
                      </a:r>
                    </a:p>
                  </a:txBody>
                  <a:tcPr anchor="ctr" marL="76200" marR="76200" marT="38100" marB="38100">
                    <a:solidFill>
                      <a:srgbClr val="FFFFFF"/>
                    </a:solidFill>
                  </a:tcPr>
                </a:tc>
                <a:tc>
                  <a:txBody>
                    <a:bodyPr/>
                    <a:lstStyle/>
                    <a:p>
                      <a:pPr algn="l"/>
                      <a:r>
                        <a:rPr sz="1100" b="0" i="0">
                          <a:solidFill>
                            <a:srgbClr val="111B30"/>
                          </a:solidFill>
                          <a:latin typeface="Calibri"/>
                        </a:rPr>
                        <a:t>(&amp;(objectClass=person)(memberOf=cn=NetworkAdmins,ou=Groups,dc=corp,dc=lab))</a:t>
                      </a:r>
                    </a:p>
                  </a:txBody>
                  <a:tcPr anchor="ctr" marL="76200" marR="76200" marT="38100" marB="38100">
                    <a:solidFill>
                      <a:srgbClr val="FFFFFF"/>
                    </a:solidFill>
                  </a:tcPr>
                </a:tc>
              </a:tr>
              <a:tr h="457200">
                <a:tc>
                  <a:txBody>
                    <a:bodyPr/>
                    <a:lstStyle/>
                    <a:p>
                      <a:pPr algn="l"/>
                      <a:r>
                        <a:rPr sz="1100" b="0" i="0">
                          <a:solidFill>
                            <a:srgbClr val="111B30"/>
                          </a:solidFill>
                          <a:latin typeface="Calibri"/>
                        </a:rPr>
                        <a:t>(|(A)(B))</a:t>
                      </a:r>
                    </a:p>
                  </a:txBody>
                  <a:tcPr anchor="ctr" marL="76200" marR="76200" marT="38100" marB="38100">
                    <a:solidFill>
                      <a:srgbClr val="E8EEF7"/>
                    </a:solidFill>
                  </a:tcPr>
                </a:tc>
                <a:tc>
                  <a:txBody>
                    <a:bodyPr/>
                    <a:lstStyle/>
                    <a:p>
                      <a:pPr algn="l"/>
                      <a:r>
                        <a:rPr sz="1100" b="0" i="0">
                          <a:solidFill>
                            <a:srgbClr val="111B30"/>
                          </a:solidFill>
                          <a:latin typeface="Calibri"/>
                        </a:rPr>
                        <a:t>OR - either condition matches</a:t>
                      </a:r>
                    </a:p>
                  </a:txBody>
                  <a:tcPr anchor="ctr" marL="76200" marR="76200" marT="38100" marB="38100">
                    <a:solidFill>
                      <a:srgbClr val="E8EEF7"/>
                    </a:solidFill>
                  </a:tcPr>
                </a:tc>
                <a:tc>
                  <a:txBody>
                    <a:bodyPr/>
                    <a:lstStyle/>
                    <a:p>
                      <a:pPr algn="l"/>
                      <a:r>
                        <a:rPr sz="1100" b="0" i="0">
                          <a:solidFill>
                            <a:srgbClr val="111B30"/>
                          </a:solidFill>
                          <a:latin typeface="Calibri"/>
                        </a:rPr>
                        <a:t>(|(uid=jsmith)(uid=tlowe))</a:t>
                      </a:r>
                    </a:p>
                  </a:txBody>
                  <a:tcPr anchor="ctr" marL="76200" marR="76200" marT="38100" marB="38100">
                    <a:solidFill>
                      <a:srgbClr val="E8EEF7"/>
                    </a:solidFill>
                  </a:tcPr>
                </a:tc>
              </a:tr>
              <a:tr h="457200">
                <a:tc>
                  <a:txBody>
                    <a:bodyPr/>
                    <a:lstStyle/>
                    <a:p>
                      <a:pPr algn="l"/>
                      <a:r>
                        <a:rPr sz="1100" b="0" i="0">
                          <a:solidFill>
                            <a:srgbClr val="111B30"/>
                          </a:solidFill>
                          <a:latin typeface="Calibri"/>
                        </a:rPr>
                        <a:t>(!(A))</a:t>
                      </a:r>
                    </a:p>
                  </a:txBody>
                  <a:tcPr anchor="ctr" marL="76200" marR="76200" marT="38100" marB="38100">
                    <a:solidFill>
                      <a:srgbClr val="FFFFFF"/>
                    </a:solidFill>
                  </a:tcPr>
                </a:tc>
                <a:tc>
                  <a:txBody>
                    <a:bodyPr/>
                    <a:lstStyle/>
                    <a:p>
                      <a:pPr algn="l"/>
                      <a:r>
                        <a:rPr sz="1100" b="0" i="0">
                          <a:solidFill>
                            <a:srgbClr val="111B30"/>
                          </a:solidFill>
                          <a:latin typeface="Calibri"/>
                        </a:rPr>
                        <a:t>NOT - negation</a:t>
                      </a:r>
                    </a:p>
                  </a:txBody>
                  <a:tcPr anchor="ctr" marL="76200" marR="76200" marT="38100" marB="38100">
                    <a:solidFill>
                      <a:srgbClr val="FFFFFF"/>
                    </a:solidFill>
                  </a:tcPr>
                </a:tc>
                <a:tc>
                  <a:txBody>
                    <a:bodyPr/>
                    <a:lstStyle/>
                    <a:p>
                      <a:pPr algn="l"/>
                      <a:r>
                        <a:rPr sz="1100" b="0" i="0">
                          <a:solidFill>
                            <a:srgbClr val="111B30"/>
                          </a:solidFill>
                          <a:latin typeface="Calibri"/>
                        </a:rPr>
                        <a:t>(!(userAccountControl=512))</a:t>
                      </a:r>
                    </a:p>
                  </a:txBody>
                  <a:tcPr anchor="ctr" marL="76200" marR="76200" marT="38100" marB="38100">
                    <a:solidFill>
                      <a:srgbClr val="FFFFFF"/>
                    </a:solidFill>
                  </a:tcPr>
                </a:tc>
              </a:tr>
              <a:tr h="457200">
                <a:tc>
                  <a:txBody>
                    <a:bodyPr/>
                    <a:lstStyle/>
                    <a:p>
                      <a:pPr algn="l"/>
                      <a:r>
                        <a:rPr sz="1100" b="0" i="0">
                          <a:solidFill>
                            <a:srgbClr val="111B30"/>
                          </a:solidFill>
                          <a:latin typeface="Calibri"/>
                        </a:rPr>
                        <a:t>attr:OID:=value</a:t>
                      </a:r>
                    </a:p>
                  </a:txBody>
                  <a:tcPr anchor="ctr" marL="76200" marR="76200" marT="38100" marB="38100">
                    <a:solidFill>
                      <a:srgbClr val="E8EEF7"/>
                    </a:solidFill>
                  </a:tcPr>
                </a:tc>
                <a:tc>
                  <a:txBody>
                    <a:bodyPr/>
                    <a:lstStyle/>
                    <a:p>
                      <a:pPr algn="l"/>
                      <a:r>
                        <a:rPr sz="1100" b="0" i="0">
                          <a:solidFill>
                            <a:srgbClr val="111B30"/>
                          </a:solidFill>
                          <a:latin typeface="Calibri"/>
                        </a:rPr>
                        <a:t>Bitwise matching rule (flag attributes)</a:t>
                      </a:r>
                    </a:p>
                  </a:txBody>
                  <a:tcPr anchor="ctr" marL="76200" marR="76200" marT="38100" marB="38100">
                    <a:solidFill>
                      <a:srgbClr val="E8EEF7"/>
                    </a:solidFill>
                  </a:tcPr>
                </a:tc>
                <a:tc>
                  <a:txBody>
                    <a:bodyPr/>
                    <a:lstStyle/>
                    <a:p>
                      <a:pPr algn="l"/>
                      <a:r>
                        <a:rPr sz="1100" b="0" i="0">
                          <a:solidFill>
                            <a:srgbClr val="111B30"/>
                          </a:solidFill>
                          <a:latin typeface="Calibri"/>
                        </a:rPr>
                        <a:t>(userAccountControl:1.2.840.113556.1.4.803:=2) - bit 2 set (disabled)</a:t>
                      </a:r>
                    </a:p>
                  </a:txBody>
                  <a:tcPr anchor="ctr" marL="76200" marR="76200" marT="38100" marB="38100">
                    <a:solidFill>
                      <a:srgbClr val="E8EEF7"/>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userAccountControl: Reading the Bitwise Flags</a:t>
            </a:r>
          </a:p>
        </p:txBody>
      </p:sp>
      <p:graphicFrame>
        <p:nvGraphicFramePr>
          <p:cNvPr id="3" name="Table 2"/>
          <p:cNvGraphicFramePr>
            <a:graphicFrameLocks noGrp="1"/>
          </p:cNvGraphicFramePr>
          <p:nvPr/>
        </p:nvGraphicFramePr>
        <p:xfrm>
          <a:off x="640080" y="1554480"/>
          <a:ext cx="10362895" cy="2286000"/>
        </p:xfrm>
        <a:graphic>
          <a:graphicData uri="http://schemas.openxmlformats.org/drawingml/2006/table">
            <a:tbl>
              <a:tblPr firstRow="1" bandRow="1">
                <a:tableStyleId>{5C22544A-7EE6-4342-B048-85BDC9FD1C3A}</a:tableStyleId>
              </a:tblPr>
              <a:tblGrid>
                <a:gridCol w="2743200"/>
                <a:gridCol w="7619695"/>
              </a:tblGrid>
              <a:tr h="457200">
                <a:tc>
                  <a:txBody>
                    <a:bodyPr/>
                    <a:lstStyle/>
                    <a:p>
                      <a:pPr algn="l"/>
                      <a:r>
                        <a:rPr sz="1250" b="1" i="0">
                          <a:solidFill>
                            <a:srgbClr val="FFFFFF"/>
                          </a:solidFill>
                          <a:latin typeface="Calibri"/>
                        </a:rPr>
                        <a:t>Value</a:t>
                      </a:r>
                    </a:p>
                  </a:txBody>
                  <a:tcPr anchor="ctr" marL="76200" marR="76200" marT="38100" marB="38100">
                    <a:solidFill>
                      <a:srgbClr val="1B2A4A"/>
                    </a:solidFill>
                  </a:tcPr>
                </a:tc>
                <a:tc>
                  <a:txBody>
                    <a:bodyPr/>
                    <a:lstStyle/>
                    <a:p>
                      <a:pPr algn="l"/>
                      <a:r>
                        <a:rPr sz="1250" b="1" i="0">
                          <a:solidFill>
                            <a:srgbClr val="FFFFFF"/>
                          </a:solidFill>
                          <a:latin typeface="Calibri"/>
                        </a:rPr>
                        <a:t>Meaning</a:t>
                      </a:r>
                    </a:p>
                  </a:txBody>
                  <a:tcPr anchor="ctr" marL="76200" marR="76200" marT="38100" marB="38100">
                    <a:solidFill>
                      <a:srgbClr val="1B2A4A"/>
                    </a:solidFill>
                  </a:tcPr>
                </a:tc>
              </a:tr>
              <a:tr h="457200">
                <a:tc>
                  <a:txBody>
                    <a:bodyPr/>
                    <a:lstStyle/>
                    <a:p>
                      <a:pPr algn="l"/>
                      <a:r>
                        <a:rPr sz="1350" b="0" i="0">
                          <a:solidFill>
                            <a:srgbClr val="111B30"/>
                          </a:solidFill>
                          <a:latin typeface="Calibri"/>
                        </a:rPr>
                        <a:t>512</a:t>
                      </a:r>
                    </a:p>
                  </a:txBody>
                  <a:tcPr anchor="ctr" marL="76200" marR="76200" marT="38100" marB="38100">
                    <a:solidFill>
                      <a:srgbClr val="FFFFFF"/>
                    </a:solidFill>
                  </a:tcPr>
                </a:tc>
                <a:tc>
                  <a:txBody>
                    <a:bodyPr/>
                    <a:lstStyle/>
                    <a:p>
                      <a:pPr algn="l"/>
                      <a:r>
                        <a:rPr sz="1350" b="0" i="0">
                          <a:solidFill>
                            <a:srgbClr val="111B30"/>
                          </a:solidFill>
                          <a:latin typeface="Calibri"/>
                        </a:rPr>
                        <a:t>Normal enabled account</a:t>
                      </a:r>
                    </a:p>
                  </a:txBody>
                  <a:tcPr anchor="ctr" marL="76200" marR="76200" marT="38100" marB="38100">
                    <a:solidFill>
                      <a:srgbClr val="FFFFFF"/>
                    </a:solidFill>
                  </a:tcPr>
                </a:tc>
              </a:tr>
              <a:tr h="457200">
                <a:tc>
                  <a:txBody>
                    <a:bodyPr/>
                    <a:lstStyle/>
                    <a:p>
                      <a:pPr algn="l"/>
                      <a:r>
                        <a:rPr sz="1350" b="0" i="0">
                          <a:solidFill>
                            <a:srgbClr val="111B30"/>
                          </a:solidFill>
                          <a:latin typeface="Calibri"/>
                        </a:rPr>
                        <a:t>514</a:t>
                      </a:r>
                    </a:p>
                  </a:txBody>
                  <a:tcPr anchor="ctr" marL="76200" marR="76200" marT="38100" marB="38100">
                    <a:solidFill>
                      <a:srgbClr val="E8EEF7"/>
                    </a:solidFill>
                  </a:tcPr>
                </a:tc>
                <a:tc>
                  <a:txBody>
                    <a:bodyPr/>
                    <a:lstStyle/>
                    <a:p>
                      <a:pPr algn="l"/>
                      <a:r>
                        <a:rPr sz="1350" b="0" i="0">
                          <a:solidFill>
                            <a:srgbClr val="111B30"/>
                          </a:solidFill>
                          <a:latin typeface="Calibri"/>
                        </a:rPr>
                        <a:t>Disabled account (512 + disabled bit 2)</a:t>
                      </a:r>
                    </a:p>
                  </a:txBody>
                  <a:tcPr anchor="ctr" marL="76200" marR="76200" marT="38100" marB="38100">
                    <a:solidFill>
                      <a:srgbClr val="E8EEF7"/>
                    </a:solidFill>
                  </a:tcPr>
                </a:tc>
              </a:tr>
              <a:tr h="457200">
                <a:tc>
                  <a:txBody>
                    <a:bodyPr/>
                    <a:lstStyle/>
                    <a:p>
                      <a:pPr algn="l"/>
                      <a:r>
                        <a:rPr sz="1350" b="0" i="0">
                          <a:solidFill>
                            <a:srgbClr val="111B30"/>
                          </a:solidFill>
                          <a:latin typeface="Calibri"/>
                        </a:rPr>
                        <a:t>66050</a:t>
                      </a:r>
                    </a:p>
                  </a:txBody>
                  <a:tcPr anchor="ctr" marL="76200" marR="76200" marT="38100" marB="38100">
                    <a:solidFill>
                      <a:srgbClr val="FFFFFF"/>
                    </a:solidFill>
                  </a:tcPr>
                </a:tc>
                <a:tc>
                  <a:txBody>
                    <a:bodyPr/>
                    <a:lstStyle/>
                    <a:p>
                      <a:pPr algn="l"/>
                      <a:r>
                        <a:rPr sz="1350" b="0" i="0">
                          <a:solidFill>
                            <a:srgbClr val="111B30"/>
                          </a:solidFill>
                          <a:latin typeface="Calibri"/>
                        </a:rPr>
                        <a:t>Disabled + password never expires (514 + 65536)</a:t>
                      </a:r>
                    </a:p>
                  </a:txBody>
                  <a:tcPr anchor="ctr" marL="76200" marR="76200" marT="38100" marB="38100">
                    <a:solidFill>
                      <a:srgbClr val="FFFFFF"/>
                    </a:solidFill>
                  </a:tcPr>
                </a:tc>
              </a:tr>
              <a:tr h="457200">
                <a:tc>
                  <a:txBody>
                    <a:bodyPr/>
                    <a:lstStyle/>
                    <a:p>
                      <a:pPr algn="l"/>
                      <a:r>
                        <a:rPr sz="1350" b="0" i="0">
                          <a:solidFill>
                            <a:srgbClr val="111B30"/>
                          </a:solidFill>
                          <a:latin typeface="Calibri"/>
                        </a:rPr>
                        <a:t>Bit 2 (0x2)</a:t>
                      </a:r>
                    </a:p>
                  </a:txBody>
                  <a:tcPr anchor="ctr" marL="76200" marR="76200" marT="38100" marB="38100">
                    <a:solidFill>
                      <a:srgbClr val="E8EEF7"/>
                    </a:solidFill>
                  </a:tcPr>
                </a:tc>
                <a:tc>
                  <a:txBody>
                    <a:bodyPr/>
                    <a:lstStyle/>
                    <a:p>
                      <a:pPr algn="l"/>
                      <a:r>
                        <a:rPr sz="1350" b="0" i="0">
                          <a:solidFill>
                            <a:srgbClr val="111B30"/>
                          </a:solidFill>
                          <a:latin typeface="Calibri"/>
                        </a:rPr>
                        <a:t>The “disabled” flag specifically - this is what the matching-rule OID filter targets</a:t>
                      </a:r>
                    </a:p>
                  </a:txBody>
                  <a:tcPr anchor="ctr" marL="76200" marR="76200" marT="38100" marB="38100">
                    <a:solidFill>
                      <a:srgbClr val="E8EEF7"/>
                    </a:solidFill>
                  </a:tcPr>
                </a:tc>
              </a:tr>
            </a:tbl>
          </a:graphicData>
        </a:graphic>
      </p:graphicFrame>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RADIUS AAA Flow</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Centralizing network device logins - routers/switches/VPN concentrators face the same credential-sprawl problem as workstations.</a:t>
            </a:r>
          </a:p>
        </p:txBody>
      </p:sp>
      <p:sp>
        <p:nvSpPr>
          <p:cNvPr id="4" name="Rounded Rectangle 3"/>
          <p:cNvSpPr/>
          <p:nvPr/>
        </p:nvSpPr>
        <p:spPr>
          <a:xfrm>
            <a:off x="914400" y="3291840"/>
            <a:ext cx="210312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Admin /</a:t>
            </a:r>
          </a:p>
          <a:p>
            <a:pPr algn="ctr"/>
            <a:r>
              <a:rPr sz="1000" b="0" i="0">
                <a:solidFill>
                  <a:srgbClr val="111B30"/>
                </a:solidFill>
                <a:latin typeface="Calibri"/>
              </a:rPr>
              <a:t>Supplicant</a:t>
            </a:r>
          </a:p>
        </p:txBody>
      </p:sp>
      <p:sp>
        <p:nvSpPr>
          <p:cNvPr id="5" name="Rounded Rectangle 4"/>
          <p:cNvSpPr/>
          <p:nvPr/>
        </p:nvSpPr>
        <p:spPr>
          <a:xfrm>
            <a:off x="3657600" y="3291840"/>
            <a:ext cx="228600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Network Device</a:t>
            </a:r>
          </a:p>
          <a:p>
            <a:pPr algn="ctr"/>
            <a:r>
              <a:rPr sz="1000" b="0" i="0">
                <a:solidFill>
                  <a:srgbClr val="111B30"/>
                </a:solidFill>
                <a:latin typeface="Calibri"/>
              </a:rPr>
              <a:t>(NAS)</a:t>
            </a:r>
          </a:p>
        </p:txBody>
      </p:sp>
      <p:sp>
        <p:nvSpPr>
          <p:cNvPr id="6" name="Rounded Rectangle 5"/>
          <p:cNvSpPr/>
          <p:nvPr/>
        </p:nvSpPr>
        <p:spPr>
          <a:xfrm>
            <a:off x="6537960" y="3291840"/>
            <a:ext cx="219456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RADIUS Server</a:t>
            </a:r>
          </a:p>
        </p:txBody>
      </p:sp>
      <p:sp>
        <p:nvSpPr>
          <p:cNvPr id="7" name="Rounded Rectangle 6"/>
          <p:cNvSpPr/>
          <p:nvPr/>
        </p:nvSpPr>
        <p:spPr>
          <a:xfrm>
            <a:off x="9281160" y="3291840"/>
            <a:ext cx="201168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Identity Store</a:t>
            </a:r>
          </a:p>
          <a:p>
            <a:pPr algn="ctr"/>
            <a:r>
              <a:rPr sz="950" b="0" i="0">
                <a:solidFill>
                  <a:srgbClr val="111B30"/>
                </a:solidFill>
                <a:latin typeface="Calibri"/>
              </a:rPr>
              <a:t>(AD/LDAP)</a:t>
            </a:r>
          </a:p>
        </p:txBody>
      </p:sp>
      <p:cxnSp>
        <p:nvCxnSpPr>
          <p:cNvPr id="8" name="Connector 7"/>
          <p:cNvCxnSpPr/>
          <p:nvPr/>
        </p:nvCxnSpPr>
        <p:spPr>
          <a:xfrm>
            <a:off x="3017520" y="3657600"/>
            <a:ext cx="64008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468880" y="3511296"/>
            <a:ext cx="1737360" cy="292608"/>
          </a:xfrm>
          <a:prstGeom prst="rect">
            <a:avLst/>
          </a:prstGeom>
          <a:noFill/>
        </p:spPr>
        <p:txBody>
          <a:bodyPr wrap="square" lIns="0" tIns="0">
            <a:spAutoFit/>
          </a:bodyPr>
          <a:lstStyle/>
          <a:p>
            <a:pPr algn="ctr"/>
            <a:r>
              <a:rPr sz="900" b="0" i="1">
                <a:solidFill>
                  <a:srgbClr val="404040"/>
                </a:solidFill>
                <a:latin typeface="Calibri"/>
              </a:rPr>
              <a:t>credentials</a:t>
            </a:r>
          </a:p>
        </p:txBody>
      </p:sp>
      <p:cxnSp>
        <p:nvCxnSpPr>
          <p:cNvPr id="10" name="Connector 9"/>
          <p:cNvCxnSpPr/>
          <p:nvPr/>
        </p:nvCxnSpPr>
        <p:spPr>
          <a:xfrm>
            <a:off x="5943600" y="3657600"/>
            <a:ext cx="59436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372100" y="3511296"/>
            <a:ext cx="1737360" cy="292608"/>
          </a:xfrm>
          <a:prstGeom prst="rect">
            <a:avLst/>
          </a:prstGeom>
          <a:noFill/>
        </p:spPr>
        <p:txBody>
          <a:bodyPr wrap="square" lIns="0" tIns="0">
            <a:spAutoFit/>
          </a:bodyPr>
          <a:lstStyle/>
          <a:p>
            <a:pPr algn="ctr"/>
            <a:r>
              <a:rPr sz="900" b="0" i="1">
                <a:solidFill>
                  <a:srgbClr val="404040"/>
                </a:solidFill>
                <a:latin typeface="Calibri"/>
              </a:rPr>
              <a:t>Access-Request</a:t>
            </a:r>
          </a:p>
        </p:txBody>
      </p:sp>
      <p:cxnSp>
        <p:nvCxnSpPr>
          <p:cNvPr id="12" name="Connector 11"/>
          <p:cNvCxnSpPr/>
          <p:nvPr/>
        </p:nvCxnSpPr>
        <p:spPr>
          <a:xfrm>
            <a:off x="8732520" y="3657600"/>
            <a:ext cx="54864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138160" y="3511296"/>
            <a:ext cx="1737360" cy="292608"/>
          </a:xfrm>
          <a:prstGeom prst="rect">
            <a:avLst/>
          </a:prstGeom>
          <a:noFill/>
        </p:spPr>
        <p:txBody>
          <a:bodyPr wrap="square" lIns="0" tIns="0">
            <a:spAutoFit/>
          </a:bodyPr>
          <a:lstStyle/>
          <a:p>
            <a:pPr algn="ctr"/>
            <a:r>
              <a:rPr sz="900" b="0" i="1">
                <a:solidFill>
                  <a:srgbClr val="404040"/>
                </a:solidFill>
                <a:latin typeface="Calibri"/>
              </a:rPr>
              <a:t>queries</a:t>
            </a:r>
          </a:p>
        </p:txBody>
      </p:sp>
      <p:cxnSp>
        <p:nvCxnSpPr>
          <p:cNvPr id="14" name="Connector 13"/>
          <p:cNvCxnSpPr/>
          <p:nvPr/>
        </p:nvCxnSpPr>
        <p:spPr>
          <a:xfrm flipH="1">
            <a:off x="7635240" y="4023360"/>
            <a:ext cx="2651760" cy="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092440" y="3877056"/>
            <a:ext cx="1737360" cy="292608"/>
          </a:xfrm>
          <a:prstGeom prst="rect">
            <a:avLst/>
          </a:prstGeom>
          <a:noFill/>
        </p:spPr>
        <p:txBody>
          <a:bodyPr wrap="square" lIns="0" tIns="0">
            <a:spAutoFit/>
          </a:bodyPr>
          <a:lstStyle/>
          <a:p>
            <a:pPr algn="ctr"/>
            <a:r>
              <a:rPr sz="900" b="0" i="1">
                <a:solidFill>
                  <a:srgbClr val="404040"/>
                </a:solidFill>
                <a:latin typeface="Calibri"/>
              </a:rPr>
              <a:t>auth result</a:t>
            </a:r>
          </a:p>
        </p:txBody>
      </p:sp>
      <p:cxnSp>
        <p:nvCxnSpPr>
          <p:cNvPr id="16" name="Connector 15"/>
          <p:cNvCxnSpPr/>
          <p:nvPr/>
        </p:nvCxnSpPr>
        <p:spPr>
          <a:xfrm flipH="1">
            <a:off x="4800600" y="4023360"/>
            <a:ext cx="2834640" cy="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349240" y="3877056"/>
            <a:ext cx="1737360" cy="292608"/>
          </a:xfrm>
          <a:prstGeom prst="rect">
            <a:avLst/>
          </a:prstGeom>
          <a:noFill/>
        </p:spPr>
        <p:txBody>
          <a:bodyPr wrap="square" lIns="0" tIns="0">
            <a:spAutoFit/>
          </a:bodyPr>
          <a:lstStyle/>
          <a:p>
            <a:pPr algn="ctr"/>
            <a:r>
              <a:rPr sz="900" b="0" i="1">
                <a:solidFill>
                  <a:srgbClr val="404040"/>
                </a:solidFill>
                <a:latin typeface="Calibri"/>
              </a:rPr>
              <a:t>Access-Accept/Reject</a:t>
            </a:r>
          </a:p>
        </p:txBody>
      </p:sp>
      <p:cxnSp>
        <p:nvCxnSpPr>
          <p:cNvPr id="18" name="Connector 17"/>
          <p:cNvCxnSpPr/>
          <p:nvPr/>
        </p:nvCxnSpPr>
        <p:spPr>
          <a:xfrm flipH="1">
            <a:off x="1965960" y="4023360"/>
            <a:ext cx="2834640" cy="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514600" y="3877056"/>
            <a:ext cx="1737360" cy="292608"/>
          </a:xfrm>
          <a:prstGeom prst="rect">
            <a:avLst/>
          </a:prstGeom>
          <a:noFill/>
        </p:spPr>
        <p:txBody>
          <a:bodyPr wrap="square" lIns="0" tIns="0">
            <a:spAutoFit/>
          </a:bodyPr>
          <a:lstStyle/>
          <a:p>
            <a:pPr algn="ctr"/>
            <a:r>
              <a:rPr sz="900" b="0" i="1">
                <a:solidFill>
                  <a:srgbClr val="404040"/>
                </a:solidFill>
                <a:latin typeface="Calibri"/>
              </a:rPr>
              <a:t>access granted/denied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RADIUS Protocol Basics</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RFC 2865 - the protocol most network gear speaks for centralized login instead of Kerberos/NTLM</a:t>
            </a:r>
          </a:p>
          <a:p>
            <a:pPr algn="l">
              <a:spcAft>
                <a:spcPts val="1200"/>
              </a:spcAft>
            </a:pPr>
            <a:r>
              <a:rPr sz="1600" b="0" i="0">
                <a:solidFill>
                  <a:srgbClr val="111B30"/>
                </a:solidFill>
                <a:latin typeface="Calibri"/>
              </a:rPr>
              <a:t>●   UDP, not TCP - port 1812 for authentication, port 1813 for accounting</a:t>
            </a:r>
          </a:p>
          <a:p>
            <a:pPr algn="l">
              <a:spcAft>
                <a:spcPts val="1200"/>
              </a:spcAft>
            </a:pPr>
            <a:r>
              <a:rPr sz="1600" b="0" i="0">
                <a:solidFill>
                  <a:srgbClr val="111B30"/>
                </a:solidFill>
                <a:latin typeface="Calibri"/>
              </a:rPr>
              <a:t>●   Trust lives between the NAS (Network Access Server - the router/switch/VPN box) and the RADIUS server, secured by a shared secret - not between the end user and the server directly</a:t>
            </a:r>
          </a:p>
          <a:p>
            <a:pPr algn="l">
              <a:spcAft>
                <a:spcPts val="1200"/>
              </a:spcAft>
            </a:pPr>
            <a:r>
              <a:rPr sz="1600" b="0" i="0">
                <a:solidFill>
                  <a:srgbClr val="111B30"/>
                </a:solidFill>
                <a:latin typeface="Calibri"/>
              </a:rPr>
              <a:t>●   One exchange: Access-Request in, then Access-Accept / Access-Reject / Access-Challenge back (the last used for multi-factor flows)</a:t>
            </a:r>
          </a:p>
          <a:p>
            <a:pPr algn="l">
              <a:spcAft>
                <a:spcPts val="1200"/>
              </a:spcAft>
            </a:pPr>
            <a:r>
              <a:rPr sz="1600" b="0" i="0">
                <a:solidFill>
                  <a:srgbClr val="111B30"/>
                </a:solidFill>
                <a:latin typeface="Calibri"/>
              </a:rPr>
              <a:t>●   Authorization can ride along on an Access-Accept as reply attributes (e.g. VLAN or privilege level); Accounting - start/stop/interim usage records - is the third "A", separate from authentication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Minimal FreeRADIUS Deployment: Test-First Approach</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FreeRADIUS installed on a separate Linux host, never on the domain controller itself</a:t>
            </a:r>
          </a:p>
          <a:p>
            <a:pPr algn="l">
              <a:spcAft>
                <a:spcPts val="1200"/>
              </a:spcAft>
            </a:pPr>
            <a:r>
              <a:rPr sz="1600" b="0" i="0">
                <a:solidFill>
                  <a:srgbClr val="111B30"/>
                </a:solidFill>
                <a:latin typeface="Calibri"/>
              </a:rPr>
              <a:t>●   Step 1 - sanity check with a local flat-file user before touching AD integration: sudo dnf install -y freeradius freeradius-utils freeradius-ldap, then add a test user to /etc/raddb/users</a:t>
            </a:r>
          </a:p>
          <a:p>
            <a:pPr algn="l">
              <a:spcAft>
                <a:spcPts val="1200"/>
              </a:spcAft>
            </a:pPr>
            <a:r>
              <a:rPr sz="1600" b="0" i="0">
                <a:solidFill>
                  <a:srgbClr val="111B30"/>
                </a:solidFill>
                <a:latin typeface="Calibri"/>
              </a:rPr>
              <a:t>●   Step 2 - sudo radiusd -X (foreground debug mode) in one terminal to watch requests live</a:t>
            </a:r>
          </a:p>
          <a:p>
            <a:pPr algn="l">
              <a:spcAft>
                <a:spcPts val="1200"/>
              </a:spcAft>
            </a:pPr>
            <a:r>
              <a:rPr sz="1600" b="0" i="0">
                <a:solidFill>
                  <a:srgbClr val="111B30"/>
                </a:solidFill>
                <a:latin typeface="Calibri"/>
              </a:rPr>
              <a:t>●   Step 3 - from a second terminal, radtest testuser testpass123 localhost 0 testing123 sends a real Access-Request</a:t>
            </a:r>
          </a:p>
          <a:p>
            <a:pPr algn="l">
              <a:spcAft>
                <a:spcPts val="1200"/>
              </a:spcAft>
            </a:pPr>
            <a:r>
              <a:rPr sz="1600" b="0" i="0">
                <a:solidFill>
                  <a:srgbClr val="111B30"/>
                </a:solidFill>
                <a:latin typeface="Calibri"/>
              </a:rPr>
              <a:t>●   Success = debug output shows the Access-Request arriving and an Access-Accept going back out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Backing FreeRADIUS with Active Directory (LDAP)</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A flat file doesn't scale past one box and isn't "centralized" - the point is authenticating against the same directory desktops already trust</a:t>
            </a:r>
          </a:p>
          <a:p>
            <a:pPr algn="l">
              <a:spcAft>
                <a:spcPts val="1200"/>
              </a:spcAft>
            </a:pPr>
            <a:r>
              <a:rPr sz="1600" b="0" i="0">
                <a:solidFill>
                  <a:srgbClr val="111B30"/>
                </a:solidFill>
                <a:latin typeface="Calibri"/>
              </a:rPr>
              <a:t>●   FreeRADIUS's ldap module (mods-available/ldap) looks a user up and validates their password against the directory - symlink it into mods-enabled/ to load it</a:t>
            </a:r>
          </a:p>
          <a:p>
            <a:pPr algn="l">
              <a:spcAft>
                <a:spcPts val="1200"/>
              </a:spcAft>
            </a:pPr>
            <a:r>
              <a:rPr sz="1600" b="0" i="0">
                <a:solidFill>
                  <a:srgbClr val="111B30"/>
                </a:solidFill>
                <a:latin typeface="Calibri"/>
              </a:rPr>
              <a:t>●   Point the module's server / base_dn at the domain controller and its distinguished name, with a bind identity that has rights to search the directory</a:t>
            </a:r>
          </a:p>
          <a:p>
            <a:pPr algn="l">
              <a:spcAft>
                <a:spcPts val="1200"/>
              </a:spcAft>
            </a:pPr>
            <a:r>
              <a:rPr sz="1600" b="0" i="0">
                <a:solidFill>
                  <a:srgbClr val="111B30"/>
                </a:solidFill>
                <a:latin typeface="Calibri"/>
              </a:rPr>
              <a:t>●   Reference ldap from the default site's authorize {} block, so an unrecognized username falls through to a directory lookup</a:t>
            </a:r>
          </a:p>
          <a:p>
            <a:pPr algn="l">
              <a:spcAft>
                <a:spcPts val="1200"/>
              </a:spcAft>
            </a:pPr>
            <a:r>
              <a:rPr sz="1600" b="0" i="0">
                <a:solidFill>
                  <a:srgbClr val="111B30"/>
                </a:solidFill>
                <a:latin typeface="Calibri"/>
              </a:rPr>
              <a:t>●   Add an Auth-Type LDAP { ldap } block to authenticate {} - AD only supports validating a password via a real LDAP simple-bind as that user, not a hash comparison</a:t>
            </a:r>
          </a:p>
          <a:p>
            <a:pPr algn="l">
              <a:spcAft>
                <a:spcPts val="1200"/>
              </a:spcAft>
            </a:pPr>
            <a:r>
              <a:rPr sz="1600" b="0" i="0">
                <a:solidFill>
                  <a:srgbClr val="111B30"/>
                </a:solidFill>
                <a:latin typeface="Calibri"/>
              </a:rPr>
              <a:t>●   Keep the RADIUS client on PAP (not CHAP/MSCHAP) - the bind sends the password in the clear over the LDAP connection, and AD's LDAP bind can't validate the other way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Gating a Real Login with RADIUS (PAM + SSH)</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A synthetic Access-Request test never actually logs anyone into anything - this step makes one real SSH login require RADIUS</a:t>
            </a:r>
          </a:p>
          <a:p>
            <a:pPr algn="l">
              <a:spcAft>
                <a:spcPts val="1200"/>
              </a:spcAft>
            </a:pPr>
            <a:r>
              <a:rPr sz="1600" b="0" i="0">
                <a:solidFill>
                  <a:srgbClr val="111B30"/>
                </a:solidFill>
                <a:latin typeface="Calibri"/>
              </a:rPr>
              <a:t>●   Install pam_radius (from EPEL) and point /etc/pam_radius.conf at 127.0.0.1 with the same shared secret already in use</a:t>
            </a:r>
          </a:p>
          <a:p>
            <a:pPr algn="l">
              <a:spcAft>
                <a:spcPts val="1200"/>
              </a:spcAft>
            </a:pPr>
            <a:r>
              <a:rPr sz="1600" b="0" i="0">
                <a:solidFill>
                  <a:srgbClr val="111B30"/>
                </a:solidFill>
                <a:latin typeface="Calibri"/>
              </a:rPr>
              <a:t>●   Create a throwaway local Linux account with no local password - it exists purely so RADIUS has something to authenticate</a:t>
            </a:r>
          </a:p>
          <a:p>
            <a:pPr algn="l">
              <a:spcAft>
                <a:spcPts val="1200"/>
              </a:spcAft>
            </a:pPr>
            <a:r>
              <a:rPr sz="1600" b="0" i="0">
                <a:solidFill>
                  <a:srgbClr val="111B30"/>
                </a:solidFill>
                <a:latin typeface="Calibri"/>
              </a:rPr>
              <a:t>●   Add the RADIUS PAM module to /etc/pam.d/sshd, guarded by pam_succeed_if scoped to just that one account</a:t>
            </a:r>
          </a:p>
          <a:p>
            <a:pPr algn="l">
              <a:spcAft>
                <a:spcPts val="1200"/>
              </a:spcAft>
            </a:pPr>
            <a:r>
              <a:rPr sz="1600" b="0" i="0">
                <a:solidFill>
                  <a:srgbClr val="111B30"/>
                </a:solidFill>
                <a:latin typeface="Calibri"/>
              </a:rPr>
              <a:t>●   Confirm sshd_config has UsePAM yes and KbdInteractiveAuthentication yes</a:t>
            </a:r>
          </a:p>
          <a:p>
            <a:pPr algn="l">
              <a:spcAft>
                <a:spcPts val="1200"/>
              </a:spcAft>
            </a:pPr>
            <a:r>
              <a:rPr sz="1600" b="0" i="0">
                <a:solidFill>
                  <a:srgbClr val="111B30"/>
                </a:solidFill>
                <a:latin typeface="Calibri"/>
              </a:rPr>
              <a:t>●   Verify with a real login: correct password succeeds, wrong password is rejected - keep the original session open as a safety net throughout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LDAP &amp; RADIUS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Attacks &amp; Defenses</a:t>
            </a:r>
          </a:p>
        </p:txBody>
      </p:sp>
      <p:graphicFrame>
        <p:nvGraphicFramePr>
          <p:cNvPr id="4" name="Table 3"/>
          <p:cNvGraphicFramePr>
            <a:graphicFrameLocks noGrp="1"/>
          </p:cNvGraphicFramePr>
          <p:nvPr/>
        </p:nvGraphicFramePr>
        <p:xfrm>
          <a:off x="640080" y="1828800"/>
          <a:ext cx="10911535" cy="2286000"/>
        </p:xfrm>
        <a:graphic>
          <a:graphicData uri="http://schemas.openxmlformats.org/drawingml/2006/table">
            <a:tbl>
              <a:tblPr firstRow="1" bandRow="1">
                <a:tableStyleId>{5C22544A-7EE6-4342-B048-85BDC9FD1C3A}</a:tableStyleId>
              </a:tblPr>
              <a:tblGrid>
                <a:gridCol w="3200400"/>
                <a:gridCol w="4572000"/>
                <a:gridCol w="3139135"/>
              </a:tblGrid>
              <a:tr h="457200">
                <a:tc>
                  <a:txBody>
                    <a:bodyPr/>
                    <a:lstStyle/>
                    <a:p>
                      <a:pPr algn="l"/>
                      <a:r>
                        <a:rPr sz="1250" b="1" i="0">
                          <a:solidFill>
                            <a:srgbClr val="FFFFFF"/>
                          </a:solidFill>
                          <a:latin typeface="Calibri"/>
                        </a:rPr>
                        <a:t>Attack</a:t>
                      </a:r>
                    </a:p>
                  </a:txBody>
                  <a:tcPr anchor="ctr" marL="76200" marR="76200" marT="38100" marB="38100">
                    <a:solidFill>
                      <a:srgbClr val="1B2A4A"/>
                    </a:solidFill>
                  </a:tcPr>
                </a:tc>
                <a:tc>
                  <a:txBody>
                    <a:bodyPr/>
                    <a:lstStyle/>
                    <a:p>
                      <a:pPr algn="l"/>
                      <a:r>
                        <a:rPr sz="1250" b="1" i="0">
                          <a:solidFill>
                            <a:srgbClr val="FFFFFF"/>
                          </a:solidFill>
                          <a:latin typeface="Calibri"/>
                        </a:rPr>
                        <a:t>How It Works</a:t>
                      </a:r>
                    </a:p>
                  </a:txBody>
                  <a:tcPr anchor="ctr" marL="76200" marR="76200" marT="38100" marB="38100">
                    <a:solidFill>
                      <a:srgbClr val="1B2A4A"/>
                    </a:solidFill>
                  </a:tcPr>
                </a:tc>
                <a:tc>
                  <a:txBody>
                    <a:bodyPr/>
                    <a:lstStyle/>
                    <a:p>
                      <a:pPr algn="l"/>
                      <a:r>
                        <a:rPr sz="1250" b="1" i="0">
                          <a:solidFill>
                            <a:srgbClr val="FFFFFF"/>
                          </a:solidFill>
                          <a:latin typeface="Calibri"/>
                        </a:rPr>
                        <a:t>Defense</a:t>
                      </a:r>
                    </a:p>
                  </a:txBody>
                  <a:tcPr anchor="ctr" marL="76200" marR="76200" marT="38100" marB="38100">
                    <a:solidFill>
                      <a:srgbClr val="1B2A4A"/>
                    </a:solidFill>
                  </a:tcPr>
                </a:tc>
              </a:tr>
              <a:tr h="457200">
                <a:tc>
                  <a:txBody>
                    <a:bodyPr/>
                    <a:lstStyle/>
                    <a:p>
                      <a:pPr algn="l"/>
                      <a:r>
                        <a:rPr sz="1200" b="1" i="0">
                          <a:solidFill>
                            <a:srgbClr val="B02A2A"/>
                          </a:solidFill>
                          <a:latin typeface="Calibri"/>
                        </a:rPr>
                        <a:t>LDAP anonymous bind</a:t>
                      </a:r>
                    </a:p>
                  </a:txBody>
                  <a:tcPr anchor="ctr" marL="76200" marR="76200" marT="38100" marB="38100">
                    <a:solidFill>
                      <a:srgbClr val="FFFFFF"/>
                    </a:solidFill>
                  </a:tcPr>
                </a:tc>
                <a:tc>
                  <a:txBody>
                    <a:bodyPr/>
                    <a:lstStyle/>
                    <a:p>
                      <a:pPr algn="l"/>
                      <a:r>
                        <a:rPr sz="1200" b="0" i="0">
                          <a:solidFill>
                            <a:srgbClr val="111B30"/>
                          </a:solidFill>
                          <a:latin typeface="Calibri"/>
                        </a:rPr>
                        <a:t>Unauthenticated queries reveal directory structure/user data</a:t>
                      </a:r>
                    </a:p>
                  </a:txBody>
                  <a:tcPr anchor="ctr" marL="76200" marR="76200" marT="38100" marB="38100">
                    <a:solidFill>
                      <a:srgbClr val="FFFFFF"/>
                    </a:solidFill>
                  </a:tcPr>
                </a:tc>
                <a:tc>
                  <a:txBody>
                    <a:bodyPr/>
                    <a:lstStyle/>
                    <a:p>
                      <a:pPr algn="l"/>
                      <a:r>
                        <a:rPr sz="1200" b="1" i="0">
                          <a:solidFill>
                            <a:srgbClr val="2E7D32"/>
                          </a:solidFill>
                          <a:latin typeface="Calibri"/>
                        </a:rPr>
                        <a:t>Disable anonymous bind; require authenticated LDAP</a:t>
                      </a:r>
                    </a:p>
                  </a:txBody>
                  <a:tcPr anchor="ctr" marL="76200" marR="76200" marT="38100" marB="38100">
                    <a:solidFill>
                      <a:srgbClr val="FFFFFF"/>
                    </a:solidFill>
                  </a:tcPr>
                </a:tc>
              </a:tr>
              <a:tr h="457200">
                <a:tc>
                  <a:txBody>
                    <a:bodyPr/>
                    <a:lstStyle/>
                    <a:p>
                      <a:pPr algn="l"/>
                      <a:r>
                        <a:rPr sz="1200" b="1" i="0">
                          <a:solidFill>
                            <a:srgbClr val="B02A2A"/>
                          </a:solidFill>
                          <a:latin typeface="Calibri"/>
                        </a:rPr>
                        <a:t>LDAP in plaintext</a:t>
                      </a:r>
                    </a:p>
                  </a:txBody>
                  <a:tcPr anchor="ctr" marL="76200" marR="76200" marT="38100" marB="38100">
                    <a:solidFill>
                      <a:srgbClr val="E8EEF7"/>
                    </a:solidFill>
                  </a:tcPr>
                </a:tc>
                <a:tc>
                  <a:txBody>
                    <a:bodyPr/>
                    <a:lstStyle/>
                    <a:p>
                      <a:pPr algn="l"/>
                      <a:r>
                        <a:rPr sz="1200" b="0" i="0">
                          <a:solidFill>
                            <a:srgbClr val="111B30"/>
                          </a:solidFill>
                          <a:latin typeface="Calibri"/>
                        </a:rPr>
                        <a:t>Credentials and query data sent unencrypted, sniffable on the wire</a:t>
                      </a:r>
                    </a:p>
                  </a:txBody>
                  <a:tcPr anchor="ctr" marL="76200" marR="76200" marT="38100" marB="38100">
                    <a:solidFill>
                      <a:srgbClr val="E8EEF7"/>
                    </a:solidFill>
                  </a:tcPr>
                </a:tc>
                <a:tc>
                  <a:txBody>
                    <a:bodyPr/>
                    <a:lstStyle/>
                    <a:p>
                      <a:pPr algn="l"/>
                      <a:r>
                        <a:rPr sz="1200" b="1" i="0">
                          <a:solidFill>
                            <a:srgbClr val="2E7D32"/>
                          </a:solidFill>
                          <a:latin typeface="Calibri"/>
                        </a:rPr>
                        <a:t>LDAPS (LDAP over TLS) instead of plain LDAP</a:t>
                      </a:r>
                    </a:p>
                  </a:txBody>
                  <a:tcPr anchor="ctr" marL="76200" marR="76200" marT="38100" marB="38100">
                    <a:solidFill>
                      <a:srgbClr val="E8EEF7"/>
                    </a:solidFill>
                  </a:tcPr>
                </a:tc>
              </a:tr>
              <a:tr h="457200">
                <a:tc>
                  <a:txBody>
                    <a:bodyPr/>
                    <a:lstStyle/>
                    <a:p>
                      <a:pPr algn="l"/>
                      <a:r>
                        <a:rPr sz="1200" b="1" i="0">
                          <a:solidFill>
                            <a:srgbClr val="B02A2A"/>
                          </a:solidFill>
                          <a:latin typeface="Calibri"/>
                        </a:rPr>
                        <a:t>Weak/shared RADIUS secret</a:t>
                      </a:r>
                    </a:p>
                  </a:txBody>
                  <a:tcPr anchor="ctr" marL="76200" marR="76200" marT="38100" marB="38100">
                    <a:solidFill>
                      <a:srgbClr val="FFFFFF"/>
                    </a:solidFill>
                  </a:tcPr>
                </a:tc>
                <a:tc>
                  <a:txBody>
                    <a:bodyPr/>
                    <a:lstStyle/>
                    <a:p>
                      <a:pPr algn="l"/>
                      <a:r>
                        <a:rPr sz="1200" b="0" i="0">
                          <a:solidFill>
                            <a:srgbClr val="111B30"/>
                          </a:solidFill>
                          <a:latin typeface="Calibri"/>
                        </a:rPr>
                        <a:t>Shared secret between NAS and RADIUS server is weak, default, or reused across many devices</a:t>
                      </a:r>
                    </a:p>
                  </a:txBody>
                  <a:tcPr anchor="ctr" marL="76200" marR="76200" marT="38100" marB="38100">
                    <a:solidFill>
                      <a:srgbClr val="FFFFFF"/>
                    </a:solidFill>
                  </a:tcPr>
                </a:tc>
                <a:tc>
                  <a:txBody>
                    <a:bodyPr/>
                    <a:lstStyle/>
                    <a:p>
                      <a:pPr algn="l"/>
                      <a:r>
                        <a:rPr sz="1200" b="1" i="0">
                          <a:solidFill>
                            <a:srgbClr val="2E7D32"/>
                          </a:solidFill>
                          <a:latin typeface="Calibri"/>
                        </a:rPr>
                        <a:t>Strong unique shared secrets per NAS; rotate periodically</a:t>
                      </a:r>
                    </a:p>
                  </a:txBody>
                  <a:tcPr anchor="ctr" marL="76200" marR="76200" marT="38100" marB="38100">
                    <a:solidFill>
                      <a:srgbClr val="FFFFFF"/>
                    </a:solidFill>
                  </a:tcPr>
                </a:tc>
              </a:tr>
              <a:tr h="457200">
                <a:tc>
                  <a:txBody>
                    <a:bodyPr/>
                    <a:lstStyle/>
                    <a:p>
                      <a:pPr algn="l"/>
                      <a:r>
                        <a:rPr sz="1200" b="1" i="0">
                          <a:solidFill>
                            <a:srgbClr val="B02A2A"/>
                          </a:solidFill>
                          <a:latin typeface="Calibri"/>
                        </a:rPr>
                        <a:t>Legacy RADIUS auth (PAP over UDP)</a:t>
                      </a:r>
                    </a:p>
                  </a:txBody>
                  <a:tcPr anchor="ctr" marL="76200" marR="76200" marT="38100" marB="38100">
                    <a:solidFill>
                      <a:srgbClr val="E8EEF7"/>
                    </a:solidFill>
                  </a:tcPr>
                </a:tc>
                <a:tc>
                  <a:txBody>
                    <a:bodyPr/>
                    <a:lstStyle/>
                    <a:p>
                      <a:pPr algn="l"/>
                      <a:r>
                        <a:rPr sz="1200" b="0" i="0">
                          <a:solidFill>
                            <a:srgbClr val="111B30"/>
                          </a:solidFill>
                          <a:latin typeface="Calibri"/>
                        </a:rPr>
                        <a:t>RADIUS's own protocol is UDP-based with comparatively weak legacy auth methods</a:t>
                      </a:r>
                    </a:p>
                  </a:txBody>
                  <a:tcPr anchor="ctr" marL="76200" marR="76200" marT="38100" marB="38100">
                    <a:solidFill>
                      <a:srgbClr val="E8EEF7"/>
                    </a:solidFill>
                  </a:tcPr>
                </a:tc>
                <a:tc>
                  <a:txBody>
                    <a:bodyPr/>
                    <a:lstStyle/>
                    <a:p>
                      <a:pPr algn="l"/>
                      <a:r>
                        <a:rPr sz="1200" b="1" i="0">
                          <a:solidFill>
                            <a:srgbClr val="2E7D32"/>
                          </a:solidFill>
                          <a:latin typeface="Calibri"/>
                        </a:rPr>
                        <a:t>Prefer MSCHAPv2/EAP; consider RadSec (RADIUS over TLS)</a:t>
                      </a:r>
                    </a:p>
                  </a:txBody>
                  <a:tcPr anchor="ctr" marL="76200" marR="76200" marT="38100" marB="38100">
                    <a:solidFill>
                      <a:srgbClr val="E8EEF7"/>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08</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This Week's Work</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The Dormant Account Problem</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Every dormant/stale account is a credential an attacker can leverage without triggering recent-login monitoring</a:t>
            </a:r>
          </a:p>
          <a:p>
            <a:pPr algn="l">
              <a:spcAft>
                <a:spcPts val="1200"/>
              </a:spcAft>
            </a:pPr>
            <a:r>
              <a:rPr sz="1600" b="0" i="0">
                <a:solidFill>
                  <a:srgbClr val="111B30"/>
                </a:solidFill>
                <a:latin typeface="Calibri"/>
              </a:rPr>
              <a:t>●   Risk goes beyond “wasted CAL licenses” - a stale account with valid credentials and unmonitored activity is a quiet foothold, often still holding whatever access it accumulated before going stale</a:t>
            </a:r>
          </a:p>
          <a:p>
            <a:pPr algn="l">
              <a:spcAft>
                <a:spcPts val="1200"/>
              </a:spcAft>
            </a:pPr>
            <a:r>
              <a:rPr sz="1600" b="0" i="0">
                <a:solidFill>
                  <a:srgbClr val="111B30"/>
                </a:solidFill>
                <a:latin typeface="Calibri"/>
              </a:rPr>
              <a:t>●   Real-world example: Colonial Pipeline, May 2021 - DarkSide affiliates got in through a legacy VPN account that was no longer used but never disabled, had no MFA, and whose password had leaked in a prior, unrelated breach</a:t>
            </a:r>
          </a:p>
          <a:p>
            <a:pPr algn="l">
              <a:spcAft>
                <a:spcPts val="1200"/>
              </a:spcAft>
            </a:pPr>
            <a:r>
              <a:rPr sz="1600" b="0" i="0">
                <a:solidFill>
                  <a:srgbClr val="111B30"/>
                </a:solidFill>
                <a:latin typeface="Calibri"/>
              </a:rPr>
              <a:t>●   Because nobody expected that account to be used, its activity fell outside routine access reviews - exactly the gap a dormant-account sweep is designed to close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Why LastLogonDate Isn't Enough</a:t>
            </a:r>
          </a:p>
        </p:txBody>
      </p:sp>
      <p:graphicFrame>
        <p:nvGraphicFramePr>
          <p:cNvPr id="3" name="Table 2"/>
          <p:cNvGraphicFramePr>
            <a:graphicFrameLocks noGrp="1"/>
          </p:cNvGraphicFramePr>
          <p:nvPr/>
        </p:nvGraphicFramePr>
        <p:xfrm>
          <a:off x="640080" y="1554480"/>
          <a:ext cx="10911535" cy="2286000"/>
        </p:xfrm>
        <a:graphic>
          <a:graphicData uri="http://schemas.openxmlformats.org/drawingml/2006/table">
            <a:tbl>
              <a:tblPr firstRow="1" bandRow="1">
                <a:tableStyleId>{5C22544A-7EE6-4342-B048-85BDC9FD1C3A}</a:tableStyleId>
              </a:tblPr>
              <a:tblGrid>
                <a:gridCol w="2560320"/>
                <a:gridCol w="4937760"/>
                <a:gridCol w="3413455"/>
              </a:tblGrid>
              <a:tr h="457200">
                <a:tc>
                  <a:txBody>
                    <a:bodyPr/>
                    <a:lstStyle/>
                    <a:p>
                      <a:pPr algn="l"/>
                      <a:r>
                        <a:rPr sz="1250" b="1" i="0">
                          <a:solidFill>
                            <a:srgbClr val="FFFFFF"/>
                          </a:solidFill>
                          <a:latin typeface="Calibri"/>
                        </a:rPr>
                        <a:t>Limitation</a:t>
                      </a:r>
                    </a:p>
                  </a:txBody>
                  <a:tcPr anchor="ctr" marL="76200" marR="76200" marT="38100" marB="38100">
                    <a:solidFill>
                      <a:srgbClr val="1B2A4A"/>
                    </a:solidFill>
                  </a:tcPr>
                </a:tc>
                <a:tc>
                  <a:txBody>
                    <a:bodyPr/>
                    <a:lstStyle/>
                    <a:p>
                      <a:pPr algn="l"/>
                      <a:r>
                        <a:rPr sz="1250" b="1" i="0">
                          <a:solidFill>
                            <a:srgbClr val="FFFFFF"/>
                          </a:solidFill>
                          <a:latin typeface="Calibri"/>
                        </a:rPr>
                        <a:t>Explanation</a:t>
                      </a:r>
                    </a:p>
                  </a:txBody>
                  <a:tcPr anchor="ctr" marL="76200" marR="76200" marT="38100" marB="38100">
                    <a:solidFill>
                      <a:srgbClr val="1B2A4A"/>
                    </a:solidFill>
                  </a:tcPr>
                </a:tc>
                <a:tc>
                  <a:txBody>
                    <a:bodyPr/>
                    <a:lstStyle/>
                    <a:p>
                      <a:pPr algn="l"/>
                      <a:r>
                        <a:rPr sz="1250" b="1" i="0">
                          <a:solidFill>
                            <a:srgbClr val="FFFFFF"/>
                          </a:solidFill>
                          <a:latin typeface="Calibri"/>
                        </a:rPr>
                        <a:t>Better Signal / Supplement</a:t>
                      </a:r>
                    </a:p>
                  </a:txBody>
                  <a:tcPr anchor="ctr" marL="76200" marR="76200" marT="38100" marB="38100">
                    <a:solidFill>
                      <a:srgbClr val="1B2A4A"/>
                    </a:solidFill>
                  </a:tcPr>
                </a:tc>
              </a:tr>
              <a:tr h="457200">
                <a:tc>
                  <a:txBody>
                    <a:bodyPr/>
                    <a:lstStyle/>
                    <a:p>
                      <a:pPr algn="l"/>
                      <a:r>
                        <a:rPr sz="1050" b="0" i="0">
                          <a:solidFill>
                            <a:srgbClr val="111B30"/>
                          </a:solidFill>
                          <a:latin typeface="Calibri"/>
                        </a:rPr>
                        <a:t>Replication lag</a:t>
                      </a:r>
                    </a:p>
                  </a:txBody>
                  <a:tcPr anchor="ctr" marL="76200" marR="76200" marT="38100" marB="38100">
                    <a:solidFill>
                      <a:srgbClr val="FFFFFF"/>
                    </a:solidFill>
                  </a:tcPr>
                </a:tc>
                <a:tc>
                  <a:txBody>
                    <a:bodyPr/>
                    <a:lstStyle/>
                    <a:p>
                      <a:pPr algn="l"/>
                      <a:r>
                        <a:rPr sz="1050" b="0" i="0">
                          <a:solidFill>
                            <a:srgbClr val="111B30"/>
                          </a:solidFill>
                          <a:latin typeface="Calibri"/>
                        </a:rPr>
                        <a:t>Reflects interactive/Kerberos TGT-granting logons, replicated across DCs with a default ~14-day lag</a:t>
                      </a:r>
                    </a:p>
                  </a:txBody>
                  <a:tcPr anchor="ctr" marL="76200" marR="76200" marT="38100" marB="38100">
                    <a:solidFill>
                      <a:srgbClr val="FFFFFF"/>
                    </a:solidFill>
                  </a:tcPr>
                </a:tc>
                <a:tc>
                  <a:txBody>
                    <a:bodyPr/>
                    <a:lstStyle/>
                    <a:p>
                      <a:pPr algn="l"/>
                      <a:r>
                        <a:rPr sz="1050" b="0" i="0">
                          <a:solidFill>
                            <a:srgbClr val="111B30"/>
                          </a:solidFill>
                          <a:latin typeface="Calibri"/>
                        </a:rPr>
                        <a:t>Query all DCs and take the most recent value</a:t>
                      </a:r>
                    </a:p>
                  </a:txBody>
                  <a:tcPr anchor="ctr" marL="76200" marR="76200" marT="38100" marB="38100">
                    <a:solidFill>
                      <a:srgbClr val="FFFFFF"/>
                    </a:solidFill>
                  </a:tcPr>
                </a:tc>
              </a:tr>
              <a:tr h="457200">
                <a:tc>
                  <a:txBody>
                    <a:bodyPr/>
                    <a:lstStyle/>
                    <a:p>
                      <a:pPr algn="l"/>
                      <a:r>
                        <a:rPr sz="1050" b="0" i="0">
                          <a:solidFill>
                            <a:srgbClr val="111B30"/>
                          </a:solidFill>
                          <a:latin typeface="Calibri"/>
                        </a:rPr>
                        <a:t>Misses non-interactive auth</a:t>
                      </a:r>
                    </a:p>
                  </a:txBody>
                  <a:tcPr anchor="ctr" marL="76200" marR="76200" marT="38100" marB="38100">
                    <a:solidFill>
                      <a:srgbClr val="E8EEF7"/>
                    </a:solidFill>
                  </a:tcPr>
                </a:tc>
                <a:tc>
                  <a:txBody>
                    <a:bodyPr/>
                    <a:lstStyle/>
                    <a:p>
                      <a:pPr algn="l"/>
                      <a:r>
                        <a:rPr sz="1050" b="0" i="0">
                          <a:solidFill>
                            <a:srgbClr val="111B30"/>
                          </a:solidFill>
                          <a:latin typeface="Calibri"/>
                        </a:rPr>
                        <a:t>Doesn't capture service accounts authenticating non-interactively</a:t>
                      </a:r>
                    </a:p>
                  </a:txBody>
                  <a:tcPr anchor="ctr" marL="76200" marR="76200" marT="38100" marB="38100">
                    <a:solidFill>
                      <a:srgbClr val="E8EEF7"/>
                    </a:solidFill>
                  </a:tcPr>
                </a:tc>
                <a:tc>
                  <a:txBody>
                    <a:bodyPr/>
                    <a:lstStyle/>
                    <a:p>
                      <a:pPr algn="l"/>
                      <a:r>
                        <a:rPr sz="1050" b="0" i="0">
                          <a:solidFill>
                            <a:srgbClr val="111B30"/>
                          </a:solidFill>
                          <a:latin typeface="Calibri"/>
                        </a:rPr>
                        <a:t>Pair with PasswordLastSet / LastPasswordSet</a:t>
                      </a:r>
                    </a:p>
                  </a:txBody>
                  <a:tcPr anchor="ctr" marL="76200" marR="76200" marT="38100" marB="38100">
                    <a:solidFill>
                      <a:srgbClr val="E8EEF7"/>
                    </a:solidFill>
                  </a:tcPr>
                </a:tc>
              </a:tr>
              <a:tr h="457200">
                <a:tc>
                  <a:txBody>
                    <a:bodyPr/>
                    <a:lstStyle/>
                    <a:p>
                      <a:pPr algn="l"/>
                      <a:r>
                        <a:rPr sz="1050" b="0" i="0">
                          <a:solidFill>
                            <a:srgbClr val="111B30"/>
                          </a:solidFill>
                          <a:latin typeface="Calibri"/>
                        </a:rPr>
                        <a:t>Misses cached credentials</a:t>
                      </a:r>
                    </a:p>
                  </a:txBody>
                  <a:tcPr anchor="ctr" marL="76200" marR="76200" marT="38100" marB="38100">
                    <a:solidFill>
                      <a:srgbClr val="FFFFFF"/>
                    </a:solidFill>
                  </a:tcPr>
                </a:tc>
                <a:tc>
                  <a:txBody>
                    <a:bodyPr/>
                    <a:lstStyle/>
                    <a:p>
                      <a:pPr algn="l"/>
                      <a:r>
                        <a:rPr sz="1050" b="0" i="0">
                          <a:solidFill>
                            <a:srgbClr val="111B30"/>
                          </a:solidFill>
                          <a:latin typeface="Calibri"/>
                        </a:rPr>
                        <a:t>Cached credentials can still grant file-share access without touching this field</a:t>
                      </a:r>
                    </a:p>
                  </a:txBody>
                  <a:tcPr anchor="ctr" marL="76200" marR="76200" marT="38100" marB="38100">
                    <a:solidFill>
                      <a:srgbClr val="FFFFFF"/>
                    </a:solidFill>
                  </a:tcPr>
                </a:tc>
                <a:tc>
                  <a:txBody>
                    <a:bodyPr/>
                    <a:lstStyle/>
                    <a:p>
                      <a:pPr algn="l"/>
                      <a:r>
                        <a:rPr sz="1050" b="0" i="0">
                          <a:solidFill>
                            <a:srgbClr val="111B30"/>
                          </a:solidFill>
                          <a:latin typeface="Calibri"/>
                        </a:rPr>
                        <a:t>Correlate with file-share access logs where available</a:t>
                      </a:r>
                    </a:p>
                  </a:txBody>
                  <a:tcPr anchor="ctr" marL="76200" marR="76200" marT="38100" marB="38100">
                    <a:solidFill>
                      <a:srgbClr val="FFFFFF"/>
                    </a:solidFill>
                  </a:tcPr>
                </a:tc>
              </a:tr>
              <a:tr h="457200">
                <a:tc>
                  <a:txBody>
                    <a:bodyPr/>
                    <a:lstStyle/>
                    <a:p>
                      <a:pPr algn="l"/>
                      <a:r>
                        <a:rPr sz="1050" b="0" i="0">
                          <a:solidFill>
                            <a:srgbClr val="111B30"/>
                          </a:solidFill>
                          <a:latin typeface="Calibri"/>
                        </a:rPr>
                        <a:t>Misses mailbox/app-password activity</a:t>
                      </a:r>
                    </a:p>
                  </a:txBody>
                  <a:tcPr anchor="ctr" marL="76200" marR="76200" marT="38100" marB="38100">
                    <a:solidFill>
                      <a:srgbClr val="E8EEF7"/>
                    </a:solidFill>
                  </a:tcPr>
                </a:tc>
                <a:tc>
                  <a:txBody>
                    <a:bodyPr/>
                    <a:lstStyle/>
                    <a:p>
                      <a:pPr algn="l"/>
                      <a:r>
                        <a:rPr sz="1050" b="0" i="0">
                          <a:solidFill>
                            <a:srgbClr val="111B30"/>
                          </a:solidFill>
                          <a:latin typeface="Calibri"/>
                        </a:rPr>
                        <a:t>Protocols that don't route through this attribute (mail, app passwords) leave no trace here</a:t>
                      </a:r>
                    </a:p>
                  </a:txBody>
                  <a:tcPr anchor="ctr" marL="76200" marR="76200" marT="38100" marB="38100">
                    <a:solidFill>
                      <a:srgbClr val="E8EEF7"/>
                    </a:solidFill>
                  </a:tcPr>
                </a:tc>
                <a:tc>
                  <a:txBody>
                    <a:bodyPr/>
                    <a:lstStyle/>
                    <a:p>
                      <a:pPr algn="l"/>
                      <a:r>
                        <a:rPr sz="1050" b="0" i="0">
                          <a:solidFill>
                            <a:srgbClr val="111B30"/>
                          </a:solidFill>
                          <a:latin typeface="Calibri"/>
                        </a:rPr>
                        <a:t>IdP/Entra ID sign-in logs (if federated); Exchange/mailbox last-activity timestamps</a:t>
                      </a:r>
                    </a:p>
                  </a:txBody>
                  <a:tcPr anchor="ctr" marL="76200" marR="76200" marT="38100" marB="38100">
                    <a:solidFill>
                      <a:srgbClr val="E8EEF7"/>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Quarantine OU &amp; Staged Remediation Workflow</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A staged manual remediation sequence for accounts a sweep flags - the same OU=Disabled quarantine previewed in Section 01.</a:t>
            </a:r>
          </a:p>
        </p:txBody>
      </p:sp>
      <p:sp>
        <p:nvSpPr>
          <p:cNvPr id="4" name="Rounded Rectangle 3"/>
          <p:cNvSpPr/>
          <p:nvPr/>
        </p:nvSpPr>
        <p:spPr>
          <a:xfrm>
            <a:off x="914400" y="2103120"/>
            <a:ext cx="2286000" cy="12344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1. Disable the</a:t>
            </a:r>
          </a:p>
          <a:p>
            <a:pPr algn="ctr"/>
            <a:r>
              <a:rPr sz="850" b="0" i="0">
                <a:solidFill>
                  <a:srgbClr val="111B30"/>
                </a:solidFill>
                <a:latin typeface="Calibri"/>
              </a:rPr>
              <a:t>account</a:t>
            </a:r>
          </a:p>
          <a:p>
            <a:pPr algn="ctr"/>
            <a:r>
              <a:rPr sz="850" b="0" i="0">
                <a:solidFill>
                  <a:srgbClr val="111B30"/>
                </a:solidFill>
                <a:latin typeface="Calibri"/>
              </a:rPr>
              <a:t>(Set-ADUser</a:t>
            </a:r>
          </a:p>
          <a:p>
            <a:pPr algn="ctr"/>
            <a:r>
              <a:rPr sz="850" b="0" i="0">
                <a:solidFill>
                  <a:srgbClr val="111B30"/>
                </a:solidFill>
                <a:latin typeface="Calibri"/>
              </a:rPr>
              <a:t>-Enabled $false)</a:t>
            </a:r>
          </a:p>
        </p:txBody>
      </p:sp>
      <p:sp>
        <p:nvSpPr>
          <p:cNvPr id="5" name="Rounded Rectangle 4"/>
          <p:cNvSpPr/>
          <p:nvPr/>
        </p:nvSpPr>
        <p:spPr>
          <a:xfrm>
            <a:off x="3596335" y="2103120"/>
            <a:ext cx="2286000" cy="12344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2. Set Description:</a:t>
            </a:r>
          </a:p>
          <a:p>
            <a:pPr algn="ctr"/>
            <a:r>
              <a:rPr sz="800" b="0" i="0">
                <a:solidFill>
                  <a:srgbClr val="111B30"/>
                </a:solidFill>
                <a:latin typeface="Calibri"/>
              </a:rPr>
              <a:t>[DISABLED] Manual</a:t>
            </a:r>
          </a:p>
          <a:p>
            <a:pPr algn="ctr"/>
            <a:r>
              <a:rPr sz="800" b="0" i="0">
                <a:solidFill>
                  <a:srgbClr val="111B30"/>
                </a:solidFill>
                <a:latin typeface="Calibri"/>
              </a:rPr>
              <a:t>review - stale &gt;Nd.</a:t>
            </a:r>
          </a:p>
          <a:p>
            <a:pPr algn="ctr"/>
            <a:r>
              <a:rPr sz="800" b="0" i="0">
                <a:solidFill>
                  <a:srgbClr val="111B30"/>
                </a:solidFill>
                <a:latin typeface="Calibri"/>
              </a:rPr>
              <a:t>Disabled by/on...</a:t>
            </a:r>
          </a:p>
        </p:txBody>
      </p:sp>
      <p:sp>
        <p:nvSpPr>
          <p:cNvPr id="6" name="Rounded Rectangle 5"/>
          <p:cNvSpPr/>
          <p:nvPr/>
        </p:nvSpPr>
        <p:spPr>
          <a:xfrm>
            <a:off x="6278270" y="2103120"/>
            <a:ext cx="2286000" cy="12344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1" i="0">
                <a:solidFill>
                  <a:srgbClr val="111B30"/>
                </a:solidFill>
                <a:latin typeface="Calibri"/>
              </a:rPr>
              <a:t>3. Move to</a:t>
            </a:r>
          </a:p>
          <a:p>
            <a:pPr algn="ctr"/>
            <a:r>
              <a:rPr sz="850" b="1" i="0">
                <a:solidFill>
                  <a:srgbClr val="111B30"/>
                </a:solidFill>
                <a:latin typeface="Calibri"/>
              </a:rPr>
              <a:t>OU=Disabled,...</a:t>
            </a:r>
          </a:p>
          <a:p>
            <a:pPr algn="ctr"/>
            <a:r>
              <a:rPr sz="850" b="1" i="0">
                <a:solidFill>
                  <a:srgbClr val="111B30"/>
                </a:solidFill>
                <a:latin typeface="Calibri"/>
              </a:rPr>
              <a:t>(create the OU</a:t>
            </a:r>
          </a:p>
          <a:p>
            <a:pPr algn="ctr"/>
            <a:r>
              <a:rPr sz="850" b="1" i="0">
                <a:solidFill>
                  <a:srgbClr val="111B30"/>
                </a:solidFill>
                <a:latin typeface="Calibri"/>
              </a:rPr>
              <a:t>first if needed)</a:t>
            </a:r>
          </a:p>
        </p:txBody>
      </p:sp>
      <p:sp>
        <p:nvSpPr>
          <p:cNvPr id="7" name="Rounded Rectangle 6"/>
          <p:cNvSpPr/>
          <p:nvPr/>
        </p:nvSpPr>
        <p:spPr>
          <a:xfrm>
            <a:off x="8960205" y="2103120"/>
            <a:ext cx="2286000" cy="12344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4. Log the action:</a:t>
            </a:r>
          </a:p>
          <a:p>
            <a:pPr algn="ctr"/>
            <a:r>
              <a:rPr sz="850" b="0" i="0">
                <a:solidFill>
                  <a:srgbClr val="111B30"/>
                </a:solidFill>
                <a:latin typeface="Calibri"/>
              </a:rPr>
              <a:t>timestamp +</a:t>
            </a:r>
          </a:p>
          <a:p>
            <a:pPr algn="ctr"/>
            <a:r>
              <a:rPr sz="850" b="0" i="0">
                <a:solidFill>
                  <a:srgbClr val="111B30"/>
                </a:solidFill>
                <a:latin typeface="Calibri"/>
              </a:rPr>
              <a:t>SamAccountName +</a:t>
            </a:r>
          </a:p>
          <a:p>
            <a:pPr algn="ctr"/>
            <a:r>
              <a:rPr sz="850" b="0" i="0">
                <a:solidFill>
                  <a:srgbClr val="111B30"/>
                </a:solidFill>
                <a:latin typeface="Calibri"/>
              </a:rPr>
              <a:t>action taken</a:t>
            </a:r>
          </a:p>
        </p:txBody>
      </p:sp>
      <p:cxnSp>
        <p:nvCxnSpPr>
          <p:cNvPr id="8" name="Connector 7"/>
          <p:cNvCxnSpPr/>
          <p:nvPr/>
        </p:nvCxnSpPr>
        <p:spPr>
          <a:xfrm>
            <a:off x="3200400" y="272033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882335" y="272033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564270" y="272033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120640" y="3794760"/>
            <a:ext cx="3657600" cy="91440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1" i="0">
                <a:solidFill>
                  <a:srgbClr val="B02A2A"/>
                </a:solidFill>
                <a:latin typeface="Calibri"/>
              </a:rPr>
              <a:t>~90 days in quarantine before deletion.</a:t>
            </a:r>
          </a:p>
          <a:p>
            <a:pPr algn="ctr"/>
            <a:r>
              <a:rPr sz="950" b="1" i="0">
                <a:solidFill>
                  <a:srgbClr val="B02A2A"/>
                </a:solidFill>
                <a:latin typeface="Calibri"/>
              </a:rPr>
              <a:t>Final deletion needs sign-off from</a:t>
            </a:r>
          </a:p>
          <a:p>
            <a:pPr algn="ctr"/>
            <a:r>
              <a:rPr sz="950" b="1" i="0">
                <a:solidFill>
                  <a:srgbClr val="B02A2A"/>
                </a:solidFill>
                <a:latin typeface="Calibri"/>
              </a:rPr>
              <a:t>someone other than the sweep's admin.</a:t>
            </a:r>
          </a:p>
        </p:txBody>
      </p:sp>
      <p:cxnSp>
        <p:nvCxnSpPr>
          <p:cNvPr id="12" name="Connector 11"/>
          <p:cNvCxnSpPr/>
          <p:nvPr/>
        </p:nvCxnSpPr>
        <p:spPr>
          <a:xfrm flipH="1">
            <a:off x="6949440" y="3337560"/>
            <a:ext cx="471830" cy="457200"/>
          </a:xfrm>
          <a:prstGeom prst="line">
            <a:avLst/>
          </a:prstGeom>
          <a:ln w="19050">
            <a:solidFill>
              <a:srgbClr val="B02A2A"/>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Manual Remediation at Scale: Risk vs. Automation</a:t>
            </a:r>
          </a:p>
        </p:txBody>
      </p:sp>
      <p:graphicFrame>
        <p:nvGraphicFramePr>
          <p:cNvPr id="3" name="Table 2"/>
          <p:cNvGraphicFramePr>
            <a:graphicFrameLocks noGrp="1"/>
          </p:cNvGraphicFramePr>
          <p:nvPr/>
        </p:nvGraphicFramePr>
        <p:xfrm>
          <a:off x="640080" y="1554480"/>
          <a:ext cx="10911535" cy="2286000"/>
        </p:xfrm>
        <a:graphic>
          <a:graphicData uri="http://schemas.openxmlformats.org/drawingml/2006/table">
            <a:tbl>
              <a:tblPr firstRow="1" bandRow="1">
                <a:tableStyleId>{5C22544A-7EE6-4342-B048-85BDC9FD1C3A}</a:tableStyleId>
              </a:tblPr>
              <a:tblGrid>
                <a:gridCol w="2743200"/>
                <a:gridCol w="4937760"/>
                <a:gridCol w="3230575"/>
              </a:tblGrid>
              <a:tr h="457200">
                <a:tc>
                  <a:txBody>
                    <a:bodyPr/>
                    <a:lstStyle/>
                    <a:p>
                      <a:pPr algn="l"/>
                      <a:r>
                        <a:rPr sz="1250" b="1" i="0">
                          <a:solidFill>
                            <a:srgbClr val="FFFFFF"/>
                          </a:solidFill>
                          <a:latin typeface="Calibri"/>
                        </a:rPr>
                        <a:t>Risk</a:t>
                      </a:r>
                    </a:p>
                  </a:txBody>
                  <a:tcPr anchor="ctr" marL="76200" marR="76200" marT="38100" marB="38100">
                    <a:solidFill>
                      <a:srgbClr val="1B2A4A"/>
                    </a:solidFill>
                  </a:tcPr>
                </a:tc>
                <a:tc>
                  <a:txBody>
                    <a:bodyPr/>
                    <a:lstStyle/>
                    <a:p>
                      <a:pPr algn="l"/>
                      <a:r>
                        <a:rPr sz="1250" b="1" i="0">
                          <a:solidFill>
                            <a:srgbClr val="FFFFFF"/>
                          </a:solidFill>
                          <a:latin typeface="Calibri"/>
                        </a:rPr>
                        <a:t>How It Happens</a:t>
                      </a:r>
                    </a:p>
                  </a:txBody>
                  <a:tcPr anchor="ctr" marL="76200" marR="76200" marT="38100" marB="38100">
                    <a:solidFill>
                      <a:srgbClr val="1B2A4A"/>
                    </a:solidFill>
                  </a:tcPr>
                </a:tc>
                <a:tc>
                  <a:txBody>
                    <a:bodyPr/>
                    <a:lstStyle/>
                    <a:p>
                      <a:pPr algn="l"/>
                      <a:r>
                        <a:rPr sz="1250" b="1" i="0">
                          <a:solidFill>
                            <a:srgbClr val="FFFFFF"/>
                          </a:solidFill>
                          <a:latin typeface="Calibri"/>
                        </a:rPr>
                        <a:t>Mitigation</a:t>
                      </a:r>
                    </a:p>
                  </a:txBody>
                  <a:tcPr anchor="ctr" marL="76200" marR="76200" marT="38100" marB="38100">
                    <a:solidFill>
                      <a:srgbClr val="1B2A4A"/>
                    </a:solidFill>
                  </a:tcPr>
                </a:tc>
              </a:tr>
              <a:tr h="457200">
                <a:tc>
                  <a:txBody>
                    <a:bodyPr/>
                    <a:lstStyle/>
                    <a:p>
                      <a:pPr algn="l"/>
                      <a:r>
                        <a:rPr sz="1050" b="1" i="0">
                          <a:solidFill>
                            <a:srgbClr val="B02A2A"/>
                          </a:solidFill>
                          <a:latin typeface="Calibri"/>
                        </a:rPr>
                        <a:t>Human error at volume</a:t>
                      </a:r>
                    </a:p>
                  </a:txBody>
                  <a:tcPr anchor="ctr" marL="76200" marR="76200" marT="38100" marB="38100">
                    <a:solidFill>
                      <a:srgbClr val="FFFFFF"/>
                    </a:solidFill>
                  </a:tcPr>
                </a:tc>
                <a:tc>
                  <a:txBody>
                    <a:bodyPr/>
                    <a:lstStyle/>
                    <a:p>
                      <a:pPr algn="l"/>
                      <a:r>
                        <a:rPr sz="1050" b="0" i="0">
                          <a:solidFill>
                            <a:srgbClr val="111B30"/>
                          </a:solidFill>
                          <a:latin typeface="Calibri"/>
                        </a:rPr>
                        <a:t>Manually remediating hundreds of accounts by hand - inconsistent execution (missed steps, typos)</a:t>
                      </a:r>
                    </a:p>
                  </a:txBody>
                  <a:tcPr anchor="ctr" marL="76200" marR="76200" marT="38100" marB="38100">
                    <a:solidFill>
                      <a:srgbClr val="FFFFFF"/>
                    </a:solidFill>
                  </a:tcPr>
                </a:tc>
                <a:tc>
                  <a:txBody>
                    <a:bodyPr/>
                    <a:lstStyle/>
                    <a:p>
                      <a:pPr algn="l"/>
                      <a:r>
                        <a:rPr sz="1050" b="1" i="0">
                          <a:solidFill>
                            <a:srgbClr val="2E7D32"/>
                          </a:solidFill>
                          <a:latin typeface="Calibri"/>
                        </a:rPr>
                        <a:t>Ticket-per-account workflow with two-person approval</a:t>
                      </a:r>
                    </a:p>
                  </a:txBody>
                  <a:tcPr anchor="ctr" marL="76200" marR="76200" marT="38100" marB="38100">
                    <a:solidFill>
                      <a:srgbClr val="FFFFFF"/>
                    </a:solidFill>
                  </a:tcPr>
                </a:tc>
              </a:tr>
              <a:tr h="457200">
                <a:tc>
                  <a:txBody>
                    <a:bodyPr/>
                    <a:lstStyle/>
                    <a:p>
                      <a:pPr algn="l"/>
                      <a:r>
                        <a:rPr sz="1050" b="1" i="0">
                          <a:solidFill>
                            <a:srgbClr val="B02A2A"/>
                          </a:solidFill>
                          <a:latin typeface="Calibri"/>
                        </a:rPr>
                        <a:t>No verification trail</a:t>
                      </a:r>
                    </a:p>
                  </a:txBody>
                  <a:tcPr anchor="ctr" marL="76200" marR="76200" marT="38100" marB="38100">
                    <a:solidFill>
                      <a:srgbClr val="E8EEF7"/>
                    </a:solidFill>
                  </a:tcPr>
                </a:tc>
                <a:tc>
                  <a:txBody>
                    <a:bodyPr/>
                    <a:lstStyle/>
                    <a:p>
                      <a:pPr algn="l"/>
                      <a:r>
                        <a:rPr sz="1050" b="0" i="0">
                          <a:solidFill>
                            <a:srgbClr val="111B30"/>
                          </a:solidFill>
                          <a:latin typeface="Calibri"/>
                        </a:rPr>
                        <a:t>No way to confirm every flagged account was actually remediated correctly</a:t>
                      </a:r>
                    </a:p>
                  </a:txBody>
                  <a:tcPr anchor="ctr" marL="76200" marR="76200" marT="38100" marB="38100">
                    <a:solidFill>
                      <a:srgbClr val="E8EEF7"/>
                    </a:solidFill>
                  </a:tcPr>
                </a:tc>
                <a:tc>
                  <a:txBody>
                    <a:bodyPr/>
                    <a:lstStyle/>
                    <a:p>
                      <a:pPr algn="l"/>
                      <a:r>
                        <a:rPr sz="1050" b="1" i="0">
                          <a:solidFill>
                            <a:srgbClr val="2E7D32"/>
                          </a:solidFill>
                          <a:latin typeface="Calibri"/>
                        </a:rPr>
                        <a:t>A dry-run/report mode before any account is touched, reviewed against the findings</a:t>
                      </a:r>
                    </a:p>
                  </a:txBody>
                  <a:tcPr anchor="ctr" marL="76200" marR="76200" marT="38100" marB="38100">
                    <a:solidFill>
                      <a:srgbClr val="E8EEF7"/>
                    </a:solidFill>
                  </a:tcPr>
                </a:tc>
              </a:tr>
              <a:tr h="457200">
                <a:tc>
                  <a:txBody>
                    <a:bodyPr/>
                    <a:lstStyle/>
                    <a:p>
                      <a:pPr algn="l"/>
                      <a:r>
                        <a:rPr sz="1050" b="1" i="0">
                          <a:solidFill>
                            <a:srgbClr val="B02A2A"/>
                          </a:solidFill>
                          <a:latin typeface="Calibri"/>
                        </a:rPr>
                        <a:t>Delayed remediation</a:t>
                      </a:r>
                    </a:p>
                  </a:txBody>
                  <a:tcPr anchor="ctr" marL="76200" marR="76200" marT="38100" marB="38100">
                    <a:solidFill>
                      <a:srgbClr val="FFFFFF"/>
                    </a:solidFill>
                  </a:tcPr>
                </a:tc>
                <a:tc>
                  <a:txBody>
                    <a:bodyPr/>
                    <a:lstStyle/>
                    <a:p>
                      <a:pPr algn="l"/>
                      <a:r>
                        <a:rPr sz="1050" b="0" i="0">
                          <a:solidFill>
                            <a:srgbClr val="111B30"/>
                          </a:solidFill>
                          <a:latin typeface="Calibri"/>
                        </a:rPr>
                        <a:t>Manual process can't keep pace with continuous account creation/staleness</a:t>
                      </a:r>
                    </a:p>
                  </a:txBody>
                  <a:tcPr anchor="ctr" marL="76200" marR="76200" marT="38100" marB="38100">
                    <a:solidFill>
                      <a:srgbClr val="FFFFFF"/>
                    </a:solidFill>
                  </a:tcPr>
                </a:tc>
                <a:tc>
                  <a:txBody>
                    <a:bodyPr/>
                    <a:lstStyle/>
                    <a:p>
                      <a:pPr algn="l"/>
                      <a:r>
                        <a:rPr sz="1050" b="1" i="0">
                          <a:solidFill>
                            <a:srgbClr val="2E7D32"/>
                          </a:solidFill>
                          <a:latin typeface="Calibri"/>
                        </a:rPr>
                        <a:t>Scheduled re-runs of the audit script (Section 04) even if remediation stays manual</a:t>
                      </a:r>
                    </a:p>
                  </a:txBody>
                  <a:tcPr anchor="ctr" marL="76200" marR="76200" marT="38100" marB="38100">
                    <a:solidFill>
                      <a:srgbClr val="FFFFFF"/>
                    </a:solidFill>
                  </a:tcPr>
                </a:tc>
              </a:tr>
              <a:tr h="457200">
                <a:tc>
                  <a:txBody>
                    <a:bodyPr/>
                    <a:lstStyle/>
                    <a:p>
                      <a:pPr algn="l"/>
                      <a:r>
                        <a:rPr sz="1050" b="1" i="0">
                          <a:solidFill>
                            <a:srgbClr val="B02A2A"/>
                          </a:solidFill>
                          <a:latin typeface="Calibri"/>
                        </a:rPr>
                        <a:t>Full automation without review</a:t>
                      </a:r>
                    </a:p>
                  </a:txBody>
                  <a:tcPr anchor="ctr" marL="76200" marR="76200" marT="38100" marB="38100">
                    <a:solidFill>
                      <a:srgbClr val="E8EEF7"/>
                    </a:solidFill>
                  </a:tcPr>
                </a:tc>
                <a:tc>
                  <a:txBody>
                    <a:bodyPr/>
                    <a:lstStyle/>
                    <a:p>
                      <a:pPr algn="l"/>
                      <a:r>
                        <a:rPr sz="1050" b="0" i="0">
                          <a:solidFill>
                            <a:srgbClr val="111B30"/>
                          </a:solidFill>
                          <a:latin typeface="Calibri"/>
                        </a:rPr>
                        <a:t>Auto-disabling/deleting accounts with zero human check risks false positives on active accounts</a:t>
                      </a:r>
                    </a:p>
                  </a:txBody>
                  <a:tcPr anchor="ctr" marL="76200" marR="76200" marT="38100" marB="38100">
                    <a:solidFill>
                      <a:srgbClr val="E8EEF7"/>
                    </a:solidFill>
                  </a:tcPr>
                </a:tc>
                <a:tc>
                  <a:txBody>
                    <a:bodyPr/>
                    <a:lstStyle/>
                    <a:p>
                      <a:pPr algn="l"/>
                      <a:r>
                        <a:rPr sz="1050" b="1" i="0">
                          <a:solidFill>
                            <a:srgbClr val="2E7D32"/>
                          </a:solidFill>
                          <a:latin typeface="Calibri"/>
                        </a:rPr>
                        <a:t>Idempotent scripting so a partial run can be safely re-run, plus a human approval gate</a:t>
                      </a:r>
                    </a:p>
                  </a:txBody>
                  <a:tcPr anchor="ctr" marL="76200" marR="76200" marT="38100" marB="38100">
                    <a:solidFill>
                      <a:srgbClr val="E8EEF7"/>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Hands-On Exercise Recap: Active Directory, GPO &amp; Centralized AAA</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Objectives: verify a pre-promoted DC; build a multi-tiered OU structure; implement Security Baseline + Audit Policy GPOs; configure a PSO; test lockout/audit; write LDAP filters and stand up a minimal FreeRADIUS instance backed by Active Directory</a:t>
            </a:r>
          </a:p>
          <a:p>
            <a:pPr algn="l">
              <a:spcAft>
                <a:spcPts val="1200"/>
              </a:spcAft>
            </a:pPr>
            <a:r>
              <a:rPr sz="1600" b="0" i="0">
                <a:solidFill>
                  <a:srgbClr val="111B30"/>
                </a:solidFill>
                <a:latin typeface="Calibri"/>
              </a:rPr>
              <a:t>●   Tools/Accounts: a dedicated domain controller VM (already promoted), a separate Linux VM for FreeRADIUS, GPMC, ADUC, ADAC, ldapsearch</a:t>
            </a:r>
          </a:p>
          <a:p>
            <a:pPr algn="l">
              <a:spcAft>
                <a:spcPts val="1200"/>
              </a:spcAft>
            </a:pPr>
            <a:r>
              <a:rPr sz="1600" b="0" i="0">
                <a:solidFill>
                  <a:srgbClr val="111B30"/>
                </a:solidFill>
                <a:latin typeface="Calibri"/>
              </a:rPr>
              <a:t>●   Structure: PowerShell-first - OUs, users, and groups built via cmdlets rather than the GUI</a:t>
            </a:r>
          </a:p>
          <a:p>
            <a:pPr algn="l">
              <a:spcAft>
                <a:spcPts val="1200"/>
              </a:spcAft>
            </a:pPr>
            <a:r>
              <a:rPr sz="1600" b="0" i="0">
                <a:solidFill>
                  <a:srgbClr val="111B30"/>
                </a:solidFill>
                <a:latin typeface="Calibri"/>
              </a:rPr>
              <a:t>●   Framing theme: every control here maps to a specific attack it prevents, not just administrative housekeeping</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Grading Breakdown</a:t>
            </a:r>
          </a:p>
        </p:txBody>
      </p:sp>
      <p:graphicFrame>
        <p:nvGraphicFramePr>
          <p:cNvPr id="3" name="Table 2"/>
          <p:cNvGraphicFramePr>
            <a:graphicFrameLocks noGrp="1"/>
          </p:cNvGraphicFramePr>
          <p:nvPr/>
        </p:nvGraphicFramePr>
        <p:xfrm>
          <a:off x="640080" y="1554480"/>
          <a:ext cx="10362895" cy="4608576"/>
        </p:xfrm>
        <a:graphic>
          <a:graphicData uri="http://schemas.openxmlformats.org/drawingml/2006/table">
            <a:tbl>
              <a:tblPr firstRow="1" bandRow="1">
                <a:tableStyleId>{5C22544A-7EE6-4342-B048-85BDC9FD1C3A}</a:tableStyleId>
              </a:tblPr>
              <a:tblGrid>
                <a:gridCol w="9326880"/>
                <a:gridCol w="1036015"/>
              </a:tblGrid>
              <a:tr h="384048">
                <a:tc>
                  <a:txBody>
                    <a:bodyPr/>
                    <a:lstStyle/>
                    <a:p>
                      <a:pPr algn="l"/>
                      <a:r>
                        <a:rPr sz="1250" b="1" i="0">
                          <a:solidFill>
                            <a:srgbClr val="FFFFFF"/>
                          </a:solidFill>
                          <a:latin typeface="Calibri"/>
                        </a:rPr>
                        <a:t>Item</a:t>
                      </a:r>
                    </a:p>
                  </a:txBody>
                  <a:tcPr anchor="ctr" marL="76200" marR="76200" marT="38100" marB="38100">
                    <a:solidFill>
                      <a:srgbClr val="1B2A4A"/>
                    </a:solidFill>
                  </a:tcPr>
                </a:tc>
                <a:tc>
                  <a:txBody>
                    <a:bodyPr/>
                    <a:lstStyle/>
                    <a:p>
                      <a:pPr algn="l"/>
                      <a:r>
                        <a:rPr sz="1250" b="1" i="0">
                          <a:solidFill>
                            <a:srgbClr val="FFFFFF"/>
                          </a:solidFill>
                          <a:latin typeface="Calibri"/>
                        </a:rPr>
                        <a:t>Points</a:t>
                      </a:r>
                    </a:p>
                  </a:txBody>
                  <a:tcPr anchor="ctr" marL="76200" marR="76200" marT="38100" marB="38100">
                    <a:solidFill>
                      <a:srgbClr val="1B2A4A"/>
                    </a:solidFill>
                  </a:tcPr>
                </a:tc>
              </a:tr>
              <a:tr h="384048">
                <a:tc>
                  <a:txBody>
                    <a:bodyPr/>
                    <a:lstStyle/>
                    <a:p>
                      <a:pPr algn="l"/>
                      <a:r>
                        <a:rPr sz="1150" b="0" i="0">
                          <a:solidFill>
                            <a:srgbClr val="111B30"/>
                          </a:solidFill>
                          <a:latin typeface="Calibri"/>
                        </a:rPr>
                        <a:t>OU structure design and verification</a:t>
                      </a:r>
                    </a:p>
                  </a:txBody>
                  <a:tcPr anchor="ctr" marL="76200" marR="76200" marT="38100" marB="38100">
                    <a:solidFill>
                      <a:srgbClr val="FFFFFF"/>
                    </a:solidFill>
                  </a:tcPr>
                </a:tc>
                <a:tc>
                  <a:txBody>
                    <a:bodyPr/>
                    <a:lstStyle/>
                    <a:p>
                      <a:pPr algn="l"/>
                      <a:r>
                        <a:rPr sz="1150" b="0" i="0">
                          <a:solidFill>
                            <a:srgbClr val="111B30"/>
                          </a:solidFill>
                          <a:latin typeface="Calibri"/>
                        </a:rPr>
                        <a:t>15</a:t>
                      </a:r>
                    </a:p>
                  </a:txBody>
                  <a:tcPr anchor="ctr" marL="76200" marR="76200" marT="38100" marB="38100">
                    <a:solidFill>
                      <a:srgbClr val="FFFFFF"/>
                    </a:solidFill>
                  </a:tcPr>
                </a:tc>
              </a:tr>
              <a:tr h="384048">
                <a:tc>
                  <a:txBody>
                    <a:bodyPr/>
                    <a:lstStyle/>
                    <a:p>
                      <a:pPr algn="l"/>
                      <a:r>
                        <a:rPr sz="1150" b="0" i="0">
                          <a:solidFill>
                            <a:srgbClr val="111B30"/>
                          </a:solidFill>
                          <a:latin typeface="Calibri"/>
                        </a:rPr>
                        <a:t>User and group creation</a:t>
                      </a:r>
                    </a:p>
                  </a:txBody>
                  <a:tcPr anchor="ctr" marL="76200" marR="76200" marT="38100" marB="38100">
                    <a:solidFill>
                      <a:srgbClr val="E8EEF7"/>
                    </a:solidFill>
                  </a:tcPr>
                </a:tc>
                <a:tc>
                  <a:txBody>
                    <a:bodyPr/>
                    <a:lstStyle/>
                    <a:p>
                      <a:pPr algn="l"/>
                      <a:r>
                        <a:rPr sz="1150" b="0" i="0">
                          <a:solidFill>
                            <a:srgbClr val="111B30"/>
                          </a:solidFill>
                          <a:latin typeface="Calibri"/>
                        </a:rPr>
                        <a:t>10</a:t>
                      </a:r>
                    </a:p>
                  </a:txBody>
                  <a:tcPr anchor="ctr" marL="76200" marR="76200" marT="38100" marB="38100">
                    <a:solidFill>
                      <a:srgbClr val="E8EEF7"/>
                    </a:solidFill>
                  </a:tcPr>
                </a:tc>
              </a:tr>
              <a:tr h="384048">
                <a:tc>
                  <a:txBody>
                    <a:bodyPr/>
                    <a:lstStyle/>
                    <a:p>
                      <a:pPr algn="l"/>
                      <a:r>
                        <a:rPr sz="1150" b="0" i="0">
                          <a:solidFill>
                            <a:srgbClr val="111B30"/>
                          </a:solidFill>
                          <a:latin typeface="Calibri"/>
                        </a:rPr>
                        <a:t>Security Baseline GPO</a:t>
                      </a:r>
                    </a:p>
                  </a:txBody>
                  <a:tcPr anchor="ctr" marL="76200" marR="76200" marT="38100" marB="38100">
                    <a:solidFill>
                      <a:srgbClr val="FFFFFF"/>
                    </a:solidFill>
                  </a:tcPr>
                </a:tc>
                <a:tc>
                  <a:txBody>
                    <a:bodyPr/>
                    <a:lstStyle/>
                    <a:p>
                      <a:pPr algn="l"/>
                      <a:r>
                        <a:rPr sz="1150" b="0" i="0">
                          <a:solidFill>
                            <a:srgbClr val="111B30"/>
                          </a:solidFill>
                          <a:latin typeface="Calibri"/>
                        </a:rPr>
                        <a:t>12</a:t>
                      </a:r>
                    </a:p>
                  </a:txBody>
                  <a:tcPr anchor="ctr" marL="76200" marR="76200" marT="38100" marB="38100">
                    <a:solidFill>
                      <a:srgbClr val="FFFFFF"/>
                    </a:solidFill>
                  </a:tcPr>
                </a:tc>
              </a:tr>
              <a:tr h="384048">
                <a:tc>
                  <a:txBody>
                    <a:bodyPr/>
                    <a:lstStyle/>
                    <a:p>
                      <a:pPr algn="l"/>
                      <a:r>
                        <a:rPr sz="1150" b="0" i="0">
                          <a:solidFill>
                            <a:srgbClr val="111B30"/>
                          </a:solidFill>
                          <a:latin typeface="Calibri"/>
                        </a:rPr>
                        <a:t>Audit Policy GPO</a:t>
                      </a:r>
                    </a:p>
                  </a:txBody>
                  <a:tcPr anchor="ctr" marL="76200" marR="76200" marT="38100" marB="38100">
                    <a:solidFill>
                      <a:srgbClr val="E8EEF7"/>
                    </a:solidFill>
                  </a:tcPr>
                </a:tc>
                <a:tc>
                  <a:txBody>
                    <a:bodyPr/>
                    <a:lstStyle/>
                    <a:p>
                      <a:pPr algn="l"/>
                      <a:r>
                        <a:rPr sz="1150" b="0" i="0">
                          <a:solidFill>
                            <a:srgbClr val="111B30"/>
                          </a:solidFill>
                          <a:latin typeface="Calibri"/>
                        </a:rPr>
                        <a:t>10</a:t>
                      </a:r>
                    </a:p>
                  </a:txBody>
                  <a:tcPr anchor="ctr" marL="76200" marR="76200" marT="38100" marB="38100">
                    <a:solidFill>
                      <a:srgbClr val="E8EEF7"/>
                    </a:solidFill>
                  </a:tcPr>
                </a:tc>
              </a:tr>
              <a:tr h="384048">
                <a:tc>
                  <a:txBody>
                    <a:bodyPr/>
                    <a:lstStyle/>
                    <a:p>
                      <a:pPr algn="l"/>
                      <a:r>
                        <a:rPr sz="1150" b="0" i="0">
                          <a:solidFill>
                            <a:srgbClr val="111B30"/>
                          </a:solidFill>
                          <a:latin typeface="Calibri"/>
                        </a:rPr>
                        <a:t>Fine-Grained Password Policy / PSO</a:t>
                      </a:r>
                    </a:p>
                  </a:txBody>
                  <a:tcPr anchor="ctr" marL="76200" marR="76200" marT="38100" marB="38100">
                    <a:solidFill>
                      <a:srgbClr val="FFFFFF"/>
                    </a:solidFill>
                  </a:tcPr>
                </a:tc>
                <a:tc>
                  <a:txBody>
                    <a:bodyPr/>
                    <a:lstStyle/>
                    <a:p>
                      <a:pPr algn="l"/>
                      <a:r>
                        <a:rPr sz="1150" b="0" i="0">
                          <a:solidFill>
                            <a:srgbClr val="111B30"/>
                          </a:solidFill>
                          <a:latin typeface="Calibri"/>
                        </a:rPr>
                        <a:t>10</a:t>
                      </a:r>
                    </a:p>
                  </a:txBody>
                  <a:tcPr anchor="ctr" marL="76200" marR="76200" marT="38100" marB="38100">
                    <a:solidFill>
                      <a:srgbClr val="FFFFFF"/>
                    </a:solidFill>
                  </a:tcPr>
                </a:tc>
              </a:tr>
              <a:tr h="384048">
                <a:tc>
                  <a:txBody>
                    <a:bodyPr/>
                    <a:lstStyle/>
                    <a:p>
                      <a:pPr algn="l"/>
                      <a:r>
                        <a:rPr sz="1150" b="0" i="0">
                          <a:solidFill>
                            <a:srgbClr val="111B30"/>
                          </a:solidFill>
                          <a:latin typeface="Calibri"/>
                        </a:rPr>
                        <a:t>Verification - lockout test, audit events</a:t>
                      </a:r>
                    </a:p>
                  </a:txBody>
                  <a:tcPr anchor="ctr" marL="76200" marR="76200" marT="38100" marB="38100">
                    <a:solidFill>
                      <a:srgbClr val="E8EEF7"/>
                    </a:solidFill>
                  </a:tcPr>
                </a:tc>
                <a:tc>
                  <a:txBody>
                    <a:bodyPr/>
                    <a:lstStyle/>
                    <a:p>
                      <a:pPr algn="l"/>
                      <a:r>
                        <a:rPr sz="1150" b="0" i="0">
                          <a:solidFill>
                            <a:srgbClr val="111B30"/>
                          </a:solidFill>
                          <a:latin typeface="Calibri"/>
                        </a:rPr>
                        <a:t>13</a:t>
                      </a:r>
                    </a:p>
                  </a:txBody>
                  <a:tcPr anchor="ctr" marL="76200" marR="76200" marT="38100" marB="38100">
                    <a:solidFill>
                      <a:srgbClr val="E8EEF7"/>
                    </a:solidFill>
                  </a:tcPr>
                </a:tc>
              </a:tr>
              <a:tr h="384048">
                <a:tc>
                  <a:txBody>
                    <a:bodyPr/>
                    <a:lstStyle/>
                    <a:p>
                      <a:pPr algn="l"/>
                      <a:r>
                        <a:rPr sz="1150" b="0" i="0">
                          <a:solidFill>
                            <a:srgbClr val="111B30"/>
                          </a:solidFill>
                          <a:latin typeface="Calibri"/>
                        </a:rPr>
                        <a:t>LDAP filters and query outputs</a:t>
                      </a:r>
                    </a:p>
                  </a:txBody>
                  <a:tcPr anchor="ctr" marL="76200" marR="76200" marT="38100" marB="38100">
                    <a:solidFill>
                      <a:srgbClr val="FFFFFF"/>
                    </a:solidFill>
                  </a:tcPr>
                </a:tc>
                <a:tc>
                  <a:txBody>
                    <a:bodyPr/>
                    <a:lstStyle/>
                    <a:p>
                      <a:pPr algn="l"/>
                      <a:r>
                        <a:rPr sz="1150" b="0" i="0">
                          <a:solidFill>
                            <a:srgbClr val="111B30"/>
                          </a:solidFill>
                          <a:latin typeface="Calibri"/>
                        </a:rPr>
                        <a:t>15</a:t>
                      </a:r>
                    </a:p>
                  </a:txBody>
                  <a:tcPr anchor="ctr" marL="76200" marR="76200" marT="38100" marB="38100">
                    <a:solidFill>
                      <a:srgbClr val="FFFFFF"/>
                    </a:solidFill>
                  </a:tcPr>
                </a:tc>
              </a:tr>
              <a:tr h="384048">
                <a:tc>
                  <a:txBody>
                    <a:bodyPr/>
                    <a:lstStyle/>
                    <a:p>
                      <a:pPr algn="l"/>
                      <a:r>
                        <a:rPr sz="1150" b="0" i="0">
                          <a:solidFill>
                            <a:srgbClr val="111B30"/>
                          </a:solidFill>
                          <a:latin typeface="Calibri"/>
                        </a:rPr>
                        <a:t>FreeRADIUS local deployment and debug analysis</a:t>
                      </a:r>
                    </a:p>
                  </a:txBody>
                  <a:tcPr anchor="ctr" marL="76200" marR="76200" marT="38100" marB="38100">
                    <a:solidFill>
                      <a:srgbClr val="E8EEF7"/>
                    </a:solidFill>
                  </a:tcPr>
                </a:tc>
                <a:tc>
                  <a:txBody>
                    <a:bodyPr/>
                    <a:lstStyle/>
                    <a:p>
                      <a:pPr algn="l"/>
                      <a:r>
                        <a:rPr sz="1150" b="0" i="0">
                          <a:solidFill>
                            <a:srgbClr val="111B30"/>
                          </a:solidFill>
                          <a:latin typeface="Calibri"/>
                        </a:rPr>
                        <a:t>15</a:t>
                      </a:r>
                    </a:p>
                  </a:txBody>
                  <a:tcPr anchor="ctr" marL="76200" marR="76200" marT="38100" marB="38100">
                    <a:solidFill>
                      <a:srgbClr val="E8EEF7"/>
                    </a:solidFill>
                  </a:tcPr>
                </a:tc>
              </a:tr>
              <a:tr h="384048">
                <a:tc>
                  <a:txBody>
                    <a:bodyPr/>
                    <a:lstStyle/>
                    <a:p>
                      <a:pPr algn="l"/>
                      <a:r>
                        <a:rPr sz="1150" b="0" i="0">
                          <a:solidFill>
                            <a:srgbClr val="111B30"/>
                          </a:solidFill>
                          <a:latin typeface="Calibri"/>
                        </a:rPr>
                        <a:t>FreeRADIUS authentication backed by Active Directory via LDAP</a:t>
                      </a:r>
                    </a:p>
                  </a:txBody>
                  <a:tcPr anchor="ctr" marL="76200" marR="76200" marT="38100" marB="38100">
                    <a:solidFill>
                      <a:srgbClr val="FFFFFF"/>
                    </a:solidFill>
                  </a:tcPr>
                </a:tc>
                <a:tc>
                  <a:txBody>
                    <a:bodyPr/>
                    <a:lstStyle/>
                    <a:p>
                      <a:pPr algn="l"/>
                      <a:r>
                        <a:rPr sz="1150" b="0" i="0">
                          <a:solidFill>
                            <a:srgbClr val="111B30"/>
                          </a:solidFill>
                          <a:latin typeface="Calibri"/>
                        </a:rPr>
                        <a:t>15</a:t>
                      </a:r>
                    </a:p>
                  </a:txBody>
                  <a:tcPr anchor="ctr" marL="76200" marR="76200" marT="38100" marB="38100">
                    <a:solidFill>
                      <a:srgbClr val="FFFFFF"/>
                    </a:solidFill>
                  </a:tcPr>
                </a:tc>
              </a:tr>
              <a:tr h="384048">
                <a:tc>
                  <a:txBody>
                    <a:bodyPr/>
                    <a:lstStyle/>
                    <a:p>
                      <a:pPr algn="l"/>
                      <a:r>
                        <a:rPr sz="1150" b="0" i="0">
                          <a:solidFill>
                            <a:srgbClr val="111B30"/>
                          </a:solidFill>
                          <a:latin typeface="Calibri"/>
                        </a:rPr>
                        <a:t>A real RADIUS-gated SSH login, scoped safely to one account</a:t>
                      </a:r>
                    </a:p>
                  </a:txBody>
                  <a:tcPr anchor="ctr" marL="76200" marR="76200" marT="38100" marB="38100">
                    <a:solidFill>
                      <a:srgbClr val="E8EEF7"/>
                    </a:solidFill>
                  </a:tcPr>
                </a:tc>
                <a:tc>
                  <a:txBody>
                    <a:bodyPr/>
                    <a:lstStyle/>
                    <a:p>
                      <a:pPr algn="l"/>
                      <a:r>
                        <a:rPr sz="1150" b="0" i="0">
                          <a:solidFill>
                            <a:srgbClr val="111B30"/>
                          </a:solidFill>
                          <a:latin typeface="Calibri"/>
                        </a:rPr>
                        <a:t>15</a:t>
                      </a:r>
                    </a:p>
                  </a:txBody>
                  <a:tcPr anchor="ctr" marL="76200" marR="76200" marT="38100" marB="38100">
                    <a:solidFill>
                      <a:srgbClr val="E8EEF7"/>
                    </a:solidFill>
                  </a:tcPr>
                </a:tc>
              </a:tr>
              <a:tr h="384048">
                <a:tc>
                  <a:txBody>
                    <a:bodyPr/>
                    <a:lstStyle/>
                    <a:p>
                      <a:pPr algn="l"/>
                      <a:r>
                        <a:rPr sz="1150" b="0" i="0">
                          <a:solidFill>
                            <a:srgbClr val="111B30"/>
                          </a:solidFill>
                          <a:latin typeface="Calibri"/>
                        </a:rPr>
                        <a:t>Total</a:t>
                      </a:r>
                    </a:p>
                  </a:txBody>
                  <a:tcPr anchor="ctr" marL="76200" marR="76200" marT="38100" marB="38100">
                    <a:solidFill>
                      <a:srgbClr val="FFFFFF"/>
                    </a:solidFill>
                  </a:tcPr>
                </a:tc>
                <a:tc>
                  <a:txBody>
                    <a:bodyPr/>
                    <a:lstStyle/>
                    <a:p>
                      <a:pPr algn="l"/>
                      <a:r>
                        <a:rPr sz="1150" b="0" i="0">
                          <a:solidFill>
                            <a:srgbClr val="111B30"/>
                          </a:solidFill>
                          <a:latin typeface="Calibri"/>
                        </a:rPr>
                        <a:t>130</a:t>
                      </a:r>
                    </a:p>
                  </a:txBody>
                  <a:tcPr anchor="ctr" marL="76200" marR="76200" marT="38100" marB="38100">
                    <a:solidFill>
                      <a:srgbClr val="FFFFFF"/>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Recap &amp; Q&amp;A</a:t>
            </a:r>
          </a:p>
        </p:txBody>
      </p:sp>
      <p:sp>
        <p:nvSpPr>
          <p:cNvPr id="3" name="TextBox 2"/>
          <p:cNvSpPr txBox="1"/>
          <p:nvPr/>
        </p:nvSpPr>
        <p:spPr>
          <a:xfrm>
            <a:off x="685800" y="1554480"/>
            <a:ext cx="10820095" cy="3566159"/>
          </a:xfrm>
          <a:prstGeom prst="rect">
            <a:avLst/>
          </a:prstGeom>
          <a:noFill/>
        </p:spPr>
        <p:txBody>
          <a:bodyPr wrap="square" lIns="0" tIns="0">
            <a:spAutoFit/>
          </a:bodyPr>
          <a:lstStyle/>
          <a:p>
            <a:pPr algn="l">
              <a:spcAft>
                <a:spcPts val="800"/>
              </a:spcAft>
            </a:pPr>
            <a:r>
              <a:rPr sz="1450" b="0" i="0">
                <a:solidFill>
                  <a:srgbClr val="111B30"/>
                </a:solidFill>
                <a:latin typeface="Calibri"/>
              </a:rPr>
              <a:t>●   This week's take-home exercise: an inactive-account audit script and LDAP filter practice</a:t>
            </a:r>
          </a:p>
          <a:p>
            <a:pPr algn="l">
              <a:spcAft>
                <a:spcPts val="800"/>
              </a:spcAft>
            </a:pPr>
            <a:r>
              <a:rPr sz="1450" b="0" i="0">
                <a:solidFill>
                  <a:srgbClr val="111B30"/>
                </a:solidFill>
                <a:latin typeface="Calibri"/>
              </a:rPr>
              <a:t>●   Run the provided audit script against a live AD environment and interpret the CSV's Reason column (30 pts)</a:t>
            </a:r>
          </a:p>
          <a:p>
            <a:pPr algn="l">
              <a:spcAft>
                <a:spcPts val="800"/>
              </a:spcAft>
            </a:pPr>
            <a:r>
              <a:rPr sz="1450" b="0" i="0">
                <a:solidFill>
                  <a:srgbClr val="111B30"/>
                </a:solidFill>
                <a:latin typeface="Calibri"/>
              </a:rPr>
              <a:t>●   Manually remediate every flagged account - disable, set a Description, move to a quarantine OU, log every action (45 pts)</a:t>
            </a:r>
          </a:p>
          <a:p>
            <a:pPr algn="l">
              <a:spcAft>
                <a:spcPts val="800"/>
              </a:spcAft>
            </a:pPr>
            <a:r>
              <a:rPr sz="1450" b="0" i="0">
                <a:solidFill>
                  <a:srgbClr val="111B30"/>
                </a:solidFill>
                <a:latin typeface="Calibri"/>
              </a:rPr>
              <a:t>●   Write LDAP filters against the sample directory tree from earlier this section (25 pts)</a:t>
            </a:r>
          </a:p>
        </p:txBody>
      </p:sp>
      <p:sp>
        <p:nvSpPr>
          <p:cNvPr id="4" name="Rounded Rectangle 3"/>
          <p:cNvSpPr/>
          <p:nvPr/>
        </p:nvSpPr>
        <p:spPr>
          <a:xfrm>
            <a:off x="914400" y="5349240"/>
            <a:ext cx="914400" cy="914400"/>
          </a:xfrm>
          <a:prstGeom prst="round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3600" b="1" i="0">
                <a:solidFill>
                  <a:srgbClr val="1B2A4A"/>
                </a:solidFill>
                <a:latin typeface="Calibri"/>
              </a:rPr>
              <a:t>?</a:t>
            </a:r>
          </a:p>
        </p:txBody>
      </p:sp>
      <p:sp>
        <p:nvSpPr>
          <p:cNvPr id="5" name="TextBox 4"/>
          <p:cNvSpPr txBox="1"/>
          <p:nvPr/>
        </p:nvSpPr>
        <p:spPr>
          <a:xfrm>
            <a:off x="2103120" y="5349240"/>
            <a:ext cx="8229600" cy="914400"/>
          </a:xfrm>
          <a:prstGeom prst="rect">
            <a:avLst/>
          </a:prstGeom>
          <a:noFill/>
        </p:spPr>
        <p:txBody>
          <a:bodyPr wrap="square" anchor="ctr">
            <a:spAutoFit/>
          </a:bodyPr>
          <a:lstStyle/>
          <a:p>
            <a:r>
              <a:rPr sz="1400" b="0" i="0">
                <a:solidFill>
                  <a:srgbClr val="3D5A80"/>
                </a:solidFill>
                <a:latin typeface="Calibri"/>
              </a:rPr>
              <a:t>Questions? sebastian.hayes@byu.edu · CYBER 444 Discord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