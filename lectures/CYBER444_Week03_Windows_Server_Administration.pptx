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Week 3 as the Windows-side mirror of Week 2's Linux administration week — same underlying goals (identity, policy enforcement, network services, patching, backup, licensing) but through AD, GPO, and PowerShell instead of flat config files and sudoers. Preview that everything taught this week is load-bearing for this week's hands-on exercises (AD/GPO/AAA administration, plus a stale-account audit and LDAP filter practice), so students should watch for the PowerShell and LDAP syntax patterns specifically — they'll use them almost verbatim.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Transition slide. Everything in this section is what students build by hand in the hands-on exercises this week — verifying a domain controller, then designing and creating a tiered OU structure and the accounts that live in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intentionally the simplest possible AD picture, because the hands-on exercises don't have students promote a forest — the assigned domain controller ships pre-promoted specifically so hands-on time goes to OU/GPO design, not DCPROMO mechanics. Make sure students can still say what a DC actually does conceptually (authentication, directory replication, policy distribution), since every later slide this week assumes that baseline.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the two trust mechanisms concretely: corp.local and emea.corp.local trust each other automatically the moment emea is created as a child domain — nobody configures that trust, it's a side effect of the forest structure. partner.com is a completely separate forest (a different company, a different AD install) — for anyone in corp.local to authenticate against partner.com resources or vice versa, an admin on both sides has to deliberately stand up a forest trust. Ask the class: why might an organization deliberately choose multiple domains within one forest instead of one big domain? (Common real answers: geographic replication boundaries, distinct password policies before PSOs existed, or the result of a merger/acquisition where each side kept its own domain.)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why each test matters: replication failures mean OU/GPO changes might not propagate to other DCs (less visible with a single DC here, but always a concern in production), DNS failures break Kerberos SPN lookups, and netlogon failures mean nobody can log on at all. If any dcdiag test fails, stop and fix it before touching OUs - building on an unhealthy DC just compounds the problem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each command live and point at the specific fields that matter: Get-ADDomain's DomainMode (functional level) and PDCEmulator; dcdiag's per-test pass/fail banner; nltest /query's service state. If any dcdiag test fails, stop and fix it before doing anything else - it's the single most common root cause of confusing downstream errors.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DCSync doesn't require touching a DC at all - it abuses a legitimate AD replication permission from any domain-joined machine with the right rights, which is exactly why it's so dangerous and so easy to miss. Land the point hard: everything downstream this week (GPO, PSO, LDAP, RADIUS) ultimately inherits its trust from the DC, so a DC-level compromise is a domain-wide compromise.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direct motivation for Tier 0 isolation, the topic right after this run of slides - if literally nobody outside a small Tier 0 admin group can ever get local admin on a DC, this attack has no foothold to start from. Contrast with DCSync: this one needs a foothold ON the DC itself, DCSync needs only a permission granted to some other account.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“indefinitely” framing is the scary part worth dwelling on - a Golden Ticket survives ordinary incident response like resetting a compromised user's password, because it isn't tied to that user's credential at all, it's signed by the domain's own trust anchor. This is also why KRBTGT rotation has to happen twice: the account keeps its current AND previous password valid for compatibility, so one rotation alone doesn't invalidate an existing forged ticket.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closing spotlight is the thesis statement for the whole tiering discussion that follows - it's not one specific technique, it's the structural fact that every other attack in this run of slides depends on. Ask the class to connect it forward: if DC compromise is this catastrophic, what does that imply about who should ever be allowed to log into one? That's the tiering rule coming up next.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conceptual anchor for the entire OU design exercise - quote it directly: “a poorly designed OU/tiering model doesn't just create administrative headaches, it creates privilege-escalation paths.” Ask the class: if a helpdesk tech RDPs into a workstation using their Tier-0 domain admin account to fix a printer, what's the actual attack path an adversary now has? (Credential theft off that workstation now yields Tier-0 access.)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tree left to right and ask students, for each branch, who should have delegated rights over it - Tier0/AdminAccts should have almost nobody with rights beyond a couple of senior admins, while Workstations/IT could reasonably be delegated to a helpdesk group. Point out OU=Disabled now, even though it isn't used until the remediation workflow later this week - planning for account lifecycle, including deletion staging, is part of good OU design from day one, not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two or three levels of the tree live rather than the whole thing, to keep the demo moving - the pattern (create the parent, then reference its DN as -Path for the child) is the entire lesson. Close with Get-ADOrganizationalUnit -Filter * so students see the whole tree confirmed from the directory itself, not just trusted from memory - the same verify-don't-assume habit as the DC health demo.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practical implementation of the tiering rule from two slides ago - a single human can and should hold multiple accounts with different privilege levels, used for strictly different purposes. The “-adm” suffix is a naming convention, not a technical control by itself; the real control is OU placement plus GPO/PSO scoping, which gets stricter password requirements in Section 03. Flag NetworkAdmins now even though it's not used until Section 07 - seeding the group early means the RADIUS-gating slide later isn't introducing a brand-new concept, just putting this group to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-Path on New-ADUser places the account directly into the correct OU at creation time - no separate move step needed, unlike editing an existing account. NetworkAdmins is worth calling out by name here even though it isn't used until much later this section - it's the group that will gate who can even authenticate via RADIUS at all. Closing with Get-ADGroupMember proves the addition actually worked, the same verify-don't-assume habit as the earlier demos.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scenario the tiering rule slide asked students to reason through - tie it back directly: this is what actually happens when the “never log a higher-tier credential onto a lower-tier asset” rule is broken, even just once, for convenience.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structural failure mode the tiered OU tree diagram was built to prevent - without separate OUs per tier, there's no natural boundary at which to stop a GPO or a delegation grant from reaching further than intended.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to the Users, Groups &amp; Tier-0 Admin Account Pattern slide - the whole point of the enovak vs. enovak-adm naming pattern was individual, attributable accounts per tier; a shared account throws that attribution away entirely.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Section 01 by tying the OU discussion directly to attacker behavior, and is a deliberate bridge to Section 08's dormant-account discussion - hold this thought, because the whole point of a dormant-account sweep is what happens when organizations don't follow the OU=Disabled discipline shown here.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This is Windows Server's equivalent of Week 2's BIND/DHCP/NFS section - same protocols, different administrative surface (Server Manager / PowerShell *Dns*, *Dhcp*, *Smb* cmdlet families instead of flat config files).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the SRV-record point hard - it's the single most common “AD is broken” root cause in the real world (a workstation pointed at the wrong DNS server can't find a DC at all, so it fails to authenticate and everyone blames “the domain” instead of DNS). Ask students to connect this back to any LDAP query's -H hostname argument later this week - that hostname resolution is doing real work.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Resolve-DnsName at the end is the payoff - it proves the record you just added is actually being served, not just sitting in the zone. Tie this back to the SRV-record discussion: the same zone that just answered for a hand-added A record is also what silently makes or breaks every domain-joined client's ability to find a DC.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Explicitly call back to Week 2's DORA diagram rather than redrawing it - the wire protocol didn't change, only the administrative tooling did (Add-DhcpServerv4Scope, Add-DhcpServerv4Reservation instead of editing dhcpd.conf by hand). Spend real time on failover, since that's the concept genuinely new to the Windows side and matters anywhere DHCP being down means nobody can join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restrictive wins” rule is the fact students most often get wrong on exams - walk a concrete example: share permission = Everyone Full Control, NTFS permission = a specific group Read-only, so effective access is Read-only. This is the direct Windows analog to the Week 2 Linux lesson that NFS export options are the real security boundary, not what the client thinks it can do.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reference slide - tell students it's meant to be screenshotted/saved, not memorized live. Use it to reinforce that Windows administration this week trends toward “PowerShell cmdlet families that mirror the GUI role,” which sets up Section 04's deeper PowerShell dive.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back to the AD-Integrated Zones slide - since AD replicates DNS data as part of the directory itself, an unrestricted zone transfer can leak a meaningful map of the internal network's structure, not just a list of IP addresses.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a show of hands: who has, on a home network, plugged in a router that also runs DHCP and caused chaos? That's the benign version of this attack, and it's a good bridge into why enterprise switches need DHCP snooping as a network-layer control - DHCP itself can't defend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directly to the File Services slide's “most restrictive wins” rule - this attack is simply what happens when nobody applies that rule carefully on one side (usually NTFS, since share permissions are often left at Everyone/Full Control by default).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the section on a lateral-movement note - SMB signing defeats the relay specifically because it cryptographically ties the authentication to the intended target, so a captured exchange can't simply be replayed against a different host.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This is the biggest section of the week - it's the direct source material for this week's Security Baseline GPO, Audit Policy GPO, PSO, and verification/lockout testing work.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exam-style trap: Local Security Policy settings get silently overridden the moment a GPO delivers a conflicting setting - so “I set it locally and it's not sticking” is almost always “a GPO is winning.” This is exactly why the hands-on exercises this week have you build GPOs rather than touch secpol.msc on each machine by hand.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is the “why” behind the instruction to link both GPOs at the domain root rather than a specific OU - a domain-root link means every OU (Tier0, Servers, Workstations, UserAccounts) inherits the baseline and audit settings automatically. Ask the class: if you wanted Tier0/AdminAccts to have stricter password rules than the rest of the domain, would you do it with another GPO, or something else? (Answer: PSO - coming up next, since GPO password settings can only be set once per domain via the Default Domain Policy.)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memorize 4624/4625 cold - they'll use 4625 directly in the lockout verification work later this week (Get-WinEvent -LogName Security | Where-Object {$_.Id -eq 4625}). Mention that Event Log data only exists because Audit Policy is turned on for that category in the first place - an event ID means nothing if the GPO on the next two slides never enabled logging for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both directions - the raw MaxEvents dump so students see what a full event object actually looks like (TimeCreated, Id, Message, etc.), then the filtered Where-Object query they'll actually use in practice. Mention eventvwr.msc explicitly so students who prefer the GUI know where to find the identical data.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table and ask, for each row, what specific attack it blunts - length/complexity/history slow offline cracking and reuse, lockout threshold/duration blunt online brute force, and “don't display last signed-in” removes free reconnaissance for an attacker at a locked console.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that GPO creation and linking are one-liners, but the actual security settings inside the GPO are typically set through the Group Policy Management Editor GUI, not scripted - there's no single cmdlet for "apply the CIS baseline." Show New-GPO creating an empty GPO, then GPMC to open it and set one setting, so students see both halves of the workflow.</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“Advanced Audit Policy” is deliberate, not stylistic - the legacy 9-category Local Policy audit settings are coarser and get silently overridden by Advanced Audit Policy the moment it's configured, so mixing the two creates confusing gaps. gpupdate /force plus auditpol /get /category:* is how you prove the settings actually landed - screenshots of Group Policy Editor alone don't prove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the precedence-number inversion explicitly and slowly - it trips up almost everyone the first time (intuition says higher number = higher priority, but PSOs are the opposite). This is built with New-ADFineGrainedPasswordPolicy -Precedence 10 and tighter settings scoped only to a specific admin account via Add-ADFineGrainedPasswordPolicySubject, verified with Get-ADUserResultantPasswordPolicy.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rows deserve extra time: Min Password Age (1 day) exists specifically to stop someone from changing their password repeatedly in rapid succession just to cycle back to a favorite one, defeating password history; and Protected From Accidental Deletion sets an AD object flag that blocks deletion until explicitly removed - a safety net for an object that's easy to fat-finger given how few of these an environment usually has.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 proving policy-as-written equals policy-as-enforced, a habit, not a one-time check. Ask students why testing against ajohnson instead of enovak-adm matters: it's not just “don't lock yourself out,” it's that the two accounts are under different PSOs with different thresholds, so testing the wrong one gives a false read on which policy is actually in effect.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Section 03 by tying GPO/audit/PSO back to attacker behavior, same pattern as Section 01's closing slide - GPO-edit rights are exactly as sensitive as domain admin rights, since a domain-root-linked GPO change affects the entire tiering model established earlier.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connects to the Event Log overview slide - Event ID 1102 (log cleared) is itself an auditable event, so even hiding tracks leaves a trace if centralized logging is in place, foreshadowing the dormant-account/SIEM discussion in Section 08.</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flip side of the lockout-testing slide earlier this section - the same control that blunts brute force can itself become a denial-of-service tool if an attacker triggers it deliberately against someone else's account, which is why monitoring for lockout spikes matters as much as having a threshold at all.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natural closing point for the section: a per-account lockout threshold alone is blind to an attacker who spreads guesses across many accounts instead of hammering one - catching this pattern requires correlating failed logins across accounts, not just watching each account in isolation.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Literally every PowerShell snippet shown so far this lecture (New-ADOrganizationalUnit, New-GPO, Get-ADUserResultantPasswordPolicy) has been building toward this section's explanation of why PowerShell looks the way it does.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conceptual shift for students coming from Week 2's Linux/Bash world - in Bash you'd parse text with awk/grep/cut, but in PowerShell you filter and select on named properties directly, which is exactly what makes a stale-account audit script's Where-Object staleness logic readable without any string parsing. Ask the class: what property would you filter on to find stale accounts? (LastLogonDate, PasswordLastSet - direct object properties, no text-scraping needed.)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students type one live example if time allows: Get-ADUser -Filter * -Properties LastLogonDate | Where-Object {$_.LastLogonDate -lt (Get-Date).AddDays(-90)} | Select-Object Name, LastLogonDate - that one line is functionally most of what a stale-account audit script does for the “stale” condition, just without the CSV export and parameterization.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deck's master reference table for both the OU/user-creation exercises and the stale-account remediation workflow - the former uses New-ADOrganizationalUnit/New-ADUser, and the latter uses Set-ADUser/Move-ADObject in the exact same style. Point out Search-ADAccount -AccountInactive as a built-in alternative to custom Where-Object staleness logic - worth knowing it exists even though a purpose-built audit script might roll its own filtering for more control (-StaleDays/-PasswordDays).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build this script live - this is typically handed to you already written, and the point is reading and running it, not authoring it. Use this slide only to make sure every stage of the pipeline is legible: parameterized query, object filter, projection, export - the exact same four-stage pattern from the “Filtering, Sorting &amp; Formatting” slide, just chained together.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directly to the stale-account exercise's framing - it has students run the audit script manually and remediate by hand specifically to build muscle memory; in a real environment, this exact script would be registered as a nightly scheduled task so stale accounts get caught continuously instead of once. Ask: what could go wrong if you scheduled the remediation workflow itself, unattended, with no human review? Good lead-in to Section 08.</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genuinely important inflection point - PowerShell is simultaneously this week's most useful administrative tool and one of the most common attacker tools in real intrusions, precisely because it's trusted and already installed everywhere. This is the direct security cost of the object-pipeline power shown earlier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time allows, briefly show Get-WinEvent output for Event ID 4104 (Script Block Logging) so students see what defensive visibility into this actually looks like - it de-obfuscates encoded commands at execution time, which a raw process-creation log alone would not.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back to the Task Scheduler content slide - the exact same Trigger + Action model that makes nightly audit scripts convenient for admins is equally convenient for an attacker who wants a payload to survive a reboot without needing to re-compromise the host.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Section 04 by tying the least-privilege principle - already established for Tier 0 admin accounts back in Section 01 - to automation accounts specifically: a scheduled task's blast radius if compromised is exactly the rights of whatever account it runs as, so that account deserves the same scrutiny as any human admin account.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Frame these three as the unglamorous but load-bearing infrastructure roles - none show up directly in this week's hands-on exercises, but all three are explicit week-03 topics and common exam/interview material for Windows admins.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Autonomous vs. replica mode is the one distinction worth pausing on: autonomous downstream servers make their own approval decisions, replica servers just mirror the upstream server's approvals exactly - which one you pick depends on whether branch offices need local patch-approval authority or should just inherit HQ's decisions verbatim.</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staged-rollout point (test group before broad deployment) is worth a real anecdote if you have one - patch-related outages are a well-known operational risk, and WSUS's approval-workflow design exists specifically to let admins catch a bad patch on 5 test machines before it hits 5,000 production ones.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classic WSUS cautionary tale in security literature - a WSUS server configured over plain HTTP effectively becomes a code-execution-as-a-service pivot point for anyone who can position themselves on the network path, which is exactly why HTTPS-for-WSUS should be treated as non-optional, not a nice-to-have.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WSUS admin rights deserve the same tiering scrutiny as domain admin rights - whoever can approve updates effectively has code execution on every client in scope, which makes the WSUS server itself a high-value Tier-0-adjacent target.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saving grace here is that Microsoft's code-signing chain is a separate control from the WSUS transport itself - even a fully compromised WSUS server can't push a package that isn't signed by Microsoft, which is why signature verification matters independently of HTTPS.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the WSUS run of slides on an operational note rather than a technical exploit - the staged-rollout approval workflow from the Configuration Essentials slide is only a benefit if the approval step actually happens promptly; a slow human process defeats the purpose just as surely as a technical misconfiguration would.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the two DFS concepts clearly, since students often conflate them: the Namespace is the client-facing abstraction (one path, resolved to whichever server is closest/available), while Replication (DFS-R) is the backend mechanism that keeps the actual file content consistent across those servers. Connect back to Section 02's File Services slide - DFS is built directly on top of SMB shares and NTFS permissions, it doesn't replace either.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fewer-authoritative-targets defense is worth pausing on: DFS-R doesn't have a single master, so limiting how many targets accept direct writes reduces the surface for this kind of conflict without giving up the availability benefit of replication.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back to the namespace-vs-replication distinction from the DFS diagram - the namespace layer's convenience (one path, many servers) is exactly what makes it easy to forget that each folder target underneath has its own ACLs that deserve independent review.</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Explicitly link this forward to Section 08's discussion of AD replication lag affecting LastLogonDate - it's the same underlying theme showing up in a different subsystem: distributed systems have consistency windows, and any security control that assumes instant consistency across replicas has a blind spot during that window.</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the DFS run of slides on the same point the earlier diagram's notes made: DFS is built on top of ordinary file servers, so a compromise of any one underlying server is a real compromise of data the namespace presents as unified - the abstraction doesn't add isolation on its own.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Requestor/Writer/Provider split is worth making students name back to you - Writers matter because an application-unaware snapshot of, say, a database mid-write is not a consistent, restorable backup, while a VSS-aware writer flushes state first so the shadow copy is actually usable. Mention shadow copies also power the self-service “Previous Versions” file restore feature end users sometimes use without realizing it's the same underlying technology.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reliable ransomware indicators-of-compromise in real incident response - nearly every major ransomware family runs this command as one of its first steps precisely because it's so effective at removing the easy, local rollback option before encryption even starts.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backup infrastructure as a Tier-0-adjacent asset, same logic as a domain controller - if compromising it removes the organization's last line of defense, it deserves separate credentials and network isolation, not just "another server."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green checkmark on a backup job only proves data was written somewhere, not that it can be read back correctly under pressure - the only way to know a restore actually works is to practice one before an incident forces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the section by tying back to the tiering theme that's now run through Sections 01, 03, and 05 - a backup account is exactly the kind of "boring" service account that accumulates excessive rights over time because nobody revisits it, which is precisely why it deserves the same least-privilege scrutiny as a human admin account.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Set expectations that this section is less hands-on/technical and more “know this for real-world budgeting and compliance conversations” - it won't show up in this week's hands-on exercises, but it's an explicit week-03 topic and a common gap in otherwise-strong technical admins.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example callout below the table - licensing minimum core counts are about licenses required, not physical capacity, so a lightly-loaded 2-proc/8-core box can be fully licensed while nowhere near CPU-constrained. The VM-count difference (2 vs. unlimited) is the actual decision driver in practice: once you need a 3rd Windows Server VM on one host, Datacenter usually becomes cheaper than stacking multiple Standard licenses.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this in a concrete example both ways - a 24/7 call center with 3 shifts sharing one workstation clearly wants Device CALs (one license covers all three shift workers), while a sales team that each has a laptop, tablet, and phone all hitting the same file server clearly wants User CALs (one license per person covers every device they own).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practical rather than exhaustive - the takeaway is that “volume licensing” isn't one thing, and the right vehicle depends heavily on organization size and appetite for long-term commitment versus flexibility, exactly the kind of decision a Windows admin gets pulled into even though it's technically a procurement/finance question.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directly back to the Standard/Datacenter table - Hyper-V rights are exactly the “included VM instances” row restated for virtualization specifically, so a Datacenter host isn't just “more powerful,” it's “unlimited free Windows Server guest licensing on that hardware,” which is the actual value proposition IT decision-makers care about.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Explicitly tell students this run of slides uses the same red/green visual language as every other Attacks &amp; Defenses slide this week, even though “risk” replaces “attack” here - licensing non-compliance isn't a cybersecurity attack, but it's a real operational and financial risk a Windows admin is expected to manage, and the pattern of “something goes wrong because of a gap -&gt; here's the process control that prevents it” is identical.</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the direct consequence of not doing the “Example” callout math from the Standard vs. Datacenter slide on an ongoing basis - license compliance isn't a one-time calculation at purchase time, it has to be reconciled against what's actually running, on a schedule.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flip side of the core-based licensing math from the Standard vs. Datacenter slide - the minimum license requirement is a function of core count, so any hardware change that adds cores or processors changes that requirement too, even if nobody touched a single Windows Server setting.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back to the CAL decision-rule slide - the “more users than devices vs. more devices than users” math isn't a one-time decision, it's worth periodically re-checking as an organization's user-to-device ratio shifts over time (e.g. a shift to remote work usually means more devices per person than before).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Frame this section as a shared foundation - the same LDAP filter syntax skills, applied first to querying the domain directly, then to authenticating non-Windows network infrastructure against that same domain conceptually.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explicitly that this is structurally identical to the AD OU tree from Section 01 - dc=, ou=, and leaf objects are the generic LDAP vocabulary underneath what AD calls “domain” and “OU.” The cross-reference lines for memberOf are worth lingering on, since they preview the next slide's AND-filter exercise (finding accounts by both object type and group membership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effectively the answer-key structure (not the literal answers) for the LDAP filter-writing exercises - walk through why the bitwise matching rule OID is necessary at all: userAccountControl packs many boolean flags into one integer, so a plain equality filter only matches accounts with EXACTLY that combination of flags, while the bitwise rule matches any account with a specific bit set regardless of what else is set. Have students work out, as a group, why (uid=jsmith) alone isn't an OR filter but (|(uid=jsmith)(uid=tlowe)) is - the outer | is what makes it explicit.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that these decimal values are sums of independent power-of-two flags, exactly why a bitwise filter is required instead of plain equality. Ask students to predict what filter would find “every account that's either disabled OR has a never-expiring password” using OR combined with two separate bitwise-matching-rule clauses - effectively the second filter-writing exercise.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the direct parallel to Section 01's tiering discussion - a network device authenticating admins locally has exactly the same “credential sprawl” problem as workstations with local admin accounts, just for infrastructure gear instead of desktops; RADIUS-backed-by-AD is the network-device equivalent of domain join. Mention TACACS+ exists as an alternative more common specifically for network-device administration, but RADIUS is the focus here.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slowing down on since it's genuinely new vocabulary: NAS doesn't mean “network-attached storage” here, it means whatever device is asking to authenticate someone on RADIUS's behalf - a switch, a VPN concentrator, or in a hands-on version of this, a Linux box running radtest playing the NAS role. UDP rather than TCP is also worth a beat: RADIUS predates the reliability assumptions protocol design would make today, part of why RadSec (RADIUS over TLS/TCP) exists as a modern alternative.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this top to bottom exactly once, slowly - it's the single most important diagram in the section. The critical point: the switch's shared secret only proves the SWITCH is a legitimate NAS to RADIUS, it says nothing about the admin - the admin's actual identity is proven entirely by the LDAP simple bind RADIUS performs against AD, as that admin's own account. That's also why the admin's password only crosses the wire once (switch to RADIUS, inside the Access-Request) - RADIUS re-uses it locally to attempt the bind, it doesn't forward the password on to AD in a third hop. The ELSE branch is worth a beat too: a bind rejection anywhere - wrong password, account locked, whatever AD would refuse - collapses cleanly to a single Access-Reject the switch understands, without RADIUS needing to know anything about how AD arrived at that answer.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details here are easy to skip past but matter a lot in practice: pointing at an IP instead of a hostname is a direct consequence of the RADIUS box not being domain-joined - it has no built-in way to resolve a Windows machine's name, unlike a client that's already joined to the domain. And the dedicated bind account is a real production security control, not lab pedantry - whatever account's credentials end up sitting in that plaintext config file defines the blast radius if that one file ever leaks, so it should be able to search and bind and nothing else. The Auth-Type line is the crux of the rest: AD demands FreeRADIUS actually attempt to log in as the user via LDAP to prove the password is correct, which forces PAP specifically since that's the only client-side method compatible with a plaintext bind.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concrete answer to “how do permissions actually pass from AD through RADIUS to a network device”: in this setup it's a binary authorization gate enforced inside FreeRADIUS's own LDAP query, not a privilege level or VLAN carried back on the Access-Accept. A correct password alone isn't enough - bmartinez proves that directly, since her password is right but she's not in NetworkAdmins, so she's rejected before RADIUS even gets to caring about the password. Worth naming the contrast explicitly: production RADIUS deployments often go further and carry a specific privilege level or VLAN back as an Access-Accept reply attribute - covered in more depth on the next slide - but that's a real, common pattern, just not what this particular setup implements. Here, authorization is all-or-nothing at the group-membership gate.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two-mechanism split explicitly, since it's easy to blur the two together: the previous slide's LDAP filter is a gate - it decides whether RADIUS even sends an Access-Accept at all. This slide's reply attribute is an assignment - once accepted, it decides what that account is actually allowed to do on the device. Both commonly reuse the exact same underlying signal (AD group membership), which is worth pointing out - the difference is just what fires afterward: nothing/reject for the gate, versus a specific Cisco-AVPair value for the assignment. This is the piece a real enterprise deployment almost always adds on top of a binary authenticate/reject gate like the one this lab builds - one flat NetworkAdmins group is fine for a lab, but production environments usually want tiered privilege levels (or a VLAN assignment, which works the same way via a different VSA) rather than "all admins get full enable access."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Section 07's attack-spotlight run by pointing out an irony worth naming directly across all four of these: RADIUS and LDAP both solve real credential-sprawl and directory-query problems, but each introduces its own new trust relationship - anonymous bind here, the RADIUS shared secret two slides from now - that has to be managed carefully, or you've just moved the weak point rather than eliminated it.</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directly to the FreeRADIUS-via-LDAP slide from earlier this section - that setup specifically required PAP because the AD bind sends a password in the clear over LDAP, which is exactly this vulnerability in action. LDAPS wrapping that connection in TLS is the fix in both contexts.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back to the RADIUS AAA flow diagram - the shared secret IS the trust relationship between NAS and RADIUS server, so a weak or reused one undermines the entire authentication chain no matter how strong the user's own password is.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good closing thought before the dormant-account material - a different kind of trust-relationship decay. RADIUS predates modern transport-security assumptions (a point made on the RADIUS Protocol Basics slide), and RadSec exists specifically to wrap that legacy protocol in TLS/TCP for organizations that can't tolerate its original weaknesses.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Same closing pattern as Week 1/2 - a short conceptual bridge into this week's core theme, then a recap and Q&amp;A.</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Colonial Pipeline detail specifically: it wasn't a sophisticated exploit, it was a forgotten VPN account with a reused, previously-leaked password and no MFA - the security failure was entirely about account lifecycle hygiene, not clever attacker tradecraft. That's the whole argument for building the audit-and-remediate habit this week covers: dormant-account sweeps aren't busywork, they close exactly this kind of gap before it becomes an entry point.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LastLogonDate specifically reflects interactive and Kerberos ticket-granting activity, replicated with a real default lag (~14 days) - not just “logs can be wrong” hand-waving. The fix is never a single better field, it's pairing this signal with PasswordLastSet, federated sign-in logs, and mailbox activity so no single narrow or lagging signal drives a deletion decision on its own.</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all four steps in order - doing all four for every flagged account matters, not just disabling; it's easy to disable and stop there. On the quarantine-duration callout, be concrete: ~90 days gives an account owner or their manager a real chance to flag a false positive, and requiring sign-off from someone other than whoever ran the sweep means final deletion is never a unilateral action by one admin. Connect back to Section 01's OU=Disabled slide: the OU existed in the tiering design from day one specifically so this reversible path is available.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deliberately the first of the last conceptual run of slides before the recap, tying together Section 04's Task Scheduler content and the quarantine workflow. Ask the class: what could go wrong at scale with an all-manual process like this? Human error at volume is the most obvious answer, and a ticket-per-account workflow with two-person approval is the standard operational fix - it forces a second set of eyes before anything irreversible happens.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dry-run mode is worth explaining concretely: the script reports what it WOULD do to each account without actually touching anything, so a human can review the plan against the original audit findings before any account is disabled, described, or moved - catching mistakes before they're real instead of after.</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connects directly back to Section 04's Task Scheduler slide - detection can and should scale via automation (a nightly scheduled audit run) even when the actual remediation action stays a deliberate, human-reviewed step. Splitting detection from action is the key idea: automate the part that's just noticing, keep a human on the part that's destructive.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Idempotent scripting is worth defining plainly: a script that can be run twice on the same account without causing harm the second time (e.g. checking “is this already disabled?” before disabling it again), so a partial run that failed halfway through can simply be re-run from the top rather than requiring careful manual cleanup first. The honest answer to “manual vs. automated”: neither extreme is right - detection scales via automation, but the disable/delete action itself still benefits from a human checkpoint, exactly like the quarantine-OU staging from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Reassure students this is a long exercise but each piece is a direct extension of a slide they just saw this lecture - the DC-verification step mirrors the DC-verification slide, the OU/user creation steps mirror the OU/user slides, the GPO/PSO/verification steps mirror the GPO/PSO/verification slides, and the LDAP/RADIUS step mirrors the LDAP/RADIUS slides. Point that mapping out explicitly so it doesn't feel like new material dropped in cold.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single heaviest item is now the RADIUS/LDAP work at 27 points - more than a quarter of the total grade in one line item - because it's the newest, most advanced material and the one most likely to need extra help, so budget study time accordingly.</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connecting this recap back to the lecture: the audit-script anatomy diagram, the quarantine-workflow diagram, the dormant-account and LastLogonDate slides, and the LDAP tree/filter-syntax slides earlier this section together cover everything needed here - the goal is zero surprises, only applying what was just taught against a real assigned environment.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40080" y="1874519"/>
            <a:ext cx="10911535" cy="548640"/>
          </a:xfrm>
          <a:prstGeom prst="rect">
            <a:avLst/>
          </a:prstGeom>
          <a:noFill/>
        </p:spPr>
        <p:txBody>
          <a:bodyPr wrap="none">
            <a:spAutoFit/>
          </a:bodyPr>
          <a:lstStyle/>
          <a:p>
            <a:r>
              <a:rPr sz="2200" b="1" i="0">
                <a:solidFill>
                  <a:srgbClr val="00B4D8"/>
                </a:solidFill>
                <a:latin typeface="Cambria"/>
              </a:rPr>
              <a:t>WEEK 3</a:t>
            </a:r>
          </a:p>
        </p:txBody>
      </p:sp>
      <p:sp>
        <p:nvSpPr>
          <p:cNvPr id="3" name="TextBox 2"/>
          <p:cNvSpPr txBox="1"/>
          <p:nvPr/>
        </p:nvSpPr>
        <p:spPr>
          <a:xfrm>
            <a:off x="640080" y="2468880"/>
            <a:ext cx="10911535" cy="1188720"/>
          </a:xfrm>
          <a:prstGeom prst="rect">
            <a:avLst/>
          </a:prstGeom>
          <a:noFill/>
        </p:spPr>
        <p:txBody>
          <a:bodyPr wrap="square">
            <a:spAutoFit/>
          </a:bodyPr>
          <a:lstStyle/>
          <a:p>
            <a:r>
              <a:rPr sz="4200" b="1" i="0">
                <a:solidFill>
                  <a:srgbClr val="FFFFFF"/>
                </a:solidFill>
                <a:latin typeface="Cambria"/>
              </a:rPr>
              <a:t>Windows Server Administration</a:t>
            </a:r>
          </a:p>
        </p:txBody>
      </p:sp>
      <p:sp>
        <p:nvSpPr>
          <p:cNvPr id="4" name="TextBox 3"/>
          <p:cNvSpPr txBox="1"/>
          <p:nvPr/>
        </p:nvSpPr>
        <p:spPr>
          <a:xfrm>
            <a:off x="640080" y="3794760"/>
            <a:ext cx="10911535" cy="822960"/>
          </a:xfrm>
          <a:prstGeom prst="rect">
            <a:avLst/>
          </a:prstGeom>
          <a:noFill/>
        </p:spPr>
        <p:txBody>
          <a:bodyPr wrap="square">
            <a:spAutoFit/>
          </a:bodyPr>
          <a:lstStyle/>
          <a:p>
            <a:r>
              <a:rPr sz="1600" b="0" i="0">
                <a:solidFill>
                  <a:srgbClr val="E8EEF7"/>
                </a:solidFill>
                <a:latin typeface="Calibri"/>
              </a:rPr>
              <a:t>CYBER 444 — Systems &amp; Network Administration</a:t>
            </a:r>
          </a:p>
          <a:p>
            <a:pPr>
              <a:spcBef>
                <a:spcPts val="600"/>
              </a:spcBef>
            </a:pPr>
            <a:r>
              <a:rPr sz="1300" b="0" i="1">
                <a:solidFill>
                  <a:srgbClr val="00B4D8"/>
                </a:solidFill>
                <a:latin typeface="Calibri"/>
              </a:rPr>
              <a:t>Active Directory · GPO · PowerShell · Centralized AAA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822960" y="2962656"/>
            <a:ext cx="1005840" cy="1005840"/>
          </a:xfrm>
          <a:prstGeom prst="rect">
            <a:avLst/>
          </a:prstGeom>
          <a:solidFill>
            <a:srgbClr val="00B4D8"/>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4000" b="1" i="0">
                <a:solidFill>
                  <a:srgbClr val="1B2A4A"/>
                </a:solidFill>
                <a:latin typeface="Calibri"/>
              </a:rPr>
              <a:t>01</a:t>
            </a:r>
          </a:p>
        </p:txBody>
      </p:sp>
      <p:sp>
        <p:nvSpPr>
          <p:cNvPr id="3" name="TextBox 2"/>
          <p:cNvSpPr txBox="1"/>
          <p:nvPr/>
        </p:nvSpPr>
        <p:spPr>
          <a:xfrm>
            <a:off x="2103120" y="2962656"/>
            <a:ext cx="9448495" cy="1005840"/>
          </a:xfrm>
          <a:prstGeom prst="rect">
            <a:avLst/>
          </a:prstGeom>
          <a:noFill/>
        </p:spPr>
        <p:txBody>
          <a:bodyPr wrap="square" anchor="ctr">
            <a:spAutoFit/>
          </a:bodyPr>
          <a:lstStyle/>
          <a:p>
            <a:r>
              <a:rPr sz="3200" b="1" i="0">
                <a:solidFill>
                  <a:srgbClr val="FFFFFF"/>
                </a:solidFill>
                <a:latin typeface="Cambria"/>
              </a:rPr>
              <a:t>Active Directory Architecture &amp; OU Design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Active Directory Architecture: Forests, Domains &amp; Domain Controllers</a:t>
            </a:r>
          </a:p>
        </p:txBody>
      </p:sp>
      <p:sp>
        <p:nvSpPr>
          <p:cNvPr id="3" name="TextBox 2"/>
          <p:cNvSpPr txBox="1"/>
          <p:nvPr/>
        </p:nvSpPr>
        <p:spPr>
          <a:xfrm>
            <a:off x="640080" y="1417320"/>
            <a:ext cx="10911535" cy="365760"/>
          </a:xfrm>
          <a:prstGeom prst="rect">
            <a:avLst/>
          </a:prstGeom>
          <a:noFill/>
        </p:spPr>
        <p:txBody>
          <a:bodyPr wrap="square" lIns="0" tIns="0">
            <a:spAutoFit/>
          </a:bodyPr>
          <a:lstStyle/>
          <a:p>
            <a:r>
              <a:rPr sz="1250" b="0" i="1">
                <a:solidFill>
                  <a:srgbClr val="6B7480"/>
                </a:solidFill>
                <a:latin typeface="Calibri"/>
              </a:rPr>
              <a:t>Single-domain forest used in this course (lab3.local) — a DC hosts AD DS, DNS, and replicates the directory.</a:t>
            </a:r>
          </a:p>
        </p:txBody>
      </p:sp>
      <p:sp>
        <p:nvSpPr>
          <p:cNvPr id="4" name="Rounded Rectangle 3"/>
          <p:cNvSpPr/>
          <p:nvPr/>
        </p:nvSpPr>
        <p:spPr>
          <a:xfrm>
            <a:off x="914400" y="1874519"/>
            <a:ext cx="10332720" cy="4160520"/>
          </a:xfrm>
          <a:prstGeom prst="roundRect">
            <a:avLst/>
          </a:prstGeom>
          <a:solidFill>
            <a:srgbClr val="FFFFFF"/>
          </a:solidFill>
          <a:ln w="19050">
            <a:solidFill>
              <a:srgbClr val="3D5A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
            </a:r>
          </a:p>
        </p:txBody>
      </p:sp>
      <p:sp>
        <p:nvSpPr>
          <p:cNvPr id="5" name="TextBox 4"/>
          <p:cNvSpPr txBox="1"/>
          <p:nvPr/>
        </p:nvSpPr>
        <p:spPr>
          <a:xfrm>
            <a:off x="1051560" y="1920240"/>
            <a:ext cx="3657600" cy="274320"/>
          </a:xfrm>
          <a:prstGeom prst="rect">
            <a:avLst/>
          </a:prstGeom>
          <a:noFill/>
        </p:spPr>
        <p:txBody>
          <a:bodyPr wrap="none">
            <a:spAutoFit/>
          </a:bodyPr>
          <a:lstStyle/>
          <a:p>
            <a:r>
              <a:rPr sz="1100" b="1" i="0">
                <a:solidFill>
                  <a:srgbClr val="3D5A80"/>
                </a:solidFill>
                <a:latin typeface="Cambria"/>
              </a:rPr>
              <a:t>FOREST: lab3.local</a:t>
            </a:r>
          </a:p>
        </p:txBody>
      </p:sp>
      <p:sp>
        <p:nvSpPr>
          <p:cNvPr id="6" name="Rounded Rectangle 5"/>
          <p:cNvSpPr/>
          <p:nvPr/>
        </p:nvSpPr>
        <p:spPr>
          <a:xfrm>
            <a:off x="1280160" y="2331720"/>
            <a:ext cx="9601200" cy="338328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
            </a:r>
          </a:p>
        </p:txBody>
      </p:sp>
      <p:sp>
        <p:nvSpPr>
          <p:cNvPr id="7" name="TextBox 6"/>
          <p:cNvSpPr txBox="1"/>
          <p:nvPr/>
        </p:nvSpPr>
        <p:spPr>
          <a:xfrm>
            <a:off x="1417320" y="2377440"/>
            <a:ext cx="3657600" cy="274320"/>
          </a:xfrm>
          <a:prstGeom prst="rect">
            <a:avLst/>
          </a:prstGeom>
          <a:noFill/>
        </p:spPr>
        <p:txBody>
          <a:bodyPr wrap="none">
            <a:spAutoFit/>
          </a:bodyPr>
          <a:lstStyle/>
          <a:p>
            <a:r>
              <a:rPr sz="1100" b="1" i="0">
                <a:solidFill>
                  <a:srgbClr val="1B2A4A"/>
                </a:solidFill>
                <a:latin typeface="Cambria"/>
              </a:rPr>
              <a:t>DOMAIN: lab3.local</a:t>
            </a:r>
          </a:p>
        </p:txBody>
      </p:sp>
      <p:sp>
        <p:nvSpPr>
          <p:cNvPr id="8" name="Rounded Rectangle 7"/>
          <p:cNvSpPr/>
          <p:nvPr/>
        </p:nvSpPr>
        <p:spPr>
          <a:xfrm>
            <a:off x="1645920" y="2926080"/>
            <a:ext cx="2651760" cy="960120"/>
          </a:xfrm>
          <a:prstGeom prst="roundRect">
            <a:avLst/>
          </a:prstGeom>
          <a:solidFill>
            <a:srgbClr val="FFFFFF"/>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DC01</a:t>
            </a:r>
          </a:p>
          <a:p>
            <a:pPr algn="ctr"/>
            <a:r>
              <a:rPr sz="1050" b="1" i="0">
                <a:solidFill>
                  <a:srgbClr val="111B30"/>
                </a:solidFill>
                <a:latin typeface="Calibri"/>
              </a:rPr>
              <a:t>(AD DS + DNS)</a:t>
            </a:r>
          </a:p>
        </p:txBody>
      </p:sp>
      <p:sp>
        <p:nvSpPr>
          <p:cNvPr id="9" name="Rounded Rectangle 8"/>
          <p:cNvSpPr/>
          <p:nvPr/>
        </p:nvSpPr>
        <p:spPr>
          <a:xfrm>
            <a:off x="4617720" y="2926080"/>
            <a:ext cx="2651760" cy="960120"/>
          </a:xfrm>
          <a:prstGeom prst="roundRect">
            <a:avLst/>
          </a:prstGeom>
          <a:solidFill>
            <a:srgbClr val="FFFFFF"/>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Global Catalog</a:t>
            </a:r>
          </a:p>
        </p:txBody>
      </p:sp>
      <p:sp>
        <p:nvSpPr>
          <p:cNvPr id="10" name="Rounded Rectangle 9"/>
          <p:cNvSpPr/>
          <p:nvPr/>
        </p:nvSpPr>
        <p:spPr>
          <a:xfrm>
            <a:off x="7589520" y="2926080"/>
            <a:ext cx="2926080" cy="960120"/>
          </a:xfrm>
          <a:prstGeom prst="roundRect">
            <a:avLst/>
          </a:prstGeom>
          <a:solidFill>
            <a:srgbClr val="FFFFFF"/>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SYSVOL / NETLOGON</a:t>
            </a:r>
          </a:p>
          <a:p>
            <a:pPr algn="ctr"/>
            <a:r>
              <a:rPr sz="1050" b="0" i="0">
                <a:solidFill>
                  <a:srgbClr val="111B30"/>
                </a:solidFill>
                <a:latin typeface="Calibri"/>
              </a:rPr>
              <a:t>Shares</a:t>
            </a:r>
          </a:p>
        </p:txBody>
      </p:sp>
      <p:sp>
        <p:nvSpPr>
          <p:cNvPr id="11" name="Rounded Rectangle 10"/>
          <p:cNvSpPr/>
          <p:nvPr/>
        </p:nvSpPr>
        <p:spPr>
          <a:xfrm>
            <a:off x="2468880" y="4434840"/>
            <a:ext cx="2377440" cy="868680"/>
          </a:xfrm>
          <a:prstGeom prst="roundRect">
            <a:avLst/>
          </a:prstGeom>
          <a:solidFill>
            <a:srgbClr val="FFFFFF"/>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DC01</a:t>
            </a:r>
          </a:p>
        </p:txBody>
      </p:sp>
      <p:sp>
        <p:nvSpPr>
          <p:cNvPr id="12" name="Rounded Rectangle 11"/>
          <p:cNvSpPr/>
          <p:nvPr/>
        </p:nvSpPr>
        <p:spPr>
          <a:xfrm>
            <a:off x="6949440" y="4434840"/>
            <a:ext cx="2377440" cy="868680"/>
          </a:xfrm>
          <a:prstGeom prst="roundRect">
            <a:avLst/>
          </a:prstGeom>
          <a:solidFill>
            <a:srgbClr val="FFFFFF"/>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DC02 (example)</a:t>
            </a:r>
          </a:p>
        </p:txBody>
      </p:sp>
      <p:cxnSp>
        <p:nvCxnSpPr>
          <p:cNvPr id="13" name="Connector 12"/>
          <p:cNvCxnSpPr/>
          <p:nvPr/>
        </p:nvCxnSpPr>
        <p:spPr>
          <a:xfrm>
            <a:off x="4846320" y="4869179"/>
            <a:ext cx="2103120" cy="0"/>
          </a:xfrm>
          <a:prstGeom prst="line">
            <a:avLst/>
          </a:prstGeom>
          <a:ln w="22225">
            <a:solidFill>
              <a:srgbClr val="00B4D8"/>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29200" y="4722875"/>
            <a:ext cx="1737360" cy="292608"/>
          </a:xfrm>
          <a:prstGeom prst="rect">
            <a:avLst/>
          </a:prstGeom>
          <a:noFill/>
        </p:spPr>
        <p:txBody>
          <a:bodyPr wrap="square" lIns="0" tIns="0">
            <a:spAutoFit/>
          </a:bodyPr>
          <a:lstStyle/>
          <a:p>
            <a:pPr algn="ctr"/>
            <a:r>
              <a:rPr sz="900" b="0" i="1">
                <a:solidFill>
                  <a:srgbClr val="404040"/>
                </a:solidFill>
                <a:latin typeface="Calibri"/>
              </a:rPr>
              <a:t>multi-master replication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Beyond a Single Domain: Multi-Forest &amp; Multi-Domain Example</a:t>
            </a:r>
          </a:p>
        </p:txBody>
      </p:sp>
      <p:sp>
        <p:nvSpPr>
          <p:cNvPr id="3" name="TextBox 2"/>
          <p:cNvSpPr txBox="1"/>
          <p:nvPr/>
        </p:nvSpPr>
        <p:spPr>
          <a:xfrm>
            <a:off x="640080" y="1417320"/>
            <a:ext cx="10911535" cy="365760"/>
          </a:xfrm>
          <a:prstGeom prst="rect">
            <a:avLst/>
          </a:prstGeom>
          <a:noFill/>
        </p:spPr>
        <p:txBody>
          <a:bodyPr wrap="square" lIns="0" tIns="0">
            <a:spAutoFit/>
          </a:bodyPr>
          <a:lstStyle/>
          <a:p>
            <a:r>
              <a:rPr sz="1250" b="0" i="1">
                <a:solidFill>
                  <a:srgbClr val="6B7480"/>
                </a:solidFill>
                <a:latin typeface="Calibri"/>
              </a:rPr>
              <a:t>This course's environment uses a single forest/single domain (lab3.local) for simplicity — production orgs often span more.</a:t>
            </a:r>
          </a:p>
        </p:txBody>
      </p:sp>
      <p:sp>
        <p:nvSpPr>
          <p:cNvPr id="4" name="Rounded Rectangle 3"/>
          <p:cNvSpPr/>
          <p:nvPr/>
        </p:nvSpPr>
        <p:spPr>
          <a:xfrm>
            <a:off x="914400" y="1920240"/>
            <a:ext cx="5303520" cy="2926080"/>
          </a:xfrm>
          <a:prstGeom prst="roundRect">
            <a:avLst/>
          </a:prstGeom>
          <a:solidFill>
            <a:srgbClr val="FFFFFF"/>
          </a:solidFill>
          <a:ln w="19050">
            <a:solidFill>
              <a:srgbClr val="3D5A8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
            </a:r>
          </a:p>
        </p:txBody>
      </p:sp>
      <p:sp>
        <p:nvSpPr>
          <p:cNvPr id="5" name="TextBox 4"/>
          <p:cNvSpPr txBox="1"/>
          <p:nvPr/>
        </p:nvSpPr>
        <p:spPr>
          <a:xfrm>
            <a:off x="1051560" y="1965960"/>
            <a:ext cx="3657600" cy="274320"/>
          </a:xfrm>
          <a:prstGeom prst="rect">
            <a:avLst/>
          </a:prstGeom>
          <a:noFill/>
        </p:spPr>
        <p:txBody>
          <a:bodyPr wrap="none">
            <a:spAutoFit/>
          </a:bodyPr>
          <a:lstStyle/>
          <a:p>
            <a:r>
              <a:rPr sz="1100" b="1" i="0">
                <a:solidFill>
                  <a:srgbClr val="3D5A80"/>
                </a:solidFill>
                <a:latin typeface="Cambria"/>
              </a:rPr>
              <a:t>FOREST A</a:t>
            </a:r>
          </a:p>
        </p:txBody>
      </p:sp>
      <p:sp>
        <p:nvSpPr>
          <p:cNvPr id="6" name="Rounded Rectangle 5"/>
          <p:cNvSpPr/>
          <p:nvPr/>
        </p:nvSpPr>
        <p:spPr>
          <a:xfrm>
            <a:off x="1371600" y="2468880"/>
            <a:ext cx="4206240" cy="82296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corp.local</a:t>
            </a:r>
          </a:p>
          <a:p>
            <a:pPr algn="ctr"/>
            <a:r>
              <a:rPr sz="1050" b="1" i="0">
                <a:solidFill>
                  <a:srgbClr val="111B30"/>
                </a:solidFill>
                <a:latin typeface="Calibri"/>
              </a:rPr>
              <a:t>(forest root domain)</a:t>
            </a:r>
          </a:p>
        </p:txBody>
      </p:sp>
      <p:sp>
        <p:nvSpPr>
          <p:cNvPr id="7" name="Rounded Rectangle 6"/>
          <p:cNvSpPr/>
          <p:nvPr/>
        </p:nvSpPr>
        <p:spPr>
          <a:xfrm>
            <a:off x="2103120" y="3749039"/>
            <a:ext cx="3657600" cy="82296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emea.corp.local</a:t>
            </a:r>
          </a:p>
          <a:p>
            <a:pPr algn="ctr"/>
            <a:r>
              <a:rPr sz="1000" b="0" i="0">
                <a:solidFill>
                  <a:srgbClr val="111B30"/>
                </a:solidFill>
                <a:latin typeface="Calibri"/>
              </a:rPr>
              <a:t>(child domain)</a:t>
            </a:r>
          </a:p>
        </p:txBody>
      </p:sp>
      <p:cxnSp>
        <p:nvCxnSpPr>
          <p:cNvPr id="8" name="Connector 7"/>
          <p:cNvCxnSpPr/>
          <p:nvPr/>
        </p:nvCxnSpPr>
        <p:spPr>
          <a:xfrm>
            <a:off x="3474720" y="3291840"/>
            <a:ext cx="457200" cy="457199"/>
          </a:xfrm>
          <a:prstGeom prst="line">
            <a:avLst/>
          </a:prstGeom>
          <a:ln w="22225">
            <a:solidFill>
              <a:srgbClr val="1B2A4A"/>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834639" y="3374135"/>
            <a:ext cx="1737360" cy="292608"/>
          </a:xfrm>
          <a:prstGeom prst="rect">
            <a:avLst/>
          </a:prstGeom>
          <a:noFill/>
        </p:spPr>
        <p:txBody>
          <a:bodyPr wrap="square" lIns="0" tIns="0">
            <a:spAutoFit/>
          </a:bodyPr>
          <a:lstStyle/>
          <a:p>
            <a:pPr algn="ctr"/>
            <a:r>
              <a:rPr sz="900" b="0" i="1">
                <a:solidFill>
                  <a:srgbClr val="404040"/>
                </a:solidFill>
                <a:latin typeface="Calibri"/>
              </a:rPr>
              <a:t>two-way transitive trust (auto)</a:t>
            </a:r>
          </a:p>
        </p:txBody>
      </p:sp>
      <p:sp>
        <p:nvSpPr>
          <p:cNvPr id="10" name="Rounded Rectangle 9"/>
          <p:cNvSpPr/>
          <p:nvPr/>
        </p:nvSpPr>
        <p:spPr>
          <a:xfrm>
            <a:off x="7589520" y="1920240"/>
            <a:ext cx="3685032" cy="2103120"/>
          </a:xfrm>
          <a:prstGeom prst="roundRect">
            <a:avLst/>
          </a:prstGeom>
          <a:solidFill>
            <a:srgbClr val="FFFFFF"/>
          </a:solidFill>
          <a:ln w="19050">
            <a:solidFill>
              <a:srgbClr val="3D5A8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
            </a:r>
          </a:p>
        </p:txBody>
      </p:sp>
      <p:sp>
        <p:nvSpPr>
          <p:cNvPr id="11" name="TextBox 10"/>
          <p:cNvSpPr txBox="1"/>
          <p:nvPr/>
        </p:nvSpPr>
        <p:spPr>
          <a:xfrm>
            <a:off x="7726679" y="1965960"/>
            <a:ext cx="3657600" cy="274320"/>
          </a:xfrm>
          <a:prstGeom prst="rect">
            <a:avLst/>
          </a:prstGeom>
          <a:noFill/>
        </p:spPr>
        <p:txBody>
          <a:bodyPr wrap="none">
            <a:spAutoFit/>
          </a:bodyPr>
          <a:lstStyle/>
          <a:p>
            <a:r>
              <a:rPr sz="1100" b="1" i="0">
                <a:solidFill>
                  <a:srgbClr val="3D5A80"/>
                </a:solidFill>
                <a:latin typeface="Cambria"/>
              </a:rPr>
              <a:t>FOREST B</a:t>
            </a:r>
          </a:p>
        </p:txBody>
      </p:sp>
      <p:sp>
        <p:nvSpPr>
          <p:cNvPr id="12" name="Rounded Rectangle 11"/>
          <p:cNvSpPr/>
          <p:nvPr/>
        </p:nvSpPr>
        <p:spPr>
          <a:xfrm>
            <a:off x="7955279" y="2651760"/>
            <a:ext cx="2926080" cy="82296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partner.com</a:t>
            </a:r>
          </a:p>
          <a:p>
            <a:pPr algn="ctr"/>
            <a:r>
              <a:rPr sz="1050" b="1" i="0">
                <a:solidFill>
                  <a:srgbClr val="111B30"/>
                </a:solidFill>
                <a:latin typeface="Calibri"/>
              </a:rPr>
              <a:t>(separate forest)</a:t>
            </a:r>
          </a:p>
        </p:txBody>
      </p:sp>
      <p:cxnSp>
        <p:nvCxnSpPr>
          <p:cNvPr id="13" name="Connector 12"/>
          <p:cNvCxnSpPr/>
          <p:nvPr/>
        </p:nvCxnSpPr>
        <p:spPr>
          <a:xfrm>
            <a:off x="5577840" y="2880360"/>
            <a:ext cx="2377439" cy="182880"/>
          </a:xfrm>
          <a:prstGeom prst="line">
            <a:avLst/>
          </a:prstGeom>
          <a:ln w="22225">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897879" y="2825496"/>
            <a:ext cx="1737360" cy="292608"/>
          </a:xfrm>
          <a:prstGeom prst="rect">
            <a:avLst/>
          </a:prstGeom>
          <a:noFill/>
        </p:spPr>
        <p:txBody>
          <a:bodyPr wrap="square" lIns="0" tIns="0">
            <a:spAutoFit/>
          </a:bodyPr>
          <a:lstStyle/>
          <a:p>
            <a:pPr algn="ctr"/>
            <a:r>
              <a:rPr sz="900" b="0" i="1">
                <a:solidFill>
                  <a:srgbClr val="404040"/>
                </a:solidFill>
                <a:latin typeface="Calibri"/>
              </a:rPr>
              <a:t>forest trust (explicit)</a:t>
            </a:r>
          </a:p>
        </p:txBody>
      </p:sp>
      <p:sp>
        <p:nvSpPr>
          <p:cNvPr id="15" name="TextBox 14"/>
          <p:cNvSpPr txBox="1"/>
          <p:nvPr/>
        </p:nvSpPr>
        <p:spPr>
          <a:xfrm>
            <a:off x="914400" y="5120640"/>
            <a:ext cx="10332720" cy="1097280"/>
          </a:xfrm>
          <a:prstGeom prst="rect">
            <a:avLst/>
          </a:prstGeom>
          <a:noFill/>
        </p:spPr>
        <p:txBody>
          <a:bodyPr wrap="square">
            <a:spAutoFit/>
          </a:bodyPr>
          <a:lstStyle/>
          <a:p>
            <a:r>
              <a:rPr sz="1100" b="0" i="1">
                <a:solidFill>
                  <a:srgbClr val="404040"/>
                </a:solidFill>
                <a:latin typeface="Calibri"/>
              </a:rPr>
              <a:t>Within a forest, parent-child domain trust is automatic and transitive — every domain in the forest implicitly trusts every other. Between separate forests, trust is never automatic: it has to be explicitly configured, can be one-way or two-way, and can be scoped narrower than a full two-way forest trust.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Verifying a Domain Controller: Health Before You Trust It</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Never assume a DC is healthy - especially one you didn't build yourself</a:t>
            </a:r>
          </a:p>
          <a:p>
            <a:pPr algn="l">
              <a:spcAft>
                <a:spcPts val="1200"/>
              </a:spcAft>
            </a:pPr>
            <a:r>
              <a:rPr sz="1600" b="0" i="0">
                <a:solidFill>
                  <a:srgbClr val="111B30"/>
                </a:solidFill>
                <a:latin typeface="Calibri"/>
              </a:rPr>
              <a:t>●   Get-ADDomain - confirms domain name, functional level, PDC emulator location</a:t>
            </a:r>
          </a:p>
          <a:p>
            <a:pPr algn="l">
              <a:spcAft>
                <a:spcPts val="1200"/>
              </a:spcAft>
            </a:pPr>
            <a:r>
              <a:rPr sz="1600" b="0" i="0">
                <a:solidFill>
                  <a:srgbClr val="111B30"/>
                </a:solidFill>
                <a:latin typeface="Calibri"/>
              </a:rPr>
              <a:t>●   dcdiag /test:replications /test:dns /test:netlogons - the standard AD health-check triad</a:t>
            </a:r>
          </a:p>
          <a:p>
            <a:pPr algn="l">
              <a:spcAft>
                <a:spcPts val="1200"/>
              </a:spcAft>
            </a:pPr>
            <a:r>
              <a:rPr sz="1600" b="0" i="0">
                <a:solidFill>
                  <a:srgbClr val="111B30"/>
                </a:solidFill>
                <a:latin typeface="Calibri"/>
              </a:rPr>
              <a:t>●   nltest /query - confirms the DC can actually process authentication requests</a:t>
            </a:r>
          </a:p>
          <a:p>
            <a:pPr algn="l">
              <a:spcAft>
                <a:spcPts val="1200"/>
              </a:spcAft>
            </a:pPr>
            <a:r>
              <a:rPr sz="1600" b="0" i="0">
                <a:solidFill>
                  <a:srgbClr val="111B30"/>
                </a:solidFill>
                <a:latin typeface="Calibri"/>
              </a:rPr>
              <a:t>●   All dcdiag tests must pass before you touch OUs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5486400" cy="274320"/>
          </a:xfrm>
          <a:prstGeom prst="rect">
            <a:avLst/>
          </a:prstGeom>
          <a:noFill/>
        </p:spPr>
        <p:txBody>
          <a:bodyPr wrap="none">
            <a:spAutoFit/>
          </a:bodyPr>
          <a:lstStyle/>
          <a:p>
            <a:r>
              <a:rPr sz="1200" b="1" i="0">
                <a:solidFill>
                  <a:srgbClr val="00B4D8"/>
                </a:solidFill>
                <a:latin typeface="Cambria"/>
              </a:rPr>
              <a:t>LIVE DEMO</a:t>
            </a:r>
          </a:p>
        </p:txBody>
      </p:sp>
      <p:sp>
        <p:nvSpPr>
          <p:cNvPr id="3" name="TextBox 2"/>
          <p:cNvSpPr txBox="1"/>
          <p:nvPr/>
        </p:nvSpPr>
        <p:spPr>
          <a:xfrm>
            <a:off x="640080" y="621792"/>
            <a:ext cx="10911535" cy="777240"/>
          </a:xfrm>
          <a:prstGeom prst="rect">
            <a:avLst/>
          </a:prstGeom>
          <a:noFill/>
        </p:spPr>
        <p:txBody>
          <a:bodyPr wrap="square" lIns="0" tIns="0">
            <a:spAutoFit/>
          </a:bodyPr>
          <a:lstStyle/>
          <a:p>
            <a:pPr algn="l"/>
            <a:r>
              <a:rPr sz="2600" b="1" i="0">
                <a:solidFill>
                  <a:srgbClr val="1B2A4A"/>
                </a:solidFill>
                <a:latin typeface="Cambria"/>
              </a:rPr>
              <a:t>Live Demo: Checking Domain Health</a:t>
            </a:r>
          </a:p>
        </p:txBody>
      </p:sp>
      <p:sp>
        <p:nvSpPr>
          <p:cNvPr id="4" name="TextBox 3"/>
          <p:cNvSpPr txBox="1"/>
          <p:nvPr/>
        </p:nvSpPr>
        <p:spPr>
          <a:xfrm>
            <a:off x="685800" y="1600200"/>
            <a:ext cx="10820095" cy="4846320"/>
          </a:xfrm>
          <a:prstGeom prst="rect">
            <a:avLst/>
          </a:prstGeom>
          <a:noFill/>
        </p:spPr>
        <p:txBody>
          <a:bodyPr wrap="square" lIns="0" tIns="0">
            <a:spAutoFit/>
          </a:bodyPr>
          <a:lstStyle/>
          <a:p>
            <a:pPr algn="l">
              <a:spcAft>
                <a:spcPts val="1000"/>
              </a:spcAft>
            </a:pPr>
            <a:r>
              <a:rPr sz="1400" b="0" i="0">
                <a:solidFill>
                  <a:srgbClr val="111B30"/>
                </a:solidFill>
                <a:latin typeface="Courier New"/>
              </a:rPr>
              <a:t>Get-ADDomain</a:t>
            </a:r>
          </a:p>
          <a:p>
            <a:pPr algn="l">
              <a:spcAft>
                <a:spcPts val="1000"/>
              </a:spcAft>
            </a:pPr>
            <a:r>
              <a:rPr sz="1300" b="0" i="1">
                <a:solidFill>
                  <a:srgbClr val="3D5A80"/>
                </a:solidFill>
                <a:latin typeface="Calibri"/>
              </a:rPr>
              <a:t>confirms domain name, functional level, and PDC emulator location</a:t>
            </a:r>
          </a:p>
          <a:p>
            <a:pPr algn="l">
              <a:spcAft>
                <a:spcPts val="1000"/>
              </a:spcAft>
            </a:pPr>
            <a:r>
              <a:rPr sz="1400" b="0" i="0">
                <a:solidFill>
                  <a:srgbClr val="111B30"/>
                </a:solidFill>
                <a:latin typeface="Courier New"/>
              </a:rPr>
              <a:t>dcdiag /test:replications /test:dns /test:netlogons</a:t>
            </a:r>
          </a:p>
          <a:p>
            <a:pPr algn="l">
              <a:spcAft>
                <a:spcPts val="1000"/>
              </a:spcAft>
            </a:pPr>
            <a:r>
              <a:rPr sz="1300" b="0" i="1">
                <a:solidFill>
                  <a:srgbClr val="3D5A80"/>
                </a:solidFill>
                <a:latin typeface="Calibri"/>
              </a:rPr>
              <a:t>the standard three-test AD health-check triad</a:t>
            </a:r>
          </a:p>
          <a:p>
            <a:pPr algn="l">
              <a:spcAft>
                <a:spcPts val="1000"/>
              </a:spcAft>
            </a:pPr>
            <a:r>
              <a:rPr sz="1400" b="0" i="0">
                <a:solidFill>
                  <a:srgbClr val="111B30"/>
                </a:solidFill>
                <a:latin typeface="Courier New"/>
              </a:rPr>
              <a:t>nltest /query</a:t>
            </a:r>
          </a:p>
          <a:p>
            <a:pPr algn="l">
              <a:spcAft>
                <a:spcPts val="1000"/>
              </a:spcAft>
            </a:pPr>
            <a:r>
              <a:rPr sz="1300" b="0" i="1">
                <a:solidFill>
                  <a:srgbClr val="3D5A80"/>
                </a:solidFill>
                <a:latin typeface="Calibri"/>
              </a:rPr>
              <a:t>confirms the Netlogon service is running and can process authentication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DCSync</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holds</a:t>
            </a:r>
          </a:p>
          <a:p>
            <a:pPr algn="ctr"/>
            <a:r>
              <a:rPr sz="1100" b="0" i="0">
                <a:solidFill>
                  <a:srgbClr val="111B30"/>
                </a:solidFill>
                <a:latin typeface="Calibri"/>
              </a:rPr>
              <a:t>“Replicating Directory</a:t>
            </a:r>
          </a:p>
          <a:p>
            <a:pPr algn="ctr"/>
            <a:r>
              <a:rPr sz="1100" b="0" i="0">
                <a:solidFill>
                  <a:srgbClr val="111B30"/>
                </a:solidFill>
                <a:latin typeface="Calibri"/>
              </a:rPr>
              <a:t>Changes” rights</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Impersonates a DC and</a:t>
            </a:r>
          </a:p>
          <a:p>
            <a:pPr algn="ctr"/>
            <a:r>
              <a:rPr sz="1100" b="1" i="0">
                <a:solidFill>
                  <a:srgbClr val="111B30"/>
                </a:solidFill>
                <a:latin typeface="Calibri"/>
              </a:rPr>
              <a:t>requests directory</a:t>
            </a:r>
          </a:p>
          <a:p>
            <a:pPr algn="ctr"/>
            <a:r>
              <a:rPr sz="1100" b="1" i="0">
                <a:solidFill>
                  <a:srgbClr val="111B30"/>
                </a:solidFill>
                <a:latin typeface="Calibri"/>
              </a:rPr>
              <a:t>replication (DCSync)</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Extracts password hashes</a:t>
            </a:r>
          </a:p>
          <a:p>
            <a:pPr algn="ctr"/>
            <a:r>
              <a:rPr sz="1100" b="0" i="0">
                <a:solidFill>
                  <a:srgbClr val="111B30"/>
                </a:solidFill>
                <a:latin typeface="Calibri"/>
              </a:rPr>
              <a:t>for any account,</a:t>
            </a:r>
          </a:p>
          <a:p>
            <a:pPr algn="ctr"/>
            <a:r>
              <a:rPr sz="1100" b="0" i="0">
                <a:solidFill>
                  <a:srgbClr val="111B30"/>
                </a:solidFill>
                <a:latin typeface="Calibri"/>
              </a:rPr>
              <a:t>including krbtgt</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Restrict “Replicating Directory Changes” rights; monitor Event ID 4662</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NTDS.dit Theft</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has local</a:t>
            </a:r>
          </a:p>
          <a:p>
            <a:pPr algn="ctr"/>
            <a:r>
              <a:rPr sz="1100" b="0" i="0">
                <a:solidFill>
                  <a:srgbClr val="111B30"/>
                </a:solidFill>
                <a:latin typeface="Calibri"/>
              </a:rPr>
              <a:t>admin on a DC</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Copies NTDS.dit + the</a:t>
            </a:r>
          </a:p>
          <a:p>
            <a:pPr algn="ctr"/>
            <a:r>
              <a:rPr sz="1100" b="1" i="0">
                <a:solidFill>
                  <a:srgbClr val="111B30"/>
                </a:solidFill>
                <a:latin typeface="Calibri"/>
              </a:rPr>
              <a:t>SYSTEM registry hive</a:t>
            </a:r>
          </a:p>
          <a:p>
            <a:pPr algn="ctr"/>
            <a:r>
              <a:rPr sz="1100" b="1" i="0">
                <a:solidFill>
                  <a:srgbClr val="111B30"/>
                </a:solidFill>
                <a:latin typeface="Calibri"/>
              </a:rPr>
              <a:t>offline</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Extracts every password</a:t>
            </a:r>
          </a:p>
          <a:p>
            <a:pPr algn="ctr"/>
            <a:r>
              <a:rPr sz="1100" b="0" i="0">
                <a:solidFill>
                  <a:srgbClr val="111B30"/>
                </a:solidFill>
                <a:latin typeface="Calibri"/>
              </a:rPr>
              <a:t>hash in the domain</a:t>
            </a:r>
          </a:p>
          <a:p>
            <a:pPr algn="ctr"/>
            <a:r>
              <a:rPr sz="1100" b="0" i="0">
                <a:solidFill>
                  <a:srgbClr val="111B30"/>
                </a:solidFill>
                <a:latin typeface="Calibri"/>
              </a:rPr>
              <a:t>offline, undetected</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Tier 0 isolation - no non-DC admin ever logs onto a DC; disk encryption</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Golden Ticket</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has stolen</a:t>
            </a:r>
          </a:p>
          <a:p>
            <a:pPr algn="ctr"/>
            <a:r>
              <a:rPr sz="1100" b="0" i="0">
                <a:solidFill>
                  <a:srgbClr val="111B30"/>
                </a:solidFill>
                <a:latin typeface="Calibri"/>
              </a:rPr>
              <a:t>the KRBTGT account's</a:t>
            </a:r>
          </a:p>
          <a:p>
            <a:pPr algn="ctr"/>
            <a:r>
              <a:rPr sz="1100" b="0" i="0">
                <a:solidFill>
                  <a:srgbClr val="111B30"/>
                </a:solidFill>
                <a:latin typeface="Calibri"/>
              </a:rPr>
              <a:t>password hash</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Forges a Kerberos TGT</a:t>
            </a:r>
          </a:p>
          <a:p>
            <a:pPr algn="ctr"/>
            <a:r>
              <a:rPr sz="1100" b="1" i="0">
                <a:solidFill>
                  <a:srgbClr val="111B30"/>
                </a:solidFill>
                <a:latin typeface="Calibri"/>
              </a:rPr>
              <a:t>signed with that</a:t>
            </a:r>
          </a:p>
          <a:p>
            <a:pPr algn="ctr"/>
            <a:r>
              <a:rPr sz="1100" b="1" i="0">
                <a:solidFill>
                  <a:srgbClr val="111B30"/>
                </a:solidFill>
                <a:latin typeface="Calibri"/>
              </a:rPr>
              <a:t>stolen hash</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Domain-wide access,</a:t>
            </a:r>
          </a:p>
          <a:p>
            <a:pPr algn="ctr"/>
            <a:r>
              <a:rPr sz="1100" b="0" i="0">
                <a:solidFill>
                  <a:srgbClr val="111B30"/>
                </a:solidFill>
                <a:latin typeface="Calibri"/>
              </a:rPr>
              <a:t>indefinitely - even after</a:t>
            </a:r>
          </a:p>
          <a:p>
            <a:pPr algn="ctr"/>
            <a:r>
              <a:rPr sz="1100" b="0" i="0">
                <a:solidFill>
                  <a:srgbClr val="111B30"/>
                </a:solidFill>
                <a:latin typeface="Calibri"/>
              </a:rPr>
              <a:t>user password resets</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Rotate the KRBTGT password (twice, with time between rotations); monitor abnormal TGT lifetimes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DC as a Single Point of Trust</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Any single domain</a:t>
            </a:r>
          </a:p>
          <a:p>
            <a:pPr algn="ctr"/>
            <a:r>
              <a:rPr sz="1100" b="0" i="0">
                <a:solidFill>
                  <a:srgbClr val="111B30"/>
                </a:solidFill>
                <a:latin typeface="Calibri"/>
              </a:rPr>
              <a:t>controller is</a:t>
            </a:r>
          </a:p>
          <a:p>
            <a:pPr algn="ctr"/>
            <a:r>
              <a:rPr sz="1100" b="0" i="0">
                <a:solidFill>
                  <a:srgbClr val="111B30"/>
                </a:solidFill>
                <a:latin typeface="Calibri"/>
              </a:rPr>
              <a:t>compromised</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Attacker inherits that</a:t>
            </a:r>
          </a:p>
          <a:p>
            <a:pPr algn="ctr"/>
            <a:r>
              <a:rPr sz="1100" b="1" i="0">
                <a:solidFill>
                  <a:srgbClr val="111B30"/>
                </a:solidFill>
                <a:latin typeface="Calibri"/>
              </a:rPr>
              <a:t>DC's position as a</a:t>
            </a:r>
          </a:p>
          <a:p>
            <a:pPr algn="ctr"/>
            <a:r>
              <a:rPr sz="1100" b="1" i="0">
                <a:solidFill>
                  <a:srgbClr val="111B30"/>
                </a:solidFill>
                <a:latin typeface="Calibri"/>
              </a:rPr>
              <a:t>trust anchor</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The whole domain's</a:t>
            </a:r>
          </a:p>
          <a:p>
            <a:pPr algn="ctr"/>
            <a:r>
              <a:rPr sz="1100" b="0" i="0">
                <a:solidFill>
                  <a:srgbClr val="111B30"/>
                </a:solidFill>
                <a:latin typeface="Calibri"/>
              </a:rPr>
              <a:t>trust model is</a:t>
            </a:r>
          </a:p>
          <a:p>
            <a:pPr algn="ctr"/>
            <a:r>
              <a:rPr sz="1100" b="0" i="0">
                <a:solidFill>
                  <a:srgbClr val="111B30"/>
                </a:solidFill>
                <a:latin typeface="Calibri"/>
              </a:rPr>
              <a:t>compromised at once</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Tiered administration (next topic); no cross-tier logons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OU Design as Privilege-Escalation Prevention</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An OU is a container for delegation, GPO scope, and administrative boundaries - not just a folder for tidiness</a:t>
            </a:r>
          </a:p>
          <a:p>
            <a:pPr algn="l">
              <a:spcAft>
                <a:spcPts val="1200"/>
              </a:spcAft>
            </a:pPr>
            <a:r>
              <a:rPr sz="1600" b="0" i="0">
                <a:solidFill>
                  <a:srgbClr val="111B30"/>
                </a:solidFill>
                <a:latin typeface="Calibri"/>
              </a:rPr>
              <a:t>●   This course's framing: a Tier 0 credential exposed on a Tier 2 workstation is a real attack surface, not an inconvenience</a:t>
            </a:r>
          </a:p>
          <a:p>
            <a:pPr algn="l">
              <a:spcAft>
                <a:spcPts val="1200"/>
              </a:spcAft>
            </a:pPr>
            <a:r>
              <a:rPr sz="1600" b="0" i="0">
                <a:solidFill>
                  <a:srgbClr val="111B30"/>
                </a:solidFill>
                <a:latin typeface="Calibri"/>
              </a:rPr>
              <a:t>●   Tiering model: Tier 0 = domain-wide control (DCs, AD admin accounts), Tier 1 = server admin, Tier 2 = workstation/user admin</a:t>
            </a:r>
          </a:p>
          <a:p>
            <a:pPr algn="l">
              <a:spcAft>
                <a:spcPts val="1200"/>
              </a:spcAft>
            </a:pPr>
            <a:r>
              <a:rPr sz="1600" b="0" i="0">
                <a:solidFill>
                  <a:srgbClr val="111B30"/>
                </a:solidFill>
                <a:latin typeface="Calibri"/>
              </a:rPr>
              <a:t>●   Rule: never log a higher-tier credential onto a lower-tier asset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Tiered OU Structure Example</a:t>
            </a:r>
          </a:p>
        </p:txBody>
      </p:sp>
      <p:sp>
        <p:nvSpPr>
          <p:cNvPr id="3" name="TextBox 2"/>
          <p:cNvSpPr txBox="1"/>
          <p:nvPr/>
        </p:nvSpPr>
        <p:spPr>
          <a:xfrm>
            <a:off x="640080" y="1417320"/>
            <a:ext cx="10911535" cy="365760"/>
          </a:xfrm>
          <a:prstGeom prst="rect">
            <a:avLst/>
          </a:prstGeom>
          <a:noFill/>
        </p:spPr>
        <p:txBody>
          <a:bodyPr wrap="square" lIns="0" tIns="0">
            <a:spAutoFit/>
          </a:bodyPr>
          <a:lstStyle/>
          <a:p>
            <a:r>
              <a:rPr sz="1250" b="0" i="1">
                <a:solidFill>
                  <a:srgbClr val="6B7480"/>
                </a:solidFill>
                <a:latin typeface="Calibri"/>
              </a:rPr>
              <a:t>Each OU is an administrative and delegation boundary, not just a folder for tidiness.</a:t>
            </a:r>
          </a:p>
        </p:txBody>
      </p:sp>
      <p:sp>
        <p:nvSpPr>
          <p:cNvPr id="4" name="Rounded Rectangle 3"/>
          <p:cNvSpPr/>
          <p:nvPr/>
        </p:nvSpPr>
        <p:spPr>
          <a:xfrm>
            <a:off x="5166360" y="1874519"/>
            <a:ext cx="1828800" cy="548640"/>
          </a:xfrm>
          <a:prstGeom prst="roundRect">
            <a:avLst/>
          </a:prstGeom>
          <a:solidFill>
            <a:srgbClr val="1B2A4A"/>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FFFFFF"/>
                </a:solidFill>
                <a:latin typeface="Calibri"/>
              </a:rPr>
              <a:t>lab3.local</a:t>
            </a:r>
          </a:p>
        </p:txBody>
      </p:sp>
      <p:sp>
        <p:nvSpPr>
          <p:cNvPr id="5" name="Rounded Rectangle 4"/>
          <p:cNvSpPr/>
          <p:nvPr/>
        </p:nvSpPr>
        <p:spPr>
          <a:xfrm>
            <a:off x="914400" y="2926080"/>
            <a:ext cx="2286000" cy="68580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1" i="0">
                <a:solidFill>
                  <a:srgbClr val="B02A2A"/>
                </a:solidFill>
                <a:latin typeface="Calibri"/>
              </a:rPr>
              <a:t>OU=Tier0</a:t>
            </a:r>
          </a:p>
          <a:p>
            <a:pPr algn="ctr"/>
            <a:r>
              <a:rPr sz="900" b="1" i="0">
                <a:solidFill>
                  <a:srgbClr val="B02A2A"/>
                </a:solidFill>
                <a:latin typeface="Calibri"/>
              </a:rPr>
              <a:t>DCs, privileged admin workstations</a:t>
            </a:r>
          </a:p>
        </p:txBody>
      </p:sp>
      <p:sp>
        <p:nvSpPr>
          <p:cNvPr id="6" name="Rounded Rectangle 5"/>
          <p:cNvSpPr/>
          <p:nvPr/>
        </p:nvSpPr>
        <p:spPr>
          <a:xfrm>
            <a:off x="3593592" y="2926080"/>
            <a:ext cx="2286000" cy="685800"/>
          </a:xfrm>
          <a:prstGeom prst="roundRect">
            <a:avLst/>
          </a:prstGeom>
          <a:solidFill>
            <a:srgbClr val="FFFFFF"/>
          </a:solidFill>
          <a:ln w="15875">
            <a:solidFill>
              <a:srgbClr val="3D5A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1" i="0">
                <a:solidFill>
                  <a:srgbClr val="111B30"/>
                </a:solidFill>
                <a:latin typeface="Calibri"/>
              </a:rPr>
              <a:t>OU=Servers</a:t>
            </a:r>
          </a:p>
          <a:p>
            <a:pPr algn="ctr"/>
            <a:r>
              <a:rPr sz="900" b="1" i="0">
                <a:solidFill>
                  <a:srgbClr val="111B30"/>
                </a:solidFill>
                <a:latin typeface="Calibri"/>
              </a:rPr>
              <a:t>Tier 1</a:t>
            </a:r>
          </a:p>
        </p:txBody>
      </p:sp>
      <p:sp>
        <p:nvSpPr>
          <p:cNvPr id="7" name="Rounded Rectangle 6"/>
          <p:cNvSpPr/>
          <p:nvPr/>
        </p:nvSpPr>
        <p:spPr>
          <a:xfrm>
            <a:off x="6272784" y="2926080"/>
            <a:ext cx="2286000" cy="685800"/>
          </a:xfrm>
          <a:prstGeom prst="roundRect">
            <a:avLst/>
          </a:prstGeom>
          <a:solidFill>
            <a:srgbClr val="FFFFFF"/>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1" i="0">
                <a:solidFill>
                  <a:srgbClr val="111B30"/>
                </a:solidFill>
                <a:latin typeface="Calibri"/>
              </a:rPr>
              <a:t>OU=Workstations</a:t>
            </a:r>
          </a:p>
          <a:p>
            <a:pPr algn="ctr"/>
            <a:r>
              <a:rPr sz="900" b="1" i="0">
                <a:solidFill>
                  <a:srgbClr val="111B30"/>
                </a:solidFill>
                <a:latin typeface="Calibri"/>
              </a:rPr>
              <a:t>Tier 2</a:t>
            </a:r>
          </a:p>
        </p:txBody>
      </p:sp>
      <p:sp>
        <p:nvSpPr>
          <p:cNvPr id="8" name="Rounded Rectangle 7"/>
          <p:cNvSpPr/>
          <p:nvPr/>
        </p:nvSpPr>
        <p:spPr>
          <a:xfrm>
            <a:off x="8951976" y="2926080"/>
            <a:ext cx="2286000" cy="685800"/>
          </a:xfrm>
          <a:prstGeom prst="roundRect">
            <a:avLst/>
          </a:prstGeom>
          <a:solidFill>
            <a:srgbClr val="FFFFFF"/>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1" i="0">
                <a:solidFill>
                  <a:srgbClr val="111B30"/>
                </a:solidFill>
                <a:latin typeface="Calibri"/>
              </a:rPr>
              <a:t>OU=UserAccounts</a:t>
            </a:r>
          </a:p>
          <a:p>
            <a:pPr algn="ctr"/>
            <a:r>
              <a:rPr sz="900" b="1" i="0">
                <a:solidFill>
                  <a:srgbClr val="111B30"/>
                </a:solidFill>
                <a:latin typeface="Calibri"/>
              </a:rPr>
              <a:t>Tier 2</a:t>
            </a:r>
          </a:p>
        </p:txBody>
      </p:sp>
      <p:cxnSp>
        <p:nvCxnSpPr>
          <p:cNvPr id="9" name="Connector 8"/>
          <p:cNvCxnSpPr/>
          <p:nvPr/>
        </p:nvCxnSpPr>
        <p:spPr>
          <a:xfrm flipH="1">
            <a:off x="2057400" y="2423160"/>
            <a:ext cx="4023360" cy="502920"/>
          </a:xfrm>
          <a:prstGeom prst="line">
            <a:avLst/>
          </a:prstGeom>
          <a:ln w="15875">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736592" y="2423160"/>
            <a:ext cx="1344168" cy="502920"/>
          </a:xfrm>
          <a:prstGeom prst="line">
            <a:avLst/>
          </a:prstGeom>
          <a:ln w="15875">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80760" y="2423160"/>
            <a:ext cx="1335023" cy="502920"/>
          </a:xfrm>
          <a:prstGeom prst="line">
            <a:avLst/>
          </a:prstGeom>
          <a:ln w="15875">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80760" y="2423160"/>
            <a:ext cx="4014216" cy="502920"/>
          </a:xfrm>
          <a:prstGeom prst="line">
            <a:avLst/>
          </a:prstGeom>
          <a:ln w="15875">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 y="4160520"/>
            <a:ext cx="2286000" cy="54864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0" i="0">
                <a:solidFill>
                  <a:srgbClr val="111B30"/>
                </a:solidFill>
                <a:latin typeface="Calibri"/>
              </a:rPr>
              <a:t>OU=AdminAccts</a:t>
            </a:r>
          </a:p>
        </p:txBody>
      </p:sp>
      <p:sp>
        <p:nvSpPr>
          <p:cNvPr id="14" name="Rounded Rectangle 13"/>
          <p:cNvSpPr/>
          <p:nvPr/>
        </p:nvSpPr>
        <p:spPr>
          <a:xfrm>
            <a:off x="3593592" y="4160520"/>
            <a:ext cx="1074420" cy="548640"/>
          </a:xfrm>
          <a:prstGeom prst="roundRect">
            <a:avLst/>
          </a:prstGeom>
          <a:solidFill>
            <a:srgbClr val="E8EEF7"/>
          </a:solidFill>
          <a:ln w="15875">
            <a:solidFill>
              <a:srgbClr val="3D5A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0" i="0">
                <a:solidFill>
                  <a:srgbClr val="111B30"/>
                </a:solidFill>
                <a:latin typeface="Calibri"/>
              </a:rPr>
              <a:t>OU=Production</a:t>
            </a:r>
          </a:p>
        </p:txBody>
      </p:sp>
      <p:sp>
        <p:nvSpPr>
          <p:cNvPr id="15" name="Rounded Rectangle 14"/>
          <p:cNvSpPr/>
          <p:nvPr/>
        </p:nvSpPr>
        <p:spPr>
          <a:xfrm>
            <a:off x="4805172" y="4160520"/>
            <a:ext cx="1074420" cy="548640"/>
          </a:xfrm>
          <a:prstGeom prst="roundRect">
            <a:avLst/>
          </a:prstGeom>
          <a:solidFill>
            <a:srgbClr val="E8EEF7"/>
          </a:solidFill>
          <a:ln w="15875">
            <a:solidFill>
              <a:srgbClr val="3D5A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0" i="0">
                <a:solidFill>
                  <a:srgbClr val="111B30"/>
                </a:solidFill>
                <a:latin typeface="Calibri"/>
              </a:rPr>
              <a:t>OU=Development</a:t>
            </a:r>
          </a:p>
        </p:txBody>
      </p:sp>
      <p:sp>
        <p:nvSpPr>
          <p:cNvPr id="16" name="Rounded Rectangle 15"/>
          <p:cNvSpPr/>
          <p:nvPr/>
        </p:nvSpPr>
        <p:spPr>
          <a:xfrm>
            <a:off x="6272784" y="4160520"/>
            <a:ext cx="1074420" cy="54864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0" i="0">
                <a:solidFill>
                  <a:srgbClr val="111B30"/>
                </a:solidFill>
                <a:latin typeface="Calibri"/>
              </a:rPr>
              <a:t>OU=IT</a:t>
            </a:r>
          </a:p>
        </p:txBody>
      </p:sp>
      <p:sp>
        <p:nvSpPr>
          <p:cNvPr id="17" name="Rounded Rectangle 16"/>
          <p:cNvSpPr/>
          <p:nvPr/>
        </p:nvSpPr>
        <p:spPr>
          <a:xfrm>
            <a:off x="7484364" y="4160520"/>
            <a:ext cx="1074420" cy="54864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0" i="0">
                <a:solidFill>
                  <a:srgbClr val="111B30"/>
                </a:solidFill>
                <a:latin typeface="Calibri"/>
              </a:rPr>
              <a:t>OU=Users</a:t>
            </a:r>
          </a:p>
        </p:txBody>
      </p:sp>
      <p:sp>
        <p:nvSpPr>
          <p:cNvPr id="18" name="Rounded Rectangle 17"/>
          <p:cNvSpPr/>
          <p:nvPr/>
        </p:nvSpPr>
        <p:spPr>
          <a:xfrm>
            <a:off x="8951976" y="4160520"/>
            <a:ext cx="670255" cy="54864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50" b="0" i="0">
                <a:solidFill>
                  <a:srgbClr val="111B30"/>
                </a:solidFill>
                <a:latin typeface="Calibri"/>
              </a:rPr>
              <a:t>OU=IT</a:t>
            </a:r>
          </a:p>
        </p:txBody>
      </p:sp>
      <p:sp>
        <p:nvSpPr>
          <p:cNvPr id="19" name="Rounded Rectangle 18"/>
          <p:cNvSpPr/>
          <p:nvPr/>
        </p:nvSpPr>
        <p:spPr>
          <a:xfrm>
            <a:off x="9759391" y="4160520"/>
            <a:ext cx="670255" cy="54864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00" b="0" i="0">
                <a:solidFill>
                  <a:srgbClr val="111B30"/>
                </a:solidFill>
                <a:latin typeface="Calibri"/>
              </a:rPr>
              <a:t>OU=Finance</a:t>
            </a:r>
          </a:p>
        </p:txBody>
      </p:sp>
      <p:sp>
        <p:nvSpPr>
          <p:cNvPr id="20" name="Rounded Rectangle 19"/>
          <p:cNvSpPr/>
          <p:nvPr/>
        </p:nvSpPr>
        <p:spPr>
          <a:xfrm>
            <a:off x="10566806" y="4160520"/>
            <a:ext cx="670255" cy="548640"/>
          </a:xfrm>
          <a:prstGeom prst="roundRect">
            <a:avLst/>
          </a:prstGeom>
          <a:solidFill>
            <a:srgbClr val="E8EEF7"/>
          </a:solidFill>
          <a:ln w="15875">
            <a:solidFill>
              <a:srgbClr val="6B7480"/>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00" b="0" i="0">
                <a:solidFill>
                  <a:srgbClr val="111B30"/>
                </a:solidFill>
                <a:latin typeface="Calibri"/>
              </a:rPr>
              <a:t>OU=Disabled</a:t>
            </a:r>
          </a:p>
        </p:txBody>
      </p:sp>
      <p:cxnSp>
        <p:nvCxnSpPr>
          <p:cNvPr id="21" name="Connector 20"/>
          <p:cNvCxnSpPr/>
          <p:nvPr/>
        </p:nvCxnSpPr>
        <p:spPr>
          <a:xfrm>
            <a:off x="2057400" y="3611880"/>
            <a:ext cx="0" cy="54864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4130802" y="3611880"/>
            <a:ext cx="605790" cy="54864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736592" y="3611880"/>
            <a:ext cx="605790" cy="54864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809994" y="3611880"/>
            <a:ext cx="605789" cy="54864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15783" y="3611880"/>
            <a:ext cx="605791" cy="54864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9287103" y="3611880"/>
            <a:ext cx="807873" cy="54864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0094518" y="3611880"/>
            <a:ext cx="458" cy="54864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094976" y="3611880"/>
            <a:ext cx="806958" cy="54864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4400" y="5029200"/>
            <a:ext cx="10332720" cy="1188720"/>
          </a:xfrm>
          <a:prstGeom prst="rect">
            <a:avLst/>
          </a:prstGeom>
          <a:noFill/>
        </p:spPr>
        <p:txBody>
          <a:bodyPr wrap="square">
            <a:spAutoFit/>
          </a:bodyPr>
          <a:lstStyle/>
          <a:p>
            <a:r>
              <a:rPr sz="1100" b="0" i="1">
                <a:solidFill>
                  <a:srgbClr val="404040"/>
                </a:solidFill>
                <a:latin typeface="Calibri"/>
              </a:rPr>
              <a:t>OU=Disabled is a quarantine OU for accounts pending deletion (dashed border) - it isn't used until the remediation workflow covered later this week, but good OU design plans for account lifecycle from day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5486400" cy="274320"/>
          </a:xfrm>
          <a:prstGeom prst="rect">
            <a:avLst/>
          </a:prstGeom>
          <a:noFill/>
        </p:spPr>
        <p:txBody>
          <a:bodyPr wrap="none">
            <a:spAutoFit/>
          </a:bodyPr>
          <a:lstStyle/>
          <a:p>
            <a:r>
              <a:rPr sz="1200" b="1" i="0">
                <a:solidFill>
                  <a:srgbClr val="00B4D8"/>
                </a:solidFill>
                <a:latin typeface="Cambria"/>
              </a:rPr>
              <a:t>LIVE DEMO</a:t>
            </a:r>
          </a:p>
        </p:txBody>
      </p:sp>
      <p:sp>
        <p:nvSpPr>
          <p:cNvPr id="3" name="TextBox 2"/>
          <p:cNvSpPr txBox="1"/>
          <p:nvPr/>
        </p:nvSpPr>
        <p:spPr>
          <a:xfrm>
            <a:off x="640080" y="621792"/>
            <a:ext cx="10911535" cy="777240"/>
          </a:xfrm>
          <a:prstGeom prst="rect">
            <a:avLst/>
          </a:prstGeom>
          <a:noFill/>
        </p:spPr>
        <p:txBody>
          <a:bodyPr wrap="square" lIns="0" tIns="0">
            <a:spAutoFit/>
          </a:bodyPr>
          <a:lstStyle/>
          <a:p>
            <a:pPr algn="l"/>
            <a:r>
              <a:rPr sz="2600" b="1" i="0">
                <a:solidFill>
                  <a:srgbClr val="1B2A4A"/>
                </a:solidFill>
                <a:latin typeface="Cambria"/>
              </a:rPr>
              <a:t>Live Demo: Creating &amp; Managing OUs</a:t>
            </a:r>
          </a:p>
        </p:txBody>
      </p:sp>
      <p:sp>
        <p:nvSpPr>
          <p:cNvPr id="4" name="TextBox 3"/>
          <p:cNvSpPr txBox="1"/>
          <p:nvPr/>
        </p:nvSpPr>
        <p:spPr>
          <a:xfrm>
            <a:off x="685800" y="1600200"/>
            <a:ext cx="10820095" cy="4846320"/>
          </a:xfrm>
          <a:prstGeom prst="rect">
            <a:avLst/>
          </a:prstGeom>
          <a:noFill/>
        </p:spPr>
        <p:txBody>
          <a:bodyPr wrap="square" lIns="0" tIns="0">
            <a:spAutoFit/>
          </a:bodyPr>
          <a:lstStyle/>
          <a:p>
            <a:pPr algn="l">
              <a:spcAft>
                <a:spcPts val="1000"/>
              </a:spcAft>
            </a:pPr>
            <a:r>
              <a:rPr sz="1400" b="0" i="0">
                <a:solidFill>
                  <a:srgbClr val="111B30"/>
                </a:solidFill>
                <a:latin typeface="Courier New"/>
              </a:rPr>
              <a:t>$domain = "DC=lab3,DC=local"</a:t>
            </a:r>
          </a:p>
          <a:p>
            <a:pPr algn="l">
              <a:spcAft>
                <a:spcPts val="1000"/>
              </a:spcAft>
            </a:pPr>
            <a:r>
              <a:rPr sz="1400" b="0" i="0">
                <a:solidFill>
                  <a:srgbClr val="111B30"/>
                </a:solidFill>
                <a:latin typeface="Courier New"/>
              </a:rPr>
              <a:t>New-ADOrganizationalUnit -Name "Tier0" -Path $domain</a:t>
            </a:r>
          </a:p>
          <a:p>
            <a:pPr algn="l">
              <a:spcAft>
                <a:spcPts val="1000"/>
              </a:spcAft>
            </a:pPr>
            <a:r>
              <a:rPr sz="1400" b="0" i="0">
                <a:solidFill>
                  <a:srgbClr val="111B30"/>
                </a:solidFill>
                <a:latin typeface="Courier New"/>
              </a:rPr>
              <a:t>New-ADOrganizationalUnit -Name "AdminAccts" -Path "OU=Tier0,$domain"</a:t>
            </a:r>
          </a:p>
          <a:p>
            <a:pPr algn="l">
              <a:spcAft>
                <a:spcPts val="1000"/>
              </a:spcAft>
            </a:pPr>
            <a:r>
              <a:rPr sz="1300" b="0" i="1">
                <a:solidFill>
                  <a:srgbClr val="3D5A80"/>
                </a:solidFill>
                <a:latin typeface="Calibri"/>
              </a:rPr>
              <a:t>repeat the pattern for Servers/Production, Workstations/IT, UserAccounts/Disabled, etc.</a:t>
            </a:r>
          </a:p>
          <a:p>
            <a:pPr algn="l">
              <a:spcAft>
                <a:spcPts val="1000"/>
              </a:spcAft>
            </a:pPr>
            <a:r>
              <a:rPr sz="1400" b="0" i="0">
                <a:solidFill>
                  <a:srgbClr val="111B30"/>
                </a:solidFill>
                <a:latin typeface="Courier New"/>
              </a:rPr>
              <a:t>Get-ADOrganizationalUnit -Filter * | Select-Object Name, DistinguishedName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Users, Groups &amp; the Tier-0 Admin Account Pattern</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New-ADUser with -Path places accounts directly in the correct OU at creation time - no separate move step</a:t>
            </a:r>
          </a:p>
          <a:p>
            <a:pPr algn="l">
              <a:spcAft>
                <a:spcPts val="1200"/>
              </a:spcAft>
            </a:pPr>
            <a:r>
              <a:rPr sz="1600" b="0" i="0">
                <a:solidFill>
                  <a:srgbClr val="111B30"/>
                </a:solidFill>
                <a:latin typeface="Calibri"/>
              </a:rPr>
              <a:t>●   Security groups (GRP-IT-Staff, GRP-Finance-Staff, NetworkAdmins) - role-based access, never assign rights to individual users directly</a:t>
            </a:r>
          </a:p>
          <a:p>
            <a:pPr algn="l">
              <a:spcAft>
                <a:spcPts val="1200"/>
              </a:spcAft>
            </a:pPr>
            <a:r>
              <a:rPr sz="1600" b="0" i="0">
                <a:solidFill>
                  <a:srgbClr val="111B30"/>
                </a:solidFill>
                <a:latin typeface="Calibri"/>
              </a:rPr>
              <a:t>●   NetworkAdmins previews Section 07: it's the group that later gates who can even authenticate via RADIUS to network devices</a:t>
            </a:r>
          </a:p>
          <a:p>
            <a:pPr algn="l">
              <a:spcAft>
                <a:spcPts val="1200"/>
              </a:spcAft>
            </a:pPr>
            <a:r>
              <a:rPr sz="1600" b="0" i="0">
                <a:solidFill>
                  <a:srgbClr val="111B30"/>
                </a:solidFill>
                <a:latin typeface="Calibri"/>
              </a:rPr>
              <a:t>●   Separate accounts per tier for the same human: enovak (daily-use, Tier 2) vs. enovak-adm (Tier 0, Domain Admins member)</a:t>
            </a:r>
          </a:p>
          <a:p>
            <a:pPr algn="l">
              <a:spcAft>
                <a:spcPts val="1200"/>
              </a:spcAft>
            </a:pPr>
            <a:r>
              <a:rPr sz="1600" b="0" i="0">
                <a:solidFill>
                  <a:srgbClr val="111B30"/>
                </a:solidFill>
                <a:latin typeface="Calibri"/>
              </a:rPr>
              <a:t>●   enovak-adm lives in OU=AdminAccts, is added only to Domain Admins, and is never used for email/browsing/helpdesk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5486400" cy="274320"/>
          </a:xfrm>
          <a:prstGeom prst="rect">
            <a:avLst/>
          </a:prstGeom>
          <a:noFill/>
        </p:spPr>
        <p:txBody>
          <a:bodyPr wrap="none">
            <a:spAutoFit/>
          </a:bodyPr>
          <a:lstStyle/>
          <a:p>
            <a:r>
              <a:rPr sz="1200" b="1" i="0">
                <a:solidFill>
                  <a:srgbClr val="00B4D8"/>
                </a:solidFill>
                <a:latin typeface="Cambria"/>
              </a:rPr>
              <a:t>LIVE DEMO</a:t>
            </a:r>
          </a:p>
        </p:txBody>
      </p:sp>
      <p:sp>
        <p:nvSpPr>
          <p:cNvPr id="3" name="TextBox 2"/>
          <p:cNvSpPr txBox="1"/>
          <p:nvPr/>
        </p:nvSpPr>
        <p:spPr>
          <a:xfrm>
            <a:off x="640080" y="621792"/>
            <a:ext cx="10911535" cy="777240"/>
          </a:xfrm>
          <a:prstGeom prst="rect">
            <a:avLst/>
          </a:prstGeom>
          <a:noFill/>
        </p:spPr>
        <p:txBody>
          <a:bodyPr wrap="square" lIns="0" tIns="0">
            <a:spAutoFit/>
          </a:bodyPr>
          <a:lstStyle/>
          <a:p>
            <a:pPr algn="l"/>
            <a:r>
              <a:rPr sz="2600" b="1" i="0">
                <a:solidFill>
                  <a:srgbClr val="1B2A4A"/>
                </a:solidFill>
                <a:latin typeface="Cambria"/>
              </a:rPr>
              <a:t>Live Demo: Creating Users &amp; Groups</a:t>
            </a:r>
          </a:p>
        </p:txBody>
      </p:sp>
      <p:sp>
        <p:nvSpPr>
          <p:cNvPr id="4" name="TextBox 3"/>
          <p:cNvSpPr txBox="1"/>
          <p:nvPr/>
        </p:nvSpPr>
        <p:spPr>
          <a:xfrm>
            <a:off x="685800" y="1600200"/>
            <a:ext cx="10820095" cy="4846320"/>
          </a:xfrm>
          <a:prstGeom prst="rect">
            <a:avLst/>
          </a:prstGeom>
          <a:noFill/>
        </p:spPr>
        <p:txBody>
          <a:bodyPr wrap="square" lIns="0" tIns="0">
            <a:spAutoFit/>
          </a:bodyPr>
          <a:lstStyle/>
          <a:p>
            <a:pPr algn="l">
              <a:spcAft>
                <a:spcPts val="1000"/>
              </a:spcAft>
            </a:pPr>
            <a:r>
              <a:rPr sz="1400" b="0" i="0">
                <a:solidFill>
                  <a:srgbClr val="111B30"/>
                </a:solidFill>
                <a:latin typeface="Courier New"/>
              </a:rPr>
              <a:t>New-ADUser -Name "Alice Johnson" -SamAccountName ajohnson `</a:t>
            </a:r>
          </a:p>
          <a:p>
            <a:pPr algn="l">
              <a:spcAft>
                <a:spcPts val="1000"/>
              </a:spcAft>
            </a:pPr>
            <a:r>
              <a:rPr sz="1400" b="0" i="0">
                <a:solidFill>
                  <a:srgbClr val="111B30"/>
                </a:solidFill>
                <a:latin typeface="Courier New"/>
              </a:rPr>
              <a:t>  -Path "OU=IT,OU=UserAccounts,DC=lab3,DC=local" -Enabled $true `</a:t>
            </a:r>
          </a:p>
          <a:p>
            <a:pPr algn="l">
              <a:spcAft>
                <a:spcPts val="1000"/>
              </a:spcAft>
            </a:pPr>
            <a:r>
              <a:rPr sz="1400" b="0" i="0">
                <a:solidFill>
                  <a:srgbClr val="111B30"/>
                </a:solidFill>
                <a:latin typeface="Courier New"/>
              </a:rPr>
              <a:t>  -AccountPassword (ConvertTo-SecureString "P@ssw0rd123!" -AsPlainText -Force)</a:t>
            </a:r>
          </a:p>
          <a:p>
            <a:pPr algn="l">
              <a:spcAft>
                <a:spcPts val="1000"/>
              </a:spcAft>
            </a:pPr>
            <a:r>
              <a:rPr sz="1400" b="0" i="0">
                <a:solidFill>
                  <a:srgbClr val="111B30"/>
                </a:solidFill>
                <a:latin typeface="Courier New"/>
              </a:rPr>
              <a:t>New-ADGroup -Name "GRP-IT-Staff" -GroupScope Global -Path "OU=IT,OU=UserAccounts,DC=lab3,DC=local"</a:t>
            </a:r>
          </a:p>
          <a:p>
            <a:pPr algn="l">
              <a:spcAft>
                <a:spcPts val="1000"/>
              </a:spcAft>
            </a:pPr>
            <a:r>
              <a:rPr sz="1400" b="0" i="0">
                <a:solidFill>
                  <a:srgbClr val="111B30"/>
                </a:solidFill>
                <a:latin typeface="Courier New"/>
              </a:rPr>
              <a:t>Add-ADGroupMember -Identity "GRP-IT-Staff" -Members ajohnson</a:t>
            </a:r>
          </a:p>
          <a:p>
            <a:pPr algn="l">
              <a:spcAft>
                <a:spcPts val="1000"/>
              </a:spcAft>
            </a:pPr>
            <a:r>
              <a:rPr sz="1400" b="0" i="0">
                <a:solidFill>
                  <a:srgbClr val="111B30"/>
                </a:solidFill>
                <a:latin typeface="Courier New"/>
              </a:rPr>
              <a:t>New-ADGroup -Name "NetworkAdmins" -GroupScope Global -Path "OU=IT,OU=UserAccounts,DC=lab3,DC=local"</a:t>
            </a:r>
          </a:p>
          <a:p>
            <a:pPr algn="l">
              <a:spcAft>
                <a:spcPts val="1000"/>
              </a:spcAft>
            </a:pPr>
            <a:r>
              <a:rPr sz="1400" b="0" i="0">
                <a:solidFill>
                  <a:srgbClr val="111B30"/>
                </a:solidFill>
                <a:latin typeface="Courier New"/>
              </a:rPr>
              <a:t>Add-ADGroupMember -Identity "NetworkAdmins" -Members ajohnson</a:t>
            </a:r>
          </a:p>
          <a:p>
            <a:pPr algn="l">
              <a:spcAft>
                <a:spcPts val="1000"/>
              </a:spcAft>
            </a:pPr>
            <a:r>
              <a:rPr sz="1400" b="0" i="0">
                <a:solidFill>
                  <a:srgbClr val="111B30"/>
                </a:solidFill>
                <a:latin typeface="Courier New"/>
              </a:rPr>
              <a:t>Get-ADGroupMember -Identity "NetworkAdmins"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Tier Bleed-Over</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Admin holds a</a:t>
            </a:r>
          </a:p>
          <a:p>
            <a:pPr algn="ctr"/>
            <a:r>
              <a:rPr sz="1100" b="0" i="0">
                <a:solidFill>
                  <a:srgbClr val="111B30"/>
                </a:solidFill>
                <a:latin typeface="Calibri"/>
              </a:rPr>
              <a:t>Tier-0 credential</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Uses it to log into a</a:t>
            </a:r>
          </a:p>
          <a:p>
            <a:pPr algn="ctr"/>
            <a:r>
              <a:rPr sz="1100" b="1" i="0">
                <a:solidFill>
                  <a:srgbClr val="111B30"/>
                </a:solidFill>
                <a:latin typeface="Calibri"/>
              </a:rPr>
              <a:t>Tier-2 workstation for</a:t>
            </a:r>
          </a:p>
          <a:p>
            <a:pPr algn="ctr"/>
            <a:r>
              <a:rPr sz="1100" b="1" i="0">
                <a:solidFill>
                  <a:srgbClr val="111B30"/>
                </a:solidFill>
                <a:latin typeface="Calibri"/>
              </a:rPr>
              <a:t>convenience</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Tier-0 credential is now</a:t>
            </a:r>
          </a:p>
          <a:p>
            <a:pPr algn="ctr"/>
            <a:r>
              <a:rPr sz="1100" b="0" i="0">
                <a:solidFill>
                  <a:srgbClr val="111B30"/>
                </a:solidFill>
                <a:latin typeface="Calibri"/>
              </a:rPr>
              <a:t>exposed on a lower-tier,</a:t>
            </a:r>
          </a:p>
          <a:p>
            <a:pPr algn="ctr"/>
            <a:r>
              <a:rPr sz="1100" b="0" i="0">
                <a:solidFill>
                  <a:srgbClr val="111B30"/>
                </a:solidFill>
                <a:latin typeface="Calibri"/>
              </a:rPr>
              <a:t>less-trusted asset</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Enforce via policy plus technical controls (deny logon rights by tier)</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Flat OU / No Delegation</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All users sit in</a:t>
            </a:r>
          </a:p>
          <a:p>
            <a:pPr algn="ctr"/>
            <a:r>
              <a:rPr sz="1100" b="0" i="0">
                <a:solidFill>
                  <a:srgbClr val="111B30"/>
                </a:solidFill>
                <a:latin typeface="Calibri"/>
              </a:rPr>
              <a:t>one flat OU</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GPOs apply too broadly,</a:t>
            </a:r>
          </a:p>
          <a:p>
            <a:pPr algn="ctr"/>
            <a:r>
              <a:rPr sz="1100" b="1" i="0">
                <a:solidFill>
                  <a:srgbClr val="111B30"/>
                </a:solidFill>
                <a:latin typeface="Calibri"/>
              </a:rPr>
              <a:t>or admins over-delegate</a:t>
            </a:r>
          </a:p>
          <a:p>
            <a:pPr algn="ctr"/>
            <a:r>
              <a:rPr sz="1100" b="1" i="0">
                <a:solidFill>
                  <a:srgbClr val="111B30"/>
                </a:solidFill>
                <a:latin typeface="Calibri"/>
              </a:rPr>
              <a:t>across the board</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No meaningful</a:t>
            </a:r>
          </a:p>
          <a:p>
            <a:pPr algn="ctr"/>
            <a:r>
              <a:rPr sz="1100" b="0" i="0">
                <a:solidFill>
                  <a:srgbClr val="111B30"/>
                </a:solidFill>
                <a:latin typeface="Calibri"/>
              </a:rPr>
              <a:t>administrative</a:t>
            </a:r>
          </a:p>
          <a:p>
            <a:pPr algn="ctr"/>
            <a:r>
              <a:rPr sz="1100" b="0" i="0">
                <a:solidFill>
                  <a:srgbClr val="111B30"/>
                </a:solidFill>
                <a:latin typeface="Calibri"/>
              </a:rPr>
              <a:t>boundary exists</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Multi-tier OU model; delegate at the narrowest OU possible</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Shared Admin Account</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One "admin" login</a:t>
            </a:r>
          </a:p>
          <a:p>
            <a:pPr algn="ctr"/>
            <a:r>
              <a:rPr sz="1100" b="0" i="0">
                <a:solidFill>
                  <a:srgbClr val="111B30"/>
                </a:solidFill>
                <a:latin typeface="Calibri"/>
              </a:rPr>
              <a:t>is shared across</a:t>
            </a:r>
          </a:p>
          <a:p>
            <a:pPr algn="ctr"/>
            <a:r>
              <a:rPr sz="1100" b="0" i="0">
                <a:solidFill>
                  <a:srgbClr val="111B30"/>
                </a:solidFill>
                <a:latin typeface="Calibri"/>
              </a:rPr>
              <a:t>multiple tiers</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Multiple people use</a:t>
            </a:r>
          </a:p>
          <a:p>
            <a:pPr algn="ctr"/>
            <a:r>
              <a:rPr sz="1100" b="1" i="0">
                <a:solidFill>
                  <a:srgbClr val="111B30"/>
                </a:solidFill>
                <a:latin typeface="Calibri"/>
              </a:rPr>
              <a:t>the same credential</a:t>
            </a:r>
          </a:p>
          <a:p>
            <a:pPr algn="ctr"/>
            <a:r>
              <a:rPr sz="1100" b="1" i="0">
                <a:solidFill>
                  <a:srgbClr val="111B30"/>
                </a:solidFill>
                <a:latin typeface="Calibri"/>
              </a:rPr>
              <a:t>for different purposes</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No attribution for</a:t>
            </a:r>
          </a:p>
          <a:p>
            <a:pPr algn="ctr"/>
            <a:r>
              <a:rPr sz="1100" b="0" i="0">
                <a:solidFill>
                  <a:srgbClr val="111B30"/>
                </a:solidFill>
                <a:latin typeface="Calibri"/>
              </a:rPr>
              <a:t>which person took</a:t>
            </a:r>
          </a:p>
          <a:p>
            <a:pPr algn="ctr"/>
            <a:r>
              <a:rPr sz="1100" b="0" i="0">
                <a:solidFill>
                  <a:srgbClr val="111B30"/>
                </a:solidFill>
                <a:latin typeface="Calibri"/>
              </a:rPr>
              <a:t>which action</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Individual named -adm accounts per tier per person</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Stale Accounts Left in Active OUs</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An account goes dormant</a:t>
            </a:r>
          </a:p>
          <a:p>
            <a:pPr algn="ctr"/>
            <a:r>
              <a:rPr sz="1100" b="0" i="0">
                <a:solidFill>
                  <a:srgbClr val="111B30"/>
                </a:solidFill>
                <a:latin typeface="Calibri"/>
              </a:rPr>
              <a:t>but stays in its</a:t>
            </a:r>
          </a:p>
          <a:p>
            <a:pPr algn="ctr"/>
            <a:r>
              <a:rPr sz="1100" b="0" i="0">
                <a:solidFill>
                  <a:srgbClr val="111B30"/>
                </a:solidFill>
                <a:latin typeface="Calibri"/>
              </a:rPr>
              <a:t>original active OU</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It remains reachable and</a:t>
            </a:r>
          </a:p>
          <a:p>
            <a:pPr algn="ctr"/>
            <a:r>
              <a:rPr sz="1100" b="1" i="0">
                <a:solidFill>
                  <a:srgbClr val="111B30"/>
                </a:solidFill>
                <a:latin typeface="Calibri"/>
              </a:rPr>
              <a:t>monitored the same as</a:t>
            </a:r>
          </a:p>
          <a:p>
            <a:pPr algn="ctr"/>
            <a:r>
              <a:rPr sz="1100" b="1" i="0">
                <a:solidFill>
                  <a:srgbClr val="111B30"/>
                </a:solidFill>
                <a:latin typeface="Calibri"/>
              </a:rPr>
              <a:t>any active account</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 credential nobody is</a:t>
            </a:r>
          </a:p>
          <a:p>
            <a:pPr algn="ctr"/>
            <a:r>
              <a:rPr sz="1100" b="0" i="0">
                <a:solidFill>
                  <a:srgbClr val="111B30"/>
                </a:solidFill>
                <a:latin typeface="Calibri"/>
              </a:rPr>
              <a:t>watching sits in plain</a:t>
            </a:r>
          </a:p>
          <a:p>
            <a:pPr algn="ctr"/>
            <a:r>
              <a:rPr sz="1100" b="0" i="0">
                <a:solidFill>
                  <a:srgbClr val="111B30"/>
                </a:solidFill>
                <a:latin typeface="Calibri"/>
              </a:rPr>
              <a:t>sight, unflagged</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Dedicated OU=Disabled quarantine (detailed in Section 08)</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822960" y="2962656"/>
            <a:ext cx="1005840" cy="1005840"/>
          </a:xfrm>
          <a:prstGeom prst="rect">
            <a:avLst/>
          </a:prstGeom>
          <a:solidFill>
            <a:srgbClr val="00B4D8"/>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4000" b="1" i="0">
                <a:solidFill>
                  <a:srgbClr val="1B2A4A"/>
                </a:solidFill>
                <a:latin typeface="Calibri"/>
              </a:rPr>
              <a:t>02</a:t>
            </a:r>
          </a:p>
        </p:txBody>
      </p:sp>
      <p:sp>
        <p:nvSpPr>
          <p:cNvPr id="3" name="TextBox 2"/>
          <p:cNvSpPr txBox="1"/>
          <p:nvPr/>
        </p:nvSpPr>
        <p:spPr>
          <a:xfrm>
            <a:off x="2103120" y="2962656"/>
            <a:ext cx="9448495" cy="1005840"/>
          </a:xfrm>
          <a:prstGeom prst="rect">
            <a:avLst/>
          </a:prstGeom>
          <a:noFill/>
        </p:spPr>
        <p:txBody>
          <a:bodyPr wrap="square" anchor="ctr">
            <a:spAutoFit/>
          </a:bodyPr>
          <a:lstStyle/>
          <a:p>
            <a:r>
              <a:rPr sz="3200" b="1" i="0">
                <a:solidFill>
                  <a:srgbClr val="FFFFFF"/>
                </a:solidFill>
                <a:latin typeface="Cambria"/>
              </a:rPr>
              <a:t>Windows Server Roles: DNS, DHCP &amp; File Services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DNS on Windows Server: AD-Integrated Zones</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SRV records are how domain-joined clients find DCs/Kerberos/LDAP services - AD literally depends on DNS.</a:t>
            </a:r>
          </a:p>
        </p:txBody>
      </p:sp>
      <p:sp>
        <p:nvSpPr>
          <p:cNvPr id="4" name="TextBox 3"/>
          <p:cNvSpPr txBox="1"/>
          <p:nvPr/>
        </p:nvSpPr>
        <p:spPr>
          <a:xfrm>
            <a:off x="685800" y="1874519"/>
            <a:ext cx="10820095" cy="1554480"/>
          </a:xfrm>
          <a:prstGeom prst="rect">
            <a:avLst/>
          </a:prstGeom>
          <a:noFill/>
        </p:spPr>
        <p:txBody>
          <a:bodyPr wrap="square" lIns="0" tIns="0">
            <a:spAutoFit/>
          </a:bodyPr>
          <a:lstStyle/>
          <a:p>
            <a:pPr algn="l">
              <a:spcAft>
                <a:spcPts val="800"/>
              </a:spcAft>
            </a:pPr>
            <a:r>
              <a:rPr sz="1450" b="0" i="0">
                <a:solidFill>
                  <a:srgbClr val="111B30"/>
                </a:solidFill>
                <a:latin typeface="Calibri"/>
              </a:rPr>
              <a:t>●   AD-integrated zone: DNS data stored in AD itself, replicates automatically with the directory</a:t>
            </a:r>
          </a:p>
          <a:p>
            <a:pPr algn="l">
              <a:spcAft>
                <a:spcPts val="800"/>
              </a:spcAft>
            </a:pPr>
            <a:r>
              <a:rPr sz="1450" b="0" i="0">
                <a:solidFill>
                  <a:srgbClr val="111B30"/>
                </a:solidFill>
                <a:latin typeface="Calibri"/>
              </a:rPr>
              <a:t>●   Forward lookup zone (name to IP) vs. reverse lookup zone (IP to name, PTR records)</a:t>
            </a:r>
          </a:p>
          <a:p>
            <a:pPr algn="l">
              <a:spcAft>
                <a:spcPts val="800"/>
              </a:spcAft>
            </a:pPr>
            <a:r>
              <a:rPr sz="1450" b="0" i="0">
                <a:solidFill>
                  <a:srgbClr val="111B30"/>
                </a:solidFill>
                <a:latin typeface="Calibri"/>
              </a:rPr>
              <a:t>●   Conditional forwarders / root hints resolve names outside the domain</a:t>
            </a:r>
          </a:p>
        </p:txBody>
      </p:sp>
      <p:sp>
        <p:nvSpPr>
          <p:cNvPr id="5" name="Rounded Rectangle 4"/>
          <p:cNvSpPr/>
          <p:nvPr/>
        </p:nvSpPr>
        <p:spPr>
          <a:xfrm>
            <a:off x="914400" y="3383280"/>
            <a:ext cx="2103120" cy="7315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Client</a:t>
            </a:r>
          </a:p>
        </p:txBody>
      </p:sp>
      <p:sp>
        <p:nvSpPr>
          <p:cNvPr id="6" name="Rounded Rectangle 5"/>
          <p:cNvSpPr/>
          <p:nvPr/>
        </p:nvSpPr>
        <p:spPr>
          <a:xfrm>
            <a:off x="3429000" y="3383280"/>
            <a:ext cx="2286000" cy="7315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DC01 (DNS)</a:t>
            </a:r>
          </a:p>
        </p:txBody>
      </p:sp>
      <p:sp>
        <p:nvSpPr>
          <p:cNvPr id="7" name="Diamond 6"/>
          <p:cNvSpPr/>
          <p:nvPr/>
        </p:nvSpPr>
        <p:spPr>
          <a:xfrm>
            <a:off x="6172200" y="3200400"/>
            <a:ext cx="2286000" cy="1051560"/>
          </a:xfrm>
          <a:prstGeom prst="diamond">
            <a:avLst/>
          </a:prstGeom>
          <a:solidFill>
            <a:srgbClr val="FFFFFF"/>
          </a:solidFill>
          <a:ln w="15875">
            <a:solidFill>
              <a:srgbClr val="3D5A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In lab3.local</a:t>
            </a:r>
          </a:p>
          <a:p>
            <a:pPr algn="ctr"/>
            <a:r>
              <a:rPr sz="1000" b="0" i="0">
                <a:solidFill>
                  <a:srgbClr val="111B30"/>
                </a:solidFill>
                <a:latin typeface="Calibri"/>
              </a:rPr>
              <a:t>zone?</a:t>
            </a:r>
          </a:p>
        </p:txBody>
      </p:sp>
      <p:sp>
        <p:nvSpPr>
          <p:cNvPr id="8" name="Rounded Rectangle 7"/>
          <p:cNvSpPr/>
          <p:nvPr/>
        </p:nvSpPr>
        <p:spPr>
          <a:xfrm>
            <a:off x="4846320" y="4846320"/>
            <a:ext cx="2743200" cy="91440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Yes</a:t>
            </a:r>
          </a:p>
          <a:p>
            <a:pPr algn="ctr"/>
            <a:r>
              <a:rPr sz="1000" b="0" i="0">
                <a:solidFill>
                  <a:srgbClr val="111B30"/>
                </a:solidFill>
                <a:latin typeface="Calibri"/>
              </a:rPr>
              <a:t>Answered from local zone (A record)</a:t>
            </a:r>
          </a:p>
        </p:txBody>
      </p:sp>
      <p:sp>
        <p:nvSpPr>
          <p:cNvPr id="9" name="Rounded Rectangle 8"/>
          <p:cNvSpPr/>
          <p:nvPr/>
        </p:nvSpPr>
        <p:spPr>
          <a:xfrm>
            <a:off x="8732520" y="4846320"/>
            <a:ext cx="2560320" cy="914400"/>
          </a:xfrm>
          <a:prstGeom prst="roundRect">
            <a:avLst/>
          </a:prstGeom>
          <a:solidFill>
            <a:srgbClr val="E8EEF7"/>
          </a:solidFill>
          <a:ln w="15875">
            <a:solidFill>
              <a:srgbClr val="6B74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0" i="0">
                <a:solidFill>
                  <a:srgbClr val="111B30"/>
                </a:solidFill>
                <a:latin typeface="Calibri"/>
              </a:rPr>
              <a:t>No</a:t>
            </a:r>
          </a:p>
          <a:p>
            <a:pPr algn="ctr"/>
            <a:r>
              <a:rPr sz="950" b="0" i="0">
                <a:solidFill>
                  <a:srgbClr val="111B30"/>
                </a:solidFill>
                <a:latin typeface="Calibri"/>
              </a:rPr>
              <a:t>Forwarder / Root Hints (resolved externally)</a:t>
            </a:r>
          </a:p>
        </p:txBody>
      </p:sp>
      <p:cxnSp>
        <p:nvCxnSpPr>
          <p:cNvPr id="10" name="Connector 9"/>
          <p:cNvCxnSpPr/>
          <p:nvPr/>
        </p:nvCxnSpPr>
        <p:spPr>
          <a:xfrm>
            <a:off x="3017520" y="3749040"/>
            <a:ext cx="411480"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354580" y="3602736"/>
            <a:ext cx="1737360" cy="292608"/>
          </a:xfrm>
          <a:prstGeom prst="rect">
            <a:avLst/>
          </a:prstGeom>
          <a:noFill/>
        </p:spPr>
        <p:txBody>
          <a:bodyPr wrap="square" lIns="0" tIns="0">
            <a:spAutoFit/>
          </a:bodyPr>
          <a:lstStyle/>
          <a:p>
            <a:pPr algn="ctr"/>
            <a:r>
              <a:rPr sz="900" b="0" i="1">
                <a:solidFill>
                  <a:srgbClr val="404040"/>
                </a:solidFill>
                <a:latin typeface="Calibri"/>
              </a:rPr>
              <a:t>query</a:t>
            </a:r>
          </a:p>
        </p:txBody>
      </p:sp>
      <p:cxnSp>
        <p:nvCxnSpPr>
          <p:cNvPr id="12" name="Connector 11"/>
          <p:cNvCxnSpPr/>
          <p:nvPr/>
        </p:nvCxnSpPr>
        <p:spPr>
          <a:xfrm flipV="1">
            <a:off x="5715000" y="3726180"/>
            <a:ext cx="457200" cy="2286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74920" y="3591306"/>
            <a:ext cx="1737360" cy="292608"/>
          </a:xfrm>
          <a:prstGeom prst="rect">
            <a:avLst/>
          </a:prstGeom>
          <a:noFill/>
        </p:spPr>
        <p:txBody>
          <a:bodyPr wrap="square" lIns="0" tIns="0">
            <a:spAutoFit/>
          </a:bodyPr>
          <a:lstStyle/>
          <a:p>
            <a:pPr algn="ctr"/>
            <a:r>
              <a:rPr sz="900" b="0" i="1">
                <a:solidFill>
                  <a:srgbClr val="404040"/>
                </a:solidFill>
                <a:latin typeface="Calibri"/>
              </a:rPr>
              <a:t>lookup</a:t>
            </a:r>
          </a:p>
        </p:txBody>
      </p:sp>
      <p:cxnSp>
        <p:nvCxnSpPr>
          <p:cNvPr id="14" name="Connector 13"/>
          <p:cNvCxnSpPr/>
          <p:nvPr/>
        </p:nvCxnSpPr>
        <p:spPr>
          <a:xfrm flipH="1">
            <a:off x="6217920" y="4251960"/>
            <a:ext cx="1097280" cy="594360"/>
          </a:xfrm>
          <a:prstGeom prst="line">
            <a:avLst/>
          </a:prstGeom>
          <a:ln w="190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458200" y="3726180"/>
            <a:ext cx="274320" cy="157734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5486400" cy="274320"/>
          </a:xfrm>
          <a:prstGeom prst="rect">
            <a:avLst/>
          </a:prstGeom>
          <a:noFill/>
        </p:spPr>
        <p:txBody>
          <a:bodyPr wrap="none">
            <a:spAutoFit/>
          </a:bodyPr>
          <a:lstStyle/>
          <a:p>
            <a:r>
              <a:rPr sz="1200" b="1" i="0">
                <a:solidFill>
                  <a:srgbClr val="00B4D8"/>
                </a:solidFill>
                <a:latin typeface="Cambria"/>
              </a:rPr>
              <a:t>LIVE DEMO</a:t>
            </a:r>
          </a:p>
        </p:txBody>
      </p:sp>
      <p:sp>
        <p:nvSpPr>
          <p:cNvPr id="3" name="TextBox 2"/>
          <p:cNvSpPr txBox="1"/>
          <p:nvPr/>
        </p:nvSpPr>
        <p:spPr>
          <a:xfrm>
            <a:off x="640080" y="621792"/>
            <a:ext cx="10911535" cy="777240"/>
          </a:xfrm>
          <a:prstGeom prst="rect">
            <a:avLst/>
          </a:prstGeom>
          <a:noFill/>
        </p:spPr>
        <p:txBody>
          <a:bodyPr wrap="square" lIns="0" tIns="0">
            <a:spAutoFit/>
          </a:bodyPr>
          <a:lstStyle/>
          <a:p>
            <a:pPr algn="l"/>
            <a:r>
              <a:rPr sz="2600" b="1" i="0">
                <a:solidFill>
                  <a:srgbClr val="1B2A4A"/>
                </a:solidFill>
                <a:latin typeface="Cambria"/>
              </a:rPr>
              <a:t>Live Demo: Managing DNS</a:t>
            </a:r>
          </a:p>
        </p:txBody>
      </p:sp>
      <p:sp>
        <p:nvSpPr>
          <p:cNvPr id="4" name="TextBox 3"/>
          <p:cNvSpPr txBox="1"/>
          <p:nvPr/>
        </p:nvSpPr>
        <p:spPr>
          <a:xfrm>
            <a:off x="685800" y="1600200"/>
            <a:ext cx="10820095" cy="4846320"/>
          </a:xfrm>
          <a:prstGeom prst="rect">
            <a:avLst/>
          </a:prstGeom>
          <a:noFill/>
        </p:spPr>
        <p:txBody>
          <a:bodyPr wrap="square" lIns="0" tIns="0">
            <a:spAutoFit/>
          </a:bodyPr>
          <a:lstStyle/>
          <a:p>
            <a:pPr algn="l">
              <a:spcAft>
                <a:spcPts val="1000"/>
              </a:spcAft>
            </a:pPr>
            <a:r>
              <a:rPr sz="1400" b="0" i="0">
                <a:solidFill>
                  <a:srgbClr val="111B30"/>
                </a:solidFill>
                <a:latin typeface="Courier New"/>
              </a:rPr>
              <a:t>Add-DnsServerResourceRecordA -Name "fileserver" -ZoneName "lab3.local" -IPv4Address "10.0.0.50"</a:t>
            </a:r>
          </a:p>
          <a:p>
            <a:pPr algn="l">
              <a:spcAft>
                <a:spcPts val="1000"/>
              </a:spcAft>
            </a:pPr>
            <a:r>
              <a:rPr sz="1400" b="0" i="0">
                <a:solidFill>
                  <a:srgbClr val="111B30"/>
                </a:solidFill>
                <a:latin typeface="Courier New"/>
              </a:rPr>
              <a:t>Get-DnsServerZone</a:t>
            </a:r>
          </a:p>
          <a:p>
            <a:pPr algn="l">
              <a:spcAft>
                <a:spcPts val="1000"/>
              </a:spcAft>
            </a:pPr>
            <a:r>
              <a:rPr sz="1400" b="0" i="0">
                <a:solidFill>
                  <a:srgbClr val="111B30"/>
                </a:solidFill>
                <a:latin typeface="Courier New"/>
              </a:rPr>
              <a:t>Resolve-DnsName fileserver.lab3.local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DHCP on Windows Server: Scopes, Reservations &amp; Failover</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Scope = a range of leasable addresses for one subnet - still uses DORA underneath</a:t>
            </a:r>
          </a:p>
          <a:p>
            <a:pPr algn="l">
              <a:spcAft>
                <a:spcPts val="1200"/>
              </a:spcAft>
            </a:pPr>
            <a:r>
              <a:rPr sz="1600" b="0" i="0">
                <a:solidFill>
                  <a:srgbClr val="111B30"/>
                </a:solidFill>
                <a:latin typeface="Calibri"/>
              </a:rPr>
              <a:t>●   Reservation = a fixed IP tied to a MAC address within a scope - printers, servers that still want DHCP-managed config</a:t>
            </a:r>
          </a:p>
          <a:p>
            <a:pPr algn="l">
              <a:spcAft>
                <a:spcPts val="1200"/>
              </a:spcAft>
            </a:pPr>
            <a:r>
              <a:rPr sz="1600" b="0" i="0">
                <a:solidFill>
                  <a:srgbClr val="111B30"/>
                </a:solidFill>
                <a:latin typeface="Calibri"/>
              </a:rPr>
              <a:t>●   Scope options (006 DNS servers, 003 router) usually pushed from AD-integrated DHCP</a:t>
            </a:r>
          </a:p>
          <a:p>
            <a:pPr algn="l">
              <a:spcAft>
                <a:spcPts val="1200"/>
              </a:spcAft>
            </a:pPr>
            <a:r>
              <a:rPr sz="1600" b="0" i="0">
                <a:solidFill>
                  <a:srgbClr val="111B30"/>
                </a:solidFill>
                <a:latin typeface="Calibri"/>
              </a:rPr>
              <a:t>●   DHCP failover (load-balance or hot-standby) avoids the single-server-outage problem inherent to DHCP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File Services: Shares, NTFS &amp; FSRM</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Share permissions (SMB level) vs. NTFS permissions (filesystem level) - effective access is the MORE restrictive of the two</a:t>
            </a:r>
          </a:p>
          <a:p>
            <a:pPr algn="l">
              <a:spcAft>
                <a:spcPts val="1200"/>
              </a:spcAft>
            </a:pPr>
            <a:r>
              <a:rPr sz="1600" b="0" i="0">
                <a:solidFill>
                  <a:srgbClr val="111B30"/>
                </a:solidFill>
                <a:latin typeface="Calibri"/>
              </a:rPr>
              <a:t>●   New-SmbShare creates a share; NTFS ACLs still control real access underneath it</a:t>
            </a:r>
          </a:p>
          <a:p>
            <a:pPr algn="l">
              <a:spcAft>
                <a:spcPts val="1200"/>
              </a:spcAft>
            </a:pPr>
            <a:r>
              <a:rPr sz="1600" b="0" i="0">
                <a:solidFill>
                  <a:srgbClr val="111B30"/>
                </a:solidFill>
                <a:latin typeface="Calibri"/>
              </a:rPr>
              <a:t>●   File Server Resource Manager (FSRM): quotas, file screening, storage reports</a:t>
            </a:r>
          </a:p>
          <a:p>
            <a:pPr algn="l">
              <a:spcAft>
                <a:spcPts val="1200"/>
              </a:spcAft>
            </a:pPr>
            <a:r>
              <a:rPr sz="1600" b="0" i="0">
                <a:solidFill>
                  <a:srgbClr val="111B30"/>
                </a:solidFill>
                <a:latin typeface="Calibri"/>
              </a:rPr>
              <a:t>●   DFS builds on top of file shares - previewed here, detailed in Section 05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DNS / DHCP / File Services Cheat Sheet</a:t>
            </a:r>
          </a:p>
        </p:txBody>
      </p:sp>
      <p:graphicFrame>
        <p:nvGraphicFramePr>
          <p:cNvPr id="3" name="Table 2"/>
          <p:cNvGraphicFramePr>
            <a:graphicFrameLocks noGrp="1"/>
          </p:cNvGraphicFramePr>
          <p:nvPr/>
        </p:nvGraphicFramePr>
        <p:xfrm>
          <a:off x="640080" y="1554480"/>
          <a:ext cx="10911535" cy="1828800"/>
        </p:xfrm>
        <a:graphic>
          <a:graphicData uri="http://schemas.openxmlformats.org/drawingml/2006/table">
            <a:tbl>
              <a:tblPr firstRow="1" bandRow="1">
                <a:tableStyleId>{5C22544A-7EE6-4342-B048-85BDC9FD1C3A}</a:tableStyleId>
              </a:tblPr>
              <a:tblGrid>
                <a:gridCol w="2011680"/>
                <a:gridCol w="5303520"/>
                <a:gridCol w="3596335"/>
              </a:tblGrid>
              <a:tr h="457200">
                <a:tc>
                  <a:txBody>
                    <a:bodyPr/>
                    <a:lstStyle/>
                    <a:p>
                      <a:pPr algn="l"/>
                      <a:r>
                        <a:rPr sz="1250" b="1" i="0">
                          <a:solidFill>
                            <a:srgbClr val="FFFFFF"/>
                          </a:solidFill>
                          <a:latin typeface="Calibri"/>
                        </a:rPr>
                        <a:t>Role</a:t>
                      </a:r>
                    </a:p>
                  </a:txBody>
                  <a:tcPr anchor="ctr" marL="76200" marR="76200" marT="38100" marB="38100">
                    <a:solidFill>
                      <a:srgbClr val="1B2A4A"/>
                    </a:solidFill>
                  </a:tcPr>
                </a:tc>
                <a:tc>
                  <a:txBody>
                    <a:bodyPr/>
                    <a:lstStyle/>
                    <a:p>
                      <a:pPr algn="l"/>
                      <a:r>
                        <a:rPr sz="1250" b="1" i="0">
                          <a:solidFill>
                            <a:srgbClr val="FFFFFF"/>
                          </a:solidFill>
                          <a:latin typeface="Calibri"/>
                        </a:rPr>
                        <a:t>Key PowerShell Cmdlets</a:t>
                      </a:r>
                    </a:p>
                  </a:txBody>
                  <a:tcPr anchor="ctr" marL="76200" marR="76200" marT="38100" marB="38100">
                    <a:solidFill>
                      <a:srgbClr val="1B2A4A"/>
                    </a:solidFill>
                  </a:tcPr>
                </a:tc>
                <a:tc>
                  <a:txBody>
                    <a:bodyPr/>
                    <a:lstStyle/>
                    <a:p>
                      <a:pPr algn="l"/>
                      <a:r>
                        <a:rPr sz="1250" b="1" i="0">
                          <a:solidFill>
                            <a:srgbClr val="FFFFFF"/>
                          </a:solidFill>
                          <a:latin typeface="Calibri"/>
                        </a:rPr>
                        <a:t>What to Check First</a:t>
                      </a:r>
                    </a:p>
                  </a:txBody>
                  <a:tcPr anchor="ctr" marL="76200" marR="76200" marT="38100" marB="38100">
                    <a:solidFill>
                      <a:srgbClr val="1B2A4A"/>
                    </a:solidFill>
                  </a:tcPr>
                </a:tc>
              </a:tr>
              <a:tr h="457200">
                <a:tc>
                  <a:txBody>
                    <a:bodyPr/>
                    <a:lstStyle/>
                    <a:p>
                      <a:pPr algn="l"/>
                      <a:r>
                        <a:rPr sz="1250" b="0" i="0">
                          <a:solidFill>
                            <a:srgbClr val="111B30"/>
                          </a:solidFill>
                          <a:latin typeface="Calibri"/>
                        </a:rPr>
                        <a:t>DNS</a:t>
                      </a:r>
                    </a:p>
                  </a:txBody>
                  <a:tcPr anchor="ctr" marL="76200" marR="76200" marT="38100" marB="38100">
                    <a:solidFill>
                      <a:srgbClr val="FFFFFF"/>
                    </a:solidFill>
                  </a:tcPr>
                </a:tc>
                <a:tc>
                  <a:txBody>
                    <a:bodyPr/>
                    <a:lstStyle/>
                    <a:p>
                      <a:pPr algn="l"/>
                      <a:r>
                        <a:rPr sz="1250" b="0" i="0">
                          <a:solidFill>
                            <a:srgbClr val="111B30"/>
                          </a:solidFill>
                          <a:latin typeface="Calibri"/>
                        </a:rPr>
                        <a:t>Add-DnsServerResourceRecordA, Get-DnsServerZone, Resolve-DnsName</a:t>
                      </a:r>
                    </a:p>
                  </a:txBody>
                  <a:tcPr anchor="ctr" marL="76200" marR="76200" marT="38100" marB="38100">
                    <a:solidFill>
                      <a:srgbClr val="FFFFFF"/>
                    </a:solidFill>
                  </a:tcPr>
                </a:tc>
                <a:tc>
                  <a:txBody>
                    <a:bodyPr/>
                    <a:lstStyle/>
                    <a:p>
                      <a:pPr algn="l"/>
                      <a:r>
                        <a:rPr sz="1250" b="0" i="0">
                          <a:solidFill>
                            <a:srgbClr val="111B30"/>
                          </a:solidFill>
                          <a:latin typeface="Calibri"/>
                        </a:rPr>
                        <a:t>Is the zone AD-integrated? Are SRV records present?</a:t>
                      </a:r>
                    </a:p>
                  </a:txBody>
                  <a:tcPr anchor="ctr" marL="76200" marR="76200" marT="38100" marB="38100">
                    <a:solidFill>
                      <a:srgbClr val="FFFFFF"/>
                    </a:solidFill>
                  </a:tcPr>
                </a:tc>
              </a:tr>
              <a:tr h="457200">
                <a:tc>
                  <a:txBody>
                    <a:bodyPr/>
                    <a:lstStyle/>
                    <a:p>
                      <a:pPr algn="l"/>
                      <a:r>
                        <a:rPr sz="1250" b="0" i="0">
                          <a:solidFill>
                            <a:srgbClr val="111B30"/>
                          </a:solidFill>
                          <a:latin typeface="Calibri"/>
                        </a:rPr>
                        <a:t>DHCP</a:t>
                      </a:r>
                    </a:p>
                  </a:txBody>
                  <a:tcPr anchor="ctr" marL="76200" marR="76200" marT="38100" marB="38100">
                    <a:solidFill>
                      <a:srgbClr val="E8EEF7"/>
                    </a:solidFill>
                  </a:tcPr>
                </a:tc>
                <a:tc>
                  <a:txBody>
                    <a:bodyPr/>
                    <a:lstStyle/>
                    <a:p>
                      <a:pPr algn="l"/>
                      <a:r>
                        <a:rPr sz="1250" b="0" i="0">
                          <a:solidFill>
                            <a:srgbClr val="111B30"/>
                          </a:solidFill>
                          <a:latin typeface="Calibri"/>
                        </a:rPr>
                        <a:t>Add-DhcpServerv4Scope, Get-DhcpServerv4Lease, Add-DhcpServerv4Reservation</a:t>
                      </a:r>
                    </a:p>
                  </a:txBody>
                  <a:tcPr anchor="ctr" marL="76200" marR="76200" marT="38100" marB="38100">
                    <a:solidFill>
                      <a:srgbClr val="E8EEF7"/>
                    </a:solidFill>
                  </a:tcPr>
                </a:tc>
                <a:tc>
                  <a:txBody>
                    <a:bodyPr/>
                    <a:lstStyle/>
                    <a:p>
                      <a:pPr algn="l"/>
                      <a:r>
                        <a:rPr sz="1250" b="0" i="0">
                          <a:solidFill>
                            <a:srgbClr val="111B30"/>
                          </a:solidFill>
                          <a:latin typeface="Calibri"/>
                        </a:rPr>
                        <a:t>Scope not exhausted; correct DNS/gateway options set</a:t>
                      </a:r>
                    </a:p>
                  </a:txBody>
                  <a:tcPr anchor="ctr" marL="76200" marR="76200" marT="38100" marB="38100">
                    <a:solidFill>
                      <a:srgbClr val="E8EEF7"/>
                    </a:solidFill>
                  </a:tcPr>
                </a:tc>
              </a:tr>
              <a:tr h="457200">
                <a:tc>
                  <a:txBody>
                    <a:bodyPr/>
                    <a:lstStyle/>
                    <a:p>
                      <a:pPr algn="l"/>
                      <a:r>
                        <a:rPr sz="1250" b="0" i="0">
                          <a:solidFill>
                            <a:srgbClr val="111B30"/>
                          </a:solidFill>
                          <a:latin typeface="Calibri"/>
                        </a:rPr>
                        <a:t>File Services</a:t>
                      </a:r>
                    </a:p>
                  </a:txBody>
                  <a:tcPr anchor="ctr" marL="76200" marR="76200" marT="38100" marB="38100">
                    <a:solidFill>
                      <a:srgbClr val="FFFFFF"/>
                    </a:solidFill>
                  </a:tcPr>
                </a:tc>
                <a:tc>
                  <a:txBody>
                    <a:bodyPr/>
                    <a:lstStyle/>
                    <a:p>
                      <a:pPr algn="l"/>
                      <a:r>
                        <a:rPr sz="1250" b="0" i="0">
                          <a:solidFill>
                            <a:srgbClr val="111B30"/>
                          </a:solidFill>
                          <a:latin typeface="Calibri"/>
                        </a:rPr>
                        <a:t>New-SmbShare, Get-SmbShareAccess, Get-Acl / Set-Acl</a:t>
                      </a:r>
                    </a:p>
                  </a:txBody>
                  <a:tcPr anchor="ctr" marL="76200" marR="76200" marT="38100" marB="38100">
                    <a:solidFill>
                      <a:srgbClr val="FFFFFF"/>
                    </a:solidFill>
                  </a:tcPr>
                </a:tc>
                <a:tc>
                  <a:txBody>
                    <a:bodyPr/>
                    <a:lstStyle/>
                    <a:p>
                      <a:pPr algn="l"/>
                      <a:r>
                        <a:rPr sz="1250" b="0" i="0">
                          <a:solidFill>
                            <a:srgbClr val="111B30"/>
                          </a:solidFill>
                          <a:latin typeface="Calibri"/>
                        </a:rPr>
                        <a:t>Combined effective permission (share (intersect) NTFS)</a:t>
                      </a:r>
                    </a:p>
                  </a:txBody>
                  <a:tcPr anchor="ctr" marL="76200" marR="76200" marT="38100" marB="38100">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DNS Cache Poisoning / Zone Transfer Abuse</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DNS zone transfers are</a:t>
            </a:r>
          </a:p>
          <a:p>
            <a:pPr algn="ctr"/>
            <a:r>
              <a:rPr sz="1100" b="0" i="0">
                <a:solidFill>
                  <a:srgbClr val="111B30"/>
                </a:solidFill>
                <a:latin typeface="Calibri"/>
              </a:rPr>
              <a:t>not restricted to named</a:t>
            </a:r>
          </a:p>
          <a:p>
            <a:pPr algn="ctr"/>
            <a:r>
              <a:rPr sz="1100" b="0" i="0">
                <a:solidFill>
                  <a:srgbClr val="111B30"/>
                </a:solidFill>
                <a:latin typeface="Calibri"/>
              </a:rPr>
              <a:t>secondaries</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Attacker injects bad</a:t>
            </a:r>
          </a:p>
          <a:p>
            <a:pPr algn="ctr"/>
            <a:r>
              <a:rPr sz="1100" b="1" i="0">
                <a:solidFill>
                  <a:srgbClr val="111B30"/>
                </a:solidFill>
                <a:latin typeface="Calibri"/>
              </a:rPr>
              <a:t>records or pulls the</a:t>
            </a:r>
          </a:p>
          <a:p>
            <a:pPr algn="ctr"/>
            <a:r>
              <a:rPr sz="1100" b="1" i="0">
                <a:solidFill>
                  <a:srgbClr val="111B30"/>
                </a:solidFill>
                <a:latin typeface="Calibri"/>
              </a:rPr>
              <a:t>full zone via transfer</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Clients get poisoned</a:t>
            </a:r>
          </a:p>
          <a:p>
            <a:pPr algn="ctr"/>
            <a:r>
              <a:rPr sz="1100" b="0" i="0">
                <a:solidFill>
                  <a:srgbClr val="111B30"/>
                </a:solidFill>
                <a:latin typeface="Calibri"/>
              </a:rPr>
              <a:t>answers, or the whole</a:t>
            </a:r>
          </a:p>
          <a:p>
            <a:pPr algn="ctr"/>
            <a:r>
              <a:rPr sz="1100" b="0" i="0">
                <a:solidFill>
                  <a:srgbClr val="111B30"/>
                </a:solidFill>
                <a:latin typeface="Calibri"/>
              </a:rPr>
              <a:t>zone is exposed</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Restrict zone transfers to named secondaries; disable if unused</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Rogue DHCP Server</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An unauthorized DHCP</a:t>
            </a:r>
          </a:p>
          <a:p>
            <a:pPr algn="ctr"/>
            <a:r>
              <a:rPr sz="1100" b="0" i="0">
                <a:solidFill>
                  <a:srgbClr val="111B30"/>
                </a:solidFill>
                <a:latin typeface="Calibri"/>
              </a:rPr>
              <a:t>server appears on</a:t>
            </a:r>
          </a:p>
          <a:p>
            <a:pPr algn="ctr"/>
            <a:r>
              <a:rPr sz="1100" b="0" i="0">
                <a:solidFill>
                  <a:srgbClr val="111B30"/>
                </a:solidFill>
                <a:latin typeface="Calibri"/>
              </a:rPr>
              <a:t>the network</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Hands out attacker-</a:t>
            </a:r>
          </a:p>
          <a:p>
            <a:pPr algn="ctr"/>
            <a:r>
              <a:rPr sz="1100" b="1" i="0">
                <a:solidFill>
                  <a:srgbClr val="111B30"/>
                </a:solidFill>
                <a:latin typeface="Calibri"/>
              </a:rPr>
              <a:t>controlled DNS server</a:t>
            </a:r>
          </a:p>
          <a:p>
            <a:pPr algn="ctr"/>
            <a:r>
              <a:rPr sz="1100" b="1" i="0">
                <a:solidFill>
                  <a:srgbClr val="111B30"/>
                </a:solidFill>
                <a:latin typeface="Calibri"/>
              </a:rPr>
              <a:t>and gateway addresses</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Client traffic gets</a:t>
            </a:r>
          </a:p>
          <a:p>
            <a:pPr algn="ctr"/>
            <a:r>
              <a:rPr sz="1100" b="0" i="0">
                <a:solidFill>
                  <a:srgbClr val="111B30"/>
                </a:solidFill>
                <a:latin typeface="Calibri"/>
              </a:rPr>
              <a:t>silently routed through</a:t>
            </a:r>
          </a:p>
          <a:p>
            <a:pPr algn="ctr"/>
            <a:r>
              <a:rPr sz="1100" b="0" i="0">
                <a:solidFill>
                  <a:srgbClr val="111B30"/>
                </a:solidFill>
                <a:latin typeface="Calibri"/>
              </a:rPr>
              <a:t>the attacker</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DHCP snooping at the switch; authorize DHCP servers in AD</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Share Permission Misconfiguration</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 share's NTFS or SMB</a:t>
            </a:r>
          </a:p>
          <a:p>
            <a:pPr algn="ctr"/>
            <a:r>
              <a:rPr sz="1100" b="0" i="0">
                <a:solidFill>
                  <a:srgbClr val="111B30"/>
                </a:solidFill>
                <a:latin typeface="Calibri"/>
              </a:rPr>
              <a:t>permissions are set</a:t>
            </a:r>
          </a:p>
          <a:p>
            <a:pPr algn="ctr"/>
            <a:r>
              <a:rPr sz="1100" b="0" i="0">
                <a:solidFill>
                  <a:srgbClr val="111B30"/>
                </a:solidFill>
                <a:latin typeface="Calibri"/>
              </a:rPr>
              <a:t>too loosely</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Sensitive files become</a:t>
            </a:r>
          </a:p>
          <a:p>
            <a:pPr algn="ctr"/>
            <a:r>
              <a:rPr sz="1100" b="1" i="0">
                <a:solidFill>
                  <a:srgbClr val="111B30"/>
                </a:solidFill>
                <a:latin typeface="Calibri"/>
              </a:rPr>
              <a:t>readable org-wide,</a:t>
            </a:r>
          </a:p>
          <a:p>
            <a:pPr algn="ctr"/>
            <a:r>
              <a:rPr sz="1100" b="1" i="0">
                <a:solidFill>
                  <a:srgbClr val="111B30"/>
                </a:solidFill>
                <a:latin typeface="Calibri"/>
              </a:rPr>
              <a:t>not just to the intended group</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Broad, unnoticed</a:t>
            </a:r>
          </a:p>
          <a:p>
            <a:pPr algn="ctr"/>
            <a:r>
              <a:rPr sz="1100" b="0" i="0">
                <a:solidFill>
                  <a:srgbClr val="111B30"/>
                </a:solidFill>
                <a:latin typeface="Calibri"/>
              </a:rPr>
              <a:t>exposure of sensitive</a:t>
            </a:r>
          </a:p>
          <a:p>
            <a:pPr algn="ctr"/>
            <a:r>
              <a:rPr sz="1100" b="0" i="0">
                <a:solidFill>
                  <a:srgbClr val="111B30"/>
                </a:solidFill>
                <a:latin typeface="Calibri"/>
              </a:rPr>
              <a:t>data</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Least-privilege NTFS ACLs; periodic access review; FSRM screening</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SMB/NTLM Relay</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captures an</a:t>
            </a:r>
          </a:p>
          <a:p>
            <a:pPr algn="ctr"/>
            <a:r>
              <a:rPr sz="1100" b="0" i="0">
                <a:solidFill>
                  <a:srgbClr val="111B30"/>
                </a:solidFill>
                <a:latin typeface="Calibri"/>
              </a:rPr>
              <a:t>SMB authentication</a:t>
            </a:r>
          </a:p>
          <a:p>
            <a:pPr algn="ctr"/>
            <a:r>
              <a:rPr sz="1100" b="0" i="0">
                <a:solidFill>
                  <a:srgbClr val="111B30"/>
                </a:solidFill>
                <a:latin typeface="Calibri"/>
              </a:rPr>
              <a:t>attempt on the network</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Relays that captured</a:t>
            </a:r>
          </a:p>
          <a:p>
            <a:pPr algn="ctr"/>
            <a:r>
              <a:rPr sz="1100" b="1" i="0">
                <a:solidFill>
                  <a:srgbClr val="111B30"/>
                </a:solidFill>
                <a:latin typeface="Calibri"/>
              </a:rPr>
              <a:t>auth attempt to a</a:t>
            </a:r>
          </a:p>
          <a:p>
            <a:pPr algn="ctr"/>
            <a:r>
              <a:rPr sz="1100" b="1" i="0">
                <a:solidFill>
                  <a:srgbClr val="111B30"/>
                </a:solidFill>
                <a:latin typeface="Calibri"/>
              </a:rPr>
              <a:t>different target host</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Gains that user's access</a:t>
            </a:r>
          </a:p>
          <a:p>
            <a:pPr algn="ctr"/>
            <a:r>
              <a:rPr sz="1100" b="0" i="0">
                <a:solidFill>
                  <a:srgbClr val="111B30"/>
                </a:solidFill>
                <a:latin typeface="Calibri"/>
              </a:rPr>
              <a:t>on the relay target</a:t>
            </a:r>
          </a:p>
          <a:p>
            <a:pPr algn="ctr"/>
            <a:r>
              <a:rPr sz="1100" b="0" i="0">
                <a:solidFill>
                  <a:srgbClr val="111B30"/>
                </a:solidFill>
                <a:latin typeface="Calibri"/>
              </a:rPr>
              <a:t>for lateral movement</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Enforce SMB signing; disable NTLM where possible</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822960" y="2962656"/>
            <a:ext cx="1005840" cy="1005840"/>
          </a:xfrm>
          <a:prstGeom prst="rect">
            <a:avLst/>
          </a:prstGeom>
          <a:solidFill>
            <a:srgbClr val="00B4D8"/>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4000" b="1" i="0">
                <a:solidFill>
                  <a:srgbClr val="1B2A4A"/>
                </a:solidFill>
                <a:latin typeface="Calibri"/>
              </a:rPr>
              <a:t>03</a:t>
            </a:r>
          </a:p>
        </p:txBody>
      </p:sp>
      <p:sp>
        <p:nvSpPr>
          <p:cNvPr id="3" name="TextBox 2"/>
          <p:cNvSpPr txBox="1"/>
          <p:nvPr/>
        </p:nvSpPr>
        <p:spPr>
          <a:xfrm>
            <a:off x="2103120" y="2962656"/>
            <a:ext cx="9448495" cy="1005840"/>
          </a:xfrm>
          <a:prstGeom prst="rect">
            <a:avLst/>
          </a:prstGeom>
          <a:noFill/>
        </p:spPr>
        <p:txBody>
          <a:bodyPr wrap="square" anchor="ctr">
            <a:spAutoFit/>
          </a:bodyPr>
          <a:lstStyle/>
          <a:p>
            <a:r>
              <a:rPr sz="3200" b="1" i="0">
                <a:solidFill>
                  <a:srgbClr val="FFFFFF"/>
                </a:solidFill>
                <a:latin typeface="Cambria"/>
              </a:rPr>
              <a:t>Group Policy, Local Security Policy &amp; Auditing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Local Security Policy vs. Group Policy</a:t>
            </a:r>
          </a:p>
        </p:txBody>
      </p:sp>
      <p:graphicFrame>
        <p:nvGraphicFramePr>
          <p:cNvPr id="3" name="Table 2"/>
          <p:cNvGraphicFramePr>
            <a:graphicFrameLocks noGrp="1"/>
          </p:cNvGraphicFramePr>
          <p:nvPr/>
        </p:nvGraphicFramePr>
        <p:xfrm>
          <a:off x="640080" y="1554480"/>
          <a:ext cx="10911535" cy="2743200"/>
        </p:xfrm>
        <a:graphic>
          <a:graphicData uri="http://schemas.openxmlformats.org/drawingml/2006/table">
            <a:tbl>
              <a:tblPr firstRow="1" bandRow="1">
                <a:tableStyleId>{5C22544A-7EE6-4342-B048-85BDC9FD1C3A}</a:tableStyleId>
              </a:tblPr>
              <a:tblGrid>
                <a:gridCol w="1828800"/>
                <a:gridCol w="4114800"/>
                <a:gridCol w="4967935"/>
              </a:tblGrid>
              <a:tr h="457200">
                <a:tc>
                  <a:txBody>
                    <a:bodyPr/>
                    <a:lstStyle/>
                    <a:p>
                      <a:pPr algn="l"/>
                      <a:r>
                        <a:rPr sz="1250" b="1" i="0">
                          <a:solidFill>
                            <a:srgbClr val="FFFFFF"/>
                          </a:solidFill>
                          <a:latin typeface="Calibri"/>
                        </a:rPr>
                        <a:t>Aspect</a:t>
                      </a:r>
                    </a:p>
                  </a:txBody>
                  <a:tcPr anchor="ctr" marL="76200" marR="76200" marT="38100" marB="38100">
                    <a:solidFill>
                      <a:srgbClr val="1B2A4A"/>
                    </a:solidFill>
                  </a:tcPr>
                </a:tc>
                <a:tc>
                  <a:txBody>
                    <a:bodyPr/>
                    <a:lstStyle/>
                    <a:p>
                      <a:pPr algn="l"/>
                      <a:r>
                        <a:rPr sz="1250" b="1" i="0">
                          <a:solidFill>
                            <a:srgbClr val="FFFFFF"/>
                          </a:solidFill>
                          <a:latin typeface="Calibri"/>
                        </a:rPr>
                        <a:t>Local Security Policy</a:t>
                      </a:r>
                    </a:p>
                  </a:txBody>
                  <a:tcPr anchor="ctr" marL="76200" marR="76200" marT="38100" marB="38100">
                    <a:solidFill>
                      <a:srgbClr val="1B2A4A"/>
                    </a:solidFill>
                  </a:tcPr>
                </a:tc>
                <a:tc>
                  <a:txBody>
                    <a:bodyPr/>
                    <a:lstStyle/>
                    <a:p>
                      <a:pPr algn="l"/>
                      <a:r>
                        <a:rPr sz="1250" b="1" i="0">
                          <a:solidFill>
                            <a:srgbClr val="FFFFFF"/>
                          </a:solidFill>
                          <a:latin typeface="Calibri"/>
                        </a:rPr>
                        <a:t>Group Policy</a:t>
                      </a:r>
                    </a:p>
                  </a:txBody>
                  <a:tcPr anchor="ctr" marL="76200" marR="76200" marT="38100" marB="38100">
                    <a:solidFill>
                      <a:srgbClr val="1B2A4A"/>
                    </a:solidFill>
                  </a:tcPr>
                </a:tc>
              </a:tr>
              <a:tr h="457200">
                <a:tc>
                  <a:txBody>
                    <a:bodyPr/>
                    <a:lstStyle/>
                    <a:p>
                      <a:pPr algn="l"/>
                      <a:r>
                        <a:rPr sz="1250" b="0" i="0">
                          <a:solidFill>
                            <a:srgbClr val="111B30"/>
                          </a:solidFill>
                          <a:latin typeface="Calibri"/>
                        </a:rPr>
                        <a:t>Scope</a:t>
                      </a:r>
                    </a:p>
                  </a:txBody>
                  <a:tcPr anchor="ctr" marL="76200" marR="76200" marT="38100" marB="38100">
                    <a:solidFill>
                      <a:srgbClr val="FFFFFF"/>
                    </a:solidFill>
                  </a:tcPr>
                </a:tc>
                <a:tc>
                  <a:txBody>
                    <a:bodyPr/>
                    <a:lstStyle/>
                    <a:p>
                      <a:pPr algn="l"/>
                      <a:r>
                        <a:rPr sz="1250" b="0" i="0">
                          <a:solidFill>
                            <a:srgbClr val="111B30"/>
                          </a:solidFill>
                          <a:latin typeface="Calibri"/>
                        </a:rPr>
                        <a:t>Single machine only</a:t>
                      </a:r>
                    </a:p>
                  </a:txBody>
                  <a:tcPr anchor="ctr" marL="76200" marR="76200" marT="38100" marB="38100">
                    <a:solidFill>
                      <a:srgbClr val="FFFFFF"/>
                    </a:solidFill>
                  </a:tcPr>
                </a:tc>
                <a:tc>
                  <a:txBody>
                    <a:bodyPr/>
                    <a:lstStyle/>
                    <a:p>
                      <a:pPr algn="l"/>
                      <a:r>
                        <a:rPr sz="1250" b="0" i="0">
                          <a:solidFill>
                            <a:srgbClr val="111B30"/>
                          </a:solidFill>
                          <a:latin typeface="Calibri"/>
                        </a:rPr>
                        <a:t>Site / Domain / OU - many machines at once</a:t>
                      </a:r>
                    </a:p>
                  </a:txBody>
                  <a:tcPr anchor="ctr" marL="76200" marR="76200" marT="38100" marB="38100">
                    <a:solidFill>
                      <a:srgbClr val="FFFFFF"/>
                    </a:solidFill>
                  </a:tcPr>
                </a:tc>
              </a:tr>
              <a:tr h="457200">
                <a:tc>
                  <a:txBody>
                    <a:bodyPr/>
                    <a:lstStyle/>
                    <a:p>
                      <a:pPr algn="l"/>
                      <a:r>
                        <a:rPr sz="1250" b="0" i="0">
                          <a:solidFill>
                            <a:srgbClr val="111B30"/>
                          </a:solidFill>
                          <a:latin typeface="Calibri"/>
                        </a:rPr>
                        <a:t>Tool</a:t>
                      </a:r>
                    </a:p>
                  </a:txBody>
                  <a:tcPr anchor="ctr" marL="76200" marR="76200" marT="38100" marB="38100">
                    <a:solidFill>
                      <a:srgbClr val="E8EEF7"/>
                    </a:solidFill>
                  </a:tcPr>
                </a:tc>
                <a:tc>
                  <a:txBody>
                    <a:bodyPr/>
                    <a:lstStyle/>
                    <a:p>
                      <a:pPr algn="l"/>
                      <a:r>
                        <a:rPr sz="1250" b="0" i="0">
                          <a:solidFill>
                            <a:srgbClr val="111B30"/>
                          </a:solidFill>
                          <a:latin typeface="Calibri"/>
                        </a:rPr>
                        <a:t>secpol.msc</a:t>
                      </a:r>
                    </a:p>
                  </a:txBody>
                  <a:tcPr anchor="ctr" marL="76200" marR="76200" marT="38100" marB="38100">
                    <a:solidFill>
                      <a:srgbClr val="E8EEF7"/>
                    </a:solidFill>
                  </a:tcPr>
                </a:tc>
                <a:tc>
                  <a:txBody>
                    <a:bodyPr/>
                    <a:lstStyle/>
                    <a:p>
                      <a:pPr algn="l"/>
                      <a:r>
                        <a:rPr sz="1250" b="0" i="0">
                          <a:solidFill>
                            <a:srgbClr val="111B30"/>
                          </a:solidFill>
                          <a:latin typeface="Calibri"/>
                        </a:rPr>
                        <a:t>Group Policy Management Console (GPMC), New-GPO</a:t>
                      </a:r>
                    </a:p>
                  </a:txBody>
                  <a:tcPr anchor="ctr" marL="76200" marR="76200" marT="38100" marB="38100">
                    <a:solidFill>
                      <a:srgbClr val="E8EEF7"/>
                    </a:solidFill>
                  </a:tcPr>
                </a:tc>
              </a:tr>
              <a:tr h="457200">
                <a:tc>
                  <a:txBody>
                    <a:bodyPr/>
                    <a:lstStyle/>
                    <a:p>
                      <a:pPr algn="l"/>
                      <a:r>
                        <a:rPr sz="1250" b="0" i="0">
                          <a:solidFill>
                            <a:srgbClr val="111B30"/>
                          </a:solidFill>
                          <a:latin typeface="Calibri"/>
                        </a:rPr>
                        <a:t>Storage</a:t>
                      </a:r>
                    </a:p>
                  </a:txBody>
                  <a:tcPr anchor="ctr" marL="76200" marR="76200" marT="38100" marB="38100">
                    <a:solidFill>
                      <a:srgbClr val="FFFFFF"/>
                    </a:solidFill>
                  </a:tcPr>
                </a:tc>
                <a:tc>
                  <a:txBody>
                    <a:bodyPr/>
                    <a:lstStyle/>
                    <a:p>
                      <a:pPr algn="l"/>
                      <a:r>
                        <a:rPr sz="1250" b="0" i="0">
                          <a:solidFill>
                            <a:srgbClr val="111B30"/>
                          </a:solidFill>
                          <a:latin typeface="Calibri"/>
                        </a:rPr>
                        <a:t>Local registry/security database</a:t>
                      </a:r>
                    </a:p>
                  </a:txBody>
                  <a:tcPr anchor="ctr" marL="76200" marR="76200" marT="38100" marB="38100">
                    <a:solidFill>
                      <a:srgbClr val="FFFFFF"/>
                    </a:solidFill>
                  </a:tcPr>
                </a:tc>
                <a:tc>
                  <a:txBody>
                    <a:bodyPr/>
                    <a:lstStyle/>
                    <a:p>
                      <a:pPr algn="l"/>
                      <a:r>
                        <a:rPr sz="1250" b="0" i="0">
                          <a:solidFill>
                            <a:srgbClr val="111B30"/>
                          </a:solidFill>
                          <a:latin typeface="Calibri"/>
                        </a:rPr>
                        <a:t>SYSVOL + AD (GPT + GPC)</a:t>
                      </a:r>
                    </a:p>
                  </a:txBody>
                  <a:tcPr anchor="ctr" marL="76200" marR="76200" marT="38100" marB="38100">
                    <a:solidFill>
                      <a:srgbClr val="FFFFFF"/>
                    </a:solidFill>
                  </a:tcPr>
                </a:tc>
              </a:tr>
              <a:tr h="457200">
                <a:tc>
                  <a:txBody>
                    <a:bodyPr/>
                    <a:lstStyle/>
                    <a:p>
                      <a:pPr algn="l"/>
                      <a:r>
                        <a:rPr sz="1250" b="0" i="0">
                          <a:solidFill>
                            <a:srgbClr val="111B30"/>
                          </a:solidFill>
                          <a:latin typeface="Calibri"/>
                        </a:rPr>
                        <a:t>Overridden by?</a:t>
                      </a:r>
                    </a:p>
                  </a:txBody>
                  <a:tcPr anchor="ctr" marL="76200" marR="76200" marT="38100" marB="38100">
                    <a:solidFill>
                      <a:srgbClr val="E8EEF7"/>
                    </a:solidFill>
                  </a:tcPr>
                </a:tc>
                <a:tc>
                  <a:txBody>
                    <a:bodyPr/>
                    <a:lstStyle/>
                    <a:p>
                      <a:pPr algn="l"/>
                      <a:r>
                        <a:rPr sz="1250" b="0" i="0">
                          <a:solidFill>
                            <a:srgbClr val="111B30"/>
                          </a:solidFill>
                          <a:latin typeface="Calibri"/>
                        </a:rPr>
                        <a:t>Nothing, unless a GPO applies</a:t>
                      </a:r>
                    </a:p>
                  </a:txBody>
                  <a:tcPr anchor="ctr" marL="76200" marR="76200" marT="38100" marB="38100">
                    <a:solidFill>
                      <a:srgbClr val="E8EEF7"/>
                    </a:solidFill>
                  </a:tcPr>
                </a:tc>
                <a:tc>
                  <a:txBody>
                    <a:bodyPr/>
                    <a:lstStyle/>
                    <a:p>
                      <a:pPr algn="l"/>
                      <a:r>
                        <a:rPr sz="1250" b="0" i="0">
                          <a:solidFill>
                            <a:srgbClr val="111B30"/>
                          </a:solidFill>
                          <a:latin typeface="Calibri"/>
                        </a:rPr>
                        <a:t>Higher-precedence GPOs</a:t>
                      </a:r>
                    </a:p>
                  </a:txBody>
                  <a:tcPr anchor="ctr" marL="76200" marR="76200" marT="38100" marB="38100">
                    <a:solidFill>
                      <a:srgbClr val="E8EEF7"/>
                    </a:solidFill>
                  </a:tcPr>
                </a:tc>
              </a:tr>
              <a:tr h="457200">
                <a:tc>
                  <a:txBody>
                    <a:bodyPr/>
                    <a:lstStyle/>
                    <a:p>
                      <a:pPr algn="l"/>
                      <a:r>
                        <a:rPr sz="1250" b="0" i="0">
                          <a:solidFill>
                            <a:srgbClr val="111B30"/>
                          </a:solidFill>
                          <a:latin typeface="Calibri"/>
                        </a:rPr>
                        <a:t>Use case</a:t>
                      </a:r>
                    </a:p>
                  </a:txBody>
                  <a:tcPr anchor="ctr" marL="76200" marR="76200" marT="38100" marB="38100">
                    <a:solidFill>
                      <a:srgbClr val="FFFFFF"/>
                    </a:solidFill>
                  </a:tcPr>
                </a:tc>
                <a:tc>
                  <a:txBody>
                    <a:bodyPr/>
                    <a:lstStyle/>
                    <a:p>
                      <a:pPr algn="l"/>
                      <a:r>
                        <a:rPr sz="1250" b="0" i="0">
                          <a:solidFill>
                            <a:srgbClr val="111B30"/>
                          </a:solidFill>
                          <a:latin typeface="Calibri"/>
                        </a:rPr>
                        <a:t>Standalone/workgroup machines, break-glass config</a:t>
                      </a:r>
                    </a:p>
                  </a:txBody>
                  <a:tcPr anchor="ctr" marL="76200" marR="76200" marT="38100" marB="38100">
                    <a:solidFill>
                      <a:srgbClr val="FFFFFF"/>
                    </a:solidFill>
                  </a:tcPr>
                </a:tc>
                <a:tc>
                  <a:txBody>
                    <a:bodyPr/>
                    <a:lstStyle/>
                    <a:p>
                      <a:pPr algn="l"/>
                      <a:r>
                        <a:rPr sz="1250" b="0" i="0">
                          <a:solidFill>
                            <a:srgbClr val="111B30"/>
                          </a:solidFill>
                          <a:latin typeface="Calibri"/>
                        </a:rPr>
                        <a:t>Any domain-joined fleet - the default choice at scale</a:t>
                      </a:r>
                    </a:p>
                  </a:txBody>
                  <a:tcPr anchor="ctr" marL="76200" marR="76200" marT="38100" marB="38100">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GPO Processing &amp; Inheritance Order</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Mnemonic: LSDOU - Local, Site, Domain, OU. Nearest-to-the-object OU normally wins unless blocked/enforced.</a:t>
            </a:r>
          </a:p>
        </p:txBody>
      </p:sp>
      <p:sp>
        <p:nvSpPr>
          <p:cNvPr id="4" name="Rounded Rectangle 3"/>
          <p:cNvSpPr/>
          <p:nvPr/>
        </p:nvSpPr>
        <p:spPr>
          <a:xfrm>
            <a:off x="914400" y="1920240"/>
            <a:ext cx="3931920" cy="5486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Local Policy</a:t>
            </a:r>
          </a:p>
        </p:txBody>
      </p:sp>
      <p:sp>
        <p:nvSpPr>
          <p:cNvPr id="5" name="Rounded Rectangle 4"/>
          <p:cNvSpPr/>
          <p:nvPr/>
        </p:nvSpPr>
        <p:spPr>
          <a:xfrm>
            <a:off x="914400" y="2697480"/>
            <a:ext cx="3931920" cy="5486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Site GPOs</a:t>
            </a:r>
          </a:p>
        </p:txBody>
      </p:sp>
      <p:sp>
        <p:nvSpPr>
          <p:cNvPr id="6" name="Rounded Rectangle 5"/>
          <p:cNvSpPr/>
          <p:nvPr/>
        </p:nvSpPr>
        <p:spPr>
          <a:xfrm>
            <a:off x="914400" y="3474720"/>
            <a:ext cx="3931920" cy="5486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Domain GPOs</a:t>
            </a:r>
          </a:p>
        </p:txBody>
      </p:sp>
      <p:sp>
        <p:nvSpPr>
          <p:cNvPr id="7" name="Rounded Rectangle 6"/>
          <p:cNvSpPr/>
          <p:nvPr/>
        </p:nvSpPr>
        <p:spPr>
          <a:xfrm>
            <a:off x="914400" y="4251960"/>
            <a:ext cx="3931920" cy="54864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OU GPOs (nearest wins)</a:t>
            </a:r>
          </a:p>
        </p:txBody>
      </p:sp>
      <p:cxnSp>
        <p:nvCxnSpPr>
          <p:cNvPr id="8" name="Connector 7"/>
          <p:cNvCxnSpPr/>
          <p:nvPr/>
        </p:nvCxnSpPr>
        <p:spPr>
          <a:xfrm>
            <a:off x="2880360" y="2468880"/>
            <a:ext cx="0" cy="22860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880360" y="3246120"/>
            <a:ext cx="0" cy="22860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880360" y="4023359"/>
            <a:ext cx="0" cy="228601"/>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4983480"/>
            <a:ext cx="10911535" cy="365760"/>
          </a:xfrm>
          <a:prstGeom prst="rect">
            <a:avLst/>
          </a:prstGeom>
          <a:noFill/>
        </p:spPr>
        <p:txBody>
          <a:bodyPr wrap="square" lIns="0" tIns="0">
            <a:spAutoFit/>
          </a:bodyPr>
          <a:lstStyle/>
          <a:p>
            <a:r>
              <a:rPr sz="1250" b="0" i="1">
                <a:solidFill>
                  <a:srgbClr val="6B7480"/>
                </a:solidFill>
                <a:latin typeface="Calibri"/>
              </a:rPr>
              <a:t>Enforced / No Override flags can reverse this default order.</a:t>
            </a:r>
          </a:p>
        </p:txBody>
      </p:sp>
      <p:sp>
        <p:nvSpPr>
          <p:cNvPr id="12" name="Rounded Rectangle 11"/>
          <p:cNvSpPr/>
          <p:nvPr/>
        </p:nvSpPr>
        <p:spPr>
          <a:xfrm>
            <a:off x="6309360" y="1920240"/>
            <a:ext cx="3108960" cy="594360"/>
          </a:xfrm>
          <a:prstGeom prst="roundRect">
            <a:avLst/>
          </a:prstGeom>
          <a:solidFill>
            <a:srgbClr val="1B2A4A"/>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FFFFFF"/>
                </a:solidFill>
                <a:latin typeface="Calibri"/>
              </a:rPr>
              <a:t>GPO linked at domain root</a:t>
            </a:r>
          </a:p>
        </p:txBody>
      </p:sp>
      <p:sp>
        <p:nvSpPr>
          <p:cNvPr id="13" name="Rounded Rectangle 12"/>
          <p:cNvSpPr/>
          <p:nvPr/>
        </p:nvSpPr>
        <p:spPr>
          <a:xfrm>
            <a:off x="5760720" y="3246120"/>
            <a:ext cx="1188720" cy="5486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0" i="0">
                <a:solidFill>
                  <a:srgbClr val="111B30"/>
                </a:solidFill>
                <a:latin typeface="Calibri"/>
              </a:rPr>
              <a:t>Tier0</a:t>
            </a:r>
          </a:p>
        </p:txBody>
      </p:sp>
      <p:sp>
        <p:nvSpPr>
          <p:cNvPr id="14" name="Rounded Rectangle 13"/>
          <p:cNvSpPr/>
          <p:nvPr/>
        </p:nvSpPr>
        <p:spPr>
          <a:xfrm>
            <a:off x="7196328" y="3246120"/>
            <a:ext cx="1188720" cy="5486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0" i="0">
                <a:solidFill>
                  <a:srgbClr val="111B30"/>
                </a:solidFill>
                <a:latin typeface="Calibri"/>
              </a:rPr>
              <a:t>Servers</a:t>
            </a:r>
          </a:p>
        </p:txBody>
      </p:sp>
      <p:sp>
        <p:nvSpPr>
          <p:cNvPr id="15" name="Rounded Rectangle 14"/>
          <p:cNvSpPr/>
          <p:nvPr/>
        </p:nvSpPr>
        <p:spPr>
          <a:xfrm>
            <a:off x="8622792" y="3246120"/>
            <a:ext cx="1188720" cy="5486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00" b="0" i="0">
                <a:solidFill>
                  <a:srgbClr val="111B30"/>
                </a:solidFill>
                <a:latin typeface="Calibri"/>
              </a:rPr>
              <a:t>Workstations</a:t>
            </a:r>
          </a:p>
        </p:txBody>
      </p:sp>
      <p:sp>
        <p:nvSpPr>
          <p:cNvPr id="16" name="Rounded Rectangle 15"/>
          <p:cNvSpPr/>
          <p:nvPr/>
        </p:nvSpPr>
        <p:spPr>
          <a:xfrm>
            <a:off x="10058400" y="3246120"/>
            <a:ext cx="1188720" cy="5486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00" b="0" i="0">
                <a:solidFill>
                  <a:srgbClr val="111B30"/>
                </a:solidFill>
                <a:latin typeface="Calibri"/>
              </a:rPr>
              <a:t>UserAccounts</a:t>
            </a:r>
          </a:p>
        </p:txBody>
      </p:sp>
      <p:cxnSp>
        <p:nvCxnSpPr>
          <p:cNvPr id="17" name="Connector 16"/>
          <p:cNvCxnSpPr/>
          <p:nvPr/>
        </p:nvCxnSpPr>
        <p:spPr>
          <a:xfrm flipH="1">
            <a:off x="6355080" y="2514600"/>
            <a:ext cx="1508760" cy="73152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7790688" y="2514600"/>
            <a:ext cx="73152" cy="73152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863840" y="2514600"/>
            <a:ext cx="1353312" cy="73152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863840" y="2514600"/>
            <a:ext cx="2788920" cy="73152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760720" y="3977639"/>
            <a:ext cx="5486400" cy="640080"/>
          </a:xfrm>
          <a:prstGeom prst="rect">
            <a:avLst/>
          </a:prstGeom>
          <a:noFill/>
        </p:spPr>
        <p:txBody>
          <a:bodyPr wrap="square">
            <a:spAutoFit/>
          </a:bodyPr>
          <a:lstStyle/>
          <a:p>
            <a:r>
              <a:rPr sz="1100" b="0" i="1">
                <a:solidFill>
                  <a:srgbClr val="404040"/>
                </a:solidFill>
                <a:latin typeface="Calibri"/>
              </a:rPr>
              <a:t>Linking at the domain root means every OU inherits without linking 4 separate times.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Windows Event Log Overview</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Three core logs: Security (auth/audit events), System (OS/service events), Application (app-level events)</a:t>
            </a:r>
          </a:p>
          <a:p>
            <a:pPr algn="l">
              <a:spcAft>
                <a:spcPts val="1200"/>
              </a:spcAft>
            </a:pPr>
            <a:r>
              <a:rPr sz="1600" b="0" i="0">
                <a:solidFill>
                  <a:srgbClr val="111B30"/>
                </a:solidFill>
                <a:latin typeface="Calibri"/>
              </a:rPr>
              <a:t>●   Event Viewer (eventvwr.msc) or Get-WinEvent from PowerShell - same data, scriptable access</a:t>
            </a:r>
          </a:p>
          <a:p>
            <a:pPr algn="l">
              <a:spcAft>
                <a:spcPts val="1200"/>
              </a:spcAft>
            </a:pPr>
            <a:r>
              <a:rPr sz="1600" b="0" i="0">
                <a:solidFill>
                  <a:srgbClr val="111B30"/>
                </a:solidFill>
                <a:latin typeface="Calibri"/>
              </a:rPr>
              <a:t>●   Key Security Event IDs: 4624 (successful logon), 4625 (failed logon), 4720 (user created), 4738 (user changed), 4767 (account unlocked)</a:t>
            </a:r>
          </a:p>
          <a:p>
            <a:pPr algn="l">
              <a:spcAft>
                <a:spcPts val="1200"/>
              </a:spcAft>
            </a:pPr>
            <a:r>
              <a:rPr sz="1600" b="0" i="0">
                <a:solidFill>
                  <a:srgbClr val="111B30"/>
                </a:solidFill>
                <a:latin typeface="Calibri"/>
              </a:rPr>
              <a:t>●   Logs are local per-machine by default - centralizing them (SIEM, Windows Event Forwarding) is a recurring theme this week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5486400" cy="274320"/>
          </a:xfrm>
          <a:prstGeom prst="rect">
            <a:avLst/>
          </a:prstGeom>
          <a:noFill/>
        </p:spPr>
        <p:txBody>
          <a:bodyPr wrap="none">
            <a:spAutoFit/>
          </a:bodyPr>
          <a:lstStyle/>
          <a:p>
            <a:r>
              <a:rPr sz="1200" b="1" i="0">
                <a:solidFill>
                  <a:srgbClr val="00B4D8"/>
                </a:solidFill>
                <a:latin typeface="Cambria"/>
              </a:rPr>
              <a:t>LIVE DEMO</a:t>
            </a:r>
          </a:p>
        </p:txBody>
      </p:sp>
      <p:sp>
        <p:nvSpPr>
          <p:cNvPr id="3" name="TextBox 2"/>
          <p:cNvSpPr txBox="1"/>
          <p:nvPr/>
        </p:nvSpPr>
        <p:spPr>
          <a:xfrm>
            <a:off x="640080" y="621792"/>
            <a:ext cx="10911535" cy="777240"/>
          </a:xfrm>
          <a:prstGeom prst="rect">
            <a:avLst/>
          </a:prstGeom>
          <a:noFill/>
        </p:spPr>
        <p:txBody>
          <a:bodyPr wrap="square" lIns="0" tIns="0">
            <a:spAutoFit/>
          </a:bodyPr>
          <a:lstStyle/>
          <a:p>
            <a:pPr algn="l"/>
            <a:r>
              <a:rPr sz="2600" b="1" i="0">
                <a:solidFill>
                  <a:srgbClr val="1B2A4A"/>
                </a:solidFill>
                <a:latin typeface="Cambria"/>
              </a:rPr>
              <a:t>Live Demo: Windows Event Logs</a:t>
            </a:r>
          </a:p>
        </p:txBody>
      </p:sp>
      <p:sp>
        <p:nvSpPr>
          <p:cNvPr id="4" name="TextBox 3"/>
          <p:cNvSpPr txBox="1"/>
          <p:nvPr/>
        </p:nvSpPr>
        <p:spPr>
          <a:xfrm>
            <a:off x="685800" y="1600200"/>
            <a:ext cx="10820095" cy="4846320"/>
          </a:xfrm>
          <a:prstGeom prst="rect">
            <a:avLst/>
          </a:prstGeom>
          <a:noFill/>
        </p:spPr>
        <p:txBody>
          <a:bodyPr wrap="square" lIns="0" tIns="0">
            <a:spAutoFit/>
          </a:bodyPr>
          <a:lstStyle/>
          <a:p>
            <a:pPr algn="l">
              <a:spcAft>
                <a:spcPts val="1000"/>
              </a:spcAft>
            </a:pPr>
            <a:r>
              <a:rPr sz="1400" b="0" i="0">
                <a:solidFill>
                  <a:srgbClr val="111B30"/>
                </a:solidFill>
                <a:latin typeface="Courier New"/>
              </a:rPr>
              <a:t>Get-WinEvent -LogName Security -MaxEvents 5 | Format-List</a:t>
            </a:r>
          </a:p>
          <a:p>
            <a:pPr algn="l">
              <a:spcAft>
                <a:spcPts val="1000"/>
              </a:spcAft>
            </a:pPr>
            <a:r>
              <a:rPr sz="1400" b="0" i="0">
                <a:solidFill>
                  <a:srgbClr val="111B30"/>
                </a:solidFill>
                <a:latin typeface="Courier New"/>
              </a:rPr>
              <a:t>Get-WinEvent -LogName Security | Where-Object {$_.Id -eq 4625} | Select-Object -First 5</a:t>
            </a:r>
          </a:p>
          <a:p>
            <a:pPr algn="l">
              <a:spcAft>
                <a:spcPts val="1000"/>
              </a:spcAft>
            </a:pPr>
            <a:r>
              <a:rPr sz="1300" b="0" i="1">
                <a:solidFill>
                  <a:srgbClr val="3D5A80"/>
                </a:solidFill>
                <a:latin typeface="Calibri"/>
              </a:rPr>
              <a:t>GUI equivalent: eventvwr.msc -&gt; Windows Logs -&gt; Security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Building the Security Baseline GPO</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Linked at the domain root</a:t>
            </a:r>
          </a:p>
        </p:txBody>
      </p:sp>
      <p:graphicFrame>
        <p:nvGraphicFramePr>
          <p:cNvPr id="4" name="Table 3"/>
          <p:cNvGraphicFramePr>
            <a:graphicFrameLocks noGrp="1"/>
          </p:cNvGraphicFramePr>
          <p:nvPr/>
        </p:nvGraphicFramePr>
        <p:xfrm>
          <a:off x="640080" y="1828800"/>
          <a:ext cx="10911535" cy="4114800"/>
        </p:xfrm>
        <a:graphic>
          <a:graphicData uri="http://schemas.openxmlformats.org/drawingml/2006/table">
            <a:tbl>
              <a:tblPr firstRow="1" bandRow="1">
                <a:tableStyleId>{5C22544A-7EE6-4342-B048-85BDC9FD1C3A}</a:tableStyleId>
              </a:tblPr>
              <a:tblGrid>
                <a:gridCol w="4572000"/>
                <a:gridCol w="3200400"/>
                <a:gridCol w="3139135"/>
              </a:tblGrid>
              <a:tr h="457200">
                <a:tc>
                  <a:txBody>
                    <a:bodyPr/>
                    <a:lstStyle/>
                    <a:p>
                      <a:pPr algn="l"/>
                      <a:r>
                        <a:rPr sz="1250" b="1" i="0">
                          <a:solidFill>
                            <a:srgbClr val="FFFFFF"/>
                          </a:solidFill>
                          <a:latin typeface="Calibri"/>
                        </a:rPr>
                        <a:t>Setting</a:t>
                      </a:r>
                    </a:p>
                  </a:txBody>
                  <a:tcPr anchor="ctr" marL="76200" marR="76200" marT="38100" marB="38100">
                    <a:solidFill>
                      <a:srgbClr val="1B2A4A"/>
                    </a:solidFill>
                  </a:tcPr>
                </a:tc>
                <a:tc>
                  <a:txBody>
                    <a:bodyPr/>
                    <a:lstStyle/>
                    <a:p>
                      <a:pPr algn="l"/>
                      <a:r>
                        <a:rPr sz="1250" b="1" i="0">
                          <a:solidFill>
                            <a:srgbClr val="FFFFFF"/>
                          </a:solidFill>
                          <a:latin typeface="Calibri"/>
                        </a:rPr>
                        <a:t>Value</a:t>
                      </a:r>
                    </a:p>
                  </a:txBody>
                  <a:tcPr anchor="ctr" marL="76200" marR="76200" marT="38100" marB="38100">
                    <a:solidFill>
                      <a:srgbClr val="1B2A4A"/>
                    </a:solidFill>
                  </a:tcPr>
                </a:tc>
                <a:tc>
                  <a:txBody>
                    <a:bodyPr/>
                    <a:lstStyle/>
                    <a:p>
                      <a:pPr algn="l"/>
                      <a:r>
                        <a:rPr sz="1250" b="1" i="0">
                          <a:solidFill>
                            <a:srgbClr val="FFFFFF"/>
                          </a:solidFill>
                          <a:latin typeface="Calibri"/>
                        </a:rPr>
                        <a:t>CIS Reference</a:t>
                      </a:r>
                    </a:p>
                  </a:txBody>
                  <a:tcPr anchor="ctr" marL="76200" marR="76200" marT="38100" marB="38100">
                    <a:solidFill>
                      <a:srgbClr val="1B2A4A"/>
                    </a:solidFill>
                  </a:tcPr>
                </a:tc>
              </a:tr>
              <a:tr h="457200">
                <a:tc>
                  <a:txBody>
                    <a:bodyPr/>
                    <a:lstStyle/>
                    <a:p>
                      <a:pPr algn="l"/>
                      <a:r>
                        <a:rPr sz="1200" b="0" i="0">
                          <a:solidFill>
                            <a:srgbClr val="111B30"/>
                          </a:solidFill>
                          <a:latin typeface="Calibri"/>
                        </a:rPr>
                        <a:t>Minimum password length</a:t>
                      </a:r>
                    </a:p>
                  </a:txBody>
                  <a:tcPr anchor="ctr" marL="76200" marR="76200" marT="38100" marB="38100">
                    <a:solidFill>
                      <a:srgbClr val="FFFFFF"/>
                    </a:solidFill>
                  </a:tcPr>
                </a:tc>
                <a:tc>
                  <a:txBody>
                    <a:bodyPr/>
                    <a:lstStyle/>
                    <a:p>
                      <a:pPr algn="l"/>
                      <a:r>
                        <a:rPr sz="1200" b="0" i="0">
                          <a:solidFill>
                            <a:srgbClr val="111B30"/>
                          </a:solidFill>
                          <a:latin typeface="Calibri"/>
                        </a:rPr>
                        <a:t>14 characters</a:t>
                      </a:r>
                    </a:p>
                  </a:txBody>
                  <a:tcPr anchor="ctr" marL="76200" marR="76200" marT="38100" marB="38100">
                    <a:solidFill>
                      <a:srgbClr val="FFFFFF"/>
                    </a:solidFill>
                  </a:tcPr>
                </a:tc>
                <a:tc>
                  <a:txBody>
                    <a:bodyPr/>
                    <a:lstStyle/>
                    <a:p>
                      <a:pPr algn="l"/>
                      <a:r>
                        <a:rPr sz="1200" b="0" i="0">
                          <a:solidFill>
                            <a:srgbClr val="111B30"/>
                          </a:solidFill>
                          <a:latin typeface="Calibri"/>
                        </a:rPr>
                        <a:t>CIS 1.1.4</a:t>
                      </a:r>
                    </a:p>
                  </a:txBody>
                  <a:tcPr anchor="ctr" marL="76200" marR="76200" marT="38100" marB="38100">
                    <a:solidFill>
                      <a:srgbClr val="FFFFFF"/>
                    </a:solidFill>
                  </a:tcPr>
                </a:tc>
              </a:tr>
              <a:tr h="457200">
                <a:tc>
                  <a:txBody>
                    <a:bodyPr/>
                    <a:lstStyle/>
                    <a:p>
                      <a:pPr algn="l"/>
                      <a:r>
                        <a:rPr sz="1200" b="0" i="0">
                          <a:solidFill>
                            <a:srgbClr val="111B30"/>
                          </a:solidFill>
                          <a:latin typeface="Calibri"/>
                        </a:rPr>
                        <a:t>Password complexity</a:t>
                      </a:r>
                    </a:p>
                  </a:txBody>
                  <a:tcPr anchor="ctr" marL="76200" marR="76200" marT="38100" marB="38100">
                    <a:solidFill>
                      <a:srgbClr val="E8EEF7"/>
                    </a:solidFill>
                  </a:tcPr>
                </a:tc>
                <a:tc>
                  <a:txBody>
                    <a:bodyPr/>
                    <a:lstStyle/>
                    <a:p>
                      <a:pPr algn="l"/>
                      <a:r>
                        <a:rPr sz="1200" b="0" i="0">
                          <a:solidFill>
                            <a:srgbClr val="111B30"/>
                          </a:solidFill>
                          <a:latin typeface="Calibri"/>
                        </a:rPr>
                        <a:t>Enabled</a:t>
                      </a:r>
                    </a:p>
                  </a:txBody>
                  <a:tcPr anchor="ctr" marL="76200" marR="76200" marT="38100" marB="38100">
                    <a:solidFill>
                      <a:srgbClr val="E8EEF7"/>
                    </a:solidFill>
                  </a:tcPr>
                </a:tc>
                <a:tc>
                  <a:txBody>
                    <a:bodyPr/>
                    <a:lstStyle/>
                    <a:p>
                      <a:pPr algn="l"/>
                      <a:r>
                        <a:rPr sz="1200" b="0" i="0">
                          <a:solidFill>
                            <a:srgbClr val="111B30"/>
                          </a:solidFill>
                          <a:latin typeface="Calibri"/>
                        </a:rPr>
                        <a:t>CIS 1.1.5</a:t>
                      </a:r>
                    </a:p>
                  </a:txBody>
                  <a:tcPr anchor="ctr" marL="76200" marR="76200" marT="38100" marB="38100">
                    <a:solidFill>
                      <a:srgbClr val="E8EEF7"/>
                    </a:solidFill>
                  </a:tcPr>
                </a:tc>
              </a:tr>
              <a:tr h="457200">
                <a:tc>
                  <a:txBody>
                    <a:bodyPr/>
                    <a:lstStyle/>
                    <a:p>
                      <a:pPr algn="l"/>
                      <a:r>
                        <a:rPr sz="1200" b="0" i="0">
                          <a:solidFill>
                            <a:srgbClr val="111B30"/>
                          </a:solidFill>
                          <a:latin typeface="Calibri"/>
                        </a:rPr>
                        <a:t>Password history</a:t>
                      </a:r>
                    </a:p>
                  </a:txBody>
                  <a:tcPr anchor="ctr" marL="76200" marR="76200" marT="38100" marB="38100">
                    <a:solidFill>
                      <a:srgbClr val="FFFFFF"/>
                    </a:solidFill>
                  </a:tcPr>
                </a:tc>
                <a:tc>
                  <a:txBody>
                    <a:bodyPr/>
                    <a:lstStyle/>
                    <a:p>
                      <a:pPr algn="l"/>
                      <a:r>
                        <a:rPr sz="1200" b="0" i="0">
                          <a:solidFill>
                            <a:srgbClr val="111B30"/>
                          </a:solidFill>
                          <a:latin typeface="Calibri"/>
                        </a:rPr>
                        <a:t>24 passwords remembered</a:t>
                      </a:r>
                    </a:p>
                  </a:txBody>
                  <a:tcPr anchor="ctr" marL="76200" marR="76200" marT="38100" marB="38100">
                    <a:solidFill>
                      <a:srgbClr val="FFFFFF"/>
                    </a:solidFill>
                  </a:tcPr>
                </a:tc>
                <a:tc>
                  <a:txBody>
                    <a:bodyPr/>
                    <a:lstStyle/>
                    <a:p>
                      <a:pPr algn="l"/>
                      <a:r>
                        <a:rPr sz="1200" b="0" i="0">
                          <a:solidFill>
                            <a:srgbClr val="111B30"/>
                          </a:solidFill>
                          <a:latin typeface="Calibri"/>
                        </a:rPr>
                        <a:t>CIS 1.1.1</a:t>
                      </a:r>
                    </a:p>
                  </a:txBody>
                  <a:tcPr anchor="ctr" marL="76200" marR="76200" marT="38100" marB="38100">
                    <a:solidFill>
                      <a:srgbClr val="FFFFFF"/>
                    </a:solidFill>
                  </a:tcPr>
                </a:tc>
              </a:tr>
              <a:tr h="457200">
                <a:tc>
                  <a:txBody>
                    <a:bodyPr/>
                    <a:lstStyle/>
                    <a:p>
                      <a:pPr algn="l"/>
                      <a:r>
                        <a:rPr sz="1200" b="0" i="0">
                          <a:solidFill>
                            <a:srgbClr val="111B30"/>
                          </a:solidFill>
                          <a:latin typeface="Calibri"/>
                        </a:rPr>
                        <a:t>Max password age</a:t>
                      </a:r>
                    </a:p>
                  </a:txBody>
                  <a:tcPr anchor="ctr" marL="76200" marR="76200" marT="38100" marB="38100">
                    <a:solidFill>
                      <a:srgbClr val="E8EEF7"/>
                    </a:solidFill>
                  </a:tcPr>
                </a:tc>
                <a:tc>
                  <a:txBody>
                    <a:bodyPr/>
                    <a:lstStyle/>
                    <a:p>
                      <a:pPr algn="l"/>
                      <a:r>
                        <a:rPr sz="1200" b="0" i="0">
                          <a:solidFill>
                            <a:srgbClr val="111B30"/>
                          </a:solidFill>
                          <a:latin typeface="Calibri"/>
                        </a:rPr>
                        <a:t>365 days</a:t>
                      </a:r>
                    </a:p>
                  </a:txBody>
                  <a:tcPr anchor="ctr" marL="76200" marR="76200" marT="38100" marB="38100">
                    <a:solidFill>
                      <a:srgbClr val="E8EEF7"/>
                    </a:solidFill>
                  </a:tcPr>
                </a:tc>
                <a:tc>
                  <a:txBody>
                    <a:bodyPr/>
                    <a:lstStyle/>
                    <a:p>
                      <a:pPr algn="l"/>
                      <a:r>
                        <a:rPr sz="1200" b="0" i="0">
                          <a:solidFill>
                            <a:srgbClr val="111B30"/>
                          </a:solidFill>
                          <a:latin typeface="Calibri"/>
                        </a:rPr>
                        <a:t>CIS 1.1.2</a:t>
                      </a:r>
                    </a:p>
                  </a:txBody>
                  <a:tcPr anchor="ctr" marL="76200" marR="76200" marT="38100" marB="38100">
                    <a:solidFill>
                      <a:srgbClr val="E8EEF7"/>
                    </a:solidFill>
                  </a:tcPr>
                </a:tc>
              </a:tr>
              <a:tr h="457200">
                <a:tc>
                  <a:txBody>
                    <a:bodyPr/>
                    <a:lstStyle/>
                    <a:p>
                      <a:pPr algn="l"/>
                      <a:r>
                        <a:rPr sz="1200" b="0" i="0">
                          <a:solidFill>
                            <a:srgbClr val="111B30"/>
                          </a:solidFill>
                          <a:latin typeface="Calibri"/>
                        </a:rPr>
                        <a:t>Account lockout threshold</a:t>
                      </a:r>
                    </a:p>
                  </a:txBody>
                  <a:tcPr anchor="ctr" marL="76200" marR="76200" marT="38100" marB="38100">
                    <a:solidFill>
                      <a:srgbClr val="FFFFFF"/>
                    </a:solidFill>
                  </a:tcPr>
                </a:tc>
                <a:tc>
                  <a:txBody>
                    <a:bodyPr/>
                    <a:lstStyle/>
                    <a:p>
                      <a:pPr algn="l"/>
                      <a:r>
                        <a:rPr sz="1200" b="0" i="0">
                          <a:solidFill>
                            <a:srgbClr val="111B30"/>
                          </a:solidFill>
                          <a:latin typeface="Calibri"/>
                        </a:rPr>
                        <a:t>5 invalid attempts</a:t>
                      </a:r>
                    </a:p>
                  </a:txBody>
                  <a:tcPr anchor="ctr" marL="76200" marR="76200" marT="38100" marB="38100">
                    <a:solidFill>
                      <a:srgbClr val="FFFFFF"/>
                    </a:solidFill>
                  </a:tcPr>
                </a:tc>
                <a:tc>
                  <a:txBody>
                    <a:bodyPr/>
                    <a:lstStyle/>
                    <a:p>
                      <a:pPr algn="l"/>
                      <a:r>
                        <a:rPr sz="1200" b="0" i="0">
                          <a:solidFill>
                            <a:srgbClr val="111B30"/>
                          </a:solidFill>
                          <a:latin typeface="Calibri"/>
                        </a:rPr>
                        <a:t>CIS 1.2.2</a:t>
                      </a:r>
                    </a:p>
                  </a:txBody>
                  <a:tcPr anchor="ctr" marL="76200" marR="76200" marT="38100" marB="38100">
                    <a:solidFill>
                      <a:srgbClr val="FFFFFF"/>
                    </a:solidFill>
                  </a:tcPr>
                </a:tc>
              </a:tr>
              <a:tr h="457200">
                <a:tc>
                  <a:txBody>
                    <a:bodyPr/>
                    <a:lstStyle/>
                    <a:p>
                      <a:pPr algn="l"/>
                      <a:r>
                        <a:rPr sz="1200" b="0" i="0">
                          <a:solidFill>
                            <a:srgbClr val="111B30"/>
                          </a:solidFill>
                          <a:latin typeface="Calibri"/>
                        </a:rPr>
                        <a:t>Account lockout duration</a:t>
                      </a:r>
                    </a:p>
                  </a:txBody>
                  <a:tcPr anchor="ctr" marL="76200" marR="76200" marT="38100" marB="38100">
                    <a:solidFill>
                      <a:srgbClr val="E8EEF7"/>
                    </a:solidFill>
                  </a:tcPr>
                </a:tc>
                <a:tc>
                  <a:txBody>
                    <a:bodyPr/>
                    <a:lstStyle/>
                    <a:p>
                      <a:pPr algn="l"/>
                      <a:r>
                        <a:rPr sz="1200" b="0" i="0">
                          <a:solidFill>
                            <a:srgbClr val="111B30"/>
                          </a:solidFill>
                          <a:latin typeface="Calibri"/>
                        </a:rPr>
                        <a:t>15 minutes</a:t>
                      </a:r>
                    </a:p>
                  </a:txBody>
                  <a:tcPr anchor="ctr" marL="76200" marR="76200" marT="38100" marB="38100">
                    <a:solidFill>
                      <a:srgbClr val="E8EEF7"/>
                    </a:solidFill>
                  </a:tcPr>
                </a:tc>
                <a:tc>
                  <a:txBody>
                    <a:bodyPr/>
                    <a:lstStyle/>
                    <a:p>
                      <a:pPr algn="l"/>
                      <a:r>
                        <a:rPr sz="1200" b="0" i="0">
                          <a:solidFill>
                            <a:srgbClr val="111B30"/>
                          </a:solidFill>
                          <a:latin typeface="Calibri"/>
                        </a:rPr>
                        <a:t>CIS 1.2.1</a:t>
                      </a:r>
                    </a:p>
                  </a:txBody>
                  <a:tcPr anchor="ctr" marL="76200" marR="76200" marT="38100" marB="38100">
                    <a:solidFill>
                      <a:srgbClr val="E8EEF7"/>
                    </a:solidFill>
                  </a:tcPr>
                </a:tc>
              </a:tr>
              <a:tr h="457200">
                <a:tc>
                  <a:txBody>
                    <a:bodyPr/>
                    <a:lstStyle/>
                    <a:p>
                      <a:pPr algn="l"/>
                      <a:r>
                        <a:rPr sz="1200" b="0" i="0">
                          <a:solidFill>
                            <a:srgbClr val="111B30"/>
                          </a:solidFill>
                          <a:latin typeface="Calibri"/>
                        </a:rPr>
                        <a:t>Reset lockout counter after</a:t>
                      </a:r>
                    </a:p>
                  </a:txBody>
                  <a:tcPr anchor="ctr" marL="76200" marR="76200" marT="38100" marB="38100">
                    <a:solidFill>
                      <a:srgbClr val="FFFFFF"/>
                    </a:solidFill>
                  </a:tcPr>
                </a:tc>
                <a:tc>
                  <a:txBody>
                    <a:bodyPr/>
                    <a:lstStyle/>
                    <a:p>
                      <a:pPr algn="l"/>
                      <a:r>
                        <a:rPr sz="1200" b="0" i="0">
                          <a:solidFill>
                            <a:srgbClr val="111B30"/>
                          </a:solidFill>
                          <a:latin typeface="Calibri"/>
                        </a:rPr>
                        <a:t>15 minutes</a:t>
                      </a:r>
                    </a:p>
                  </a:txBody>
                  <a:tcPr anchor="ctr" marL="76200" marR="76200" marT="38100" marB="38100">
                    <a:solidFill>
                      <a:srgbClr val="FFFFFF"/>
                    </a:solidFill>
                  </a:tcPr>
                </a:tc>
                <a:tc>
                  <a:txBody>
                    <a:bodyPr/>
                    <a:lstStyle/>
                    <a:p>
                      <a:pPr algn="l"/>
                      <a:r>
                        <a:rPr sz="1200" b="0" i="0">
                          <a:solidFill>
                            <a:srgbClr val="111B30"/>
                          </a:solidFill>
                          <a:latin typeface="Calibri"/>
                        </a:rPr>
                        <a:t>CIS 1.2.4</a:t>
                      </a:r>
                    </a:p>
                  </a:txBody>
                  <a:tcPr anchor="ctr" marL="76200" marR="76200" marT="38100" marB="38100">
                    <a:solidFill>
                      <a:srgbClr val="FFFFFF"/>
                    </a:solidFill>
                  </a:tcPr>
                </a:tc>
              </a:tr>
              <a:tr h="457200">
                <a:tc>
                  <a:txBody>
                    <a:bodyPr/>
                    <a:lstStyle/>
                    <a:p>
                      <a:pPr algn="l"/>
                      <a:r>
                        <a:rPr sz="1200" b="0" i="0">
                          <a:solidFill>
                            <a:srgbClr val="111B30"/>
                          </a:solidFill>
                          <a:latin typeface="Calibri"/>
                        </a:rPr>
                        <a:t>Don't display last signed-in</a:t>
                      </a:r>
                    </a:p>
                  </a:txBody>
                  <a:tcPr anchor="ctr" marL="76200" marR="76200" marT="38100" marB="38100">
                    <a:solidFill>
                      <a:srgbClr val="E8EEF7"/>
                    </a:solidFill>
                  </a:tcPr>
                </a:tc>
                <a:tc>
                  <a:txBody>
                    <a:bodyPr/>
                    <a:lstStyle/>
                    <a:p>
                      <a:pPr algn="l"/>
                      <a:r>
                        <a:rPr sz="1200" b="0" i="0">
                          <a:solidFill>
                            <a:srgbClr val="111B30"/>
                          </a:solidFill>
                          <a:latin typeface="Calibri"/>
                        </a:rPr>
                        <a:t>Enabled</a:t>
                      </a:r>
                    </a:p>
                  </a:txBody>
                  <a:tcPr anchor="ctr" marL="76200" marR="76200" marT="38100" marB="38100">
                    <a:solidFill>
                      <a:srgbClr val="E8EEF7"/>
                    </a:solidFill>
                  </a:tcPr>
                </a:tc>
                <a:tc>
                  <a:txBody>
                    <a:bodyPr/>
                    <a:lstStyle/>
                    <a:p>
                      <a:pPr algn="l"/>
                      <a:r>
                        <a:rPr sz="1200" b="0" i="0">
                          <a:solidFill>
                            <a:srgbClr val="111B30"/>
                          </a:solidFill>
                          <a:latin typeface="Calibri"/>
                        </a:rPr>
                        <a:t>CIS 2.3.7.2</a:t>
                      </a:r>
                    </a:p>
                  </a:txBody>
                  <a:tcPr anchor="ctr" marL="76200" marR="76200" marT="38100" marB="38100">
                    <a:solidFill>
                      <a:srgbClr val="E8EEF7"/>
                    </a:solidFill>
                  </a:tcPr>
                </a:tc>
              </a:tr>
            </a:tbl>
          </a:graphicData>
        </a:graphic>
      </p:graphicFrame>
      <p:sp>
        <p:nvSpPr>
          <p:cNvPr id="5" name="TextBox 4"/>
          <p:cNvSpPr txBox="1"/>
          <p:nvPr/>
        </p:nvSpPr>
        <p:spPr>
          <a:xfrm>
            <a:off x="640080" y="5989320"/>
            <a:ext cx="10911535" cy="365760"/>
          </a:xfrm>
          <a:prstGeom prst="rect">
            <a:avLst/>
          </a:prstGeom>
          <a:noFill/>
        </p:spPr>
        <p:txBody>
          <a:bodyPr wrap="square" lIns="0" tIns="0">
            <a:spAutoFit/>
          </a:bodyPr>
          <a:lstStyle/>
          <a:p>
            <a:r>
              <a:rPr sz="1050" b="0" i="1">
                <a:solidFill>
                  <a:srgbClr val="6B7480"/>
                </a:solidFill>
                <a:latin typeface="Calibri"/>
              </a:rPr>
              <a:t>CIS references are to the CIS Microsoft Windows Server 2022 Benchmark v3.0.0 specifically - item numbers can shift between benchmark releases.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5486400" cy="274320"/>
          </a:xfrm>
          <a:prstGeom prst="rect">
            <a:avLst/>
          </a:prstGeom>
          <a:noFill/>
        </p:spPr>
        <p:txBody>
          <a:bodyPr wrap="none">
            <a:spAutoFit/>
          </a:bodyPr>
          <a:lstStyle/>
          <a:p>
            <a:r>
              <a:rPr sz="1200" b="1" i="0">
                <a:solidFill>
                  <a:srgbClr val="00B4D8"/>
                </a:solidFill>
                <a:latin typeface="Cambria"/>
              </a:rPr>
              <a:t>LIVE DEMO</a:t>
            </a:r>
          </a:p>
        </p:txBody>
      </p:sp>
      <p:sp>
        <p:nvSpPr>
          <p:cNvPr id="3" name="TextBox 2"/>
          <p:cNvSpPr txBox="1"/>
          <p:nvPr/>
        </p:nvSpPr>
        <p:spPr>
          <a:xfrm>
            <a:off x="640080" y="621792"/>
            <a:ext cx="10911535" cy="777240"/>
          </a:xfrm>
          <a:prstGeom prst="rect">
            <a:avLst/>
          </a:prstGeom>
          <a:noFill/>
        </p:spPr>
        <p:txBody>
          <a:bodyPr wrap="square" lIns="0" tIns="0">
            <a:spAutoFit/>
          </a:bodyPr>
          <a:lstStyle/>
          <a:p>
            <a:pPr algn="l"/>
            <a:r>
              <a:rPr sz="2600" b="1" i="0">
                <a:solidFill>
                  <a:srgbClr val="1B2A4A"/>
                </a:solidFill>
                <a:latin typeface="Cambria"/>
              </a:rPr>
              <a:t>Live Demo: Creating Group Policy Objects</a:t>
            </a:r>
          </a:p>
        </p:txBody>
      </p:sp>
      <p:sp>
        <p:nvSpPr>
          <p:cNvPr id="4" name="TextBox 3"/>
          <p:cNvSpPr txBox="1"/>
          <p:nvPr/>
        </p:nvSpPr>
        <p:spPr>
          <a:xfrm>
            <a:off x="685800" y="1600200"/>
            <a:ext cx="10820095" cy="4846320"/>
          </a:xfrm>
          <a:prstGeom prst="rect">
            <a:avLst/>
          </a:prstGeom>
          <a:noFill/>
        </p:spPr>
        <p:txBody>
          <a:bodyPr wrap="square" lIns="0" tIns="0">
            <a:spAutoFit/>
          </a:bodyPr>
          <a:lstStyle/>
          <a:p>
            <a:pPr algn="l">
              <a:spcAft>
                <a:spcPts val="1000"/>
              </a:spcAft>
            </a:pPr>
            <a:r>
              <a:rPr sz="1400" b="0" i="0">
                <a:solidFill>
                  <a:srgbClr val="111B30"/>
                </a:solidFill>
                <a:latin typeface="Courier New"/>
              </a:rPr>
              <a:t>$gpo = New-GPO -Name "Security-Baseline" -Comment "CIS-aligned password and lockout baseline"</a:t>
            </a:r>
          </a:p>
          <a:p>
            <a:pPr algn="l">
              <a:spcAft>
                <a:spcPts val="1000"/>
              </a:spcAft>
            </a:pPr>
            <a:r>
              <a:rPr sz="1400" b="0" i="0">
                <a:solidFill>
                  <a:srgbClr val="111B30"/>
                </a:solidFill>
                <a:latin typeface="Courier New"/>
              </a:rPr>
              <a:t>New-GPLink -Name "Security-Baseline" -Target $domain</a:t>
            </a:r>
          </a:p>
          <a:p>
            <a:pPr algn="l">
              <a:spcAft>
                <a:spcPts val="1000"/>
              </a:spcAft>
            </a:pPr>
            <a:r>
              <a:rPr sz="1300" b="0" i="1">
                <a:solidFill>
                  <a:srgbClr val="3D5A80"/>
                </a:solidFill>
                <a:latin typeface="Calibri"/>
              </a:rPr>
              <a:t>most individual settings inside the GPO are still edited via GPMC (GUI), not one-liners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Building the Audit Policy GPO</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Advanced Audit Policy (not legacy), linked at the domain root</a:t>
            </a:r>
          </a:p>
        </p:txBody>
      </p:sp>
      <p:graphicFrame>
        <p:nvGraphicFramePr>
          <p:cNvPr id="4" name="Table 3"/>
          <p:cNvGraphicFramePr>
            <a:graphicFrameLocks noGrp="1"/>
          </p:cNvGraphicFramePr>
          <p:nvPr/>
        </p:nvGraphicFramePr>
        <p:xfrm>
          <a:off x="640080" y="1828800"/>
          <a:ext cx="10362895" cy="4114800"/>
        </p:xfrm>
        <a:graphic>
          <a:graphicData uri="http://schemas.openxmlformats.org/drawingml/2006/table">
            <a:tbl>
              <a:tblPr firstRow="1" bandRow="1">
                <a:tableStyleId>{5C22544A-7EE6-4342-B048-85BDC9FD1C3A}</a:tableStyleId>
              </a:tblPr>
              <a:tblGrid>
                <a:gridCol w="3200400"/>
                <a:gridCol w="4389120"/>
                <a:gridCol w="2773375"/>
              </a:tblGrid>
              <a:tr h="457200">
                <a:tc>
                  <a:txBody>
                    <a:bodyPr/>
                    <a:lstStyle/>
                    <a:p>
                      <a:pPr algn="l"/>
                      <a:r>
                        <a:rPr sz="1250" b="1" i="0">
                          <a:solidFill>
                            <a:srgbClr val="FFFFFF"/>
                          </a:solidFill>
                          <a:latin typeface="Calibri"/>
                        </a:rPr>
                        <a:t>Category</a:t>
                      </a:r>
                    </a:p>
                  </a:txBody>
                  <a:tcPr anchor="ctr" marL="76200" marR="76200" marT="38100" marB="38100">
                    <a:solidFill>
                      <a:srgbClr val="1B2A4A"/>
                    </a:solidFill>
                  </a:tcPr>
                </a:tc>
                <a:tc>
                  <a:txBody>
                    <a:bodyPr/>
                    <a:lstStyle/>
                    <a:p>
                      <a:pPr algn="l"/>
                      <a:r>
                        <a:rPr sz="1250" b="1" i="0">
                          <a:solidFill>
                            <a:srgbClr val="FFFFFF"/>
                          </a:solidFill>
                          <a:latin typeface="Calibri"/>
                        </a:rPr>
                        <a:t>Subcategory</a:t>
                      </a:r>
                    </a:p>
                  </a:txBody>
                  <a:tcPr anchor="ctr" marL="76200" marR="76200" marT="38100" marB="38100">
                    <a:solidFill>
                      <a:srgbClr val="1B2A4A"/>
                    </a:solidFill>
                  </a:tcPr>
                </a:tc>
                <a:tc>
                  <a:txBody>
                    <a:bodyPr/>
                    <a:lstStyle/>
                    <a:p>
                      <a:pPr algn="l"/>
                      <a:r>
                        <a:rPr sz="1250" b="1" i="0">
                          <a:solidFill>
                            <a:srgbClr val="FFFFFF"/>
                          </a:solidFill>
                          <a:latin typeface="Calibri"/>
                        </a:rPr>
                        <a:t>Setting</a:t>
                      </a:r>
                    </a:p>
                  </a:txBody>
                  <a:tcPr anchor="ctr" marL="76200" marR="76200" marT="38100" marB="38100">
                    <a:solidFill>
                      <a:srgbClr val="1B2A4A"/>
                    </a:solidFill>
                  </a:tcPr>
                </a:tc>
              </a:tr>
              <a:tr h="457200">
                <a:tc>
                  <a:txBody>
                    <a:bodyPr/>
                    <a:lstStyle/>
                    <a:p>
                      <a:pPr algn="l"/>
                      <a:r>
                        <a:rPr sz="1200" b="0" i="0">
                          <a:solidFill>
                            <a:srgbClr val="111B30"/>
                          </a:solidFill>
                          <a:latin typeface="Calibri"/>
                        </a:rPr>
                        <a:t>Account Logon</a:t>
                      </a:r>
                    </a:p>
                  </a:txBody>
                  <a:tcPr anchor="ctr" marL="76200" marR="76200" marT="38100" marB="38100">
                    <a:solidFill>
                      <a:srgbClr val="FFFFFF"/>
                    </a:solidFill>
                  </a:tcPr>
                </a:tc>
                <a:tc>
                  <a:txBody>
                    <a:bodyPr/>
                    <a:lstStyle/>
                    <a:p>
                      <a:pPr algn="l"/>
                      <a:r>
                        <a:rPr sz="1200" b="0" i="0">
                          <a:solidFill>
                            <a:srgbClr val="111B30"/>
                          </a:solidFill>
                          <a:latin typeface="Calibri"/>
                        </a:rPr>
                        <a:t>Credential Validation</a:t>
                      </a:r>
                    </a:p>
                  </a:txBody>
                  <a:tcPr anchor="ctr" marL="76200" marR="76200" marT="38100" marB="38100">
                    <a:solidFill>
                      <a:srgbClr val="FFFFFF"/>
                    </a:solidFill>
                  </a:tcPr>
                </a:tc>
                <a:tc>
                  <a:txBody>
                    <a:bodyPr/>
                    <a:lstStyle/>
                    <a:p>
                      <a:pPr algn="l"/>
                      <a:r>
                        <a:rPr sz="1200" b="0" i="0">
                          <a:solidFill>
                            <a:srgbClr val="111B30"/>
                          </a:solidFill>
                          <a:latin typeface="Calibri"/>
                        </a:rPr>
                        <a:t>Success, Failure</a:t>
                      </a:r>
                    </a:p>
                  </a:txBody>
                  <a:tcPr anchor="ctr" marL="76200" marR="76200" marT="38100" marB="38100">
                    <a:solidFill>
                      <a:srgbClr val="FFFFFF"/>
                    </a:solidFill>
                  </a:tcPr>
                </a:tc>
              </a:tr>
              <a:tr h="457200">
                <a:tc>
                  <a:txBody>
                    <a:bodyPr/>
                    <a:lstStyle/>
                    <a:p>
                      <a:pPr algn="l"/>
                      <a:r>
                        <a:rPr sz="1200" b="0" i="0">
                          <a:solidFill>
                            <a:srgbClr val="111B30"/>
                          </a:solidFill>
                          <a:latin typeface="Calibri"/>
                        </a:rPr>
                        <a:t>Account Management</a:t>
                      </a:r>
                    </a:p>
                  </a:txBody>
                  <a:tcPr anchor="ctr" marL="76200" marR="76200" marT="38100" marB="38100">
                    <a:solidFill>
                      <a:srgbClr val="E8EEF7"/>
                    </a:solidFill>
                  </a:tcPr>
                </a:tc>
                <a:tc>
                  <a:txBody>
                    <a:bodyPr/>
                    <a:lstStyle/>
                    <a:p>
                      <a:pPr algn="l"/>
                      <a:r>
                        <a:rPr sz="1200" b="0" i="0">
                          <a:solidFill>
                            <a:srgbClr val="111B30"/>
                          </a:solidFill>
                          <a:latin typeface="Calibri"/>
                        </a:rPr>
                        <a:t>User Account Management</a:t>
                      </a:r>
                    </a:p>
                  </a:txBody>
                  <a:tcPr anchor="ctr" marL="76200" marR="76200" marT="38100" marB="38100">
                    <a:solidFill>
                      <a:srgbClr val="E8EEF7"/>
                    </a:solidFill>
                  </a:tcPr>
                </a:tc>
                <a:tc>
                  <a:txBody>
                    <a:bodyPr/>
                    <a:lstStyle/>
                    <a:p>
                      <a:pPr algn="l"/>
                      <a:r>
                        <a:rPr sz="1200" b="0" i="0">
                          <a:solidFill>
                            <a:srgbClr val="111B30"/>
                          </a:solidFill>
                          <a:latin typeface="Calibri"/>
                        </a:rPr>
                        <a:t>Success, Failure</a:t>
                      </a:r>
                    </a:p>
                  </a:txBody>
                  <a:tcPr anchor="ctr" marL="76200" marR="76200" marT="38100" marB="38100">
                    <a:solidFill>
                      <a:srgbClr val="E8EEF7"/>
                    </a:solidFill>
                  </a:tcPr>
                </a:tc>
              </a:tr>
              <a:tr h="457200">
                <a:tc>
                  <a:txBody>
                    <a:bodyPr/>
                    <a:lstStyle/>
                    <a:p>
                      <a:pPr algn="l"/>
                      <a:r>
                        <a:rPr sz="1200" b="0" i="0">
                          <a:solidFill>
                            <a:srgbClr val="111B30"/>
                          </a:solidFill>
                          <a:latin typeface="Calibri"/>
                        </a:rPr>
                        <a:t>Account Management</a:t>
                      </a:r>
                    </a:p>
                  </a:txBody>
                  <a:tcPr anchor="ctr" marL="76200" marR="76200" marT="38100" marB="38100">
                    <a:solidFill>
                      <a:srgbClr val="FFFFFF"/>
                    </a:solidFill>
                  </a:tcPr>
                </a:tc>
                <a:tc>
                  <a:txBody>
                    <a:bodyPr/>
                    <a:lstStyle/>
                    <a:p>
                      <a:pPr algn="l"/>
                      <a:r>
                        <a:rPr sz="1200" b="0" i="0">
                          <a:solidFill>
                            <a:srgbClr val="111B30"/>
                          </a:solidFill>
                          <a:latin typeface="Calibri"/>
                        </a:rPr>
                        <a:t>Security Group Management</a:t>
                      </a:r>
                    </a:p>
                  </a:txBody>
                  <a:tcPr anchor="ctr" marL="76200" marR="76200" marT="38100" marB="38100">
                    <a:solidFill>
                      <a:srgbClr val="FFFFFF"/>
                    </a:solidFill>
                  </a:tcPr>
                </a:tc>
                <a:tc>
                  <a:txBody>
                    <a:bodyPr/>
                    <a:lstStyle/>
                    <a:p>
                      <a:pPr algn="l"/>
                      <a:r>
                        <a:rPr sz="1200" b="0" i="0">
                          <a:solidFill>
                            <a:srgbClr val="111B30"/>
                          </a:solidFill>
                          <a:latin typeface="Calibri"/>
                        </a:rPr>
                        <a:t>Success</a:t>
                      </a:r>
                    </a:p>
                  </a:txBody>
                  <a:tcPr anchor="ctr" marL="76200" marR="76200" marT="38100" marB="38100">
                    <a:solidFill>
                      <a:srgbClr val="FFFFFF"/>
                    </a:solidFill>
                  </a:tcPr>
                </a:tc>
              </a:tr>
              <a:tr h="457200">
                <a:tc>
                  <a:txBody>
                    <a:bodyPr/>
                    <a:lstStyle/>
                    <a:p>
                      <a:pPr algn="l"/>
                      <a:r>
                        <a:rPr sz="1200" b="0" i="0">
                          <a:solidFill>
                            <a:srgbClr val="111B30"/>
                          </a:solidFill>
                          <a:latin typeface="Calibri"/>
                        </a:rPr>
                        <a:t>Logon/Logoff</a:t>
                      </a:r>
                    </a:p>
                  </a:txBody>
                  <a:tcPr anchor="ctr" marL="76200" marR="76200" marT="38100" marB="38100">
                    <a:solidFill>
                      <a:srgbClr val="E8EEF7"/>
                    </a:solidFill>
                  </a:tcPr>
                </a:tc>
                <a:tc>
                  <a:txBody>
                    <a:bodyPr/>
                    <a:lstStyle/>
                    <a:p>
                      <a:pPr algn="l"/>
                      <a:r>
                        <a:rPr sz="1200" b="0" i="0">
                          <a:solidFill>
                            <a:srgbClr val="111B30"/>
                          </a:solidFill>
                          <a:latin typeface="Calibri"/>
                        </a:rPr>
                        <a:t>Logon</a:t>
                      </a:r>
                    </a:p>
                  </a:txBody>
                  <a:tcPr anchor="ctr" marL="76200" marR="76200" marT="38100" marB="38100">
                    <a:solidFill>
                      <a:srgbClr val="E8EEF7"/>
                    </a:solidFill>
                  </a:tcPr>
                </a:tc>
                <a:tc>
                  <a:txBody>
                    <a:bodyPr/>
                    <a:lstStyle/>
                    <a:p>
                      <a:pPr algn="l"/>
                      <a:r>
                        <a:rPr sz="1200" b="0" i="0">
                          <a:solidFill>
                            <a:srgbClr val="111B30"/>
                          </a:solidFill>
                          <a:latin typeface="Calibri"/>
                        </a:rPr>
                        <a:t>Success, Failure</a:t>
                      </a:r>
                    </a:p>
                  </a:txBody>
                  <a:tcPr anchor="ctr" marL="76200" marR="76200" marT="38100" marB="38100">
                    <a:solidFill>
                      <a:srgbClr val="E8EEF7"/>
                    </a:solidFill>
                  </a:tcPr>
                </a:tc>
              </a:tr>
              <a:tr h="457200">
                <a:tc>
                  <a:txBody>
                    <a:bodyPr/>
                    <a:lstStyle/>
                    <a:p>
                      <a:pPr algn="l"/>
                      <a:r>
                        <a:rPr sz="1200" b="0" i="0">
                          <a:solidFill>
                            <a:srgbClr val="111B30"/>
                          </a:solidFill>
                          <a:latin typeface="Calibri"/>
                        </a:rPr>
                        <a:t>Logon/Logoff</a:t>
                      </a:r>
                    </a:p>
                  </a:txBody>
                  <a:tcPr anchor="ctr" marL="76200" marR="76200" marT="38100" marB="38100">
                    <a:solidFill>
                      <a:srgbClr val="FFFFFF"/>
                    </a:solidFill>
                  </a:tcPr>
                </a:tc>
                <a:tc>
                  <a:txBody>
                    <a:bodyPr/>
                    <a:lstStyle/>
                    <a:p>
                      <a:pPr algn="l"/>
                      <a:r>
                        <a:rPr sz="1200" b="0" i="0">
                          <a:solidFill>
                            <a:srgbClr val="111B30"/>
                          </a:solidFill>
                          <a:latin typeface="Calibri"/>
                        </a:rPr>
                        <a:t>Account Lockout</a:t>
                      </a:r>
                    </a:p>
                  </a:txBody>
                  <a:tcPr anchor="ctr" marL="76200" marR="76200" marT="38100" marB="38100">
                    <a:solidFill>
                      <a:srgbClr val="FFFFFF"/>
                    </a:solidFill>
                  </a:tcPr>
                </a:tc>
                <a:tc>
                  <a:txBody>
                    <a:bodyPr/>
                    <a:lstStyle/>
                    <a:p>
                      <a:pPr algn="l"/>
                      <a:r>
                        <a:rPr sz="1200" b="0" i="0">
                          <a:solidFill>
                            <a:srgbClr val="111B30"/>
                          </a:solidFill>
                          <a:latin typeface="Calibri"/>
                        </a:rPr>
                        <a:t>Failure</a:t>
                      </a:r>
                    </a:p>
                  </a:txBody>
                  <a:tcPr anchor="ctr" marL="76200" marR="76200" marT="38100" marB="38100">
                    <a:solidFill>
                      <a:srgbClr val="FFFFFF"/>
                    </a:solidFill>
                  </a:tcPr>
                </a:tc>
              </a:tr>
              <a:tr h="457200">
                <a:tc>
                  <a:txBody>
                    <a:bodyPr/>
                    <a:lstStyle/>
                    <a:p>
                      <a:pPr algn="l"/>
                      <a:r>
                        <a:rPr sz="1200" b="0" i="0">
                          <a:solidFill>
                            <a:srgbClr val="111B30"/>
                          </a:solidFill>
                          <a:latin typeface="Calibri"/>
                        </a:rPr>
                        <a:t>Object Access</a:t>
                      </a:r>
                    </a:p>
                  </a:txBody>
                  <a:tcPr anchor="ctr" marL="76200" marR="76200" marT="38100" marB="38100">
                    <a:solidFill>
                      <a:srgbClr val="E8EEF7"/>
                    </a:solidFill>
                  </a:tcPr>
                </a:tc>
                <a:tc>
                  <a:txBody>
                    <a:bodyPr/>
                    <a:lstStyle/>
                    <a:p>
                      <a:pPr algn="l"/>
                      <a:r>
                        <a:rPr sz="1200" b="0" i="0">
                          <a:solidFill>
                            <a:srgbClr val="111B30"/>
                          </a:solidFill>
                          <a:latin typeface="Calibri"/>
                        </a:rPr>
                        <a:t>File System</a:t>
                      </a:r>
                    </a:p>
                  </a:txBody>
                  <a:tcPr anchor="ctr" marL="76200" marR="76200" marT="38100" marB="38100">
                    <a:solidFill>
                      <a:srgbClr val="E8EEF7"/>
                    </a:solidFill>
                  </a:tcPr>
                </a:tc>
                <a:tc>
                  <a:txBody>
                    <a:bodyPr/>
                    <a:lstStyle/>
                    <a:p>
                      <a:pPr algn="l"/>
                      <a:r>
                        <a:rPr sz="1200" b="0" i="0">
                          <a:solidFill>
                            <a:srgbClr val="111B30"/>
                          </a:solidFill>
                          <a:latin typeface="Calibri"/>
                        </a:rPr>
                        <a:t>Success, Failure</a:t>
                      </a:r>
                    </a:p>
                  </a:txBody>
                  <a:tcPr anchor="ctr" marL="76200" marR="76200" marT="38100" marB="38100">
                    <a:solidFill>
                      <a:srgbClr val="E8EEF7"/>
                    </a:solidFill>
                  </a:tcPr>
                </a:tc>
              </a:tr>
              <a:tr h="457200">
                <a:tc>
                  <a:txBody>
                    <a:bodyPr/>
                    <a:lstStyle/>
                    <a:p>
                      <a:pPr algn="l"/>
                      <a:r>
                        <a:rPr sz="1200" b="0" i="0">
                          <a:solidFill>
                            <a:srgbClr val="111B30"/>
                          </a:solidFill>
                          <a:latin typeface="Calibri"/>
                        </a:rPr>
                        <a:t>Privilege Use</a:t>
                      </a:r>
                    </a:p>
                  </a:txBody>
                  <a:tcPr anchor="ctr" marL="76200" marR="76200" marT="38100" marB="38100">
                    <a:solidFill>
                      <a:srgbClr val="FFFFFF"/>
                    </a:solidFill>
                  </a:tcPr>
                </a:tc>
                <a:tc>
                  <a:txBody>
                    <a:bodyPr/>
                    <a:lstStyle/>
                    <a:p>
                      <a:pPr algn="l"/>
                      <a:r>
                        <a:rPr sz="1200" b="0" i="0">
                          <a:solidFill>
                            <a:srgbClr val="111B30"/>
                          </a:solidFill>
                          <a:latin typeface="Calibri"/>
                        </a:rPr>
                        <a:t>Sensitive Privilege Use</a:t>
                      </a:r>
                    </a:p>
                  </a:txBody>
                  <a:tcPr anchor="ctr" marL="76200" marR="76200" marT="38100" marB="38100">
                    <a:solidFill>
                      <a:srgbClr val="FFFFFF"/>
                    </a:solidFill>
                  </a:tcPr>
                </a:tc>
                <a:tc>
                  <a:txBody>
                    <a:bodyPr/>
                    <a:lstStyle/>
                    <a:p>
                      <a:pPr algn="l"/>
                      <a:r>
                        <a:rPr sz="1200" b="0" i="0">
                          <a:solidFill>
                            <a:srgbClr val="111B30"/>
                          </a:solidFill>
                          <a:latin typeface="Calibri"/>
                        </a:rPr>
                        <a:t>Success, Failure</a:t>
                      </a:r>
                    </a:p>
                  </a:txBody>
                  <a:tcPr anchor="ctr" marL="76200" marR="76200" marT="38100" marB="38100">
                    <a:solidFill>
                      <a:srgbClr val="FFFFFF"/>
                    </a:solidFill>
                  </a:tcPr>
                </a:tc>
              </a:tr>
              <a:tr h="457200">
                <a:tc>
                  <a:txBody>
                    <a:bodyPr/>
                    <a:lstStyle/>
                    <a:p>
                      <a:pPr algn="l"/>
                      <a:r>
                        <a:rPr sz="1200" b="0" i="0">
                          <a:solidFill>
                            <a:srgbClr val="111B30"/>
                          </a:solidFill>
                          <a:latin typeface="Calibri"/>
                        </a:rPr>
                        <a:t>Policy Change</a:t>
                      </a:r>
                    </a:p>
                  </a:txBody>
                  <a:tcPr anchor="ctr" marL="76200" marR="76200" marT="38100" marB="38100">
                    <a:solidFill>
                      <a:srgbClr val="E8EEF7"/>
                    </a:solidFill>
                  </a:tcPr>
                </a:tc>
                <a:tc>
                  <a:txBody>
                    <a:bodyPr/>
                    <a:lstStyle/>
                    <a:p>
                      <a:pPr algn="l"/>
                      <a:r>
                        <a:rPr sz="1200" b="0" i="0">
                          <a:solidFill>
                            <a:srgbClr val="111B30"/>
                          </a:solidFill>
                          <a:latin typeface="Calibri"/>
                        </a:rPr>
                        <a:t>Audit Policy Change</a:t>
                      </a:r>
                    </a:p>
                  </a:txBody>
                  <a:tcPr anchor="ctr" marL="76200" marR="76200" marT="38100" marB="38100">
                    <a:solidFill>
                      <a:srgbClr val="E8EEF7"/>
                    </a:solidFill>
                  </a:tcPr>
                </a:tc>
                <a:tc>
                  <a:txBody>
                    <a:bodyPr/>
                    <a:lstStyle/>
                    <a:p>
                      <a:pPr algn="l"/>
                      <a:r>
                        <a:rPr sz="1200" b="0" i="0">
                          <a:solidFill>
                            <a:srgbClr val="111B30"/>
                          </a:solidFill>
                          <a:latin typeface="Calibri"/>
                        </a:rPr>
                        <a:t>Success</a:t>
                      </a:r>
                    </a:p>
                  </a:txBody>
                  <a:tcPr anchor="ctr" marL="76200" marR="76200" marT="38100" marB="38100">
                    <a:solidFill>
                      <a:srgbClr val="E8EEF7"/>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Fine-Grained Password Policy (PSO): Precedence</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GPO can only set ONE password policy per domain (Default Domain Policy) - PSOs solve “stricter rules for just my admins.”</a:t>
            </a:r>
          </a:p>
        </p:txBody>
      </p:sp>
      <p:sp>
        <p:nvSpPr>
          <p:cNvPr id="4" name="Rounded Rectangle 3"/>
          <p:cNvSpPr/>
          <p:nvPr/>
        </p:nvSpPr>
        <p:spPr>
          <a:xfrm>
            <a:off x="914400" y="2103120"/>
            <a:ext cx="3383280" cy="91440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Default Domain Policy</a:t>
            </a:r>
          </a:p>
          <a:p>
            <a:pPr algn="ctr"/>
            <a:r>
              <a:rPr sz="1050" b="0" i="0">
                <a:solidFill>
                  <a:srgbClr val="111B30"/>
                </a:solidFill>
                <a:latin typeface="Calibri"/>
              </a:rPr>
              <a:t>(baseline, applies to all)</a:t>
            </a:r>
          </a:p>
        </p:txBody>
      </p:sp>
      <p:sp>
        <p:nvSpPr>
          <p:cNvPr id="5" name="Rounded Rectangle 4"/>
          <p:cNvSpPr/>
          <p:nvPr/>
        </p:nvSpPr>
        <p:spPr>
          <a:xfrm>
            <a:off x="914400" y="3246120"/>
            <a:ext cx="3383280" cy="91440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PSO-AdminAccts</a:t>
            </a:r>
          </a:p>
          <a:p>
            <a:pPr algn="ctr"/>
            <a:r>
              <a:rPr sz="1050" b="1" i="0">
                <a:solidFill>
                  <a:srgbClr val="111B30"/>
                </a:solidFill>
                <a:latin typeface="Calibri"/>
              </a:rPr>
              <a:t>(Precedence 10, applies to enovak-adm)</a:t>
            </a:r>
          </a:p>
        </p:txBody>
      </p:sp>
      <p:sp>
        <p:nvSpPr>
          <p:cNvPr id="6" name="Diamond 5"/>
          <p:cNvSpPr/>
          <p:nvPr/>
        </p:nvSpPr>
        <p:spPr>
          <a:xfrm>
            <a:off x="4846320" y="2377440"/>
            <a:ext cx="2651760" cy="1463040"/>
          </a:xfrm>
          <a:prstGeom prst="diamond">
            <a:avLst/>
          </a:prstGeom>
          <a:solidFill>
            <a:srgbClr val="FFFFFF"/>
          </a:solidFill>
          <a:ln w="15875">
            <a:solidFill>
              <a:srgbClr val="3D5A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0" i="0">
                <a:solidFill>
                  <a:srgbClr val="111B30"/>
                </a:solidFill>
                <a:latin typeface="Calibri"/>
              </a:rPr>
              <a:t>Get-ADUserResultant-</a:t>
            </a:r>
          </a:p>
          <a:p>
            <a:pPr algn="ctr"/>
            <a:r>
              <a:rPr sz="950" b="0" i="0">
                <a:solidFill>
                  <a:srgbClr val="111B30"/>
                </a:solidFill>
                <a:latin typeface="Calibri"/>
              </a:rPr>
              <a:t>PasswordPolicy</a:t>
            </a:r>
          </a:p>
        </p:txBody>
      </p:sp>
      <p:sp>
        <p:nvSpPr>
          <p:cNvPr id="7" name="Rounded Rectangle 6"/>
          <p:cNvSpPr/>
          <p:nvPr/>
        </p:nvSpPr>
        <p:spPr>
          <a:xfrm>
            <a:off x="8138160" y="2651760"/>
            <a:ext cx="3108960" cy="91440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Resultant policy =</a:t>
            </a:r>
          </a:p>
          <a:p>
            <a:pPr algn="ctr"/>
            <a:r>
              <a:rPr sz="1050" b="1" i="0">
                <a:solidFill>
                  <a:srgbClr val="111B30"/>
                </a:solidFill>
                <a:latin typeface="Calibri"/>
              </a:rPr>
              <a:t>LOWEST Precedence number wins</a:t>
            </a:r>
          </a:p>
        </p:txBody>
      </p:sp>
      <p:cxnSp>
        <p:nvCxnSpPr>
          <p:cNvPr id="8" name="Connector 7"/>
          <p:cNvCxnSpPr/>
          <p:nvPr/>
        </p:nvCxnSpPr>
        <p:spPr>
          <a:xfrm>
            <a:off x="4297680" y="2560320"/>
            <a:ext cx="548640" cy="54864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4297680" y="3108960"/>
            <a:ext cx="548640" cy="59436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498079" y="3108960"/>
            <a:ext cx="640081"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017520" y="4754880"/>
            <a:ext cx="6035040" cy="82296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B02A2A"/>
                </a:solidFill>
                <a:latin typeface="Calibri"/>
              </a:rPr>
              <a:t>Precedence 10 beats Precedence 50 — LOWER number = HIGHER priority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Fine-Grained Password Policy (PSO) Settings</a:t>
            </a:r>
          </a:p>
        </p:txBody>
      </p:sp>
      <p:graphicFrame>
        <p:nvGraphicFramePr>
          <p:cNvPr id="3" name="Table 2"/>
          <p:cNvGraphicFramePr>
            <a:graphicFrameLocks noGrp="1"/>
          </p:cNvGraphicFramePr>
          <p:nvPr/>
        </p:nvGraphicFramePr>
        <p:xfrm>
          <a:off x="640080" y="1554480"/>
          <a:ext cx="10820095" cy="5029200"/>
        </p:xfrm>
        <a:graphic>
          <a:graphicData uri="http://schemas.openxmlformats.org/drawingml/2006/table">
            <a:tbl>
              <a:tblPr firstRow="1" bandRow="1">
                <a:tableStyleId>{5C22544A-7EE6-4342-B048-85BDC9FD1C3A}</a:tableStyleId>
              </a:tblPr>
              <a:tblGrid>
                <a:gridCol w="5029200"/>
                <a:gridCol w="5790895"/>
              </a:tblGrid>
              <a:tr h="457200">
                <a:tc>
                  <a:txBody>
                    <a:bodyPr/>
                    <a:lstStyle/>
                    <a:p>
                      <a:pPr algn="l"/>
                      <a:r>
                        <a:rPr sz="1250" b="1" i="0">
                          <a:solidFill>
                            <a:srgbClr val="FFFFFF"/>
                          </a:solidFill>
                          <a:latin typeface="Calibri"/>
                        </a:rPr>
                        <a:t>Setting</a:t>
                      </a:r>
                    </a:p>
                  </a:txBody>
                  <a:tcPr anchor="ctr" marL="76200" marR="76200" marT="38100" marB="38100">
                    <a:solidFill>
                      <a:srgbClr val="1B2A4A"/>
                    </a:solidFill>
                  </a:tcPr>
                </a:tc>
                <a:tc>
                  <a:txBody>
                    <a:bodyPr/>
                    <a:lstStyle/>
                    <a:p>
                      <a:pPr algn="l"/>
                      <a:r>
                        <a:rPr sz="1250" b="1" i="0">
                          <a:solidFill>
                            <a:srgbClr val="FFFFFF"/>
                          </a:solidFill>
                          <a:latin typeface="Calibri"/>
                        </a:rPr>
                        <a:t>Value</a:t>
                      </a:r>
                    </a:p>
                  </a:txBody>
                  <a:tcPr anchor="ctr" marL="76200" marR="76200" marT="38100" marB="38100">
                    <a:solidFill>
                      <a:srgbClr val="1B2A4A"/>
                    </a:solidFill>
                  </a:tcPr>
                </a:tc>
              </a:tr>
              <a:tr h="457200">
                <a:tc>
                  <a:txBody>
                    <a:bodyPr/>
                    <a:lstStyle/>
                    <a:p>
                      <a:pPr algn="l"/>
                      <a:r>
                        <a:rPr sz="1300" b="0" i="0">
                          <a:solidFill>
                            <a:srgbClr val="111B30"/>
                          </a:solidFill>
                          <a:latin typeface="Calibri"/>
                        </a:rPr>
                        <a:t>Precedence</a:t>
                      </a:r>
                    </a:p>
                  </a:txBody>
                  <a:tcPr anchor="ctr" marL="76200" marR="76200" marT="38100" marB="38100">
                    <a:solidFill>
                      <a:srgbClr val="FFFFFF"/>
                    </a:solidFill>
                  </a:tcPr>
                </a:tc>
                <a:tc>
                  <a:txBody>
                    <a:bodyPr/>
                    <a:lstStyle/>
                    <a:p>
                      <a:pPr algn="l"/>
                      <a:r>
                        <a:rPr sz="1300" b="0" i="0">
                          <a:solidFill>
                            <a:srgbClr val="111B30"/>
                          </a:solidFill>
                          <a:latin typeface="Calibri"/>
                        </a:rPr>
                        <a:t>10 (lower number = higher priority)</a:t>
                      </a:r>
                    </a:p>
                  </a:txBody>
                  <a:tcPr anchor="ctr" marL="76200" marR="76200" marT="38100" marB="38100">
                    <a:solidFill>
                      <a:srgbClr val="FFFFFF"/>
                    </a:solidFill>
                  </a:tcPr>
                </a:tc>
              </a:tr>
              <a:tr h="457200">
                <a:tc>
                  <a:txBody>
                    <a:bodyPr/>
                    <a:lstStyle/>
                    <a:p>
                      <a:pPr algn="l"/>
                      <a:r>
                        <a:rPr sz="1300" b="0" i="0">
                          <a:solidFill>
                            <a:srgbClr val="111B30"/>
                          </a:solidFill>
                          <a:latin typeface="Calibri"/>
                        </a:rPr>
                        <a:t>Min Password Length</a:t>
                      </a:r>
                    </a:p>
                  </a:txBody>
                  <a:tcPr anchor="ctr" marL="76200" marR="76200" marT="38100" marB="38100">
                    <a:solidFill>
                      <a:srgbClr val="E8EEF7"/>
                    </a:solidFill>
                  </a:tcPr>
                </a:tc>
                <a:tc>
                  <a:txBody>
                    <a:bodyPr/>
                    <a:lstStyle/>
                    <a:p>
                      <a:pPr algn="l"/>
                      <a:r>
                        <a:rPr sz="1300" b="0" i="0">
                          <a:solidFill>
                            <a:srgbClr val="111B30"/>
                          </a:solidFill>
                          <a:latin typeface="Calibri"/>
                        </a:rPr>
                        <a:t>20 characters</a:t>
                      </a:r>
                    </a:p>
                  </a:txBody>
                  <a:tcPr anchor="ctr" marL="76200" marR="76200" marT="38100" marB="38100">
                    <a:solidFill>
                      <a:srgbClr val="E8EEF7"/>
                    </a:solidFill>
                  </a:tcPr>
                </a:tc>
              </a:tr>
              <a:tr h="457200">
                <a:tc>
                  <a:txBody>
                    <a:bodyPr/>
                    <a:lstStyle/>
                    <a:p>
                      <a:pPr algn="l"/>
                      <a:r>
                        <a:rPr sz="1300" b="0" i="0">
                          <a:solidFill>
                            <a:srgbClr val="111B30"/>
                          </a:solidFill>
                          <a:latin typeface="Calibri"/>
                        </a:rPr>
                        <a:t>Complexity Enabled</a:t>
                      </a:r>
                    </a:p>
                  </a:txBody>
                  <a:tcPr anchor="ctr" marL="76200" marR="76200" marT="38100" marB="38100">
                    <a:solidFill>
                      <a:srgbClr val="FFFFFF"/>
                    </a:solidFill>
                  </a:tcPr>
                </a:tc>
                <a:tc>
                  <a:txBody>
                    <a:bodyPr/>
                    <a:lstStyle/>
                    <a:p>
                      <a:pPr algn="l"/>
                      <a:r>
                        <a:rPr sz="1300" b="0" i="0">
                          <a:solidFill>
                            <a:srgbClr val="111B30"/>
                          </a:solidFill>
                          <a:latin typeface="Calibri"/>
                        </a:rPr>
                        <a:t>True</a:t>
                      </a:r>
                    </a:p>
                  </a:txBody>
                  <a:tcPr anchor="ctr" marL="76200" marR="76200" marT="38100" marB="38100">
                    <a:solidFill>
                      <a:srgbClr val="FFFFFF"/>
                    </a:solidFill>
                  </a:tcPr>
                </a:tc>
              </a:tr>
              <a:tr h="457200">
                <a:tc>
                  <a:txBody>
                    <a:bodyPr/>
                    <a:lstStyle/>
                    <a:p>
                      <a:pPr algn="l"/>
                      <a:r>
                        <a:rPr sz="1300" b="0" i="0">
                          <a:solidFill>
                            <a:srgbClr val="111B30"/>
                          </a:solidFill>
                          <a:latin typeface="Calibri"/>
                        </a:rPr>
                        <a:t>Password History Count</a:t>
                      </a:r>
                    </a:p>
                  </a:txBody>
                  <a:tcPr anchor="ctr" marL="76200" marR="76200" marT="38100" marB="38100">
                    <a:solidFill>
                      <a:srgbClr val="E8EEF7"/>
                    </a:solidFill>
                  </a:tcPr>
                </a:tc>
                <a:tc>
                  <a:txBody>
                    <a:bodyPr/>
                    <a:lstStyle/>
                    <a:p>
                      <a:pPr algn="l"/>
                      <a:r>
                        <a:rPr sz="1300" b="0" i="0">
                          <a:solidFill>
                            <a:srgbClr val="111B30"/>
                          </a:solidFill>
                          <a:latin typeface="Calibri"/>
                        </a:rPr>
                        <a:t>24</a:t>
                      </a:r>
                    </a:p>
                  </a:txBody>
                  <a:tcPr anchor="ctr" marL="76200" marR="76200" marT="38100" marB="38100">
                    <a:solidFill>
                      <a:srgbClr val="E8EEF7"/>
                    </a:solidFill>
                  </a:tcPr>
                </a:tc>
              </a:tr>
              <a:tr h="457200">
                <a:tc>
                  <a:txBody>
                    <a:bodyPr/>
                    <a:lstStyle/>
                    <a:p>
                      <a:pPr algn="l"/>
                      <a:r>
                        <a:rPr sz="1300" b="0" i="0">
                          <a:solidFill>
                            <a:srgbClr val="111B30"/>
                          </a:solidFill>
                          <a:latin typeface="Calibri"/>
                        </a:rPr>
                        <a:t>Max Password Age</a:t>
                      </a:r>
                    </a:p>
                  </a:txBody>
                  <a:tcPr anchor="ctr" marL="76200" marR="76200" marT="38100" marB="38100">
                    <a:solidFill>
                      <a:srgbClr val="FFFFFF"/>
                    </a:solidFill>
                  </a:tcPr>
                </a:tc>
                <a:tc>
                  <a:txBody>
                    <a:bodyPr/>
                    <a:lstStyle/>
                    <a:p>
                      <a:pPr algn="l"/>
                      <a:r>
                        <a:rPr sz="1300" b="0" i="0">
                          <a:solidFill>
                            <a:srgbClr val="111B30"/>
                          </a:solidFill>
                          <a:latin typeface="Calibri"/>
                        </a:rPr>
                        <a:t>90 days</a:t>
                      </a:r>
                    </a:p>
                  </a:txBody>
                  <a:tcPr anchor="ctr" marL="76200" marR="76200" marT="38100" marB="38100">
                    <a:solidFill>
                      <a:srgbClr val="FFFFFF"/>
                    </a:solidFill>
                  </a:tcPr>
                </a:tc>
              </a:tr>
              <a:tr h="457200">
                <a:tc>
                  <a:txBody>
                    <a:bodyPr/>
                    <a:lstStyle/>
                    <a:p>
                      <a:pPr algn="l"/>
                      <a:r>
                        <a:rPr sz="1300" b="0" i="0">
                          <a:solidFill>
                            <a:srgbClr val="111B30"/>
                          </a:solidFill>
                          <a:latin typeface="Calibri"/>
                        </a:rPr>
                        <a:t>Min Password Age</a:t>
                      </a:r>
                    </a:p>
                  </a:txBody>
                  <a:tcPr anchor="ctr" marL="76200" marR="76200" marT="38100" marB="38100">
                    <a:solidFill>
                      <a:srgbClr val="E8EEF7"/>
                    </a:solidFill>
                  </a:tcPr>
                </a:tc>
                <a:tc>
                  <a:txBody>
                    <a:bodyPr/>
                    <a:lstStyle/>
                    <a:p>
                      <a:pPr algn="l"/>
                      <a:r>
                        <a:rPr sz="1300" b="0" i="0">
                          <a:solidFill>
                            <a:srgbClr val="111B30"/>
                          </a:solidFill>
                          <a:latin typeface="Calibri"/>
                        </a:rPr>
                        <a:t>1 day</a:t>
                      </a:r>
                    </a:p>
                  </a:txBody>
                  <a:tcPr anchor="ctr" marL="76200" marR="76200" marT="38100" marB="38100">
                    <a:solidFill>
                      <a:srgbClr val="E8EEF7"/>
                    </a:solidFill>
                  </a:tcPr>
                </a:tc>
              </a:tr>
              <a:tr h="457200">
                <a:tc>
                  <a:txBody>
                    <a:bodyPr/>
                    <a:lstStyle/>
                    <a:p>
                      <a:pPr algn="l"/>
                      <a:r>
                        <a:rPr sz="1300" b="0" i="0">
                          <a:solidFill>
                            <a:srgbClr val="111B30"/>
                          </a:solidFill>
                          <a:latin typeface="Calibri"/>
                        </a:rPr>
                        <a:t>Lockout Threshold</a:t>
                      </a:r>
                    </a:p>
                  </a:txBody>
                  <a:tcPr anchor="ctr" marL="76200" marR="76200" marT="38100" marB="38100">
                    <a:solidFill>
                      <a:srgbClr val="FFFFFF"/>
                    </a:solidFill>
                  </a:tcPr>
                </a:tc>
                <a:tc>
                  <a:txBody>
                    <a:bodyPr/>
                    <a:lstStyle/>
                    <a:p>
                      <a:pPr algn="l"/>
                      <a:r>
                        <a:rPr sz="1300" b="0" i="0">
                          <a:solidFill>
                            <a:srgbClr val="111B30"/>
                          </a:solidFill>
                          <a:latin typeface="Calibri"/>
                        </a:rPr>
                        <a:t>3 attempts</a:t>
                      </a:r>
                    </a:p>
                  </a:txBody>
                  <a:tcPr anchor="ctr" marL="76200" marR="76200" marT="38100" marB="38100">
                    <a:solidFill>
                      <a:srgbClr val="FFFFFF"/>
                    </a:solidFill>
                  </a:tcPr>
                </a:tc>
              </a:tr>
              <a:tr h="457200">
                <a:tc>
                  <a:txBody>
                    <a:bodyPr/>
                    <a:lstStyle/>
                    <a:p>
                      <a:pPr algn="l"/>
                      <a:r>
                        <a:rPr sz="1300" b="0" i="0">
                          <a:solidFill>
                            <a:srgbClr val="111B30"/>
                          </a:solidFill>
                          <a:latin typeface="Calibri"/>
                        </a:rPr>
                        <a:t>Lockout Duration</a:t>
                      </a:r>
                    </a:p>
                  </a:txBody>
                  <a:tcPr anchor="ctr" marL="76200" marR="76200" marT="38100" marB="38100">
                    <a:solidFill>
                      <a:srgbClr val="E8EEF7"/>
                    </a:solidFill>
                  </a:tcPr>
                </a:tc>
                <a:tc>
                  <a:txBody>
                    <a:bodyPr/>
                    <a:lstStyle/>
                    <a:p>
                      <a:pPr algn="l"/>
                      <a:r>
                        <a:rPr sz="1300" b="0" i="0">
                          <a:solidFill>
                            <a:srgbClr val="111B30"/>
                          </a:solidFill>
                          <a:latin typeface="Calibri"/>
                        </a:rPr>
                        <a:t>30 minutes</a:t>
                      </a:r>
                    </a:p>
                  </a:txBody>
                  <a:tcPr anchor="ctr" marL="76200" marR="76200" marT="38100" marB="38100">
                    <a:solidFill>
                      <a:srgbClr val="E8EEF7"/>
                    </a:solidFill>
                  </a:tcPr>
                </a:tc>
              </a:tr>
              <a:tr h="457200">
                <a:tc>
                  <a:txBody>
                    <a:bodyPr/>
                    <a:lstStyle/>
                    <a:p>
                      <a:pPr algn="l"/>
                      <a:r>
                        <a:rPr sz="1300" b="0" i="0">
                          <a:solidFill>
                            <a:srgbClr val="111B30"/>
                          </a:solidFill>
                          <a:latin typeface="Calibri"/>
                        </a:rPr>
                        <a:t>Lockout Observation Window</a:t>
                      </a:r>
                    </a:p>
                  </a:txBody>
                  <a:tcPr anchor="ctr" marL="76200" marR="76200" marT="38100" marB="38100">
                    <a:solidFill>
                      <a:srgbClr val="FFFFFF"/>
                    </a:solidFill>
                  </a:tcPr>
                </a:tc>
                <a:tc>
                  <a:txBody>
                    <a:bodyPr/>
                    <a:lstStyle/>
                    <a:p>
                      <a:pPr algn="l"/>
                      <a:r>
                        <a:rPr sz="1300" b="0" i="0">
                          <a:solidFill>
                            <a:srgbClr val="111B30"/>
                          </a:solidFill>
                          <a:latin typeface="Calibri"/>
                        </a:rPr>
                        <a:t>30 minutes</a:t>
                      </a:r>
                    </a:p>
                  </a:txBody>
                  <a:tcPr anchor="ctr" marL="76200" marR="76200" marT="38100" marB="38100">
                    <a:solidFill>
                      <a:srgbClr val="FFFFFF"/>
                    </a:solidFill>
                  </a:tcPr>
                </a:tc>
              </a:tr>
              <a:tr h="457200">
                <a:tc>
                  <a:txBody>
                    <a:bodyPr/>
                    <a:lstStyle/>
                    <a:p>
                      <a:pPr algn="l"/>
                      <a:r>
                        <a:rPr sz="1300" b="0" i="0">
                          <a:solidFill>
                            <a:srgbClr val="111B30"/>
                          </a:solidFill>
                          <a:latin typeface="Calibri"/>
                        </a:rPr>
                        <a:t>Protected From Accidental Deletion</a:t>
                      </a:r>
                    </a:p>
                  </a:txBody>
                  <a:tcPr anchor="ctr" marL="76200" marR="76200" marT="38100" marB="38100">
                    <a:solidFill>
                      <a:srgbClr val="E8EEF7"/>
                    </a:solidFill>
                  </a:tcPr>
                </a:tc>
                <a:tc>
                  <a:txBody>
                    <a:bodyPr/>
                    <a:lstStyle/>
                    <a:p>
                      <a:pPr algn="l"/>
                      <a:r>
                        <a:rPr sz="1300" b="0" i="0">
                          <a:solidFill>
                            <a:srgbClr val="111B30"/>
                          </a:solidFill>
                          <a:latin typeface="Calibri"/>
                        </a:rPr>
                        <a:t>True</a:t>
                      </a:r>
                    </a:p>
                  </a:txBody>
                  <a:tcPr anchor="ctr" marL="76200" marR="76200" marT="38100" marB="38100">
                    <a:solidFill>
                      <a:srgbClr val="E8EEF7"/>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Verification &amp; Lockout Testing</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gpresult /H C:\gpresult.html /F - proves which GPOs actually applied, not just which are linked</a:t>
            </a:r>
          </a:p>
          <a:p>
            <a:pPr algn="l">
              <a:spcAft>
                <a:spcPts val="1200"/>
              </a:spcAft>
            </a:pPr>
            <a:r>
              <a:rPr sz="1600" b="0" i="0">
                <a:solidFill>
                  <a:srgbClr val="111B30"/>
                </a:solidFill>
                <a:latin typeface="Calibri"/>
              </a:rPr>
              <a:t>●   Simulated lockout test: loop runas /user:ajohnson with a wrong password 6 times -&gt; account locks at threshold 5</a:t>
            </a:r>
          </a:p>
          <a:p>
            <a:pPr algn="l">
              <a:spcAft>
                <a:spcPts val="1200"/>
              </a:spcAft>
            </a:pPr>
            <a:r>
              <a:rPr sz="1600" b="0" i="0">
                <a:solidFill>
                  <a:srgbClr val="111B30"/>
                </a:solidFill>
                <a:latin typeface="Calibri"/>
              </a:rPr>
              <a:t>●   Do NOT run this against enovak-adm - its PSO locks at 3 attempts, not 5</a:t>
            </a:r>
          </a:p>
          <a:p>
            <a:pPr algn="l">
              <a:spcAft>
                <a:spcPts val="1200"/>
              </a:spcAft>
            </a:pPr>
            <a:r>
              <a:rPr sz="1600" b="0" i="0">
                <a:solidFill>
                  <a:srgbClr val="111B30"/>
                </a:solidFill>
                <a:latin typeface="Calibri"/>
              </a:rPr>
              <a:t>●   Get-ADUser ajohnson -Properties LockedOut confirms lock state; Unlock-ADAccount reverses it</a:t>
            </a:r>
          </a:p>
          <a:p>
            <a:pPr algn="l">
              <a:spcAft>
                <a:spcPts val="1200"/>
              </a:spcAft>
            </a:pPr>
            <a:r>
              <a:rPr sz="1600" b="0" i="0">
                <a:solidFill>
                  <a:srgbClr val="111B30"/>
                </a:solidFill>
                <a:latin typeface="Calibri"/>
              </a:rPr>
              <a:t>●   Cross-check the lockout generated a 4625 event via Get-WinEvent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GPO Tampering</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holds</a:t>
            </a:r>
          </a:p>
          <a:p>
            <a:pPr algn="ctr"/>
            <a:r>
              <a:rPr sz="1100" b="0" i="0">
                <a:solidFill>
                  <a:srgbClr val="111B30"/>
                </a:solidFill>
                <a:latin typeface="Calibri"/>
              </a:rPr>
              <a:t>GPO-edit rights</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Weakens password or</a:t>
            </a:r>
          </a:p>
          <a:p>
            <a:pPr algn="ctr"/>
            <a:r>
              <a:rPr sz="1100" b="1" i="0">
                <a:solidFill>
                  <a:srgbClr val="111B30"/>
                </a:solidFill>
                <a:latin typeface="Calibri"/>
              </a:rPr>
              <a:t>lockout settings</a:t>
            </a:r>
          </a:p>
          <a:p>
            <a:pPr algn="ctr"/>
            <a:r>
              <a:rPr sz="1100" b="1" i="0">
                <a:solidFill>
                  <a:srgbClr val="111B30"/>
                </a:solidFill>
                <a:latin typeface="Calibri"/>
              </a:rPr>
              <a:t>domain-wide</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Every domain-joined</a:t>
            </a:r>
          </a:p>
          <a:p>
            <a:pPr algn="ctr"/>
            <a:r>
              <a:rPr sz="1100" b="0" i="0">
                <a:solidFill>
                  <a:srgbClr val="111B30"/>
                </a:solidFill>
                <a:latin typeface="Calibri"/>
              </a:rPr>
              <a:t>machine inherits the</a:t>
            </a:r>
          </a:p>
          <a:p>
            <a:pPr algn="ctr"/>
            <a:r>
              <a:rPr sz="1100" b="0" i="0">
                <a:solidFill>
                  <a:srgbClr val="111B30"/>
                </a:solidFill>
                <a:latin typeface="Calibri"/>
              </a:rPr>
              <a:t>weakened policy</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Restrict GPO edit rights to Tier 0; monitor Policy Change audit category</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Audit Policy Disabled or Cleared</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wants to</a:t>
            </a:r>
          </a:p>
          <a:p>
            <a:pPr algn="ctr"/>
            <a:r>
              <a:rPr sz="1100" b="0" i="0">
                <a:solidFill>
                  <a:srgbClr val="111B30"/>
                </a:solidFill>
                <a:latin typeface="Calibri"/>
              </a:rPr>
              <a:t>hide their activity</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Turns off audit logging</a:t>
            </a:r>
          </a:p>
          <a:p>
            <a:pPr algn="ctr"/>
            <a:r>
              <a:rPr sz="1100" b="1" i="0">
                <a:solidFill>
                  <a:srgbClr val="111B30"/>
                </a:solidFill>
                <a:latin typeface="Calibri"/>
              </a:rPr>
              <a:t>or clears existing</a:t>
            </a:r>
          </a:p>
          <a:p>
            <a:pPr algn="ctr"/>
            <a:r>
              <a:rPr sz="1100" b="1" i="0">
                <a:solidFill>
                  <a:srgbClr val="111B30"/>
                </a:solidFill>
                <a:latin typeface="Calibri"/>
              </a:rPr>
              <a:t>Security logs</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Evidence of the</a:t>
            </a:r>
          </a:p>
          <a:p>
            <a:pPr algn="ctr"/>
            <a:r>
              <a:rPr sz="1100" b="0" i="0">
                <a:solidFill>
                  <a:srgbClr val="111B30"/>
                </a:solidFill>
                <a:latin typeface="Calibri"/>
              </a:rPr>
              <a:t>intrusion no longer</a:t>
            </a:r>
          </a:p>
          <a:p>
            <a:pPr algn="ctr"/>
            <a:r>
              <a:rPr sz="1100" b="0" i="0">
                <a:solidFill>
                  <a:srgbClr val="111B30"/>
                </a:solidFill>
                <a:latin typeface="Calibri"/>
              </a:rPr>
              <a:t>exists locally</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Alert on Event ID 1102 (log cleared); forward logs off-box</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Lockout Threshold Abused as DoS</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knows the</a:t>
            </a:r>
          </a:p>
          <a:p>
            <a:pPr algn="ctr"/>
            <a:r>
              <a:rPr sz="1100" b="0" i="0">
                <a:solidFill>
                  <a:srgbClr val="111B30"/>
                </a:solidFill>
                <a:latin typeface="Calibri"/>
              </a:rPr>
              <a:t>account lockout</a:t>
            </a:r>
          </a:p>
          <a:p>
            <a:pPr algn="ctr"/>
            <a:r>
              <a:rPr sz="1100" b="0" i="0">
                <a:solidFill>
                  <a:srgbClr val="111B30"/>
                </a:solidFill>
                <a:latin typeface="Calibri"/>
              </a:rPr>
              <a:t>threshold</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Deliberately fails logins</a:t>
            </a:r>
          </a:p>
          <a:p>
            <a:pPr algn="ctr"/>
            <a:r>
              <a:rPr sz="1100" b="1" i="0">
                <a:solidFill>
                  <a:srgbClr val="111B30"/>
                </a:solidFill>
                <a:latin typeface="Calibri"/>
              </a:rPr>
              <a:t>to lock out legitimate</a:t>
            </a:r>
          </a:p>
          <a:p>
            <a:pPr algn="ctr"/>
            <a:r>
              <a:rPr sz="1100" b="1" i="0">
                <a:solidFill>
                  <a:srgbClr val="111B30"/>
                </a:solidFill>
                <a:latin typeface="Calibri"/>
              </a:rPr>
              <a:t>users or admins</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Legitimate users are</a:t>
            </a:r>
          </a:p>
          <a:p>
            <a:pPr algn="ctr"/>
            <a:r>
              <a:rPr sz="1100" b="0" i="0">
                <a:solidFill>
                  <a:srgbClr val="111B30"/>
                </a:solidFill>
                <a:latin typeface="Calibri"/>
              </a:rPr>
              <a:t>locked out of their</a:t>
            </a:r>
          </a:p>
          <a:p>
            <a:pPr algn="ctr"/>
            <a:r>
              <a:rPr sz="1100" b="0" i="0">
                <a:solidFill>
                  <a:srgbClr val="111B30"/>
                </a:solidFill>
                <a:latin typeface="Calibri"/>
              </a:rPr>
              <a:t>own accounts</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Reasonable threshold/duration balance; monitor for lockout spikes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Password Spraying Under the Radar</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wants to avoid</a:t>
            </a:r>
          </a:p>
          <a:p>
            <a:pPr algn="ctr"/>
            <a:r>
              <a:rPr sz="1100" b="0" i="0">
                <a:solidFill>
                  <a:srgbClr val="111B30"/>
                </a:solidFill>
                <a:latin typeface="Calibri"/>
              </a:rPr>
              <a:t>tripping per-account</a:t>
            </a:r>
          </a:p>
          <a:p>
            <a:pPr algn="ctr"/>
            <a:r>
              <a:rPr sz="1100" b="0" i="0">
                <a:solidFill>
                  <a:srgbClr val="111B30"/>
                </a:solidFill>
                <a:latin typeface="Calibri"/>
              </a:rPr>
              <a:t>lockout</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Guesses passwords</a:t>
            </a:r>
          </a:p>
          <a:p>
            <a:pPr algn="ctr"/>
            <a:r>
              <a:rPr sz="1100" b="1" i="0">
                <a:solidFill>
                  <a:srgbClr val="111B30"/>
                </a:solidFill>
                <a:latin typeface="Calibri"/>
              </a:rPr>
              <a:t>low-and-slow across</a:t>
            </a:r>
          </a:p>
          <a:p>
            <a:pPr algn="ctr"/>
            <a:r>
              <a:rPr sz="1100" b="1" i="0">
                <a:solidFill>
                  <a:srgbClr val="111B30"/>
                </a:solidFill>
                <a:latin typeface="Calibri"/>
              </a:rPr>
              <a:t>many accounts</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Stays under each account's</a:t>
            </a:r>
          </a:p>
          <a:p>
            <a:pPr algn="ctr"/>
            <a:r>
              <a:rPr sz="1100" b="0" i="0">
                <a:solidFill>
                  <a:srgbClr val="111B30"/>
                </a:solidFill>
                <a:latin typeface="Calibri"/>
              </a:rPr>
              <a:t>lockout threshold</a:t>
            </a:r>
          </a:p>
          <a:p>
            <a:pPr algn="ctr"/>
            <a:r>
              <a:rPr sz="1100" b="0" i="0">
                <a:solidFill>
                  <a:srgbClr val="111B30"/>
                </a:solidFill>
                <a:latin typeface="Calibri"/>
              </a:rPr>
              <a:t>individually</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Lockout + login-anomaly detection across accounts, not just per-account</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822960" y="2962656"/>
            <a:ext cx="1005840" cy="1005840"/>
          </a:xfrm>
          <a:prstGeom prst="rect">
            <a:avLst/>
          </a:prstGeom>
          <a:solidFill>
            <a:srgbClr val="00B4D8"/>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4000" b="1" i="0">
                <a:solidFill>
                  <a:srgbClr val="1B2A4A"/>
                </a:solidFill>
                <a:latin typeface="Calibri"/>
              </a:rPr>
              <a:t>04</a:t>
            </a:r>
          </a:p>
        </p:txBody>
      </p:sp>
      <p:sp>
        <p:nvSpPr>
          <p:cNvPr id="3" name="TextBox 2"/>
          <p:cNvSpPr txBox="1"/>
          <p:nvPr/>
        </p:nvSpPr>
        <p:spPr>
          <a:xfrm>
            <a:off x="2103120" y="2962656"/>
            <a:ext cx="9448495" cy="1005840"/>
          </a:xfrm>
          <a:prstGeom prst="rect">
            <a:avLst/>
          </a:prstGeom>
          <a:noFill/>
        </p:spPr>
        <p:txBody>
          <a:bodyPr wrap="square" anchor="ctr">
            <a:spAutoFit/>
          </a:bodyPr>
          <a:lstStyle/>
          <a:p>
            <a:r>
              <a:rPr sz="3200" b="1" i="0">
                <a:solidFill>
                  <a:srgbClr val="FFFFFF"/>
                </a:solidFill>
                <a:latin typeface="Cambria"/>
              </a:rPr>
              <a:t>PowerShell for Administration &amp; Task Scheduler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The Object Pipeline: Why PowerShell Is Different</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Bash pipes pass text; PowerShell pipes pass full .NET objects with properties and methods intact.</a:t>
            </a:r>
          </a:p>
        </p:txBody>
      </p:sp>
      <p:sp>
        <p:nvSpPr>
          <p:cNvPr id="4" name="TextBox 3"/>
          <p:cNvSpPr txBox="1"/>
          <p:nvPr/>
        </p:nvSpPr>
        <p:spPr>
          <a:xfrm>
            <a:off x="914400" y="1965960"/>
            <a:ext cx="1828800" cy="274320"/>
          </a:xfrm>
          <a:prstGeom prst="rect">
            <a:avLst/>
          </a:prstGeom>
          <a:noFill/>
        </p:spPr>
        <p:txBody>
          <a:bodyPr wrap="none">
            <a:spAutoFit/>
          </a:bodyPr>
          <a:lstStyle/>
          <a:p>
            <a:r>
              <a:rPr sz="1200" b="1" i="0">
                <a:solidFill>
                  <a:srgbClr val="6B7480"/>
                </a:solidFill>
                <a:latin typeface="Cambria"/>
              </a:rPr>
              <a:t>BASH</a:t>
            </a:r>
          </a:p>
        </p:txBody>
      </p:sp>
      <p:sp>
        <p:nvSpPr>
          <p:cNvPr id="5" name="Rounded Rectangle 4"/>
          <p:cNvSpPr/>
          <p:nvPr/>
        </p:nvSpPr>
        <p:spPr>
          <a:xfrm>
            <a:off x="914400" y="2331720"/>
            <a:ext cx="2377440" cy="640080"/>
          </a:xfrm>
          <a:prstGeom prst="roundRect">
            <a:avLst/>
          </a:prstGeom>
          <a:solidFill>
            <a:srgbClr val="E8EEF7"/>
          </a:solidFill>
          <a:ln w="15875">
            <a:solidFill>
              <a:srgbClr val="6B74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ls -la</a:t>
            </a:r>
          </a:p>
        </p:txBody>
      </p:sp>
      <p:sp>
        <p:nvSpPr>
          <p:cNvPr id="6" name="Rounded Rectangle 5"/>
          <p:cNvSpPr/>
          <p:nvPr/>
        </p:nvSpPr>
        <p:spPr>
          <a:xfrm>
            <a:off x="3931920" y="2331720"/>
            <a:ext cx="2834640" cy="640080"/>
          </a:xfrm>
          <a:prstGeom prst="roundRect">
            <a:avLst/>
          </a:prstGeom>
          <a:solidFill>
            <a:srgbClr val="E8EEF7"/>
          </a:solidFill>
          <a:ln w="15875">
            <a:solidFill>
              <a:srgbClr val="6B74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raw text stream</a:t>
            </a:r>
          </a:p>
        </p:txBody>
      </p:sp>
      <p:sp>
        <p:nvSpPr>
          <p:cNvPr id="7" name="Rounded Rectangle 6"/>
          <p:cNvSpPr/>
          <p:nvPr/>
        </p:nvSpPr>
        <p:spPr>
          <a:xfrm>
            <a:off x="7406640" y="2331720"/>
            <a:ext cx="2377440" cy="640080"/>
          </a:xfrm>
          <a:prstGeom prst="roundRect">
            <a:avLst/>
          </a:prstGeom>
          <a:solidFill>
            <a:srgbClr val="E8EEF7"/>
          </a:solidFill>
          <a:ln w="15875">
            <a:solidFill>
              <a:srgbClr val="6B74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grep foo</a:t>
            </a:r>
          </a:p>
        </p:txBody>
      </p:sp>
      <p:cxnSp>
        <p:nvCxnSpPr>
          <p:cNvPr id="8" name="Connector 7"/>
          <p:cNvCxnSpPr/>
          <p:nvPr/>
        </p:nvCxnSpPr>
        <p:spPr>
          <a:xfrm>
            <a:off x="3291840" y="2651760"/>
            <a:ext cx="640080"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2505456"/>
            <a:ext cx="1737360" cy="292608"/>
          </a:xfrm>
          <a:prstGeom prst="rect">
            <a:avLst/>
          </a:prstGeom>
          <a:noFill/>
        </p:spPr>
        <p:txBody>
          <a:bodyPr wrap="square" lIns="0" tIns="0">
            <a:spAutoFit/>
          </a:bodyPr>
          <a:lstStyle/>
          <a:p>
            <a:pPr algn="ctr"/>
            <a:r>
              <a:rPr sz="900" b="0" i="1">
                <a:solidFill>
                  <a:srgbClr val="404040"/>
                </a:solidFill>
                <a:latin typeface="Calibri"/>
              </a:rPr>
              <a:t>text</a:t>
            </a:r>
          </a:p>
        </p:txBody>
      </p:sp>
      <p:cxnSp>
        <p:nvCxnSpPr>
          <p:cNvPr id="10" name="Connector 9"/>
          <p:cNvCxnSpPr/>
          <p:nvPr/>
        </p:nvCxnSpPr>
        <p:spPr>
          <a:xfrm>
            <a:off x="6766560" y="2651760"/>
            <a:ext cx="640080"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217920" y="2505456"/>
            <a:ext cx="1737360" cy="292608"/>
          </a:xfrm>
          <a:prstGeom prst="rect">
            <a:avLst/>
          </a:prstGeom>
          <a:noFill/>
        </p:spPr>
        <p:txBody>
          <a:bodyPr wrap="square" lIns="0" tIns="0">
            <a:spAutoFit/>
          </a:bodyPr>
          <a:lstStyle/>
          <a:p>
            <a:pPr algn="ctr"/>
            <a:r>
              <a:rPr sz="900" b="0" i="1">
                <a:solidFill>
                  <a:srgbClr val="404040"/>
                </a:solidFill>
                <a:latin typeface="Calibri"/>
              </a:rPr>
              <a:t>text</a:t>
            </a:r>
          </a:p>
        </p:txBody>
      </p:sp>
      <p:sp>
        <p:nvSpPr>
          <p:cNvPr id="12" name="TextBox 11"/>
          <p:cNvSpPr txBox="1"/>
          <p:nvPr/>
        </p:nvSpPr>
        <p:spPr>
          <a:xfrm>
            <a:off x="914400" y="3429000"/>
            <a:ext cx="2926080" cy="274320"/>
          </a:xfrm>
          <a:prstGeom prst="rect">
            <a:avLst/>
          </a:prstGeom>
          <a:noFill/>
        </p:spPr>
        <p:txBody>
          <a:bodyPr wrap="none">
            <a:spAutoFit/>
          </a:bodyPr>
          <a:lstStyle/>
          <a:p>
            <a:r>
              <a:rPr sz="1200" b="1" i="0">
                <a:solidFill>
                  <a:srgbClr val="1B2A4A"/>
                </a:solidFill>
                <a:latin typeface="Cambria"/>
              </a:rPr>
              <a:t>POWERSHELL</a:t>
            </a:r>
          </a:p>
        </p:txBody>
      </p:sp>
      <p:sp>
        <p:nvSpPr>
          <p:cNvPr id="13" name="Rounded Rectangle 12"/>
          <p:cNvSpPr/>
          <p:nvPr/>
        </p:nvSpPr>
        <p:spPr>
          <a:xfrm>
            <a:off x="914400" y="3794760"/>
            <a:ext cx="2651760" cy="64008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Get-ADUser -Filter *</a:t>
            </a:r>
          </a:p>
        </p:txBody>
      </p:sp>
      <p:sp>
        <p:nvSpPr>
          <p:cNvPr id="14" name="Rounded Rectangle 13"/>
          <p:cNvSpPr/>
          <p:nvPr/>
        </p:nvSpPr>
        <p:spPr>
          <a:xfrm>
            <a:off x="4206240" y="3794760"/>
            <a:ext cx="2834640" cy="64008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[ADUser objects]</a:t>
            </a:r>
          </a:p>
        </p:txBody>
      </p:sp>
      <p:sp>
        <p:nvSpPr>
          <p:cNvPr id="15" name="Rounded Rectangle 14"/>
          <p:cNvSpPr/>
          <p:nvPr/>
        </p:nvSpPr>
        <p:spPr>
          <a:xfrm>
            <a:off x="7680960" y="3794760"/>
            <a:ext cx="2743200" cy="64008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Where-Object {...}</a:t>
            </a:r>
          </a:p>
        </p:txBody>
      </p:sp>
      <p:cxnSp>
        <p:nvCxnSpPr>
          <p:cNvPr id="16" name="Connector 15"/>
          <p:cNvCxnSpPr/>
          <p:nvPr/>
        </p:nvCxnSpPr>
        <p:spPr>
          <a:xfrm>
            <a:off x="3566160" y="4114800"/>
            <a:ext cx="640080" cy="0"/>
          </a:xfrm>
          <a:prstGeom prst="line">
            <a:avLst/>
          </a:prstGeom>
          <a:ln w="1905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017520" y="3968496"/>
            <a:ext cx="1737360" cy="292608"/>
          </a:xfrm>
          <a:prstGeom prst="rect">
            <a:avLst/>
          </a:prstGeom>
          <a:noFill/>
        </p:spPr>
        <p:txBody>
          <a:bodyPr wrap="square" lIns="0" tIns="0">
            <a:spAutoFit/>
          </a:bodyPr>
          <a:lstStyle/>
          <a:p>
            <a:pPr algn="ctr"/>
            <a:r>
              <a:rPr sz="900" b="0" i="1">
                <a:solidFill>
                  <a:srgbClr val="404040"/>
                </a:solidFill>
                <a:latin typeface="Calibri"/>
              </a:rPr>
              <a:t>structured objects</a:t>
            </a:r>
          </a:p>
        </p:txBody>
      </p:sp>
      <p:cxnSp>
        <p:nvCxnSpPr>
          <p:cNvPr id="18" name="Connector 17"/>
          <p:cNvCxnSpPr/>
          <p:nvPr/>
        </p:nvCxnSpPr>
        <p:spPr>
          <a:xfrm>
            <a:off x="7040879" y="4114800"/>
            <a:ext cx="640081" cy="0"/>
          </a:xfrm>
          <a:prstGeom prst="line">
            <a:avLst/>
          </a:prstGeom>
          <a:ln w="1905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92240" y="3968496"/>
            <a:ext cx="1737360" cy="292608"/>
          </a:xfrm>
          <a:prstGeom prst="rect">
            <a:avLst/>
          </a:prstGeom>
          <a:noFill/>
        </p:spPr>
        <p:txBody>
          <a:bodyPr wrap="square" lIns="0" tIns="0">
            <a:spAutoFit/>
          </a:bodyPr>
          <a:lstStyle/>
          <a:p>
            <a:pPr algn="ctr"/>
            <a:r>
              <a:rPr sz="900" b="0" i="1">
                <a:solidFill>
                  <a:srgbClr val="404040"/>
                </a:solidFill>
                <a:latin typeface="Calibri"/>
              </a:rPr>
              <a:t>structured objects</a:t>
            </a:r>
          </a:p>
        </p:txBody>
      </p:sp>
      <p:sp>
        <p:nvSpPr>
          <p:cNvPr id="20" name="Rounded Rectangle 19"/>
          <p:cNvSpPr/>
          <p:nvPr/>
        </p:nvSpPr>
        <p:spPr>
          <a:xfrm>
            <a:off x="4206240" y="4800600"/>
            <a:ext cx="2834640" cy="914400"/>
          </a:xfrm>
          <a:prstGeom prst="roundRect">
            <a:avLst/>
          </a:prstGeom>
          <a:solidFill>
            <a:srgbClr val="FFFFFF"/>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SamAccountName</a:t>
            </a:r>
          </a:p>
          <a:p>
            <a:pPr algn="ctr"/>
            <a:r>
              <a:rPr sz="1000" b="0" i="0">
                <a:solidFill>
                  <a:srgbClr val="111B30"/>
                </a:solidFill>
                <a:latin typeface="Calibri"/>
              </a:rPr>
              <a:t>Enabled</a:t>
            </a:r>
          </a:p>
          <a:p>
            <a:pPr algn="ctr"/>
            <a:r>
              <a:rPr sz="1000" b="0" i="0">
                <a:solidFill>
                  <a:srgbClr val="111B30"/>
                </a:solidFill>
                <a:latin typeface="Calibri"/>
              </a:rPr>
              <a:t>LastLogonDate</a:t>
            </a:r>
          </a:p>
        </p:txBody>
      </p:sp>
      <p:cxnSp>
        <p:nvCxnSpPr>
          <p:cNvPr id="21" name="Connector 20"/>
          <p:cNvCxnSpPr/>
          <p:nvPr/>
        </p:nvCxnSpPr>
        <p:spPr>
          <a:xfrm>
            <a:off x="5623559" y="4434840"/>
            <a:ext cx="0" cy="365760"/>
          </a:xfrm>
          <a:prstGeom prst="line">
            <a:avLst/>
          </a:prstGeom>
          <a:ln w="19050">
            <a:solidFill>
              <a:srgbClr val="00B4D8"/>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Filtering, Sorting &amp; Formatting</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Where-Object {condition} - filters objects by property, e.g. {$_.Enabled -eq $true}</a:t>
            </a:r>
          </a:p>
          <a:p>
            <a:pPr algn="l">
              <a:spcAft>
                <a:spcPts val="1200"/>
              </a:spcAft>
            </a:pPr>
            <a:r>
              <a:rPr sz="1600" b="0" i="0">
                <a:solidFill>
                  <a:srgbClr val="111B30"/>
                </a:solidFill>
                <a:latin typeface="Calibri"/>
              </a:rPr>
              <a:t>●   Select-Object property1, property2 - projects only the properties you need</a:t>
            </a:r>
          </a:p>
          <a:p>
            <a:pPr algn="l">
              <a:spcAft>
                <a:spcPts val="1200"/>
              </a:spcAft>
            </a:pPr>
            <a:r>
              <a:rPr sz="1600" b="0" i="0">
                <a:solidFill>
                  <a:srgbClr val="111B30"/>
                </a:solidFill>
                <a:latin typeface="Calibri"/>
              </a:rPr>
              <a:t>●   Sort-Object, Group-Object, Measure-Object - the rest of the verb-noun filtering toolkit</a:t>
            </a:r>
          </a:p>
          <a:p>
            <a:pPr algn="l">
              <a:spcAft>
                <a:spcPts val="1200"/>
              </a:spcAft>
            </a:pPr>
            <a:r>
              <a:rPr sz="1600" b="0" i="0">
                <a:solidFill>
                  <a:srgbClr val="111B30"/>
                </a:solidFill>
                <a:latin typeface="Calibri"/>
              </a:rPr>
              <a:t>●   Format-Table, Format-List, Export-Csv - how results get displayed or persisted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Active Directory Module Cmdlets Cheat Sheet</a:t>
            </a:r>
          </a:p>
        </p:txBody>
      </p:sp>
      <p:graphicFrame>
        <p:nvGraphicFramePr>
          <p:cNvPr id="3" name="Table 2"/>
          <p:cNvGraphicFramePr>
            <a:graphicFrameLocks noGrp="1"/>
          </p:cNvGraphicFramePr>
          <p:nvPr/>
        </p:nvGraphicFramePr>
        <p:xfrm>
          <a:off x="640080" y="1554480"/>
          <a:ext cx="10362895" cy="4572000"/>
        </p:xfrm>
        <a:graphic>
          <a:graphicData uri="http://schemas.openxmlformats.org/drawingml/2006/table">
            <a:tbl>
              <a:tblPr firstRow="1" bandRow="1">
                <a:tableStyleId>{5C22544A-7EE6-4342-B048-85BDC9FD1C3A}</a:tableStyleId>
              </a:tblPr>
              <a:tblGrid>
                <a:gridCol w="4114800"/>
                <a:gridCol w="6248095"/>
              </a:tblGrid>
              <a:tr h="457200">
                <a:tc>
                  <a:txBody>
                    <a:bodyPr/>
                    <a:lstStyle/>
                    <a:p>
                      <a:pPr algn="l"/>
                      <a:r>
                        <a:rPr sz="1250" b="1" i="0">
                          <a:solidFill>
                            <a:srgbClr val="FFFFFF"/>
                          </a:solidFill>
                          <a:latin typeface="Calibri"/>
                        </a:rPr>
                        <a:t>Task</a:t>
                      </a:r>
                    </a:p>
                  </a:txBody>
                  <a:tcPr anchor="ctr" marL="76200" marR="76200" marT="38100" marB="38100">
                    <a:solidFill>
                      <a:srgbClr val="1B2A4A"/>
                    </a:solidFill>
                  </a:tcPr>
                </a:tc>
                <a:tc>
                  <a:txBody>
                    <a:bodyPr/>
                    <a:lstStyle/>
                    <a:p>
                      <a:pPr algn="l"/>
                      <a:r>
                        <a:rPr sz="1250" b="1" i="0">
                          <a:solidFill>
                            <a:srgbClr val="FFFFFF"/>
                          </a:solidFill>
                          <a:latin typeface="Calibri"/>
                        </a:rPr>
                        <a:t>Cmdlet</a:t>
                      </a:r>
                    </a:p>
                  </a:txBody>
                  <a:tcPr anchor="ctr" marL="76200" marR="76200" marT="38100" marB="38100">
                    <a:solidFill>
                      <a:srgbClr val="1B2A4A"/>
                    </a:solidFill>
                  </a:tcPr>
                </a:tc>
              </a:tr>
              <a:tr h="457200">
                <a:tc>
                  <a:txBody>
                    <a:bodyPr/>
                    <a:lstStyle/>
                    <a:p>
                      <a:pPr algn="l"/>
                      <a:r>
                        <a:rPr sz="1200" b="0" i="0">
                          <a:solidFill>
                            <a:srgbClr val="111B30"/>
                          </a:solidFill>
                          <a:latin typeface="Calibri"/>
                        </a:rPr>
                        <a:t>Query a user</a:t>
                      </a:r>
                    </a:p>
                  </a:txBody>
                  <a:tcPr anchor="ctr" marL="76200" marR="76200" marT="38100" marB="38100">
                    <a:solidFill>
                      <a:srgbClr val="FFFFFF"/>
                    </a:solidFill>
                  </a:tcPr>
                </a:tc>
                <a:tc>
                  <a:txBody>
                    <a:bodyPr/>
                    <a:lstStyle/>
                    <a:p>
                      <a:pPr algn="l"/>
                      <a:r>
                        <a:rPr sz="1200" b="0" i="0">
                          <a:solidFill>
                            <a:srgbClr val="111B30"/>
                          </a:solidFill>
                          <a:latin typeface="Calibri"/>
                        </a:rPr>
                        <a:t>Get-ADUser -Identity &lt;sam&gt; -Properties *</a:t>
                      </a:r>
                    </a:p>
                  </a:txBody>
                  <a:tcPr anchor="ctr" marL="76200" marR="76200" marT="38100" marB="38100">
                    <a:solidFill>
                      <a:srgbClr val="FFFFFF"/>
                    </a:solidFill>
                  </a:tcPr>
                </a:tc>
              </a:tr>
              <a:tr h="457200">
                <a:tc>
                  <a:txBody>
                    <a:bodyPr/>
                    <a:lstStyle/>
                    <a:p>
                      <a:pPr algn="l"/>
                      <a:r>
                        <a:rPr sz="1200" b="0" i="0">
                          <a:solidFill>
                            <a:srgbClr val="111B30"/>
                          </a:solidFill>
                          <a:latin typeface="Calibri"/>
                        </a:rPr>
                        <a:t>Query with a filter</a:t>
                      </a:r>
                    </a:p>
                  </a:txBody>
                  <a:tcPr anchor="ctr" marL="76200" marR="76200" marT="38100" marB="38100">
                    <a:solidFill>
                      <a:srgbClr val="E8EEF7"/>
                    </a:solidFill>
                  </a:tcPr>
                </a:tc>
                <a:tc>
                  <a:txBody>
                    <a:bodyPr/>
                    <a:lstStyle/>
                    <a:p>
                      <a:pPr algn="l"/>
                      <a:r>
                        <a:rPr sz="1200" b="0" i="0">
                          <a:solidFill>
                            <a:srgbClr val="111B30"/>
                          </a:solidFill>
                          <a:latin typeface="Calibri"/>
                        </a:rPr>
                        <a:t>Get-ADUser -Filter {Enabled -eq $true}</a:t>
                      </a:r>
                    </a:p>
                  </a:txBody>
                  <a:tcPr anchor="ctr" marL="76200" marR="76200" marT="38100" marB="38100">
                    <a:solidFill>
                      <a:srgbClr val="E8EEF7"/>
                    </a:solidFill>
                  </a:tcPr>
                </a:tc>
              </a:tr>
              <a:tr h="457200">
                <a:tc>
                  <a:txBody>
                    <a:bodyPr/>
                    <a:lstStyle/>
                    <a:p>
                      <a:pPr algn="l"/>
                      <a:r>
                        <a:rPr sz="1200" b="0" i="0">
                          <a:solidFill>
                            <a:srgbClr val="111B30"/>
                          </a:solidFill>
                          <a:latin typeface="Calibri"/>
                        </a:rPr>
                        <a:t>Create a user</a:t>
                      </a:r>
                    </a:p>
                  </a:txBody>
                  <a:tcPr anchor="ctr" marL="76200" marR="76200" marT="38100" marB="38100">
                    <a:solidFill>
                      <a:srgbClr val="FFFFFF"/>
                    </a:solidFill>
                  </a:tcPr>
                </a:tc>
                <a:tc>
                  <a:txBody>
                    <a:bodyPr/>
                    <a:lstStyle/>
                    <a:p>
                      <a:pPr algn="l"/>
                      <a:r>
                        <a:rPr sz="1200" b="0" i="0">
                          <a:solidFill>
                            <a:srgbClr val="111B30"/>
                          </a:solidFill>
                          <a:latin typeface="Calibri"/>
                        </a:rPr>
                        <a:t>New-ADUser</a:t>
                      </a:r>
                    </a:p>
                  </a:txBody>
                  <a:tcPr anchor="ctr" marL="76200" marR="76200" marT="38100" marB="38100">
                    <a:solidFill>
                      <a:srgbClr val="FFFFFF"/>
                    </a:solidFill>
                  </a:tcPr>
                </a:tc>
              </a:tr>
              <a:tr h="457200">
                <a:tc>
                  <a:txBody>
                    <a:bodyPr/>
                    <a:lstStyle/>
                    <a:p>
                      <a:pPr algn="l"/>
                      <a:r>
                        <a:rPr sz="1200" b="0" i="0">
                          <a:solidFill>
                            <a:srgbClr val="111B30"/>
                          </a:solidFill>
                          <a:latin typeface="Calibri"/>
                        </a:rPr>
                        <a:t>Create an OU</a:t>
                      </a:r>
                    </a:p>
                  </a:txBody>
                  <a:tcPr anchor="ctr" marL="76200" marR="76200" marT="38100" marB="38100">
                    <a:solidFill>
                      <a:srgbClr val="E8EEF7"/>
                    </a:solidFill>
                  </a:tcPr>
                </a:tc>
                <a:tc>
                  <a:txBody>
                    <a:bodyPr/>
                    <a:lstStyle/>
                    <a:p>
                      <a:pPr algn="l"/>
                      <a:r>
                        <a:rPr sz="1200" b="0" i="0">
                          <a:solidFill>
                            <a:srgbClr val="111B30"/>
                          </a:solidFill>
                          <a:latin typeface="Calibri"/>
                        </a:rPr>
                        <a:t>New-ADOrganizationalUnit</a:t>
                      </a:r>
                    </a:p>
                  </a:txBody>
                  <a:tcPr anchor="ctr" marL="76200" marR="76200" marT="38100" marB="38100">
                    <a:solidFill>
                      <a:srgbClr val="E8EEF7"/>
                    </a:solidFill>
                  </a:tcPr>
                </a:tc>
              </a:tr>
              <a:tr h="457200">
                <a:tc>
                  <a:txBody>
                    <a:bodyPr/>
                    <a:lstStyle/>
                    <a:p>
                      <a:pPr algn="l"/>
                      <a:r>
                        <a:rPr sz="1200" b="0" i="0">
                          <a:solidFill>
                            <a:srgbClr val="111B30"/>
                          </a:solidFill>
                          <a:latin typeface="Calibri"/>
                        </a:rPr>
                        <a:t>Modify a user attribute</a:t>
                      </a:r>
                    </a:p>
                  </a:txBody>
                  <a:tcPr anchor="ctr" marL="76200" marR="76200" marT="38100" marB="38100">
                    <a:solidFill>
                      <a:srgbClr val="FFFFFF"/>
                    </a:solidFill>
                  </a:tcPr>
                </a:tc>
                <a:tc>
                  <a:txBody>
                    <a:bodyPr/>
                    <a:lstStyle/>
                    <a:p>
                      <a:pPr algn="l"/>
                      <a:r>
                        <a:rPr sz="1200" b="0" i="0">
                          <a:solidFill>
                            <a:srgbClr val="111B30"/>
                          </a:solidFill>
                          <a:latin typeface="Calibri"/>
                        </a:rPr>
                        <a:t>Set-ADUser -Description "..."</a:t>
                      </a:r>
                    </a:p>
                  </a:txBody>
                  <a:tcPr anchor="ctr" marL="76200" marR="76200" marT="38100" marB="38100">
                    <a:solidFill>
                      <a:srgbClr val="FFFFFF"/>
                    </a:solidFill>
                  </a:tcPr>
                </a:tc>
              </a:tr>
              <a:tr h="457200">
                <a:tc>
                  <a:txBody>
                    <a:bodyPr/>
                    <a:lstStyle/>
                    <a:p>
                      <a:pPr algn="l"/>
                      <a:r>
                        <a:rPr sz="1200" b="0" i="0">
                          <a:solidFill>
                            <a:srgbClr val="111B30"/>
                          </a:solidFill>
                          <a:latin typeface="Calibri"/>
                        </a:rPr>
                        <a:t>Move an object between OUs</a:t>
                      </a:r>
                    </a:p>
                  </a:txBody>
                  <a:tcPr anchor="ctr" marL="76200" marR="76200" marT="38100" marB="38100">
                    <a:solidFill>
                      <a:srgbClr val="E8EEF7"/>
                    </a:solidFill>
                  </a:tcPr>
                </a:tc>
                <a:tc>
                  <a:txBody>
                    <a:bodyPr/>
                    <a:lstStyle/>
                    <a:p>
                      <a:pPr algn="l"/>
                      <a:r>
                        <a:rPr sz="1200" b="0" i="0">
                          <a:solidFill>
                            <a:srgbClr val="111B30"/>
                          </a:solidFill>
                          <a:latin typeface="Calibri"/>
                        </a:rPr>
                        <a:t>Move-ADObject -TargetPath &lt;OU DN&gt;</a:t>
                      </a:r>
                    </a:p>
                  </a:txBody>
                  <a:tcPr anchor="ctr" marL="76200" marR="76200" marT="38100" marB="38100">
                    <a:solidFill>
                      <a:srgbClr val="E8EEF7"/>
                    </a:solidFill>
                  </a:tcPr>
                </a:tc>
              </a:tr>
              <a:tr h="457200">
                <a:tc>
                  <a:txBody>
                    <a:bodyPr/>
                    <a:lstStyle/>
                    <a:p>
                      <a:pPr algn="l"/>
                      <a:r>
                        <a:rPr sz="1200" b="0" i="0">
                          <a:solidFill>
                            <a:srgbClr val="111B30"/>
                          </a:solidFill>
                          <a:latin typeface="Calibri"/>
                        </a:rPr>
                        <a:t>Find stale/disabled accounts</a:t>
                      </a:r>
                    </a:p>
                  </a:txBody>
                  <a:tcPr anchor="ctr" marL="76200" marR="76200" marT="38100" marB="38100">
                    <a:solidFill>
                      <a:srgbClr val="FFFFFF"/>
                    </a:solidFill>
                  </a:tcPr>
                </a:tc>
                <a:tc>
                  <a:txBody>
                    <a:bodyPr/>
                    <a:lstStyle/>
                    <a:p>
                      <a:pPr algn="l"/>
                      <a:r>
                        <a:rPr sz="1200" b="0" i="0">
                          <a:solidFill>
                            <a:srgbClr val="111B30"/>
                          </a:solidFill>
                          <a:latin typeface="Calibri"/>
                        </a:rPr>
                        <a:t>Search-ADAccount -AccountInactive / -AccountDisabled</a:t>
                      </a:r>
                    </a:p>
                  </a:txBody>
                  <a:tcPr anchor="ctr" marL="76200" marR="76200" marT="38100" marB="38100">
                    <a:solidFill>
                      <a:srgbClr val="FFFFFF"/>
                    </a:solidFill>
                  </a:tcPr>
                </a:tc>
              </a:tr>
              <a:tr h="457200">
                <a:tc>
                  <a:txBody>
                    <a:bodyPr/>
                    <a:lstStyle/>
                    <a:p>
                      <a:pPr algn="l"/>
                      <a:r>
                        <a:rPr sz="1200" b="0" i="0">
                          <a:solidFill>
                            <a:srgbClr val="111B30"/>
                          </a:solidFill>
                          <a:latin typeface="Calibri"/>
                        </a:rPr>
                        <a:t>Add/remove group membership</a:t>
                      </a:r>
                    </a:p>
                  </a:txBody>
                  <a:tcPr anchor="ctr" marL="76200" marR="76200" marT="38100" marB="38100">
                    <a:solidFill>
                      <a:srgbClr val="E8EEF7"/>
                    </a:solidFill>
                  </a:tcPr>
                </a:tc>
                <a:tc>
                  <a:txBody>
                    <a:bodyPr/>
                    <a:lstStyle/>
                    <a:p>
                      <a:pPr algn="l"/>
                      <a:r>
                        <a:rPr sz="1200" b="0" i="0">
                          <a:solidFill>
                            <a:srgbClr val="111B30"/>
                          </a:solidFill>
                          <a:latin typeface="Calibri"/>
                        </a:rPr>
                        <a:t>Add-ADGroupMember, Remove-ADGroupMember</a:t>
                      </a:r>
                    </a:p>
                  </a:txBody>
                  <a:tcPr anchor="ctr" marL="76200" marR="76200" marT="38100" marB="38100">
                    <a:solidFill>
                      <a:srgbClr val="E8EEF7"/>
                    </a:solidFill>
                  </a:tcPr>
                </a:tc>
              </a:tr>
              <a:tr h="457200">
                <a:tc>
                  <a:txBody>
                    <a:bodyPr/>
                    <a:lstStyle/>
                    <a:p>
                      <a:pPr algn="l"/>
                      <a:r>
                        <a:rPr sz="1200" b="0" i="0">
                          <a:solidFill>
                            <a:srgbClr val="111B30"/>
                          </a:solidFill>
                          <a:latin typeface="Calibri"/>
                        </a:rPr>
                        <a:t>Check resultant password policy</a:t>
                      </a:r>
                    </a:p>
                  </a:txBody>
                  <a:tcPr anchor="ctr" marL="76200" marR="76200" marT="38100" marB="38100">
                    <a:solidFill>
                      <a:srgbClr val="FFFFFF"/>
                    </a:solidFill>
                  </a:tcPr>
                </a:tc>
                <a:tc>
                  <a:txBody>
                    <a:bodyPr/>
                    <a:lstStyle/>
                    <a:p>
                      <a:pPr algn="l"/>
                      <a:r>
                        <a:rPr sz="1200" b="0" i="0">
                          <a:solidFill>
                            <a:srgbClr val="111B30"/>
                          </a:solidFill>
                          <a:latin typeface="Calibri"/>
                        </a:rPr>
                        <a:t>Get-ADUserResultantPasswordPolicy</a:t>
                      </a:r>
                    </a:p>
                  </a:txBody>
                  <a:tcPr anchor="ctr" marL="76200" marR="76200" marT="38100" marB="38100">
                    <a:solidFill>
                      <a:srgbClr val="FFFFF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Anatomy of an Audit Script's Pipeline</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This is the shape of a stale-account audit script, generalized - you'll read this, not write it.</a:t>
            </a:r>
          </a:p>
        </p:txBody>
      </p:sp>
      <p:sp>
        <p:nvSpPr>
          <p:cNvPr id="4" name="Rounded Rectangle 3"/>
          <p:cNvSpPr/>
          <p:nvPr/>
        </p:nvSpPr>
        <p:spPr>
          <a:xfrm>
            <a:off x="914400" y="2103120"/>
            <a:ext cx="2286000" cy="11887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50" b="0" i="0">
                <a:solidFill>
                  <a:srgbClr val="111B30"/>
                </a:solidFill>
                <a:latin typeface="Calibri"/>
              </a:rPr>
              <a:t>Get-ADUser -Filter</a:t>
            </a:r>
          </a:p>
          <a:p>
            <a:pPr algn="ctr"/>
            <a:r>
              <a:rPr sz="850" b="0" i="0">
                <a:solidFill>
                  <a:srgbClr val="111B30"/>
                </a:solidFill>
                <a:latin typeface="Calibri"/>
              </a:rPr>
              <a:t>{Enabled -eq $true}</a:t>
            </a:r>
          </a:p>
          <a:p>
            <a:pPr algn="ctr"/>
            <a:r>
              <a:rPr sz="850" b="0" i="0">
                <a:solidFill>
                  <a:srgbClr val="111B30"/>
                </a:solidFill>
                <a:latin typeface="Calibri"/>
              </a:rPr>
              <a:t>-Properties LastLogonDate,</a:t>
            </a:r>
          </a:p>
          <a:p>
            <a:pPr algn="ctr"/>
            <a:r>
              <a:rPr sz="850" b="0" i="0">
                <a:solidFill>
                  <a:srgbClr val="111B30"/>
                </a:solidFill>
                <a:latin typeface="Calibri"/>
              </a:rPr>
              <a:t>PasswordLastSet</a:t>
            </a:r>
          </a:p>
        </p:txBody>
      </p:sp>
      <p:sp>
        <p:nvSpPr>
          <p:cNvPr id="5" name="Rounded Rectangle 4"/>
          <p:cNvSpPr/>
          <p:nvPr/>
        </p:nvSpPr>
        <p:spPr>
          <a:xfrm>
            <a:off x="3596335" y="2103120"/>
            <a:ext cx="2286000" cy="11887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0" i="0">
                <a:solidFill>
                  <a:srgbClr val="111B30"/>
                </a:solidFill>
                <a:latin typeface="Calibri"/>
              </a:rPr>
              <a:t>Where-Object</a:t>
            </a:r>
          </a:p>
          <a:p>
            <a:pPr algn="ctr"/>
            <a:r>
              <a:rPr sz="900" b="0" i="0">
                <a:solidFill>
                  <a:srgbClr val="111B30"/>
                </a:solidFill>
                <a:latin typeface="Calibri"/>
              </a:rPr>
              <a:t>{ stale OR</a:t>
            </a:r>
          </a:p>
          <a:p>
            <a:pPr algn="ctr"/>
            <a:r>
              <a:rPr sz="900" b="0" i="0">
                <a:solidFill>
                  <a:srgbClr val="111B30"/>
                </a:solidFill>
                <a:latin typeface="Calibri"/>
              </a:rPr>
              <a:t>expired-password }</a:t>
            </a:r>
          </a:p>
        </p:txBody>
      </p:sp>
      <p:sp>
        <p:nvSpPr>
          <p:cNvPr id="6" name="Rounded Rectangle 5"/>
          <p:cNvSpPr/>
          <p:nvPr/>
        </p:nvSpPr>
        <p:spPr>
          <a:xfrm>
            <a:off x="6278270" y="2103120"/>
            <a:ext cx="2286000" cy="11887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50" b="0" i="0">
                <a:solidFill>
                  <a:srgbClr val="111B30"/>
                </a:solidFill>
                <a:latin typeface="Calibri"/>
              </a:rPr>
              <a:t>Select-Object</a:t>
            </a:r>
          </a:p>
          <a:p>
            <a:pPr algn="ctr"/>
            <a:r>
              <a:rPr sz="850" b="0" i="0">
                <a:solidFill>
                  <a:srgbClr val="111B30"/>
                </a:solidFill>
                <a:latin typeface="Calibri"/>
              </a:rPr>
              <a:t>SamAccountName,</a:t>
            </a:r>
          </a:p>
          <a:p>
            <a:pPr algn="ctr"/>
            <a:r>
              <a:rPr sz="850" b="0" i="0">
                <a:solidFill>
                  <a:srgbClr val="111B30"/>
                </a:solidFill>
                <a:latin typeface="Calibri"/>
              </a:rPr>
              <a:t>LastLogonDate, Reason</a:t>
            </a:r>
          </a:p>
        </p:txBody>
      </p:sp>
      <p:sp>
        <p:nvSpPr>
          <p:cNvPr id="7" name="Rounded Rectangle 6"/>
          <p:cNvSpPr/>
          <p:nvPr/>
        </p:nvSpPr>
        <p:spPr>
          <a:xfrm>
            <a:off x="8960205" y="2103120"/>
            <a:ext cx="2286000" cy="11887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Export-Csv</a:t>
            </a:r>
          </a:p>
          <a:p>
            <a:pPr algn="ctr"/>
            <a:r>
              <a:rPr sz="1000" b="0" i="0">
                <a:solidFill>
                  <a:srgbClr val="111B30"/>
                </a:solidFill>
                <a:latin typeface="Calibri"/>
              </a:rPr>
              <a:t>$OutputPath</a:t>
            </a:r>
          </a:p>
        </p:txBody>
      </p:sp>
      <p:cxnSp>
        <p:nvCxnSpPr>
          <p:cNvPr id="8" name="Connector 7"/>
          <p:cNvCxnSpPr/>
          <p:nvPr/>
        </p:nvCxnSpPr>
        <p:spPr>
          <a:xfrm>
            <a:off x="3200400" y="2697479"/>
            <a:ext cx="395935"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882335" y="2697479"/>
            <a:ext cx="395935"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564270" y="2697479"/>
            <a:ext cx="395935"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14400" y="3749039"/>
            <a:ext cx="10332720" cy="822960"/>
          </a:xfrm>
          <a:prstGeom prst="roundRect">
            <a:avLst/>
          </a:prstGeom>
          <a:solidFill>
            <a:srgbClr val="E8EEF7"/>
          </a:solidFill>
          <a:ln w="15875">
            <a:solidFill>
              <a:srgbClr val="3D5A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Params: -Domain, -SearchBaseDN, -ExcludeList, -StaleDays (90), -PasswordDays (180), -OutputPath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Scheduling Scripts with Task Scheduler</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A scheduled task = Trigger (when) + Action (what) + Conditions/Settings (constraints)</a:t>
            </a:r>
          </a:p>
          <a:p>
            <a:pPr algn="l">
              <a:spcAft>
                <a:spcPts val="1200"/>
              </a:spcAft>
            </a:pPr>
            <a:r>
              <a:rPr sz="1600" b="0" i="0">
                <a:solidFill>
                  <a:srgbClr val="111B30"/>
                </a:solidFill>
                <a:latin typeface="Calibri"/>
              </a:rPr>
              <a:t>●   GUI: Task Scheduler (taskschd.msc); PowerShell: Register-ScheduledTask, New-ScheduledTaskTrigger, New-ScheduledTaskAction</a:t>
            </a:r>
          </a:p>
          <a:p>
            <a:pPr algn="l">
              <a:spcAft>
                <a:spcPts val="1200"/>
              </a:spcAft>
            </a:pPr>
            <a:r>
              <a:rPr sz="1600" b="0" i="0">
                <a:solidFill>
                  <a:srgbClr val="111B30"/>
                </a:solidFill>
                <a:latin typeface="Calibri"/>
              </a:rPr>
              <a:t>●   Run-as account matters: a task running as SYSTEM has different (usually broader) rights than one running as a service account</a:t>
            </a:r>
          </a:p>
          <a:p>
            <a:pPr algn="l">
              <a:spcAft>
                <a:spcPts val="1200"/>
              </a:spcAft>
            </a:pPr>
            <a:r>
              <a:rPr sz="1600" b="0" i="0">
                <a:solidFill>
                  <a:srgbClr val="111B30"/>
                </a:solidFill>
                <a:latin typeface="Calibri"/>
              </a:rPr>
              <a:t>●   Common admin use: nightly audit scripts, log rotation, backup kick-offs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"Living off the Land" PowerShell</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has code</a:t>
            </a:r>
          </a:p>
          <a:p>
            <a:pPr algn="ctr"/>
            <a:r>
              <a:rPr sz="1100" b="0" i="0">
                <a:solidFill>
                  <a:srgbClr val="111B30"/>
                </a:solidFill>
                <a:latin typeface="Calibri"/>
              </a:rPr>
              <a:t>execution on a</a:t>
            </a:r>
          </a:p>
          <a:p>
            <a:pPr algn="ctr"/>
            <a:r>
              <a:rPr sz="1100" b="0" i="0">
                <a:solidFill>
                  <a:srgbClr val="111B30"/>
                </a:solidFill>
                <a:latin typeface="Calibri"/>
              </a:rPr>
              <a:t>Windows host</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Uses built-in PowerShell</a:t>
            </a:r>
          </a:p>
          <a:p>
            <a:pPr algn="ctr"/>
            <a:r>
              <a:rPr sz="1100" b="1" i="0">
                <a:solidFill>
                  <a:srgbClr val="111B30"/>
                </a:solidFill>
                <a:latin typeface="Calibri"/>
              </a:rPr>
              <a:t>instead of dropping</a:t>
            </a:r>
          </a:p>
          <a:p>
            <a:pPr algn="ctr"/>
            <a:r>
              <a:rPr sz="1100" b="1" i="0">
                <a:solidFill>
                  <a:srgbClr val="111B30"/>
                </a:solidFill>
                <a:latin typeface="Calibri"/>
              </a:rPr>
              <a:t>malware binaries</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Evades file-based</a:t>
            </a:r>
          </a:p>
          <a:p>
            <a:pPr algn="ctr"/>
            <a:r>
              <a:rPr sz="1100" b="0" i="0">
                <a:solidFill>
                  <a:srgbClr val="111B30"/>
                </a:solidFill>
                <a:latin typeface="Calibri"/>
              </a:rPr>
              <a:t>antivirus entirely</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Script Block Logging, Constrained Language Mode, AMSI integration</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Obfuscated/Encoded Commands</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wants to hide</a:t>
            </a:r>
          </a:p>
          <a:p>
            <a:pPr algn="ctr"/>
            <a:r>
              <a:rPr sz="1100" b="0" i="0">
                <a:solidFill>
                  <a:srgbClr val="111B30"/>
                </a:solidFill>
                <a:latin typeface="Calibri"/>
              </a:rPr>
              <a:t>intent from casual</a:t>
            </a:r>
          </a:p>
          <a:p>
            <a:pPr algn="ctr"/>
            <a:r>
              <a:rPr sz="1100" b="0" i="0">
                <a:solidFill>
                  <a:srgbClr val="111B30"/>
                </a:solidFill>
                <a:latin typeface="Calibri"/>
              </a:rPr>
              <a:t>log review</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Uses -EncodedCommand or</a:t>
            </a:r>
          </a:p>
          <a:p>
            <a:pPr algn="ctr"/>
            <a:r>
              <a:rPr sz="1100" b="1" i="0">
                <a:solidFill>
                  <a:srgbClr val="111B30"/>
                </a:solidFill>
                <a:latin typeface="Calibri"/>
              </a:rPr>
              <a:t>string obfuscation in</a:t>
            </a:r>
          </a:p>
          <a:p>
            <a:pPr algn="ctr"/>
            <a:r>
              <a:rPr sz="1100" b="1" i="0">
                <a:solidFill>
                  <a:srgbClr val="111B30"/>
                </a:solidFill>
                <a:latin typeface="Calibri"/>
              </a:rPr>
              <a:t>the PowerShell call</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Malicious intent is</a:t>
            </a:r>
          </a:p>
          <a:p>
            <a:pPr algn="ctr"/>
            <a:r>
              <a:rPr sz="1100" b="0" i="0">
                <a:solidFill>
                  <a:srgbClr val="111B30"/>
                </a:solidFill>
                <a:latin typeface="Calibri"/>
              </a:rPr>
              <a:t>not obvious from a</a:t>
            </a:r>
          </a:p>
          <a:p>
            <a:pPr algn="ctr"/>
            <a:r>
              <a:rPr sz="1100" b="0" i="0">
                <a:solidFill>
                  <a:srgbClr val="111B30"/>
                </a:solidFill>
                <a:latin typeface="Calibri"/>
              </a:rPr>
              <a:t>quick log glance</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Enable and review PowerShell transcription logging</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Malicious Scheduled Task for Persistence</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has already</a:t>
            </a:r>
          </a:p>
          <a:p>
            <a:pPr algn="ctr"/>
            <a:r>
              <a:rPr sz="1100" b="0" i="0">
                <a:solidFill>
                  <a:srgbClr val="111B30"/>
                </a:solidFill>
                <a:latin typeface="Calibri"/>
              </a:rPr>
              <a:t>gained code execution</a:t>
            </a:r>
          </a:p>
          <a:p>
            <a:pPr algn="ctr"/>
            <a:r>
              <a:rPr sz="1100" b="0" i="0">
                <a:solidFill>
                  <a:srgbClr val="111B30"/>
                </a:solidFill>
                <a:latin typeface="Calibri"/>
              </a:rPr>
              <a:t>once</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Registers a scheduled</a:t>
            </a:r>
          </a:p>
          <a:p>
            <a:pPr algn="ctr"/>
            <a:r>
              <a:rPr sz="1100" b="1" i="0">
                <a:solidFill>
                  <a:srgbClr val="111B30"/>
                </a:solidFill>
                <a:latin typeface="Calibri"/>
              </a:rPr>
              <a:t>task to re-run a</a:t>
            </a:r>
          </a:p>
          <a:p>
            <a:pPr algn="ctr"/>
            <a:r>
              <a:rPr sz="1100" b="1" i="0">
                <a:solidFill>
                  <a:srgbClr val="111B30"/>
                </a:solidFill>
                <a:latin typeface="Calibri"/>
              </a:rPr>
              <a:t>payload automatically</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Payload survives reboot</a:t>
            </a:r>
          </a:p>
          <a:p>
            <a:pPr algn="ctr"/>
            <a:r>
              <a:rPr sz="1100" b="0" i="0">
                <a:solidFill>
                  <a:srgbClr val="111B30"/>
                </a:solidFill>
                <a:latin typeface="Calibri"/>
              </a:rPr>
              <a:t>and re-logon without</a:t>
            </a:r>
          </a:p>
          <a:p>
            <a:pPr algn="ctr"/>
            <a:r>
              <a:rPr sz="1100" b="0" i="0">
                <a:solidFill>
                  <a:srgbClr val="111B30"/>
                </a:solidFill>
                <a:latin typeface="Calibri"/>
              </a:rPr>
              <a:t>further attacker action</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Audit new scheduled task creation (Event ID 4698); least-privilege run-as accounts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Overly-Privileged Automation Account</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 scheduled task is</a:t>
            </a:r>
          </a:p>
          <a:p>
            <a:pPr algn="ctr"/>
            <a:r>
              <a:rPr sz="1100" b="0" i="0">
                <a:solidFill>
                  <a:srgbClr val="111B30"/>
                </a:solidFill>
                <a:latin typeface="Calibri"/>
              </a:rPr>
              <a:t>configured to run as</a:t>
            </a:r>
          </a:p>
          <a:p>
            <a:pPr algn="ctr"/>
            <a:r>
              <a:rPr sz="1100" b="0" i="0">
                <a:solidFill>
                  <a:srgbClr val="111B30"/>
                </a:solidFill>
                <a:latin typeface="Calibri"/>
              </a:rPr>
              <a:t>a powerful account</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The task's actual work</a:t>
            </a:r>
          </a:p>
          <a:p>
            <a:pPr algn="ctr"/>
            <a:r>
              <a:rPr sz="1100" b="1" i="0">
                <a:solidFill>
                  <a:srgbClr val="111B30"/>
                </a:solidFill>
                <a:latin typeface="Calibri"/>
              </a:rPr>
              <a:t>needs far fewer</a:t>
            </a:r>
          </a:p>
          <a:p>
            <a:pPr algn="ctr"/>
            <a:r>
              <a:rPr sz="1100" b="1" i="0">
                <a:solidFill>
                  <a:srgbClr val="111B30"/>
                </a:solidFill>
                <a:latin typeface="Calibri"/>
              </a:rPr>
              <a:t>rights than that</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Compromising the task</a:t>
            </a:r>
          </a:p>
          <a:p>
            <a:pPr algn="ctr"/>
            <a:r>
              <a:rPr sz="1100" b="0" i="0">
                <a:solidFill>
                  <a:srgbClr val="111B30"/>
                </a:solidFill>
                <a:latin typeface="Calibri"/>
              </a:rPr>
              <a:t>grants far more access</a:t>
            </a:r>
          </a:p>
          <a:p>
            <a:pPr algn="ctr"/>
            <a:r>
              <a:rPr sz="1100" b="0" i="0">
                <a:solidFill>
                  <a:srgbClr val="111B30"/>
                </a:solidFill>
                <a:latin typeface="Calibri"/>
              </a:rPr>
              <a:t>than it should</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Scope run-as account to only what the task requires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822960" y="2962656"/>
            <a:ext cx="1005840" cy="1005840"/>
          </a:xfrm>
          <a:prstGeom prst="rect">
            <a:avLst/>
          </a:prstGeom>
          <a:solidFill>
            <a:srgbClr val="00B4D8"/>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4000" b="1" i="0">
                <a:solidFill>
                  <a:srgbClr val="1B2A4A"/>
                </a:solidFill>
                <a:latin typeface="Calibri"/>
              </a:rPr>
              <a:t>05</a:t>
            </a:r>
          </a:p>
        </p:txBody>
      </p:sp>
      <p:sp>
        <p:nvSpPr>
          <p:cNvPr id="3" name="TextBox 2"/>
          <p:cNvSpPr txBox="1"/>
          <p:nvPr/>
        </p:nvSpPr>
        <p:spPr>
          <a:xfrm>
            <a:off x="2103120" y="2962656"/>
            <a:ext cx="9448495" cy="1005840"/>
          </a:xfrm>
          <a:prstGeom prst="rect">
            <a:avLst/>
          </a:prstGeom>
          <a:noFill/>
        </p:spPr>
        <p:txBody>
          <a:bodyPr wrap="square" anchor="ctr">
            <a:spAutoFit/>
          </a:bodyPr>
          <a:lstStyle/>
          <a:p>
            <a:r>
              <a:rPr sz="3200" b="1" i="0">
                <a:solidFill>
                  <a:srgbClr val="FFFFFF"/>
                </a:solidFill>
                <a:latin typeface="Cambria"/>
              </a:rPr>
              <a:t>Patching, Replication &amp; Backup: WSUS, DFS &amp; VSS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WSUS Architecture</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Centralizes patch approval/distribution instead of every machine hitting Microsoft directly.</a:t>
            </a:r>
          </a:p>
        </p:txBody>
      </p:sp>
      <p:sp>
        <p:nvSpPr>
          <p:cNvPr id="4" name="Rounded Rectangle 3"/>
          <p:cNvSpPr/>
          <p:nvPr/>
        </p:nvSpPr>
        <p:spPr>
          <a:xfrm>
            <a:off x="4480560" y="1920240"/>
            <a:ext cx="3200400" cy="5486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Microsoft Update (Internet)</a:t>
            </a:r>
          </a:p>
        </p:txBody>
      </p:sp>
      <p:sp>
        <p:nvSpPr>
          <p:cNvPr id="5" name="Rounded Rectangle 4"/>
          <p:cNvSpPr/>
          <p:nvPr/>
        </p:nvSpPr>
        <p:spPr>
          <a:xfrm>
            <a:off x="4480560" y="2788920"/>
            <a:ext cx="3200400" cy="5486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Upstream WSUS Server</a:t>
            </a:r>
          </a:p>
        </p:txBody>
      </p:sp>
      <p:sp>
        <p:nvSpPr>
          <p:cNvPr id="6" name="Rounded Rectangle 5"/>
          <p:cNvSpPr/>
          <p:nvPr/>
        </p:nvSpPr>
        <p:spPr>
          <a:xfrm>
            <a:off x="1828800" y="3657600"/>
            <a:ext cx="3291840" cy="64008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0" i="0">
                <a:solidFill>
                  <a:srgbClr val="111B30"/>
                </a:solidFill>
                <a:latin typeface="Calibri"/>
              </a:rPr>
              <a:t>Downstream WSUS</a:t>
            </a:r>
          </a:p>
          <a:p>
            <a:pPr algn="ctr"/>
            <a:r>
              <a:rPr sz="950" b="0" i="0">
                <a:solidFill>
                  <a:srgbClr val="111B30"/>
                </a:solidFill>
                <a:latin typeface="Calibri"/>
              </a:rPr>
              <a:t>(Autonomous mode)</a:t>
            </a:r>
          </a:p>
        </p:txBody>
      </p:sp>
      <p:sp>
        <p:nvSpPr>
          <p:cNvPr id="7" name="Rounded Rectangle 6"/>
          <p:cNvSpPr/>
          <p:nvPr/>
        </p:nvSpPr>
        <p:spPr>
          <a:xfrm>
            <a:off x="7040880" y="3657600"/>
            <a:ext cx="3291840" cy="64008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0" i="0">
                <a:solidFill>
                  <a:srgbClr val="111B30"/>
                </a:solidFill>
                <a:latin typeface="Calibri"/>
              </a:rPr>
              <a:t>Downstream WSUS</a:t>
            </a:r>
          </a:p>
          <a:p>
            <a:pPr algn="ctr"/>
            <a:r>
              <a:rPr sz="950" b="0" i="0">
                <a:solidFill>
                  <a:srgbClr val="111B30"/>
                </a:solidFill>
                <a:latin typeface="Calibri"/>
              </a:rPr>
              <a:t>(Replica mode)</a:t>
            </a:r>
          </a:p>
        </p:txBody>
      </p:sp>
      <p:sp>
        <p:nvSpPr>
          <p:cNvPr id="8" name="Rounded Rectangle 7"/>
          <p:cNvSpPr/>
          <p:nvPr/>
        </p:nvSpPr>
        <p:spPr>
          <a:xfrm>
            <a:off x="1188720" y="4617720"/>
            <a:ext cx="1371600" cy="502920"/>
          </a:xfrm>
          <a:prstGeom prst="roundRect">
            <a:avLst/>
          </a:prstGeom>
          <a:solidFill>
            <a:srgbClr val="FFFFFF"/>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00" b="0" i="0">
                <a:solidFill>
                  <a:srgbClr val="111B30"/>
                </a:solidFill>
                <a:latin typeface="Calibri"/>
              </a:rPr>
              <a:t>Client Group A</a:t>
            </a:r>
          </a:p>
        </p:txBody>
      </p:sp>
      <p:sp>
        <p:nvSpPr>
          <p:cNvPr id="9" name="Rounded Rectangle 8"/>
          <p:cNvSpPr/>
          <p:nvPr/>
        </p:nvSpPr>
        <p:spPr>
          <a:xfrm>
            <a:off x="2743200" y="4617720"/>
            <a:ext cx="1371600" cy="502920"/>
          </a:xfrm>
          <a:prstGeom prst="roundRect">
            <a:avLst/>
          </a:prstGeom>
          <a:solidFill>
            <a:srgbClr val="FFFFFF"/>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00" b="0" i="0">
                <a:solidFill>
                  <a:srgbClr val="111B30"/>
                </a:solidFill>
                <a:latin typeface="Calibri"/>
              </a:rPr>
              <a:t>Client Group B</a:t>
            </a:r>
          </a:p>
        </p:txBody>
      </p:sp>
      <p:sp>
        <p:nvSpPr>
          <p:cNvPr id="10" name="Rounded Rectangle 9"/>
          <p:cNvSpPr/>
          <p:nvPr/>
        </p:nvSpPr>
        <p:spPr>
          <a:xfrm>
            <a:off x="7315200" y="4617720"/>
            <a:ext cx="1371600" cy="502920"/>
          </a:xfrm>
          <a:prstGeom prst="roundRect">
            <a:avLst/>
          </a:prstGeom>
          <a:solidFill>
            <a:srgbClr val="FFFFFF"/>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00" b="0" i="0">
                <a:solidFill>
                  <a:srgbClr val="111B30"/>
                </a:solidFill>
                <a:latin typeface="Calibri"/>
              </a:rPr>
              <a:t>Client Group C</a:t>
            </a:r>
          </a:p>
        </p:txBody>
      </p:sp>
      <p:sp>
        <p:nvSpPr>
          <p:cNvPr id="11" name="Rounded Rectangle 10"/>
          <p:cNvSpPr/>
          <p:nvPr/>
        </p:nvSpPr>
        <p:spPr>
          <a:xfrm>
            <a:off x="8869680" y="4617720"/>
            <a:ext cx="1371600" cy="502920"/>
          </a:xfrm>
          <a:prstGeom prst="roundRect">
            <a:avLst/>
          </a:prstGeom>
          <a:solidFill>
            <a:srgbClr val="FFFFFF"/>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00" b="0" i="0">
                <a:solidFill>
                  <a:srgbClr val="111B30"/>
                </a:solidFill>
                <a:latin typeface="Calibri"/>
              </a:rPr>
              <a:t>Client Group D</a:t>
            </a:r>
          </a:p>
        </p:txBody>
      </p:sp>
      <p:cxnSp>
        <p:nvCxnSpPr>
          <p:cNvPr id="12" name="Connector 11"/>
          <p:cNvCxnSpPr/>
          <p:nvPr/>
        </p:nvCxnSpPr>
        <p:spPr>
          <a:xfrm>
            <a:off x="6080760" y="2468880"/>
            <a:ext cx="0" cy="32004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474720" y="3337560"/>
            <a:ext cx="2606040" cy="32004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080760" y="3337560"/>
            <a:ext cx="2606040" cy="32004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874519" y="4297680"/>
            <a:ext cx="1600201" cy="32004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3429000" y="4297680"/>
            <a:ext cx="45720" cy="32004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8001000" y="4297680"/>
            <a:ext cx="685800" cy="32004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686800" y="4297680"/>
            <a:ext cx="868680" cy="32004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WSUS Configuration Essentials</a:t>
            </a:r>
          </a:p>
        </p:txBody>
      </p:sp>
      <p:graphicFrame>
        <p:nvGraphicFramePr>
          <p:cNvPr id="3" name="Table 2"/>
          <p:cNvGraphicFramePr>
            <a:graphicFrameLocks noGrp="1"/>
          </p:cNvGraphicFramePr>
          <p:nvPr/>
        </p:nvGraphicFramePr>
        <p:xfrm>
          <a:off x="640080" y="1554480"/>
          <a:ext cx="10362895" cy="2743200"/>
        </p:xfrm>
        <a:graphic>
          <a:graphicData uri="http://schemas.openxmlformats.org/drawingml/2006/table">
            <a:tbl>
              <a:tblPr firstRow="1" bandRow="1">
                <a:tableStyleId>{5C22544A-7EE6-4342-B048-85BDC9FD1C3A}</a:tableStyleId>
              </a:tblPr>
              <a:tblGrid>
                <a:gridCol w="3200400"/>
                <a:gridCol w="7162495"/>
              </a:tblGrid>
              <a:tr h="457200">
                <a:tc>
                  <a:txBody>
                    <a:bodyPr/>
                    <a:lstStyle/>
                    <a:p>
                      <a:pPr algn="l"/>
                      <a:r>
                        <a:rPr sz="1250" b="1" i="0">
                          <a:solidFill>
                            <a:srgbClr val="FFFFFF"/>
                          </a:solidFill>
                          <a:latin typeface="Calibri"/>
                        </a:rPr>
                        <a:t>Concept</a:t>
                      </a:r>
                    </a:p>
                  </a:txBody>
                  <a:tcPr anchor="ctr" marL="76200" marR="76200" marT="38100" marB="38100">
                    <a:solidFill>
                      <a:srgbClr val="1B2A4A"/>
                    </a:solidFill>
                  </a:tcPr>
                </a:tc>
                <a:tc>
                  <a:txBody>
                    <a:bodyPr/>
                    <a:lstStyle/>
                    <a:p>
                      <a:pPr algn="l"/>
                      <a:r>
                        <a:rPr sz="1250" b="1" i="0">
                          <a:solidFill>
                            <a:srgbClr val="FFFFFF"/>
                          </a:solidFill>
                          <a:latin typeface="Calibri"/>
                        </a:rPr>
                        <a:t>What It Controls</a:t>
                      </a:r>
                    </a:p>
                  </a:txBody>
                  <a:tcPr anchor="ctr" marL="76200" marR="76200" marT="38100" marB="38100">
                    <a:solidFill>
                      <a:srgbClr val="1B2A4A"/>
                    </a:solidFill>
                  </a:tcPr>
                </a:tc>
              </a:tr>
              <a:tr h="457200">
                <a:tc>
                  <a:txBody>
                    <a:bodyPr/>
                    <a:lstStyle/>
                    <a:p>
                      <a:pPr algn="l"/>
                      <a:r>
                        <a:rPr sz="1250" b="0" i="0">
                          <a:solidFill>
                            <a:srgbClr val="111B30"/>
                          </a:solidFill>
                          <a:latin typeface="Calibri"/>
                        </a:rPr>
                        <a:t>Products</a:t>
                      </a:r>
                    </a:p>
                  </a:txBody>
                  <a:tcPr anchor="ctr" marL="76200" marR="76200" marT="38100" marB="38100">
                    <a:solidFill>
                      <a:srgbClr val="FFFFFF"/>
                    </a:solidFill>
                  </a:tcPr>
                </a:tc>
                <a:tc>
                  <a:txBody>
                    <a:bodyPr/>
                    <a:lstStyle/>
                    <a:p>
                      <a:pPr algn="l"/>
                      <a:r>
                        <a:rPr sz="1250" b="0" i="0">
                          <a:solidFill>
                            <a:srgbClr val="111B30"/>
                          </a:solidFill>
                          <a:latin typeface="Calibri"/>
                        </a:rPr>
                        <a:t>Which OS/software families WSUS synchronizes updates for</a:t>
                      </a:r>
                    </a:p>
                  </a:txBody>
                  <a:tcPr anchor="ctr" marL="76200" marR="76200" marT="38100" marB="38100">
                    <a:solidFill>
                      <a:srgbClr val="FFFFFF"/>
                    </a:solidFill>
                  </a:tcPr>
                </a:tc>
              </a:tr>
              <a:tr h="457200">
                <a:tc>
                  <a:txBody>
                    <a:bodyPr/>
                    <a:lstStyle/>
                    <a:p>
                      <a:pPr algn="l"/>
                      <a:r>
                        <a:rPr sz="1250" b="0" i="0">
                          <a:solidFill>
                            <a:srgbClr val="111B30"/>
                          </a:solidFill>
                          <a:latin typeface="Calibri"/>
                        </a:rPr>
                        <a:t>Classifications</a:t>
                      </a:r>
                    </a:p>
                  </a:txBody>
                  <a:tcPr anchor="ctr" marL="76200" marR="76200" marT="38100" marB="38100">
                    <a:solidFill>
                      <a:srgbClr val="E8EEF7"/>
                    </a:solidFill>
                  </a:tcPr>
                </a:tc>
                <a:tc>
                  <a:txBody>
                    <a:bodyPr/>
                    <a:lstStyle/>
                    <a:p>
                      <a:pPr algn="l"/>
                      <a:r>
                        <a:rPr sz="1250" b="0" i="0">
                          <a:solidFill>
                            <a:srgbClr val="111B30"/>
                          </a:solidFill>
                          <a:latin typeface="Calibri"/>
                        </a:rPr>
                        <a:t>Update types synced (Critical, Security, Feature, Drivers, etc.)</a:t>
                      </a:r>
                    </a:p>
                  </a:txBody>
                  <a:tcPr anchor="ctr" marL="76200" marR="76200" marT="38100" marB="38100">
                    <a:solidFill>
                      <a:srgbClr val="E8EEF7"/>
                    </a:solidFill>
                  </a:tcPr>
                </a:tc>
              </a:tr>
              <a:tr h="457200">
                <a:tc>
                  <a:txBody>
                    <a:bodyPr/>
                    <a:lstStyle/>
                    <a:p>
                      <a:pPr algn="l"/>
                      <a:r>
                        <a:rPr sz="1250" b="0" i="0">
                          <a:solidFill>
                            <a:srgbClr val="111B30"/>
                          </a:solidFill>
                          <a:latin typeface="Calibri"/>
                        </a:rPr>
                        <a:t>Computer Groups</a:t>
                      </a:r>
                    </a:p>
                  </a:txBody>
                  <a:tcPr anchor="ctr" marL="76200" marR="76200" marT="38100" marB="38100">
                    <a:solidFill>
                      <a:srgbClr val="FFFFFF"/>
                    </a:solidFill>
                  </a:tcPr>
                </a:tc>
                <a:tc>
                  <a:txBody>
                    <a:bodyPr/>
                    <a:lstStyle/>
                    <a:p>
                      <a:pPr algn="l"/>
                      <a:r>
                        <a:rPr sz="1250" b="0" i="0">
                          <a:solidFill>
                            <a:srgbClr val="111B30"/>
                          </a:solidFill>
                          <a:latin typeface="Calibri"/>
                        </a:rPr>
                        <a:t>Targeting - which machines get which approved updates, tied to GPO</a:t>
                      </a:r>
                    </a:p>
                  </a:txBody>
                  <a:tcPr anchor="ctr" marL="76200" marR="76200" marT="38100" marB="38100">
                    <a:solidFill>
                      <a:srgbClr val="FFFFFF"/>
                    </a:solidFill>
                  </a:tcPr>
                </a:tc>
              </a:tr>
              <a:tr h="457200">
                <a:tc>
                  <a:txBody>
                    <a:bodyPr/>
                    <a:lstStyle/>
                    <a:p>
                      <a:pPr algn="l"/>
                      <a:r>
                        <a:rPr sz="1250" b="0" i="0">
                          <a:solidFill>
                            <a:srgbClr val="111B30"/>
                          </a:solidFill>
                          <a:latin typeface="Calibri"/>
                        </a:rPr>
                        <a:t>Approval workflow</a:t>
                      </a:r>
                    </a:p>
                  </a:txBody>
                  <a:tcPr anchor="ctr" marL="76200" marR="76200" marT="38100" marB="38100">
                    <a:solidFill>
                      <a:srgbClr val="E8EEF7"/>
                    </a:solidFill>
                  </a:tcPr>
                </a:tc>
                <a:tc>
                  <a:txBody>
                    <a:bodyPr/>
                    <a:lstStyle/>
                    <a:p>
                      <a:pPr algn="l"/>
                      <a:r>
                        <a:rPr sz="1250" b="0" i="0">
                          <a:solidFill>
                            <a:srgbClr val="111B30"/>
                          </a:solidFill>
                          <a:latin typeface="Calibri"/>
                        </a:rPr>
                        <a:t>Updates don't deploy until approved for a target group (test group first)</a:t>
                      </a:r>
                    </a:p>
                  </a:txBody>
                  <a:tcPr anchor="ctr" marL="76200" marR="76200" marT="38100" marB="38100">
                    <a:solidFill>
                      <a:srgbClr val="E8EEF7"/>
                    </a:solidFill>
                  </a:tcPr>
                </a:tc>
              </a:tr>
              <a:tr h="457200">
                <a:tc>
                  <a:txBody>
                    <a:bodyPr/>
                    <a:lstStyle/>
                    <a:p>
                      <a:pPr algn="l"/>
                      <a:r>
                        <a:rPr sz="1250" b="0" i="0">
                          <a:solidFill>
                            <a:srgbClr val="111B30"/>
                          </a:solidFill>
                          <a:latin typeface="Calibri"/>
                        </a:rPr>
                        <a:t>Auto-approval rules</a:t>
                      </a:r>
                    </a:p>
                  </a:txBody>
                  <a:tcPr anchor="ctr" marL="76200" marR="76200" marT="38100" marB="38100">
                    <a:solidFill>
                      <a:srgbClr val="FFFFFF"/>
                    </a:solidFill>
                  </a:tcPr>
                </a:tc>
                <a:tc>
                  <a:txBody>
                    <a:bodyPr/>
                    <a:lstStyle/>
                    <a:p>
                      <a:pPr algn="l"/>
                      <a:r>
                        <a:rPr sz="1250" b="0" i="0">
                          <a:solidFill>
                            <a:srgbClr val="111B30"/>
                          </a:solidFill>
                          <a:latin typeface="Calibri"/>
                        </a:rPr>
                        <a:t>Optional automation for low-risk classifications (e.g. Critical + Security)</a:t>
                      </a:r>
                    </a:p>
                  </a:txBody>
                  <a:tcPr anchor="ctr" marL="76200" marR="76200" marT="38100" marB="38100">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Unsigned/HTTP WSUS MITM</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WSUS traffic runs over</a:t>
            </a:r>
          </a:p>
          <a:p>
            <a:pPr algn="ctr"/>
            <a:r>
              <a:rPr sz="1100" b="0" i="0">
                <a:solidFill>
                  <a:srgbClr val="111B30"/>
                </a:solidFill>
                <a:latin typeface="Calibri"/>
              </a:rPr>
              <a:t>plain HTTP, not HTTPS</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Attacker on-path injects</a:t>
            </a:r>
          </a:p>
          <a:p>
            <a:pPr algn="ctr"/>
            <a:r>
              <a:rPr sz="1100" b="1" i="0">
                <a:solidFill>
                  <a:srgbClr val="111B30"/>
                </a:solidFill>
                <a:latin typeface="Calibri"/>
              </a:rPr>
              <a:t>a malicious “update”</a:t>
            </a:r>
          </a:p>
          <a:p>
            <a:pPr algn="ctr"/>
            <a:r>
              <a:rPr sz="1100" b="1" i="0">
                <a:solidFill>
                  <a:srgbClr val="111B30"/>
                </a:solidFill>
                <a:latin typeface="Calibri"/>
              </a:rPr>
              <a:t>into that traffic</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Becomes a code-execution-</a:t>
            </a:r>
          </a:p>
          <a:p>
            <a:pPr algn="ctr"/>
            <a:r>
              <a:rPr sz="1100" b="0" i="0">
                <a:solidFill>
                  <a:srgbClr val="111B30"/>
                </a:solidFill>
                <a:latin typeface="Calibri"/>
              </a:rPr>
              <a:t>as-a-service pivot point</a:t>
            </a:r>
          </a:p>
          <a:p>
            <a:pPr algn="ctr"/>
            <a:r>
              <a:rPr sz="1100" b="0" i="0">
                <a:solidFill>
                  <a:srgbClr val="111B30"/>
                </a:solidFill>
                <a:latin typeface="Calibri"/>
              </a:rPr>
              <a:t>across every client</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Configure WSUS over HTTPS (SSL binding)</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Fake Update Injection</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gains access</a:t>
            </a:r>
          </a:p>
          <a:p>
            <a:pPr algn="ctr"/>
            <a:r>
              <a:rPr sz="1100" b="0" i="0">
                <a:solidFill>
                  <a:srgbClr val="111B30"/>
                </a:solidFill>
                <a:latin typeface="Calibri"/>
              </a:rPr>
              <a:t>to the WSUS server</a:t>
            </a:r>
          </a:p>
          <a:p>
            <a:pPr algn="ctr"/>
            <a:r>
              <a:rPr sz="1100" b="0" i="0">
                <a:solidFill>
                  <a:srgbClr val="111B30"/>
                </a:solidFill>
                <a:latin typeface="Calibri"/>
              </a:rPr>
              <a:t>itself</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Approves a malicious</a:t>
            </a:r>
          </a:p>
          <a:p>
            <a:pPr algn="ctr"/>
            <a:r>
              <a:rPr sz="1100" b="1" i="0">
                <a:solidFill>
                  <a:srgbClr val="111B30"/>
                </a:solidFill>
                <a:latin typeface="Calibri"/>
              </a:rPr>
              <a:t>package as a trusted,</a:t>
            </a:r>
          </a:p>
          <a:p>
            <a:pPr algn="ctr"/>
            <a:r>
              <a:rPr sz="1100" b="1" i="0">
                <a:solidFill>
                  <a:srgbClr val="111B30"/>
                </a:solidFill>
                <a:latin typeface="Calibri"/>
              </a:rPr>
              <a:t>approved update</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Every targeted client</a:t>
            </a:r>
          </a:p>
          <a:p>
            <a:pPr algn="ctr"/>
            <a:r>
              <a:rPr sz="1100" b="0" i="0">
                <a:solidFill>
                  <a:srgbClr val="111B30"/>
                </a:solidFill>
                <a:latin typeface="Calibri"/>
              </a:rPr>
              <a:t>installs the malicious</a:t>
            </a:r>
          </a:p>
          <a:p>
            <a:pPr algn="ctr"/>
            <a:r>
              <a:rPr sz="1100" b="0" i="0">
                <a:solidFill>
                  <a:srgbClr val="111B30"/>
                </a:solidFill>
                <a:latin typeface="Calibri"/>
              </a:rPr>
              <a:t>package as "trusted"</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Restrict WSUS admin rights; monitor approval activity</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Client Trusts WSUS Implicitly</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Clients are configured</a:t>
            </a:r>
          </a:p>
          <a:p>
            <a:pPr algn="ctr"/>
            <a:r>
              <a:rPr sz="1100" b="0" i="0">
                <a:solidFill>
                  <a:srgbClr val="111B30"/>
                </a:solidFill>
                <a:latin typeface="Calibri"/>
              </a:rPr>
              <a:t>via GPO to trust their</a:t>
            </a:r>
          </a:p>
          <a:p>
            <a:pPr algn="ctr"/>
            <a:r>
              <a:rPr sz="1100" b="0" i="0">
                <a:solidFill>
                  <a:srgbClr val="111B30"/>
                </a:solidFill>
                <a:latin typeface="Calibri"/>
              </a:rPr>
              <a:t>WSUS server by default</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That trust is not</a:t>
            </a:r>
          </a:p>
          <a:p>
            <a:pPr algn="ctr"/>
            <a:r>
              <a:rPr sz="1100" b="1" i="0">
                <a:solidFill>
                  <a:srgbClr val="111B30"/>
                </a:solidFill>
                <a:latin typeface="Calibri"/>
              </a:rPr>
              <a:t>re-verified per update</a:t>
            </a:r>
          </a:p>
          <a:p>
            <a:pPr algn="ctr"/>
            <a:r>
              <a:rPr sz="1100" b="1" i="0">
                <a:solidFill>
                  <a:srgbClr val="111B30"/>
                </a:solidFill>
                <a:latin typeface="Calibri"/>
              </a:rPr>
              <a:t>beyond the transport</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 compromised or</a:t>
            </a:r>
          </a:p>
          <a:p>
            <a:pPr algn="ctr"/>
            <a:r>
              <a:rPr sz="1100" b="0" i="0">
                <a:solidFill>
                  <a:srgbClr val="111B30"/>
                </a:solidFill>
                <a:latin typeface="Calibri"/>
              </a:rPr>
              <a:t>spoofed WSUS server</a:t>
            </a:r>
          </a:p>
          <a:p>
            <a:pPr algn="ctr"/>
            <a:r>
              <a:rPr sz="1100" b="0" i="0">
                <a:solidFill>
                  <a:srgbClr val="111B30"/>
                </a:solidFill>
                <a:latin typeface="Calibri"/>
              </a:rPr>
              <a:t>is trusted automatically</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Signed updates verified via Microsoft's code-signing chain regardless of transport</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Delayed Patching Window</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Update approval process</a:t>
            </a:r>
          </a:p>
          <a:p>
            <a:pPr algn="ctr"/>
            <a:r>
              <a:rPr sz="1100" b="0" i="0">
                <a:solidFill>
                  <a:srgbClr val="111B30"/>
                </a:solidFill>
                <a:latin typeface="Calibri"/>
              </a:rPr>
              <a:t>is slow or inconsistently</a:t>
            </a:r>
          </a:p>
          <a:p>
            <a:pPr algn="ctr"/>
            <a:r>
              <a:rPr sz="1100" b="0" i="0">
                <a:solidFill>
                  <a:srgbClr val="111B30"/>
                </a:solidFill>
                <a:latin typeface="Calibri"/>
              </a:rPr>
              <a:t>staffed</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Known vulnerabilities</a:t>
            </a:r>
          </a:p>
          <a:p>
            <a:pPr algn="ctr"/>
            <a:r>
              <a:rPr sz="1100" b="1" i="0">
                <a:solidFill>
                  <a:srgbClr val="111B30"/>
                </a:solidFill>
                <a:latin typeface="Calibri"/>
              </a:rPr>
              <a:t>remain unpatched</a:t>
            </a:r>
          </a:p>
          <a:p>
            <a:pPr algn="ctr"/>
            <a:r>
              <a:rPr sz="1100" b="1" i="0">
                <a:solidFill>
                  <a:srgbClr val="111B30"/>
                </a:solidFill>
                <a:latin typeface="Calibri"/>
              </a:rPr>
              <a:t>longer than necessary</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 widening window where</a:t>
            </a:r>
          </a:p>
          <a:p>
            <a:pPr algn="ctr"/>
            <a:r>
              <a:rPr sz="1100" b="0" i="0">
                <a:solidFill>
                  <a:srgbClr val="111B30"/>
                </a:solidFill>
                <a:latin typeface="Calibri"/>
              </a:rPr>
              <a:t>known exploits work</a:t>
            </a:r>
          </a:p>
          <a:p>
            <a:pPr algn="ctr"/>
            <a:r>
              <a:rPr sz="1100" b="0" i="0">
                <a:solidFill>
                  <a:srgbClr val="111B30"/>
                </a:solidFill>
                <a:latin typeface="Calibri"/>
              </a:rPr>
              <a:t>against the fleet</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Auto-approval for Critical/Security; a defined SLA for patch review</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Distributed File System: Namespaces &amp; Replication</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DFS solves “one logical path, multiple physical servers” for both availability and geography.</a:t>
            </a:r>
          </a:p>
        </p:txBody>
      </p:sp>
      <p:sp>
        <p:nvSpPr>
          <p:cNvPr id="4" name="Rounded Rectangle 3"/>
          <p:cNvSpPr/>
          <p:nvPr/>
        </p:nvSpPr>
        <p:spPr>
          <a:xfrm>
            <a:off x="4480560" y="2011680"/>
            <a:ext cx="3200400" cy="59436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1" i="0">
                <a:solidFill>
                  <a:srgbClr val="111B30"/>
                </a:solidFill>
                <a:latin typeface="Calibri"/>
              </a:rPr>
              <a:t>\\lab3.local\Shared</a:t>
            </a:r>
          </a:p>
          <a:p>
            <a:pPr algn="ctr"/>
            <a:r>
              <a:rPr sz="1000" b="1" i="0">
                <a:solidFill>
                  <a:srgbClr val="111B30"/>
                </a:solidFill>
                <a:latin typeface="Calibri"/>
              </a:rPr>
              <a:t>(DFS Namespace Root)</a:t>
            </a:r>
          </a:p>
        </p:txBody>
      </p:sp>
      <p:sp>
        <p:nvSpPr>
          <p:cNvPr id="5" name="Rounded Rectangle 4"/>
          <p:cNvSpPr/>
          <p:nvPr/>
        </p:nvSpPr>
        <p:spPr>
          <a:xfrm>
            <a:off x="1828800" y="3108960"/>
            <a:ext cx="3108960" cy="64008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Folder Target:</a:t>
            </a:r>
          </a:p>
          <a:p>
            <a:pPr algn="ctr"/>
            <a:r>
              <a:rPr sz="1000" b="0" i="0">
                <a:solidFill>
                  <a:srgbClr val="111B30"/>
                </a:solidFill>
                <a:latin typeface="Calibri"/>
              </a:rPr>
              <a:t>FileSrv-A (Site 1)</a:t>
            </a:r>
          </a:p>
        </p:txBody>
      </p:sp>
      <p:sp>
        <p:nvSpPr>
          <p:cNvPr id="6" name="Rounded Rectangle 5"/>
          <p:cNvSpPr/>
          <p:nvPr/>
        </p:nvSpPr>
        <p:spPr>
          <a:xfrm>
            <a:off x="7223760" y="3108960"/>
            <a:ext cx="3108960" cy="64008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Folder Target:</a:t>
            </a:r>
          </a:p>
          <a:p>
            <a:pPr algn="ctr"/>
            <a:r>
              <a:rPr sz="1000" b="0" i="0">
                <a:solidFill>
                  <a:srgbClr val="111B30"/>
                </a:solidFill>
                <a:latin typeface="Calibri"/>
              </a:rPr>
              <a:t>FileSrv-B (Site 2)</a:t>
            </a:r>
          </a:p>
        </p:txBody>
      </p:sp>
      <p:cxnSp>
        <p:nvCxnSpPr>
          <p:cNvPr id="7" name="Connector 6"/>
          <p:cNvCxnSpPr/>
          <p:nvPr/>
        </p:nvCxnSpPr>
        <p:spPr>
          <a:xfrm flipH="1">
            <a:off x="3383280" y="2606040"/>
            <a:ext cx="2697480" cy="50292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80760" y="2606040"/>
            <a:ext cx="2697480" cy="50292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3977639"/>
            <a:ext cx="10911535" cy="365760"/>
          </a:xfrm>
          <a:prstGeom prst="rect">
            <a:avLst/>
          </a:prstGeom>
          <a:noFill/>
        </p:spPr>
        <p:txBody>
          <a:bodyPr wrap="square" lIns="0" tIns="0">
            <a:spAutoFit/>
          </a:bodyPr>
          <a:lstStyle/>
          <a:p>
            <a:r>
              <a:rPr sz="1250" b="0" i="1">
                <a:solidFill>
                  <a:srgbClr val="6B7480"/>
                </a:solidFill>
                <a:latin typeface="Calibri"/>
              </a:rPr>
              <a:t>Namespace = client-facing abstraction. Replication (below) is the separate backend sync mechanism.</a:t>
            </a:r>
          </a:p>
        </p:txBody>
      </p:sp>
      <p:sp>
        <p:nvSpPr>
          <p:cNvPr id="10" name="Rounded Rectangle 9"/>
          <p:cNvSpPr/>
          <p:nvPr/>
        </p:nvSpPr>
        <p:spPr>
          <a:xfrm>
            <a:off x="2103120" y="4480560"/>
            <a:ext cx="3108960" cy="68580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FileSrv-A</a:t>
            </a:r>
          </a:p>
        </p:txBody>
      </p:sp>
      <p:sp>
        <p:nvSpPr>
          <p:cNvPr id="11" name="Rounded Rectangle 10"/>
          <p:cNvSpPr/>
          <p:nvPr/>
        </p:nvSpPr>
        <p:spPr>
          <a:xfrm>
            <a:off x="6949440" y="4480560"/>
            <a:ext cx="3108960" cy="68580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FileSrv-B</a:t>
            </a:r>
          </a:p>
        </p:txBody>
      </p:sp>
      <p:cxnSp>
        <p:nvCxnSpPr>
          <p:cNvPr id="12" name="Connector 11"/>
          <p:cNvCxnSpPr/>
          <p:nvPr/>
        </p:nvCxnSpPr>
        <p:spPr>
          <a:xfrm>
            <a:off x="5212079" y="4823460"/>
            <a:ext cx="1737361" cy="0"/>
          </a:xfrm>
          <a:prstGeom prst="line">
            <a:avLst/>
          </a:prstGeom>
          <a:ln w="25400">
            <a:solidFill>
              <a:srgbClr val="00B4D8"/>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212079" y="4677156"/>
            <a:ext cx="1737360" cy="292608"/>
          </a:xfrm>
          <a:prstGeom prst="rect">
            <a:avLst/>
          </a:prstGeom>
          <a:noFill/>
        </p:spPr>
        <p:txBody>
          <a:bodyPr wrap="square" lIns="0" tIns="0">
            <a:spAutoFit/>
          </a:bodyPr>
          <a:lstStyle/>
          <a:p>
            <a:pPr algn="ctr"/>
            <a:r>
              <a:rPr sz="900" b="0" i="1">
                <a:solidFill>
                  <a:srgbClr val="404040"/>
                </a:solidFill>
                <a:latin typeface="Calibri"/>
              </a:rPr>
              <a:t>DFS-R (multi-master)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Replication Conflict Exploitation</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has write access</a:t>
            </a:r>
          </a:p>
          <a:p>
            <a:pPr algn="ctr"/>
            <a:r>
              <a:rPr sz="1100" b="0" i="0">
                <a:solidFill>
                  <a:srgbClr val="111B30"/>
                </a:solidFill>
                <a:latin typeface="Calibri"/>
              </a:rPr>
              <a:t>to two DFS replica</a:t>
            </a:r>
          </a:p>
          <a:p>
            <a:pPr algn="ctr"/>
            <a:r>
              <a:rPr sz="1100" b="0" i="0">
                <a:solidFill>
                  <a:srgbClr val="111B30"/>
                </a:solidFill>
                <a:latin typeface="Calibri"/>
              </a:rPr>
              <a:t>targets</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Modifies the same file</a:t>
            </a:r>
          </a:p>
          <a:p>
            <a:pPr algn="ctr"/>
            <a:r>
              <a:rPr sz="1100" b="1" i="0">
                <a:solidFill>
                  <a:srgbClr val="111B30"/>
                </a:solidFill>
                <a:latin typeface="Calibri"/>
              </a:rPr>
              <a:t>on both targets</a:t>
            </a:r>
          </a:p>
          <a:p>
            <a:pPr algn="ctr"/>
            <a:r>
              <a:rPr sz="1100" b="1" i="0">
                <a:solidFill>
                  <a:srgbClr val="111B30"/>
                </a:solidFill>
                <a:latin typeface="Calibri"/>
              </a:rPr>
              <a:t>simultaneously</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Replication conflict</a:t>
            </a:r>
          </a:p>
          <a:p>
            <a:pPr algn="ctr"/>
            <a:r>
              <a:rPr sz="1100" b="0" i="0">
                <a:solidFill>
                  <a:srgbClr val="111B30"/>
                </a:solidFill>
                <a:latin typeface="Calibri"/>
              </a:rPr>
              <a:t>creates confusion or</a:t>
            </a:r>
          </a:p>
          <a:p>
            <a:pPr algn="ctr"/>
            <a:r>
              <a:rPr sz="1100" b="0" i="0">
                <a:solidFill>
                  <a:srgbClr val="111B30"/>
                </a:solidFill>
                <a:latin typeface="Calibri"/>
              </a:rPr>
              <a:t>silent data loss</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Monitor DFS-R conflict logs; restrict write access to fewer authoritative targets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Stale/Overly-Broad Namespace ACLs</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Namespace permissions</a:t>
            </a:r>
          </a:p>
          <a:p>
            <a:pPr algn="ctr"/>
            <a:r>
              <a:rPr sz="1100" b="0" i="0">
                <a:solidFill>
                  <a:srgbClr val="111B30"/>
                </a:solidFill>
                <a:latin typeface="Calibri"/>
              </a:rPr>
              <a:t>were set once, loosely,</a:t>
            </a:r>
          </a:p>
          <a:p>
            <a:pPr algn="ctr"/>
            <a:r>
              <a:rPr sz="1100" b="0" i="0">
                <a:solidFill>
                  <a:srgbClr val="111B30"/>
                </a:solidFill>
                <a:latin typeface="Calibri"/>
              </a:rPr>
              <a:t>at creation</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Those permissions get</a:t>
            </a:r>
          </a:p>
          <a:p>
            <a:pPr algn="ctr"/>
            <a:r>
              <a:rPr sz="1100" b="1" i="0">
                <a:solidFill>
                  <a:srgbClr val="111B30"/>
                </a:solidFill>
                <a:latin typeface="Calibri"/>
              </a:rPr>
              <a:t>inherited across every</a:t>
            </a:r>
          </a:p>
          <a:p>
            <a:pPr algn="ctr"/>
            <a:r>
              <a:rPr sz="1100" b="1" i="0">
                <a:solidFill>
                  <a:srgbClr val="111B30"/>
                </a:solidFill>
                <a:latin typeface="Calibri"/>
              </a:rPr>
              <a:t>folder target unreviewed</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Access is broader than</a:t>
            </a:r>
          </a:p>
          <a:p>
            <a:pPr algn="ctr"/>
            <a:r>
              <a:rPr sz="1100" b="0" i="0">
                <a:solidFill>
                  <a:srgbClr val="111B30"/>
                </a:solidFill>
                <a:latin typeface="Calibri"/>
              </a:rPr>
              <a:t>intended on targets nobody</a:t>
            </a:r>
          </a:p>
          <a:p>
            <a:pPr algn="ctr"/>
            <a:r>
              <a:rPr sz="1100" b="0" i="0">
                <a:solidFill>
                  <a:srgbClr val="111B30"/>
                </a:solidFill>
                <a:latin typeface="Calibri"/>
              </a:rPr>
              <a:t>rechecked individually</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Review folder target ACLs independently; least privilege</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Replication Lag as a Cover Window</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 malicious file change</a:t>
            </a:r>
          </a:p>
          <a:p>
            <a:pPr algn="ctr"/>
            <a:r>
              <a:rPr sz="1100" b="0" i="0">
                <a:solidFill>
                  <a:srgbClr val="111B30"/>
                </a:solidFill>
                <a:latin typeface="Calibri"/>
              </a:rPr>
              <a:t>lands on one</a:t>
            </a:r>
          </a:p>
          <a:p>
            <a:pPr algn="ctr"/>
            <a:r>
              <a:rPr sz="1100" b="0" i="0">
                <a:solidFill>
                  <a:srgbClr val="111B30"/>
                </a:solidFill>
                <a:latin typeface="Calibri"/>
              </a:rPr>
              <a:t>replica target</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That change takes time</a:t>
            </a:r>
          </a:p>
          <a:p>
            <a:pPr algn="ctr"/>
            <a:r>
              <a:rPr sz="1100" b="1" i="0">
                <a:solidFill>
                  <a:srgbClr val="111B30"/>
                </a:solidFill>
                <a:latin typeface="Calibri"/>
              </a:rPr>
              <a:t>to replicate to</a:t>
            </a:r>
          </a:p>
          <a:p>
            <a:pPr algn="ctr"/>
            <a:r>
              <a:rPr sz="1100" b="1" i="0">
                <a:solidFill>
                  <a:srgbClr val="111B30"/>
                </a:solidFill>
                <a:latin typeface="Calibri"/>
              </a:rPr>
              <a:t>other targets</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 window exists where</a:t>
            </a:r>
          </a:p>
          <a:p>
            <a:pPr algn="ctr"/>
            <a:r>
              <a:rPr sz="1100" b="0" i="0">
                <a:solidFill>
                  <a:srgbClr val="111B30"/>
                </a:solidFill>
                <a:latin typeface="Calibri"/>
              </a:rPr>
              <a:t>the change is present but</a:t>
            </a:r>
          </a:p>
          <a:p>
            <a:pPr algn="ctr"/>
            <a:r>
              <a:rPr sz="1100" b="0" i="0">
                <a:solidFill>
                  <a:srgbClr val="111B30"/>
                </a:solidFill>
                <a:latin typeface="Calibri"/>
              </a:rPr>
              <a:t>not yet widely detected</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Monitor replication health; don't rely on replication as a change-detection control</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Single Compromised Folder Target</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gains access to</a:t>
            </a:r>
          </a:p>
          <a:p>
            <a:pPr algn="ctr"/>
            <a:r>
              <a:rPr sz="1100" b="0" i="0">
                <a:solidFill>
                  <a:srgbClr val="111B30"/>
                </a:solidFill>
                <a:latin typeface="Calibri"/>
              </a:rPr>
              <a:t>one physical file server</a:t>
            </a:r>
          </a:p>
          <a:p>
            <a:pPr algn="ctr"/>
            <a:r>
              <a:rPr sz="1100" b="0" i="0">
                <a:solidFill>
                  <a:srgbClr val="111B30"/>
                </a:solidFill>
                <a:latin typeface="Calibri"/>
              </a:rPr>
              <a:t>behind the namespace</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That server is just one</a:t>
            </a:r>
          </a:p>
          <a:p>
            <a:pPr algn="ctr"/>
            <a:r>
              <a:rPr sz="1100" b="1" i="0">
                <a:solidFill>
                  <a:srgbClr val="111B30"/>
                </a:solidFill>
                <a:latin typeface="Calibri"/>
              </a:rPr>
              <a:t>of several folder targets</a:t>
            </a:r>
          </a:p>
          <a:p>
            <a:pPr algn="ctr"/>
            <a:r>
              <a:rPr sz="1100" b="1" i="0">
                <a:solidFill>
                  <a:srgbClr val="111B30"/>
                </a:solidFill>
                <a:latin typeface="Calibri"/>
              </a:rPr>
              <a:t>in the namespace</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Data seen across the</a:t>
            </a:r>
          </a:p>
          <a:p>
            <a:pPr algn="ctr"/>
            <a:r>
              <a:rPr sz="1100" b="0" i="0">
                <a:solidFill>
                  <a:srgbClr val="111B30"/>
                </a:solidFill>
                <a:latin typeface="Calibri"/>
              </a:rPr>
              <a:t>whole namespace is</a:t>
            </a:r>
          </a:p>
          <a:p>
            <a:pPr algn="ctr"/>
            <a:r>
              <a:rPr sz="1100" b="0" i="0">
                <a:solidFill>
                  <a:srgbClr val="111B30"/>
                </a:solidFill>
                <a:latin typeface="Calibri"/>
              </a:rPr>
              <a:t>affected, not just one path</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Isolate/monitor each folder target's underlying server, not just the namespace layer</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Windows Server Backup &amp; VSS Snapshots</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VSS (Volume Shadow Copy Service) makes backing up open/in-use files possible without downtime.</a:t>
            </a:r>
          </a:p>
        </p:txBody>
      </p:sp>
      <p:sp>
        <p:nvSpPr>
          <p:cNvPr id="4" name="Rounded Rectangle 3"/>
          <p:cNvSpPr/>
          <p:nvPr/>
        </p:nvSpPr>
        <p:spPr>
          <a:xfrm>
            <a:off x="914400" y="2194560"/>
            <a:ext cx="1920240" cy="7315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50" b="0" i="0">
                <a:solidFill>
                  <a:srgbClr val="111B30"/>
                </a:solidFill>
                <a:latin typeface="Calibri"/>
              </a:rPr>
              <a:t>VSS Requestor</a:t>
            </a:r>
          </a:p>
          <a:p>
            <a:pPr algn="ctr"/>
            <a:r>
              <a:rPr sz="850" b="0" i="0">
                <a:solidFill>
                  <a:srgbClr val="111B30"/>
                </a:solidFill>
                <a:latin typeface="Calibri"/>
              </a:rPr>
              <a:t>(Windows Server</a:t>
            </a:r>
          </a:p>
          <a:p>
            <a:pPr algn="ctr"/>
            <a:r>
              <a:rPr sz="850" b="0" i="0">
                <a:solidFill>
                  <a:srgbClr val="111B30"/>
                </a:solidFill>
                <a:latin typeface="Calibri"/>
              </a:rPr>
              <a:t>Backup)</a:t>
            </a:r>
          </a:p>
        </p:txBody>
      </p:sp>
      <p:sp>
        <p:nvSpPr>
          <p:cNvPr id="5" name="Rounded Rectangle 4"/>
          <p:cNvSpPr/>
          <p:nvPr/>
        </p:nvSpPr>
        <p:spPr>
          <a:xfrm>
            <a:off x="3108960" y="2194560"/>
            <a:ext cx="1737360" cy="7315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0" i="0">
                <a:solidFill>
                  <a:srgbClr val="111B30"/>
                </a:solidFill>
                <a:latin typeface="Calibri"/>
              </a:rPr>
              <a:t>VSS Service</a:t>
            </a:r>
          </a:p>
          <a:p>
            <a:pPr algn="ctr"/>
            <a:r>
              <a:rPr sz="900" b="0" i="0">
                <a:solidFill>
                  <a:srgbClr val="111B30"/>
                </a:solidFill>
                <a:latin typeface="Calibri"/>
              </a:rPr>
              <a:t>(coordinator)</a:t>
            </a:r>
          </a:p>
        </p:txBody>
      </p:sp>
      <p:sp>
        <p:nvSpPr>
          <p:cNvPr id="6" name="Rounded Rectangle 5"/>
          <p:cNvSpPr/>
          <p:nvPr/>
        </p:nvSpPr>
        <p:spPr>
          <a:xfrm>
            <a:off x="5120640" y="1645920"/>
            <a:ext cx="1828800" cy="64008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50" b="0" i="0">
                <a:solidFill>
                  <a:srgbClr val="111B30"/>
                </a:solidFill>
                <a:latin typeface="Calibri"/>
              </a:rPr>
              <a:t>VSS Writer</a:t>
            </a:r>
          </a:p>
          <a:p>
            <a:pPr algn="ctr"/>
            <a:r>
              <a:rPr sz="850" b="0" i="0">
                <a:solidFill>
                  <a:srgbClr val="111B30"/>
                </a:solidFill>
                <a:latin typeface="Calibri"/>
              </a:rPr>
              <a:t>(app-aware flush)</a:t>
            </a:r>
          </a:p>
        </p:txBody>
      </p:sp>
      <p:sp>
        <p:nvSpPr>
          <p:cNvPr id="7" name="Rounded Rectangle 6"/>
          <p:cNvSpPr/>
          <p:nvPr/>
        </p:nvSpPr>
        <p:spPr>
          <a:xfrm>
            <a:off x="5120640" y="2743200"/>
            <a:ext cx="1828800" cy="64008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50" b="0" i="0">
                <a:solidFill>
                  <a:srgbClr val="111B30"/>
                </a:solidFill>
                <a:latin typeface="Calibri"/>
              </a:rPr>
              <a:t>VSS Provider</a:t>
            </a:r>
          </a:p>
          <a:p>
            <a:pPr algn="ctr"/>
            <a:r>
              <a:rPr sz="850" b="0" i="0">
                <a:solidFill>
                  <a:srgbClr val="111B30"/>
                </a:solidFill>
                <a:latin typeface="Calibri"/>
              </a:rPr>
              <a:t>(creates snapshot)</a:t>
            </a:r>
          </a:p>
        </p:txBody>
      </p:sp>
      <p:sp>
        <p:nvSpPr>
          <p:cNvPr id="8" name="Rounded Rectangle 7"/>
          <p:cNvSpPr/>
          <p:nvPr/>
        </p:nvSpPr>
        <p:spPr>
          <a:xfrm>
            <a:off x="7223760" y="2194560"/>
            <a:ext cx="1828800" cy="7315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1" i="0">
                <a:solidFill>
                  <a:srgbClr val="111B30"/>
                </a:solidFill>
                <a:latin typeface="Calibri"/>
              </a:rPr>
              <a:t>Shadow Copy</a:t>
            </a:r>
          </a:p>
          <a:p>
            <a:pPr algn="ctr"/>
            <a:r>
              <a:rPr sz="900" b="1" i="0">
                <a:solidFill>
                  <a:srgbClr val="111B30"/>
                </a:solidFill>
                <a:latin typeface="Calibri"/>
              </a:rPr>
              <a:t>(point-in-time)</a:t>
            </a:r>
          </a:p>
        </p:txBody>
      </p:sp>
      <p:sp>
        <p:nvSpPr>
          <p:cNvPr id="9" name="Rounded Rectangle 8"/>
          <p:cNvSpPr/>
          <p:nvPr/>
        </p:nvSpPr>
        <p:spPr>
          <a:xfrm>
            <a:off x="9326880" y="2194560"/>
            <a:ext cx="1463040" cy="7315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1" i="0">
                <a:solidFill>
                  <a:srgbClr val="111B30"/>
                </a:solidFill>
                <a:latin typeface="Calibri"/>
              </a:rPr>
              <a:t>Backup</a:t>
            </a:r>
          </a:p>
          <a:p>
            <a:pPr algn="ctr"/>
            <a:r>
              <a:rPr sz="950" b="1" i="0">
                <a:solidFill>
                  <a:srgbClr val="111B30"/>
                </a:solidFill>
                <a:latin typeface="Calibri"/>
              </a:rPr>
              <a:t>Target</a:t>
            </a:r>
          </a:p>
        </p:txBody>
      </p:sp>
      <p:cxnSp>
        <p:nvCxnSpPr>
          <p:cNvPr id="10" name="Connector 9"/>
          <p:cNvCxnSpPr/>
          <p:nvPr/>
        </p:nvCxnSpPr>
        <p:spPr>
          <a:xfrm>
            <a:off x="2834640" y="2560320"/>
            <a:ext cx="274320"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846320" y="1965960"/>
            <a:ext cx="274320" cy="59436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46320" y="2560320"/>
            <a:ext cx="274320" cy="50292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949440" y="1965960"/>
            <a:ext cx="274320" cy="59436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949440" y="2560320"/>
            <a:ext cx="274320" cy="50292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52560" y="2560320"/>
            <a:ext cx="274320"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3794760"/>
            <a:ext cx="10911535" cy="365760"/>
          </a:xfrm>
          <a:prstGeom prst="rect">
            <a:avLst/>
          </a:prstGeom>
          <a:noFill/>
        </p:spPr>
        <p:txBody>
          <a:bodyPr wrap="square" lIns="0" tIns="0">
            <a:spAutoFit/>
          </a:bodyPr>
          <a:lstStyle/>
          <a:p>
            <a:r>
              <a:rPr sz="1250" b="0" i="1">
                <a:solidFill>
                  <a:srgbClr val="6B7480"/>
                </a:solidFill>
                <a:latin typeface="Calibri"/>
              </a:rPr>
              <a:t>Multiple shadow copies exist for rollback (this also powers self-service “Previous Versions” restore).</a:t>
            </a:r>
          </a:p>
        </p:txBody>
      </p:sp>
      <p:sp>
        <p:nvSpPr>
          <p:cNvPr id="17" name="Rounded Rectangle 16"/>
          <p:cNvSpPr/>
          <p:nvPr/>
        </p:nvSpPr>
        <p:spPr>
          <a:xfrm>
            <a:off x="2286000" y="4206240"/>
            <a:ext cx="1645920" cy="502920"/>
          </a:xfrm>
          <a:prstGeom prst="roundRect">
            <a:avLst/>
          </a:prstGeom>
          <a:solidFill>
            <a:srgbClr val="FFFFFF"/>
          </a:solidFill>
          <a:ln w="15875">
            <a:solidFill>
              <a:srgbClr val="6B74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0" i="0">
                <a:solidFill>
                  <a:srgbClr val="111B30"/>
                </a:solidFill>
                <a:latin typeface="Calibri"/>
              </a:rPr>
              <a:t>T-2d</a:t>
            </a:r>
          </a:p>
        </p:txBody>
      </p:sp>
      <p:sp>
        <p:nvSpPr>
          <p:cNvPr id="18" name="Rounded Rectangle 17"/>
          <p:cNvSpPr/>
          <p:nvPr/>
        </p:nvSpPr>
        <p:spPr>
          <a:xfrm>
            <a:off x="4663440" y="4206240"/>
            <a:ext cx="1645920" cy="502920"/>
          </a:xfrm>
          <a:prstGeom prst="roundRect">
            <a:avLst/>
          </a:prstGeom>
          <a:solidFill>
            <a:srgbClr val="FFFFFF"/>
          </a:solidFill>
          <a:ln w="15875">
            <a:solidFill>
              <a:srgbClr val="6B74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0" i="0">
                <a:solidFill>
                  <a:srgbClr val="111B30"/>
                </a:solidFill>
                <a:latin typeface="Calibri"/>
              </a:rPr>
              <a:t>T-1d</a:t>
            </a:r>
          </a:p>
        </p:txBody>
      </p:sp>
      <p:sp>
        <p:nvSpPr>
          <p:cNvPr id="19" name="Rounded Rectangle 18"/>
          <p:cNvSpPr/>
          <p:nvPr/>
        </p:nvSpPr>
        <p:spPr>
          <a:xfrm>
            <a:off x="7040880" y="4206240"/>
            <a:ext cx="2011680" cy="502920"/>
          </a:xfrm>
          <a:prstGeom prst="roundRect">
            <a:avLst/>
          </a:prstGeom>
          <a:solidFill>
            <a:srgbClr val="FFFFFF"/>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00" b="1" i="0">
                <a:solidFill>
                  <a:srgbClr val="111B30"/>
                </a:solidFill>
                <a:latin typeface="Calibri"/>
              </a:rPr>
              <a:t>T-0 (current)</a:t>
            </a:r>
          </a:p>
        </p:txBody>
      </p:sp>
      <p:cxnSp>
        <p:nvCxnSpPr>
          <p:cNvPr id="20" name="Connector 19"/>
          <p:cNvCxnSpPr/>
          <p:nvPr/>
        </p:nvCxnSpPr>
        <p:spPr>
          <a:xfrm>
            <a:off x="3931920" y="4457700"/>
            <a:ext cx="731520" cy="0"/>
          </a:xfrm>
          <a:prstGeom prst="line">
            <a:avLst/>
          </a:prstGeom>
          <a:ln w="1905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309359" y="4457700"/>
            <a:ext cx="731521" cy="0"/>
          </a:xfrm>
          <a:prstGeom prst="line">
            <a:avLst/>
          </a:prstGeom>
          <a:ln w="19050">
            <a:solidFill>
              <a:srgbClr val="6B748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Ransomware Deletes Shadow Copies</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has admin</a:t>
            </a:r>
          </a:p>
          <a:p>
            <a:pPr algn="ctr"/>
            <a:r>
              <a:rPr sz="1100" b="0" i="0">
                <a:solidFill>
                  <a:srgbClr val="111B30"/>
                </a:solidFill>
                <a:latin typeface="Calibri"/>
              </a:rPr>
              <a:t>access before encryption</a:t>
            </a:r>
          </a:p>
          <a:p>
            <a:pPr algn="ctr"/>
            <a:r>
              <a:rPr sz="1100" b="0" i="0">
                <a:solidFill>
                  <a:srgbClr val="111B30"/>
                </a:solidFill>
                <a:latin typeface="Calibri"/>
              </a:rPr>
              <a:t>begins</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Runs vssadmin delete</a:t>
            </a:r>
          </a:p>
          <a:p>
            <a:pPr algn="ctr"/>
            <a:r>
              <a:rPr sz="1100" b="1" i="0">
                <a:solidFill>
                  <a:srgbClr val="111B30"/>
                </a:solidFill>
                <a:latin typeface="Calibri"/>
              </a:rPr>
              <a:t>shadows /all (or similar)</a:t>
            </a:r>
          </a:p>
          <a:p>
            <a:pPr algn="ctr"/>
            <a:r>
              <a:rPr sz="1100" b="1" i="0">
                <a:solidFill>
                  <a:srgbClr val="111B30"/>
                </a:solidFill>
                <a:latin typeface="Calibri"/>
              </a:rPr>
              <a:t>first</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Local recovery points</a:t>
            </a:r>
          </a:p>
          <a:p>
            <a:pPr algn="ctr"/>
            <a:r>
              <a:rPr sz="1100" b="0" i="0">
                <a:solidFill>
                  <a:srgbClr val="111B30"/>
                </a:solidFill>
                <a:latin typeface="Calibri"/>
              </a:rPr>
              <a:t>are gone before</a:t>
            </a:r>
          </a:p>
          <a:p>
            <a:pPr algn="ctr"/>
            <a:r>
              <a:rPr sz="1100" b="0" i="0">
                <a:solidFill>
                  <a:srgbClr val="111B30"/>
                </a:solidFill>
                <a:latin typeface="Calibri"/>
              </a:rPr>
              <a:t>encryption even starts</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Restrict vssadmin/WMI shadow-copy deletion; offline/immutable backup copies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Backup Infrastructure as a Primary Target</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knows destroying</a:t>
            </a:r>
          </a:p>
          <a:p>
            <a:pPr algn="ctr"/>
            <a:r>
              <a:rPr sz="1100" b="0" i="0">
                <a:solidFill>
                  <a:srgbClr val="111B30"/>
                </a:solidFill>
                <a:latin typeface="Calibri"/>
              </a:rPr>
              <a:t>backups blocks recovery</a:t>
            </a:r>
          </a:p>
          <a:p>
            <a:pPr algn="ctr"/>
            <a:r>
              <a:rPr sz="1100" b="0" i="0">
                <a:solidFill>
                  <a:srgbClr val="111B30"/>
                </a:solidFill>
                <a:latin typeface="Calibri"/>
              </a:rPr>
              <a:t>entirely</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Specifically targets</a:t>
            </a:r>
          </a:p>
          <a:p>
            <a:pPr algn="ctr"/>
            <a:r>
              <a:rPr sz="1100" b="1" i="0">
                <a:solidFill>
                  <a:srgbClr val="111B30"/>
                </a:solidFill>
                <a:latin typeface="Calibri"/>
              </a:rPr>
              <a:t>backup servers and</a:t>
            </a:r>
          </a:p>
          <a:p>
            <a:pPr algn="ctr"/>
            <a:r>
              <a:rPr sz="1100" b="1" i="0">
                <a:solidFill>
                  <a:srgbClr val="111B30"/>
                </a:solidFill>
                <a:latin typeface="Calibri"/>
              </a:rPr>
              <a:t>repositories directly</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Victim has no recovery</a:t>
            </a:r>
          </a:p>
          <a:p>
            <a:pPr algn="ctr"/>
            <a:r>
              <a:rPr sz="1100" b="0" i="0">
                <a:solidFill>
                  <a:srgbClr val="111B30"/>
                </a:solidFill>
                <a:latin typeface="Calibri"/>
              </a:rPr>
              <a:t>path even after</a:t>
            </a:r>
          </a:p>
          <a:p>
            <a:pPr algn="ctr"/>
            <a:r>
              <a:rPr sz="1100" b="0" i="0">
                <a:solidFill>
                  <a:srgbClr val="111B30"/>
                </a:solidFill>
                <a:latin typeface="Calibri"/>
              </a:rPr>
              <a:t>regaining control</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Isolate backup infrastructure (separate credentials, network segment)</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Untested Restore Process</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Backup jobs report</a:t>
            </a:r>
          </a:p>
          <a:p>
            <a:pPr algn="ctr"/>
            <a:r>
              <a:rPr sz="1100" b="0" i="0">
                <a:solidFill>
                  <a:srgbClr val="111B30"/>
                </a:solidFill>
                <a:latin typeface="Calibri"/>
              </a:rPr>
              <a:t>"succeeded" every night</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Nobody has actually</a:t>
            </a:r>
          </a:p>
          <a:p>
            <a:pPr algn="ctr"/>
            <a:r>
              <a:rPr sz="1100" b="1" i="0">
                <a:solidFill>
                  <a:srgbClr val="111B30"/>
                </a:solidFill>
                <a:latin typeface="Calibri"/>
              </a:rPr>
              <a:t>attempted a real</a:t>
            </a:r>
          </a:p>
          <a:p>
            <a:pPr algn="ctr"/>
            <a:r>
              <a:rPr sz="1100" b="1" i="0">
                <a:solidFill>
                  <a:srgbClr val="111B30"/>
                </a:solidFill>
                <a:latin typeface="Calibri"/>
              </a:rPr>
              <a:t>restore from them</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The first real restore</a:t>
            </a:r>
          </a:p>
          <a:p>
            <a:pPr algn="ctr"/>
            <a:r>
              <a:rPr sz="1100" b="0" i="0">
                <a:solidFill>
                  <a:srgbClr val="111B30"/>
                </a:solidFill>
                <a:latin typeface="Calibri"/>
              </a:rPr>
              <a:t>attempt, during an</a:t>
            </a:r>
          </a:p>
          <a:p>
            <a:pPr algn="ctr"/>
            <a:r>
              <a:rPr sz="1100" b="0" i="0">
                <a:solidFill>
                  <a:srgbClr val="111B30"/>
                </a:solidFill>
                <a:latin typeface="Calibri"/>
              </a:rPr>
              <a:t>incident, fails</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Regular restore drills, not just “backup job succeeded” green checkmarks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Backup Credentials with Excessive Rights</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Backup service account</a:t>
            </a:r>
          </a:p>
          <a:p>
            <a:pPr algn="ctr"/>
            <a:r>
              <a:rPr sz="1100" b="0" i="0">
                <a:solidFill>
                  <a:srgbClr val="111B30"/>
                </a:solidFill>
                <a:latin typeface="Calibri"/>
              </a:rPr>
              <a:t>was set up with broad,</a:t>
            </a:r>
          </a:p>
          <a:p>
            <a:pPr algn="ctr"/>
            <a:r>
              <a:rPr sz="1100" b="0" i="0">
                <a:solidFill>
                  <a:srgbClr val="111B30"/>
                </a:solidFill>
                <a:latin typeface="Calibri"/>
              </a:rPr>
              <a:t>convenient rights</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Those rights go far</a:t>
            </a:r>
          </a:p>
          <a:p>
            <a:pPr algn="ctr"/>
            <a:r>
              <a:rPr sz="1100" b="1" i="0">
                <a:solidFill>
                  <a:srgbClr val="111B30"/>
                </a:solidFill>
                <a:latin typeface="Calibri"/>
              </a:rPr>
              <a:t>beyond what backup</a:t>
            </a:r>
          </a:p>
          <a:p>
            <a:pPr algn="ctr"/>
            <a:r>
              <a:rPr sz="1100" b="1" i="0">
                <a:solidFill>
                  <a:srgbClr val="111B30"/>
                </a:solidFill>
                <a:latin typeface="Calibri"/>
              </a:rPr>
              <a:t>jobs actually need</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Compromising the backup</a:t>
            </a:r>
          </a:p>
          <a:p>
            <a:pPr algn="ctr"/>
            <a:r>
              <a:rPr sz="1100" b="0" i="0">
                <a:solidFill>
                  <a:srgbClr val="111B30"/>
                </a:solidFill>
                <a:latin typeface="Calibri"/>
              </a:rPr>
              <a:t>account grants domain-wide</a:t>
            </a:r>
          </a:p>
          <a:p>
            <a:pPr algn="ctr"/>
            <a:r>
              <a:rPr sz="1100" b="0" i="0">
                <a:solidFill>
                  <a:srgbClr val="111B30"/>
                </a:solidFill>
                <a:latin typeface="Calibri"/>
              </a:rPr>
              <a:t>access, not just backup access</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Least-privilege backup accounts (same tiering principle as Section 01)</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822960" y="2962656"/>
            <a:ext cx="1005840" cy="1005840"/>
          </a:xfrm>
          <a:prstGeom prst="rect">
            <a:avLst/>
          </a:prstGeom>
          <a:solidFill>
            <a:srgbClr val="00B4D8"/>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4000" b="1" i="0">
                <a:solidFill>
                  <a:srgbClr val="1B2A4A"/>
                </a:solidFill>
                <a:latin typeface="Calibri"/>
              </a:rPr>
              <a:t>06</a:t>
            </a:r>
          </a:p>
        </p:txBody>
      </p:sp>
      <p:sp>
        <p:nvSpPr>
          <p:cNvPr id="3" name="TextBox 2"/>
          <p:cNvSpPr txBox="1"/>
          <p:nvPr/>
        </p:nvSpPr>
        <p:spPr>
          <a:xfrm>
            <a:off x="2103120" y="2962656"/>
            <a:ext cx="9448495" cy="1005840"/>
          </a:xfrm>
          <a:prstGeom prst="rect">
            <a:avLst/>
          </a:prstGeom>
          <a:noFill/>
        </p:spPr>
        <p:txBody>
          <a:bodyPr wrap="square" anchor="ctr">
            <a:spAutoFit/>
          </a:bodyPr>
          <a:lstStyle/>
          <a:p>
            <a:r>
              <a:rPr sz="3200" b="1" i="0">
                <a:solidFill>
                  <a:srgbClr val="FFFFFF"/>
                </a:solidFill>
                <a:latin typeface="Cambria"/>
              </a:rPr>
              <a:t>Licensing &amp; Virtualization Rights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Windows Server Licensing: Standard vs. Datacenter</a:t>
            </a:r>
          </a:p>
        </p:txBody>
      </p:sp>
      <p:graphicFrame>
        <p:nvGraphicFramePr>
          <p:cNvPr id="3" name="Table 2"/>
          <p:cNvGraphicFramePr>
            <a:graphicFrameLocks noGrp="1"/>
          </p:cNvGraphicFramePr>
          <p:nvPr/>
        </p:nvGraphicFramePr>
        <p:xfrm>
          <a:off x="640080" y="1554480"/>
          <a:ext cx="10911535" cy="2743200"/>
        </p:xfrm>
        <a:graphic>
          <a:graphicData uri="http://schemas.openxmlformats.org/drawingml/2006/table">
            <a:tbl>
              <a:tblPr firstRow="1" bandRow="1">
                <a:tableStyleId>{5C22544A-7EE6-4342-B048-85BDC9FD1C3A}</a:tableStyleId>
              </a:tblPr>
              <a:tblGrid>
                <a:gridCol w="2377440"/>
                <a:gridCol w="4206240"/>
                <a:gridCol w="4327855"/>
              </a:tblGrid>
              <a:tr h="457200">
                <a:tc>
                  <a:txBody>
                    <a:bodyPr/>
                    <a:lstStyle/>
                    <a:p>
                      <a:pPr algn="l"/>
                      <a:r>
                        <a:rPr sz="1250" b="1" i="0">
                          <a:solidFill>
                            <a:srgbClr val="FFFFFF"/>
                          </a:solidFill>
                          <a:latin typeface="Calibri"/>
                        </a:rPr>
                        <a:t>Aspect</a:t>
                      </a:r>
                    </a:p>
                  </a:txBody>
                  <a:tcPr anchor="ctr" marL="76200" marR="76200" marT="38100" marB="38100">
                    <a:solidFill>
                      <a:srgbClr val="1B2A4A"/>
                    </a:solidFill>
                  </a:tcPr>
                </a:tc>
                <a:tc>
                  <a:txBody>
                    <a:bodyPr/>
                    <a:lstStyle/>
                    <a:p>
                      <a:pPr algn="l"/>
                      <a:r>
                        <a:rPr sz="1250" b="1" i="0">
                          <a:solidFill>
                            <a:srgbClr val="FFFFFF"/>
                          </a:solidFill>
                          <a:latin typeface="Calibri"/>
                        </a:rPr>
                        <a:t>Standard</a:t>
                      </a:r>
                    </a:p>
                  </a:txBody>
                  <a:tcPr anchor="ctr" marL="76200" marR="76200" marT="38100" marB="38100">
                    <a:solidFill>
                      <a:srgbClr val="1B2A4A"/>
                    </a:solidFill>
                  </a:tcPr>
                </a:tc>
                <a:tc>
                  <a:txBody>
                    <a:bodyPr/>
                    <a:lstStyle/>
                    <a:p>
                      <a:pPr algn="l"/>
                      <a:r>
                        <a:rPr sz="1250" b="1" i="0">
                          <a:solidFill>
                            <a:srgbClr val="FFFFFF"/>
                          </a:solidFill>
                          <a:latin typeface="Calibri"/>
                        </a:rPr>
                        <a:t>Datacenter</a:t>
                      </a:r>
                    </a:p>
                  </a:txBody>
                  <a:tcPr anchor="ctr" marL="76200" marR="76200" marT="38100" marB="38100">
                    <a:solidFill>
                      <a:srgbClr val="1B2A4A"/>
                    </a:solidFill>
                  </a:tcPr>
                </a:tc>
              </a:tr>
              <a:tr h="457200">
                <a:tc>
                  <a:txBody>
                    <a:bodyPr/>
                    <a:lstStyle/>
                    <a:p>
                      <a:pPr algn="l"/>
                      <a:r>
                        <a:rPr sz="1150" b="0" i="0">
                          <a:solidFill>
                            <a:srgbClr val="111B30"/>
                          </a:solidFill>
                          <a:latin typeface="Calibri"/>
                        </a:rPr>
                        <a:t>Licensing model</a:t>
                      </a:r>
                    </a:p>
                  </a:txBody>
                  <a:tcPr anchor="ctr" marL="76200" marR="76200" marT="38100" marB="38100">
                    <a:solidFill>
                      <a:srgbClr val="FFFFFF"/>
                    </a:solidFill>
                  </a:tcPr>
                </a:tc>
                <a:tc>
                  <a:txBody>
                    <a:bodyPr/>
                    <a:lstStyle/>
                    <a:p>
                      <a:pPr algn="l"/>
                      <a:r>
                        <a:rPr sz="1150" b="0" i="0">
                          <a:solidFill>
                            <a:srgbClr val="111B30"/>
                          </a:solidFill>
                          <a:latin typeface="Calibri"/>
                        </a:rPr>
                        <a:t>Core-based (min. 8 cores/proc, 16 cores/server)</a:t>
                      </a:r>
                    </a:p>
                  </a:txBody>
                  <a:tcPr anchor="ctr" marL="76200" marR="76200" marT="38100" marB="38100">
                    <a:solidFill>
                      <a:srgbClr val="FFFFFF"/>
                    </a:solidFill>
                  </a:tcPr>
                </a:tc>
                <a:tc>
                  <a:txBody>
                    <a:bodyPr/>
                    <a:lstStyle/>
                    <a:p>
                      <a:pPr algn="l"/>
                      <a:r>
                        <a:rPr sz="1150" b="0" i="0">
                          <a:solidFill>
                            <a:srgbClr val="111B30"/>
                          </a:solidFill>
                          <a:latin typeface="Calibri"/>
                        </a:rPr>
                        <a:t>Core-based (same minimums)</a:t>
                      </a:r>
                    </a:p>
                  </a:txBody>
                  <a:tcPr anchor="ctr" marL="76200" marR="76200" marT="38100" marB="38100">
                    <a:solidFill>
                      <a:srgbClr val="FFFFFF"/>
                    </a:solidFill>
                  </a:tcPr>
                </a:tc>
              </a:tr>
              <a:tr h="457200">
                <a:tc>
                  <a:txBody>
                    <a:bodyPr/>
                    <a:lstStyle/>
                    <a:p>
                      <a:pPr algn="l"/>
                      <a:r>
                        <a:rPr sz="1150" b="0" i="0">
                          <a:solidFill>
                            <a:srgbClr val="111B30"/>
                          </a:solidFill>
                          <a:latin typeface="Calibri"/>
                        </a:rPr>
                        <a:t>Included VM rights</a:t>
                      </a:r>
                    </a:p>
                  </a:txBody>
                  <a:tcPr anchor="ctr" marL="76200" marR="76200" marT="38100" marB="38100">
                    <a:solidFill>
                      <a:srgbClr val="E8EEF7"/>
                    </a:solidFill>
                  </a:tcPr>
                </a:tc>
                <a:tc>
                  <a:txBody>
                    <a:bodyPr/>
                    <a:lstStyle/>
                    <a:p>
                      <a:pPr algn="l"/>
                      <a:r>
                        <a:rPr sz="1150" b="0" i="0">
                          <a:solidFill>
                            <a:srgbClr val="111B30"/>
                          </a:solidFill>
                          <a:latin typeface="Calibri"/>
                        </a:rPr>
                        <a:t>2 Windows Server VM instances (OSEs)</a:t>
                      </a:r>
                    </a:p>
                  </a:txBody>
                  <a:tcPr anchor="ctr" marL="76200" marR="76200" marT="38100" marB="38100">
                    <a:solidFill>
                      <a:srgbClr val="E8EEF7"/>
                    </a:solidFill>
                  </a:tcPr>
                </a:tc>
                <a:tc>
                  <a:txBody>
                    <a:bodyPr/>
                    <a:lstStyle/>
                    <a:p>
                      <a:pPr algn="l"/>
                      <a:r>
                        <a:rPr sz="1150" b="0" i="0">
                          <a:solidFill>
                            <a:srgbClr val="111B30"/>
                          </a:solidFill>
                          <a:latin typeface="Calibri"/>
                        </a:rPr>
                        <a:t>Unlimited Windows Server VM instances</a:t>
                      </a:r>
                    </a:p>
                  </a:txBody>
                  <a:tcPr anchor="ctr" marL="76200" marR="76200" marT="38100" marB="38100">
                    <a:solidFill>
                      <a:srgbClr val="E8EEF7"/>
                    </a:solidFill>
                  </a:tcPr>
                </a:tc>
              </a:tr>
              <a:tr h="457200">
                <a:tc>
                  <a:txBody>
                    <a:bodyPr/>
                    <a:lstStyle/>
                    <a:p>
                      <a:pPr algn="l"/>
                      <a:r>
                        <a:rPr sz="1150" b="0" i="0">
                          <a:solidFill>
                            <a:srgbClr val="111B30"/>
                          </a:solidFill>
                          <a:latin typeface="Calibri"/>
                        </a:rPr>
                        <a:t>Typical use case</a:t>
                      </a:r>
                    </a:p>
                  </a:txBody>
                  <a:tcPr anchor="ctr" marL="76200" marR="76200" marT="38100" marB="38100">
                    <a:solidFill>
                      <a:srgbClr val="FFFFFF"/>
                    </a:solidFill>
                  </a:tcPr>
                </a:tc>
                <a:tc>
                  <a:txBody>
                    <a:bodyPr/>
                    <a:lstStyle/>
                    <a:p>
                      <a:pPr algn="l"/>
                      <a:r>
                        <a:rPr sz="1150" b="0" i="0">
                          <a:solidFill>
                            <a:srgbClr val="111B30"/>
                          </a:solidFill>
                          <a:latin typeface="Calibri"/>
                        </a:rPr>
                        <a:t>Physical/lightly-virtualized workloads</a:t>
                      </a:r>
                    </a:p>
                  </a:txBody>
                  <a:tcPr anchor="ctr" marL="76200" marR="76200" marT="38100" marB="38100">
                    <a:solidFill>
                      <a:srgbClr val="FFFFFF"/>
                    </a:solidFill>
                  </a:tcPr>
                </a:tc>
                <a:tc>
                  <a:txBody>
                    <a:bodyPr/>
                    <a:lstStyle/>
                    <a:p>
                      <a:pPr algn="l"/>
                      <a:r>
                        <a:rPr sz="1150" b="0" i="0">
                          <a:solidFill>
                            <a:srgbClr val="111B30"/>
                          </a:solidFill>
                          <a:latin typeface="Calibri"/>
                        </a:rPr>
                        <a:t>Heavily virtualized hosts, private cloud</a:t>
                      </a:r>
                    </a:p>
                  </a:txBody>
                  <a:tcPr anchor="ctr" marL="76200" marR="76200" marT="38100" marB="38100">
                    <a:solidFill>
                      <a:srgbClr val="FFFFFF"/>
                    </a:solidFill>
                  </a:tcPr>
                </a:tc>
              </a:tr>
              <a:tr h="457200">
                <a:tc>
                  <a:txBody>
                    <a:bodyPr/>
                    <a:lstStyle/>
                    <a:p>
                      <a:pPr algn="l"/>
                      <a:r>
                        <a:rPr sz="1150" b="0" i="0">
                          <a:solidFill>
                            <a:srgbClr val="111B30"/>
                          </a:solidFill>
                          <a:latin typeface="Calibri"/>
                        </a:rPr>
                        <a:t>Feature parity</a:t>
                      </a:r>
                    </a:p>
                  </a:txBody>
                  <a:tcPr anchor="ctr" marL="76200" marR="76200" marT="38100" marB="38100">
                    <a:solidFill>
                      <a:srgbClr val="E8EEF7"/>
                    </a:solidFill>
                  </a:tcPr>
                </a:tc>
                <a:tc>
                  <a:txBody>
                    <a:bodyPr/>
                    <a:lstStyle/>
                    <a:p>
                      <a:pPr algn="l"/>
                      <a:r>
                        <a:rPr sz="1150" b="0" i="0">
                          <a:solidFill>
                            <a:srgbClr val="111B30"/>
                          </a:solidFill>
                          <a:latin typeface="Calibri"/>
                        </a:rPr>
                        <a:t>Same core Windows Server features as Datacenter</a:t>
                      </a:r>
                    </a:p>
                  </a:txBody>
                  <a:tcPr anchor="ctr" marL="76200" marR="76200" marT="38100" marB="38100">
                    <a:solidFill>
                      <a:srgbClr val="E8EEF7"/>
                    </a:solidFill>
                  </a:tcPr>
                </a:tc>
                <a:tc>
                  <a:txBody>
                    <a:bodyPr/>
                    <a:lstStyle/>
                    <a:p>
                      <a:pPr algn="l"/>
                      <a:r>
                        <a:rPr sz="1150" b="0" i="0">
                          <a:solidFill>
                            <a:srgbClr val="111B30"/>
                          </a:solidFill>
                          <a:latin typeface="Calibri"/>
                        </a:rPr>
                        <a:t>Adds Storage Spaces Direct, Storage Replica, Shielded VMs</a:t>
                      </a:r>
                    </a:p>
                  </a:txBody>
                  <a:tcPr anchor="ctr" marL="76200" marR="76200" marT="38100" marB="38100">
                    <a:solidFill>
                      <a:srgbClr val="E8EEF7"/>
                    </a:solidFill>
                  </a:tcPr>
                </a:tc>
              </a:tr>
              <a:tr h="457200">
                <a:tc>
                  <a:txBody>
                    <a:bodyPr/>
                    <a:lstStyle/>
                    <a:p>
                      <a:pPr algn="l"/>
                      <a:r>
                        <a:rPr sz="1150" b="0" i="0">
                          <a:solidFill>
                            <a:srgbClr val="111B30"/>
                          </a:solidFill>
                          <a:latin typeface="Calibri"/>
                        </a:rPr>
                        <a:t>Cost</a:t>
                      </a:r>
                    </a:p>
                  </a:txBody>
                  <a:tcPr anchor="ctr" marL="76200" marR="76200" marT="38100" marB="38100">
                    <a:solidFill>
                      <a:srgbClr val="FFFFFF"/>
                    </a:solidFill>
                  </a:tcPr>
                </a:tc>
                <a:tc>
                  <a:txBody>
                    <a:bodyPr/>
                    <a:lstStyle/>
                    <a:p>
                      <a:pPr algn="l"/>
                      <a:r>
                        <a:rPr sz="1150" b="0" i="0">
                          <a:solidFill>
                            <a:srgbClr val="111B30"/>
                          </a:solidFill>
                          <a:latin typeface="Calibri"/>
                        </a:rPr>
                        <a:t>Lower per-core cost</a:t>
                      </a:r>
                    </a:p>
                  </a:txBody>
                  <a:tcPr anchor="ctr" marL="76200" marR="76200" marT="38100" marB="38100">
                    <a:solidFill>
                      <a:srgbClr val="FFFFFF"/>
                    </a:solidFill>
                  </a:tcPr>
                </a:tc>
                <a:tc>
                  <a:txBody>
                    <a:bodyPr/>
                    <a:lstStyle/>
                    <a:p>
                      <a:pPr algn="l"/>
                      <a:r>
                        <a:rPr sz="1150" b="0" i="0">
                          <a:solidFill>
                            <a:srgbClr val="111B30"/>
                          </a:solidFill>
                          <a:latin typeface="Calibri"/>
                        </a:rPr>
                        <a:t>Higher per-core cost, justified by unlimited VM rights at scale</a:t>
                      </a:r>
                    </a:p>
                  </a:txBody>
                  <a:tcPr anchor="ctr" marL="76200" marR="76200" marT="38100" marB="38100">
                    <a:solidFill>
                      <a:srgbClr val="FFFFFF"/>
                    </a:solidFill>
                  </a:tcPr>
                </a:tc>
              </a:tr>
            </a:tbl>
          </a:graphicData>
        </a:graphic>
      </p:graphicFrame>
      <p:sp>
        <p:nvSpPr>
          <p:cNvPr id="4" name="TextBox 3"/>
          <p:cNvSpPr txBox="1"/>
          <p:nvPr/>
        </p:nvSpPr>
        <p:spPr>
          <a:xfrm>
            <a:off x="640080" y="5212080"/>
            <a:ext cx="10911535" cy="822960"/>
          </a:xfrm>
          <a:prstGeom prst="rect">
            <a:avLst/>
          </a:prstGeom>
          <a:noFill/>
        </p:spPr>
        <p:txBody>
          <a:bodyPr wrap="square">
            <a:spAutoFit/>
          </a:bodyPr>
          <a:lstStyle/>
          <a:p>
            <a:r>
              <a:rPr sz="1200" b="0" i="1">
                <a:solidFill>
                  <a:srgbClr val="3D5A80"/>
                </a:solidFill>
                <a:latin typeface="Calibri"/>
              </a:rPr>
              <a:t>Example: 1 physical server, 2 processors x 8 cores = 16 cores -&gt; minimum core-license requirement met exactly. A 3rd VM on this host would require a 2nd Standard license stack even though physical capacity allows it.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Client Access Licenses (CALs): Device vs. User</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A CAL grants the right to access Windows Server services - separate from the server license itself</a:t>
            </a:r>
          </a:p>
          <a:p>
            <a:pPr algn="l">
              <a:spcAft>
                <a:spcPts val="1200"/>
              </a:spcAft>
            </a:pPr>
            <a:r>
              <a:rPr sz="1600" b="0" i="0">
                <a:solidFill>
                  <a:srgbClr val="111B30"/>
                </a:solidFill>
                <a:latin typeface="Calibri"/>
              </a:rPr>
              <a:t>●   Device CAL: licensed per device, regardless of how many users share it (shift work, shared kiosks)</a:t>
            </a:r>
          </a:p>
          <a:p>
            <a:pPr algn="l">
              <a:spcAft>
                <a:spcPts val="1200"/>
              </a:spcAft>
            </a:pPr>
            <a:r>
              <a:rPr sz="1600" b="0" i="0">
                <a:solidFill>
                  <a:srgbClr val="111B30"/>
                </a:solidFill>
                <a:latin typeface="Calibri"/>
              </a:rPr>
              <a:t>●   User CAL: licensed per user, regardless of how many devices they use (BYOD, multi-device employees)</a:t>
            </a:r>
          </a:p>
          <a:p>
            <a:pPr algn="l">
              <a:spcAft>
                <a:spcPts val="1200"/>
              </a:spcAft>
            </a:pPr>
            <a:r>
              <a:rPr sz="1600" b="0" i="0">
                <a:solidFill>
                  <a:srgbClr val="111B30"/>
                </a:solidFill>
                <a:latin typeface="Calibri"/>
              </a:rPr>
              <a:t>●   Rule of thumb: more users than devices -&gt; Device CAL cheaper; more devices than users -&gt; User CAL cheaper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Volume Licensing: EA vs. CSP</a:t>
            </a:r>
          </a:p>
        </p:txBody>
      </p:sp>
      <p:graphicFrame>
        <p:nvGraphicFramePr>
          <p:cNvPr id="3" name="Table 2"/>
          <p:cNvGraphicFramePr>
            <a:graphicFrameLocks noGrp="1"/>
          </p:cNvGraphicFramePr>
          <p:nvPr/>
        </p:nvGraphicFramePr>
        <p:xfrm>
          <a:off x="640080" y="1554480"/>
          <a:ext cx="10911535" cy="2743200"/>
        </p:xfrm>
        <a:graphic>
          <a:graphicData uri="http://schemas.openxmlformats.org/drawingml/2006/table">
            <a:tbl>
              <a:tblPr firstRow="1" bandRow="1">
                <a:tableStyleId>{5C22544A-7EE6-4342-B048-85BDC9FD1C3A}</a:tableStyleId>
              </a:tblPr>
              <a:tblGrid>
                <a:gridCol w="2194560"/>
                <a:gridCol w="4206240"/>
                <a:gridCol w="4510735"/>
              </a:tblGrid>
              <a:tr h="457200">
                <a:tc>
                  <a:txBody>
                    <a:bodyPr/>
                    <a:lstStyle/>
                    <a:p>
                      <a:pPr algn="l"/>
                      <a:r>
                        <a:rPr sz="1250" b="1" i="0">
                          <a:solidFill>
                            <a:srgbClr val="FFFFFF"/>
                          </a:solidFill>
                          <a:latin typeface="Calibri"/>
                        </a:rPr>
                        <a:t>Aspect</a:t>
                      </a:r>
                    </a:p>
                  </a:txBody>
                  <a:tcPr anchor="ctr" marL="76200" marR="76200" marT="38100" marB="38100">
                    <a:solidFill>
                      <a:srgbClr val="1B2A4A"/>
                    </a:solidFill>
                  </a:tcPr>
                </a:tc>
                <a:tc>
                  <a:txBody>
                    <a:bodyPr/>
                    <a:lstStyle/>
                    <a:p>
                      <a:pPr algn="l"/>
                      <a:r>
                        <a:rPr sz="1250" b="1" i="0">
                          <a:solidFill>
                            <a:srgbClr val="FFFFFF"/>
                          </a:solidFill>
                          <a:latin typeface="Calibri"/>
                        </a:rPr>
                        <a:t>Enterprise Agreement (EA)</a:t>
                      </a:r>
                    </a:p>
                  </a:txBody>
                  <a:tcPr anchor="ctr" marL="76200" marR="76200" marT="38100" marB="38100">
                    <a:solidFill>
                      <a:srgbClr val="1B2A4A"/>
                    </a:solidFill>
                  </a:tcPr>
                </a:tc>
                <a:tc>
                  <a:txBody>
                    <a:bodyPr/>
                    <a:lstStyle/>
                    <a:p>
                      <a:pPr algn="l"/>
                      <a:r>
                        <a:rPr sz="1250" b="1" i="0">
                          <a:solidFill>
                            <a:srgbClr val="FFFFFF"/>
                          </a:solidFill>
                          <a:latin typeface="Calibri"/>
                        </a:rPr>
                        <a:t>Cloud Solution Provider (CSP)</a:t>
                      </a:r>
                    </a:p>
                  </a:txBody>
                  <a:tcPr anchor="ctr" marL="76200" marR="76200" marT="38100" marB="38100">
                    <a:solidFill>
                      <a:srgbClr val="1B2A4A"/>
                    </a:solidFill>
                  </a:tcPr>
                </a:tc>
              </a:tr>
              <a:tr h="457200">
                <a:tc>
                  <a:txBody>
                    <a:bodyPr/>
                    <a:lstStyle/>
                    <a:p>
                      <a:pPr algn="l"/>
                      <a:r>
                        <a:rPr sz="1200" b="0" i="0">
                          <a:solidFill>
                            <a:srgbClr val="111B30"/>
                          </a:solidFill>
                          <a:latin typeface="Calibri"/>
                        </a:rPr>
                        <a:t>Minimum org size</a:t>
                      </a:r>
                    </a:p>
                  </a:txBody>
                  <a:tcPr anchor="ctr" marL="76200" marR="76200" marT="38100" marB="38100">
                    <a:solidFill>
                      <a:srgbClr val="FFFFFF"/>
                    </a:solidFill>
                  </a:tcPr>
                </a:tc>
                <a:tc>
                  <a:txBody>
                    <a:bodyPr/>
                    <a:lstStyle/>
                    <a:p>
                      <a:pPr algn="l"/>
                      <a:r>
                        <a:rPr sz="1200" b="0" i="0">
                          <a:solidFill>
                            <a:srgbClr val="111B30"/>
                          </a:solidFill>
                          <a:latin typeface="Calibri"/>
                        </a:rPr>
                        <a:t>Typically 500+ devices/users</a:t>
                      </a:r>
                    </a:p>
                  </a:txBody>
                  <a:tcPr anchor="ctr" marL="76200" marR="76200" marT="38100" marB="38100">
                    <a:solidFill>
                      <a:srgbClr val="FFFFFF"/>
                    </a:solidFill>
                  </a:tcPr>
                </a:tc>
                <a:tc>
                  <a:txBody>
                    <a:bodyPr/>
                    <a:lstStyle/>
                    <a:p>
                      <a:pPr algn="l"/>
                      <a:r>
                        <a:rPr sz="1200" b="0" i="0">
                          <a:solidFill>
                            <a:srgbClr val="111B30"/>
                          </a:solidFill>
                          <a:latin typeface="Calibri"/>
                        </a:rPr>
                        <a:t>No minimum - scales to small orgs</a:t>
                      </a:r>
                    </a:p>
                  </a:txBody>
                  <a:tcPr anchor="ctr" marL="76200" marR="76200" marT="38100" marB="38100">
                    <a:solidFill>
                      <a:srgbClr val="FFFFFF"/>
                    </a:solidFill>
                  </a:tcPr>
                </a:tc>
              </a:tr>
              <a:tr h="457200">
                <a:tc>
                  <a:txBody>
                    <a:bodyPr/>
                    <a:lstStyle/>
                    <a:p>
                      <a:pPr algn="l"/>
                      <a:r>
                        <a:rPr sz="1200" b="0" i="0">
                          <a:solidFill>
                            <a:srgbClr val="111B30"/>
                          </a:solidFill>
                          <a:latin typeface="Calibri"/>
                        </a:rPr>
                        <a:t>Contract length</a:t>
                      </a:r>
                    </a:p>
                  </a:txBody>
                  <a:tcPr anchor="ctr" marL="76200" marR="76200" marT="38100" marB="38100">
                    <a:solidFill>
                      <a:srgbClr val="E8EEF7"/>
                    </a:solidFill>
                  </a:tcPr>
                </a:tc>
                <a:tc>
                  <a:txBody>
                    <a:bodyPr/>
                    <a:lstStyle/>
                    <a:p>
                      <a:pPr algn="l"/>
                      <a:r>
                        <a:rPr sz="1200" b="0" i="0">
                          <a:solidFill>
                            <a:srgbClr val="111B30"/>
                          </a:solidFill>
                          <a:latin typeface="Calibri"/>
                        </a:rPr>
                        <a:t>3-year commitment</a:t>
                      </a:r>
                    </a:p>
                  </a:txBody>
                  <a:tcPr anchor="ctr" marL="76200" marR="76200" marT="38100" marB="38100">
                    <a:solidFill>
                      <a:srgbClr val="E8EEF7"/>
                    </a:solidFill>
                  </a:tcPr>
                </a:tc>
                <a:tc>
                  <a:txBody>
                    <a:bodyPr/>
                    <a:lstStyle/>
                    <a:p>
                      <a:pPr algn="l"/>
                      <a:r>
                        <a:rPr sz="1200" b="0" i="0">
                          <a:solidFill>
                            <a:srgbClr val="111B30"/>
                          </a:solidFill>
                          <a:latin typeface="Calibri"/>
                        </a:rPr>
                        <a:t>Month-to-month or annual, more flexible</a:t>
                      </a:r>
                    </a:p>
                  </a:txBody>
                  <a:tcPr anchor="ctr" marL="76200" marR="76200" marT="38100" marB="38100">
                    <a:solidFill>
                      <a:srgbClr val="E8EEF7"/>
                    </a:solidFill>
                  </a:tcPr>
                </a:tc>
              </a:tr>
              <a:tr h="457200">
                <a:tc>
                  <a:txBody>
                    <a:bodyPr/>
                    <a:lstStyle/>
                    <a:p>
                      <a:pPr algn="l"/>
                      <a:r>
                        <a:rPr sz="1200" b="0" i="0">
                          <a:solidFill>
                            <a:srgbClr val="111B30"/>
                          </a:solidFill>
                          <a:latin typeface="Calibri"/>
                        </a:rPr>
                        <a:t>Who you buy from</a:t>
                      </a:r>
                    </a:p>
                  </a:txBody>
                  <a:tcPr anchor="ctr" marL="76200" marR="76200" marT="38100" marB="38100">
                    <a:solidFill>
                      <a:srgbClr val="FFFFFF"/>
                    </a:solidFill>
                  </a:tcPr>
                </a:tc>
                <a:tc>
                  <a:txBody>
                    <a:bodyPr/>
                    <a:lstStyle/>
                    <a:p>
                      <a:pPr algn="l"/>
                      <a:r>
                        <a:rPr sz="1200" b="0" i="0">
                          <a:solidFill>
                            <a:srgbClr val="111B30"/>
                          </a:solidFill>
                          <a:latin typeface="Calibri"/>
                        </a:rPr>
                        <a:t>Direct from Microsoft (or LSP)</a:t>
                      </a:r>
                    </a:p>
                  </a:txBody>
                  <a:tcPr anchor="ctr" marL="76200" marR="76200" marT="38100" marB="38100">
                    <a:solidFill>
                      <a:srgbClr val="FFFFFF"/>
                    </a:solidFill>
                  </a:tcPr>
                </a:tc>
                <a:tc>
                  <a:txBody>
                    <a:bodyPr/>
                    <a:lstStyle/>
                    <a:p>
                      <a:pPr algn="l"/>
                      <a:r>
                        <a:rPr sz="1200" b="0" i="0">
                          <a:solidFill>
                            <a:srgbClr val="111B30"/>
                          </a:solidFill>
                          <a:latin typeface="Calibri"/>
                        </a:rPr>
                        <a:t>Through a Microsoft partner (the CSP)</a:t>
                      </a:r>
                    </a:p>
                  </a:txBody>
                  <a:tcPr anchor="ctr" marL="76200" marR="76200" marT="38100" marB="38100">
                    <a:solidFill>
                      <a:srgbClr val="FFFFFF"/>
                    </a:solidFill>
                  </a:tcPr>
                </a:tc>
              </a:tr>
              <a:tr h="457200">
                <a:tc>
                  <a:txBody>
                    <a:bodyPr/>
                    <a:lstStyle/>
                    <a:p>
                      <a:pPr algn="l"/>
                      <a:r>
                        <a:rPr sz="1200" b="0" i="0">
                          <a:solidFill>
                            <a:srgbClr val="111B30"/>
                          </a:solidFill>
                          <a:latin typeface="Calibri"/>
                        </a:rPr>
                        <a:t>Payment model</a:t>
                      </a:r>
                    </a:p>
                  </a:txBody>
                  <a:tcPr anchor="ctr" marL="76200" marR="76200" marT="38100" marB="38100">
                    <a:solidFill>
                      <a:srgbClr val="E8EEF7"/>
                    </a:solidFill>
                  </a:tcPr>
                </a:tc>
                <a:tc>
                  <a:txBody>
                    <a:bodyPr/>
                    <a:lstStyle/>
                    <a:p>
                      <a:pPr algn="l"/>
                      <a:r>
                        <a:rPr sz="1200" b="0" i="0">
                          <a:solidFill>
                            <a:srgbClr val="111B30"/>
                          </a:solidFill>
                          <a:latin typeface="Calibri"/>
                        </a:rPr>
                        <a:t>Often upfront/annual true-up</a:t>
                      </a:r>
                    </a:p>
                  </a:txBody>
                  <a:tcPr anchor="ctr" marL="76200" marR="76200" marT="38100" marB="38100">
                    <a:solidFill>
                      <a:srgbClr val="E8EEF7"/>
                    </a:solidFill>
                  </a:tcPr>
                </a:tc>
                <a:tc>
                  <a:txBody>
                    <a:bodyPr/>
                    <a:lstStyle/>
                    <a:p>
                      <a:pPr algn="l"/>
                      <a:r>
                        <a:rPr sz="1200" b="0" i="0">
                          <a:solidFill>
                            <a:srgbClr val="111B30"/>
                          </a:solidFill>
                          <a:latin typeface="Calibri"/>
                        </a:rPr>
                        <a:t>Consumption-based/subscription billing</a:t>
                      </a:r>
                    </a:p>
                  </a:txBody>
                  <a:tcPr anchor="ctr" marL="76200" marR="76200" marT="38100" marB="38100">
                    <a:solidFill>
                      <a:srgbClr val="E8EEF7"/>
                    </a:solidFill>
                  </a:tcPr>
                </a:tc>
              </a:tr>
              <a:tr h="457200">
                <a:tc>
                  <a:txBody>
                    <a:bodyPr/>
                    <a:lstStyle/>
                    <a:p>
                      <a:pPr algn="l"/>
                      <a:r>
                        <a:rPr sz="1200" b="0" i="0">
                          <a:solidFill>
                            <a:srgbClr val="111B30"/>
                          </a:solidFill>
                          <a:latin typeface="Calibri"/>
                        </a:rPr>
                        <a:t>Best fit</a:t>
                      </a:r>
                    </a:p>
                  </a:txBody>
                  <a:tcPr anchor="ctr" marL="76200" marR="76200" marT="38100" marB="38100">
                    <a:solidFill>
                      <a:srgbClr val="FFFFFF"/>
                    </a:solidFill>
                  </a:tcPr>
                </a:tc>
                <a:tc>
                  <a:txBody>
                    <a:bodyPr/>
                    <a:lstStyle/>
                    <a:p>
                      <a:pPr algn="l"/>
                      <a:r>
                        <a:rPr sz="1200" b="0" i="0">
                          <a:solidFill>
                            <a:srgbClr val="111B30"/>
                          </a:solidFill>
                          <a:latin typeface="Calibri"/>
                        </a:rPr>
                        <a:t>Large, stable enterprise, predictable needs</a:t>
                      </a:r>
                    </a:p>
                  </a:txBody>
                  <a:tcPr anchor="ctr" marL="76200" marR="76200" marT="38100" marB="38100">
                    <a:solidFill>
                      <a:srgbClr val="FFFFFF"/>
                    </a:solidFill>
                  </a:tcPr>
                </a:tc>
                <a:tc>
                  <a:txBody>
                    <a:bodyPr/>
                    <a:lstStyle/>
                    <a:p>
                      <a:pPr algn="l"/>
                      <a:r>
                        <a:rPr sz="1200" b="0" i="0">
                          <a:solidFill>
                            <a:srgbClr val="111B30"/>
                          </a:solidFill>
                          <a:latin typeface="Calibri"/>
                        </a:rPr>
                        <a:t>Smaller/growing orgs, cloud-first workloads</a:t>
                      </a:r>
                    </a:p>
                  </a:txBody>
                  <a:tcPr anchor="ctr" marL="76200" marR="76200" marT="38100" marB="38100">
                    <a:solidFill>
                      <a:srgbClr val="FFFFFF"/>
                    </a:solidFill>
                  </a:tcPr>
                </a:tc>
              </a:tr>
            </a:tbl>
          </a:graphicData>
        </a:graphic>
      </p:graphicFrame>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Hyper-V Virtualization Rights by Edition</a:t>
            </a:r>
          </a:p>
        </p:txBody>
      </p:sp>
      <p:graphicFrame>
        <p:nvGraphicFramePr>
          <p:cNvPr id="3" name="Table 2"/>
          <p:cNvGraphicFramePr>
            <a:graphicFrameLocks noGrp="1"/>
          </p:cNvGraphicFramePr>
          <p:nvPr/>
        </p:nvGraphicFramePr>
        <p:xfrm>
          <a:off x="640080" y="1554480"/>
          <a:ext cx="10362895" cy="2286000"/>
        </p:xfrm>
        <a:graphic>
          <a:graphicData uri="http://schemas.openxmlformats.org/drawingml/2006/table">
            <a:tbl>
              <a:tblPr firstRow="1" bandRow="1">
                <a:tableStyleId>{5C22544A-7EE6-4342-B048-85BDC9FD1C3A}</a:tableStyleId>
              </a:tblPr>
              <a:tblGrid>
                <a:gridCol w="4114800"/>
                <a:gridCol w="6248095"/>
              </a:tblGrid>
              <a:tr h="457200">
                <a:tc>
                  <a:txBody>
                    <a:bodyPr/>
                    <a:lstStyle/>
                    <a:p>
                      <a:pPr algn="l"/>
                      <a:r>
                        <a:rPr sz="1250" b="1" i="0">
                          <a:solidFill>
                            <a:srgbClr val="FFFFFF"/>
                          </a:solidFill>
                          <a:latin typeface="Calibri"/>
                        </a:rPr>
                        <a:t>Edition</a:t>
                      </a:r>
                    </a:p>
                  </a:txBody>
                  <a:tcPr anchor="ctr" marL="76200" marR="76200" marT="38100" marB="38100">
                    <a:solidFill>
                      <a:srgbClr val="1B2A4A"/>
                    </a:solidFill>
                  </a:tcPr>
                </a:tc>
                <a:tc>
                  <a:txBody>
                    <a:bodyPr/>
                    <a:lstStyle/>
                    <a:p>
                      <a:pPr algn="l"/>
                      <a:r>
                        <a:rPr sz="1250" b="1" i="0">
                          <a:solidFill>
                            <a:srgbClr val="FFFFFF"/>
                          </a:solidFill>
                          <a:latin typeface="Calibri"/>
                        </a:rPr>
                        <a:t>Hyper-V Rights</a:t>
                      </a:r>
                    </a:p>
                  </a:txBody>
                  <a:tcPr anchor="ctr" marL="76200" marR="76200" marT="38100" marB="38100">
                    <a:solidFill>
                      <a:srgbClr val="1B2A4A"/>
                    </a:solidFill>
                  </a:tcPr>
                </a:tc>
              </a:tr>
              <a:tr h="457200">
                <a:tc>
                  <a:txBody>
                    <a:bodyPr/>
                    <a:lstStyle/>
                    <a:p>
                      <a:pPr algn="l"/>
                      <a:r>
                        <a:rPr sz="1300" b="0" i="0">
                          <a:solidFill>
                            <a:srgbClr val="111B30"/>
                          </a:solidFill>
                          <a:latin typeface="Calibri"/>
                        </a:rPr>
                        <a:t>Windows Server Standard</a:t>
                      </a:r>
                    </a:p>
                  </a:txBody>
                  <a:tcPr anchor="ctr" marL="76200" marR="76200" marT="38100" marB="38100">
                    <a:solidFill>
                      <a:srgbClr val="FFFFFF"/>
                    </a:solidFill>
                  </a:tcPr>
                </a:tc>
                <a:tc>
                  <a:txBody>
                    <a:bodyPr/>
                    <a:lstStyle/>
                    <a:p>
                      <a:pPr algn="l"/>
                      <a:r>
                        <a:rPr sz="1300" b="0" i="0">
                          <a:solidFill>
                            <a:srgbClr val="111B30"/>
                          </a:solidFill>
                          <a:latin typeface="Calibri"/>
                        </a:rPr>
                        <a:t>Host role + 2 Windows Server guest OSEs included</a:t>
                      </a:r>
                    </a:p>
                  </a:txBody>
                  <a:tcPr anchor="ctr" marL="76200" marR="76200" marT="38100" marB="38100">
                    <a:solidFill>
                      <a:srgbClr val="FFFFFF"/>
                    </a:solidFill>
                  </a:tcPr>
                </a:tc>
              </a:tr>
              <a:tr h="457200">
                <a:tc>
                  <a:txBody>
                    <a:bodyPr/>
                    <a:lstStyle/>
                    <a:p>
                      <a:pPr algn="l"/>
                      <a:r>
                        <a:rPr sz="1300" b="0" i="0">
                          <a:solidFill>
                            <a:srgbClr val="111B30"/>
                          </a:solidFill>
                          <a:latin typeface="Calibri"/>
                        </a:rPr>
                        <a:t>Windows Server Datacenter</a:t>
                      </a:r>
                    </a:p>
                  </a:txBody>
                  <a:tcPr anchor="ctr" marL="76200" marR="76200" marT="38100" marB="38100">
                    <a:solidFill>
                      <a:srgbClr val="E8EEF7"/>
                    </a:solidFill>
                  </a:tcPr>
                </a:tc>
                <a:tc>
                  <a:txBody>
                    <a:bodyPr/>
                    <a:lstStyle/>
                    <a:p>
                      <a:pPr algn="l"/>
                      <a:r>
                        <a:rPr sz="1300" b="0" i="0">
                          <a:solidFill>
                            <a:srgbClr val="111B30"/>
                          </a:solidFill>
                          <a:latin typeface="Calibri"/>
                        </a:rPr>
                        <a:t>Host role + unlimited Windows Server guest OSEs</a:t>
                      </a:r>
                    </a:p>
                  </a:txBody>
                  <a:tcPr anchor="ctr" marL="76200" marR="76200" marT="38100" marB="38100">
                    <a:solidFill>
                      <a:srgbClr val="E8EEF7"/>
                    </a:solidFill>
                  </a:tcPr>
                </a:tc>
              </a:tr>
              <a:tr h="457200">
                <a:tc>
                  <a:txBody>
                    <a:bodyPr/>
                    <a:lstStyle/>
                    <a:p>
                      <a:pPr algn="l"/>
                      <a:r>
                        <a:rPr sz="1300" b="0" i="0">
                          <a:solidFill>
                            <a:srgbClr val="111B30"/>
                          </a:solidFill>
                          <a:latin typeface="Calibri"/>
                        </a:rPr>
                        <a:t>Hyper-V Server (free, standalone)</a:t>
                      </a:r>
                    </a:p>
                  </a:txBody>
                  <a:tcPr anchor="ctr" marL="76200" marR="76200" marT="38100" marB="38100">
                    <a:solidFill>
                      <a:srgbClr val="FFFFFF"/>
                    </a:solidFill>
                  </a:tcPr>
                </a:tc>
                <a:tc>
                  <a:txBody>
                    <a:bodyPr/>
                    <a:lstStyle/>
                    <a:p>
                      <a:pPr algn="l"/>
                      <a:r>
                        <a:rPr sz="1300" b="0" i="0">
                          <a:solidFill>
                            <a:srgbClr val="111B30"/>
                          </a:solidFill>
                          <a:latin typeface="Calibri"/>
                        </a:rPr>
                        <a:t>Hypervisor only - guests must be separately licensed</a:t>
                      </a:r>
                    </a:p>
                  </a:txBody>
                  <a:tcPr anchor="ctr" marL="76200" marR="76200" marT="38100" marB="38100">
                    <a:solidFill>
                      <a:srgbClr val="FFFFFF"/>
                    </a:solidFill>
                  </a:tcPr>
                </a:tc>
              </a:tr>
              <a:tr h="457200">
                <a:tc>
                  <a:txBody>
                    <a:bodyPr/>
                    <a:lstStyle/>
                    <a:p>
                      <a:pPr algn="l"/>
                      <a:r>
                        <a:rPr sz="1300" b="0" i="0">
                          <a:solidFill>
                            <a:srgbClr val="111B30"/>
                          </a:solidFill>
                          <a:latin typeface="Calibri"/>
                        </a:rPr>
                        <a:t>Non-Windows guests (Linux, etc.)</a:t>
                      </a:r>
                    </a:p>
                  </a:txBody>
                  <a:tcPr anchor="ctr" marL="76200" marR="76200" marT="38100" marB="38100">
                    <a:solidFill>
                      <a:srgbClr val="E8EEF7"/>
                    </a:solidFill>
                  </a:tcPr>
                </a:tc>
                <a:tc>
                  <a:txBody>
                    <a:bodyPr/>
                    <a:lstStyle/>
                    <a:p>
                      <a:pPr algn="l"/>
                      <a:r>
                        <a:rPr sz="1300" b="0" i="0">
                          <a:solidFill>
                            <a:srgbClr val="111B30"/>
                          </a:solidFill>
                          <a:latin typeface="Calibri"/>
                        </a:rPr>
                        <a:t>Not covered by the host's Windows Server license</a:t>
                      </a:r>
                    </a:p>
                  </a:txBody>
                  <a:tcPr anchor="ctr" marL="76200" marR="76200" marT="38100" marB="38100">
                    <a:solidFill>
                      <a:srgbClr val="E8EEF7"/>
                    </a:solidFill>
                  </a:tcPr>
                </a:tc>
              </a:tr>
            </a:tbl>
          </a:graphicData>
        </a:graphic>
      </p:graphicFrame>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Unlicensed VM Sprawl</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Risk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 Standard-edition host</a:t>
            </a:r>
          </a:p>
          <a:p>
            <a:pPr algn="ctr"/>
            <a:r>
              <a:rPr sz="1100" b="0" i="0">
                <a:solidFill>
                  <a:srgbClr val="111B30"/>
                </a:solidFill>
                <a:latin typeface="Calibri"/>
              </a:rPr>
              <a:t>is running near its</a:t>
            </a:r>
          </a:p>
          <a:p>
            <a:pPr algn="ctr"/>
            <a:r>
              <a:rPr sz="1100" b="0" i="0">
                <a:solidFill>
                  <a:srgbClr val="111B30"/>
                </a:solidFill>
                <a:latin typeface="Calibri"/>
              </a:rPr>
              <a:t>2-VM guest limit</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Workloads grow and a</a:t>
            </a:r>
          </a:p>
          <a:p>
            <a:pPr algn="ctr"/>
            <a:r>
              <a:rPr sz="1100" b="1" i="0">
                <a:solidFill>
                  <a:srgbClr val="111B30"/>
                </a:solidFill>
                <a:latin typeface="Calibri"/>
              </a:rPr>
              <a:t>3rd Windows Server VM</a:t>
            </a:r>
          </a:p>
          <a:p>
            <a:pPr algn="ctr"/>
            <a:r>
              <a:rPr sz="1100" b="1" i="0">
                <a:solidFill>
                  <a:srgbClr val="111B30"/>
                </a:solidFill>
                <a:latin typeface="Calibri"/>
              </a:rPr>
              <a:t>gets added</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The host quietly exceeds</a:t>
            </a:r>
          </a:p>
          <a:p>
            <a:pPr algn="ctr"/>
            <a:r>
              <a:rPr sz="1100" b="0" i="0">
                <a:solidFill>
                  <a:srgbClr val="111B30"/>
                </a:solidFill>
                <a:latin typeface="Calibri"/>
              </a:rPr>
              <a:t>its licensed VM limit</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MITIGATION: Track VM count per host; alert before exceeding the licensed limit</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License Audit Failure</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Risk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License inventory isn't</a:t>
            </a:r>
          </a:p>
          <a:p>
            <a:pPr algn="ctr"/>
            <a:r>
              <a:rPr sz="1100" b="0" i="0">
                <a:solidFill>
                  <a:srgbClr val="111B30"/>
                </a:solidFill>
                <a:latin typeface="Calibri"/>
              </a:rPr>
              <a:t>kept in sync with what's</a:t>
            </a:r>
          </a:p>
          <a:p>
            <a:pPr algn="ctr"/>
            <a:r>
              <a:rPr sz="1100" b="0" i="0">
                <a:solidFill>
                  <a:srgbClr val="111B30"/>
                </a:solidFill>
                <a:latin typeface="Calibri"/>
              </a:rPr>
              <a:t>actually deployed</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A Microsoft/vendor audit</a:t>
            </a:r>
          </a:p>
          <a:p>
            <a:pPr algn="ctr"/>
            <a:r>
              <a:rPr sz="1100" b="1" i="0">
                <a:solidFill>
                  <a:srgbClr val="111B30"/>
                </a:solidFill>
                <a:latin typeface="Calibri"/>
              </a:rPr>
              <a:t>finds under-licensing</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Penalty costs, and an</a:t>
            </a:r>
          </a:p>
          <a:p>
            <a:pPr algn="ctr"/>
            <a:r>
              <a:rPr sz="1100" b="0" i="0">
                <a:solidFill>
                  <a:srgbClr val="111B30"/>
                </a:solidFill>
                <a:latin typeface="Calibri"/>
              </a:rPr>
              <a:t>urgent scramble to true up</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MITIGATION: Maintain accurate license inventory; reconcile against deployed core counts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Core-Count Drift After Hardware Upgrade</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Risk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 host gets more</a:t>
            </a:r>
          </a:p>
          <a:p>
            <a:pPr algn="ctr"/>
            <a:r>
              <a:rPr sz="1100" b="0" i="0">
                <a:solidFill>
                  <a:srgbClr val="111B30"/>
                </a:solidFill>
                <a:latin typeface="Calibri"/>
              </a:rPr>
              <a:t>cores/processors added</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Nobody re-checks the</a:t>
            </a:r>
          </a:p>
          <a:p>
            <a:pPr algn="ctr"/>
            <a:r>
              <a:rPr sz="1100" b="1" i="0">
                <a:solidFill>
                  <a:srgbClr val="111B30"/>
                </a:solidFill>
                <a:latin typeface="Calibri"/>
              </a:rPr>
              <a:t>minimum license</a:t>
            </a:r>
          </a:p>
          <a:p>
            <a:pPr algn="ctr"/>
            <a:r>
              <a:rPr sz="1100" b="1" i="0">
                <a:solidFill>
                  <a:srgbClr val="111B30"/>
                </a:solidFill>
                <a:latin typeface="Calibri"/>
              </a:rPr>
              <a:t>requirement afterward</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The host silently falls</a:t>
            </a:r>
          </a:p>
          <a:p>
            <a:pPr algn="ctr"/>
            <a:r>
              <a:rPr sz="1100" b="0" i="0">
                <a:solidFill>
                  <a:srgbClr val="111B30"/>
                </a:solidFill>
                <a:latin typeface="Calibri"/>
              </a:rPr>
              <a:t>out of compliance</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MITIGATION: Re-evaluate licensing whenever hardware changes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Mismatched CAL Type at Scale</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Risk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An org picked Device or</a:t>
            </a:r>
          </a:p>
          <a:p>
            <a:pPr algn="ctr"/>
            <a:r>
              <a:rPr sz="1100" b="0" i="0">
                <a:solidFill>
                  <a:srgbClr val="111B30"/>
                </a:solidFill>
                <a:latin typeface="Calibri"/>
              </a:rPr>
              <a:t>User CALs when it was</a:t>
            </a:r>
          </a:p>
          <a:p>
            <a:pPr algn="ctr"/>
            <a:r>
              <a:rPr sz="1100" b="0" i="0">
                <a:solidFill>
                  <a:srgbClr val="111B30"/>
                </a:solidFill>
                <a:latin typeface="Calibri"/>
              </a:rPr>
              <a:t>small</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Headcount or device count</a:t>
            </a:r>
          </a:p>
          <a:p>
            <a:pPr algn="ctr"/>
            <a:r>
              <a:rPr sz="1100" b="1" i="0">
                <a:solidFill>
                  <a:srgbClr val="111B30"/>
                </a:solidFill>
                <a:latin typeface="Calibri"/>
              </a:rPr>
              <a:t>grows in the wrong</a:t>
            </a:r>
          </a:p>
          <a:p>
            <a:pPr algn="ctr"/>
            <a:r>
              <a:rPr sz="1100" b="1" i="0">
                <a:solidFill>
                  <a:srgbClr val="111B30"/>
                </a:solidFill>
                <a:latin typeface="Calibri"/>
              </a:rPr>
              <a:t>direction for that choice</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The wrong CAL model now</a:t>
            </a:r>
          </a:p>
          <a:p>
            <a:pPr algn="ctr"/>
            <a:r>
              <a:rPr sz="1100" b="0" i="0">
                <a:solidFill>
                  <a:srgbClr val="111B30"/>
                </a:solidFill>
                <a:latin typeface="Calibri"/>
              </a:rPr>
              <a:t>costs more than necessary</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MITIGATION: Periodically re-run the CAL decision math as the org changes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822960" y="2962656"/>
            <a:ext cx="1005840" cy="1005840"/>
          </a:xfrm>
          <a:prstGeom prst="rect">
            <a:avLst/>
          </a:prstGeom>
          <a:solidFill>
            <a:srgbClr val="00B4D8"/>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4000" b="1" i="0">
                <a:solidFill>
                  <a:srgbClr val="1B2A4A"/>
                </a:solidFill>
                <a:latin typeface="Calibri"/>
              </a:rPr>
              <a:t>07</a:t>
            </a:r>
          </a:p>
        </p:txBody>
      </p:sp>
      <p:sp>
        <p:nvSpPr>
          <p:cNvPr id="3" name="TextBox 2"/>
          <p:cNvSpPr txBox="1"/>
          <p:nvPr/>
        </p:nvSpPr>
        <p:spPr>
          <a:xfrm>
            <a:off x="2103120" y="2962656"/>
            <a:ext cx="9448495" cy="1005840"/>
          </a:xfrm>
          <a:prstGeom prst="rect">
            <a:avLst/>
          </a:prstGeom>
          <a:noFill/>
        </p:spPr>
        <p:txBody>
          <a:bodyPr wrap="square" anchor="ctr">
            <a:spAutoFit/>
          </a:bodyPr>
          <a:lstStyle/>
          <a:p>
            <a:r>
              <a:rPr sz="3200" b="1" i="0">
                <a:solidFill>
                  <a:srgbClr val="FFFFFF"/>
                </a:solidFill>
                <a:latin typeface="Cambria"/>
              </a:rPr>
              <a:t>Centralized AAA: LDAP Queries &amp; RADIUS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LDAP Directory Tree Structure</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Same abstraction as AD's OU tree from Section 01 - this is the exact sample tree used in the LDAP filter exercises.</a:t>
            </a:r>
          </a:p>
        </p:txBody>
      </p:sp>
      <p:sp>
        <p:nvSpPr>
          <p:cNvPr id="4" name="Rounded Rectangle 3"/>
          <p:cNvSpPr/>
          <p:nvPr/>
        </p:nvSpPr>
        <p:spPr>
          <a:xfrm>
            <a:off x="4709160" y="1874519"/>
            <a:ext cx="2743200" cy="502920"/>
          </a:xfrm>
          <a:prstGeom prst="roundRect">
            <a:avLst/>
          </a:prstGeom>
          <a:solidFill>
            <a:srgbClr val="1B2A4A"/>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FFFFFF"/>
                </a:solidFill>
                <a:latin typeface="Calibri"/>
              </a:rPr>
              <a:t>dc=corp,dc=lab</a:t>
            </a:r>
          </a:p>
        </p:txBody>
      </p:sp>
      <p:sp>
        <p:nvSpPr>
          <p:cNvPr id="5" name="Rounded Rectangle 4"/>
          <p:cNvSpPr/>
          <p:nvPr/>
        </p:nvSpPr>
        <p:spPr>
          <a:xfrm>
            <a:off x="1828800" y="2834640"/>
            <a:ext cx="2926080" cy="5029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ou=People</a:t>
            </a:r>
          </a:p>
        </p:txBody>
      </p:sp>
      <p:sp>
        <p:nvSpPr>
          <p:cNvPr id="6" name="Rounded Rectangle 5"/>
          <p:cNvSpPr/>
          <p:nvPr/>
        </p:nvSpPr>
        <p:spPr>
          <a:xfrm>
            <a:off x="7406640" y="2834640"/>
            <a:ext cx="2926080" cy="5029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ou=Groups</a:t>
            </a:r>
          </a:p>
        </p:txBody>
      </p:sp>
      <p:cxnSp>
        <p:nvCxnSpPr>
          <p:cNvPr id="7" name="Connector 6"/>
          <p:cNvCxnSpPr/>
          <p:nvPr/>
        </p:nvCxnSpPr>
        <p:spPr>
          <a:xfrm flipH="1">
            <a:off x="3291840" y="2377439"/>
            <a:ext cx="2788920" cy="457201"/>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80760" y="2377439"/>
            <a:ext cx="2788920" cy="457201"/>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4400" y="3794760"/>
            <a:ext cx="3657600" cy="5029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50" b="0" i="0">
                <a:solidFill>
                  <a:srgbClr val="111B30"/>
                </a:solidFill>
                <a:latin typeface="Calibri"/>
              </a:rPr>
              <a:t>uid=jsmith (memberOf=NetworkAdmins, uAC=512)</a:t>
            </a:r>
          </a:p>
        </p:txBody>
      </p:sp>
      <p:sp>
        <p:nvSpPr>
          <p:cNvPr id="10" name="Rounded Rectangle 9"/>
          <p:cNvSpPr/>
          <p:nvPr/>
        </p:nvSpPr>
        <p:spPr>
          <a:xfrm>
            <a:off x="914400" y="4434840"/>
            <a:ext cx="3657600" cy="5029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50" b="0" i="0">
                <a:solidFill>
                  <a:srgbClr val="111B30"/>
                </a:solidFill>
                <a:latin typeface="Calibri"/>
              </a:rPr>
              <a:t>uid=bvance (memberOf=HelpDesk, uAC=514)</a:t>
            </a:r>
          </a:p>
        </p:txBody>
      </p:sp>
      <p:sp>
        <p:nvSpPr>
          <p:cNvPr id="11" name="Rounded Rectangle 10"/>
          <p:cNvSpPr/>
          <p:nvPr/>
        </p:nvSpPr>
        <p:spPr>
          <a:xfrm>
            <a:off x="914400" y="5074920"/>
            <a:ext cx="3657600" cy="5029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50" b="0" i="0">
                <a:solidFill>
                  <a:srgbClr val="111B30"/>
                </a:solidFill>
                <a:latin typeface="Calibri"/>
              </a:rPr>
              <a:t>uid=tlowe (memberOf=NetworkAdmins, uAC=66050)</a:t>
            </a:r>
          </a:p>
        </p:txBody>
      </p:sp>
      <p:sp>
        <p:nvSpPr>
          <p:cNvPr id="12" name="Rounded Rectangle 11"/>
          <p:cNvSpPr/>
          <p:nvPr/>
        </p:nvSpPr>
        <p:spPr>
          <a:xfrm>
            <a:off x="7406640" y="3794760"/>
            <a:ext cx="2926080" cy="5029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0" i="0">
                <a:solidFill>
                  <a:srgbClr val="111B30"/>
                </a:solidFill>
                <a:latin typeface="Calibri"/>
              </a:rPr>
              <a:t>cn=NetworkAdmins</a:t>
            </a:r>
          </a:p>
        </p:txBody>
      </p:sp>
      <p:sp>
        <p:nvSpPr>
          <p:cNvPr id="13" name="Rounded Rectangle 12"/>
          <p:cNvSpPr/>
          <p:nvPr/>
        </p:nvSpPr>
        <p:spPr>
          <a:xfrm>
            <a:off x="7406640" y="4434840"/>
            <a:ext cx="2926080" cy="5029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0" i="0">
                <a:solidFill>
                  <a:srgbClr val="111B30"/>
                </a:solidFill>
                <a:latin typeface="Calibri"/>
              </a:rPr>
              <a:t>cn=HelpDesk</a:t>
            </a:r>
          </a:p>
        </p:txBody>
      </p:sp>
      <p:cxnSp>
        <p:nvCxnSpPr>
          <p:cNvPr id="14" name="Connector 13"/>
          <p:cNvCxnSpPr/>
          <p:nvPr/>
        </p:nvCxnSpPr>
        <p:spPr>
          <a:xfrm flipH="1">
            <a:off x="2743200" y="3337560"/>
            <a:ext cx="548640" cy="45720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743200" y="3337560"/>
            <a:ext cx="548640" cy="109728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743200" y="3337560"/>
            <a:ext cx="548640" cy="173736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869680" y="3337560"/>
            <a:ext cx="0" cy="45720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869680" y="3337560"/>
            <a:ext cx="0" cy="109728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572000" y="4046220"/>
            <a:ext cx="2834640" cy="0"/>
          </a:xfrm>
          <a:prstGeom prst="line">
            <a:avLst/>
          </a:prstGeom>
          <a:ln w="15875">
            <a:solidFill>
              <a:srgbClr val="00B4D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572000" y="4046220"/>
            <a:ext cx="2834640" cy="1280160"/>
          </a:xfrm>
          <a:prstGeom prst="line">
            <a:avLst/>
          </a:prstGeom>
          <a:ln w="15875">
            <a:solidFill>
              <a:srgbClr val="00B4D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572000" y="4686300"/>
            <a:ext cx="2834640" cy="0"/>
          </a:xfrm>
          <a:prstGeom prst="line">
            <a:avLst/>
          </a:prstGeom>
          <a:ln w="15875">
            <a:solidFill>
              <a:srgbClr val="00B4D8"/>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5760720"/>
            <a:ext cx="10911535" cy="365760"/>
          </a:xfrm>
          <a:prstGeom prst="rect">
            <a:avLst/>
          </a:prstGeom>
          <a:noFill/>
        </p:spPr>
        <p:txBody>
          <a:bodyPr wrap="square" lIns="0" tIns="0">
            <a:spAutoFit/>
          </a:bodyPr>
          <a:lstStyle/>
          <a:p>
            <a:r>
              <a:rPr sz="1250" b="0" i="1">
                <a:solidFill>
                  <a:srgbClr val="6B7480"/>
                </a:solidFill>
                <a:latin typeface="Calibri"/>
              </a:rPr>
              <a:t>Dashed cyan lines = memberOf cross-references (not tree edges) - previews the AND-filter exercise next.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LDAP Filter Syntax Cheat Sheet</a:t>
            </a:r>
          </a:p>
        </p:txBody>
      </p:sp>
      <p:graphicFrame>
        <p:nvGraphicFramePr>
          <p:cNvPr id="3" name="Table 2"/>
          <p:cNvGraphicFramePr>
            <a:graphicFrameLocks noGrp="1"/>
          </p:cNvGraphicFramePr>
          <p:nvPr/>
        </p:nvGraphicFramePr>
        <p:xfrm>
          <a:off x="640080" y="1554480"/>
          <a:ext cx="10820095" cy="2286000"/>
        </p:xfrm>
        <a:graphic>
          <a:graphicData uri="http://schemas.openxmlformats.org/drawingml/2006/table">
            <a:tbl>
              <a:tblPr firstRow="1" bandRow="1">
                <a:tableStyleId>{5C22544A-7EE6-4342-B048-85BDC9FD1C3A}</a:tableStyleId>
              </a:tblPr>
              <a:tblGrid>
                <a:gridCol w="2011680"/>
                <a:gridCol w="3200400"/>
                <a:gridCol w="5608015"/>
              </a:tblGrid>
              <a:tr h="457200">
                <a:tc>
                  <a:txBody>
                    <a:bodyPr/>
                    <a:lstStyle/>
                    <a:p>
                      <a:pPr algn="l"/>
                      <a:r>
                        <a:rPr sz="1250" b="1" i="0">
                          <a:solidFill>
                            <a:srgbClr val="FFFFFF"/>
                          </a:solidFill>
                          <a:latin typeface="Calibri"/>
                        </a:rPr>
                        <a:t>Operator</a:t>
                      </a:r>
                    </a:p>
                  </a:txBody>
                  <a:tcPr anchor="ctr" marL="76200" marR="76200" marT="38100" marB="38100">
                    <a:solidFill>
                      <a:srgbClr val="1B2A4A"/>
                    </a:solidFill>
                  </a:tcPr>
                </a:tc>
                <a:tc>
                  <a:txBody>
                    <a:bodyPr/>
                    <a:lstStyle/>
                    <a:p>
                      <a:pPr algn="l"/>
                      <a:r>
                        <a:rPr sz="1250" b="1" i="0">
                          <a:solidFill>
                            <a:srgbClr val="FFFFFF"/>
                          </a:solidFill>
                          <a:latin typeface="Calibri"/>
                        </a:rPr>
                        <a:t>Meaning</a:t>
                      </a:r>
                    </a:p>
                  </a:txBody>
                  <a:tcPr anchor="ctr" marL="76200" marR="76200" marT="38100" marB="38100">
                    <a:solidFill>
                      <a:srgbClr val="1B2A4A"/>
                    </a:solidFill>
                  </a:tcPr>
                </a:tc>
                <a:tc>
                  <a:txBody>
                    <a:bodyPr/>
                    <a:lstStyle/>
                    <a:p>
                      <a:pPr algn="l"/>
                      <a:r>
                        <a:rPr sz="1250" b="1" i="0">
                          <a:solidFill>
                            <a:srgbClr val="FFFFFF"/>
                          </a:solidFill>
                          <a:latin typeface="Calibri"/>
                        </a:rPr>
                        <a:t>Example</a:t>
                      </a:r>
                    </a:p>
                  </a:txBody>
                  <a:tcPr anchor="ctr" marL="76200" marR="76200" marT="38100" marB="38100">
                    <a:solidFill>
                      <a:srgbClr val="1B2A4A"/>
                    </a:solidFill>
                  </a:tcPr>
                </a:tc>
              </a:tr>
              <a:tr h="457200">
                <a:tc>
                  <a:txBody>
                    <a:bodyPr/>
                    <a:lstStyle/>
                    <a:p>
                      <a:pPr algn="l"/>
                      <a:r>
                        <a:rPr sz="1100" b="0" i="0">
                          <a:solidFill>
                            <a:srgbClr val="111B30"/>
                          </a:solidFill>
                          <a:latin typeface="Calibri"/>
                        </a:rPr>
                        <a:t>(&amp;(A)(B))</a:t>
                      </a:r>
                    </a:p>
                  </a:txBody>
                  <a:tcPr anchor="ctr" marL="76200" marR="76200" marT="38100" marB="38100">
                    <a:solidFill>
                      <a:srgbClr val="FFFFFF"/>
                    </a:solidFill>
                  </a:tcPr>
                </a:tc>
                <a:tc>
                  <a:txBody>
                    <a:bodyPr/>
                    <a:lstStyle/>
                    <a:p>
                      <a:pPr algn="l"/>
                      <a:r>
                        <a:rPr sz="1100" b="0" i="0">
                          <a:solidFill>
                            <a:srgbClr val="111B30"/>
                          </a:solidFill>
                          <a:latin typeface="Calibri"/>
                        </a:rPr>
                        <a:t>AND - both conditions must match</a:t>
                      </a:r>
                    </a:p>
                  </a:txBody>
                  <a:tcPr anchor="ctr" marL="76200" marR="76200" marT="38100" marB="38100">
                    <a:solidFill>
                      <a:srgbClr val="FFFFFF"/>
                    </a:solidFill>
                  </a:tcPr>
                </a:tc>
                <a:tc>
                  <a:txBody>
                    <a:bodyPr/>
                    <a:lstStyle/>
                    <a:p>
                      <a:pPr algn="l"/>
                      <a:r>
                        <a:rPr sz="1100" b="0" i="0">
                          <a:solidFill>
                            <a:srgbClr val="111B30"/>
                          </a:solidFill>
                          <a:latin typeface="Calibri"/>
                        </a:rPr>
                        <a:t>(&amp;(objectClass=person)(memberOf=cn=NetworkAdmins,ou=Groups,dc=corp,dc=lab))</a:t>
                      </a:r>
                    </a:p>
                  </a:txBody>
                  <a:tcPr anchor="ctr" marL="76200" marR="76200" marT="38100" marB="38100">
                    <a:solidFill>
                      <a:srgbClr val="FFFFFF"/>
                    </a:solidFill>
                  </a:tcPr>
                </a:tc>
              </a:tr>
              <a:tr h="457200">
                <a:tc>
                  <a:txBody>
                    <a:bodyPr/>
                    <a:lstStyle/>
                    <a:p>
                      <a:pPr algn="l"/>
                      <a:r>
                        <a:rPr sz="1100" b="0" i="0">
                          <a:solidFill>
                            <a:srgbClr val="111B30"/>
                          </a:solidFill>
                          <a:latin typeface="Calibri"/>
                        </a:rPr>
                        <a:t>(|(A)(B))</a:t>
                      </a:r>
                    </a:p>
                  </a:txBody>
                  <a:tcPr anchor="ctr" marL="76200" marR="76200" marT="38100" marB="38100">
                    <a:solidFill>
                      <a:srgbClr val="E8EEF7"/>
                    </a:solidFill>
                  </a:tcPr>
                </a:tc>
                <a:tc>
                  <a:txBody>
                    <a:bodyPr/>
                    <a:lstStyle/>
                    <a:p>
                      <a:pPr algn="l"/>
                      <a:r>
                        <a:rPr sz="1100" b="0" i="0">
                          <a:solidFill>
                            <a:srgbClr val="111B30"/>
                          </a:solidFill>
                          <a:latin typeface="Calibri"/>
                        </a:rPr>
                        <a:t>OR - either condition matches</a:t>
                      </a:r>
                    </a:p>
                  </a:txBody>
                  <a:tcPr anchor="ctr" marL="76200" marR="76200" marT="38100" marB="38100">
                    <a:solidFill>
                      <a:srgbClr val="E8EEF7"/>
                    </a:solidFill>
                  </a:tcPr>
                </a:tc>
                <a:tc>
                  <a:txBody>
                    <a:bodyPr/>
                    <a:lstStyle/>
                    <a:p>
                      <a:pPr algn="l"/>
                      <a:r>
                        <a:rPr sz="1100" b="0" i="0">
                          <a:solidFill>
                            <a:srgbClr val="111B30"/>
                          </a:solidFill>
                          <a:latin typeface="Calibri"/>
                        </a:rPr>
                        <a:t>(|(uid=jsmith)(uid=tlowe))</a:t>
                      </a:r>
                    </a:p>
                  </a:txBody>
                  <a:tcPr anchor="ctr" marL="76200" marR="76200" marT="38100" marB="38100">
                    <a:solidFill>
                      <a:srgbClr val="E8EEF7"/>
                    </a:solidFill>
                  </a:tcPr>
                </a:tc>
              </a:tr>
              <a:tr h="457200">
                <a:tc>
                  <a:txBody>
                    <a:bodyPr/>
                    <a:lstStyle/>
                    <a:p>
                      <a:pPr algn="l"/>
                      <a:r>
                        <a:rPr sz="1100" b="0" i="0">
                          <a:solidFill>
                            <a:srgbClr val="111B30"/>
                          </a:solidFill>
                          <a:latin typeface="Calibri"/>
                        </a:rPr>
                        <a:t>(!(A))</a:t>
                      </a:r>
                    </a:p>
                  </a:txBody>
                  <a:tcPr anchor="ctr" marL="76200" marR="76200" marT="38100" marB="38100">
                    <a:solidFill>
                      <a:srgbClr val="FFFFFF"/>
                    </a:solidFill>
                  </a:tcPr>
                </a:tc>
                <a:tc>
                  <a:txBody>
                    <a:bodyPr/>
                    <a:lstStyle/>
                    <a:p>
                      <a:pPr algn="l"/>
                      <a:r>
                        <a:rPr sz="1100" b="0" i="0">
                          <a:solidFill>
                            <a:srgbClr val="111B30"/>
                          </a:solidFill>
                          <a:latin typeface="Calibri"/>
                        </a:rPr>
                        <a:t>NOT - negation</a:t>
                      </a:r>
                    </a:p>
                  </a:txBody>
                  <a:tcPr anchor="ctr" marL="76200" marR="76200" marT="38100" marB="38100">
                    <a:solidFill>
                      <a:srgbClr val="FFFFFF"/>
                    </a:solidFill>
                  </a:tcPr>
                </a:tc>
                <a:tc>
                  <a:txBody>
                    <a:bodyPr/>
                    <a:lstStyle/>
                    <a:p>
                      <a:pPr algn="l"/>
                      <a:r>
                        <a:rPr sz="1100" b="0" i="0">
                          <a:solidFill>
                            <a:srgbClr val="111B30"/>
                          </a:solidFill>
                          <a:latin typeface="Calibri"/>
                        </a:rPr>
                        <a:t>(!(userAccountControl=512))</a:t>
                      </a:r>
                    </a:p>
                  </a:txBody>
                  <a:tcPr anchor="ctr" marL="76200" marR="76200" marT="38100" marB="38100">
                    <a:solidFill>
                      <a:srgbClr val="FFFFFF"/>
                    </a:solidFill>
                  </a:tcPr>
                </a:tc>
              </a:tr>
              <a:tr h="457200">
                <a:tc>
                  <a:txBody>
                    <a:bodyPr/>
                    <a:lstStyle/>
                    <a:p>
                      <a:pPr algn="l"/>
                      <a:r>
                        <a:rPr sz="1100" b="0" i="0">
                          <a:solidFill>
                            <a:srgbClr val="111B30"/>
                          </a:solidFill>
                          <a:latin typeface="Calibri"/>
                        </a:rPr>
                        <a:t>attr:OID:=value</a:t>
                      </a:r>
                    </a:p>
                  </a:txBody>
                  <a:tcPr anchor="ctr" marL="76200" marR="76200" marT="38100" marB="38100">
                    <a:solidFill>
                      <a:srgbClr val="E8EEF7"/>
                    </a:solidFill>
                  </a:tcPr>
                </a:tc>
                <a:tc>
                  <a:txBody>
                    <a:bodyPr/>
                    <a:lstStyle/>
                    <a:p>
                      <a:pPr algn="l"/>
                      <a:r>
                        <a:rPr sz="1100" b="0" i="0">
                          <a:solidFill>
                            <a:srgbClr val="111B30"/>
                          </a:solidFill>
                          <a:latin typeface="Calibri"/>
                        </a:rPr>
                        <a:t>Bitwise matching rule (flag attributes)</a:t>
                      </a:r>
                    </a:p>
                  </a:txBody>
                  <a:tcPr anchor="ctr" marL="76200" marR="76200" marT="38100" marB="38100">
                    <a:solidFill>
                      <a:srgbClr val="E8EEF7"/>
                    </a:solidFill>
                  </a:tcPr>
                </a:tc>
                <a:tc>
                  <a:txBody>
                    <a:bodyPr/>
                    <a:lstStyle/>
                    <a:p>
                      <a:pPr algn="l"/>
                      <a:r>
                        <a:rPr sz="1100" b="0" i="0">
                          <a:solidFill>
                            <a:srgbClr val="111B30"/>
                          </a:solidFill>
                          <a:latin typeface="Calibri"/>
                        </a:rPr>
                        <a:t>(userAccountControl:1.2.840.113556.1.4.803:=2) - bit 2 set (disabled)</a:t>
                      </a:r>
                    </a:p>
                  </a:txBody>
                  <a:tcPr anchor="ctr" marL="76200" marR="76200" marT="38100" marB="38100">
                    <a:solidFill>
                      <a:srgbClr val="E8EEF7"/>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userAccountControl: Reading the Bitwise Flags</a:t>
            </a:r>
          </a:p>
        </p:txBody>
      </p:sp>
      <p:graphicFrame>
        <p:nvGraphicFramePr>
          <p:cNvPr id="3" name="Table 2"/>
          <p:cNvGraphicFramePr>
            <a:graphicFrameLocks noGrp="1"/>
          </p:cNvGraphicFramePr>
          <p:nvPr/>
        </p:nvGraphicFramePr>
        <p:xfrm>
          <a:off x="640080" y="1554480"/>
          <a:ext cx="10362895" cy="2286000"/>
        </p:xfrm>
        <a:graphic>
          <a:graphicData uri="http://schemas.openxmlformats.org/drawingml/2006/table">
            <a:tbl>
              <a:tblPr firstRow="1" bandRow="1">
                <a:tableStyleId>{5C22544A-7EE6-4342-B048-85BDC9FD1C3A}</a:tableStyleId>
              </a:tblPr>
              <a:tblGrid>
                <a:gridCol w="2743200"/>
                <a:gridCol w="7619695"/>
              </a:tblGrid>
              <a:tr h="457200">
                <a:tc>
                  <a:txBody>
                    <a:bodyPr/>
                    <a:lstStyle/>
                    <a:p>
                      <a:pPr algn="l"/>
                      <a:r>
                        <a:rPr sz="1250" b="1" i="0">
                          <a:solidFill>
                            <a:srgbClr val="FFFFFF"/>
                          </a:solidFill>
                          <a:latin typeface="Calibri"/>
                        </a:rPr>
                        <a:t>Value</a:t>
                      </a:r>
                    </a:p>
                  </a:txBody>
                  <a:tcPr anchor="ctr" marL="76200" marR="76200" marT="38100" marB="38100">
                    <a:solidFill>
                      <a:srgbClr val="1B2A4A"/>
                    </a:solidFill>
                  </a:tcPr>
                </a:tc>
                <a:tc>
                  <a:txBody>
                    <a:bodyPr/>
                    <a:lstStyle/>
                    <a:p>
                      <a:pPr algn="l"/>
                      <a:r>
                        <a:rPr sz="1250" b="1" i="0">
                          <a:solidFill>
                            <a:srgbClr val="FFFFFF"/>
                          </a:solidFill>
                          <a:latin typeface="Calibri"/>
                        </a:rPr>
                        <a:t>Meaning</a:t>
                      </a:r>
                    </a:p>
                  </a:txBody>
                  <a:tcPr anchor="ctr" marL="76200" marR="76200" marT="38100" marB="38100">
                    <a:solidFill>
                      <a:srgbClr val="1B2A4A"/>
                    </a:solidFill>
                  </a:tcPr>
                </a:tc>
              </a:tr>
              <a:tr h="457200">
                <a:tc>
                  <a:txBody>
                    <a:bodyPr/>
                    <a:lstStyle/>
                    <a:p>
                      <a:pPr algn="l"/>
                      <a:r>
                        <a:rPr sz="1350" b="0" i="0">
                          <a:solidFill>
                            <a:srgbClr val="111B30"/>
                          </a:solidFill>
                          <a:latin typeface="Calibri"/>
                        </a:rPr>
                        <a:t>512</a:t>
                      </a:r>
                    </a:p>
                  </a:txBody>
                  <a:tcPr anchor="ctr" marL="76200" marR="76200" marT="38100" marB="38100">
                    <a:solidFill>
                      <a:srgbClr val="FFFFFF"/>
                    </a:solidFill>
                  </a:tcPr>
                </a:tc>
                <a:tc>
                  <a:txBody>
                    <a:bodyPr/>
                    <a:lstStyle/>
                    <a:p>
                      <a:pPr algn="l"/>
                      <a:r>
                        <a:rPr sz="1350" b="0" i="0">
                          <a:solidFill>
                            <a:srgbClr val="111B30"/>
                          </a:solidFill>
                          <a:latin typeface="Calibri"/>
                        </a:rPr>
                        <a:t>Normal enabled account</a:t>
                      </a:r>
                    </a:p>
                  </a:txBody>
                  <a:tcPr anchor="ctr" marL="76200" marR="76200" marT="38100" marB="38100">
                    <a:solidFill>
                      <a:srgbClr val="FFFFFF"/>
                    </a:solidFill>
                  </a:tcPr>
                </a:tc>
              </a:tr>
              <a:tr h="457200">
                <a:tc>
                  <a:txBody>
                    <a:bodyPr/>
                    <a:lstStyle/>
                    <a:p>
                      <a:pPr algn="l"/>
                      <a:r>
                        <a:rPr sz="1350" b="0" i="0">
                          <a:solidFill>
                            <a:srgbClr val="111B30"/>
                          </a:solidFill>
                          <a:latin typeface="Calibri"/>
                        </a:rPr>
                        <a:t>514</a:t>
                      </a:r>
                    </a:p>
                  </a:txBody>
                  <a:tcPr anchor="ctr" marL="76200" marR="76200" marT="38100" marB="38100">
                    <a:solidFill>
                      <a:srgbClr val="E8EEF7"/>
                    </a:solidFill>
                  </a:tcPr>
                </a:tc>
                <a:tc>
                  <a:txBody>
                    <a:bodyPr/>
                    <a:lstStyle/>
                    <a:p>
                      <a:pPr algn="l"/>
                      <a:r>
                        <a:rPr sz="1350" b="0" i="0">
                          <a:solidFill>
                            <a:srgbClr val="111B30"/>
                          </a:solidFill>
                          <a:latin typeface="Calibri"/>
                        </a:rPr>
                        <a:t>Disabled account (512 + disabled bit 2)</a:t>
                      </a:r>
                    </a:p>
                  </a:txBody>
                  <a:tcPr anchor="ctr" marL="76200" marR="76200" marT="38100" marB="38100">
                    <a:solidFill>
                      <a:srgbClr val="E8EEF7"/>
                    </a:solidFill>
                  </a:tcPr>
                </a:tc>
              </a:tr>
              <a:tr h="457200">
                <a:tc>
                  <a:txBody>
                    <a:bodyPr/>
                    <a:lstStyle/>
                    <a:p>
                      <a:pPr algn="l"/>
                      <a:r>
                        <a:rPr sz="1350" b="0" i="0">
                          <a:solidFill>
                            <a:srgbClr val="111B30"/>
                          </a:solidFill>
                          <a:latin typeface="Calibri"/>
                        </a:rPr>
                        <a:t>66050</a:t>
                      </a:r>
                    </a:p>
                  </a:txBody>
                  <a:tcPr anchor="ctr" marL="76200" marR="76200" marT="38100" marB="38100">
                    <a:solidFill>
                      <a:srgbClr val="FFFFFF"/>
                    </a:solidFill>
                  </a:tcPr>
                </a:tc>
                <a:tc>
                  <a:txBody>
                    <a:bodyPr/>
                    <a:lstStyle/>
                    <a:p>
                      <a:pPr algn="l"/>
                      <a:r>
                        <a:rPr sz="1350" b="0" i="0">
                          <a:solidFill>
                            <a:srgbClr val="111B30"/>
                          </a:solidFill>
                          <a:latin typeface="Calibri"/>
                        </a:rPr>
                        <a:t>Disabled + password never expires (514 + 65536)</a:t>
                      </a:r>
                    </a:p>
                  </a:txBody>
                  <a:tcPr anchor="ctr" marL="76200" marR="76200" marT="38100" marB="38100">
                    <a:solidFill>
                      <a:srgbClr val="FFFFFF"/>
                    </a:solidFill>
                  </a:tcPr>
                </a:tc>
              </a:tr>
              <a:tr h="457200">
                <a:tc>
                  <a:txBody>
                    <a:bodyPr/>
                    <a:lstStyle/>
                    <a:p>
                      <a:pPr algn="l"/>
                      <a:r>
                        <a:rPr sz="1350" b="0" i="0">
                          <a:solidFill>
                            <a:srgbClr val="111B30"/>
                          </a:solidFill>
                          <a:latin typeface="Calibri"/>
                        </a:rPr>
                        <a:t>Bit 2 (0x2)</a:t>
                      </a:r>
                    </a:p>
                  </a:txBody>
                  <a:tcPr anchor="ctr" marL="76200" marR="76200" marT="38100" marB="38100">
                    <a:solidFill>
                      <a:srgbClr val="E8EEF7"/>
                    </a:solidFill>
                  </a:tcPr>
                </a:tc>
                <a:tc>
                  <a:txBody>
                    <a:bodyPr/>
                    <a:lstStyle/>
                    <a:p>
                      <a:pPr algn="l"/>
                      <a:r>
                        <a:rPr sz="1350" b="0" i="0">
                          <a:solidFill>
                            <a:srgbClr val="111B30"/>
                          </a:solidFill>
                          <a:latin typeface="Calibri"/>
                        </a:rPr>
                        <a:t>The “disabled” flag specifically - this is what the matching-rule OID filter targets</a:t>
                      </a:r>
                    </a:p>
                  </a:txBody>
                  <a:tcPr anchor="ctr" marL="76200" marR="76200" marT="38100" marB="38100">
                    <a:solidFill>
                      <a:srgbClr val="E8EEF7"/>
                    </a:solidFill>
                  </a:tcPr>
                </a:tc>
              </a:tr>
            </a:tbl>
          </a:graphicData>
        </a:graphic>
      </p:graphicFrame>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RADIUS AAA Flow</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Centralizing network device logins - routers/switches/VPN concentrators face the same credential-sprawl problem as workstations.</a:t>
            </a:r>
          </a:p>
        </p:txBody>
      </p:sp>
      <p:sp>
        <p:nvSpPr>
          <p:cNvPr id="4" name="Rounded Rectangle 3"/>
          <p:cNvSpPr/>
          <p:nvPr/>
        </p:nvSpPr>
        <p:spPr>
          <a:xfrm>
            <a:off x="914400" y="3291840"/>
            <a:ext cx="2103120" cy="7315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Admin /</a:t>
            </a:r>
          </a:p>
          <a:p>
            <a:pPr algn="ctr"/>
            <a:r>
              <a:rPr sz="1000" b="0" i="0">
                <a:solidFill>
                  <a:srgbClr val="111B30"/>
                </a:solidFill>
                <a:latin typeface="Calibri"/>
              </a:rPr>
              <a:t>Supplicant</a:t>
            </a:r>
          </a:p>
        </p:txBody>
      </p:sp>
      <p:sp>
        <p:nvSpPr>
          <p:cNvPr id="5" name="Rounded Rectangle 4"/>
          <p:cNvSpPr/>
          <p:nvPr/>
        </p:nvSpPr>
        <p:spPr>
          <a:xfrm>
            <a:off x="3657600" y="3291840"/>
            <a:ext cx="2286000" cy="7315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Network Device</a:t>
            </a:r>
          </a:p>
          <a:p>
            <a:pPr algn="ctr"/>
            <a:r>
              <a:rPr sz="1000" b="0" i="0">
                <a:solidFill>
                  <a:srgbClr val="111B30"/>
                </a:solidFill>
                <a:latin typeface="Calibri"/>
              </a:rPr>
              <a:t>(NAS)</a:t>
            </a:r>
          </a:p>
        </p:txBody>
      </p:sp>
      <p:sp>
        <p:nvSpPr>
          <p:cNvPr id="6" name="Rounded Rectangle 5"/>
          <p:cNvSpPr/>
          <p:nvPr/>
        </p:nvSpPr>
        <p:spPr>
          <a:xfrm>
            <a:off x="6537960" y="3291840"/>
            <a:ext cx="2194560" cy="7315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RADIUS Server</a:t>
            </a:r>
          </a:p>
        </p:txBody>
      </p:sp>
      <p:sp>
        <p:nvSpPr>
          <p:cNvPr id="7" name="Rounded Rectangle 6"/>
          <p:cNvSpPr/>
          <p:nvPr/>
        </p:nvSpPr>
        <p:spPr>
          <a:xfrm>
            <a:off x="9281160" y="3291840"/>
            <a:ext cx="2011680" cy="73152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0" i="0">
                <a:solidFill>
                  <a:srgbClr val="111B30"/>
                </a:solidFill>
                <a:latin typeface="Calibri"/>
              </a:rPr>
              <a:t>Identity Store</a:t>
            </a:r>
          </a:p>
          <a:p>
            <a:pPr algn="ctr"/>
            <a:r>
              <a:rPr sz="950" b="0" i="0">
                <a:solidFill>
                  <a:srgbClr val="111B30"/>
                </a:solidFill>
                <a:latin typeface="Calibri"/>
              </a:rPr>
              <a:t>(AD/LDAP)</a:t>
            </a:r>
          </a:p>
        </p:txBody>
      </p:sp>
      <p:cxnSp>
        <p:nvCxnSpPr>
          <p:cNvPr id="8" name="Connector 7"/>
          <p:cNvCxnSpPr/>
          <p:nvPr/>
        </p:nvCxnSpPr>
        <p:spPr>
          <a:xfrm>
            <a:off x="3017520" y="3657600"/>
            <a:ext cx="640080"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468880" y="3511296"/>
            <a:ext cx="1737360" cy="292608"/>
          </a:xfrm>
          <a:prstGeom prst="rect">
            <a:avLst/>
          </a:prstGeom>
          <a:noFill/>
        </p:spPr>
        <p:txBody>
          <a:bodyPr wrap="square" lIns="0" tIns="0">
            <a:spAutoFit/>
          </a:bodyPr>
          <a:lstStyle/>
          <a:p>
            <a:pPr algn="ctr"/>
            <a:r>
              <a:rPr sz="900" b="0" i="1">
                <a:solidFill>
                  <a:srgbClr val="404040"/>
                </a:solidFill>
                <a:latin typeface="Calibri"/>
              </a:rPr>
              <a:t>credentials</a:t>
            </a:r>
          </a:p>
        </p:txBody>
      </p:sp>
      <p:cxnSp>
        <p:nvCxnSpPr>
          <p:cNvPr id="10" name="Connector 9"/>
          <p:cNvCxnSpPr/>
          <p:nvPr/>
        </p:nvCxnSpPr>
        <p:spPr>
          <a:xfrm>
            <a:off x="5943600" y="3657600"/>
            <a:ext cx="594360"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372100" y="3511296"/>
            <a:ext cx="1737360" cy="292608"/>
          </a:xfrm>
          <a:prstGeom prst="rect">
            <a:avLst/>
          </a:prstGeom>
          <a:noFill/>
        </p:spPr>
        <p:txBody>
          <a:bodyPr wrap="square" lIns="0" tIns="0">
            <a:spAutoFit/>
          </a:bodyPr>
          <a:lstStyle/>
          <a:p>
            <a:pPr algn="ctr"/>
            <a:r>
              <a:rPr sz="900" b="0" i="1">
                <a:solidFill>
                  <a:srgbClr val="404040"/>
                </a:solidFill>
                <a:latin typeface="Calibri"/>
              </a:rPr>
              <a:t>Access-Request</a:t>
            </a:r>
          </a:p>
        </p:txBody>
      </p:sp>
      <p:cxnSp>
        <p:nvCxnSpPr>
          <p:cNvPr id="12" name="Connector 11"/>
          <p:cNvCxnSpPr/>
          <p:nvPr/>
        </p:nvCxnSpPr>
        <p:spPr>
          <a:xfrm>
            <a:off x="8732520" y="3657600"/>
            <a:ext cx="548640"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38160" y="3511296"/>
            <a:ext cx="1737360" cy="292608"/>
          </a:xfrm>
          <a:prstGeom prst="rect">
            <a:avLst/>
          </a:prstGeom>
          <a:noFill/>
        </p:spPr>
        <p:txBody>
          <a:bodyPr wrap="square" lIns="0" tIns="0">
            <a:spAutoFit/>
          </a:bodyPr>
          <a:lstStyle/>
          <a:p>
            <a:pPr algn="ctr"/>
            <a:r>
              <a:rPr sz="900" b="0" i="1">
                <a:solidFill>
                  <a:srgbClr val="404040"/>
                </a:solidFill>
                <a:latin typeface="Calibri"/>
              </a:rPr>
              <a:t>queries</a:t>
            </a:r>
          </a:p>
        </p:txBody>
      </p:sp>
      <p:cxnSp>
        <p:nvCxnSpPr>
          <p:cNvPr id="14" name="Connector 13"/>
          <p:cNvCxnSpPr/>
          <p:nvPr/>
        </p:nvCxnSpPr>
        <p:spPr>
          <a:xfrm flipH="1">
            <a:off x="7635240" y="4023360"/>
            <a:ext cx="2651760" cy="0"/>
          </a:xfrm>
          <a:prstGeom prst="line">
            <a:avLst/>
          </a:prstGeom>
          <a:ln w="190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092440" y="3877056"/>
            <a:ext cx="1737360" cy="292608"/>
          </a:xfrm>
          <a:prstGeom prst="rect">
            <a:avLst/>
          </a:prstGeom>
          <a:noFill/>
        </p:spPr>
        <p:txBody>
          <a:bodyPr wrap="square" lIns="0" tIns="0">
            <a:spAutoFit/>
          </a:bodyPr>
          <a:lstStyle/>
          <a:p>
            <a:pPr algn="ctr"/>
            <a:r>
              <a:rPr sz="900" b="0" i="1">
                <a:solidFill>
                  <a:srgbClr val="404040"/>
                </a:solidFill>
                <a:latin typeface="Calibri"/>
              </a:rPr>
              <a:t>auth result</a:t>
            </a:r>
          </a:p>
        </p:txBody>
      </p:sp>
      <p:cxnSp>
        <p:nvCxnSpPr>
          <p:cNvPr id="16" name="Connector 15"/>
          <p:cNvCxnSpPr/>
          <p:nvPr/>
        </p:nvCxnSpPr>
        <p:spPr>
          <a:xfrm flipH="1">
            <a:off x="4800600" y="4023360"/>
            <a:ext cx="2834640" cy="0"/>
          </a:xfrm>
          <a:prstGeom prst="line">
            <a:avLst/>
          </a:prstGeom>
          <a:ln w="190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49240" y="3877056"/>
            <a:ext cx="1737360" cy="292608"/>
          </a:xfrm>
          <a:prstGeom prst="rect">
            <a:avLst/>
          </a:prstGeom>
          <a:noFill/>
        </p:spPr>
        <p:txBody>
          <a:bodyPr wrap="square" lIns="0" tIns="0">
            <a:spAutoFit/>
          </a:bodyPr>
          <a:lstStyle/>
          <a:p>
            <a:pPr algn="ctr"/>
            <a:r>
              <a:rPr sz="900" b="0" i="1">
                <a:solidFill>
                  <a:srgbClr val="404040"/>
                </a:solidFill>
                <a:latin typeface="Calibri"/>
              </a:rPr>
              <a:t>Access-Accept/Reject</a:t>
            </a:r>
          </a:p>
        </p:txBody>
      </p:sp>
      <p:cxnSp>
        <p:nvCxnSpPr>
          <p:cNvPr id="18" name="Connector 17"/>
          <p:cNvCxnSpPr/>
          <p:nvPr/>
        </p:nvCxnSpPr>
        <p:spPr>
          <a:xfrm flipH="1">
            <a:off x="1965960" y="4023360"/>
            <a:ext cx="2834640" cy="0"/>
          </a:xfrm>
          <a:prstGeom prst="line">
            <a:avLst/>
          </a:prstGeom>
          <a:ln w="190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514600" y="3877056"/>
            <a:ext cx="1737360" cy="292608"/>
          </a:xfrm>
          <a:prstGeom prst="rect">
            <a:avLst/>
          </a:prstGeom>
          <a:noFill/>
        </p:spPr>
        <p:txBody>
          <a:bodyPr wrap="square" lIns="0" tIns="0">
            <a:spAutoFit/>
          </a:bodyPr>
          <a:lstStyle/>
          <a:p>
            <a:pPr algn="ctr"/>
            <a:r>
              <a:rPr sz="900" b="0" i="1">
                <a:solidFill>
                  <a:srgbClr val="404040"/>
                </a:solidFill>
                <a:latin typeface="Calibri"/>
              </a:rPr>
              <a:t>access granted/denied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RADIUS Protocol Basics</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RFC 2865 - the protocol most network gear speaks for centralized login instead of Kerberos/NTLM</a:t>
            </a:r>
          </a:p>
          <a:p>
            <a:pPr algn="l">
              <a:spcAft>
                <a:spcPts val="1200"/>
              </a:spcAft>
            </a:pPr>
            <a:r>
              <a:rPr sz="1600" b="0" i="0">
                <a:solidFill>
                  <a:srgbClr val="111B30"/>
                </a:solidFill>
                <a:latin typeface="Calibri"/>
              </a:rPr>
              <a:t>●   UDP, not TCP - port 1812 for authentication, port 1813 for accounting</a:t>
            </a:r>
          </a:p>
          <a:p>
            <a:pPr algn="l">
              <a:spcAft>
                <a:spcPts val="1200"/>
              </a:spcAft>
            </a:pPr>
            <a:r>
              <a:rPr sz="1600" b="0" i="0">
                <a:solidFill>
                  <a:srgbClr val="111B30"/>
                </a:solidFill>
                <a:latin typeface="Calibri"/>
              </a:rPr>
              <a:t>●   Trust lives between the NAS (Network Access Server - the router/switch/VPN box) and the RADIUS server, secured by a shared secret - not between the end user and the server directly</a:t>
            </a:r>
          </a:p>
          <a:p>
            <a:pPr algn="l">
              <a:spcAft>
                <a:spcPts val="1200"/>
              </a:spcAft>
            </a:pPr>
            <a:r>
              <a:rPr sz="1600" b="0" i="0">
                <a:solidFill>
                  <a:srgbClr val="111B30"/>
                </a:solidFill>
                <a:latin typeface="Calibri"/>
              </a:rPr>
              <a:t>●   One exchange: Access-Request in, then Access-Accept / Access-Reject / Access-Challenge back (the last used for multi-factor flows)</a:t>
            </a:r>
          </a:p>
          <a:p>
            <a:pPr algn="l">
              <a:spcAft>
                <a:spcPts val="1200"/>
              </a:spcAft>
            </a:pPr>
            <a:r>
              <a:rPr sz="1600" b="0" i="0">
                <a:solidFill>
                  <a:srgbClr val="111B30"/>
                </a:solidFill>
                <a:latin typeface="Calibri"/>
              </a:rPr>
              <a:t>●   Authorization can ride along on an Access-Accept as reply attributes (e.g. VLAN or privilege level); Accounting - start/stop/interim usage records - is the third "A", separate from authentication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RADIUS/AD Login Flow</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The switch never talks to AD directly, and the admin's password only ever leaves their own terminal once.</a:t>
            </a:r>
          </a:p>
        </p:txBody>
      </p:sp>
      <p:sp>
        <p:nvSpPr>
          <p:cNvPr id="4" name="Rounded Rectangle 3"/>
          <p:cNvSpPr/>
          <p:nvPr/>
        </p:nvSpPr>
        <p:spPr>
          <a:xfrm>
            <a:off x="640080" y="1874519"/>
            <a:ext cx="1645920" cy="45720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Admin</a:t>
            </a:r>
          </a:p>
        </p:txBody>
      </p:sp>
      <p:sp>
        <p:nvSpPr>
          <p:cNvPr id="5" name="Rounded Rectangle 4"/>
          <p:cNvSpPr/>
          <p:nvPr/>
        </p:nvSpPr>
        <p:spPr>
          <a:xfrm>
            <a:off x="3200400" y="1874519"/>
            <a:ext cx="2103120" cy="45720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Switch (NAS)</a:t>
            </a:r>
          </a:p>
        </p:txBody>
      </p:sp>
      <p:sp>
        <p:nvSpPr>
          <p:cNvPr id="6" name="Rounded Rectangle 5"/>
          <p:cNvSpPr/>
          <p:nvPr/>
        </p:nvSpPr>
        <p:spPr>
          <a:xfrm>
            <a:off x="6400800" y="1874519"/>
            <a:ext cx="2103120" cy="45720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11B30"/>
                </a:solidFill>
                <a:latin typeface="Calibri"/>
              </a:rPr>
              <a:t>FreeRADIUS</a:t>
            </a:r>
          </a:p>
        </p:txBody>
      </p:sp>
      <p:sp>
        <p:nvSpPr>
          <p:cNvPr id="7" name="Rounded Rectangle 6"/>
          <p:cNvSpPr/>
          <p:nvPr/>
        </p:nvSpPr>
        <p:spPr>
          <a:xfrm>
            <a:off x="9235440" y="1874519"/>
            <a:ext cx="2286000" cy="457200"/>
          </a:xfrm>
          <a:prstGeom prst="roundRect">
            <a:avLst/>
          </a:prstGeom>
          <a:solidFill>
            <a:srgbClr val="1B2A4A"/>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1" i="0">
                <a:solidFill>
                  <a:srgbClr val="FFFFFF"/>
                </a:solidFill>
                <a:latin typeface="Calibri"/>
              </a:rPr>
              <a:t>Active Directory</a:t>
            </a:r>
          </a:p>
        </p:txBody>
      </p:sp>
      <p:cxnSp>
        <p:nvCxnSpPr>
          <p:cNvPr id="8" name="Connector 7"/>
          <p:cNvCxnSpPr/>
          <p:nvPr/>
        </p:nvCxnSpPr>
        <p:spPr>
          <a:xfrm>
            <a:off x="1463040" y="2331720"/>
            <a:ext cx="0" cy="3337560"/>
          </a:xfrm>
          <a:prstGeom prst="line">
            <a:avLst/>
          </a:prstGeom>
          <a:ln w="1270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251960" y="2331720"/>
            <a:ext cx="0" cy="3337560"/>
          </a:xfrm>
          <a:prstGeom prst="line">
            <a:avLst/>
          </a:prstGeom>
          <a:ln w="1270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452360" y="2331720"/>
            <a:ext cx="0" cy="3337560"/>
          </a:xfrm>
          <a:prstGeom prst="line">
            <a:avLst/>
          </a:prstGeom>
          <a:ln w="1270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378440" y="2331720"/>
            <a:ext cx="0" cy="3337560"/>
          </a:xfrm>
          <a:prstGeom prst="line">
            <a:avLst/>
          </a:prstGeom>
          <a:ln w="1270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463040" y="2606040"/>
            <a:ext cx="2788920"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88819" y="2459736"/>
            <a:ext cx="1737360" cy="292608"/>
          </a:xfrm>
          <a:prstGeom prst="rect">
            <a:avLst/>
          </a:prstGeom>
          <a:noFill/>
        </p:spPr>
        <p:txBody>
          <a:bodyPr wrap="square" lIns="0" tIns="0">
            <a:spAutoFit/>
          </a:bodyPr>
          <a:lstStyle/>
          <a:p>
            <a:pPr algn="ctr"/>
            <a:r>
              <a:rPr sz="900" b="0" i="1">
                <a:solidFill>
                  <a:srgbClr val="404040"/>
                </a:solidFill>
                <a:latin typeface="Calibri"/>
              </a:rPr>
              <a:t>username + password</a:t>
            </a:r>
          </a:p>
        </p:txBody>
      </p:sp>
      <p:cxnSp>
        <p:nvCxnSpPr>
          <p:cNvPr id="14" name="Connector 13"/>
          <p:cNvCxnSpPr/>
          <p:nvPr/>
        </p:nvCxnSpPr>
        <p:spPr>
          <a:xfrm>
            <a:off x="4251960" y="3154680"/>
            <a:ext cx="3200400"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83480" y="3008376"/>
            <a:ext cx="1737360" cy="292608"/>
          </a:xfrm>
          <a:prstGeom prst="rect">
            <a:avLst/>
          </a:prstGeom>
          <a:noFill/>
        </p:spPr>
        <p:txBody>
          <a:bodyPr wrap="square" lIns="0" tIns="0">
            <a:spAutoFit/>
          </a:bodyPr>
          <a:lstStyle/>
          <a:p>
            <a:pPr algn="ctr"/>
            <a:r>
              <a:rPr sz="900" b="0" i="1">
                <a:solidFill>
                  <a:srgbClr val="404040"/>
                </a:solidFill>
                <a:latin typeface="Calibri"/>
              </a:rPr>
              <a:t>Access-Request</a:t>
            </a:r>
          </a:p>
        </p:txBody>
      </p:sp>
      <p:cxnSp>
        <p:nvCxnSpPr>
          <p:cNvPr id="16" name="Connector 15"/>
          <p:cNvCxnSpPr/>
          <p:nvPr/>
        </p:nvCxnSpPr>
        <p:spPr>
          <a:xfrm>
            <a:off x="7452360" y="3703320"/>
            <a:ext cx="2926080"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46720" y="3557015"/>
            <a:ext cx="1737360" cy="292608"/>
          </a:xfrm>
          <a:prstGeom prst="rect">
            <a:avLst/>
          </a:prstGeom>
          <a:noFill/>
        </p:spPr>
        <p:txBody>
          <a:bodyPr wrap="square" lIns="0" tIns="0">
            <a:spAutoFit/>
          </a:bodyPr>
          <a:lstStyle/>
          <a:p>
            <a:pPr algn="ctr"/>
            <a:r>
              <a:rPr sz="900" b="0" i="1">
                <a:solidFill>
                  <a:srgbClr val="404040"/>
                </a:solidFill>
                <a:latin typeface="Calibri"/>
              </a:rPr>
              <a:t>LDAP bind (as admin)</a:t>
            </a:r>
          </a:p>
        </p:txBody>
      </p:sp>
      <p:cxnSp>
        <p:nvCxnSpPr>
          <p:cNvPr id="18" name="Connector 17"/>
          <p:cNvCxnSpPr/>
          <p:nvPr/>
        </p:nvCxnSpPr>
        <p:spPr>
          <a:xfrm flipH="1">
            <a:off x="7452360" y="4251960"/>
            <a:ext cx="2926080" cy="0"/>
          </a:xfrm>
          <a:prstGeom prst="line">
            <a:avLst/>
          </a:prstGeom>
          <a:ln w="190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046720" y="4105656"/>
            <a:ext cx="1737360" cy="292608"/>
          </a:xfrm>
          <a:prstGeom prst="rect">
            <a:avLst/>
          </a:prstGeom>
          <a:noFill/>
        </p:spPr>
        <p:txBody>
          <a:bodyPr wrap="square" lIns="0" tIns="0">
            <a:spAutoFit/>
          </a:bodyPr>
          <a:lstStyle/>
          <a:p>
            <a:pPr algn="ctr"/>
            <a:r>
              <a:rPr sz="900" b="0" i="1">
                <a:solidFill>
                  <a:srgbClr val="404040"/>
                </a:solidFill>
                <a:latin typeface="Calibri"/>
              </a:rPr>
              <a:t>Bind OK</a:t>
            </a:r>
          </a:p>
        </p:txBody>
      </p:sp>
      <p:cxnSp>
        <p:nvCxnSpPr>
          <p:cNvPr id="20" name="Connector 19"/>
          <p:cNvCxnSpPr/>
          <p:nvPr/>
        </p:nvCxnSpPr>
        <p:spPr>
          <a:xfrm flipH="1">
            <a:off x="4251960" y="4800600"/>
            <a:ext cx="3200400" cy="0"/>
          </a:xfrm>
          <a:prstGeom prst="line">
            <a:avLst/>
          </a:prstGeom>
          <a:ln w="190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983480" y="4654296"/>
            <a:ext cx="1737360" cy="292608"/>
          </a:xfrm>
          <a:prstGeom prst="rect">
            <a:avLst/>
          </a:prstGeom>
          <a:noFill/>
        </p:spPr>
        <p:txBody>
          <a:bodyPr wrap="square" lIns="0" tIns="0">
            <a:spAutoFit/>
          </a:bodyPr>
          <a:lstStyle/>
          <a:p>
            <a:pPr algn="ctr"/>
            <a:r>
              <a:rPr sz="900" b="0" i="1">
                <a:solidFill>
                  <a:srgbClr val="404040"/>
                </a:solidFill>
                <a:latin typeface="Calibri"/>
              </a:rPr>
              <a:t>Access-Accept</a:t>
            </a:r>
          </a:p>
        </p:txBody>
      </p:sp>
      <p:cxnSp>
        <p:nvCxnSpPr>
          <p:cNvPr id="22" name="Connector 21"/>
          <p:cNvCxnSpPr/>
          <p:nvPr/>
        </p:nvCxnSpPr>
        <p:spPr>
          <a:xfrm flipH="1">
            <a:off x="1463040" y="5349240"/>
            <a:ext cx="2788920" cy="0"/>
          </a:xfrm>
          <a:prstGeom prst="line">
            <a:avLst/>
          </a:prstGeom>
          <a:ln w="190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988819" y="5202936"/>
            <a:ext cx="1737360" cy="292608"/>
          </a:xfrm>
          <a:prstGeom prst="rect">
            <a:avLst/>
          </a:prstGeom>
          <a:noFill/>
        </p:spPr>
        <p:txBody>
          <a:bodyPr wrap="square" lIns="0" tIns="0">
            <a:spAutoFit/>
          </a:bodyPr>
          <a:lstStyle/>
          <a:p>
            <a:pPr algn="ctr"/>
            <a:r>
              <a:rPr sz="900" b="0" i="1">
                <a:solidFill>
                  <a:srgbClr val="404040"/>
                </a:solidFill>
                <a:latin typeface="Calibri"/>
              </a:rPr>
              <a:t>Login allowed</a:t>
            </a:r>
          </a:p>
        </p:txBody>
      </p:sp>
      <p:sp>
        <p:nvSpPr>
          <p:cNvPr id="24" name="Rounded Rectangle 23"/>
          <p:cNvSpPr/>
          <p:nvPr/>
        </p:nvSpPr>
        <p:spPr>
          <a:xfrm>
            <a:off x="1600200" y="5760720"/>
            <a:ext cx="8961120" cy="64008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B02A2A"/>
                </a:solidFill>
                <a:latin typeface="Calibri"/>
              </a:rPr>
              <a:t>ELSE: Bind Rejected → RADIUS sends Access-Reject → Switch denies the login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Backing FreeRADIUS with Active Directory (LDAP)</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FreeRADIUS's ldap module (mods-available/ldap) looks a user up and validates their password against the directory - symlink it into mods-enabled/ to load it</a:t>
            </a:r>
          </a:p>
          <a:p>
            <a:pPr algn="l">
              <a:spcAft>
                <a:spcPts val="1200"/>
              </a:spcAft>
            </a:pPr>
            <a:r>
              <a:rPr sz="1600" b="0" i="0">
                <a:solidFill>
                  <a:srgbClr val="111B30"/>
                </a:solidFill>
                <a:latin typeface="Calibri"/>
              </a:rPr>
              <a:t>●   Point server / base_dn at the DC's IP address, not hostname - a bare Linux host has no way to resolve a Windows machine's name on its own</a:t>
            </a:r>
          </a:p>
          <a:p>
            <a:pPr algn="l">
              <a:spcAft>
                <a:spcPts val="1200"/>
              </a:spcAft>
            </a:pPr>
            <a:r>
              <a:rPr sz="1600" b="0" i="0">
                <a:solidFill>
                  <a:srgbClr val="111B30"/>
                </a:solidFill>
                <a:latin typeface="Calibri"/>
              </a:rPr>
              <a:t>●   Create a dedicated, low-privilege bind account just for this - never your own login or a Domain Admin account, since its credentials sit in a plaintext config file on the RADIUS box</a:t>
            </a:r>
          </a:p>
          <a:p>
            <a:pPr algn="l">
              <a:spcAft>
                <a:spcPts val="1200"/>
              </a:spcAft>
            </a:pPr>
            <a:r>
              <a:rPr sz="1600" b="0" i="0">
                <a:solidFill>
                  <a:srgbClr val="111B30"/>
                </a:solidFill>
                <a:latin typeface="Calibri"/>
              </a:rPr>
              <a:t>●   Reference ldap from the default site's authorize {} block, so a submitted username gets looked up via a directory lookup</a:t>
            </a:r>
          </a:p>
          <a:p>
            <a:pPr algn="l">
              <a:spcAft>
                <a:spcPts val="1200"/>
              </a:spcAft>
            </a:pPr>
            <a:r>
              <a:rPr sz="1600" b="0" i="0">
                <a:solidFill>
                  <a:srgbClr val="111B30"/>
                </a:solidFill>
                <a:latin typeface="Calibri"/>
              </a:rPr>
              <a:t>●   Add an Auth-Type LDAP { ldap } block to authenticate {} - AD only supports validating a password via a real LDAP simple-bind as that user, not a hash comparison</a:t>
            </a:r>
          </a:p>
          <a:p>
            <a:pPr algn="l">
              <a:spcAft>
                <a:spcPts val="1200"/>
              </a:spcAft>
            </a:pPr>
            <a:r>
              <a:rPr sz="1600" b="0" i="0">
                <a:solidFill>
                  <a:srgbClr val="111B30"/>
                </a:solidFill>
                <a:latin typeface="Calibri"/>
              </a:rPr>
              <a:t>●   Keep the RADIUS client on PAP (not CHAP/MSCHAP) - the bind sends the password in the clear over the LDAP connection, and AD's LDAP bind can't validate the other way</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How AD Group Membership Gates RADIUS Access</a:t>
            </a:r>
          </a:p>
        </p:txBody>
      </p:sp>
      <p:sp>
        <p:nvSpPr>
          <p:cNvPr id="3" name="TextBox 2"/>
          <p:cNvSpPr txBox="1"/>
          <p:nvPr/>
        </p:nvSpPr>
        <p:spPr>
          <a:xfrm>
            <a:off x="685800" y="1874519"/>
            <a:ext cx="10820095" cy="1371600"/>
          </a:xfrm>
          <a:prstGeom prst="rect">
            <a:avLst/>
          </a:prstGeom>
          <a:noFill/>
        </p:spPr>
        <p:txBody>
          <a:bodyPr wrap="square" lIns="0" tIns="0">
            <a:spAutoFit/>
          </a:bodyPr>
          <a:lstStyle/>
          <a:p>
            <a:pPr algn="l">
              <a:spcAft>
                <a:spcPts val="700"/>
              </a:spcAft>
            </a:pPr>
            <a:r>
              <a:rPr sz="1350" b="0" i="0">
                <a:solidFill>
                  <a:srgbClr val="111B30"/>
                </a:solidFill>
                <a:latin typeface="Calibri"/>
              </a:rPr>
              <a:t>●   FreeRADIUS's ldap module has a user { filter = ... } clause - it controls who even gets looked up, not just whether a password matches</a:t>
            </a:r>
          </a:p>
          <a:p>
            <a:pPr algn="l">
              <a:spcAft>
                <a:spcPts val="700"/>
              </a:spcAft>
            </a:pPr>
            <a:r>
              <a:rPr sz="1350" b="0" i="0">
                <a:solidFill>
                  <a:srgbClr val="111B30"/>
                </a:solidFill>
                <a:latin typeface="Calibri"/>
              </a:rPr>
              <a:t>●   Swap to the nested-group-aware filter, built on the LDAP_MATCHING_RULE_IN_CHAIN OID (1.2.840.113556.1.4.1941), pointed at NetworkAdmins</a:t>
            </a:r>
          </a:p>
          <a:p>
            <a:pPr algn="l">
              <a:spcAft>
                <a:spcPts val="700"/>
              </a:spcAft>
            </a:pPr>
            <a:r>
              <a:rPr sz="1350" b="0" i="0">
                <a:solidFill>
                  <a:srgbClr val="111B30"/>
                </a:solidFill>
                <a:latin typeface="Calibri"/>
              </a:rPr>
              <a:t>●   That OID walks nested group membership too, not just direct members - being in a group that's a member of NetworkAdmins still matches</a:t>
            </a:r>
          </a:p>
        </p:txBody>
      </p:sp>
      <p:sp>
        <p:nvSpPr>
          <p:cNvPr id="4" name="Rounded Rectangle 3"/>
          <p:cNvSpPr/>
          <p:nvPr/>
        </p:nvSpPr>
        <p:spPr>
          <a:xfrm>
            <a:off x="914400" y="3429000"/>
            <a:ext cx="2560320" cy="7772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ajohnson</a:t>
            </a:r>
          </a:p>
          <a:p>
            <a:pPr algn="ctr"/>
            <a:r>
              <a:rPr sz="1000" b="0" i="0">
                <a:solidFill>
                  <a:srgbClr val="111B30"/>
                </a:solidFill>
                <a:latin typeface="Calibri"/>
              </a:rPr>
              <a:t>(correct password)</a:t>
            </a:r>
          </a:p>
        </p:txBody>
      </p:sp>
      <p:sp>
        <p:nvSpPr>
          <p:cNvPr id="5" name="Rounded Rectangle 4"/>
          <p:cNvSpPr/>
          <p:nvPr/>
        </p:nvSpPr>
        <p:spPr>
          <a:xfrm>
            <a:off x="3749039" y="3429000"/>
            <a:ext cx="4023360" cy="7772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Member of NetworkAdmins</a:t>
            </a:r>
          </a:p>
          <a:p>
            <a:pPr algn="ctr"/>
            <a:r>
              <a:rPr sz="1000" b="0" i="0">
                <a:solidFill>
                  <a:srgbClr val="111B30"/>
                </a:solidFill>
                <a:latin typeface="Calibri"/>
              </a:rPr>
              <a:t>(direct)</a:t>
            </a:r>
          </a:p>
        </p:txBody>
      </p:sp>
      <p:sp>
        <p:nvSpPr>
          <p:cNvPr id="6" name="Rounded Rectangle 5"/>
          <p:cNvSpPr/>
          <p:nvPr/>
        </p:nvSpPr>
        <p:spPr>
          <a:xfrm>
            <a:off x="8046720" y="3429000"/>
            <a:ext cx="2926080" cy="7772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2E7D32"/>
                </a:solidFill>
                <a:latin typeface="Calibri"/>
              </a:rPr>
              <a:t>Access-Accept</a:t>
            </a:r>
          </a:p>
        </p:txBody>
      </p:sp>
      <p:cxnSp>
        <p:nvCxnSpPr>
          <p:cNvPr id="7" name="Connector 6"/>
          <p:cNvCxnSpPr/>
          <p:nvPr/>
        </p:nvCxnSpPr>
        <p:spPr>
          <a:xfrm>
            <a:off x="3474720" y="3817620"/>
            <a:ext cx="274319" cy="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772400" y="3817620"/>
            <a:ext cx="274320" cy="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4400" y="4389120"/>
            <a:ext cx="2560320" cy="7772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dsingh</a:t>
            </a:r>
          </a:p>
          <a:p>
            <a:pPr algn="ctr"/>
            <a:r>
              <a:rPr sz="1000" b="0" i="0">
                <a:solidFill>
                  <a:srgbClr val="111B30"/>
                </a:solidFill>
                <a:latin typeface="Calibri"/>
              </a:rPr>
              <a:t>(correct password)</a:t>
            </a:r>
          </a:p>
        </p:txBody>
      </p:sp>
      <p:sp>
        <p:nvSpPr>
          <p:cNvPr id="10" name="Rounded Rectangle 9"/>
          <p:cNvSpPr/>
          <p:nvPr/>
        </p:nvSpPr>
        <p:spPr>
          <a:xfrm>
            <a:off x="3749039" y="4389120"/>
            <a:ext cx="4023360" cy="7772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Member of NetworkAdmins</a:t>
            </a:r>
          </a:p>
          <a:p>
            <a:pPr algn="ctr"/>
            <a:r>
              <a:rPr sz="1000" b="0" i="0">
                <a:solidFill>
                  <a:srgbClr val="111B30"/>
                </a:solidFill>
                <a:latin typeface="Calibri"/>
              </a:rPr>
              <a:t>(direct)</a:t>
            </a:r>
          </a:p>
        </p:txBody>
      </p:sp>
      <p:sp>
        <p:nvSpPr>
          <p:cNvPr id="11" name="Rounded Rectangle 10"/>
          <p:cNvSpPr/>
          <p:nvPr/>
        </p:nvSpPr>
        <p:spPr>
          <a:xfrm>
            <a:off x="8046720" y="4389120"/>
            <a:ext cx="2926080" cy="7772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2E7D32"/>
                </a:solidFill>
                <a:latin typeface="Calibri"/>
              </a:rPr>
              <a:t>Access-Accept</a:t>
            </a:r>
          </a:p>
        </p:txBody>
      </p:sp>
      <p:cxnSp>
        <p:nvCxnSpPr>
          <p:cNvPr id="12" name="Connector 11"/>
          <p:cNvCxnSpPr/>
          <p:nvPr/>
        </p:nvCxnSpPr>
        <p:spPr>
          <a:xfrm>
            <a:off x="3474720" y="4777740"/>
            <a:ext cx="274319" cy="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4777740"/>
            <a:ext cx="274320" cy="0"/>
          </a:xfrm>
          <a:prstGeom prst="line">
            <a:avLst/>
          </a:prstGeom>
          <a:ln w="127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14400" y="5349240"/>
            <a:ext cx="2560320" cy="7772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bmartinez</a:t>
            </a:r>
          </a:p>
          <a:p>
            <a:pPr algn="ctr"/>
            <a:r>
              <a:rPr sz="1000" b="0" i="0">
                <a:solidFill>
                  <a:srgbClr val="111B30"/>
                </a:solidFill>
                <a:latin typeface="Calibri"/>
              </a:rPr>
              <a:t>(correct password)</a:t>
            </a:r>
          </a:p>
        </p:txBody>
      </p:sp>
      <p:sp>
        <p:nvSpPr>
          <p:cNvPr id="15" name="Rounded Rectangle 14"/>
          <p:cNvSpPr/>
          <p:nvPr/>
        </p:nvSpPr>
        <p:spPr>
          <a:xfrm>
            <a:off x="3749039" y="5349240"/>
            <a:ext cx="4023360" cy="7772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00" b="0" i="0">
                <a:solidFill>
                  <a:srgbClr val="111B30"/>
                </a:solidFill>
                <a:latin typeface="Calibri"/>
              </a:rPr>
              <a:t>NOT a member of</a:t>
            </a:r>
          </a:p>
          <a:p>
            <a:pPr algn="ctr"/>
            <a:r>
              <a:rPr sz="1000" b="0" i="0">
                <a:solidFill>
                  <a:srgbClr val="111B30"/>
                </a:solidFill>
                <a:latin typeface="Calibri"/>
              </a:rPr>
              <a:t>NetworkAdmins</a:t>
            </a:r>
          </a:p>
        </p:txBody>
      </p:sp>
      <p:sp>
        <p:nvSpPr>
          <p:cNvPr id="16" name="Rounded Rectangle 15"/>
          <p:cNvSpPr/>
          <p:nvPr/>
        </p:nvSpPr>
        <p:spPr>
          <a:xfrm>
            <a:off x="8046720" y="5349240"/>
            <a:ext cx="2926080" cy="77724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B02A2A"/>
                </a:solidFill>
                <a:latin typeface="Calibri"/>
              </a:rPr>
              <a:t>Access-Reject</a:t>
            </a:r>
          </a:p>
        </p:txBody>
      </p:sp>
      <p:cxnSp>
        <p:nvCxnSpPr>
          <p:cNvPr id="17" name="Connector 16"/>
          <p:cNvCxnSpPr/>
          <p:nvPr/>
        </p:nvCxnSpPr>
        <p:spPr>
          <a:xfrm>
            <a:off x="3474720" y="5737859"/>
            <a:ext cx="274319" cy="0"/>
          </a:xfrm>
          <a:prstGeom prst="line">
            <a:avLst/>
          </a:prstGeom>
          <a:ln w="127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5737859"/>
            <a:ext cx="274320" cy="0"/>
          </a:xfrm>
          <a:prstGeom prst="line">
            <a:avLst/>
          </a:prstGeom>
          <a:ln w="127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Assigning Privilege Levels via RADIUS</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Via a reply attribute - the gate (previous slide) decides who gets in; this decides what they get once they're in.</a:t>
            </a:r>
          </a:p>
        </p:txBody>
      </p:sp>
      <p:sp>
        <p:nvSpPr>
          <p:cNvPr id="4" name="TextBox 3"/>
          <p:cNvSpPr txBox="1"/>
          <p:nvPr/>
        </p:nvSpPr>
        <p:spPr>
          <a:xfrm>
            <a:off x="685800" y="1874519"/>
            <a:ext cx="10820095" cy="1417320"/>
          </a:xfrm>
          <a:prstGeom prst="rect">
            <a:avLst/>
          </a:prstGeom>
          <a:noFill/>
        </p:spPr>
        <p:txBody>
          <a:bodyPr wrap="square" lIns="0" tIns="0">
            <a:spAutoFit/>
          </a:bodyPr>
          <a:lstStyle/>
          <a:p>
            <a:pPr algn="l">
              <a:spcAft>
                <a:spcPts val="700"/>
              </a:spcAft>
            </a:pPr>
            <a:r>
              <a:rPr sz="1300" b="0" i="0">
                <a:solidFill>
                  <a:srgbClr val="111B30"/>
                </a:solidFill>
                <a:latin typeface="Calibri"/>
              </a:rPr>
              <a:t>●   The switch has to ask for this: aaa authorization exec default group radius tells it to request a privilege level from RADIUS, not just authenticate</a:t>
            </a:r>
          </a:p>
          <a:p>
            <a:pPr algn="l">
              <a:spcAft>
                <a:spcPts val="700"/>
              </a:spcAft>
            </a:pPr>
            <a:r>
              <a:rPr sz="1300" b="0" i="0">
                <a:solidFill>
                  <a:srgbClr val="111B30"/>
                </a:solidFill>
                <a:latin typeface="Calibri"/>
              </a:rPr>
              <a:t>●   RADIUS answers via a vendor-specific attribute (VSA) on the Access-Accept - for Cisco gear, Cisco-AVPair = "shell:priv-lvl=15"</a:t>
            </a:r>
          </a:p>
          <a:p>
            <a:pPr algn="l">
              <a:spcAft>
                <a:spcPts val="700"/>
              </a:spcAft>
            </a:pPr>
            <a:r>
              <a:rPr sz="1300" b="0" i="0">
                <a:solidFill>
                  <a:srgbClr val="111B30"/>
                </a:solidFill>
                <a:latin typeface="Calibri"/>
              </a:rPr>
              <a:t>●   FreeRADIUS picks the value using the same group-membership signal as the gate - an unlang policy branches on LDAP-Group and sets a different Cisco-AVPair per group</a:t>
            </a:r>
          </a:p>
        </p:txBody>
      </p:sp>
      <p:sp>
        <p:nvSpPr>
          <p:cNvPr id="5" name="Rounded Rectangle 4"/>
          <p:cNvSpPr/>
          <p:nvPr/>
        </p:nvSpPr>
        <p:spPr>
          <a:xfrm>
            <a:off x="914400" y="3474720"/>
            <a:ext cx="3291840" cy="82296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NetworkAdmins-L1</a:t>
            </a:r>
          </a:p>
          <a:p>
            <a:pPr algn="ctr"/>
            <a:r>
              <a:rPr sz="1050" b="0" i="0">
                <a:solidFill>
                  <a:srgbClr val="111B30"/>
                </a:solidFill>
                <a:latin typeface="Calibri"/>
              </a:rPr>
              <a:t>(senior admins)</a:t>
            </a:r>
          </a:p>
        </p:txBody>
      </p:sp>
      <p:sp>
        <p:nvSpPr>
          <p:cNvPr id="6" name="Rounded Rectangle 5"/>
          <p:cNvSpPr/>
          <p:nvPr/>
        </p:nvSpPr>
        <p:spPr>
          <a:xfrm>
            <a:off x="4572000" y="3474720"/>
            <a:ext cx="3291840" cy="82296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0" i="0">
                <a:solidFill>
                  <a:srgbClr val="111B30"/>
                </a:solidFill>
                <a:latin typeface="Calibri"/>
              </a:rPr>
              <a:t>Cisco-AVPair:</a:t>
            </a:r>
          </a:p>
          <a:p>
            <a:pPr algn="ctr"/>
            <a:r>
              <a:rPr sz="950" b="0" i="0">
                <a:solidFill>
                  <a:srgbClr val="111B30"/>
                </a:solidFill>
                <a:latin typeface="Calibri"/>
              </a:rPr>
              <a:t>shell:priv-lvl=15</a:t>
            </a:r>
          </a:p>
        </p:txBody>
      </p:sp>
      <p:sp>
        <p:nvSpPr>
          <p:cNvPr id="7" name="Rounded Rectangle 6"/>
          <p:cNvSpPr/>
          <p:nvPr/>
        </p:nvSpPr>
        <p:spPr>
          <a:xfrm>
            <a:off x="8229600" y="3474720"/>
            <a:ext cx="2743200" cy="82296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B2A4A"/>
                </a:solidFill>
                <a:latin typeface="Calibri"/>
              </a:rPr>
              <a:t>Full admin</a:t>
            </a:r>
          </a:p>
          <a:p>
            <a:pPr algn="ctr"/>
            <a:r>
              <a:rPr sz="1050" b="1" i="0">
                <a:solidFill>
                  <a:srgbClr val="1B2A4A"/>
                </a:solidFill>
                <a:latin typeface="Calibri"/>
              </a:rPr>
              <a:t>(enable mode)</a:t>
            </a:r>
          </a:p>
        </p:txBody>
      </p:sp>
      <p:cxnSp>
        <p:nvCxnSpPr>
          <p:cNvPr id="8" name="Connector 7"/>
          <p:cNvCxnSpPr/>
          <p:nvPr/>
        </p:nvCxnSpPr>
        <p:spPr>
          <a:xfrm>
            <a:off x="4206240" y="3886200"/>
            <a:ext cx="365760" cy="0"/>
          </a:xfrm>
          <a:prstGeom prst="line">
            <a:avLst/>
          </a:prstGeom>
          <a:ln w="1270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863840" y="3886200"/>
            <a:ext cx="365760" cy="0"/>
          </a:xfrm>
          <a:prstGeom prst="line">
            <a:avLst/>
          </a:prstGeom>
          <a:ln w="12700">
            <a:solidFill>
              <a:srgbClr val="00B4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14400" y="4526280"/>
            <a:ext cx="3291840" cy="82296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0" i="0">
                <a:solidFill>
                  <a:srgbClr val="111B30"/>
                </a:solidFill>
                <a:latin typeface="Calibri"/>
              </a:rPr>
              <a:t>NetworkAdmins-L2</a:t>
            </a:r>
          </a:p>
          <a:p>
            <a:pPr algn="ctr"/>
            <a:r>
              <a:rPr sz="1050" b="0" i="0">
                <a:solidFill>
                  <a:srgbClr val="111B30"/>
                </a:solidFill>
                <a:latin typeface="Calibri"/>
              </a:rPr>
              <a:t>(help desk admins)</a:t>
            </a:r>
          </a:p>
        </p:txBody>
      </p:sp>
      <p:sp>
        <p:nvSpPr>
          <p:cNvPr id="11" name="Rounded Rectangle 10"/>
          <p:cNvSpPr/>
          <p:nvPr/>
        </p:nvSpPr>
        <p:spPr>
          <a:xfrm>
            <a:off x="4572000" y="4526280"/>
            <a:ext cx="3291840" cy="822960"/>
          </a:xfrm>
          <a:prstGeom prst="roundRect">
            <a:avLst/>
          </a:prstGeom>
          <a:solidFill>
            <a:srgbClr val="E8EEF7"/>
          </a:solidFill>
          <a:ln w="15875">
            <a:solidFill>
              <a:srgbClr val="3D5A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0" i="0">
                <a:solidFill>
                  <a:srgbClr val="111B30"/>
                </a:solidFill>
                <a:latin typeface="Calibri"/>
              </a:rPr>
              <a:t>Cisco-AVPair:</a:t>
            </a:r>
          </a:p>
          <a:p>
            <a:pPr algn="ctr"/>
            <a:r>
              <a:rPr sz="950" b="0" i="0">
                <a:solidFill>
                  <a:srgbClr val="111B30"/>
                </a:solidFill>
                <a:latin typeface="Calibri"/>
              </a:rPr>
              <a:t>shell:priv-lvl=5</a:t>
            </a:r>
          </a:p>
        </p:txBody>
      </p:sp>
      <p:sp>
        <p:nvSpPr>
          <p:cNvPr id="12" name="Rounded Rectangle 11"/>
          <p:cNvSpPr/>
          <p:nvPr/>
        </p:nvSpPr>
        <p:spPr>
          <a:xfrm>
            <a:off x="8229600" y="4526280"/>
            <a:ext cx="2743200" cy="822960"/>
          </a:xfrm>
          <a:prstGeom prst="roundRect">
            <a:avLst/>
          </a:prstGeom>
          <a:solidFill>
            <a:srgbClr val="E8EEF7"/>
          </a:solidFill>
          <a:ln w="15875">
            <a:solidFill>
              <a:srgbClr val="3D5A80"/>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050" b="1" i="0">
                <a:solidFill>
                  <a:srgbClr val="1B2A4A"/>
                </a:solidFill>
                <a:latin typeface="Calibri"/>
              </a:rPr>
              <a:t>Limited exec</a:t>
            </a:r>
          </a:p>
          <a:p>
            <a:pPr algn="ctr"/>
            <a:r>
              <a:rPr sz="1050" b="1" i="0">
                <a:solidFill>
                  <a:srgbClr val="1B2A4A"/>
                </a:solidFill>
                <a:latin typeface="Calibri"/>
              </a:rPr>
              <a:t>commands only</a:t>
            </a:r>
          </a:p>
        </p:txBody>
      </p:sp>
      <p:cxnSp>
        <p:nvCxnSpPr>
          <p:cNvPr id="13" name="Connector 12"/>
          <p:cNvCxnSpPr/>
          <p:nvPr/>
        </p:nvCxnSpPr>
        <p:spPr>
          <a:xfrm>
            <a:off x="4206240" y="4937760"/>
            <a:ext cx="365760" cy="0"/>
          </a:xfrm>
          <a:prstGeom prst="line">
            <a:avLst/>
          </a:prstGeom>
          <a:ln w="12700">
            <a:solidFill>
              <a:srgbClr val="3D5A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863840" y="4937760"/>
            <a:ext cx="365760" cy="0"/>
          </a:xfrm>
          <a:prstGeom prst="line">
            <a:avLst/>
          </a:prstGeom>
          <a:ln w="12700">
            <a:solidFill>
              <a:srgbClr val="3D5A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LDAP Anonymous Bind</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LDAP server allows</a:t>
            </a:r>
          </a:p>
          <a:p>
            <a:pPr algn="ctr"/>
            <a:r>
              <a:rPr sz="1100" b="0" i="0">
                <a:solidFill>
                  <a:srgbClr val="111B30"/>
                </a:solidFill>
                <a:latin typeface="Calibri"/>
              </a:rPr>
              <a:t>anonymous (unauthenticated)</a:t>
            </a:r>
          </a:p>
          <a:p>
            <a:pPr algn="ctr"/>
            <a:r>
              <a:rPr sz="1100" b="0" i="0">
                <a:solidFill>
                  <a:srgbClr val="111B30"/>
                </a:solidFill>
                <a:latin typeface="Calibri"/>
              </a:rPr>
              <a:t>binds</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Attacker queries the</a:t>
            </a:r>
          </a:p>
          <a:p>
            <a:pPr algn="ctr"/>
            <a:r>
              <a:rPr sz="1100" b="1" i="0">
                <a:solidFill>
                  <a:srgbClr val="111B30"/>
                </a:solidFill>
                <a:latin typeface="Calibri"/>
              </a:rPr>
              <a:t>directory with no</a:t>
            </a:r>
          </a:p>
          <a:p>
            <a:pPr algn="ctr"/>
            <a:r>
              <a:rPr sz="1100" b="1" i="0">
                <a:solidFill>
                  <a:srgbClr val="111B30"/>
                </a:solidFill>
                <a:latin typeface="Calibri"/>
              </a:rPr>
              <a:t>credentials at all</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Directory structure and</a:t>
            </a:r>
          </a:p>
          <a:p>
            <a:pPr algn="ctr"/>
            <a:r>
              <a:rPr sz="1100" b="0" i="0">
                <a:solidFill>
                  <a:srgbClr val="111B30"/>
                </a:solidFill>
                <a:latin typeface="Calibri"/>
              </a:rPr>
              <a:t>user data are exposed</a:t>
            </a:r>
          </a:p>
          <a:p>
            <a:pPr algn="ctr"/>
            <a:r>
              <a:rPr sz="1100" b="0" i="0">
                <a:solidFill>
                  <a:srgbClr val="111B30"/>
                </a:solidFill>
                <a:latin typeface="Calibri"/>
              </a:rPr>
              <a:t>to anyone</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Disable anonymous bind; require authenticated LDAP</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LDAP in Plaintext</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LDAP queries run over</a:t>
            </a:r>
          </a:p>
          <a:p>
            <a:pPr algn="ctr"/>
            <a:r>
              <a:rPr sz="1100" b="0" i="0">
                <a:solidFill>
                  <a:srgbClr val="111B30"/>
                </a:solidFill>
                <a:latin typeface="Calibri"/>
              </a:rPr>
              <a:t>an unencrypted connection</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Attacker sniffs the wire</a:t>
            </a:r>
          </a:p>
          <a:p>
            <a:pPr algn="ctr"/>
            <a:r>
              <a:rPr sz="1100" b="1" i="0">
                <a:solidFill>
                  <a:srgbClr val="111B30"/>
                </a:solidFill>
                <a:latin typeface="Calibri"/>
              </a:rPr>
              <a:t>between client and</a:t>
            </a:r>
          </a:p>
          <a:p>
            <a:pPr algn="ctr"/>
            <a:r>
              <a:rPr sz="1100" b="1" i="0">
                <a:solidFill>
                  <a:srgbClr val="111B30"/>
                </a:solidFill>
                <a:latin typeface="Calibri"/>
              </a:rPr>
              <a:t>directory server</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Credentials and query</a:t>
            </a:r>
          </a:p>
          <a:p>
            <a:pPr algn="ctr"/>
            <a:r>
              <a:rPr sz="1100" b="0" i="0">
                <a:solidFill>
                  <a:srgbClr val="111B30"/>
                </a:solidFill>
                <a:latin typeface="Calibri"/>
              </a:rPr>
              <a:t>data are captured</a:t>
            </a:r>
          </a:p>
          <a:p>
            <a:pPr algn="ctr"/>
            <a:r>
              <a:rPr sz="1100" b="0" i="0">
                <a:solidFill>
                  <a:srgbClr val="111B30"/>
                </a:solidFill>
                <a:latin typeface="Calibri"/>
              </a:rPr>
              <a:t>in the clear</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LDAPS (LDAP over TLS) instead of plain LDAP</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Weak/Shared RADIUS Secret</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The shared secret between</a:t>
            </a:r>
          </a:p>
          <a:p>
            <a:pPr algn="ctr"/>
            <a:r>
              <a:rPr sz="1100" b="0" i="0">
                <a:solidFill>
                  <a:srgbClr val="111B30"/>
                </a:solidFill>
                <a:latin typeface="Calibri"/>
              </a:rPr>
              <a:t>a NAS and the RADIUS</a:t>
            </a:r>
          </a:p>
          <a:p>
            <a:pPr algn="ctr"/>
            <a:r>
              <a:rPr sz="1100" b="0" i="0">
                <a:solidFill>
                  <a:srgbClr val="111B30"/>
                </a:solidFill>
                <a:latin typeface="Calibri"/>
              </a:rPr>
              <a:t>server is weak or reused</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Attacker obtains or</a:t>
            </a:r>
          </a:p>
          <a:p>
            <a:pPr algn="ctr"/>
            <a:r>
              <a:rPr sz="1100" b="1" i="0">
                <a:solidFill>
                  <a:srgbClr val="111B30"/>
                </a:solidFill>
                <a:latin typeface="Calibri"/>
              </a:rPr>
              <a:t>guesses that secret</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Attacker can impersonate</a:t>
            </a:r>
          </a:p>
          <a:p>
            <a:pPr algn="ctr"/>
            <a:r>
              <a:rPr sz="1100" b="0" i="0">
                <a:solidFill>
                  <a:srgbClr val="111B30"/>
                </a:solidFill>
                <a:latin typeface="Calibri"/>
              </a:rPr>
              <a:t>a trusted NAS or decode</a:t>
            </a:r>
          </a:p>
          <a:p>
            <a:pPr algn="ctr"/>
            <a:r>
              <a:rPr sz="1100" b="0" i="0">
                <a:solidFill>
                  <a:srgbClr val="111B30"/>
                </a:solidFill>
                <a:latin typeface="Calibri"/>
              </a:rPr>
              <a:t>RADIUS traffic</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Strong unique shared secrets per NAS; rotate periodically</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Legacy RADIUS Auth (PAP over UDP)</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Attack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RADIUS itself runs over</a:t>
            </a:r>
          </a:p>
          <a:p>
            <a:pPr algn="ctr"/>
            <a:r>
              <a:rPr sz="1100" b="0" i="0">
                <a:solidFill>
                  <a:srgbClr val="111B30"/>
                </a:solidFill>
                <a:latin typeface="Calibri"/>
              </a:rPr>
              <a:t>UDP with comparatively</a:t>
            </a:r>
          </a:p>
          <a:p>
            <a:pPr algn="ctr"/>
            <a:r>
              <a:rPr sz="1100" b="0" i="0">
                <a:solidFill>
                  <a:srgbClr val="111B30"/>
                </a:solidFill>
                <a:latin typeface="Calibri"/>
              </a:rPr>
              <a:t>weak legacy auth options</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Attacker on-path intercepts</a:t>
            </a:r>
          </a:p>
          <a:p>
            <a:pPr algn="ctr"/>
            <a:r>
              <a:rPr sz="1100" b="1" i="0">
                <a:solidFill>
                  <a:srgbClr val="111B30"/>
                </a:solidFill>
                <a:latin typeface="Calibri"/>
              </a:rPr>
              <a:t>or manipulates that</a:t>
            </a:r>
          </a:p>
          <a:p>
            <a:pPr algn="ctr"/>
            <a:r>
              <a:rPr sz="1100" b="1" i="0">
                <a:solidFill>
                  <a:srgbClr val="111B30"/>
                </a:solidFill>
                <a:latin typeface="Calibri"/>
              </a:rPr>
              <a:t>UDP traffic</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Weaker authentication</a:t>
            </a:r>
          </a:p>
          <a:p>
            <a:pPr algn="ctr"/>
            <a:r>
              <a:rPr sz="1100" b="0" i="0">
                <a:solidFill>
                  <a:srgbClr val="111B30"/>
                </a:solidFill>
                <a:latin typeface="Calibri"/>
              </a:rPr>
              <a:t>methods are easier</a:t>
            </a:r>
          </a:p>
          <a:p>
            <a:pPr algn="ctr"/>
            <a:r>
              <a:rPr sz="1100" b="0" i="0">
                <a:solidFill>
                  <a:srgbClr val="111B30"/>
                </a:solidFill>
                <a:latin typeface="Calibri"/>
              </a:rPr>
              <a:t>to attack or spoof</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DEFENSE: Prefer MSCHAPv2/EAP; consider RadSec (RADIUS over TLS)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822960" y="2962656"/>
            <a:ext cx="1005840" cy="1005840"/>
          </a:xfrm>
          <a:prstGeom prst="rect">
            <a:avLst/>
          </a:prstGeom>
          <a:solidFill>
            <a:srgbClr val="00B4D8"/>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4000" b="1" i="0">
                <a:solidFill>
                  <a:srgbClr val="1B2A4A"/>
                </a:solidFill>
                <a:latin typeface="Calibri"/>
              </a:rPr>
              <a:t>08</a:t>
            </a:r>
          </a:p>
        </p:txBody>
      </p:sp>
      <p:sp>
        <p:nvSpPr>
          <p:cNvPr id="3" name="TextBox 2"/>
          <p:cNvSpPr txBox="1"/>
          <p:nvPr/>
        </p:nvSpPr>
        <p:spPr>
          <a:xfrm>
            <a:off x="2103120" y="2962656"/>
            <a:ext cx="9448495" cy="1005840"/>
          </a:xfrm>
          <a:prstGeom prst="rect">
            <a:avLst/>
          </a:prstGeom>
          <a:noFill/>
        </p:spPr>
        <p:txBody>
          <a:bodyPr wrap="square" anchor="ctr">
            <a:spAutoFit/>
          </a:bodyPr>
          <a:lstStyle/>
          <a:p>
            <a:r>
              <a:rPr sz="3200" b="1" i="0">
                <a:solidFill>
                  <a:srgbClr val="FFFFFF"/>
                </a:solidFill>
                <a:latin typeface="Cambria"/>
              </a:rPr>
              <a:t>This Week's Work</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The Dormant Account Problem</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Every dormant/stale account is a credential an attacker can leverage without triggering recent-login monitoring</a:t>
            </a:r>
          </a:p>
          <a:p>
            <a:pPr algn="l">
              <a:spcAft>
                <a:spcPts val="1200"/>
              </a:spcAft>
            </a:pPr>
            <a:r>
              <a:rPr sz="1600" b="0" i="0">
                <a:solidFill>
                  <a:srgbClr val="111B30"/>
                </a:solidFill>
                <a:latin typeface="Calibri"/>
              </a:rPr>
              <a:t>●   Risk goes beyond “wasted CAL licenses” - a stale account with valid credentials and unmonitored activity is a quiet foothold, often still holding whatever access it accumulated before going stale</a:t>
            </a:r>
          </a:p>
          <a:p>
            <a:pPr algn="l">
              <a:spcAft>
                <a:spcPts val="1200"/>
              </a:spcAft>
            </a:pPr>
            <a:r>
              <a:rPr sz="1600" b="0" i="0">
                <a:solidFill>
                  <a:srgbClr val="111B30"/>
                </a:solidFill>
                <a:latin typeface="Calibri"/>
              </a:rPr>
              <a:t>●   Real-world example: Colonial Pipeline, May 2021 - DarkSide affiliates got in through a legacy VPN account that was no longer used but never disabled, had no MFA, and whose password had leaked in a prior, unrelated breach</a:t>
            </a:r>
          </a:p>
          <a:p>
            <a:pPr algn="l">
              <a:spcAft>
                <a:spcPts val="1200"/>
              </a:spcAft>
            </a:pPr>
            <a:r>
              <a:rPr sz="1600" b="0" i="0">
                <a:solidFill>
                  <a:srgbClr val="111B30"/>
                </a:solidFill>
                <a:latin typeface="Calibri"/>
              </a:rPr>
              <a:t>●   Because nobody expected that account to be used, its activity fell outside routine access reviews - exactly the gap a dormant-account sweep is designed to close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Why LastLogonDate Isn't Enough</a:t>
            </a:r>
          </a:p>
        </p:txBody>
      </p:sp>
      <p:graphicFrame>
        <p:nvGraphicFramePr>
          <p:cNvPr id="3" name="Table 2"/>
          <p:cNvGraphicFramePr>
            <a:graphicFrameLocks noGrp="1"/>
          </p:cNvGraphicFramePr>
          <p:nvPr/>
        </p:nvGraphicFramePr>
        <p:xfrm>
          <a:off x="640080" y="1554480"/>
          <a:ext cx="10911535" cy="2286000"/>
        </p:xfrm>
        <a:graphic>
          <a:graphicData uri="http://schemas.openxmlformats.org/drawingml/2006/table">
            <a:tbl>
              <a:tblPr firstRow="1" bandRow="1">
                <a:tableStyleId>{5C22544A-7EE6-4342-B048-85BDC9FD1C3A}</a:tableStyleId>
              </a:tblPr>
              <a:tblGrid>
                <a:gridCol w="2560320"/>
                <a:gridCol w="4937760"/>
                <a:gridCol w="3413455"/>
              </a:tblGrid>
              <a:tr h="457200">
                <a:tc>
                  <a:txBody>
                    <a:bodyPr/>
                    <a:lstStyle/>
                    <a:p>
                      <a:pPr algn="l"/>
                      <a:r>
                        <a:rPr sz="1250" b="1" i="0">
                          <a:solidFill>
                            <a:srgbClr val="FFFFFF"/>
                          </a:solidFill>
                          <a:latin typeface="Calibri"/>
                        </a:rPr>
                        <a:t>Limitation</a:t>
                      </a:r>
                    </a:p>
                  </a:txBody>
                  <a:tcPr anchor="ctr" marL="76200" marR="76200" marT="38100" marB="38100">
                    <a:solidFill>
                      <a:srgbClr val="1B2A4A"/>
                    </a:solidFill>
                  </a:tcPr>
                </a:tc>
                <a:tc>
                  <a:txBody>
                    <a:bodyPr/>
                    <a:lstStyle/>
                    <a:p>
                      <a:pPr algn="l"/>
                      <a:r>
                        <a:rPr sz="1250" b="1" i="0">
                          <a:solidFill>
                            <a:srgbClr val="FFFFFF"/>
                          </a:solidFill>
                          <a:latin typeface="Calibri"/>
                        </a:rPr>
                        <a:t>Explanation</a:t>
                      </a:r>
                    </a:p>
                  </a:txBody>
                  <a:tcPr anchor="ctr" marL="76200" marR="76200" marT="38100" marB="38100">
                    <a:solidFill>
                      <a:srgbClr val="1B2A4A"/>
                    </a:solidFill>
                  </a:tcPr>
                </a:tc>
                <a:tc>
                  <a:txBody>
                    <a:bodyPr/>
                    <a:lstStyle/>
                    <a:p>
                      <a:pPr algn="l"/>
                      <a:r>
                        <a:rPr sz="1250" b="1" i="0">
                          <a:solidFill>
                            <a:srgbClr val="FFFFFF"/>
                          </a:solidFill>
                          <a:latin typeface="Calibri"/>
                        </a:rPr>
                        <a:t>Better Signal / Supplement</a:t>
                      </a:r>
                    </a:p>
                  </a:txBody>
                  <a:tcPr anchor="ctr" marL="76200" marR="76200" marT="38100" marB="38100">
                    <a:solidFill>
                      <a:srgbClr val="1B2A4A"/>
                    </a:solidFill>
                  </a:tcPr>
                </a:tc>
              </a:tr>
              <a:tr h="457200">
                <a:tc>
                  <a:txBody>
                    <a:bodyPr/>
                    <a:lstStyle/>
                    <a:p>
                      <a:pPr algn="l"/>
                      <a:r>
                        <a:rPr sz="1050" b="0" i="0">
                          <a:solidFill>
                            <a:srgbClr val="111B30"/>
                          </a:solidFill>
                          <a:latin typeface="Calibri"/>
                        </a:rPr>
                        <a:t>Replication lag</a:t>
                      </a:r>
                    </a:p>
                  </a:txBody>
                  <a:tcPr anchor="ctr" marL="76200" marR="76200" marT="38100" marB="38100">
                    <a:solidFill>
                      <a:srgbClr val="FFFFFF"/>
                    </a:solidFill>
                  </a:tcPr>
                </a:tc>
                <a:tc>
                  <a:txBody>
                    <a:bodyPr/>
                    <a:lstStyle/>
                    <a:p>
                      <a:pPr algn="l"/>
                      <a:r>
                        <a:rPr sz="1050" b="0" i="0">
                          <a:solidFill>
                            <a:srgbClr val="111B30"/>
                          </a:solidFill>
                          <a:latin typeface="Calibri"/>
                        </a:rPr>
                        <a:t>Reflects interactive/Kerberos TGT-granting logons, replicated across DCs with a default ~14-day lag</a:t>
                      </a:r>
                    </a:p>
                  </a:txBody>
                  <a:tcPr anchor="ctr" marL="76200" marR="76200" marT="38100" marB="38100">
                    <a:solidFill>
                      <a:srgbClr val="FFFFFF"/>
                    </a:solidFill>
                  </a:tcPr>
                </a:tc>
                <a:tc>
                  <a:txBody>
                    <a:bodyPr/>
                    <a:lstStyle/>
                    <a:p>
                      <a:pPr algn="l"/>
                      <a:r>
                        <a:rPr sz="1050" b="0" i="0">
                          <a:solidFill>
                            <a:srgbClr val="111B30"/>
                          </a:solidFill>
                          <a:latin typeface="Calibri"/>
                        </a:rPr>
                        <a:t>Query all DCs and take the most recent value</a:t>
                      </a:r>
                    </a:p>
                  </a:txBody>
                  <a:tcPr anchor="ctr" marL="76200" marR="76200" marT="38100" marB="38100">
                    <a:solidFill>
                      <a:srgbClr val="FFFFFF"/>
                    </a:solidFill>
                  </a:tcPr>
                </a:tc>
              </a:tr>
              <a:tr h="457200">
                <a:tc>
                  <a:txBody>
                    <a:bodyPr/>
                    <a:lstStyle/>
                    <a:p>
                      <a:pPr algn="l"/>
                      <a:r>
                        <a:rPr sz="1050" b="0" i="0">
                          <a:solidFill>
                            <a:srgbClr val="111B30"/>
                          </a:solidFill>
                          <a:latin typeface="Calibri"/>
                        </a:rPr>
                        <a:t>Misses non-interactive auth</a:t>
                      </a:r>
                    </a:p>
                  </a:txBody>
                  <a:tcPr anchor="ctr" marL="76200" marR="76200" marT="38100" marB="38100">
                    <a:solidFill>
                      <a:srgbClr val="E8EEF7"/>
                    </a:solidFill>
                  </a:tcPr>
                </a:tc>
                <a:tc>
                  <a:txBody>
                    <a:bodyPr/>
                    <a:lstStyle/>
                    <a:p>
                      <a:pPr algn="l"/>
                      <a:r>
                        <a:rPr sz="1050" b="0" i="0">
                          <a:solidFill>
                            <a:srgbClr val="111B30"/>
                          </a:solidFill>
                          <a:latin typeface="Calibri"/>
                        </a:rPr>
                        <a:t>Doesn't capture service accounts authenticating non-interactively</a:t>
                      </a:r>
                    </a:p>
                  </a:txBody>
                  <a:tcPr anchor="ctr" marL="76200" marR="76200" marT="38100" marB="38100">
                    <a:solidFill>
                      <a:srgbClr val="E8EEF7"/>
                    </a:solidFill>
                  </a:tcPr>
                </a:tc>
                <a:tc>
                  <a:txBody>
                    <a:bodyPr/>
                    <a:lstStyle/>
                    <a:p>
                      <a:pPr algn="l"/>
                      <a:r>
                        <a:rPr sz="1050" b="0" i="0">
                          <a:solidFill>
                            <a:srgbClr val="111B30"/>
                          </a:solidFill>
                          <a:latin typeface="Calibri"/>
                        </a:rPr>
                        <a:t>Pair with PasswordLastSet / LastPasswordSet</a:t>
                      </a:r>
                    </a:p>
                  </a:txBody>
                  <a:tcPr anchor="ctr" marL="76200" marR="76200" marT="38100" marB="38100">
                    <a:solidFill>
                      <a:srgbClr val="E8EEF7"/>
                    </a:solidFill>
                  </a:tcPr>
                </a:tc>
              </a:tr>
              <a:tr h="457200">
                <a:tc>
                  <a:txBody>
                    <a:bodyPr/>
                    <a:lstStyle/>
                    <a:p>
                      <a:pPr algn="l"/>
                      <a:r>
                        <a:rPr sz="1050" b="0" i="0">
                          <a:solidFill>
                            <a:srgbClr val="111B30"/>
                          </a:solidFill>
                          <a:latin typeface="Calibri"/>
                        </a:rPr>
                        <a:t>Misses cached credentials</a:t>
                      </a:r>
                    </a:p>
                  </a:txBody>
                  <a:tcPr anchor="ctr" marL="76200" marR="76200" marT="38100" marB="38100">
                    <a:solidFill>
                      <a:srgbClr val="FFFFFF"/>
                    </a:solidFill>
                  </a:tcPr>
                </a:tc>
                <a:tc>
                  <a:txBody>
                    <a:bodyPr/>
                    <a:lstStyle/>
                    <a:p>
                      <a:pPr algn="l"/>
                      <a:r>
                        <a:rPr sz="1050" b="0" i="0">
                          <a:solidFill>
                            <a:srgbClr val="111B30"/>
                          </a:solidFill>
                          <a:latin typeface="Calibri"/>
                        </a:rPr>
                        <a:t>Cached credentials can still grant file-share access without touching this field</a:t>
                      </a:r>
                    </a:p>
                  </a:txBody>
                  <a:tcPr anchor="ctr" marL="76200" marR="76200" marT="38100" marB="38100">
                    <a:solidFill>
                      <a:srgbClr val="FFFFFF"/>
                    </a:solidFill>
                  </a:tcPr>
                </a:tc>
                <a:tc>
                  <a:txBody>
                    <a:bodyPr/>
                    <a:lstStyle/>
                    <a:p>
                      <a:pPr algn="l"/>
                      <a:r>
                        <a:rPr sz="1050" b="0" i="0">
                          <a:solidFill>
                            <a:srgbClr val="111B30"/>
                          </a:solidFill>
                          <a:latin typeface="Calibri"/>
                        </a:rPr>
                        <a:t>Correlate with file-share access logs where available</a:t>
                      </a:r>
                    </a:p>
                  </a:txBody>
                  <a:tcPr anchor="ctr" marL="76200" marR="76200" marT="38100" marB="38100">
                    <a:solidFill>
                      <a:srgbClr val="FFFFFF"/>
                    </a:solidFill>
                  </a:tcPr>
                </a:tc>
              </a:tr>
              <a:tr h="457200">
                <a:tc>
                  <a:txBody>
                    <a:bodyPr/>
                    <a:lstStyle/>
                    <a:p>
                      <a:pPr algn="l"/>
                      <a:r>
                        <a:rPr sz="1050" b="0" i="0">
                          <a:solidFill>
                            <a:srgbClr val="111B30"/>
                          </a:solidFill>
                          <a:latin typeface="Calibri"/>
                        </a:rPr>
                        <a:t>Misses mailbox/app-password activity</a:t>
                      </a:r>
                    </a:p>
                  </a:txBody>
                  <a:tcPr anchor="ctr" marL="76200" marR="76200" marT="38100" marB="38100">
                    <a:solidFill>
                      <a:srgbClr val="E8EEF7"/>
                    </a:solidFill>
                  </a:tcPr>
                </a:tc>
                <a:tc>
                  <a:txBody>
                    <a:bodyPr/>
                    <a:lstStyle/>
                    <a:p>
                      <a:pPr algn="l"/>
                      <a:r>
                        <a:rPr sz="1050" b="0" i="0">
                          <a:solidFill>
                            <a:srgbClr val="111B30"/>
                          </a:solidFill>
                          <a:latin typeface="Calibri"/>
                        </a:rPr>
                        <a:t>Protocols that don't route through this attribute (mail, app passwords) leave no trace here</a:t>
                      </a:r>
                    </a:p>
                  </a:txBody>
                  <a:tcPr anchor="ctr" marL="76200" marR="76200" marT="38100" marB="38100">
                    <a:solidFill>
                      <a:srgbClr val="E8EEF7"/>
                    </a:solidFill>
                  </a:tcPr>
                </a:tc>
                <a:tc>
                  <a:txBody>
                    <a:bodyPr/>
                    <a:lstStyle/>
                    <a:p>
                      <a:pPr algn="l"/>
                      <a:r>
                        <a:rPr sz="1050" b="0" i="0">
                          <a:solidFill>
                            <a:srgbClr val="111B30"/>
                          </a:solidFill>
                          <a:latin typeface="Calibri"/>
                        </a:rPr>
                        <a:t>IdP/Entra ID sign-in logs (if federated); Exchange/mailbox last-activity timestamps</a:t>
                      </a:r>
                    </a:p>
                  </a:txBody>
                  <a:tcPr anchor="ctr" marL="76200" marR="76200" marT="38100" marB="38100">
                    <a:solidFill>
                      <a:srgbClr val="E8EEF7"/>
                    </a:solidFill>
                  </a:tcPr>
                </a:tc>
              </a:tr>
            </a:tbl>
          </a:graphicData>
        </a:graphic>
      </p:graphicFrame>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Quarantine OU &amp; Staged Remediation Workflow</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3D5A80"/>
                </a:solidFill>
                <a:latin typeface="Calibri"/>
              </a:rPr>
              <a:t>A staged manual remediation sequence for accounts a sweep flags - the same OU=Disabled quarantine previewed in Section 01.</a:t>
            </a:r>
          </a:p>
        </p:txBody>
      </p:sp>
      <p:sp>
        <p:nvSpPr>
          <p:cNvPr id="4" name="Rounded Rectangle 3"/>
          <p:cNvSpPr/>
          <p:nvPr/>
        </p:nvSpPr>
        <p:spPr>
          <a:xfrm>
            <a:off x="914400" y="2103120"/>
            <a:ext cx="2286000" cy="12344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50" b="0" i="0">
                <a:solidFill>
                  <a:srgbClr val="111B30"/>
                </a:solidFill>
                <a:latin typeface="Calibri"/>
              </a:rPr>
              <a:t>1. Disable the</a:t>
            </a:r>
          </a:p>
          <a:p>
            <a:pPr algn="ctr"/>
            <a:r>
              <a:rPr sz="850" b="0" i="0">
                <a:solidFill>
                  <a:srgbClr val="111B30"/>
                </a:solidFill>
                <a:latin typeface="Calibri"/>
              </a:rPr>
              <a:t>account</a:t>
            </a:r>
          </a:p>
          <a:p>
            <a:pPr algn="ctr"/>
            <a:r>
              <a:rPr sz="850" b="0" i="0">
                <a:solidFill>
                  <a:srgbClr val="111B30"/>
                </a:solidFill>
                <a:latin typeface="Calibri"/>
              </a:rPr>
              <a:t>(Set-ADUser</a:t>
            </a:r>
          </a:p>
          <a:p>
            <a:pPr algn="ctr"/>
            <a:r>
              <a:rPr sz="850" b="0" i="0">
                <a:solidFill>
                  <a:srgbClr val="111B30"/>
                </a:solidFill>
                <a:latin typeface="Calibri"/>
              </a:rPr>
              <a:t>-Enabled $false)</a:t>
            </a:r>
          </a:p>
        </p:txBody>
      </p:sp>
      <p:sp>
        <p:nvSpPr>
          <p:cNvPr id="5" name="Rounded Rectangle 4"/>
          <p:cNvSpPr/>
          <p:nvPr/>
        </p:nvSpPr>
        <p:spPr>
          <a:xfrm>
            <a:off x="3596335" y="2103120"/>
            <a:ext cx="2286000" cy="12344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00" b="0" i="0">
                <a:solidFill>
                  <a:srgbClr val="111B30"/>
                </a:solidFill>
                <a:latin typeface="Calibri"/>
              </a:rPr>
              <a:t>2. Set Description:</a:t>
            </a:r>
          </a:p>
          <a:p>
            <a:pPr algn="ctr"/>
            <a:r>
              <a:rPr sz="800" b="0" i="0">
                <a:solidFill>
                  <a:srgbClr val="111B30"/>
                </a:solidFill>
                <a:latin typeface="Calibri"/>
              </a:rPr>
              <a:t>[DISABLED] Manual</a:t>
            </a:r>
          </a:p>
          <a:p>
            <a:pPr algn="ctr"/>
            <a:r>
              <a:rPr sz="800" b="0" i="0">
                <a:solidFill>
                  <a:srgbClr val="111B30"/>
                </a:solidFill>
                <a:latin typeface="Calibri"/>
              </a:rPr>
              <a:t>review - stale &gt;Nd.</a:t>
            </a:r>
          </a:p>
          <a:p>
            <a:pPr algn="ctr"/>
            <a:r>
              <a:rPr sz="800" b="0" i="0">
                <a:solidFill>
                  <a:srgbClr val="111B30"/>
                </a:solidFill>
                <a:latin typeface="Calibri"/>
              </a:rPr>
              <a:t>Disabled by/on...</a:t>
            </a:r>
          </a:p>
        </p:txBody>
      </p:sp>
      <p:sp>
        <p:nvSpPr>
          <p:cNvPr id="6" name="Rounded Rectangle 5"/>
          <p:cNvSpPr/>
          <p:nvPr/>
        </p:nvSpPr>
        <p:spPr>
          <a:xfrm>
            <a:off x="6278270" y="2103120"/>
            <a:ext cx="2286000" cy="1234440"/>
          </a:xfrm>
          <a:prstGeom prst="roundRect">
            <a:avLst/>
          </a:prstGeom>
          <a:solidFill>
            <a:srgbClr val="E8EEF7"/>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50" b="1" i="0">
                <a:solidFill>
                  <a:srgbClr val="111B30"/>
                </a:solidFill>
                <a:latin typeface="Calibri"/>
              </a:rPr>
              <a:t>3. Move to</a:t>
            </a:r>
          </a:p>
          <a:p>
            <a:pPr algn="ctr"/>
            <a:r>
              <a:rPr sz="850" b="1" i="0">
                <a:solidFill>
                  <a:srgbClr val="111B30"/>
                </a:solidFill>
                <a:latin typeface="Calibri"/>
              </a:rPr>
              <a:t>OU=Disabled,...</a:t>
            </a:r>
          </a:p>
          <a:p>
            <a:pPr algn="ctr"/>
            <a:r>
              <a:rPr sz="850" b="1" i="0">
                <a:solidFill>
                  <a:srgbClr val="111B30"/>
                </a:solidFill>
                <a:latin typeface="Calibri"/>
              </a:rPr>
              <a:t>(create the OU</a:t>
            </a:r>
          </a:p>
          <a:p>
            <a:pPr algn="ctr"/>
            <a:r>
              <a:rPr sz="850" b="1" i="0">
                <a:solidFill>
                  <a:srgbClr val="111B30"/>
                </a:solidFill>
                <a:latin typeface="Calibri"/>
              </a:rPr>
              <a:t>first if needed)</a:t>
            </a:r>
          </a:p>
        </p:txBody>
      </p:sp>
      <p:sp>
        <p:nvSpPr>
          <p:cNvPr id="7" name="Rounded Rectangle 6"/>
          <p:cNvSpPr/>
          <p:nvPr/>
        </p:nvSpPr>
        <p:spPr>
          <a:xfrm>
            <a:off x="8960205" y="2103120"/>
            <a:ext cx="2286000" cy="1234440"/>
          </a:xfrm>
          <a:prstGeom prst="roundRect">
            <a:avLst/>
          </a:prstGeom>
          <a:solidFill>
            <a:srgbClr val="E8EEF7"/>
          </a:solidFill>
          <a:ln w="15875">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850" b="0" i="0">
                <a:solidFill>
                  <a:srgbClr val="111B30"/>
                </a:solidFill>
                <a:latin typeface="Calibri"/>
              </a:rPr>
              <a:t>4. Log the action:</a:t>
            </a:r>
          </a:p>
          <a:p>
            <a:pPr algn="ctr"/>
            <a:r>
              <a:rPr sz="850" b="0" i="0">
                <a:solidFill>
                  <a:srgbClr val="111B30"/>
                </a:solidFill>
                <a:latin typeface="Calibri"/>
              </a:rPr>
              <a:t>timestamp +</a:t>
            </a:r>
          </a:p>
          <a:p>
            <a:pPr algn="ctr"/>
            <a:r>
              <a:rPr sz="850" b="0" i="0">
                <a:solidFill>
                  <a:srgbClr val="111B30"/>
                </a:solidFill>
                <a:latin typeface="Calibri"/>
              </a:rPr>
              <a:t>SamAccountName +</a:t>
            </a:r>
          </a:p>
          <a:p>
            <a:pPr algn="ctr"/>
            <a:r>
              <a:rPr sz="850" b="0" i="0">
                <a:solidFill>
                  <a:srgbClr val="111B30"/>
                </a:solidFill>
                <a:latin typeface="Calibri"/>
              </a:rPr>
              <a:t>action taken</a:t>
            </a:r>
          </a:p>
        </p:txBody>
      </p:sp>
      <p:cxnSp>
        <p:nvCxnSpPr>
          <p:cNvPr id="8" name="Connector 7"/>
          <p:cNvCxnSpPr/>
          <p:nvPr/>
        </p:nvCxnSpPr>
        <p:spPr>
          <a:xfrm>
            <a:off x="3200400" y="2720339"/>
            <a:ext cx="395935"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882335" y="2720339"/>
            <a:ext cx="395935"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564270" y="2720339"/>
            <a:ext cx="395935" cy="0"/>
          </a:xfrm>
          <a:prstGeom prst="line">
            <a:avLst/>
          </a:prstGeom>
          <a:ln w="1905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20640" y="3794760"/>
            <a:ext cx="3657600" cy="91440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950" b="1" i="0">
                <a:solidFill>
                  <a:srgbClr val="B02A2A"/>
                </a:solidFill>
                <a:latin typeface="Calibri"/>
              </a:rPr>
              <a:t>~90 days in quarantine before deletion.</a:t>
            </a:r>
          </a:p>
          <a:p>
            <a:pPr algn="ctr"/>
            <a:r>
              <a:rPr sz="950" b="1" i="0">
                <a:solidFill>
                  <a:srgbClr val="B02A2A"/>
                </a:solidFill>
                <a:latin typeface="Calibri"/>
              </a:rPr>
              <a:t>Final deletion needs sign-off from</a:t>
            </a:r>
          </a:p>
          <a:p>
            <a:pPr algn="ctr"/>
            <a:r>
              <a:rPr sz="950" b="1" i="0">
                <a:solidFill>
                  <a:srgbClr val="B02A2A"/>
                </a:solidFill>
                <a:latin typeface="Calibri"/>
              </a:rPr>
              <a:t>someone other than the sweep's admin.</a:t>
            </a:r>
          </a:p>
        </p:txBody>
      </p:sp>
      <p:cxnSp>
        <p:nvCxnSpPr>
          <p:cNvPr id="12" name="Connector 11"/>
          <p:cNvCxnSpPr/>
          <p:nvPr/>
        </p:nvCxnSpPr>
        <p:spPr>
          <a:xfrm flipH="1">
            <a:off x="6949440" y="3337560"/>
            <a:ext cx="471830" cy="457200"/>
          </a:xfrm>
          <a:prstGeom prst="line">
            <a:avLst/>
          </a:prstGeom>
          <a:ln w="19050">
            <a:solidFill>
              <a:srgbClr val="B02A2A"/>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Human Error at Volume</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Risk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Hundreds of accounts</a:t>
            </a:r>
          </a:p>
          <a:p>
            <a:pPr algn="ctr"/>
            <a:r>
              <a:rPr sz="1100" b="0" i="0">
                <a:solidFill>
                  <a:srgbClr val="111B30"/>
                </a:solidFill>
                <a:latin typeface="Calibri"/>
              </a:rPr>
              <a:t>remediated by hand</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Execution is inconsistent -</a:t>
            </a:r>
          </a:p>
          <a:p>
            <a:pPr algn="ctr"/>
            <a:r>
              <a:rPr sz="1100" b="1" i="0">
                <a:solidFill>
                  <a:srgbClr val="111B30"/>
                </a:solidFill>
                <a:latin typeface="Calibri"/>
              </a:rPr>
              <a:t>missed steps, typos</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Some accounts end up</a:t>
            </a:r>
          </a:p>
          <a:p>
            <a:pPr algn="ctr"/>
            <a:r>
              <a:rPr sz="1100" b="0" i="0">
                <a:solidFill>
                  <a:srgbClr val="111B30"/>
                </a:solidFill>
                <a:latin typeface="Calibri"/>
              </a:rPr>
              <a:t>incorrectly or only</a:t>
            </a:r>
          </a:p>
          <a:p>
            <a:pPr algn="ctr"/>
            <a:r>
              <a:rPr sz="1100" b="0" i="0">
                <a:solidFill>
                  <a:srgbClr val="111B30"/>
                </a:solidFill>
                <a:latin typeface="Calibri"/>
              </a:rPr>
              <a:t>partially remediated</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MITIGATION: Ticket-per-account workflow with two-person approval</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No Verification Trail</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Risk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Remediation happens</a:t>
            </a:r>
          </a:p>
          <a:p>
            <a:pPr algn="ctr"/>
            <a:r>
              <a:rPr sz="1100" b="0" i="0">
                <a:solidFill>
                  <a:srgbClr val="111B30"/>
                </a:solidFill>
                <a:latin typeface="Calibri"/>
              </a:rPr>
              <a:t>without structured logging</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No way to confirm every</a:t>
            </a:r>
          </a:p>
          <a:p>
            <a:pPr algn="ctr"/>
            <a:r>
              <a:rPr sz="1100" b="1" i="0">
                <a:solidFill>
                  <a:srgbClr val="111B30"/>
                </a:solidFill>
                <a:latin typeface="Calibri"/>
              </a:rPr>
              <a:t>flagged account was</a:t>
            </a:r>
          </a:p>
          <a:p>
            <a:pPr algn="ctr"/>
            <a:r>
              <a:rPr sz="1100" b="1" i="0">
                <a:solidFill>
                  <a:srgbClr val="111B30"/>
                </a:solidFill>
                <a:latin typeface="Calibri"/>
              </a:rPr>
              <a:t>actually fixed correctly</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Errors go undetected until</a:t>
            </a:r>
          </a:p>
          <a:p>
            <a:pPr algn="ctr"/>
            <a:r>
              <a:rPr sz="1100" b="0" i="0">
                <a:solidFill>
                  <a:srgbClr val="111B30"/>
                </a:solidFill>
                <a:latin typeface="Calibri"/>
              </a:rPr>
              <a:t>something breaks or an</a:t>
            </a:r>
          </a:p>
          <a:p>
            <a:pPr algn="ctr"/>
            <a:r>
              <a:rPr sz="1100" b="0" i="0">
                <a:solidFill>
                  <a:srgbClr val="111B30"/>
                </a:solidFill>
                <a:latin typeface="Calibri"/>
              </a:rPr>
              <a:t>audit finds them later</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MITIGATION: A dry-run/report mode before any account is touched, reviewed against the findings</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Delayed Remediation</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Risk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New accounts keep going</a:t>
            </a:r>
          </a:p>
          <a:p>
            <a:pPr algn="ctr"/>
            <a:r>
              <a:rPr sz="1100" b="0" i="0">
                <a:solidFill>
                  <a:srgbClr val="111B30"/>
                </a:solidFill>
                <a:latin typeface="Calibri"/>
              </a:rPr>
              <a:t>stale continuously</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A manual process can't</a:t>
            </a:r>
          </a:p>
          <a:p>
            <a:pPr algn="ctr"/>
            <a:r>
              <a:rPr sz="1100" b="1" i="0">
                <a:solidFill>
                  <a:srgbClr val="111B30"/>
                </a:solidFill>
                <a:latin typeface="Calibri"/>
              </a:rPr>
              <a:t>keep pace with that rate</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The backlog of unremediated</a:t>
            </a:r>
          </a:p>
          <a:p>
            <a:pPr algn="ctr"/>
            <a:r>
              <a:rPr sz="1100" b="0" i="0">
                <a:solidFill>
                  <a:srgbClr val="111B30"/>
                </a:solidFill>
                <a:latin typeface="Calibri"/>
              </a:rPr>
              <a:t>stale accounts keeps growing</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MITIGATION: Scheduled re-runs of the audit script (Section 04) even if remediation stays manual</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Full Automation Without Review</a:t>
            </a:r>
          </a:p>
        </p:txBody>
      </p:sp>
      <p:sp>
        <p:nvSpPr>
          <p:cNvPr id="3" name="TextBox 2"/>
          <p:cNvSpPr txBox="1"/>
          <p:nvPr/>
        </p:nvSpPr>
        <p:spPr>
          <a:xfrm>
            <a:off x="640080" y="1243584"/>
            <a:ext cx="10911535" cy="411480"/>
          </a:xfrm>
          <a:prstGeom prst="rect">
            <a:avLst/>
          </a:prstGeom>
          <a:noFill/>
        </p:spPr>
        <p:txBody>
          <a:bodyPr wrap="square" lIns="0" tIns="0">
            <a:spAutoFit/>
          </a:bodyPr>
          <a:lstStyle/>
          <a:p>
            <a:r>
              <a:rPr sz="1350" b="0" i="1">
                <a:solidFill>
                  <a:srgbClr val="B02A2A"/>
                </a:solidFill>
                <a:latin typeface="Calibri"/>
              </a:rPr>
              <a:t>Risk Spotlight</a:t>
            </a:r>
          </a:p>
        </p:txBody>
      </p:sp>
      <p:sp>
        <p:nvSpPr>
          <p:cNvPr id="4" name="Rounded Rectangle 3"/>
          <p:cNvSpPr/>
          <p:nvPr/>
        </p:nvSpPr>
        <p:spPr>
          <a:xfrm>
            <a:off x="822960"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Remediation is fully</a:t>
            </a:r>
          </a:p>
          <a:p>
            <a:pPr algn="ctr"/>
            <a:r>
              <a:rPr sz="1100" b="0" i="0">
                <a:solidFill>
                  <a:srgbClr val="111B30"/>
                </a:solidFill>
                <a:latin typeface="Calibri"/>
              </a:rPr>
              <a:t>automated, zero human check</a:t>
            </a:r>
          </a:p>
        </p:txBody>
      </p:sp>
      <p:sp>
        <p:nvSpPr>
          <p:cNvPr id="5" name="Rounded Rectangle 4"/>
          <p:cNvSpPr/>
          <p:nvPr/>
        </p:nvSpPr>
        <p:spPr>
          <a:xfrm>
            <a:off x="4544568" y="2286000"/>
            <a:ext cx="3108960" cy="1188720"/>
          </a:xfrm>
          <a:prstGeom prst="roundRect">
            <a:avLst/>
          </a:prstGeom>
          <a:solidFill>
            <a:srgbClr val="FFFFFF"/>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1" i="0">
                <a:solidFill>
                  <a:srgbClr val="111B30"/>
                </a:solidFill>
                <a:latin typeface="Calibri"/>
              </a:rPr>
              <a:t>Auto-disables or deletes</a:t>
            </a:r>
          </a:p>
          <a:p>
            <a:pPr algn="ctr"/>
            <a:r>
              <a:rPr sz="1100" b="1" i="0">
                <a:solidFill>
                  <a:srgbClr val="111B30"/>
                </a:solidFill>
                <a:latin typeface="Calibri"/>
              </a:rPr>
              <a:t>accounts based on the</a:t>
            </a:r>
          </a:p>
          <a:p>
            <a:pPr algn="ctr"/>
            <a:r>
              <a:rPr sz="1100" b="1" i="0">
                <a:solidFill>
                  <a:srgbClr val="111B30"/>
                </a:solidFill>
                <a:latin typeface="Calibri"/>
              </a:rPr>
              <a:t>audit script alone</a:t>
            </a:r>
          </a:p>
        </p:txBody>
      </p:sp>
      <p:sp>
        <p:nvSpPr>
          <p:cNvPr id="6" name="Rounded Rectangle 5"/>
          <p:cNvSpPr/>
          <p:nvPr/>
        </p:nvSpPr>
        <p:spPr>
          <a:xfrm>
            <a:off x="8266175" y="2286000"/>
            <a:ext cx="3108960" cy="1188720"/>
          </a:xfrm>
          <a:prstGeom prst="roundRect">
            <a:avLst/>
          </a:prstGeom>
          <a:solidFill>
            <a:srgbClr val="E8EEF7"/>
          </a:solidFill>
          <a:ln w="15875">
            <a:solidFill>
              <a:srgbClr val="B02A2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100" b="0" i="0">
                <a:solidFill>
                  <a:srgbClr val="111B30"/>
                </a:solidFill>
                <a:latin typeface="Calibri"/>
              </a:rPr>
              <a:t>False positives disable or</a:t>
            </a:r>
          </a:p>
          <a:p>
            <a:pPr algn="ctr"/>
            <a:r>
              <a:rPr sz="1100" b="0" i="0">
                <a:solidFill>
                  <a:srgbClr val="111B30"/>
                </a:solidFill>
                <a:latin typeface="Calibri"/>
              </a:rPr>
              <a:t>delete active, legitimate</a:t>
            </a:r>
          </a:p>
          <a:p>
            <a:pPr algn="ctr"/>
            <a:r>
              <a:rPr sz="1100" b="0" i="0">
                <a:solidFill>
                  <a:srgbClr val="111B30"/>
                </a:solidFill>
                <a:latin typeface="Calibri"/>
              </a:rPr>
              <a:t>accounts</a:t>
            </a:r>
          </a:p>
        </p:txBody>
      </p:sp>
      <p:cxnSp>
        <p:nvCxnSpPr>
          <p:cNvPr id="7" name="Connector 6"/>
          <p:cNvCxnSpPr/>
          <p:nvPr/>
        </p:nvCxnSpPr>
        <p:spPr>
          <a:xfrm>
            <a:off x="3931920"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53527" y="2880360"/>
            <a:ext cx="612648"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7360" y="4023360"/>
            <a:ext cx="8714232" cy="1005840"/>
          </a:xfrm>
          <a:prstGeom prst="roundRect">
            <a:avLst/>
          </a:prstGeom>
          <a:solidFill>
            <a:srgbClr val="E8EEF7"/>
          </a:solidFill>
          <a:ln w="15875">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i="0">
                <a:solidFill>
                  <a:srgbClr val="2E7D32"/>
                </a:solidFill>
                <a:latin typeface="Calibri"/>
              </a:rPr>
              <a:t>MITIGATION: Idempotent scripting so a partial run can be safely re-run, plus a human approval gate</a:t>
            </a:r>
          </a:p>
        </p:txBody>
      </p:sp>
      <p:cxnSp>
        <p:nvCxnSpPr>
          <p:cNvPr id="10" name="Connector 9"/>
          <p:cNvCxnSpPr/>
          <p:nvPr/>
        </p:nvCxnSpPr>
        <p:spPr>
          <a:xfrm flipH="1">
            <a:off x="6094475" y="3474720"/>
            <a:ext cx="4573" cy="548640"/>
          </a:xfrm>
          <a:prstGeom prst="line">
            <a:avLst/>
          </a:prstGeom>
          <a:ln w="19050">
            <a:solidFill>
              <a:srgbClr val="2E7D32"/>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Hands-On Exercise Recap: Active Directory, GPO &amp; Centralized AAA</a:t>
            </a:r>
          </a:p>
        </p:txBody>
      </p:sp>
      <p:sp>
        <p:nvSpPr>
          <p:cNvPr id="3" name="TextBox 2"/>
          <p:cNvSpPr txBox="1"/>
          <p:nvPr/>
        </p:nvSpPr>
        <p:spPr>
          <a:xfrm>
            <a:off x="685800" y="1554480"/>
            <a:ext cx="10820095" cy="4892040"/>
          </a:xfrm>
          <a:prstGeom prst="rect">
            <a:avLst/>
          </a:prstGeom>
          <a:noFill/>
        </p:spPr>
        <p:txBody>
          <a:bodyPr wrap="square" lIns="0" tIns="0">
            <a:spAutoFit/>
          </a:bodyPr>
          <a:lstStyle/>
          <a:p>
            <a:pPr algn="l">
              <a:spcAft>
                <a:spcPts val="1200"/>
              </a:spcAft>
            </a:pPr>
            <a:r>
              <a:rPr sz="1600" b="0" i="0">
                <a:solidFill>
                  <a:srgbClr val="111B30"/>
                </a:solidFill>
                <a:latin typeface="Calibri"/>
              </a:rPr>
              <a:t>●   Objectives: verify a pre-promoted DC; build a multi-tiered OU structure; implement Security Baseline + Audit Policy GPOs; configure a PSO; test lockout/audit; deploy a minimal FreeRADIUS instance that authenticates against the domain, scoped to a specific admin group</a:t>
            </a:r>
          </a:p>
          <a:p>
            <a:pPr algn="l">
              <a:spcAft>
                <a:spcPts val="1200"/>
              </a:spcAft>
            </a:pPr>
            <a:r>
              <a:rPr sz="1600" b="0" i="0">
                <a:solidFill>
                  <a:srgbClr val="111B30"/>
                </a:solidFill>
                <a:latin typeface="Calibri"/>
              </a:rPr>
              <a:t>●   Tools/Accounts: a dedicated domain controller VM (already promoted), a separate Linux VM for FreeRADIUS, GPMC, ADUC, ADAC, ldapsearch</a:t>
            </a:r>
          </a:p>
          <a:p>
            <a:pPr algn="l">
              <a:spcAft>
                <a:spcPts val="1200"/>
              </a:spcAft>
            </a:pPr>
            <a:r>
              <a:rPr sz="1600" b="0" i="0">
                <a:solidFill>
                  <a:srgbClr val="111B30"/>
                </a:solidFill>
                <a:latin typeface="Calibri"/>
              </a:rPr>
              <a:t>●   Structure: PowerShell-first - OUs, users, and groups built via cmdlets rather than the GUI</a:t>
            </a:r>
          </a:p>
          <a:p>
            <a:pPr algn="l">
              <a:spcAft>
                <a:spcPts val="1200"/>
              </a:spcAft>
            </a:pPr>
            <a:r>
              <a:rPr sz="1600" b="0" i="0">
                <a:solidFill>
                  <a:srgbClr val="111B30"/>
                </a:solidFill>
                <a:latin typeface="Calibri"/>
              </a:rPr>
              <a:t>●   Framing theme: every control here maps to a specific attack it prevents, not just administrative housekeeping</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Grading Breakdown</a:t>
            </a:r>
          </a:p>
        </p:txBody>
      </p:sp>
      <p:graphicFrame>
        <p:nvGraphicFramePr>
          <p:cNvPr id="3" name="Table 2"/>
          <p:cNvGraphicFramePr>
            <a:graphicFrameLocks noGrp="1"/>
          </p:cNvGraphicFramePr>
          <p:nvPr/>
        </p:nvGraphicFramePr>
        <p:xfrm>
          <a:off x="640080" y="1554480"/>
          <a:ext cx="10362895" cy="4937759"/>
        </p:xfrm>
        <a:graphic>
          <a:graphicData uri="http://schemas.openxmlformats.org/drawingml/2006/table">
            <a:tbl>
              <a:tblPr firstRow="1" bandRow="1">
                <a:tableStyleId>{5C22544A-7EE6-4342-B048-85BDC9FD1C3A}</a:tableStyleId>
              </a:tblPr>
              <a:tblGrid>
                <a:gridCol w="9326880"/>
                <a:gridCol w="1036015"/>
              </a:tblGrid>
              <a:tr h="548639">
                <a:tc>
                  <a:txBody>
                    <a:bodyPr/>
                    <a:lstStyle/>
                    <a:p>
                      <a:pPr algn="l"/>
                      <a:r>
                        <a:rPr sz="1250" b="1" i="0">
                          <a:solidFill>
                            <a:srgbClr val="FFFFFF"/>
                          </a:solidFill>
                          <a:latin typeface="Calibri"/>
                        </a:rPr>
                        <a:t>Item</a:t>
                      </a:r>
                    </a:p>
                  </a:txBody>
                  <a:tcPr anchor="ctr" marL="76200" marR="76200" marT="38100" marB="38100">
                    <a:solidFill>
                      <a:srgbClr val="1B2A4A"/>
                    </a:solidFill>
                  </a:tcPr>
                </a:tc>
                <a:tc>
                  <a:txBody>
                    <a:bodyPr/>
                    <a:lstStyle/>
                    <a:p>
                      <a:pPr algn="l"/>
                      <a:r>
                        <a:rPr sz="1250" b="1" i="0">
                          <a:solidFill>
                            <a:srgbClr val="FFFFFF"/>
                          </a:solidFill>
                          <a:latin typeface="Calibri"/>
                        </a:rPr>
                        <a:t>Points</a:t>
                      </a:r>
                    </a:p>
                  </a:txBody>
                  <a:tcPr anchor="ctr" marL="76200" marR="76200" marT="38100" marB="38100">
                    <a:solidFill>
                      <a:srgbClr val="1B2A4A"/>
                    </a:solidFill>
                  </a:tcPr>
                </a:tc>
              </a:tr>
              <a:tr h="548639">
                <a:tc>
                  <a:txBody>
                    <a:bodyPr/>
                    <a:lstStyle/>
                    <a:p>
                      <a:pPr algn="l"/>
                      <a:r>
                        <a:rPr sz="1250" b="0" i="0">
                          <a:solidFill>
                            <a:srgbClr val="111B30"/>
                          </a:solidFill>
                          <a:latin typeface="Calibri"/>
                        </a:rPr>
                        <a:t>OU structure design and verification</a:t>
                      </a:r>
                    </a:p>
                  </a:txBody>
                  <a:tcPr anchor="ctr" marL="76200" marR="76200" marT="38100" marB="38100">
                    <a:solidFill>
                      <a:srgbClr val="FFFFFF"/>
                    </a:solidFill>
                  </a:tcPr>
                </a:tc>
                <a:tc>
                  <a:txBody>
                    <a:bodyPr/>
                    <a:lstStyle/>
                    <a:p>
                      <a:pPr algn="l"/>
                      <a:r>
                        <a:rPr sz="1250" b="0" i="0">
                          <a:solidFill>
                            <a:srgbClr val="111B30"/>
                          </a:solidFill>
                          <a:latin typeface="Calibri"/>
                        </a:rPr>
                        <a:t>15</a:t>
                      </a:r>
                    </a:p>
                  </a:txBody>
                  <a:tcPr anchor="ctr" marL="76200" marR="76200" marT="38100" marB="38100">
                    <a:solidFill>
                      <a:srgbClr val="FFFFFF"/>
                    </a:solidFill>
                  </a:tcPr>
                </a:tc>
              </a:tr>
              <a:tr h="548639">
                <a:tc>
                  <a:txBody>
                    <a:bodyPr/>
                    <a:lstStyle/>
                    <a:p>
                      <a:pPr algn="l"/>
                      <a:r>
                        <a:rPr sz="1250" b="0" i="0">
                          <a:solidFill>
                            <a:srgbClr val="111B30"/>
                          </a:solidFill>
                          <a:latin typeface="Calibri"/>
                        </a:rPr>
                        <a:t>User and group creation</a:t>
                      </a:r>
                    </a:p>
                  </a:txBody>
                  <a:tcPr anchor="ctr" marL="76200" marR="76200" marT="38100" marB="38100">
                    <a:solidFill>
                      <a:srgbClr val="E8EEF7"/>
                    </a:solidFill>
                  </a:tcPr>
                </a:tc>
                <a:tc>
                  <a:txBody>
                    <a:bodyPr/>
                    <a:lstStyle/>
                    <a:p>
                      <a:pPr algn="l"/>
                      <a:r>
                        <a:rPr sz="1250" b="0" i="0">
                          <a:solidFill>
                            <a:srgbClr val="111B30"/>
                          </a:solidFill>
                          <a:latin typeface="Calibri"/>
                        </a:rPr>
                        <a:t>13</a:t>
                      </a:r>
                    </a:p>
                  </a:txBody>
                  <a:tcPr anchor="ctr" marL="76200" marR="76200" marT="38100" marB="38100">
                    <a:solidFill>
                      <a:srgbClr val="E8EEF7"/>
                    </a:solidFill>
                  </a:tcPr>
                </a:tc>
              </a:tr>
              <a:tr h="548639">
                <a:tc>
                  <a:txBody>
                    <a:bodyPr/>
                    <a:lstStyle/>
                    <a:p>
                      <a:pPr algn="l"/>
                      <a:r>
                        <a:rPr sz="1250" b="0" i="0">
                          <a:solidFill>
                            <a:srgbClr val="111B30"/>
                          </a:solidFill>
                          <a:latin typeface="Calibri"/>
                        </a:rPr>
                        <a:t>Security Baseline GPO</a:t>
                      </a:r>
                    </a:p>
                  </a:txBody>
                  <a:tcPr anchor="ctr" marL="76200" marR="76200" marT="38100" marB="38100">
                    <a:solidFill>
                      <a:srgbClr val="FFFFFF"/>
                    </a:solidFill>
                  </a:tcPr>
                </a:tc>
                <a:tc>
                  <a:txBody>
                    <a:bodyPr/>
                    <a:lstStyle/>
                    <a:p>
                      <a:pPr algn="l"/>
                      <a:r>
                        <a:rPr sz="1250" b="0" i="0">
                          <a:solidFill>
                            <a:srgbClr val="111B30"/>
                          </a:solidFill>
                          <a:latin typeface="Calibri"/>
                        </a:rPr>
                        <a:t>12</a:t>
                      </a:r>
                    </a:p>
                  </a:txBody>
                  <a:tcPr anchor="ctr" marL="76200" marR="76200" marT="38100" marB="38100">
                    <a:solidFill>
                      <a:srgbClr val="FFFFFF"/>
                    </a:solidFill>
                  </a:tcPr>
                </a:tc>
              </a:tr>
              <a:tr h="548639">
                <a:tc>
                  <a:txBody>
                    <a:bodyPr/>
                    <a:lstStyle/>
                    <a:p>
                      <a:pPr algn="l"/>
                      <a:r>
                        <a:rPr sz="1250" b="0" i="0">
                          <a:solidFill>
                            <a:srgbClr val="111B30"/>
                          </a:solidFill>
                          <a:latin typeface="Calibri"/>
                        </a:rPr>
                        <a:t>Audit Policy GPO</a:t>
                      </a:r>
                    </a:p>
                  </a:txBody>
                  <a:tcPr anchor="ctr" marL="76200" marR="76200" marT="38100" marB="38100">
                    <a:solidFill>
                      <a:srgbClr val="E8EEF7"/>
                    </a:solidFill>
                  </a:tcPr>
                </a:tc>
                <a:tc>
                  <a:txBody>
                    <a:bodyPr/>
                    <a:lstStyle/>
                    <a:p>
                      <a:pPr algn="l"/>
                      <a:r>
                        <a:rPr sz="1250" b="0" i="0">
                          <a:solidFill>
                            <a:srgbClr val="111B30"/>
                          </a:solidFill>
                          <a:latin typeface="Calibri"/>
                        </a:rPr>
                        <a:t>10</a:t>
                      </a:r>
                    </a:p>
                  </a:txBody>
                  <a:tcPr anchor="ctr" marL="76200" marR="76200" marT="38100" marB="38100">
                    <a:solidFill>
                      <a:srgbClr val="E8EEF7"/>
                    </a:solidFill>
                  </a:tcPr>
                </a:tc>
              </a:tr>
              <a:tr h="548639">
                <a:tc>
                  <a:txBody>
                    <a:bodyPr/>
                    <a:lstStyle/>
                    <a:p>
                      <a:pPr algn="l"/>
                      <a:r>
                        <a:rPr sz="1250" b="0" i="0">
                          <a:solidFill>
                            <a:srgbClr val="111B30"/>
                          </a:solidFill>
                          <a:latin typeface="Calibri"/>
                        </a:rPr>
                        <a:t>Fine-Grained Password Policy / PSO</a:t>
                      </a:r>
                    </a:p>
                  </a:txBody>
                  <a:tcPr anchor="ctr" marL="76200" marR="76200" marT="38100" marB="38100">
                    <a:solidFill>
                      <a:srgbClr val="FFFFFF"/>
                    </a:solidFill>
                  </a:tcPr>
                </a:tc>
                <a:tc>
                  <a:txBody>
                    <a:bodyPr/>
                    <a:lstStyle/>
                    <a:p>
                      <a:pPr algn="l"/>
                      <a:r>
                        <a:rPr sz="1250" b="0" i="0">
                          <a:solidFill>
                            <a:srgbClr val="111B30"/>
                          </a:solidFill>
                          <a:latin typeface="Calibri"/>
                        </a:rPr>
                        <a:t>10</a:t>
                      </a:r>
                    </a:p>
                  </a:txBody>
                  <a:tcPr anchor="ctr" marL="76200" marR="76200" marT="38100" marB="38100">
                    <a:solidFill>
                      <a:srgbClr val="FFFFFF"/>
                    </a:solidFill>
                  </a:tcPr>
                </a:tc>
              </a:tr>
              <a:tr h="548639">
                <a:tc>
                  <a:txBody>
                    <a:bodyPr/>
                    <a:lstStyle/>
                    <a:p>
                      <a:pPr algn="l"/>
                      <a:r>
                        <a:rPr sz="1250" b="0" i="0">
                          <a:solidFill>
                            <a:srgbClr val="111B30"/>
                          </a:solidFill>
                          <a:latin typeface="Calibri"/>
                        </a:rPr>
                        <a:t>Verification - lockout test, audit events</a:t>
                      </a:r>
                    </a:p>
                  </a:txBody>
                  <a:tcPr anchor="ctr" marL="76200" marR="76200" marT="38100" marB="38100">
                    <a:solidFill>
                      <a:srgbClr val="E8EEF7"/>
                    </a:solidFill>
                  </a:tcPr>
                </a:tc>
                <a:tc>
                  <a:txBody>
                    <a:bodyPr/>
                    <a:lstStyle/>
                    <a:p>
                      <a:pPr algn="l"/>
                      <a:r>
                        <a:rPr sz="1250" b="0" i="0">
                          <a:solidFill>
                            <a:srgbClr val="111B30"/>
                          </a:solidFill>
                          <a:latin typeface="Calibri"/>
                        </a:rPr>
                        <a:t>13</a:t>
                      </a:r>
                    </a:p>
                  </a:txBody>
                  <a:tcPr anchor="ctr" marL="76200" marR="76200" marT="38100" marB="38100">
                    <a:solidFill>
                      <a:srgbClr val="E8EEF7"/>
                    </a:solidFill>
                  </a:tcPr>
                </a:tc>
              </a:tr>
              <a:tr h="548639">
                <a:tc>
                  <a:txBody>
                    <a:bodyPr/>
                    <a:lstStyle/>
                    <a:p>
                      <a:pPr algn="l"/>
                      <a:r>
                        <a:rPr sz="1250" b="0" i="0">
                          <a:solidFill>
                            <a:srgbClr val="111B30"/>
                          </a:solidFill>
                          <a:latin typeface="Calibri"/>
                        </a:rPr>
                        <a:t>FreeRADIUS installed and authenticating against Active Directory via LDAP, scoped to NetworkAdmins</a:t>
                      </a:r>
                    </a:p>
                  </a:txBody>
                  <a:tcPr anchor="ctr" marL="76200" marR="76200" marT="38100" marB="38100">
                    <a:solidFill>
                      <a:srgbClr val="FFFFFF"/>
                    </a:solidFill>
                  </a:tcPr>
                </a:tc>
                <a:tc>
                  <a:txBody>
                    <a:bodyPr/>
                    <a:lstStyle/>
                    <a:p>
                      <a:pPr algn="l"/>
                      <a:r>
                        <a:rPr sz="1250" b="0" i="0">
                          <a:solidFill>
                            <a:srgbClr val="111B30"/>
                          </a:solidFill>
                          <a:latin typeface="Calibri"/>
                        </a:rPr>
                        <a:t>27</a:t>
                      </a:r>
                    </a:p>
                  </a:txBody>
                  <a:tcPr anchor="ctr" marL="76200" marR="76200" marT="38100" marB="38100">
                    <a:solidFill>
                      <a:srgbClr val="FFFFFF"/>
                    </a:solidFill>
                  </a:tcPr>
                </a:tc>
              </a:tr>
              <a:tr h="548647">
                <a:tc>
                  <a:txBody>
                    <a:bodyPr/>
                    <a:lstStyle/>
                    <a:p>
                      <a:pPr algn="l"/>
                      <a:r>
                        <a:rPr sz="1250" b="0" i="0">
                          <a:solidFill>
                            <a:srgbClr val="111B30"/>
                          </a:solidFill>
                          <a:latin typeface="Calibri"/>
                        </a:rPr>
                        <a:t>Total</a:t>
                      </a:r>
                    </a:p>
                  </a:txBody>
                  <a:tcPr anchor="ctr" marL="76200" marR="76200" marT="38100" marB="38100">
                    <a:solidFill>
                      <a:srgbClr val="E8EEF7"/>
                    </a:solidFill>
                  </a:tcPr>
                </a:tc>
                <a:tc>
                  <a:txBody>
                    <a:bodyPr/>
                    <a:lstStyle/>
                    <a:p>
                      <a:pPr algn="l"/>
                      <a:r>
                        <a:rPr sz="1250" b="0" i="0">
                          <a:solidFill>
                            <a:srgbClr val="111B30"/>
                          </a:solidFill>
                          <a:latin typeface="Calibri"/>
                        </a:rPr>
                        <a:t>100</a:t>
                      </a:r>
                    </a:p>
                  </a:txBody>
                  <a:tcPr anchor="ctr" marL="76200" marR="76200" marT="38100" marB="38100">
                    <a:solidFill>
                      <a:srgbClr val="E8EEF7"/>
                    </a:solidFill>
                  </a:tcPr>
                </a:tc>
              </a:tr>
            </a:tbl>
          </a:graphicData>
        </a:graphic>
      </p:graphicFrame>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11535" cy="777240"/>
          </a:xfrm>
          <a:prstGeom prst="rect">
            <a:avLst/>
          </a:prstGeom>
          <a:noFill/>
        </p:spPr>
        <p:txBody>
          <a:bodyPr wrap="square" lIns="0" tIns="0">
            <a:spAutoFit/>
          </a:bodyPr>
          <a:lstStyle/>
          <a:p>
            <a:pPr algn="l"/>
            <a:r>
              <a:rPr sz="2900" b="1" i="0">
                <a:solidFill>
                  <a:srgbClr val="1B2A4A"/>
                </a:solidFill>
                <a:latin typeface="Cambria"/>
              </a:rPr>
              <a:t>Recap &amp; Q&amp;A</a:t>
            </a:r>
          </a:p>
        </p:txBody>
      </p:sp>
      <p:sp>
        <p:nvSpPr>
          <p:cNvPr id="3" name="TextBox 2"/>
          <p:cNvSpPr txBox="1"/>
          <p:nvPr/>
        </p:nvSpPr>
        <p:spPr>
          <a:xfrm>
            <a:off x="685800" y="1554480"/>
            <a:ext cx="10820095" cy="3566159"/>
          </a:xfrm>
          <a:prstGeom prst="rect">
            <a:avLst/>
          </a:prstGeom>
          <a:noFill/>
        </p:spPr>
        <p:txBody>
          <a:bodyPr wrap="square" lIns="0" tIns="0">
            <a:spAutoFit/>
          </a:bodyPr>
          <a:lstStyle/>
          <a:p>
            <a:pPr algn="l">
              <a:spcAft>
                <a:spcPts val="800"/>
              </a:spcAft>
            </a:pPr>
            <a:r>
              <a:rPr sz="1450" b="0" i="0">
                <a:solidFill>
                  <a:srgbClr val="111B30"/>
                </a:solidFill>
                <a:latin typeface="Calibri"/>
              </a:rPr>
              <a:t>●   This week's take-home exercise: an inactive-account audit script and LDAP filter practice</a:t>
            </a:r>
          </a:p>
          <a:p>
            <a:pPr algn="l">
              <a:spcAft>
                <a:spcPts val="800"/>
              </a:spcAft>
            </a:pPr>
            <a:r>
              <a:rPr sz="1450" b="0" i="0">
                <a:solidFill>
                  <a:srgbClr val="111B30"/>
                </a:solidFill>
                <a:latin typeface="Calibri"/>
              </a:rPr>
              <a:t>●   Run the provided audit script against a live AD environment and interpret the CSV's Reason column (30 pts)</a:t>
            </a:r>
          </a:p>
          <a:p>
            <a:pPr algn="l">
              <a:spcAft>
                <a:spcPts val="800"/>
              </a:spcAft>
            </a:pPr>
            <a:r>
              <a:rPr sz="1450" b="0" i="0">
                <a:solidFill>
                  <a:srgbClr val="111B30"/>
                </a:solidFill>
                <a:latin typeface="Calibri"/>
              </a:rPr>
              <a:t>●   Manually remediate every flagged account - disable, set a Description, move to a quarantine OU, log every action (45 pts)</a:t>
            </a:r>
          </a:p>
          <a:p>
            <a:pPr algn="l">
              <a:spcAft>
                <a:spcPts val="800"/>
              </a:spcAft>
            </a:pPr>
            <a:r>
              <a:rPr sz="1450" b="0" i="0">
                <a:solidFill>
                  <a:srgbClr val="111B30"/>
                </a:solidFill>
                <a:latin typeface="Calibri"/>
              </a:rPr>
              <a:t>●   Write LDAP filters against the sample directory tree from earlier this section (25 pts)</a:t>
            </a:r>
          </a:p>
        </p:txBody>
      </p:sp>
      <p:sp>
        <p:nvSpPr>
          <p:cNvPr id="4" name="Rounded Rectangle 3"/>
          <p:cNvSpPr/>
          <p:nvPr/>
        </p:nvSpPr>
        <p:spPr>
          <a:xfrm>
            <a:off x="914400" y="5349240"/>
            <a:ext cx="914400" cy="914400"/>
          </a:xfrm>
          <a:prstGeom prst="roundRect">
            <a:avLst/>
          </a:prstGeom>
          <a:solidFill>
            <a:srgbClr val="00B4D8"/>
          </a:solidFill>
          <a:ln w="1587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3600" b="1" i="0">
                <a:solidFill>
                  <a:srgbClr val="1B2A4A"/>
                </a:solidFill>
                <a:latin typeface="Calibri"/>
              </a:rPr>
              <a:t>?</a:t>
            </a:r>
          </a:p>
        </p:txBody>
      </p:sp>
      <p:sp>
        <p:nvSpPr>
          <p:cNvPr id="5" name="TextBox 4"/>
          <p:cNvSpPr txBox="1"/>
          <p:nvPr/>
        </p:nvSpPr>
        <p:spPr>
          <a:xfrm>
            <a:off x="2103120" y="5349240"/>
            <a:ext cx="8229600" cy="914400"/>
          </a:xfrm>
          <a:prstGeom prst="rect">
            <a:avLst/>
          </a:prstGeom>
          <a:noFill/>
        </p:spPr>
        <p:txBody>
          <a:bodyPr wrap="square" anchor="ctr">
            <a:spAutoFit/>
          </a:bodyPr>
          <a:lstStyle/>
          <a:p>
            <a:r>
              <a:rPr sz="1400" b="0" i="0">
                <a:solidFill>
                  <a:srgbClr val="3D5A80"/>
                </a:solidFill>
                <a:latin typeface="Calibri"/>
              </a:rPr>
              <a:t>Questions? sebastian.hayes@byu.edu · CYBER 444 Discord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