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305" r:id="rId3"/>
    <p:sldId id="271" r:id="rId4"/>
    <p:sldId id="260" r:id="rId5"/>
    <p:sldId id="259" r:id="rId6"/>
    <p:sldId id="306" r:id="rId7"/>
    <p:sldId id="267" r:id="rId8"/>
    <p:sldId id="257" r:id="rId9"/>
    <p:sldId id="264" r:id="rId10"/>
    <p:sldId id="265" r:id="rId11"/>
    <p:sldId id="268" r:id="rId12"/>
    <p:sldId id="273" r:id="rId13"/>
    <p:sldId id="276" r:id="rId14"/>
    <p:sldId id="277" r:id="rId15"/>
    <p:sldId id="278" r:id="rId16"/>
    <p:sldId id="279" r:id="rId17"/>
    <p:sldId id="282" r:id="rId18"/>
    <p:sldId id="283" r:id="rId19"/>
    <p:sldId id="28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0338" autoAdjust="0"/>
  </p:normalViewPr>
  <p:slideViewPr>
    <p:cSldViewPr snapToGrid="0" snapToObjects="1">
      <p:cViewPr varScale="1">
        <p:scale>
          <a:sx n="93" d="100"/>
          <a:sy n="93" d="100"/>
        </p:scale>
        <p:origin x="66"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7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the lifecycle twice: first for a routine security fix, then for an actively exploited issue. NIST describes identifying, prioritizing, acquiring, installing, and verifying. This teaching sequence also includes change authorization and recovery. Ask where an unpatched exception enters and how it expires.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test checklist with the class: package installed, process restarted or host rebooted, application endpoint healthy, authentication path working, logs acceptable, dependencies connected, monitoring quiet, and vulnerability absent in a post-change check. Discuss failure thresholds and who can stop the rollout. Use a small synthetic transaction rather than a vague “looks good.”
Citations:
- NIST SP 800-40 Rev. 4, https://csrc.nist.gov/pubs/sp/800/40/r4/final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three-replica Deployment as the example. Explain `maxSurge: 1` permits one extra Pod above the desired replica count and `maxUnavailable: 0` aims to keep the desired number available during the update. A readiness probe and Service routing are essential to meaningful availability. Demonstrate `kubectl rollout status deployment/payments` and `kubectl rollout undo deployment/payments`. A Deployment rollout replaces application Pods; it does not patch Kubernetes node operating systems. Avoid promising zero downtime without considering startup, shutdown, capacity, and app compatibility.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target scope and similar scan configuration before and after patching. Compare CVEs and severity, then confirm application health and running versions. A scan finding may persist because of a false positive, a backport detection gap, a failed restart, or an incomplete patch. Require evidence before closing the ticket. In the course lab the scanner itself retains the pre- and post-patch reports.
Citations:
- NIST SP 800-40 Rev. 4, https://csrc.nist.gov/pubs/sp/800/40/r4/final
- /opt/byu-cyber-444.github.io/labs/copies/lab-07.md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rollback options: package downgrade or transaction undo; previous container image; traffic shift; known-good system image; restore of data or configuration. Each has a different recovery time and data risk. A database schema change may make application rollback nontrivial. In the current lab, snapshot restore is forbidden by grading rules, so present it only as a production design concept and not an action for students to take there.
Citations:
- NIST SP 800-40 Rev. 4, https://csrc.nist.gov/pubs/sp/800/40/r4/final
- /opt/byu-cyber-444.github.io/labs/copies/lab-07.md
- Kubernetes rolling update tutorial, https://kubernetes.io/docs/tutorials/kubernetes-basics/update/update-intro/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_W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txBody>
          <a:bodyPr/>
          <a:lstStyle/>
          <a:p>
            <a:endParaRPr lang="en-US"/>
          </a:p>
        </p:txBody>
      </p:sp>
      <p:sp>
        <p:nvSpPr>
          <p:cNvPr id="3" name="Text 1"/>
          <p:cNvSpPr/>
          <p:nvPr/>
        </p:nvSpPr>
        <p:spPr>
          <a:xfrm>
            <a:off x="411480" y="6565392"/>
            <a:ext cx="548640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CYBER 444  ·  PATCH / CHANGE / VERIFY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97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BACC6"/>
          </a:solidFill>
          <a:ln w="12700">
            <a:solidFill>
              <a:srgbClr val="4BACC6"/>
            </a:solidFill>
            <a:prstDash val="solid"/>
          </a:ln>
        </p:spPr>
        <p:txBody>
          <a:bodyPr/>
          <a:lstStyle/>
          <a:p>
            <a:endParaRPr lang="en-US"/>
          </a:p>
        </p:txBody>
      </p:sp>
      <p:sp>
        <p:nvSpPr>
          <p:cNvPr id="3" name="Text 1"/>
          <p:cNvSpPr txBox="1"/>
          <p:nvPr/>
        </p:nvSpPr>
        <p:spPr>
          <a:xfrm>
            <a:off x="621792" y="566928"/>
            <a:ext cx="2286000" cy="256032"/>
          </a:xfrm>
          <a:prstGeom prst="rect">
            <a:avLst/>
          </a:prstGeom>
          <a:noFill/>
          <a:ln/>
        </p:spPr>
        <p:txBody>
          <a:bodyPr wrap="square" lIns="508" tIns="508" rIns="508" bIns="508" rtlCol="0" anchor="ctr">
            <a:normAutofit/>
          </a:bodyPr>
          <a:lstStyle/>
          <a:p>
            <a:pPr marL="0" indent="0" algn="l">
              <a:buNone/>
            </a:pPr>
            <a:r>
              <a:rPr lang="en-US" sz="1400" b="1" kern="0" spc="200" dirty="0">
                <a:solidFill>
                  <a:srgbClr val="BFE4EE"/>
                </a:solidFill>
                <a:latin typeface="Calibri" pitchFamily="34" charset="0"/>
                <a:ea typeface="Calibri" pitchFamily="34" charset="-122"/>
                <a:cs typeface="Calibri" pitchFamily="34" charset="-120"/>
              </a:rPr>
              <a:t>WEEK 7</a:t>
            </a:r>
            <a:endParaRPr lang="en-US" sz="1400" dirty="0"/>
          </a:p>
        </p:txBody>
      </p:sp>
      <p:sp>
        <p:nvSpPr>
          <p:cNvPr id="4" name="Text 2"/>
          <p:cNvSpPr txBox="1"/>
          <p:nvPr/>
        </p:nvSpPr>
        <p:spPr>
          <a:xfrm>
            <a:off x="621792" y="1179576"/>
            <a:ext cx="10698480" cy="822960"/>
          </a:xfrm>
          <a:prstGeom prst="rect">
            <a:avLst/>
          </a:prstGeom>
          <a:noFill/>
          <a:ln/>
        </p:spPr>
        <p:txBody>
          <a:bodyPr wrap="square" lIns="508" tIns="508" rIns="508" bIns="508" rtlCol="0" anchor="ctr">
            <a:normAutofit/>
          </a:bodyPr>
          <a:lstStyle/>
          <a:p>
            <a:pPr marL="0" indent="0" algn="l">
              <a:buNone/>
            </a:pPr>
            <a:r>
              <a:rPr lang="en-US" sz="3300" b="1" dirty="0">
                <a:solidFill>
                  <a:srgbClr val="FFFFFF"/>
                </a:solidFill>
                <a:latin typeface="Calibri" pitchFamily="34" charset="0"/>
                <a:ea typeface="Calibri" pitchFamily="34" charset="-122"/>
                <a:cs typeface="Calibri" pitchFamily="34" charset="-120"/>
              </a:rPr>
              <a:t>Patch Management and Change Enablement</a:t>
            </a:r>
            <a:endParaRPr lang="en-US" sz="3300" dirty="0"/>
          </a:p>
        </p:txBody>
      </p:sp>
      <p:sp>
        <p:nvSpPr>
          <p:cNvPr id="5" name="Text 3"/>
          <p:cNvSpPr txBox="1"/>
          <p:nvPr/>
        </p:nvSpPr>
        <p:spPr>
          <a:xfrm>
            <a:off x="658368" y="2176272"/>
            <a:ext cx="9601200" cy="365760"/>
          </a:xfrm>
          <a:prstGeom prst="rect">
            <a:avLst/>
          </a:prstGeom>
          <a:noFill/>
          <a:ln/>
        </p:spPr>
        <p:txBody>
          <a:bodyPr wrap="square" lIns="508" tIns="508" rIns="508" bIns="508" rtlCol="0" anchor="ctr">
            <a:normAutofit/>
          </a:bodyPr>
          <a:lstStyle/>
          <a:p>
            <a:pPr marL="0" indent="0" algn="l">
              <a:buNone/>
            </a:pPr>
            <a:r>
              <a:rPr lang="en-US" sz="1800" dirty="0">
                <a:solidFill>
                  <a:srgbClr val="DCEAF5"/>
                </a:solidFill>
                <a:latin typeface="Calibri" pitchFamily="34" charset="0"/>
                <a:ea typeface="Calibri" pitchFamily="34" charset="-122"/>
                <a:cs typeface="Calibri" pitchFamily="34" charset="-120"/>
              </a:rPr>
              <a:t>Prioritize · deploy · verify · recover · review</a:t>
            </a:r>
            <a:endParaRPr lang="en-US" sz="1800" dirty="0"/>
          </a:p>
        </p:txBody>
      </p:sp>
      <p:sp>
        <p:nvSpPr>
          <p:cNvPr id="6" name="Shape 4"/>
          <p:cNvSpPr/>
          <p:nvPr/>
        </p:nvSpPr>
        <p:spPr>
          <a:xfrm>
            <a:off x="658368" y="2834640"/>
            <a:ext cx="3776472" cy="0"/>
          </a:xfrm>
          <a:prstGeom prst="line">
            <a:avLst/>
          </a:prstGeom>
          <a:noFill/>
          <a:ln w="38100">
            <a:solidFill>
              <a:srgbClr val="4BACC6"/>
            </a:solidFill>
            <a:prstDash val="solid"/>
            <a:tailEnd type="none"/>
          </a:ln>
        </p:spPr>
        <p:txBody>
          <a:bodyPr/>
          <a:lstStyle/>
          <a:p>
            <a:endParaRPr lang="en-US"/>
          </a:p>
        </p:txBody>
      </p:sp>
      <p:sp>
        <p:nvSpPr>
          <p:cNvPr id="7" name="Text 5"/>
          <p:cNvSpPr txBox="1"/>
          <p:nvPr/>
        </p:nvSpPr>
        <p:spPr>
          <a:xfrm>
            <a:off x="658368" y="5349240"/>
            <a:ext cx="5669280" cy="256032"/>
          </a:xfrm>
          <a:prstGeom prst="rect">
            <a:avLst/>
          </a:prstGeom>
          <a:noFill/>
          <a:ln/>
        </p:spPr>
        <p:txBody>
          <a:bodyPr wrap="square" lIns="508" tIns="508" rIns="508" bIns="508" rtlCol="0" anchor="ctr">
            <a:normAutofit/>
          </a:bodyPr>
          <a:lstStyle/>
          <a:p>
            <a:pPr marL="0" indent="0" algn="l">
              <a:buNone/>
            </a:pPr>
            <a:r>
              <a:rPr lang="en-US" sz="1300" dirty="0">
                <a:solidFill>
                  <a:srgbClr val="DCEAF5"/>
                </a:solidFill>
                <a:latin typeface="Calibri" pitchFamily="34" charset="0"/>
                <a:ea typeface="Calibri" pitchFamily="34" charset="-122"/>
                <a:cs typeface="Calibri" pitchFamily="34" charset="-120"/>
              </a:rPr>
              <a:t>CYBER 444  ·  Systems &amp; Network Administration</a:t>
            </a:r>
            <a:endParaRPr lang="en-US" sz="1300" dirty="0"/>
          </a:p>
        </p:txBody>
      </p:sp>
      <p:sp>
        <p:nvSpPr>
          <p:cNvPr id="8" name="Text 6"/>
          <p:cNvSpPr txBox="1"/>
          <p:nvPr/>
        </p:nvSpPr>
        <p:spPr>
          <a:xfrm>
            <a:off x="658368" y="5669280"/>
            <a:ext cx="4572000" cy="228600"/>
          </a:xfrm>
          <a:prstGeom prst="rect">
            <a:avLst/>
          </a:prstGeom>
          <a:noFill/>
          <a:ln/>
        </p:spPr>
        <p:txBody>
          <a:bodyPr wrap="square" lIns="508" tIns="508" rIns="508" bIns="508" rtlCol="0" anchor="ctr">
            <a:normAutofit/>
          </a:bodyPr>
          <a:lstStyle/>
          <a:p>
            <a:pPr marL="0" indent="0" algn="l">
              <a:buNone/>
            </a:pPr>
            <a:r>
              <a:rPr lang="en-US" sz="1200" dirty="0">
                <a:solidFill>
                  <a:srgbClr val="BFE4EE"/>
                </a:solidFill>
                <a:latin typeface="Calibri" pitchFamily="34" charset="0"/>
                <a:ea typeface="Calibri" pitchFamily="34" charset="-122"/>
                <a:cs typeface="Calibri" pitchFamily="34" charset="-120"/>
              </a:rPr>
              <a:t>Fall 2026</a:t>
            </a:r>
            <a:endParaRPr lang="en-US" sz="1200" dirty="0"/>
          </a:p>
        </p:txBody>
      </p:sp>
      <p:sp>
        <p:nvSpPr>
          <p:cNvPr id="9" name="Shape 7"/>
          <p:cNvSpPr/>
          <p:nvPr/>
        </p:nvSpPr>
        <p:spPr>
          <a:xfrm>
            <a:off x="7772400" y="3703320"/>
            <a:ext cx="475488" cy="475488"/>
          </a:xfrm>
          <a:prstGeom prst="ellipse">
            <a:avLst/>
          </a:prstGeom>
          <a:solidFill>
            <a:srgbClr val="C0504D"/>
          </a:solidFill>
          <a:ln w="12700">
            <a:solidFill>
              <a:srgbClr val="C0504D"/>
            </a:solidFill>
            <a:prstDash val="solid"/>
          </a:ln>
        </p:spPr>
        <p:txBody>
          <a:bodyPr/>
          <a:lstStyle/>
          <a:p>
            <a:endParaRPr lang="en-US"/>
          </a:p>
        </p:txBody>
      </p:sp>
      <p:sp>
        <p:nvSpPr>
          <p:cNvPr id="10" name="Shape 8"/>
          <p:cNvSpPr/>
          <p:nvPr/>
        </p:nvSpPr>
        <p:spPr>
          <a:xfrm>
            <a:off x="8558784" y="3447288"/>
            <a:ext cx="475488" cy="475488"/>
          </a:xfrm>
          <a:prstGeom prst="ellipse">
            <a:avLst/>
          </a:prstGeom>
          <a:solidFill>
            <a:srgbClr val="F79646"/>
          </a:solidFill>
          <a:ln w="12700">
            <a:solidFill>
              <a:srgbClr val="F79646"/>
            </a:solidFill>
            <a:prstDash val="solid"/>
          </a:ln>
        </p:spPr>
        <p:txBody>
          <a:bodyPr/>
          <a:lstStyle/>
          <a:p>
            <a:endParaRPr lang="en-US"/>
          </a:p>
        </p:txBody>
      </p:sp>
      <p:sp>
        <p:nvSpPr>
          <p:cNvPr id="11" name="Shape 9"/>
          <p:cNvSpPr/>
          <p:nvPr/>
        </p:nvSpPr>
        <p:spPr>
          <a:xfrm>
            <a:off x="9345168" y="3703320"/>
            <a:ext cx="475488" cy="475488"/>
          </a:xfrm>
          <a:prstGeom prst="ellipse">
            <a:avLst/>
          </a:prstGeom>
          <a:solidFill>
            <a:srgbClr val="4BACC6"/>
          </a:solidFill>
          <a:ln w="12700">
            <a:solidFill>
              <a:srgbClr val="4BACC6"/>
            </a:solidFill>
            <a:prstDash val="solid"/>
          </a:ln>
        </p:spPr>
        <p:txBody>
          <a:bodyPr/>
          <a:lstStyle/>
          <a:p>
            <a:endParaRPr lang="en-US"/>
          </a:p>
        </p:txBody>
      </p:sp>
      <p:sp>
        <p:nvSpPr>
          <p:cNvPr id="12" name="Shape 10"/>
          <p:cNvSpPr/>
          <p:nvPr/>
        </p:nvSpPr>
        <p:spPr>
          <a:xfrm>
            <a:off x="10131552" y="3447288"/>
            <a:ext cx="475488" cy="475488"/>
          </a:xfrm>
          <a:prstGeom prst="ellipse">
            <a:avLst/>
          </a:prstGeom>
          <a:solidFill>
            <a:srgbClr val="70AD47"/>
          </a:solidFill>
          <a:ln w="12700">
            <a:solidFill>
              <a:srgbClr val="70AD47"/>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FECF63-7EC0-4B05-1585-C37844DC2603}"/>
              </a:ext>
            </a:extLst>
          </p:cNvPr>
          <p:cNvPicPr>
            <a:picLocks noChangeAspect="1"/>
          </p:cNvPicPr>
          <p:nvPr/>
        </p:nvPicPr>
        <p:blipFill>
          <a:blip r:embed="rId2"/>
          <a:stretch>
            <a:fillRect/>
          </a:stretch>
        </p:blipFill>
        <p:spPr>
          <a:xfrm>
            <a:off x="2285132" y="380305"/>
            <a:ext cx="7621736" cy="6097389"/>
          </a:xfrm>
          <a:prstGeom prst="rect">
            <a:avLst/>
          </a:prstGeom>
        </p:spPr>
      </p:pic>
    </p:spTree>
    <p:extLst>
      <p:ext uri="{BB962C8B-B14F-4D97-AF65-F5344CB8AC3E}">
        <p14:creationId xmlns:p14="http://schemas.microsoft.com/office/powerpoint/2010/main" val="55302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BEFORE THE CHANGE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Capture a baseline before touching packages</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You need a way to explain what changed and what to restore.</a:t>
            </a:r>
            <a:endParaRPr lang="en-US" sz="1300" dirty="0"/>
          </a:p>
        </p:txBody>
      </p:sp>
      <p:sp>
        <p:nvSpPr>
          <p:cNvPr id="6" name="Shape 3"/>
          <p:cNvSpPr/>
          <p:nvPr/>
        </p:nvSpPr>
        <p:spPr>
          <a:xfrm>
            <a:off x="658368" y="1828800"/>
            <a:ext cx="2567864"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28800"/>
            <a:ext cx="2567864"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88366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VERSION</a:t>
            </a:r>
            <a:endParaRPr lang="en-US" sz="1150" dirty="0"/>
          </a:p>
        </p:txBody>
      </p:sp>
      <p:sp>
        <p:nvSpPr>
          <p:cNvPr id="9" name="Text 6"/>
          <p:cNvSpPr txBox="1"/>
          <p:nvPr/>
        </p:nvSpPr>
        <p:spPr>
          <a:xfrm>
            <a:off x="795528" y="2322576"/>
            <a:ext cx="2293544" cy="17830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packages + running kernel</a:t>
            </a:r>
            <a:endParaRPr lang="en-US" sz="1400" dirty="0"/>
          </a:p>
        </p:txBody>
      </p:sp>
      <p:sp>
        <p:nvSpPr>
          <p:cNvPr id="10" name="Shape 7"/>
          <p:cNvSpPr/>
          <p:nvPr/>
        </p:nvSpPr>
        <p:spPr>
          <a:xfrm>
            <a:off x="3427400" y="1828800"/>
            <a:ext cx="2567864"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3427400" y="1828800"/>
            <a:ext cx="256786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3518840" y="188366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HEALTH</a:t>
            </a:r>
            <a:endParaRPr lang="en-US" sz="1150" dirty="0"/>
          </a:p>
        </p:txBody>
      </p:sp>
      <p:sp>
        <p:nvSpPr>
          <p:cNvPr id="13" name="Text 10"/>
          <p:cNvSpPr txBox="1"/>
          <p:nvPr/>
        </p:nvSpPr>
        <p:spPr>
          <a:xfrm>
            <a:off x="3564560" y="2322576"/>
            <a:ext cx="2293544" cy="17830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service checks + error rate</a:t>
            </a:r>
            <a:endParaRPr lang="en-US" sz="1400" dirty="0"/>
          </a:p>
        </p:txBody>
      </p:sp>
      <p:sp>
        <p:nvSpPr>
          <p:cNvPr id="14" name="Shape 11"/>
          <p:cNvSpPr/>
          <p:nvPr/>
        </p:nvSpPr>
        <p:spPr>
          <a:xfrm>
            <a:off x="6196432" y="1828800"/>
            <a:ext cx="2567864"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6196432" y="1828800"/>
            <a:ext cx="256786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6287872" y="188366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SECURITY</a:t>
            </a:r>
            <a:endParaRPr lang="en-US" sz="1150" dirty="0"/>
          </a:p>
        </p:txBody>
      </p:sp>
      <p:sp>
        <p:nvSpPr>
          <p:cNvPr id="17" name="Text 14"/>
          <p:cNvSpPr txBox="1"/>
          <p:nvPr/>
        </p:nvSpPr>
        <p:spPr>
          <a:xfrm>
            <a:off x="6333592" y="2322576"/>
            <a:ext cx="2293544" cy="17830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scan + baseline</a:t>
            </a:r>
            <a:endParaRPr lang="en-US" sz="1400" dirty="0"/>
          </a:p>
        </p:txBody>
      </p:sp>
      <p:sp>
        <p:nvSpPr>
          <p:cNvPr id="18" name="Shape 15"/>
          <p:cNvSpPr/>
          <p:nvPr/>
        </p:nvSpPr>
        <p:spPr>
          <a:xfrm>
            <a:off x="8965463" y="1828800"/>
            <a:ext cx="2567864"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9" name="Shape 16"/>
          <p:cNvSpPr/>
          <p:nvPr/>
        </p:nvSpPr>
        <p:spPr>
          <a:xfrm>
            <a:off x="8965463" y="1828800"/>
            <a:ext cx="2567864"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0" name="Text 17"/>
          <p:cNvSpPr txBox="1"/>
          <p:nvPr/>
        </p:nvSpPr>
        <p:spPr>
          <a:xfrm>
            <a:off x="9056903" y="188366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RECOVERY</a:t>
            </a:r>
            <a:endParaRPr lang="en-US" sz="1150" dirty="0"/>
          </a:p>
        </p:txBody>
      </p:sp>
      <p:sp>
        <p:nvSpPr>
          <p:cNvPr id="21" name="Text 18"/>
          <p:cNvSpPr txBox="1"/>
          <p:nvPr/>
        </p:nvSpPr>
        <p:spPr>
          <a:xfrm>
            <a:off x="9102623" y="2322576"/>
            <a:ext cx="2293544" cy="17830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backup and rollback decision</a:t>
            </a:r>
            <a:endParaRPr lang="en-US" sz="1400" dirty="0"/>
          </a:p>
        </p:txBody>
      </p:sp>
      <p:sp>
        <p:nvSpPr>
          <p:cNvPr id="22" name="Shape 19"/>
          <p:cNvSpPr/>
          <p:nvPr/>
        </p:nvSpPr>
        <p:spPr>
          <a:xfrm>
            <a:off x="960120" y="4617720"/>
            <a:ext cx="10195560" cy="786384"/>
          </a:xfrm>
          <a:prstGeom prst="roundRect">
            <a:avLst>
              <a:gd name="adj" fmla="val 9302"/>
            </a:avLst>
          </a:prstGeom>
          <a:solidFill>
            <a:srgbClr val="FFFFFF"/>
          </a:solidFill>
          <a:ln w="12700">
            <a:solidFill>
              <a:srgbClr val="C0504D"/>
            </a:solidFill>
            <a:prstDash val="solid"/>
          </a:ln>
        </p:spPr>
        <p:txBody>
          <a:bodyPr/>
          <a:lstStyle/>
          <a:p>
            <a:endParaRPr lang="en-US"/>
          </a:p>
        </p:txBody>
      </p:sp>
      <p:sp>
        <p:nvSpPr>
          <p:cNvPr id="23" name="Shape 20"/>
          <p:cNvSpPr/>
          <p:nvPr/>
        </p:nvSpPr>
        <p:spPr>
          <a:xfrm>
            <a:off x="960120" y="4617720"/>
            <a:ext cx="91440" cy="786384"/>
          </a:xfrm>
          <a:prstGeom prst="rect">
            <a:avLst/>
          </a:prstGeom>
          <a:solidFill>
            <a:srgbClr val="C0504D"/>
          </a:solidFill>
          <a:ln w="12700">
            <a:solidFill>
              <a:srgbClr val="C0504D"/>
            </a:solidFill>
            <a:prstDash val="solid"/>
          </a:ln>
        </p:spPr>
        <p:txBody>
          <a:bodyPr/>
          <a:lstStyle/>
          <a:p>
            <a:endParaRPr lang="en-US"/>
          </a:p>
        </p:txBody>
      </p:sp>
      <p:sp>
        <p:nvSpPr>
          <p:cNvPr id="24" name="Text 21"/>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C0504D"/>
                </a:solidFill>
                <a:latin typeface="Calibri" pitchFamily="34" charset="0"/>
                <a:ea typeface="Calibri" pitchFamily="34" charset="-122"/>
                <a:cs typeface="Calibri" pitchFamily="34" charset="-120"/>
              </a:rPr>
              <a:t>Preflight question</a:t>
            </a:r>
            <a:endParaRPr lang="en-US" sz="1350" dirty="0"/>
          </a:p>
        </p:txBody>
      </p:sp>
      <p:sp>
        <p:nvSpPr>
          <p:cNvPr id="25" name="Text 22"/>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What observation would tell you the change made the service worse?</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INVENTORY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You cannot patch what you cannot locate</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Know the asset, owner, software version, exposure, and dependency.</a:t>
            </a:r>
            <a:endParaRPr lang="en-US" sz="1300" dirty="0"/>
          </a:p>
        </p:txBody>
      </p:sp>
      <p:sp>
        <p:nvSpPr>
          <p:cNvPr id="6" name="Shape 3"/>
          <p:cNvSpPr/>
          <p:nvPr/>
        </p:nvSpPr>
        <p:spPr>
          <a:xfrm>
            <a:off x="640080" y="1920240"/>
            <a:ext cx="257700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20240"/>
            <a:ext cx="2577008"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1975104"/>
            <a:ext cx="239412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ASSET</a:t>
            </a:r>
            <a:endParaRPr lang="en-US" sz="1150" dirty="0"/>
          </a:p>
        </p:txBody>
      </p:sp>
      <p:sp>
        <p:nvSpPr>
          <p:cNvPr id="9" name="Text 6"/>
          <p:cNvSpPr txBox="1"/>
          <p:nvPr/>
        </p:nvSpPr>
        <p:spPr>
          <a:xfrm>
            <a:off x="777240" y="2414016"/>
            <a:ext cx="230268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What runs?</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Which version?</a:t>
            </a:r>
            <a:endParaRPr lang="en-US" sz="1400" dirty="0"/>
          </a:p>
        </p:txBody>
      </p:sp>
      <p:sp>
        <p:nvSpPr>
          <p:cNvPr id="10" name="Shape 7"/>
          <p:cNvSpPr/>
          <p:nvPr/>
        </p:nvSpPr>
        <p:spPr>
          <a:xfrm>
            <a:off x="3418256" y="1920240"/>
            <a:ext cx="257700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3418256" y="1920240"/>
            <a:ext cx="2577008"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3509696" y="1975104"/>
            <a:ext cx="239412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3" name="Text 10"/>
          <p:cNvSpPr txBox="1"/>
          <p:nvPr/>
        </p:nvSpPr>
        <p:spPr>
          <a:xfrm>
            <a:off x="3555416" y="2414016"/>
            <a:ext cx="230268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Who accepts risk?</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Who deploys?</a:t>
            </a:r>
            <a:endParaRPr lang="en-US" sz="1400" dirty="0"/>
          </a:p>
        </p:txBody>
      </p:sp>
      <p:sp>
        <p:nvSpPr>
          <p:cNvPr id="14" name="Shape 11"/>
          <p:cNvSpPr/>
          <p:nvPr/>
        </p:nvSpPr>
        <p:spPr>
          <a:xfrm>
            <a:off x="6196432" y="1920240"/>
            <a:ext cx="257700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6196432" y="1920240"/>
            <a:ext cx="2577008"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6287872" y="1975104"/>
            <a:ext cx="239412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EXPOSURE</a:t>
            </a:r>
            <a:endParaRPr lang="en-US" sz="1150" dirty="0"/>
          </a:p>
        </p:txBody>
      </p:sp>
      <p:sp>
        <p:nvSpPr>
          <p:cNvPr id="17" name="Text 14"/>
          <p:cNvSpPr txBox="1"/>
          <p:nvPr/>
        </p:nvSpPr>
        <p:spPr>
          <a:xfrm>
            <a:off x="6333592" y="2414016"/>
            <a:ext cx="230268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Internet?</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CDE?</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Privilege?</a:t>
            </a:r>
            <a:endParaRPr lang="en-US" sz="1400" dirty="0"/>
          </a:p>
        </p:txBody>
      </p:sp>
      <p:sp>
        <p:nvSpPr>
          <p:cNvPr id="18" name="Shape 15"/>
          <p:cNvSpPr/>
          <p:nvPr/>
        </p:nvSpPr>
        <p:spPr>
          <a:xfrm>
            <a:off x="8974607" y="1920240"/>
            <a:ext cx="257700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9" name="Shape 16"/>
          <p:cNvSpPr/>
          <p:nvPr/>
        </p:nvSpPr>
        <p:spPr>
          <a:xfrm>
            <a:off x="8974607" y="1920240"/>
            <a:ext cx="2577008"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0" name="Text 17"/>
          <p:cNvSpPr txBox="1"/>
          <p:nvPr/>
        </p:nvSpPr>
        <p:spPr>
          <a:xfrm>
            <a:off x="9066047" y="1975104"/>
            <a:ext cx="239412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DEPENDENCY</a:t>
            </a:r>
            <a:endParaRPr lang="en-US" sz="1150" dirty="0"/>
          </a:p>
        </p:txBody>
      </p:sp>
      <p:sp>
        <p:nvSpPr>
          <p:cNvPr id="21" name="Text 18"/>
          <p:cNvSpPr txBox="1"/>
          <p:nvPr/>
        </p:nvSpPr>
        <p:spPr>
          <a:xfrm>
            <a:off x="9111767" y="2414016"/>
            <a:ext cx="230268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What breaks if it restarts?</a:t>
            </a:r>
            <a:endParaRPr lang="en-US" sz="1400" dirty="0"/>
          </a:p>
        </p:txBody>
      </p:sp>
      <p:sp>
        <p:nvSpPr>
          <p:cNvPr id="22" name="Shape 19"/>
          <p:cNvSpPr/>
          <p:nvPr/>
        </p:nvSpPr>
        <p:spPr>
          <a:xfrm>
            <a:off x="960120" y="4754880"/>
            <a:ext cx="10195560" cy="667512"/>
          </a:xfrm>
          <a:prstGeom prst="roundRect">
            <a:avLst>
              <a:gd name="adj" fmla="val 10959"/>
            </a:avLst>
          </a:prstGeom>
          <a:solidFill>
            <a:srgbClr val="FFFFFF"/>
          </a:solidFill>
          <a:ln w="12700">
            <a:solidFill>
              <a:srgbClr val="1F497D"/>
            </a:solidFill>
            <a:prstDash val="solid"/>
          </a:ln>
        </p:spPr>
        <p:txBody>
          <a:bodyPr/>
          <a:lstStyle/>
          <a:p>
            <a:endParaRPr lang="en-US"/>
          </a:p>
        </p:txBody>
      </p:sp>
      <p:sp>
        <p:nvSpPr>
          <p:cNvPr id="23" name="Shape 20"/>
          <p:cNvSpPr/>
          <p:nvPr/>
        </p:nvSpPr>
        <p:spPr>
          <a:xfrm>
            <a:off x="960120" y="4754880"/>
            <a:ext cx="91440" cy="667512"/>
          </a:xfrm>
          <a:prstGeom prst="rect">
            <a:avLst/>
          </a:prstGeom>
          <a:solidFill>
            <a:srgbClr val="1F497D"/>
          </a:solidFill>
          <a:ln w="12700">
            <a:solidFill>
              <a:srgbClr val="1F497D"/>
            </a:solidFill>
            <a:prstDash val="solid"/>
          </a:ln>
        </p:spPr>
        <p:txBody>
          <a:bodyPr/>
          <a:lstStyle/>
          <a:p>
            <a:endParaRPr lang="en-US"/>
          </a:p>
        </p:txBody>
      </p:sp>
      <p:sp>
        <p:nvSpPr>
          <p:cNvPr id="24" name="Text 21"/>
          <p:cNvSpPr txBox="1"/>
          <p:nvPr/>
        </p:nvSpPr>
        <p:spPr>
          <a:xfrm>
            <a:off x="1188720" y="484632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1F497D"/>
                </a:solidFill>
                <a:latin typeface="Calibri" pitchFamily="34" charset="0"/>
                <a:ea typeface="Calibri" pitchFamily="34" charset="-122"/>
                <a:cs typeface="Calibri" pitchFamily="34" charset="-120"/>
              </a:rPr>
              <a:t>Discussion</a:t>
            </a:r>
            <a:endParaRPr lang="en-US" sz="1350" dirty="0"/>
          </a:p>
        </p:txBody>
      </p:sp>
      <p:sp>
        <p:nvSpPr>
          <p:cNvPr id="25" name="Text 22"/>
          <p:cNvSpPr txBox="1"/>
          <p:nvPr/>
        </p:nvSpPr>
        <p:spPr>
          <a:xfrm>
            <a:off x="1188720" y="5102352"/>
            <a:ext cx="9784080" cy="246888"/>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Which missing inventory field most often makes a patch window fail?</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LIFECYCLE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 patch is a lifecycle, not a command</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Every stage produces evidence needed by the next decision.</a:t>
            </a:r>
            <a:endParaRPr lang="en-US" sz="1300" dirty="0"/>
          </a:p>
        </p:txBody>
      </p:sp>
      <p:sp>
        <p:nvSpPr>
          <p:cNvPr id="6" name="Shape 3"/>
          <p:cNvSpPr/>
          <p:nvPr/>
        </p:nvSpPr>
        <p:spPr>
          <a:xfrm>
            <a:off x="502920" y="1965960"/>
            <a:ext cx="1973824" cy="1965960"/>
          </a:xfrm>
          <a:prstGeom prst="roundRect">
            <a:avLst>
              <a:gd name="adj" fmla="val 3721"/>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502920" y="1965960"/>
            <a:ext cx="1973824"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594360" y="2020824"/>
            <a:ext cx="179094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Discover</a:t>
            </a:r>
            <a:endParaRPr lang="en-US" sz="1150" dirty="0"/>
          </a:p>
        </p:txBody>
      </p:sp>
      <p:sp>
        <p:nvSpPr>
          <p:cNvPr id="9" name="Text 6"/>
          <p:cNvSpPr txBox="1"/>
          <p:nvPr/>
        </p:nvSpPr>
        <p:spPr>
          <a:xfrm>
            <a:off x="640080" y="2459736"/>
            <a:ext cx="1699504" cy="137160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asset + advisory</a:t>
            </a:r>
            <a:endParaRPr lang="en-US" sz="1400" dirty="0"/>
          </a:p>
        </p:txBody>
      </p:sp>
      <p:sp>
        <p:nvSpPr>
          <p:cNvPr id="10" name="Shape 7"/>
          <p:cNvSpPr/>
          <p:nvPr/>
        </p:nvSpPr>
        <p:spPr>
          <a:xfrm>
            <a:off x="2531608" y="2948940"/>
            <a:ext cx="219456"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2805928" y="1965960"/>
            <a:ext cx="1973824" cy="1965960"/>
          </a:xfrm>
          <a:prstGeom prst="roundRect">
            <a:avLst>
              <a:gd name="adj" fmla="val 3721"/>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2805928" y="1965960"/>
            <a:ext cx="197382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2897368" y="2020824"/>
            <a:ext cx="179094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Rank</a:t>
            </a:r>
            <a:endParaRPr lang="en-US" sz="1150" dirty="0"/>
          </a:p>
        </p:txBody>
      </p:sp>
      <p:sp>
        <p:nvSpPr>
          <p:cNvPr id="14" name="Text 11"/>
          <p:cNvSpPr txBox="1"/>
          <p:nvPr/>
        </p:nvSpPr>
        <p:spPr>
          <a:xfrm>
            <a:off x="2943088" y="2459736"/>
            <a:ext cx="1699504" cy="137160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risk + SLA</a:t>
            </a:r>
            <a:endParaRPr lang="en-US" sz="1400" dirty="0"/>
          </a:p>
        </p:txBody>
      </p:sp>
      <p:sp>
        <p:nvSpPr>
          <p:cNvPr id="15" name="Shape 12"/>
          <p:cNvSpPr/>
          <p:nvPr/>
        </p:nvSpPr>
        <p:spPr>
          <a:xfrm>
            <a:off x="4834616" y="2948940"/>
            <a:ext cx="219456"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5108936" y="1965960"/>
            <a:ext cx="1973824" cy="1965960"/>
          </a:xfrm>
          <a:prstGeom prst="roundRect">
            <a:avLst>
              <a:gd name="adj" fmla="val 3721"/>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5108936" y="1965960"/>
            <a:ext cx="197382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5200376" y="2020824"/>
            <a:ext cx="179094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Test</a:t>
            </a:r>
            <a:endParaRPr lang="en-US" sz="1150" dirty="0"/>
          </a:p>
        </p:txBody>
      </p:sp>
      <p:sp>
        <p:nvSpPr>
          <p:cNvPr id="19" name="Text 16"/>
          <p:cNvSpPr txBox="1"/>
          <p:nvPr/>
        </p:nvSpPr>
        <p:spPr>
          <a:xfrm>
            <a:off x="5246096" y="2459736"/>
            <a:ext cx="1699504" cy="137160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staging + plan</a:t>
            </a:r>
            <a:endParaRPr lang="en-US" sz="1400" dirty="0"/>
          </a:p>
        </p:txBody>
      </p:sp>
      <p:sp>
        <p:nvSpPr>
          <p:cNvPr id="20" name="Shape 17"/>
          <p:cNvSpPr/>
          <p:nvPr/>
        </p:nvSpPr>
        <p:spPr>
          <a:xfrm>
            <a:off x="7137624" y="2948940"/>
            <a:ext cx="219456"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7411944" y="1965960"/>
            <a:ext cx="1973824" cy="1965960"/>
          </a:xfrm>
          <a:prstGeom prst="roundRect">
            <a:avLst>
              <a:gd name="adj" fmla="val 3721"/>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7411944" y="1965960"/>
            <a:ext cx="1973824"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3" name="Text 20"/>
          <p:cNvSpPr txBox="1"/>
          <p:nvPr/>
        </p:nvSpPr>
        <p:spPr>
          <a:xfrm>
            <a:off x="7503384" y="2020824"/>
            <a:ext cx="179094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Deploy</a:t>
            </a:r>
            <a:endParaRPr lang="en-US" sz="1150" dirty="0"/>
          </a:p>
        </p:txBody>
      </p:sp>
      <p:sp>
        <p:nvSpPr>
          <p:cNvPr id="24" name="Text 21"/>
          <p:cNvSpPr txBox="1"/>
          <p:nvPr/>
        </p:nvSpPr>
        <p:spPr>
          <a:xfrm>
            <a:off x="7549104" y="2459736"/>
            <a:ext cx="1699504" cy="137160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change + rollout</a:t>
            </a:r>
            <a:endParaRPr lang="en-US" sz="1400" dirty="0"/>
          </a:p>
        </p:txBody>
      </p:sp>
      <p:sp>
        <p:nvSpPr>
          <p:cNvPr id="25" name="Shape 22"/>
          <p:cNvSpPr/>
          <p:nvPr/>
        </p:nvSpPr>
        <p:spPr>
          <a:xfrm>
            <a:off x="9440631" y="2948940"/>
            <a:ext cx="219456" cy="0"/>
          </a:xfrm>
          <a:prstGeom prst="line">
            <a:avLst/>
          </a:prstGeom>
          <a:noFill/>
          <a:ln w="25400">
            <a:solidFill>
              <a:srgbClr val="94A3B8"/>
            </a:solidFill>
            <a:prstDash val="solid"/>
            <a:tailEnd type="triangle"/>
          </a:ln>
        </p:spPr>
        <p:txBody>
          <a:bodyPr/>
          <a:lstStyle/>
          <a:p>
            <a:endParaRPr lang="en-US"/>
          </a:p>
        </p:txBody>
      </p:sp>
      <p:sp>
        <p:nvSpPr>
          <p:cNvPr id="26" name="Shape 23"/>
          <p:cNvSpPr/>
          <p:nvPr/>
        </p:nvSpPr>
        <p:spPr>
          <a:xfrm>
            <a:off x="9714951" y="1965960"/>
            <a:ext cx="1973824" cy="1965960"/>
          </a:xfrm>
          <a:prstGeom prst="roundRect">
            <a:avLst>
              <a:gd name="adj" fmla="val 3721"/>
            </a:avLst>
          </a:prstGeom>
          <a:solidFill>
            <a:srgbClr val="FFFFFF"/>
          </a:solidFill>
          <a:ln w="12700">
            <a:solidFill>
              <a:srgbClr val="CBD5E1"/>
            </a:solidFill>
            <a:prstDash val="solid"/>
          </a:ln>
        </p:spPr>
        <p:txBody>
          <a:bodyPr/>
          <a:lstStyle/>
          <a:p>
            <a:endParaRPr lang="en-US"/>
          </a:p>
        </p:txBody>
      </p:sp>
      <p:sp>
        <p:nvSpPr>
          <p:cNvPr id="27" name="Shape 24"/>
          <p:cNvSpPr/>
          <p:nvPr/>
        </p:nvSpPr>
        <p:spPr>
          <a:xfrm>
            <a:off x="9714951" y="1965960"/>
            <a:ext cx="1973824"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8" name="Text 25"/>
          <p:cNvSpPr txBox="1"/>
          <p:nvPr/>
        </p:nvSpPr>
        <p:spPr>
          <a:xfrm>
            <a:off x="9806391" y="2020824"/>
            <a:ext cx="179094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p:txBody>
      </p:sp>
      <p:sp>
        <p:nvSpPr>
          <p:cNvPr id="29" name="Text 26"/>
          <p:cNvSpPr txBox="1"/>
          <p:nvPr/>
        </p:nvSpPr>
        <p:spPr>
          <a:xfrm>
            <a:off x="9852111" y="2459736"/>
            <a:ext cx="1699504" cy="137160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health + rescan</a:t>
            </a:r>
            <a:endParaRPr lang="en-US" sz="1400" dirty="0"/>
          </a:p>
        </p:txBody>
      </p:sp>
      <p:sp>
        <p:nvSpPr>
          <p:cNvPr id="30" name="Shape 27"/>
          <p:cNvSpPr/>
          <p:nvPr/>
        </p:nvSpPr>
        <p:spPr>
          <a:xfrm>
            <a:off x="960120" y="4617720"/>
            <a:ext cx="5261571" cy="786384"/>
          </a:xfrm>
          <a:prstGeom prst="roundRect">
            <a:avLst>
              <a:gd name="adj" fmla="val 9302"/>
            </a:avLst>
          </a:prstGeom>
          <a:solidFill>
            <a:srgbClr val="FFFFFF"/>
          </a:solidFill>
          <a:ln w="12700">
            <a:solidFill>
              <a:srgbClr val="C0504D"/>
            </a:solidFill>
            <a:prstDash val="solid"/>
          </a:ln>
        </p:spPr>
        <p:txBody>
          <a:bodyPr/>
          <a:lstStyle/>
          <a:p>
            <a:endParaRPr lang="en-US"/>
          </a:p>
        </p:txBody>
      </p:sp>
      <p:sp>
        <p:nvSpPr>
          <p:cNvPr id="31" name="Shape 28"/>
          <p:cNvSpPr/>
          <p:nvPr/>
        </p:nvSpPr>
        <p:spPr>
          <a:xfrm>
            <a:off x="960120" y="4617720"/>
            <a:ext cx="91440" cy="786384"/>
          </a:xfrm>
          <a:prstGeom prst="rect">
            <a:avLst/>
          </a:prstGeom>
          <a:solidFill>
            <a:srgbClr val="C0504D"/>
          </a:solidFill>
          <a:ln w="12700">
            <a:solidFill>
              <a:srgbClr val="C0504D"/>
            </a:solidFill>
            <a:prstDash val="solid"/>
          </a:ln>
        </p:spPr>
        <p:txBody>
          <a:bodyPr/>
          <a:lstStyle/>
          <a:p>
            <a:endParaRPr lang="en-US"/>
          </a:p>
        </p:txBody>
      </p:sp>
      <p:sp>
        <p:nvSpPr>
          <p:cNvPr id="32" name="Text 29"/>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C0504D"/>
                </a:solidFill>
                <a:latin typeface="Calibri" pitchFamily="34" charset="0"/>
                <a:ea typeface="Calibri" pitchFamily="34" charset="-122"/>
                <a:cs typeface="Calibri" pitchFamily="34" charset="-120"/>
              </a:rPr>
              <a:t>Evidence trail</a:t>
            </a:r>
            <a:endParaRPr lang="en-US" sz="1350" dirty="0"/>
          </a:p>
        </p:txBody>
      </p:sp>
      <p:sp>
        <p:nvSpPr>
          <p:cNvPr id="33" name="Text 30"/>
          <p:cNvSpPr txBox="1"/>
          <p:nvPr/>
        </p:nvSpPr>
        <p:spPr>
          <a:xfrm>
            <a:off x="1188720" y="4965192"/>
            <a:ext cx="49072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A successful installer exit code is only one piece of the final decision.</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5</a:t>
            </a:fld>
            <a:endParaRPr lang="en-US"/>
          </a:p>
        </p:txBody>
      </p:sp>
      <p:pic>
        <p:nvPicPr>
          <p:cNvPr id="37" name="Picture 36">
            <a:extLst>
              <a:ext uri="{FF2B5EF4-FFF2-40B4-BE49-F238E27FC236}">
                <a16:creationId xmlns:a16="http://schemas.microsoft.com/office/drawing/2014/main" id="{D8C9ED16-BCB4-E10D-18F2-2311A723AF48}"/>
              </a:ext>
            </a:extLst>
          </p:cNvPr>
          <p:cNvPicPr>
            <a:picLocks noChangeAspect="1"/>
          </p:cNvPicPr>
          <p:nvPr/>
        </p:nvPicPr>
        <p:blipFill>
          <a:blip r:embed="rId3"/>
          <a:stretch>
            <a:fillRect/>
          </a:stretch>
        </p:blipFill>
        <p:spPr>
          <a:xfrm>
            <a:off x="6485127" y="4048582"/>
            <a:ext cx="2955504" cy="25647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CE0891-6297-3243-4E87-18AB0F96C6EE}"/>
              </a:ext>
            </a:extLst>
          </p:cNvPr>
          <p:cNvPicPr>
            <a:picLocks noChangeAspect="1"/>
          </p:cNvPicPr>
          <p:nvPr/>
        </p:nvPicPr>
        <p:blipFill>
          <a:blip r:embed="rId2"/>
          <a:stretch>
            <a:fillRect/>
          </a:stretch>
        </p:blipFill>
        <p:spPr>
          <a:xfrm>
            <a:off x="60274" y="2087523"/>
            <a:ext cx="8757689" cy="2682953"/>
          </a:xfrm>
          <a:prstGeom prst="rect">
            <a:avLst/>
          </a:prstGeom>
        </p:spPr>
      </p:pic>
      <p:pic>
        <p:nvPicPr>
          <p:cNvPr id="5" name="Picture 4">
            <a:extLst>
              <a:ext uri="{FF2B5EF4-FFF2-40B4-BE49-F238E27FC236}">
                <a16:creationId xmlns:a16="http://schemas.microsoft.com/office/drawing/2014/main" id="{69310F83-86FB-75A6-57D4-EDDEC8744EA9}"/>
              </a:ext>
            </a:extLst>
          </p:cNvPr>
          <p:cNvPicPr>
            <a:picLocks noChangeAspect="1"/>
          </p:cNvPicPr>
          <p:nvPr/>
        </p:nvPicPr>
        <p:blipFill>
          <a:blip r:embed="rId3"/>
          <a:srcRect l="19283" r="28423"/>
          <a:stretch>
            <a:fillRect/>
          </a:stretch>
        </p:blipFill>
        <p:spPr>
          <a:xfrm>
            <a:off x="8988459" y="1115568"/>
            <a:ext cx="2837468" cy="5349712"/>
          </a:xfrm>
          <a:prstGeom prst="rect">
            <a:avLst/>
          </a:prstGeom>
        </p:spPr>
      </p:pic>
      <p:sp>
        <p:nvSpPr>
          <p:cNvPr id="9" name="Text 1">
            <a:extLst>
              <a:ext uri="{FF2B5EF4-FFF2-40B4-BE49-F238E27FC236}">
                <a16:creationId xmlns:a16="http://schemas.microsoft.com/office/drawing/2014/main" id="{1DCC55AC-B17C-5625-604B-E331EE687B21}"/>
              </a:ext>
            </a:extLst>
          </p:cNvPr>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Credentialed and uncredentialed scans answer different questions</a:t>
            </a:r>
            <a:endParaRPr lang="en-US" sz="2700" dirty="0"/>
          </a:p>
        </p:txBody>
      </p:sp>
    </p:spTree>
    <p:extLst>
      <p:ext uri="{BB962C8B-B14F-4D97-AF65-F5344CB8AC3E}">
        <p14:creationId xmlns:p14="http://schemas.microsoft.com/office/powerpoint/2010/main" val="3823284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Credentialed and uncredentialed scans answer different questions</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External visibility and package inventory complement each other.</a:t>
            </a:r>
            <a:endParaRPr lang="en-US" sz="1300" dirty="0"/>
          </a:p>
        </p:txBody>
      </p:sp>
      <p:sp>
        <p:nvSpPr>
          <p:cNvPr id="6" name="Shape 3"/>
          <p:cNvSpPr/>
          <p:nvPr/>
        </p:nvSpPr>
        <p:spPr>
          <a:xfrm>
            <a:off x="822960" y="1874520"/>
            <a:ext cx="330189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822960" y="1874520"/>
            <a:ext cx="3301898"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914400" y="192938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UNAUTHENTICATED</a:t>
            </a:r>
            <a:endParaRPr lang="en-US" sz="1150" dirty="0"/>
          </a:p>
        </p:txBody>
      </p:sp>
      <p:sp>
        <p:nvSpPr>
          <p:cNvPr id="9" name="Text 6"/>
          <p:cNvSpPr txBox="1"/>
          <p:nvPr/>
        </p:nvSpPr>
        <p:spPr>
          <a:xfrm>
            <a:off x="960120" y="2368296"/>
            <a:ext cx="302757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What can a network observer see?</a:t>
            </a:r>
            <a:endParaRPr lang="en-US" sz="1400" dirty="0"/>
          </a:p>
        </p:txBody>
      </p:sp>
      <p:sp>
        <p:nvSpPr>
          <p:cNvPr id="10" name="Shape 7"/>
          <p:cNvSpPr/>
          <p:nvPr/>
        </p:nvSpPr>
        <p:spPr>
          <a:xfrm>
            <a:off x="4444898" y="1874520"/>
            <a:ext cx="330189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444898" y="1874520"/>
            <a:ext cx="3301898"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536338" y="192938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CREDENTIALED</a:t>
            </a:r>
            <a:endParaRPr lang="en-US" sz="1150" dirty="0"/>
          </a:p>
        </p:txBody>
      </p:sp>
      <p:sp>
        <p:nvSpPr>
          <p:cNvPr id="13" name="Text 10"/>
          <p:cNvSpPr txBox="1"/>
          <p:nvPr/>
        </p:nvSpPr>
        <p:spPr>
          <a:xfrm>
            <a:off x="4582058" y="2368296"/>
            <a:ext cx="302757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What versions and settings are installed?</a:t>
            </a:r>
            <a:endParaRPr lang="en-US" sz="1400" dirty="0"/>
          </a:p>
        </p:txBody>
      </p:sp>
      <p:sp>
        <p:nvSpPr>
          <p:cNvPr id="14" name="Shape 11"/>
          <p:cNvSpPr/>
          <p:nvPr/>
        </p:nvSpPr>
        <p:spPr>
          <a:xfrm>
            <a:off x="8066837" y="1874520"/>
            <a:ext cx="3301898"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6837" y="1874520"/>
            <a:ext cx="3301898"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8277" y="192938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EXTERNAL Approved Scanning Vendor</a:t>
            </a:r>
            <a:endParaRPr lang="en-US" sz="1150" dirty="0"/>
          </a:p>
        </p:txBody>
      </p:sp>
      <p:sp>
        <p:nvSpPr>
          <p:cNvPr id="17" name="Text 14"/>
          <p:cNvSpPr txBox="1"/>
          <p:nvPr/>
        </p:nvSpPr>
        <p:spPr>
          <a:xfrm>
            <a:off x="8203997" y="2368296"/>
            <a:ext cx="3027578"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Who performs the required external scan?</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Friday at 4:00 PM: patch or wait?</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service has a newly disclosed vulnerability. A change freeze begins at 5:00 PM.</a:t>
            </a:r>
            <a:endParaRPr lang="en-US" sz="1300" dirty="0"/>
          </a:p>
        </p:txBody>
      </p:sp>
      <p:sp>
        <p:nvSpPr>
          <p:cNvPr id="6" name="Shape 3"/>
          <p:cNvSpPr/>
          <p:nvPr/>
        </p:nvSpPr>
        <p:spPr>
          <a:xfrm>
            <a:off x="822960" y="1874520"/>
            <a:ext cx="3063240" cy="2148840"/>
          </a:xfrm>
          <a:prstGeom prst="roundRect">
            <a:avLst>
              <a:gd name="adj" fmla="val 3404"/>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822960" y="1874520"/>
            <a:ext cx="3063240" cy="329184"/>
          </a:xfrm>
          <a:prstGeom prst="roundRect">
            <a:avLst>
              <a:gd name="adj" fmla="val 22222"/>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914400" y="1929384"/>
            <a:ext cx="288036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SECURITY</a:t>
            </a:r>
            <a:endParaRPr lang="en-US" sz="1150" dirty="0"/>
          </a:p>
        </p:txBody>
      </p:sp>
      <p:sp>
        <p:nvSpPr>
          <p:cNvPr id="9" name="Text 6"/>
          <p:cNvSpPr txBox="1"/>
          <p:nvPr/>
        </p:nvSpPr>
        <p:spPr>
          <a:xfrm>
            <a:off x="960120" y="2368296"/>
            <a:ext cx="2788920" cy="15544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Known exploitation</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Payment-facing asset</a:t>
            </a:r>
            <a:endParaRPr lang="en-US" sz="1400" dirty="0"/>
          </a:p>
        </p:txBody>
      </p:sp>
      <p:sp>
        <p:nvSpPr>
          <p:cNvPr id="10" name="Shape 7"/>
          <p:cNvSpPr/>
          <p:nvPr/>
        </p:nvSpPr>
        <p:spPr>
          <a:xfrm>
            <a:off x="4160520" y="1874520"/>
            <a:ext cx="3063240" cy="2148840"/>
          </a:xfrm>
          <a:prstGeom prst="roundRect">
            <a:avLst>
              <a:gd name="adj" fmla="val 3404"/>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160520" y="1874520"/>
            <a:ext cx="306324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2" name="Text 9"/>
          <p:cNvSpPr txBox="1"/>
          <p:nvPr/>
        </p:nvSpPr>
        <p:spPr>
          <a:xfrm>
            <a:off x="4251960" y="1929384"/>
            <a:ext cx="288036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OPERATIONS</a:t>
            </a:r>
            <a:endParaRPr lang="en-US" sz="1150" dirty="0"/>
          </a:p>
        </p:txBody>
      </p:sp>
      <p:sp>
        <p:nvSpPr>
          <p:cNvPr id="13" name="Text 10"/>
          <p:cNvSpPr txBox="1"/>
          <p:nvPr/>
        </p:nvSpPr>
        <p:spPr>
          <a:xfrm>
            <a:off x="4297680" y="2368296"/>
            <a:ext cx="2788920" cy="15544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Friday deployment</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Limited staff coverage</a:t>
            </a:r>
          </a:p>
          <a:p>
            <a:pPr marL="0" indent="0" algn="ctr">
              <a:buNone/>
            </a:pPr>
            <a:r>
              <a:rPr lang="en-US" sz="1400" dirty="0">
                <a:solidFill>
                  <a:srgbClr val="203040"/>
                </a:solidFill>
                <a:latin typeface="Calibri" pitchFamily="34" charset="0"/>
                <a:ea typeface="Calibri" pitchFamily="34" charset="-122"/>
                <a:cs typeface="Calibri" pitchFamily="34" charset="-120"/>
              </a:rPr>
              <a:t>Next Window is in two weeks</a:t>
            </a:r>
            <a:endParaRPr lang="en-US" sz="1400" dirty="0"/>
          </a:p>
        </p:txBody>
      </p:sp>
      <p:sp>
        <p:nvSpPr>
          <p:cNvPr id="16" name="Shape 13"/>
          <p:cNvSpPr/>
          <p:nvPr/>
        </p:nvSpPr>
        <p:spPr>
          <a:xfrm>
            <a:off x="11045952" y="1984248"/>
            <a:ext cx="0" cy="1929384"/>
          </a:xfrm>
          <a:prstGeom prst="line">
            <a:avLst/>
          </a:prstGeom>
          <a:noFill/>
          <a:ln w="13970">
            <a:solidFill>
              <a:srgbClr val="D8A36A"/>
            </a:solidFill>
            <a:prstDash val="solid"/>
            <a:tailEnd type="none"/>
          </a:ln>
        </p:spPr>
        <p:txBody>
          <a:bodyPr/>
          <a:lstStyle/>
          <a:p>
            <a:endParaRPr lang="en-US"/>
          </a:p>
        </p:txBody>
      </p:sp>
      <p:sp>
        <p:nvSpPr>
          <p:cNvPr id="18" name="Text 15"/>
          <p:cNvSpPr txBox="1"/>
          <p:nvPr/>
        </p:nvSpPr>
        <p:spPr>
          <a:xfrm>
            <a:off x="8791956" y="2112264"/>
            <a:ext cx="1207008" cy="201168"/>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MEDIA SLOT</a:t>
            </a:r>
            <a:endParaRPr lang="en-US" sz="1050" dirty="0"/>
          </a:p>
        </p:txBody>
      </p:sp>
      <p:sp>
        <p:nvSpPr>
          <p:cNvPr id="21" name="Shape 18"/>
          <p:cNvSpPr/>
          <p:nvPr/>
        </p:nvSpPr>
        <p:spPr>
          <a:xfrm>
            <a:off x="960120" y="4617720"/>
            <a:ext cx="6872918" cy="786384"/>
          </a:xfrm>
          <a:prstGeom prst="roundRect">
            <a:avLst>
              <a:gd name="adj" fmla="val 9302"/>
            </a:avLst>
          </a:prstGeom>
          <a:solidFill>
            <a:srgbClr val="FFFFFF"/>
          </a:solidFill>
          <a:ln w="12700">
            <a:solidFill>
              <a:srgbClr val="1F497D"/>
            </a:solidFill>
            <a:prstDash val="solid"/>
          </a:ln>
        </p:spPr>
        <p:txBody>
          <a:bodyPr/>
          <a:lstStyle/>
          <a:p>
            <a:endParaRPr lang="en-US"/>
          </a:p>
        </p:txBody>
      </p:sp>
      <p:sp>
        <p:nvSpPr>
          <p:cNvPr id="22" name="Shape 19"/>
          <p:cNvSpPr/>
          <p:nvPr/>
        </p:nvSpPr>
        <p:spPr>
          <a:xfrm>
            <a:off x="960120" y="4617720"/>
            <a:ext cx="91440" cy="786384"/>
          </a:xfrm>
          <a:prstGeom prst="rect">
            <a:avLst/>
          </a:prstGeom>
          <a:solidFill>
            <a:srgbClr val="1F497D"/>
          </a:solidFill>
          <a:ln w="12700">
            <a:solidFill>
              <a:srgbClr val="1F497D"/>
            </a:solidFill>
            <a:prstDash val="solid"/>
          </a:ln>
        </p:spPr>
        <p:txBody>
          <a:bodyPr/>
          <a:lstStyle/>
          <a:p>
            <a:endParaRPr lang="en-US"/>
          </a:p>
        </p:txBody>
      </p:sp>
      <p:sp>
        <p:nvSpPr>
          <p:cNvPr id="23" name="Text 20"/>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1F497D"/>
                </a:solidFill>
                <a:latin typeface="Calibri" pitchFamily="34" charset="0"/>
                <a:ea typeface="Calibri" pitchFamily="34" charset="-122"/>
                <a:cs typeface="Calibri" pitchFamily="34" charset="-120"/>
              </a:rPr>
              <a:t>Quick vote</a:t>
            </a:r>
            <a:endParaRPr lang="en-US" sz="1350" dirty="0"/>
          </a:p>
        </p:txBody>
      </p:sp>
      <p:sp>
        <p:nvSpPr>
          <p:cNvPr id="24" name="Text 21"/>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Patch now, mitigate until morning, or wait for the next window? What fact would change your vote?</a:t>
            </a:r>
            <a:endParaRPr lang="en-US" sz="12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8</a:t>
            </a:fld>
            <a:endParaRPr lang="en-US"/>
          </a:p>
        </p:txBody>
      </p:sp>
      <p:pic>
        <p:nvPicPr>
          <p:cNvPr id="30" name="Picture 29">
            <a:extLst>
              <a:ext uri="{FF2B5EF4-FFF2-40B4-BE49-F238E27FC236}">
                <a16:creationId xmlns:a16="http://schemas.microsoft.com/office/drawing/2014/main" id="{D1CED0F6-79A1-25E4-FA6F-9566BA5E3236}"/>
              </a:ext>
            </a:extLst>
          </p:cNvPr>
          <p:cNvPicPr>
            <a:picLocks noChangeAspect="1"/>
          </p:cNvPicPr>
          <p:nvPr/>
        </p:nvPicPr>
        <p:blipFill>
          <a:blip r:embed="rId3"/>
          <a:stretch>
            <a:fillRect/>
          </a:stretch>
        </p:blipFill>
        <p:spPr>
          <a:xfrm>
            <a:off x="8107358" y="1577340"/>
            <a:ext cx="3231202" cy="4892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Known exploitation changes the queue</a:t>
            </a:r>
            <a:endParaRPr lang="en-US" sz="2700" dirty="0"/>
          </a:p>
        </p:txBody>
      </p:sp>
      <p:sp>
        <p:nvSpPr>
          <p:cNvPr id="6" name="Shape 3"/>
          <p:cNvSpPr/>
          <p:nvPr/>
        </p:nvSpPr>
        <p:spPr>
          <a:xfrm>
            <a:off x="640080" y="201168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2011680"/>
            <a:ext cx="2330120" cy="329184"/>
          </a:xfrm>
          <a:prstGeom prst="roundRect">
            <a:avLst>
              <a:gd name="adj" fmla="val 22222"/>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731520"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KEV</a:t>
            </a:r>
            <a:endParaRPr lang="en-US" sz="1150" dirty="0"/>
          </a:p>
        </p:txBody>
      </p:sp>
      <p:sp>
        <p:nvSpPr>
          <p:cNvPr id="9" name="Text 6"/>
          <p:cNvSpPr txBox="1"/>
          <p:nvPr/>
        </p:nvSpPr>
        <p:spPr>
          <a:xfrm>
            <a:off x="777240" y="250545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exploitation observed</a:t>
            </a:r>
            <a:endParaRPr lang="en-US" sz="1400" dirty="0"/>
          </a:p>
        </p:txBody>
      </p:sp>
      <p:sp>
        <p:nvSpPr>
          <p:cNvPr id="10" name="Shape 7"/>
          <p:cNvSpPr/>
          <p:nvPr/>
        </p:nvSpPr>
        <p:spPr>
          <a:xfrm>
            <a:off x="3025064" y="2971800"/>
            <a:ext cx="420624"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500552" y="201168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500552" y="2011680"/>
            <a:ext cx="233012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3" name="Text 10"/>
          <p:cNvSpPr txBox="1"/>
          <p:nvPr/>
        </p:nvSpPr>
        <p:spPr>
          <a:xfrm>
            <a:off x="3591992"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Vendor</a:t>
            </a:r>
            <a:endParaRPr lang="en-US" sz="1150" dirty="0"/>
          </a:p>
        </p:txBody>
      </p:sp>
      <p:sp>
        <p:nvSpPr>
          <p:cNvPr id="14" name="Text 11"/>
          <p:cNvSpPr txBox="1"/>
          <p:nvPr/>
        </p:nvSpPr>
        <p:spPr>
          <a:xfrm>
            <a:off x="3637712" y="250545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fix or mitigation</a:t>
            </a:r>
            <a:endParaRPr lang="en-US" sz="1400" dirty="0"/>
          </a:p>
        </p:txBody>
      </p:sp>
      <p:sp>
        <p:nvSpPr>
          <p:cNvPr id="15" name="Shape 12"/>
          <p:cNvSpPr/>
          <p:nvPr/>
        </p:nvSpPr>
        <p:spPr>
          <a:xfrm>
            <a:off x="5885536" y="2971800"/>
            <a:ext cx="420624"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61024" y="201168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61024" y="2011680"/>
            <a:ext cx="233012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8" name="Text 15"/>
          <p:cNvSpPr txBox="1"/>
          <p:nvPr/>
        </p:nvSpPr>
        <p:spPr>
          <a:xfrm>
            <a:off x="6452464"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Asset</a:t>
            </a:r>
            <a:endParaRPr lang="en-US" sz="1150" dirty="0"/>
          </a:p>
        </p:txBody>
      </p:sp>
      <p:sp>
        <p:nvSpPr>
          <p:cNvPr id="19" name="Text 16"/>
          <p:cNvSpPr txBox="1"/>
          <p:nvPr/>
        </p:nvSpPr>
        <p:spPr>
          <a:xfrm>
            <a:off x="6498184" y="250545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affected + exposed?</a:t>
            </a:r>
            <a:endParaRPr lang="en-US" sz="1400" dirty="0"/>
          </a:p>
        </p:txBody>
      </p:sp>
      <p:sp>
        <p:nvSpPr>
          <p:cNvPr id="20" name="Shape 17"/>
          <p:cNvSpPr/>
          <p:nvPr/>
        </p:nvSpPr>
        <p:spPr>
          <a:xfrm>
            <a:off x="8746007" y="2971800"/>
            <a:ext cx="420624"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21495" y="201168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21495" y="2011680"/>
            <a:ext cx="2330120"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312935"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24" name="Text 21"/>
          <p:cNvSpPr txBox="1"/>
          <p:nvPr/>
        </p:nvSpPr>
        <p:spPr>
          <a:xfrm>
            <a:off x="9358655" y="250545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emergency decision</a:t>
            </a:r>
            <a:endParaRPr lang="en-US" sz="1400" dirty="0"/>
          </a:p>
        </p:txBody>
      </p:sp>
      <p:sp>
        <p:nvSpPr>
          <p:cNvPr id="25" name="Shape 22"/>
          <p:cNvSpPr/>
          <p:nvPr/>
        </p:nvSpPr>
        <p:spPr>
          <a:xfrm>
            <a:off x="960120" y="4617720"/>
            <a:ext cx="5135880" cy="786384"/>
          </a:xfrm>
          <a:prstGeom prst="roundRect">
            <a:avLst>
              <a:gd name="adj" fmla="val 9302"/>
            </a:avLst>
          </a:prstGeom>
          <a:solidFill>
            <a:srgbClr val="FFFFFF"/>
          </a:solidFill>
          <a:ln w="12700">
            <a:solidFill>
              <a:srgbClr val="1F497D"/>
            </a:solidFill>
            <a:prstDash val="solid"/>
          </a:ln>
        </p:spPr>
        <p:txBody>
          <a:bodyPr/>
          <a:lstStyle/>
          <a:p>
            <a:endParaRPr lang="en-US"/>
          </a:p>
        </p:txBody>
      </p:sp>
      <p:sp>
        <p:nvSpPr>
          <p:cNvPr id="26" name="Shape 23"/>
          <p:cNvSpPr/>
          <p:nvPr/>
        </p:nvSpPr>
        <p:spPr>
          <a:xfrm>
            <a:off x="960120" y="4617720"/>
            <a:ext cx="91440" cy="786384"/>
          </a:xfrm>
          <a:prstGeom prst="rect">
            <a:avLst/>
          </a:prstGeom>
          <a:solidFill>
            <a:srgbClr val="1F497D"/>
          </a:solidFill>
          <a:ln w="12700">
            <a:solidFill>
              <a:srgbClr val="1F497D"/>
            </a:solidFill>
            <a:prstDash val="solid"/>
          </a:ln>
        </p:spPr>
        <p:txBody>
          <a:bodyPr/>
          <a:lstStyle/>
          <a:p>
            <a:endParaRPr lang="en-US"/>
          </a:p>
        </p:txBody>
      </p:sp>
      <p:sp>
        <p:nvSpPr>
          <p:cNvPr id="27" name="Text 24"/>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1F497D"/>
                </a:solidFill>
                <a:latin typeface="Calibri" pitchFamily="34" charset="0"/>
                <a:ea typeface="Calibri" pitchFamily="34" charset="-122"/>
                <a:cs typeface="Calibri" pitchFamily="34" charset="-120"/>
              </a:rPr>
              <a:t>Decision</a:t>
            </a:r>
            <a:endParaRPr lang="en-US" sz="1350" dirty="0"/>
          </a:p>
        </p:txBody>
      </p:sp>
      <p:sp>
        <p:nvSpPr>
          <p:cNvPr id="28" name="Text 25"/>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A calendar does not turn an actively exploited exposure into routine work.</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9</a:t>
            </a:fld>
            <a:endParaRPr lang="en-US"/>
          </a:p>
        </p:txBody>
      </p:sp>
      <p:pic>
        <p:nvPicPr>
          <p:cNvPr id="30" name="Picture 29">
            <a:extLst>
              <a:ext uri="{FF2B5EF4-FFF2-40B4-BE49-F238E27FC236}">
                <a16:creationId xmlns:a16="http://schemas.microsoft.com/office/drawing/2014/main" id="{C280EDD7-C995-7D05-D48F-9639EE0BFBDB}"/>
              </a:ext>
            </a:extLst>
          </p:cNvPr>
          <p:cNvPicPr>
            <a:picLocks noChangeAspect="1"/>
          </p:cNvPicPr>
          <p:nvPr/>
        </p:nvPicPr>
        <p:blipFill>
          <a:blip r:embed="rId3"/>
          <a:stretch>
            <a:fillRect/>
          </a:stretch>
        </p:blipFill>
        <p:spPr>
          <a:xfrm>
            <a:off x="6696130" y="4092270"/>
            <a:ext cx="4718325" cy="22868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TRIAGE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 practical patch priority framework</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Use one written rule so two analysts reach a similar decision.</a:t>
            </a:r>
            <a:endParaRPr lang="en-US" sz="1300" dirty="0"/>
          </a:p>
        </p:txBody>
      </p:sp>
      <p:sp>
        <p:nvSpPr>
          <p:cNvPr id="6" name="Shape 3"/>
          <p:cNvSpPr/>
          <p:nvPr/>
        </p:nvSpPr>
        <p:spPr>
          <a:xfrm>
            <a:off x="777240" y="1773936"/>
            <a:ext cx="2194560" cy="539496"/>
          </a:xfrm>
          <a:prstGeom prst="roundRect">
            <a:avLst>
              <a:gd name="adj" fmla="val 13559"/>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68680" y="1847088"/>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Applicability</a:t>
            </a:r>
            <a:endParaRPr lang="en-US" sz="1300" dirty="0"/>
          </a:p>
        </p:txBody>
      </p:sp>
      <p:sp>
        <p:nvSpPr>
          <p:cNvPr id="8" name="Shape 5"/>
          <p:cNvSpPr/>
          <p:nvPr/>
        </p:nvSpPr>
        <p:spPr>
          <a:xfrm>
            <a:off x="3191256" y="1773936"/>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37560" y="1847088"/>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Affected product, vulnerable build, vendor advisory</a:t>
            </a:r>
            <a:endParaRPr lang="en-US" sz="1350" dirty="0"/>
          </a:p>
        </p:txBody>
      </p:sp>
      <p:sp>
        <p:nvSpPr>
          <p:cNvPr id="10" name="Shape 7"/>
          <p:cNvSpPr/>
          <p:nvPr/>
        </p:nvSpPr>
        <p:spPr>
          <a:xfrm>
            <a:off x="777240" y="2450592"/>
            <a:ext cx="2194560" cy="539496"/>
          </a:xfrm>
          <a:prstGeom prst="roundRect">
            <a:avLst>
              <a:gd name="adj" fmla="val 13559"/>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68680" y="2523744"/>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Threat</a:t>
            </a:r>
            <a:endParaRPr lang="en-US" sz="1300" dirty="0"/>
          </a:p>
        </p:txBody>
      </p:sp>
      <p:sp>
        <p:nvSpPr>
          <p:cNvPr id="12" name="Shape 9"/>
          <p:cNvSpPr/>
          <p:nvPr/>
        </p:nvSpPr>
        <p:spPr>
          <a:xfrm>
            <a:off x="3191256" y="2450592"/>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37560" y="2523744"/>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KEV, active exploitation, exploit availability</a:t>
            </a:r>
            <a:endParaRPr lang="en-US" sz="1350" dirty="0"/>
          </a:p>
        </p:txBody>
      </p:sp>
      <p:sp>
        <p:nvSpPr>
          <p:cNvPr id="14" name="Shape 11"/>
          <p:cNvSpPr/>
          <p:nvPr/>
        </p:nvSpPr>
        <p:spPr>
          <a:xfrm>
            <a:off x="777240" y="3127248"/>
            <a:ext cx="2194560" cy="539496"/>
          </a:xfrm>
          <a:prstGeom prst="roundRect">
            <a:avLst>
              <a:gd name="adj" fmla="val 13559"/>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68680" y="3200400"/>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Exposure</a:t>
            </a:r>
            <a:endParaRPr lang="en-US" sz="1300" dirty="0"/>
          </a:p>
        </p:txBody>
      </p:sp>
      <p:sp>
        <p:nvSpPr>
          <p:cNvPr id="16" name="Shape 13"/>
          <p:cNvSpPr/>
          <p:nvPr/>
        </p:nvSpPr>
        <p:spPr>
          <a:xfrm>
            <a:off x="3191256" y="3127248"/>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37560" y="3200400"/>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Internet path, reachable service, privilege level</a:t>
            </a:r>
            <a:endParaRPr lang="en-US" sz="1350" dirty="0"/>
          </a:p>
        </p:txBody>
      </p:sp>
      <p:sp>
        <p:nvSpPr>
          <p:cNvPr id="18" name="Shape 15"/>
          <p:cNvSpPr/>
          <p:nvPr/>
        </p:nvSpPr>
        <p:spPr>
          <a:xfrm>
            <a:off x="777240" y="3803904"/>
            <a:ext cx="2194560" cy="539496"/>
          </a:xfrm>
          <a:prstGeom prst="roundRect">
            <a:avLst>
              <a:gd name="adj" fmla="val 13559"/>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68680" y="3877056"/>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Impact</a:t>
            </a:r>
            <a:endParaRPr lang="en-US" sz="1300" dirty="0"/>
          </a:p>
        </p:txBody>
      </p:sp>
      <p:sp>
        <p:nvSpPr>
          <p:cNvPr id="20" name="Shape 17"/>
          <p:cNvSpPr/>
          <p:nvPr/>
        </p:nvSpPr>
        <p:spPr>
          <a:xfrm>
            <a:off x="3191256" y="3803904"/>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37560" y="3877056"/>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CDE, critical service, safety or availability</a:t>
            </a:r>
            <a:endParaRPr lang="en-US" sz="1350" dirty="0"/>
          </a:p>
        </p:txBody>
      </p:sp>
      <p:sp>
        <p:nvSpPr>
          <p:cNvPr id="22" name="Shape 19"/>
          <p:cNvSpPr/>
          <p:nvPr/>
        </p:nvSpPr>
        <p:spPr>
          <a:xfrm>
            <a:off x="777240" y="4480560"/>
            <a:ext cx="2194560" cy="539496"/>
          </a:xfrm>
          <a:prstGeom prst="roundRect">
            <a:avLst>
              <a:gd name="adj" fmla="val 13559"/>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68680" y="4553712"/>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p>
        </p:txBody>
      </p:sp>
      <p:sp>
        <p:nvSpPr>
          <p:cNvPr id="24" name="Shape 21"/>
          <p:cNvSpPr/>
          <p:nvPr/>
        </p:nvSpPr>
        <p:spPr>
          <a:xfrm>
            <a:off x="3191256" y="4480560"/>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37560" y="4553712"/>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Patch, mitigate, exception, owner, deadline</a:t>
            </a:r>
            <a:endParaRPr lang="en-US" sz="13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FINDING TRIAGE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 finding must be confirmed before closure is claimed</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Keep false positives and accepted risk distinct.</a:t>
            </a:r>
            <a:endParaRPr lang="en-US" sz="1300" dirty="0"/>
          </a:p>
        </p:txBody>
      </p:sp>
      <p:sp>
        <p:nvSpPr>
          <p:cNvPr id="6" name="Shape 3"/>
          <p:cNvSpPr/>
          <p:nvPr/>
        </p:nvSpPr>
        <p:spPr>
          <a:xfrm>
            <a:off x="640080" y="205740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2057400"/>
            <a:ext cx="2330120"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11226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p>
        </p:txBody>
      </p:sp>
      <p:sp>
        <p:nvSpPr>
          <p:cNvPr id="9" name="Text 6"/>
          <p:cNvSpPr txBox="1"/>
          <p:nvPr/>
        </p:nvSpPr>
        <p:spPr>
          <a:xfrm>
            <a:off x="777240" y="255117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scanner assertion</a:t>
            </a:r>
            <a:endParaRPr lang="en-US" sz="1400" dirty="0"/>
          </a:p>
        </p:txBody>
      </p:sp>
      <p:sp>
        <p:nvSpPr>
          <p:cNvPr id="10" name="Shape 7"/>
          <p:cNvSpPr/>
          <p:nvPr/>
        </p:nvSpPr>
        <p:spPr>
          <a:xfrm>
            <a:off x="3025064" y="2971800"/>
            <a:ext cx="420624"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500552" y="205740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500552" y="2057400"/>
            <a:ext cx="233012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591992" y="211226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14" name="Text 11"/>
          <p:cNvSpPr txBox="1"/>
          <p:nvPr/>
        </p:nvSpPr>
        <p:spPr>
          <a:xfrm>
            <a:off x="3637712" y="255117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version + context</a:t>
            </a:r>
            <a:endParaRPr lang="en-US" sz="1400" dirty="0"/>
          </a:p>
        </p:txBody>
      </p:sp>
      <p:sp>
        <p:nvSpPr>
          <p:cNvPr id="15" name="Shape 12"/>
          <p:cNvSpPr/>
          <p:nvPr/>
        </p:nvSpPr>
        <p:spPr>
          <a:xfrm>
            <a:off x="5885536" y="2971800"/>
            <a:ext cx="420624"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61024" y="205740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61024" y="2057400"/>
            <a:ext cx="233012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6452464" y="211226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Act</a:t>
            </a:r>
            <a:endParaRPr lang="en-US" sz="1150" dirty="0"/>
          </a:p>
        </p:txBody>
      </p:sp>
      <p:sp>
        <p:nvSpPr>
          <p:cNvPr id="19" name="Text 16"/>
          <p:cNvSpPr txBox="1"/>
          <p:nvPr/>
        </p:nvSpPr>
        <p:spPr>
          <a:xfrm>
            <a:off x="6498184" y="255117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patch or mitigate</a:t>
            </a:r>
            <a:endParaRPr lang="en-US" sz="1400" dirty="0"/>
          </a:p>
        </p:txBody>
      </p:sp>
      <p:sp>
        <p:nvSpPr>
          <p:cNvPr id="20" name="Shape 17"/>
          <p:cNvSpPr/>
          <p:nvPr/>
        </p:nvSpPr>
        <p:spPr>
          <a:xfrm>
            <a:off x="8746007" y="2971800"/>
            <a:ext cx="420624"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21495" y="205740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21495" y="2057400"/>
            <a:ext cx="2330120"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312935" y="211226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p:txBody>
      </p:sp>
      <p:sp>
        <p:nvSpPr>
          <p:cNvPr id="24" name="Text 21"/>
          <p:cNvSpPr txBox="1"/>
          <p:nvPr/>
        </p:nvSpPr>
        <p:spPr>
          <a:xfrm>
            <a:off x="9358655" y="255117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rescan + service test</a:t>
            </a:r>
            <a:endParaRPr lang="en-US" sz="1400" dirty="0"/>
          </a:p>
        </p:txBody>
      </p:sp>
      <p:sp>
        <p:nvSpPr>
          <p:cNvPr id="25" name="Shape 22"/>
          <p:cNvSpPr/>
          <p:nvPr/>
        </p:nvSpPr>
        <p:spPr>
          <a:xfrm>
            <a:off x="960120" y="4617720"/>
            <a:ext cx="10195560" cy="786384"/>
          </a:xfrm>
          <a:prstGeom prst="roundRect">
            <a:avLst>
              <a:gd name="adj" fmla="val 9302"/>
            </a:avLst>
          </a:prstGeom>
          <a:solidFill>
            <a:srgbClr val="FFFFFF"/>
          </a:solidFill>
          <a:ln w="12700">
            <a:solidFill>
              <a:srgbClr val="C0504D"/>
            </a:solidFill>
            <a:prstDash val="solid"/>
          </a:ln>
        </p:spPr>
        <p:txBody>
          <a:bodyPr/>
          <a:lstStyle/>
          <a:p>
            <a:endParaRPr lang="en-US"/>
          </a:p>
        </p:txBody>
      </p:sp>
      <p:sp>
        <p:nvSpPr>
          <p:cNvPr id="26" name="Shape 23"/>
          <p:cNvSpPr/>
          <p:nvPr/>
        </p:nvSpPr>
        <p:spPr>
          <a:xfrm>
            <a:off x="960120" y="4617720"/>
            <a:ext cx="91440" cy="786384"/>
          </a:xfrm>
          <a:prstGeom prst="rect">
            <a:avLst/>
          </a:prstGeom>
          <a:solidFill>
            <a:srgbClr val="C0504D"/>
          </a:solidFill>
          <a:ln w="12700">
            <a:solidFill>
              <a:srgbClr val="C0504D"/>
            </a:solidFill>
            <a:prstDash val="solid"/>
          </a:ln>
        </p:spPr>
        <p:txBody>
          <a:bodyPr/>
          <a:lstStyle/>
          <a:p>
            <a:endParaRPr lang="en-US"/>
          </a:p>
        </p:txBody>
      </p:sp>
      <p:sp>
        <p:nvSpPr>
          <p:cNvPr id="27" name="Text 24"/>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C0504D"/>
                </a:solidFill>
                <a:latin typeface="Calibri" pitchFamily="34" charset="0"/>
                <a:ea typeface="Calibri" pitchFamily="34" charset="-122"/>
                <a:cs typeface="Calibri" pitchFamily="34" charset="-120"/>
              </a:rPr>
              <a:t>Evidence rule</a:t>
            </a:r>
            <a:endParaRPr lang="en-US" sz="1350" dirty="0"/>
          </a:p>
        </p:txBody>
      </p:sp>
      <p:sp>
        <p:nvSpPr>
          <p:cNvPr id="28" name="Text 25"/>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A passing scan without a healthy service is not a successful change.</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LINUX: AUTOMATION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Ubuntu unattended-upgrades needs an operating policy</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Automated install is useful only when exceptions and reboot behavior are explicit.</a:t>
            </a:r>
            <a:endParaRPr lang="en-US" sz="1300" dirty="0"/>
          </a:p>
        </p:txBody>
      </p:sp>
      <p:sp>
        <p:nvSpPr>
          <p:cNvPr id="6" name="Shape 3"/>
          <p:cNvSpPr/>
          <p:nvPr/>
        </p:nvSpPr>
        <p:spPr>
          <a:xfrm>
            <a:off x="777240" y="1773936"/>
            <a:ext cx="2194560" cy="539496"/>
          </a:xfrm>
          <a:prstGeom prst="roundRect">
            <a:avLst>
              <a:gd name="adj" fmla="val 13559"/>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68680" y="1847088"/>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Scope</a:t>
            </a:r>
            <a:endParaRPr lang="en-US" sz="1300" dirty="0"/>
          </a:p>
        </p:txBody>
      </p:sp>
      <p:sp>
        <p:nvSpPr>
          <p:cNvPr id="8" name="Shape 5"/>
          <p:cNvSpPr/>
          <p:nvPr/>
        </p:nvSpPr>
        <p:spPr>
          <a:xfrm>
            <a:off x="3191256" y="1773936"/>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37560" y="1847088"/>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Which repositories and update classes are allowed?</a:t>
            </a:r>
            <a:endParaRPr lang="en-US" sz="1350" dirty="0"/>
          </a:p>
        </p:txBody>
      </p:sp>
      <p:sp>
        <p:nvSpPr>
          <p:cNvPr id="10" name="Shape 7"/>
          <p:cNvSpPr/>
          <p:nvPr/>
        </p:nvSpPr>
        <p:spPr>
          <a:xfrm>
            <a:off x="777240" y="2441448"/>
            <a:ext cx="2194560" cy="539496"/>
          </a:xfrm>
          <a:prstGeom prst="roundRect">
            <a:avLst>
              <a:gd name="adj" fmla="val 13559"/>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68680" y="2514600"/>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Timing</a:t>
            </a:r>
            <a:endParaRPr lang="en-US" sz="1300" dirty="0"/>
          </a:p>
        </p:txBody>
      </p:sp>
      <p:sp>
        <p:nvSpPr>
          <p:cNvPr id="12" name="Shape 9"/>
          <p:cNvSpPr/>
          <p:nvPr/>
        </p:nvSpPr>
        <p:spPr>
          <a:xfrm>
            <a:off x="3191256" y="2441448"/>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37560" y="2514600"/>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When may installation and reboot occur?</a:t>
            </a:r>
            <a:endParaRPr lang="en-US" sz="1350" dirty="0"/>
          </a:p>
        </p:txBody>
      </p:sp>
      <p:sp>
        <p:nvSpPr>
          <p:cNvPr id="14" name="Shape 11"/>
          <p:cNvSpPr/>
          <p:nvPr/>
        </p:nvSpPr>
        <p:spPr>
          <a:xfrm>
            <a:off x="777240" y="3108960"/>
            <a:ext cx="2194560" cy="539496"/>
          </a:xfrm>
          <a:prstGeom prst="roundRect">
            <a:avLst>
              <a:gd name="adj" fmla="val 13559"/>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68680" y="3182112"/>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Exceptions</a:t>
            </a:r>
            <a:endParaRPr lang="en-US" sz="1300" dirty="0"/>
          </a:p>
        </p:txBody>
      </p:sp>
      <p:sp>
        <p:nvSpPr>
          <p:cNvPr id="16" name="Shape 13"/>
          <p:cNvSpPr/>
          <p:nvPr/>
        </p:nvSpPr>
        <p:spPr>
          <a:xfrm>
            <a:off x="3191256" y="3108960"/>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37560" y="3182112"/>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Which packages need manual testing?</a:t>
            </a:r>
            <a:endParaRPr lang="en-US" sz="1350" dirty="0"/>
          </a:p>
        </p:txBody>
      </p:sp>
      <p:sp>
        <p:nvSpPr>
          <p:cNvPr id="18" name="Shape 15"/>
          <p:cNvSpPr/>
          <p:nvPr/>
        </p:nvSpPr>
        <p:spPr>
          <a:xfrm>
            <a:off x="777240" y="3776472"/>
            <a:ext cx="2194560" cy="539496"/>
          </a:xfrm>
          <a:prstGeom prst="roundRect">
            <a:avLst>
              <a:gd name="adj" fmla="val 13559"/>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68680" y="3849624"/>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20" name="Shape 17"/>
          <p:cNvSpPr/>
          <p:nvPr/>
        </p:nvSpPr>
        <p:spPr>
          <a:xfrm>
            <a:off x="3191256" y="3776472"/>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37560" y="3849624"/>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Where are logs and failure alerts sent?</a:t>
            </a:r>
            <a:endParaRPr lang="en-US" sz="1350" dirty="0"/>
          </a:p>
        </p:txBody>
      </p:sp>
      <p:sp>
        <p:nvSpPr>
          <p:cNvPr id="22" name="Shape 19"/>
          <p:cNvSpPr/>
          <p:nvPr/>
        </p:nvSpPr>
        <p:spPr>
          <a:xfrm>
            <a:off x="777240" y="4443984"/>
            <a:ext cx="2194560" cy="539496"/>
          </a:xfrm>
          <a:prstGeom prst="roundRect">
            <a:avLst>
              <a:gd name="adj" fmla="val 13559"/>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68680" y="4517136"/>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Recovery</a:t>
            </a:r>
            <a:endParaRPr lang="en-US" sz="1300" dirty="0"/>
          </a:p>
        </p:txBody>
      </p:sp>
      <p:sp>
        <p:nvSpPr>
          <p:cNvPr id="24" name="Shape 21"/>
          <p:cNvSpPr/>
          <p:nvPr/>
        </p:nvSpPr>
        <p:spPr>
          <a:xfrm>
            <a:off x="3191256" y="4443984"/>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37560" y="4517136"/>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Who owns a failed unattended update?</a:t>
            </a:r>
            <a:endParaRPr lang="en-US" sz="13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WINDOWS: WSUS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WSUS uses groups and approvals to stage Windows updates</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The rollout still needs tests, restart coordination, and closure evidence.</a:t>
            </a:r>
            <a:endParaRPr lang="en-US" sz="1300" dirty="0"/>
          </a:p>
        </p:txBody>
      </p:sp>
      <p:sp>
        <p:nvSpPr>
          <p:cNvPr id="6" name="Shape 3"/>
          <p:cNvSpPr/>
          <p:nvPr/>
        </p:nvSpPr>
        <p:spPr>
          <a:xfrm>
            <a:off x="640080" y="201168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2011680"/>
            <a:ext cx="2330120"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Sync</a:t>
            </a:r>
            <a:endParaRPr lang="en-US" sz="1150" dirty="0"/>
          </a:p>
        </p:txBody>
      </p:sp>
      <p:sp>
        <p:nvSpPr>
          <p:cNvPr id="9" name="Text 6"/>
          <p:cNvSpPr txBox="1"/>
          <p:nvPr/>
        </p:nvSpPr>
        <p:spPr>
          <a:xfrm>
            <a:off x="777240" y="250545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update catalog</a:t>
            </a:r>
            <a:endParaRPr lang="en-US" sz="1400" dirty="0"/>
          </a:p>
        </p:txBody>
      </p:sp>
      <p:sp>
        <p:nvSpPr>
          <p:cNvPr id="10" name="Shape 7"/>
          <p:cNvSpPr/>
          <p:nvPr/>
        </p:nvSpPr>
        <p:spPr>
          <a:xfrm>
            <a:off x="3025064" y="2926080"/>
            <a:ext cx="420624"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500552" y="201168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500552" y="2011680"/>
            <a:ext cx="233012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591992"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Pilot</a:t>
            </a:r>
            <a:endParaRPr lang="en-US" sz="1150" dirty="0"/>
          </a:p>
        </p:txBody>
      </p:sp>
      <p:sp>
        <p:nvSpPr>
          <p:cNvPr id="14" name="Text 11"/>
          <p:cNvSpPr txBox="1"/>
          <p:nvPr/>
        </p:nvSpPr>
        <p:spPr>
          <a:xfrm>
            <a:off x="3637712" y="250545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test group approval</a:t>
            </a:r>
            <a:endParaRPr lang="en-US" sz="1400" dirty="0"/>
          </a:p>
        </p:txBody>
      </p:sp>
      <p:sp>
        <p:nvSpPr>
          <p:cNvPr id="15" name="Shape 12"/>
          <p:cNvSpPr/>
          <p:nvPr/>
        </p:nvSpPr>
        <p:spPr>
          <a:xfrm>
            <a:off x="5885536" y="2926080"/>
            <a:ext cx="420624"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61024" y="201168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61024" y="2011680"/>
            <a:ext cx="233012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6452464"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Broad</a:t>
            </a:r>
            <a:endParaRPr lang="en-US" sz="1150" dirty="0"/>
          </a:p>
        </p:txBody>
      </p:sp>
      <p:sp>
        <p:nvSpPr>
          <p:cNvPr id="19" name="Text 16"/>
          <p:cNvSpPr txBox="1"/>
          <p:nvPr/>
        </p:nvSpPr>
        <p:spPr>
          <a:xfrm>
            <a:off x="6498184" y="250545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staged approval</a:t>
            </a:r>
            <a:endParaRPr lang="en-US" sz="1400" dirty="0"/>
          </a:p>
        </p:txBody>
      </p:sp>
      <p:sp>
        <p:nvSpPr>
          <p:cNvPr id="20" name="Shape 17"/>
          <p:cNvSpPr/>
          <p:nvPr/>
        </p:nvSpPr>
        <p:spPr>
          <a:xfrm>
            <a:off x="8746007" y="2926080"/>
            <a:ext cx="420624"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21495" y="2011680"/>
            <a:ext cx="2330120" cy="1828800"/>
          </a:xfrm>
          <a:prstGeom prst="roundRect">
            <a:avLst>
              <a:gd name="adj" fmla="val 4000"/>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21495" y="2011680"/>
            <a:ext cx="2330120"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312935" y="206654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p:txBody>
      </p:sp>
      <p:sp>
        <p:nvSpPr>
          <p:cNvPr id="24" name="Text 21"/>
          <p:cNvSpPr txBox="1"/>
          <p:nvPr/>
        </p:nvSpPr>
        <p:spPr>
          <a:xfrm>
            <a:off x="9358655" y="2505456"/>
            <a:ext cx="2055800" cy="123444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install + reboot</a:t>
            </a:r>
            <a:endParaRPr lang="en-US" sz="1400" dirty="0"/>
          </a:p>
        </p:txBody>
      </p:sp>
      <p:sp>
        <p:nvSpPr>
          <p:cNvPr id="25" name="Shape 22"/>
          <p:cNvSpPr/>
          <p:nvPr/>
        </p:nvSpPr>
        <p:spPr>
          <a:xfrm>
            <a:off x="960120" y="4617720"/>
            <a:ext cx="10195560" cy="786384"/>
          </a:xfrm>
          <a:prstGeom prst="roundRect">
            <a:avLst>
              <a:gd name="adj" fmla="val 9302"/>
            </a:avLst>
          </a:prstGeom>
          <a:solidFill>
            <a:srgbClr val="FFFFFF"/>
          </a:solidFill>
          <a:ln w="12700">
            <a:solidFill>
              <a:srgbClr val="8064A2"/>
            </a:solidFill>
            <a:prstDash val="solid"/>
          </a:ln>
        </p:spPr>
        <p:txBody>
          <a:bodyPr/>
          <a:lstStyle/>
          <a:p>
            <a:endParaRPr lang="en-US"/>
          </a:p>
        </p:txBody>
      </p:sp>
      <p:sp>
        <p:nvSpPr>
          <p:cNvPr id="26" name="Shape 23"/>
          <p:cNvSpPr/>
          <p:nvPr/>
        </p:nvSpPr>
        <p:spPr>
          <a:xfrm>
            <a:off x="960120" y="4617720"/>
            <a:ext cx="91440" cy="786384"/>
          </a:xfrm>
          <a:prstGeom prst="rect">
            <a:avLst/>
          </a:prstGeom>
          <a:solidFill>
            <a:srgbClr val="8064A2"/>
          </a:solidFill>
          <a:ln w="12700">
            <a:solidFill>
              <a:srgbClr val="8064A2"/>
            </a:solidFill>
            <a:prstDash val="solid"/>
          </a:ln>
        </p:spPr>
        <p:txBody>
          <a:bodyPr/>
          <a:lstStyle/>
          <a:p>
            <a:endParaRPr lang="en-US"/>
          </a:p>
        </p:txBody>
      </p:sp>
      <p:sp>
        <p:nvSpPr>
          <p:cNvPr id="27" name="Text 24"/>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8064A2"/>
                </a:solidFill>
                <a:latin typeface="Calibri" pitchFamily="34" charset="0"/>
                <a:ea typeface="Calibri" pitchFamily="34" charset="-122"/>
                <a:cs typeface="Calibri" pitchFamily="34" charset="-120"/>
              </a:rPr>
              <a:t>Current product note</a:t>
            </a:r>
            <a:endParaRPr lang="en-US" sz="1350" dirty="0"/>
          </a:p>
        </p:txBody>
      </p:sp>
      <p:sp>
        <p:nvSpPr>
          <p:cNvPr id="28" name="Text 25"/>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WSUS is supported for existing production use but is no longer receiving new features.</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STAGING</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Patch rings reduce the size of a bad surprise</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Move from representative systems to critical production deliberately.</a:t>
            </a:r>
            <a:endParaRPr lang="en-US" sz="1300" dirty="0"/>
          </a:p>
        </p:txBody>
      </p:sp>
      <p:sp>
        <p:nvSpPr>
          <p:cNvPr id="6" name="Shape 3"/>
          <p:cNvSpPr/>
          <p:nvPr/>
        </p:nvSpPr>
        <p:spPr>
          <a:xfrm>
            <a:off x="640080" y="196596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2330120"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Lab</a:t>
            </a:r>
            <a:endParaRPr lang="en-US" sz="1150" dirty="0"/>
          </a:p>
        </p:txBody>
      </p:sp>
      <p:sp>
        <p:nvSpPr>
          <p:cNvPr id="9" name="Text 6"/>
          <p:cNvSpPr txBox="1"/>
          <p:nvPr/>
        </p:nvSpPr>
        <p:spPr>
          <a:xfrm>
            <a:off x="777240" y="245973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basic install test</a:t>
            </a:r>
            <a:endParaRPr lang="en-US" sz="1400" dirty="0"/>
          </a:p>
        </p:txBody>
      </p:sp>
      <p:sp>
        <p:nvSpPr>
          <p:cNvPr id="10" name="Shape 7"/>
          <p:cNvSpPr/>
          <p:nvPr/>
        </p:nvSpPr>
        <p:spPr>
          <a:xfrm>
            <a:off x="3025064" y="2926080"/>
            <a:ext cx="420624"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500552" y="196596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500552" y="1965960"/>
            <a:ext cx="233012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591992" y="202082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Staging</a:t>
            </a:r>
            <a:endParaRPr lang="en-US" sz="1150" dirty="0"/>
          </a:p>
        </p:txBody>
      </p:sp>
      <p:sp>
        <p:nvSpPr>
          <p:cNvPr id="14" name="Text 11"/>
          <p:cNvSpPr txBox="1"/>
          <p:nvPr/>
        </p:nvSpPr>
        <p:spPr>
          <a:xfrm>
            <a:off x="3637712" y="245973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realistic dependencies</a:t>
            </a:r>
            <a:endParaRPr lang="en-US" sz="1400" dirty="0"/>
          </a:p>
        </p:txBody>
      </p:sp>
      <p:sp>
        <p:nvSpPr>
          <p:cNvPr id="15" name="Shape 12"/>
          <p:cNvSpPr/>
          <p:nvPr/>
        </p:nvSpPr>
        <p:spPr>
          <a:xfrm>
            <a:off x="5885536" y="2926080"/>
            <a:ext cx="420624"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61024" y="196596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61024" y="1965960"/>
            <a:ext cx="233012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6452464" y="202082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Pilot</a:t>
            </a:r>
            <a:endParaRPr lang="en-US" sz="1150" dirty="0"/>
          </a:p>
        </p:txBody>
      </p:sp>
      <p:sp>
        <p:nvSpPr>
          <p:cNvPr id="19" name="Text 16"/>
          <p:cNvSpPr txBox="1"/>
          <p:nvPr/>
        </p:nvSpPr>
        <p:spPr>
          <a:xfrm>
            <a:off x="6498184" y="245973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small production ring</a:t>
            </a:r>
            <a:endParaRPr lang="en-US" sz="1400" dirty="0"/>
          </a:p>
        </p:txBody>
      </p:sp>
      <p:sp>
        <p:nvSpPr>
          <p:cNvPr id="20" name="Shape 17"/>
          <p:cNvSpPr/>
          <p:nvPr/>
        </p:nvSpPr>
        <p:spPr>
          <a:xfrm>
            <a:off x="8746007" y="2926080"/>
            <a:ext cx="420624"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21495" y="1965960"/>
            <a:ext cx="2330120" cy="1920240"/>
          </a:xfrm>
          <a:prstGeom prst="roundRect">
            <a:avLst>
              <a:gd name="adj" fmla="val 3810"/>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21495" y="1965960"/>
            <a:ext cx="2330120"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312935" y="2020824"/>
            <a:ext cx="21472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Fleet</a:t>
            </a:r>
            <a:endParaRPr lang="en-US" sz="1150" dirty="0"/>
          </a:p>
        </p:txBody>
      </p:sp>
      <p:sp>
        <p:nvSpPr>
          <p:cNvPr id="24" name="Text 21"/>
          <p:cNvSpPr txBox="1"/>
          <p:nvPr/>
        </p:nvSpPr>
        <p:spPr>
          <a:xfrm>
            <a:off x="9358655" y="2459736"/>
            <a:ext cx="2055800" cy="132588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wider deployment</a:t>
            </a:r>
            <a:endParaRPr lang="en-US" sz="1400" dirty="0"/>
          </a:p>
        </p:txBody>
      </p:sp>
      <p:sp>
        <p:nvSpPr>
          <p:cNvPr id="25" name="Shape 22"/>
          <p:cNvSpPr/>
          <p:nvPr/>
        </p:nvSpPr>
        <p:spPr>
          <a:xfrm>
            <a:off x="960120" y="4617720"/>
            <a:ext cx="4762500" cy="786384"/>
          </a:xfrm>
          <a:prstGeom prst="roundRect">
            <a:avLst>
              <a:gd name="adj" fmla="val 9302"/>
            </a:avLst>
          </a:prstGeom>
          <a:solidFill>
            <a:srgbClr val="FFFFFF"/>
          </a:solidFill>
          <a:ln w="12700">
            <a:solidFill>
              <a:srgbClr val="C0504D"/>
            </a:solidFill>
            <a:prstDash val="solid"/>
          </a:ln>
        </p:spPr>
        <p:txBody>
          <a:bodyPr/>
          <a:lstStyle/>
          <a:p>
            <a:endParaRPr lang="en-US"/>
          </a:p>
        </p:txBody>
      </p:sp>
      <p:sp>
        <p:nvSpPr>
          <p:cNvPr id="26" name="Shape 23"/>
          <p:cNvSpPr/>
          <p:nvPr/>
        </p:nvSpPr>
        <p:spPr>
          <a:xfrm>
            <a:off x="960120" y="4617720"/>
            <a:ext cx="91440" cy="786384"/>
          </a:xfrm>
          <a:prstGeom prst="rect">
            <a:avLst/>
          </a:prstGeom>
          <a:solidFill>
            <a:srgbClr val="C0504D"/>
          </a:solidFill>
          <a:ln w="12700">
            <a:solidFill>
              <a:srgbClr val="C0504D"/>
            </a:solidFill>
            <a:prstDash val="solid"/>
          </a:ln>
        </p:spPr>
        <p:txBody>
          <a:bodyPr/>
          <a:lstStyle/>
          <a:p>
            <a:endParaRPr lang="en-US"/>
          </a:p>
        </p:txBody>
      </p:sp>
      <p:sp>
        <p:nvSpPr>
          <p:cNvPr id="27" name="Text 24"/>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C0504D"/>
                </a:solidFill>
                <a:latin typeface="Calibri" pitchFamily="34" charset="0"/>
                <a:ea typeface="Calibri" pitchFamily="34" charset="-122"/>
                <a:cs typeface="Calibri" pitchFamily="34" charset="-120"/>
              </a:rPr>
              <a:t>Gate</a:t>
            </a:r>
            <a:endParaRPr lang="en-US" sz="1350" dirty="0"/>
          </a:p>
        </p:txBody>
      </p:sp>
      <p:sp>
        <p:nvSpPr>
          <p:cNvPr id="28" name="Text 25"/>
          <p:cNvSpPr txBox="1"/>
          <p:nvPr/>
        </p:nvSpPr>
        <p:spPr>
          <a:xfrm>
            <a:off x="1188720" y="4965192"/>
            <a:ext cx="4431244" cy="365760"/>
          </a:xfrm>
          <a:prstGeom prst="rect">
            <a:avLst/>
          </a:prstGeom>
          <a:noFill/>
          <a:ln/>
        </p:spPr>
        <p:txBody>
          <a:bodyPr wrap="square" lIns="508" tIns="508" rIns="508" bIns="508" rtlCol="0" anchor="ctr">
            <a:normAutofit lnSpcReduction="10000"/>
          </a:bodyPr>
          <a:lstStyle/>
          <a:p>
            <a:pPr marL="0" indent="0" algn="l">
              <a:buNone/>
            </a:pPr>
            <a:r>
              <a:rPr lang="en-US" sz="1250" dirty="0">
                <a:solidFill>
                  <a:srgbClr val="203040"/>
                </a:solidFill>
                <a:latin typeface="Calibri" pitchFamily="34" charset="0"/>
                <a:ea typeface="Calibri" pitchFamily="34" charset="-122"/>
                <a:cs typeface="Calibri" pitchFamily="34" charset="-120"/>
              </a:rPr>
              <a:t>Advance only after health, security, and rollback checks pass for the current ring.</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TEST GATES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Test the service outcome, not only the install</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change has both security and availability acceptance criteria.</a:t>
            </a:r>
            <a:endParaRPr lang="en-US" sz="1300" dirty="0"/>
          </a:p>
        </p:txBody>
      </p:sp>
      <p:sp>
        <p:nvSpPr>
          <p:cNvPr id="6" name="Shape 3"/>
          <p:cNvSpPr/>
          <p:nvPr/>
        </p:nvSpPr>
        <p:spPr>
          <a:xfrm>
            <a:off x="777240" y="1773936"/>
            <a:ext cx="2194560" cy="539496"/>
          </a:xfrm>
          <a:prstGeom prst="roundRect">
            <a:avLst>
              <a:gd name="adj" fmla="val 13559"/>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68680" y="1847088"/>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Security</a:t>
            </a:r>
            <a:endParaRPr lang="en-US" sz="1300" dirty="0"/>
          </a:p>
        </p:txBody>
      </p:sp>
      <p:sp>
        <p:nvSpPr>
          <p:cNvPr id="8" name="Shape 5"/>
          <p:cNvSpPr/>
          <p:nvPr/>
        </p:nvSpPr>
        <p:spPr>
          <a:xfrm>
            <a:off x="3191256" y="1773936"/>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37560" y="1847088"/>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Affected version or advisory is remediated</a:t>
            </a:r>
            <a:endParaRPr lang="en-US" sz="1350" dirty="0"/>
          </a:p>
        </p:txBody>
      </p:sp>
      <p:sp>
        <p:nvSpPr>
          <p:cNvPr id="10" name="Shape 7"/>
          <p:cNvSpPr/>
          <p:nvPr/>
        </p:nvSpPr>
        <p:spPr>
          <a:xfrm>
            <a:off x="777240" y="2441448"/>
            <a:ext cx="2194560" cy="539496"/>
          </a:xfrm>
          <a:prstGeom prst="roundRect">
            <a:avLst>
              <a:gd name="adj" fmla="val 13559"/>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68680" y="2514600"/>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Service</a:t>
            </a:r>
            <a:endParaRPr lang="en-US" sz="1300" dirty="0"/>
          </a:p>
        </p:txBody>
      </p:sp>
      <p:sp>
        <p:nvSpPr>
          <p:cNvPr id="12" name="Shape 9"/>
          <p:cNvSpPr/>
          <p:nvPr/>
        </p:nvSpPr>
        <p:spPr>
          <a:xfrm>
            <a:off x="3191256" y="2441448"/>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37560" y="2514600"/>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Synthetic transaction passes</a:t>
            </a:r>
            <a:endParaRPr lang="en-US" sz="1350" dirty="0"/>
          </a:p>
        </p:txBody>
      </p:sp>
      <p:sp>
        <p:nvSpPr>
          <p:cNvPr id="14" name="Shape 11"/>
          <p:cNvSpPr/>
          <p:nvPr/>
        </p:nvSpPr>
        <p:spPr>
          <a:xfrm>
            <a:off x="777240" y="3108960"/>
            <a:ext cx="2194560" cy="539496"/>
          </a:xfrm>
          <a:prstGeom prst="roundRect">
            <a:avLst>
              <a:gd name="adj" fmla="val 13559"/>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68680" y="3182112"/>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Dependency</a:t>
            </a:r>
            <a:endParaRPr lang="en-US" sz="1300" dirty="0"/>
          </a:p>
        </p:txBody>
      </p:sp>
      <p:sp>
        <p:nvSpPr>
          <p:cNvPr id="16" name="Shape 13"/>
          <p:cNvSpPr/>
          <p:nvPr/>
        </p:nvSpPr>
        <p:spPr>
          <a:xfrm>
            <a:off x="3191256" y="3108960"/>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37560" y="3182112"/>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Database, auth, and upstream calls work</a:t>
            </a:r>
            <a:endParaRPr lang="en-US" sz="1350" dirty="0"/>
          </a:p>
        </p:txBody>
      </p:sp>
      <p:sp>
        <p:nvSpPr>
          <p:cNvPr id="18" name="Shape 15"/>
          <p:cNvSpPr/>
          <p:nvPr/>
        </p:nvSpPr>
        <p:spPr>
          <a:xfrm>
            <a:off x="777240" y="3776472"/>
            <a:ext cx="2194560" cy="539496"/>
          </a:xfrm>
          <a:prstGeom prst="roundRect">
            <a:avLst>
              <a:gd name="adj" fmla="val 13559"/>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68680" y="3849624"/>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Telemetry</a:t>
            </a:r>
            <a:endParaRPr lang="en-US" sz="1300" dirty="0"/>
          </a:p>
        </p:txBody>
      </p:sp>
      <p:sp>
        <p:nvSpPr>
          <p:cNvPr id="20" name="Shape 17"/>
          <p:cNvSpPr/>
          <p:nvPr/>
        </p:nvSpPr>
        <p:spPr>
          <a:xfrm>
            <a:off x="3191256" y="3776472"/>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37560" y="3849624"/>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Error rate and latency stay within gate</a:t>
            </a:r>
            <a:endParaRPr lang="en-US" sz="1350" dirty="0"/>
          </a:p>
        </p:txBody>
      </p:sp>
      <p:sp>
        <p:nvSpPr>
          <p:cNvPr id="22" name="Shape 19"/>
          <p:cNvSpPr/>
          <p:nvPr/>
        </p:nvSpPr>
        <p:spPr>
          <a:xfrm>
            <a:off x="777240" y="4443984"/>
            <a:ext cx="2194560" cy="539496"/>
          </a:xfrm>
          <a:prstGeom prst="roundRect">
            <a:avLst>
              <a:gd name="adj" fmla="val 13559"/>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68680" y="4517136"/>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Recovery</a:t>
            </a:r>
            <a:endParaRPr lang="en-US" sz="1300" dirty="0"/>
          </a:p>
        </p:txBody>
      </p:sp>
      <p:sp>
        <p:nvSpPr>
          <p:cNvPr id="24" name="Shape 21"/>
          <p:cNvSpPr/>
          <p:nvPr/>
        </p:nvSpPr>
        <p:spPr>
          <a:xfrm>
            <a:off x="3191256" y="4443984"/>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37560" y="4517136"/>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Rollback path remains available</a:t>
            </a:r>
            <a:endParaRPr lang="en-US" sz="13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KUBERNETES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Roll an application update one Pod at a time</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Deployment can add one new Pod, wait for readiness, then retire an old one.</a:t>
            </a:r>
            <a:endParaRPr lang="en-US" sz="1300" dirty="0"/>
          </a:p>
        </p:txBody>
      </p:sp>
      <p:sp>
        <p:nvSpPr>
          <p:cNvPr id="6" name="Shape 3"/>
          <p:cNvSpPr/>
          <p:nvPr/>
        </p:nvSpPr>
        <p:spPr>
          <a:xfrm>
            <a:off x="731520" y="1828800"/>
            <a:ext cx="3200400" cy="2240280"/>
          </a:xfrm>
          <a:prstGeom prst="roundRect">
            <a:avLst>
              <a:gd name="adj" fmla="val 3265"/>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731520" y="1828800"/>
            <a:ext cx="320040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8" name="Text 5"/>
          <p:cNvSpPr txBox="1"/>
          <p:nvPr/>
        </p:nvSpPr>
        <p:spPr>
          <a:xfrm>
            <a:off x="822960" y="1883664"/>
            <a:ext cx="301752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BEFORE</a:t>
            </a:r>
            <a:endParaRPr lang="en-US" sz="1150" dirty="0"/>
          </a:p>
        </p:txBody>
      </p:sp>
      <p:sp>
        <p:nvSpPr>
          <p:cNvPr id="9" name="Text 6"/>
          <p:cNvSpPr txBox="1"/>
          <p:nvPr/>
        </p:nvSpPr>
        <p:spPr>
          <a:xfrm>
            <a:off x="868680" y="2322576"/>
            <a:ext cx="2926080" cy="16459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  A  A</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3 ready replicas</a:t>
            </a:r>
            <a:endParaRPr lang="en-US" sz="1400" dirty="0"/>
          </a:p>
        </p:txBody>
      </p:sp>
      <p:sp>
        <p:nvSpPr>
          <p:cNvPr id="10" name="Shape 7"/>
          <p:cNvSpPr/>
          <p:nvPr/>
        </p:nvSpPr>
        <p:spPr>
          <a:xfrm>
            <a:off x="4480560" y="1828800"/>
            <a:ext cx="3200400" cy="2240280"/>
          </a:xfrm>
          <a:prstGeom prst="roundRect">
            <a:avLst>
              <a:gd name="adj" fmla="val 3265"/>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480560" y="1828800"/>
            <a:ext cx="320040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2" name="Text 9"/>
          <p:cNvSpPr txBox="1"/>
          <p:nvPr/>
        </p:nvSpPr>
        <p:spPr>
          <a:xfrm>
            <a:off x="4572000" y="1883664"/>
            <a:ext cx="301752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DURING</a:t>
            </a:r>
            <a:endParaRPr lang="en-US" sz="1150" dirty="0"/>
          </a:p>
        </p:txBody>
      </p:sp>
      <p:sp>
        <p:nvSpPr>
          <p:cNvPr id="13" name="Text 10"/>
          <p:cNvSpPr txBox="1"/>
          <p:nvPr/>
        </p:nvSpPr>
        <p:spPr>
          <a:xfrm>
            <a:off x="4617720" y="2322576"/>
            <a:ext cx="2926080" cy="16459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  A  A  B</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B must become ready</a:t>
            </a:r>
            <a:endParaRPr lang="en-US" sz="1400" dirty="0"/>
          </a:p>
        </p:txBody>
      </p:sp>
      <p:sp>
        <p:nvSpPr>
          <p:cNvPr id="14" name="Shape 11"/>
          <p:cNvSpPr/>
          <p:nvPr/>
        </p:nvSpPr>
        <p:spPr>
          <a:xfrm>
            <a:off x="8229600" y="1828800"/>
            <a:ext cx="3200400" cy="2240280"/>
          </a:xfrm>
          <a:prstGeom prst="roundRect">
            <a:avLst>
              <a:gd name="adj" fmla="val 3265"/>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229600" y="1828800"/>
            <a:ext cx="3200400"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16" name="Text 13"/>
          <p:cNvSpPr txBox="1"/>
          <p:nvPr/>
        </p:nvSpPr>
        <p:spPr>
          <a:xfrm>
            <a:off x="8321040" y="1883664"/>
            <a:ext cx="301752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AFTER</a:t>
            </a:r>
            <a:endParaRPr lang="en-US" sz="1150" dirty="0"/>
          </a:p>
        </p:txBody>
      </p:sp>
      <p:sp>
        <p:nvSpPr>
          <p:cNvPr id="17" name="Text 14"/>
          <p:cNvSpPr txBox="1"/>
          <p:nvPr/>
        </p:nvSpPr>
        <p:spPr>
          <a:xfrm>
            <a:off x="8366760" y="2322576"/>
            <a:ext cx="2926080" cy="16459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B  B  B</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3 ready replicas</a:t>
            </a:r>
            <a:endParaRPr lang="en-US" sz="1400" dirty="0"/>
          </a:p>
        </p:txBody>
      </p:sp>
      <p:sp>
        <p:nvSpPr>
          <p:cNvPr id="18" name="Shape 15"/>
          <p:cNvSpPr/>
          <p:nvPr/>
        </p:nvSpPr>
        <p:spPr>
          <a:xfrm>
            <a:off x="4005072" y="2926080"/>
            <a:ext cx="365760" cy="0"/>
          </a:xfrm>
          <a:prstGeom prst="line">
            <a:avLst/>
          </a:prstGeom>
          <a:noFill/>
          <a:ln w="25400">
            <a:solidFill>
              <a:srgbClr val="94A3B8"/>
            </a:solidFill>
            <a:prstDash val="solid"/>
            <a:tailEnd type="triangle"/>
          </a:ln>
        </p:spPr>
        <p:txBody>
          <a:bodyPr/>
          <a:lstStyle/>
          <a:p>
            <a:endParaRPr lang="en-US"/>
          </a:p>
        </p:txBody>
      </p:sp>
      <p:sp>
        <p:nvSpPr>
          <p:cNvPr id="19" name="Shape 16"/>
          <p:cNvSpPr/>
          <p:nvPr/>
        </p:nvSpPr>
        <p:spPr>
          <a:xfrm>
            <a:off x="7754112" y="2926080"/>
            <a:ext cx="365760" cy="0"/>
          </a:xfrm>
          <a:prstGeom prst="line">
            <a:avLst/>
          </a:prstGeom>
          <a:noFill/>
          <a:ln w="25400">
            <a:solidFill>
              <a:srgbClr val="94A3B8"/>
            </a:solidFill>
            <a:prstDash val="solid"/>
            <a:tailEnd type="triangle"/>
          </a:ln>
        </p:spPr>
        <p:txBody>
          <a:bodyPr/>
          <a:lstStyle/>
          <a:p>
            <a:endParaRPr lang="en-US"/>
          </a:p>
        </p:txBody>
      </p:sp>
      <p:sp>
        <p:nvSpPr>
          <p:cNvPr id="20" name="Shape 17"/>
          <p:cNvSpPr/>
          <p:nvPr/>
        </p:nvSpPr>
        <p:spPr>
          <a:xfrm>
            <a:off x="1051560" y="4709160"/>
            <a:ext cx="10058400" cy="530352"/>
          </a:xfrm>
          <a:prstGeom prst="roundRect">
            <a:avLst>
              <a:gd name="adj" fmla="val 13793"/>
            </a:avLst>
          </a:prstGeom>
          <a:solidFill>
            <a:srgbClr val="16202C"/>
          </a:solidFill>
          <a:ln w="12700">
            <a:solidFill>
              <a:srgbClr val="16202C"/>
            </a:solidFill>
            <a:prstDash val="solid"/>
          </a:ln>
        </p:spPr>
        <p:txBody>
          <a:bodyPr/>
          <a:lstStyle/>
          <a:p>
            <a:endParaRPr lang="en-US"/>
          </a:p>
        </p:txBody>
      </p:sp>
      <p:sp>
        <p:nvSpPr>
          <p:cNvPr id="21" name="Shape 18"/>
          <p:cNvSpPr/>
          <p:nvPr/>
        </p:nvSpPr>
        <p:spPr>
          <a:xfrm>
            <a:off x="1051560" y="4709160"/>
            <a:ext cx="91440" cy="530352"/>
          </a:xfrm>
          <a:prstGeom prst="rect">
            <a:avLst/>
          </a:prstGeom>
          <a:solidFill>
            <a:srgbClr val="4BACC6"/>
          </a:solidFill>
          <a:ln w="12700">
            <a:solidFill>
              <a:srgbClr val="4BACC6"/>
            </a:solidFill>
            <a:prstDash val="solid"/>
          </a:ln>
        </p:spPr>
        <p:txBody>
          <a:bodyPr/>
          <a:lstStyle/>
          <a:p>
            <a:endParaRPr lang="en-US"/>
          </a:p>
        </p:txBody>
      </p:sp>
      <p:sp>
        <p:nvSpPr>
          <p:cNvPr id="22" name="Text 19"/>
          <p:cNvSpPr txBox="1"/>
          <p:nvPr/>
        </p:nvSpPr>
        <p:spPr>
          <a:xfrm>
            <a:off x="1280160" y="4864608"/>
            <a:ext cx="9646920" cy="256032"/>
          </a:xfrm>
          <a:prstGeom prst="rect">
            <a:avLst/>
          </a:prstGeom>
          <a:noFill/>
          <a:ln/>
        </p:spPr>
        <p:txBody>
          <a:bodyPr wrap="square" lIns="508" tIns="508" rIns="508" bIns="508" rtlCol="0" anchor="t">
            <a:normAutofit/>
          </a:bodyPr>
          <a:lstStyle/>
          <a:p>
            <a:pPr marL="0" indent="0" algn="l">
              <a:buNone/>
            </a:pPr>
            <a:r>
              <a:rPr lang="en-US" sz="1380" dirty="0">
                <a:solidFill>
                  <a:srgbClr val="E8F0F7"/>
                </a:solidFill>
                <a:latin typeface="Courier New" pitchFamily="34" charset="0"/>
                <a:ea typeface="Courier New" pitchFamily="34" charset="-122"/>
                <a:cs typeface="Courier New" pitchFamily="34" charset="-120"/>
              </a:rPr>
              <a:t>strategy: RollingUpdate   maxSurge: 1   maxUnavailable: 0</a:t>
            </a:r>
            <a:endParaRPr lang="en-US" sz="138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CLOSURE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Rescan with comparable settings</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Report what closed, what remains, and what broke.</a:t>
            </a:r>
            <a:endParaRPr lang="en-US" sz="1300" dirty="0"/>
          </a:p>
        </p:txBody>
      </p:sp>
      <p:sp>
        <p:nvSpPr>
          <p:cNvPr id="6" name="Shape 3"/>
          <p:cNvSpPr/>
          <p:nvPr/>
        </p:nvSpPr>
        <p:spPr>
          <a:xfrm>
            <a:off x="777240" y="1773936"/>
            <a:ext cx="2194560" cy="539496"/>
          </a:xfrm>
          <a:prstGeom prst="roundRect">
            <a:avLst>
              <a:gd name="adj" fmla="val 13559"/>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68680" y="1847088"/>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8" name="Shape 5"/>
          <p:cNvSpPr/>
          <p:nvPr/>
        </p:nvSpPr>
        <p:spPr>
          <a:xfrm>
            <a:off x="3191256" y="1773936"/>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37560" y="1847088"/>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Finding no longer detected and service healthy</a:t>
            </a:r>
            <a:endParaRPr lang="en-US" sz="1350" dirty="0"/>
          </a:p>
        </p:txBody>
      </p:sp>
      <p:sp>
        <p:nvSpPr>
          <p:cNvPr id="10" name="Shape 7"/>
          <p:cNvSpPr/>
          <p:nvPr/>
        </p:nvSpPr>
        <p:spPr>
          <a:xfrm>
            <a:off x="777240" y="2441448"/>
            <a:ext cx="2194560" cy="539496"/>
          </a:xfrm>
          <a:prstGeom prst="roundRect">
            <a:avLst>
              <a:gd name="adj" fmla="val 13559"/>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68680" y="2514600"/>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Still open</a:t>
            </a:r>
            <a:endParaRPr lang="en-US" sz="1300" dirty="0"/>
          </a:p>
        </p:txBody>
      </p:sp>
      <p:sp>
        <p:nvSpPr>
          <p:cNvPr id="12" name="Shape 9"/>
          <p:cNvSpPr/>
          <p:nvPr/>
        </p:nvSpPr>
        <p:spPr>
          <a:xfrm>
            <a:off x="3191256" y="2441448"/>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37560" y="2514600"/>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Confirm version, restart, and detection logic</a:t>
            </a:r>
            <a:endParaRPr lang="en-US" sz="1350" dirty="0"/>
          </a:p>
        </p:txBody>
      </p:sp>
      <p:sp>
        <p:nvSpPr>
          <p:cNvPr id="14" name="Shape 11"/>
          <p:cNvSpPr/>
          <p:nvPr/>
        </p:nvSpPr>
        <p:spPr>
          <a:xfrm>
            <a:off x="777240" y="3108960"/>
            <a:ext cx="2194560" cy="539496"/>
          </a:xfrm>
          <a:prstGeom prst="roundRect">
            <a:avLst>
              <a:gd name="adj" fmla="val 13559"/>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68680" y="3182112"/>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New finding</a:t>
            </a:r>
            <a:endParaRPr lang="en-US" sz="1300" dirty="0"/>
          </a:p>
        </p:txBody>
      </p:sp>
      <p:sp>
        <p:nvSpPr>
          <p:cNvPr id="16" name="Shape 13"/>
          <p:cNvSpPr/>
          <p:nvPr/>
        </p:nvSpPr>
        <p:spPr>
          <a:xfrm>
            <a:off x="3191256" y="3108960"/>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37560" y="3182112"/>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Investigate package or configuration change</a:t>
            </a:r>
            <a:endParaRPr lang="en-US" sz="1350" dirty="0"/>
          </a:p>
        </p:txBody>
      </p:sp>
      <p:sp>
        <p:nvSpPr>
          <p:cNvPr id="18" name="Shape 15"/>
          <p:cNvSpPr/>
          <p:nvPr/>
        </p:nvSpPr>
        <p:spPr>
          <a:xfrm>
            <a:off x="777240" y="3776472"/>
            <a:ext cx="2194560" cy="539496"/>
          </a:xfrm>
          <a:prstGeom prst="roundRect">
            <a:avLst>
              <a:gd name="adj" fmla="val 13559"/>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68680" y="3849624"/>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Exception</a:t>
            </a:r>
            <a:endParaRPr lang="en-US" sz="1300" dirty="0"/>
          </a:p>
        </p:txBody>
      </p:sp>
      <p:sp>
        <p:nvSpPr>
          <p:cNvPr id="20" name="Shape 17"/>
          <p:cNvSpPr/>
          <p:nvPr/>
        </p:nvSpPr>
        <p:spPr>
          <a:xfrm>
            <a:off x="3191256" y="3776472"/>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37560" y="3849624"/>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Owner, mitigation, approval, and expiry</a:t>
            </a:r>
            <a:endParaRPr lang="en-US" sz="1350" dirty="0"/>
          </a:p>
        </p:txBody>
      </p:sp>
      <p:sp>
        <p:nvSpPr>
          <p:cNvPr id="22" name="Shape 19"/>
          <p:cNvSpPr/>
          <p:nvPr/>
        </p:nvSpPr>
        <p:spPr>
          <a:xfrm>
            <a:off x="777240" y="4443984"/>
            <a:ext cx="2194560" cy="539496"/>
          </a:xfrm>
          <a:prstGeom prst="roundRect">
            <a:avLst>
              <a:gd name="adj" fmla="val 13559"/>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68680" y="4517136"/>
            <a:ext cx="2011680"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24" name="Shape 21"/>
          <p:cNvSpPr/>
          <p:nvPr/>
        </p:nvSpPr>
        <p:spPr>
          <a:xfrm>
            <a:off x="3191256" y="4443984"/>
            <a:ext cx="8193024"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37560" y="4517136"/>
            <a:ext cx="7900416" cy="39319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Record scan IDs and change outcome</a:t>
            </a:r>
            <a:endParaRPr lang="en-US" sz="13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ROLLBACK</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Choose the recovery layer before the change</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Package, application, image, traffic, and backup rollback are different.</a:t>
            </a:r>
            <a:endParaRPr lang="en-US" sz="1300" dirty="0"/>
          </a:p>
        </p:txBody>
      </p:sp>
      <p:sp>
        <p:nvSpPr>
          <p:cNvPr id="6" name="Shape 3"/>
          <p:cNvSpPr/>
          <p:nvPr/>
        </p:nvSpPr>
        <p:spPr>
          <a:xfrm>
            <a:off x="658368" y="1874520"/>
            <a:ext cx="2567864"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2567864"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FAST</a:t>
            </a:r>
            <a:endParaRPr lang="en-US" sz="1150" dirty="0"/>
          </a:p>
        </p:txBody>
      </p:sp>
      <p:sp>
        <p:nvSpPr>
          <p:cNvPr id="9" name="Text 6"/>
          <p:cNvSpPr txBox="1"/>
          <p:nvPr/>
        </p:nvSpPr>
        <p:spPr>
          <a:xfrm>
            <a:off x="795528" y="2368296"/>
            <a:ext cx="2293544"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Stop rollout</a:t>
            </a:r>
            <a:endParaRPr lang="en-US" sz="1400" dirty="0"/>
          </a:p>
          <a:p>
            <a:pPr marL="0" indent="0" algn="ctr">
              <a:buNone/>
            </a:pPr>
            <a:r>
              <a:rPr lang="en-US" sz="1400" dirty="0">
                <a:solidFill>
                  <a:srgbClr val="203040"/>
                </a:solidFill>
                <a:latin typeface="Calibri" pitchFamily="34" charset="0"/>
                <a:ea typeface="Calibri" pitchFamily="34" charset="-122"/>
                <a:cs typeface="Calibri" pitchFamily="34" charset="-120"/>
              </a:rPr>
              <a:t>Shift traffic</a:t>
            </a:r>
            <a:endParaRPr lang="en-US" sz="1400" dirty="0"/>
          </a:p>
        </p:txBody>
      </p:sp>
      <p:sp>
        <p:nvSpPr>
          <p:cNvPr id="10" name="Shape 7"/>
          <p:cNvSpPr/>
          <p:nvPr/>
        </p:nvSpPr>
        <p:spPr>
          <a:xfrm>
            <a:off x="3427400" y="1874520"/>
            <a:ext cx="2567864"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3427400" y="1874520"/>
            <a:ext cx="256786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3518840" y="192938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PACKAGE</a:t>
            </a:r>
            <a:endParaRPr lang="en-US" sz="1150" dirty="0"/>
          </a:p>
        </p:txBody>
      </p:sp>
      <p:sp>
        <p:nvSpPr>
          <p:cNvPr id="13" name="Text 10"/>
          <p:cNvSpPr txBox="1"/>
          <p:nvPr/>
        </p:nvSpPr>
        <p:spPr>
          <a:xfrm>
            <a:off x="3564560" y="2368296"/>
            <a:ext cx="2293544"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Downgrade or undo transaction</a:t>
            </a:r>
            <a:endParaRPr lang="en-US" sz="1400" dirty="0"/>
          </a:p>
        </p:txBody>
      </p:sp>
      <p:sp>
        <p:nvSpPr>
          <p:cNvPr id="14" name="Shape 11"/>
          <p:cNvSpPr/>
          <p:nvPr/>
        </p:nvSpPr>
        <p:spPr>
          <a:xfrm>
            <a:off x="6196432" y="1874520"/>
            <a:ext cx="2567864"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6196432" y="1874520"/>
            <a:ext cx="256786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6287872" y="192938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IMAGE</a:t>
            </a:r>
            <a:endParaRPr lang="en-US" sz="1150" dirty="0"/>
          </a:p>
        </p:txBody>
      </p:sp>
      <p:sp>
        <p:nvSpPr>
          <p:cNvPr id="17" name="Text 14"/>
          <p:cNvSpPr txBox="1"/>
          <p:nvPr/>
        </p:nvSpPr>
        <p:spPr>
          <a:xfrm>
            <a:off x="6333592" y="2368296"/>
            <a:ext cx="2293544"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Revert application revision</a:t>
            </a:r>
            <a:endParaRPr lang="en-US" sz="1400" dirty="0"/>
          </a:p>
        </p:txBody>
      </p:sp>
      <p:sp>
        <p:nvSpPr>
          <p:cNvPr id="18" name="Shape 15"/>
          <p:cNvSpPr/>
          <p:nvPr/>
        </p:nvSpPr>
        <p:spPr>
          <a:xfrm>
            <a:off x="8965463" y="1874520"/>
            <a:ext cx="2567864" cy="2468880"/>
          </a:xfrm>
          <a:prstGeom prst="roundRect">
            <a:avLst>
              <a:gd name="adj" fmla="val 2963"/>
            </a:avLst>
          </a:prstGeom>
          <a:solidFill>
            <a:srgbClr val="FFFFFF"/>
          </a:solidFill>
          <a:ln w="12700">
            <a:solidFill>
              <a:srgbClr val="CBD5E1"/>
            </a:solidFill>
            <a:prstDash val="solid"/>
          </a:ln>
        </p:spPr>
        <p:txBody>
          <a:bodyPr/>
          <a:lstStyle/>
          <a:p>
            <a:endParaRPr lang="en-US"/>
          </a:p>
        </p:txBody>
      </p:sp>
      <p:sp>
        <p:nvSpPr>
          <p:cNvPr id="19" name="Shape 16"/>
          <p:cNvSpPr/>
          <p:nvPr/>
        </p:nvSpPr>
        <p:spPr>
          <a:xfrm>
            <a:off x="8965463" y="1874520"/>
            <a:ext cx="2567864"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0" name="Text 17"/>
          <p:cNvSpPr txBox="1"/>
          <p:nvPr/>
        </p:nvSpPr>
        <p:spPr>
          <a:xfrm>
            <a:off x="9056903" y="1929384"/>
            <a:ext cx="238498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RESTORE</a:t>
            </a:r>
            <a:endParaRPr lang="en-US" sz="1150" dirty="0"/>
          </a:p>
        </p:txBody>
      </p:sp>
      <p:sp>
        <p:nvSpPr>
          <p:cNvPr id="21" name="Text 18"/>
          <p:cNvSpPr txBox="1"/>
          <p:nvPr/>
        </p:nvSpPr>
        <p:spPr>
          <a:xfrm>
            <a:off x="9102623" y="2368296"/>
            <a:ext cx="2293544" cy="1874520"/>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Recover system or data state</a:t>
            </a:r>
            <a:endParaRPr lang="en-US" sz="1400" dirty="0"/>
          </a:p>
        </p:txBody>
      </p:sp>
      <p:sp>
        <p:nvSpPr>
          <p:cNvPr id="22" name="Shape 19"/>
          <p:cNvSpPr/>
          <p:nvPr/>
        </p:nvSpPr>
        <p:spPr>
          <a:xfrm>
            <a:off x="960120" y="4617720"/>
            <a:ext cx="10195560" cy="786384"/>
          </a:xfrm>
          <a:prstGeom prst="roundRect">
            <a:avLst>
              <a:gd name="adj" fmla="val 9302"/>
            </a:avLst>
          </a:prstGeom>
          <a:solidFill>
            <a:srgbClr val="FFFFFF"/>
          </a:solidFill>
          <a:ln w="12700">
            <a:solidFill>
              <a:srgbClr val="C0504D"/>
            </a:solidFill>
            <a:prstDash val="solid"/>
          </a:ln>
        </p:spPr>
        <p:txBody>
          <a:bodyPr/>
          <a:lstStyle/>
          <a:p>
            <a:endParaRPr lang="en-US"/>
          </a:p>
        </p:txBody>
      </p:sp>
      <p:sp>
        <p:nvSpPr>
          <p:cNvPr id="23" name="Shape 20"/>
          <p:cNvSpPr/>
          <p:nvPr/>
        </p:nvSpPr>
        <p:spPr>
          <a:xfrm>
            <a:off x="960120" y="4617720"/>
            <a:ext cx="91440" cy="786384"/>
          </a:xfrm>
          <a:prstGeom prst="rect">
            <a:avLst/>
          </a:prstGeom>
          <a:solidFill>
            <a:srgbClr val="C0504D"/>
          </a:solidFill>
          <a:ln w="12700">
            <a:solidFill>
              <a:srgbClr val="C0504D"/>
            </a:solidFill>
            <a:prstDash val="solid"/>
          </a:ln>
        </p:spPr>
        <p:txBody>
          <a:bodyPr/>
          <a:lstStyle/>
          <a:p>
            <a:endParaRPr lang="en-US"/>
          </a:p>
        </p:txBody>
      </p:sp>
      <p:sp>
        <p:nvSpPr>
          <p:cNvPr id="24" name="Text 21"/>
          <p:cNvSpPr txBox="1"/>
          <p:nvPr/>
        </p:nvSpPr>
        <p:spPr>
          <a:xfrm>
            <a:off x="1188720" y="4709160"/>
            <a:ext cx="9784080" cy="219456"/>
          </a:xfrm>
          <a:prstGeom prst="rect">
            <a:avLst/>
          </a:prstGeom>
          <a:noFill/>
          <a:ln/>
        </p:spPr>
        <p:txBody>
          <a:bodyPr wrap="square" lIns="508" tIns="508" rIns="508" bIns="508" rtlCol="0" anchor="ctr">
            <a:normAutofit/>
          </a:bodyPr>
          <a:lstStyle/>
          <a:p>
            <a:pPr marL="0" indent="0" algn="l">
              <a:buNone/>
            </a:pPr>
            <a:r>
              <a:rPr lang="en-US" sz="1350" b="1" dirty="0">
                <a:solidFill>
                  <a:srgbClr val="C0504D"/>
                </a:solidFill>
                <a:latin typeface="Calibri" pitchFamily="34" charset="0"/>
                <a:ea typeface="Calibri" pitchFamily="34" charset="-122"/>
                <a:cs typeface="Calibri" pitchFamily="34" charset="-120"/>
              </a:rPr>
              <a:t>Plan quality</a:t>
            </a:r>
            <a:endParaRPr lang="en-US" sz="1350" dirty="0"/>
          </a:p>
        </p:txBody>
      </p:sp>
      <p:sp>
        <p:nvSpPr>
          <p:cNvPr id="25" name="Text 22"/>
          <p:cNvSpPr txBox="1"/>
          <p:nvPr/>
        </p:nvSpPr>
        <p:spPr>
          <a:xfrm>
            <a:off x="1188720" y="4965192"/>
            <a:ext cx="9784080" cy="365760"/>
          </a:xfrm>
          <a:prstGeom prst="rect">
            <a:avLst/>
          </a:prstGeom>
          <a:noFill/>
          <a:ln/>
        </p:spPr>
        <p:txBody>
          <a:bodyPr wrap="square" lIns="508" tIns="508" rIns="508" bIns="508" rtlCol="0" anchor="ctr">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The rollback procedure must say who decides, what triggers it, and how recovery is verified.</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20040"/>
            <a:ext cx="420624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GROUP ACTIVITY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The security fix broke the payment API</a:t>
            </a:r>
            <a:endParaRPr lang="en-US" sz="2700" dirty="0"/>
          </a:p>
        </p:txBody>
      </p:sp>
      <p:sp>
        <p:nvSpPr>
          <p:cNvPr id="4" name="Text 2"/>
          <p:cNvSpPr txBox="1"/>
          <p:nvPr/>
        </p:nvSpPr>
        <p:spPr>
          <a:xfrm>
            <a:off x="530352" y="1133856"/>
            <a:ext cx="10698480" cy="320040"/>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Pick the next action and defend the threshold.</a:t>
            </a:r>
            <a:endParaRPr lang="en-US" sz="1300" dirty="0"/>
          </a:p>
        </p:txBody>
      </p:sp>
      <p:sp>
        <p:nvSpPr>
          <p:cNvPr id="6" name="Text 3"/>
          <p:cNvSpPr txBox="1"/>
          <p:nvPr/>
        </p:nvSpPr>
        <p:spPr>
          <a:xfrm>
            <a:off x="822960" y="1783080"/>
            <a:ext cx="10561320" cy="594360"/>
          </a:xfrm>
          <a:prstGeom prst="rect">
            <a:avLst/>
          </a:prstGeom>
          <a:noFill/>
          <a:ln/>
        </p:spPr>
        <p:txBody>
          <a:bodyPr wrap="square" lIns="508" tIns="508" rIns="508" bIns="508" rtlCol="0" anchor="ctr">
            <a:normAutofit/>
          </a:bodyPr>
          <a:lstStyle/>
          <a:p>
            <a:pPr marL="0" indent="0" algn="ctr">
              <a:buNone/>
            </a:pPr>
            <a:r>
              <a:rPr lang="en-US" sz="2000" b="1" dirty="0">
                <a:solidFill>
                  <a:srgbClr val="1F497D"/>
                </a:solidFill>
                <a:latin typeface="Calibri" pitchFamily="34" charset="0"/>
                <a:ea typeface="Calibri" pitchFamily="34" charset="-122"/>
                <a:cs typeface="Calibri" pitchFamily="34" charset="-120"/>
              </a:rPr>
              <a:t>Pilot API: vulnerability closed; 8% of test payments fail. What do you do?</a:t>
            </a:r>
            <a:endParaRPr lang="en-US" sz="2000" dirty="0"/>
          </a:p>
        </p:txBody>
      </p:sp>
      <p:sp>
        <p:nvSpPr>
          <p:cNvPr id="7" name="Shape 4"/>
          <p:cNvSpPr/>
          <p:nvPr/>
        </p:nvSpPr>
        <p:spPr>
          <a:xfrm>
            <a:off x="914400" y="2697480"/>
            <a:ext cx="10378440" cy="457200"/>
          </a:xfrm>
          <a:prstGeom prst="roundRect">
            <a:avLst>
              <a:gd name="adj" fmla="val 16000"/>
            </a:avLst>
          </a:prstGeom>
          <a:solidFill>
            <a:srgbClr val="FFFFFF"/>
          </a:solidFill>
          <a:ln w="12700">
            <a:solidFill>
              <a:srgbClr val="CBD5E1"/>
            </a:solidFill>
            <a:prstDash val="solid"/>
          </a:ln>
        </p:spPr>
        <p:txBody>
          <a:bodyPr/>
          <a:lstStyle/>
          <a:p>
            <a:endParaRPr lang="en-US"/>
          </a:p>
        </p:txBody>
      </p:sp>
      <p:sp>
        <p:nvSpPr>
          <p:cNvPr id="8" name="Shape 5"/>
          <p:cNvSpPr/>
          <p:nvPr/>
        </p:nvSpPr>
        <p:spPr>
          <a:xfrm>
            <a:off x="1078992" y="2816352"/>
            <a:ext cx="210312" cy="210312"/>
          </a:xfrm>
          <a:prstGeom prst="ellipse">
            <a:avLst/>
          </a:prstGeom>
          <a:solidFill>
            <a:srgbClr val="4BACC6"/>
          </a:solidFill>
          <a:ln w="12700">
            <a:solidFill>
              <a:srgbClr val="4BACC6"/>
            </a:solidFill>
            <a:prstDash val="solid"/>
          </a:ln>
        </p:spPr>
        <p:txBody>
          <a:bodyPr/>
          <a:lstStyle/>
          <a:p>
            <a:endParaRPr lang="en-US"/>
          </a:p>
        </p:txBody>
      </p:sp>
      <p:sp>
        <p:nvSpPr>
          <p:cNvPr id="9" name="Text 6"/>
          <p:cNvSpPr txBox="1"/>
          <p:nvPr/>
        </p:nvSpPr>
        <p:spPr>
          <a:xfrm>
            <a:off x="1481328" y="2779776"/>
            <a:ext cx="9509760" cy="265176"/>
          </a:xfrm>
          <a:prstGeom prst="rect">
            <a:avLst/>
          </a:prstGeom>
          <a:noFill/>
          <a:ln/>
        </p:spPr>
        <p:txBody>
          <a:bodyPr wrap="square" lIns="508" tIns="508" rIns="508" bIns="508" rtlCol="0" anchor="ctr">
            <a:normAutofit/>
          </a:bodyPr>
          <a:lstStyle/>
          <a:p>
            <a:pPr marL="0" indent="0" algn="l">
              <a:buNone/>
            </a:pPr>
            <a:r>
              <a:rPr lang="en-US" sz="1500" dirty="0">
                <a:solidFill>
                  <a:srgbClr val="203040"/>
                </a:solidFill>
                <a:latin typeface="Calibri" pitchFamily="34" charset="0"/>
                <a:ea typeface="Calibri" pitchFamily="34" charset="-122"/>
                <a:cs typeface="Calibri" pitchFamily="34" charset="-120"/>
              </a:rPr>
              <a:t>Pause at the pilot while checking the failure threshold</a:t>
            </a:r>
            <a:endParaRPr lang="en-US" sz="1500" dirty="0"/>
          </a:p>
        </p:txBody>
      </p:sp>
      <p:sp>
        <p:nvSpPr>
          <p:cNvPr id="10" name="Shape 7"/>
          <p:cNvSpPr/>
          <p:nvPr/>
        </p:nvSpPr>
        <p:spPr>
          <a:xfrm>
            <a:off x="914400" y="3291840"/>
            <a:ext cx="10378440" cy="457200"/>
          </a:xfrm>
          <a:prstGeom prst="roundRect">
            <a:avLst>
              <a:gd name="adj" fmla="val 16000"/>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1078992" y="3410712"/>
            <a:ext cx="210312" cy="210312"/>
          </a:xfrm>
          <a:prstGeom prst="ellipse">
            <a:avLst/>
          </a:prstGeom>
          <a:solidFill>
            <a:srgbClr val="F79646"/>
          </a:solidFill>
          <a:ln w="12700">
            <a:solidFill>
              <a:srgbClr val="F79646"/>
            </a:solidFill>
            <a:prstDash val="solid"/>
          </a:ln>
        </p:spPr>
        <p:txBody>
          <a:bodyPr/>
          <a:lstStyle/>
          <a:p>
            <a:endParaRPr lang="en-US"/>
          </a:p>
        </p:txBody>
      </p:sp>
      <p:sp>
        <p:nvSpPr>
          <p:cNvPr id="12" name="Text 9"/>
          <p:cNvSpPr txBox="1"/>
          <p:nvPr/>
        </p:nvSpPr>
        <p:spPr>
          <a:xfrm>
            <a:off x="1481328" y="3374136"/>
            <a:ext cx="9509760" cy="265176"/>
          </a:xfrm>
          <a:prstGeom prst="rect">
            <a:avLst/>
          </a:prstGeom>
          <a:noFill/>
          <a:ln/>
        </p:spPr>
        <p:txBody>
          <a:bodyPr wrap="square" lIns="508" tIns="508" rIns="508" bIns="508" rtlCol="0" anchor="ctr">
            <a:normAutofit/>
          </a:bodyPr>
          <a:lstStyle/>
          <a:p>
            <a:pPr marL="0" indent="0" algn="l">
              <a:buNone/>
            </a:pPr>
            <a:r>
              <a:rPr lang="en-US" sz="1500" dirty="0">
                <a:solidFill>
                  <a:srgbClr val="203040"/>
                </a:solidFill>
                <a:latin typeface="Calibri" pitchFamily="34" charset="0"/>
                <a:ea typeface="Calibri" pitchFamily="34" charset="-122"/>
                <a:cs typeface="Calibri" pitchFamily="34" charset="-120"/>
              </a:rPr>
              <a:t>Roll back the pilot and apply a temporary mitigation</a:t>
            </a:r>
            <a:endParaRPr lang="en-US" sz="1500" dirty="0"/>
          </a:p>
        </p:txBody>
      </p:sp>
      <p:sp>
        <p:nvSpPr>
          <p:cNvPr id="13" name="Shape 10"/>
          <p:cNvSpPr/>
          <p:nvPr/>
        </p:nvSpPr>
        <p:spPr>
          <a:xfrm>
            <a:off x="914400" y="3886200"/>
            <a:ext cx="10378440" cy="457200"/>
          </a:xfrm>
          <a:prstGeom prst="roundRect">
            <a:avLst>
              <a:gd name="adj" fmla="val 16000"/>
            </a:avLst>
          </a:prstGeom>
          <a:solidFill>
            <a:srgbClr val="FFFFFF"/>
          </a:solidFill>
          <a:ln w="12700">
            <a:solidFill>
              <a:srgbClr val="CBD5E1"/>
            </a:solidFill>
            <a:prstDash val="solid"/>
          </a:ln>
        </p:spPr>
        <p:txBody>
          <a:bodyPr/>
          <a:lstStyle/>
          <a:p>
            <a:endParaRPr lang="en-US"/>
          </a:p>
        </p:txBody>
      </p:sp>
      <p:sp>
        <p:nvSpPr>
          <p:cNvPr id="14" name="Shape 11"/>
          <p:cNvSpPr/>
          <p:nvPr/>
        </p:nvSpPr>
        <p:spPr>
          <a:xfrm>
            <a:off x="1078992" y="4005072"/>
            <a:ext cx="210312" cy="210312"/>
          </a:xfrm>
          <a:prstGeom prst="ellipse">
            <a:avLst/>
          </a:prstGeom>
          <a:solidFill>
            <a:srgbClr val="8064A2"/>
          </a:solidFill>
          <a:ln w="12700">
            <a:solidFill>
              <a:srgbClr val="8064A2"/>
            </a:solidFill>
            <a:prstDash val="solid"/>
          </a:ln>
        </p:spPr>
        <p:txBody>
          <a:bodyPr/>
          <a:lstStyle/>
          <a:p>
            <a:endParaRPr lang="en-US"/>
          </a:p>
        </p:txBody>
      </p:sp>
      <p:sp>
        <p:nvSpPr>
          <p:cNvPr id="15" name="Text 12"/>
          <p:cNvSpPr txBox="1"/>
          <p:nvPr/>
        </p:nvSpPr>
        <p:spPr>
          <a:xfrm>
            <a:off x="1481328" y="3968496"/>
            <a:ext cx="9509760" cy="265176"/>
          </a:xfrm>
          <a:prstGeom prst="rect">
            <a:avLst/>
          </a:prstGeom>
          <a:noFill/>
          <a:ln/>
        </p:spPr>
        <p:txBody>
          <a:bodyPr wrap="square" lIns="508" tIns="508" rIns="508" bIns="508" rtlCol="0" anchor="ctr">
            <a:normAutofit/>
          </a:bodyPr>
          <a:lstStyle/>
          <a:p>
            <a:pPr marL="0" indent="0" algn="l">
              <a:buNone/>
            </a:pPr>
            <a:r>
              <a:rPr lang="en-US" sz="1500" dirty="0">
                <a:solidFill>
                  <a:srgbClr val="203040"/>
                </a:solidFill>
                <a:latin typeface="Calibri" pitchFamily="34" charset="0"/>
                <a:ea typeface="Calibri" pitchFamily="34" charset="-122"/>
                <a:cs typeface="Calibri" pitchFamily="34" charset="-120"/>
              </a:rPr>
              <a:t>Continue briefly under a tightly monitored canary gate</a:t>
            </a:r>
            <a:endParaRPr lang="en-US" sz="1500" dirty="0"/>
          </a:p>
        </p:txBody>
      </p:sp>
      <p:sp>
        <p:nvSpPr>
          <p:cNvPr id="16" name="Shape 13"/>
          <p:cNvSpPr/>
          <p:nvPr/>
        </p:nvSpPr>
        <p:spPr>
          <a:xfrm>
            <a:off x="4270248" y="5175504"/>
            <a:ext cx="3657600" cy="292608"/>
          </a:xfrm>
          <a:prstGeom prst="roundRect">
            <a:avLst>
              <a:gd name="adj" fmla="val 25000"/>
            </a:avLst>
          </a:prstGeom>
          <a:solidFill>
            <a:srgbClr val="F79646"/>
          </a:solidFill>
          <a:ln w="12700">
            <a:solidFill>
              <a:srgbClr val="F79646"/>
            </a:solidFill>
            <a:prstDash val="solid"/>
          </a:ln>
        </p:spPr>
        <p:txBody>
          <a:bodyPr/>
          <a:lstStyle/>
          <a:p>
            <a:endParaRPr lang="en-US"/>
          </a:p>
        </p:txBody>
      </p:sp>
      <p:sp>
        <p:nvSpPr>
          <p:cNvPr id="17" name="Text 14"/>
          <p:cNvSpPr txBox="1"/>
          <p:nvPr/>
        </p:nvSpPr>
        <p:spPr>
          <a:xfrm>
            <a:off x="4325112" y="5212080"/>
            <a:ext cx="3547872" cy="201168"/>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GROUP DISCUSSION</a:t>
            </a:r>
            <a:endParaRPr lang="en-US" sz="10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1488</Words>
  <Application>Microsoft Office PowerPoint</Application>
  <PresentationFormat>Widescreen</PresentationFormat>
  <Paragraphs>246</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Week 7 Patch Management</dc:title>
  <dc:subject>Patch Management, Vulnerability Prioritization, and Change Enablement</dc:subject>
  <dc:creator>CYBER 444</dc:creator>
  <cp:lastModifiedBy>Sebastian Hayes</cp:lastModifiedBy>
  <cp:revision>5</cp:revision>
  <dcterms:created xsi:type="dcterms:W3CDTF">2026-10-13T16:51:11Z</dcterms:created>
  <dcterms:modified xsi:type="dcterms:W3CDTF">2026-10-13T18:16:01Z</dcterms:modified>
</cp:coreProperties>
</file>