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lecture runs both tracks together: Cyber Track students spend their hands-on lab time hardening a Windows Server 2022 domain controller and a Windows 11 client against the same control set, while IT Track students spend theirs standing up DNSSEC and the email-authentication triad (SPF/DKIM/DMARC) on a real registered subdomain. Both halves share one theme worth stating up front: every control this week exists to remove a default-enabled attack surface that attackers specifically target because it's so often left at its out-of-the-box setting.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sections, roughly ordered from “what ships enabled by default and needs to be locked down” (Sections 1-3, mostly Cyber Track hands-on) through to “what's missing by default at the DNS/email layer and needs to be added” (Sections 4-5, IT Track hands-on). Both tracks should sit through all five sections - the underlying pattern (attackers exploit whatever is left at its default state) is the same lesson taught twice, once for the OS and once for the network-facing services around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is the map for the whole lecture - the left column is Section 01-03's content, the right column is Section 04-05's. Both stacks converge on the same underlying philosophy: an attacker's easiest path is whatever was never explicitly configured. Point out this is a recurring structural pattern across the course - Week 3 was about building the AD/DNS/GPO foundation, and Week 4 is about hardening that same foundation and the services around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This section covers the Cyber Track's foundational baseline work - before touching any individual control (ASR, Credential Guard, LAPS - all next section), you need a way to measure a system's current state against a known-good reference. That's what SCT and Policy Analyzer give you.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thesis for the whole Cyber Track half of the lecture - each subsequent slide is one layer in this stack. The “configure and verify” discipline previewed here recurs explicitly at least four times today: Policy Analyzer re-checks, Credential Guard's SecurityServicesRunning check, LAPS's password-retrieval check, and the final delta re-check closing out Section 02.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Policy Analyzer and LGPO solve two different problems: Policy Analyzer answers “where do I currently differ from the recommended baseline,” LGPO answers “how do I actually apply the fix without a domain-joined GPO push.” Both get used back-to-back in today's demo. The baseline-as-starting-point framing matters because a hardening project that blindly applies every baseline setting without testing against real line-of-business software is how outages happen.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dashed loop-back is the point of this whole diagram - baseline application isn't a one-shot fix, it's iterate-until-the-delta-is-minimal. Any leftover items after a pass should be explainable (a pending reboot, a deliberate exception for a line-of-business app) rather than silently ignored. This exact loop is what today's two demo slides walk through end to end.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LGPO applies the exact GPO backup folder Policy Analyzer just displayed - there's no translation step, what you saw in the comparison is exactly what gets written. gpupdate /force is necessary because LGPO writes to the policy store directly but doesn't itself trigger a refresh of effective local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“verify, don't just trust the apply step” moment - comparing the before/after red-item count in Policy Analyzer is the direct evidence the baseline actually took effect. LmCompatibilityLevel is used here as a concrete example because it reappears later today as one of the legacy-protocol settings (Section 02) - this spot-check previews that value before it's the star of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AppLocker is a licensing-tier-dependent feature (available on Enterprise/Education editions) - worth a one-line mention since it's not universally available the way SCT baselines are. The publisher-vs-hash rule tradeoff is a good discussion point: hash rules are precise but brittle (break on every update), publisher rules are durable but trust the vendor's signing key.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phrase to land here is “default-deny” - unlike traditional antivirus (default-allow, block known-bad), AppLocker inverts the model: nothing runs unless it's on the allow list. This is a fundamentally different security posture and a good bridge into WDAC, which applies the same default-deny philosophy at the kernel level instead of user mode.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security-boundary distinction is the crux of the next slide's comparison table - Microsoft itself documents AppLocker as application control (best-effort) and WDAC as a security boundary (a guarantee they'll patch if bypassed). That's a meaningfully different promise. Ask the class: if WDAC is strictly stronger, why would anyone still deploy AppLocker instead? Answer: WDAC's policy-authoring and deployment overhead is real, and AppLocker's per-rule-collection granularity (scripts vs. installers vs. DLLs) is sometimes exactly the flexibility a rollout needs.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direct payoff of the two preceding concept slides - walk it row by row rather than reading it verbatim, since the class just built the mental model for each row individually. The “security boundary” row is worth lingering on: it's the single most quotable distinction between the two technologies and a common interview/certification question.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insight worth repeating verbatim: Credential Guard doesn't try to stop an attacker from getting admin rights, it changes what having admin rights on the OS actually gets you - the secrets simply aren't there to read anymore, they've moved one privilege ring below reach. This directly sets up the VTL1 isolation diagram next.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VTL stands for Virtual Trust Level - VTL0 is the normal OS the whole system (including an attacker with SYSTEM rights) runs in, VTL1 is a hypervisor-enforced isolated region that even VTL0's kernel cannot read into. The red arrow represents exactly what a credential-dumping tool attempts and exactly where it fails - the boundary is enforced by the hypervisor below the OS, not by anything the OS's own access-control model governs. This is the technical mechanism behind the Pass-the-Hash defense discussed in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limitation in the last bullet is important to state explicitly - BitLocker is not a defense against any of today's other attack spotlights (credential dumping, Pass-the-Hash, Kerberoasting), all of which assume the attacker already has a running, decrypted system to work against. It answers a completely different threat: what happens to data on a drive that's no longer in a trusted chassis.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“Integrity check” here means the TPM's measured-boot process comparing the current boot chain's hashes (bootloader, boot config, early drivers) against the values recorded when BitLocker was first enabled - a mismatch (tampered bootloader, removed drive placed in a different machine) is exactly the scenario the recovery-key fallback path exists for.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This is the hands-on core of the Cyber Track's lab - every control introduced here gets configured and verified live, on both a server and a client machine.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audit-then-block workflow is the single most important operational lesson in this section - flipping straight to Block in production without an audit period is how hardening projects break line-of-business apps and get rolled back. This directly sets up the LSASS-credential-theft rule as today's worked example. Ask the class why an organization would leave some ASR rules permanently in Audit mode rather than ever enforcing them - false-positive-prone rules against legitimate line-of-business tooling.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exact sequence students run today for a batch of ASR rules before switching just the LSASS-theft rule to enforcement. Event ID 1121 (block) and 1122 (warn/audit) are the two IDs to search for in the Defender Operational log. This same audit-log-review pattern is a transferable skill - it's the same "observe before enforce" philosophy used when rolling out DMARC policy later this week. Ask what could go wrong if an organization skips straight to Block mode on a rule like "block Office apps from creating child processes" in an environment with legitimate mail-merge macros.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Get-MpPreference first so students see a clean baseline before any rules are added - the same measure-before-you-change discipline as Policy Analyzer in the previous section. The LSASS rule GUID shown here (9E6C4E1F-...) is the exact one students will flip to full Block mode in the next attack-spotlight/demo pair. If no audit events appear immediately, that's expected - students need to actually trigger the underlying behavior to generate a hit.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MITRE ATT&amp;CK T1003.001 (OS Credential Dumping: LSASS Memory) - one of two techniques worth mapping defenses against explicitly, so make the MITRE ID visible here. The demo immediately following proves the defense empirically: attempting the exact dump technique against a hardened host produces a blocked-and-logged event instead of a working dump file. Ask the class why layering ASR with Credential Guard (coming up next) is stronger than either alone - ASR blocks the read attempt itself, Credential Guard makes even a successful read yield nothing useful.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payoff demo for the whole ASR section - students see the exact same technique that would work on an unhardened box get blocked and logged in real time. Event ID 1121 specifically confirms enforcement (a block happened), distinct from 1122 which only confirms audit-mode observation. This is a natural moment to reference the Pass-the-Hash mapping two slides from now - LSASS dumping is usually the first step in that attack chain, so blocking it here breaks the chain at its source.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UEFI-locked mode (LsaCfgFlags=2) is worth calling out specifically - it's a defense against an attacker with admin rights simply turning Credential Guard back off, at the cost of making legitimate future changes harder without physical/firmware access. This slide's registry paths are identical across both machines students touch today, previewed here and revisited on the server-vs-client comparison table later. Ask why a restart requirement matters operationally for a 24/7 production server versus a workstation that reboots nightly anyway.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the verification step - a value of 1 in SecurityServicesRunning means only VBS is running, while a value containing 2 confirms Credential Guard itself is active; configuring the registry keys correctly is not the same as confirming it actually took effect after reboot. This distinction between "configured" and "verified running" is a recurring theme across every control this week. This is the direct technical defense against the Pass-the-Hash spotlight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second of two MITRE techniques worth mapping defenses against explicitly - make the ID (T1550.002) and the "what changes for the attacker on a hardened system" framing explicit. Cross-reference forward to LAPS: Credential Guard stops the hash theft, but LAPS is what prevents the consequence of a hash theft (identical local admin passwords everywhere) from being catastrophic. Ask the class to trace the full chain: unhardened LSASS -&gt; hash dumped -&gt; hash replayed -&gt; lateral movement - and identify which control breaks which link.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"compromise one, own all" framing is the whole reason LAPS exists - connect this directly back to the Pass-the-Hash spotlight, since a stolen hash for a shared local admin account is exactly the scenario LAPS neutralizes. This is consistently one of the highest-impact findings on a real unhardened-server review given how outsized its blast-radius impact is. Ask the class why the schema extension only needs to happen once per domain but the self-permission grant needs to happen per-OU.</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left to right exactly as the sequence students execute today - schema extension and permission grant are one-time setup, while the last two nodes are the ongoing operational cycle that repeats every rotation period. Point out PasswordAgeDays=30 as a tunable control - shorter rotation reduces the window a stolen password remains useful, at the cost of more AD write traffic. This diagram's shape (one-time setup then a repeating cycle) is the same structural pattern as the SCT baseline workflow from the previous section.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Risk Spotlight variant (a systemic risk pattern, not a single named attack technique) - use it to reinforce that LAPS's value isn't abstract, it's specifically about limiting blast radius. Ask: if an organization images 500 machines from one golden image with one local admin password baked in, how many machines does one stolen laptop actually put at risk? Answer: all 500, until LAPS (or an equivalent) is deployed.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Windows 11, Get-WindowsFeature doesn't exist to check availability - use Get-Command Update-LapsADSchema instead, a useful example of "same control, slightly different verification command per OS" that recurs on the comparison table coming up. PasswordComplexity=4 means all four character classes are required. Confirm the returned password is non-expired and non-null - a null or stale result usually means the self-permission grant or policy processing step didn't actually apply.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framing line to repeat verbatim: legacy protocols get attacked precisely because modern controls (ASR, Credential Guard, strong auditing) simply don't cover them - an attacker who can force a downgrade to NTLMv1 or RC4 has effectively stepped outside every defense discussed so far. This directly grounds the next four attack-spotlight slides. Ask why a hardening project can't just disable these protocols blindly in production - foreshadows the compensating-controls content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WannaCry (2017) is still the canonical case study because it demonstrates unattended, network-wide propagation - no phishing click required, just an open SMBv1 listener. This is consistently one of the highest-severity, lowest-effort-to-fix items on a real hardening review. Ask the class why any organization would still have SMBv1 enabled today - the honest answer is almost always a legacy device or vendor application, exactly the scenario the upcoming compensating-controls slide addresses.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Level 5 is the strictest of the six defined levels (0-5); level 1 ("send LM &amp; NTLM") is a common unhardened default. NTLM relay attacks remain one of the most common real-world lateral-movement techniques in enterprise penetration tests specifically because this setting is so often left at default. Point out this pairs with disabling NTLM traffic outright where possible (RestrictSendingNTLMTraffic) for defense in depth beyond just the compatibility level.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insight is that Kerberoasting requires zero elevated privileges to begin - any domain user can request any service ticket, so the entire defense rests on the cryptographic strength of how that ticket is encrypted. A good discussion prompt: why do service accounts with weak, never-rotated passwords make Kerberoasting far more dangerous even with strong encryption types configured. Cross-reference the next slide (AS-REP Roasting) as the sibling technique - same root cause, different precondition.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this clearly from Kerberoasting: that technique targets service accounts via legitimate ticket requests, AS-REP Roasting targets accounts with pre-auth disabled and needs no valid credentials at all to trigger. Both share the same underlying fix (disable RC4, enforce AES) which is exactly what today's registry change accomplishes for the whole domain at once. Ask why pre-authentication is ever disabled in real environments - usually legacy application compatibility, again previewing the compensating-controls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verification step matters as much as the change itself - Get-SmbShare confirms the fix didn't collaterally break legitimate SMBv2/v3 file access. This single demo directly remediates the four preceding attack-spotlight slides at once (SMBv1, NTLM downgrade, and both Kerberos RC4 techniques) with three registry/PowerShell changes. Ask students what evidence they'd want beyond Get-SmbShare before declaring this safe in a production environment with hundreds of file shares.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that four of these six controls are OS-agnostic at the implementation level - only the baseline GPO folder and the LAPS-availability check actually differ between server and client. This shows hardening isn't "different knowledge for servers vs. workstations," it's the same knowledge applied against a different baseline reference file. Today's hands-on work repeats the identical sequence on both a server and a client VM specifically to make this parallel concrete rather than theoretical.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closes the loop opened at the start of this section's SCT workflow diagram - "iterate until delta is minimal" is exactly what's happening here at the end of the full control set. A security control that isn't verified isn't actually deployed - this is the same principle behind checking SecurityServicesRunning for Credential Guard and Get-LapsADPassword for LAPS rather than trusting the configuration step alone. This wraps up all hands-on hardening controls for the day - the next section turns to Windows Firewall and a broader tour of hardening failures.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Section 02 was about hardening the host itself. This section widens the lens to network-facing controls (the firewall) and to visibility - because a control that silently blocks an attacker is good, but a control that also generates a log an analyst can find is far better.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common real-world misconfiguration is a laptop that classifies a network as Private when it should be Public (or vice versa) - the practical consequence is that the wrong rule set applies. This is also why a server should almost always sit on the Domain profile exclusively - a correctly domain-joined and networked server should never fall back to the Public profile's classification logic.</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 is Windows's own automatic Network Location Awareness logic, simplified for teaching - the practical takeaway for hardening purposes is that Public is the safe default assumption for any untrusted network, and a misclassification in the permissive direction (Public network treated as Private) is a real, if uncommon, source of unexpected exposure.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LLMNR poisoning (often paired with Responder-style tooling) is one of the most reliable credential-harvesting techniques on an internal network precisely because it requires no vulnerability at all - it abuses a fallback broadcast protocol that fires automatically whenever normal DNS resolution fails, which happens constantly from typos and misconfigured lookups. Ask why disabling LLMNR outright is safe in virtually every modern network - DNS is the primary resolution path and LLMNR is a legacy fallback with no purpose it uniquely serves.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sibling technique to LLMNR poisoning and the reason the previous slide's fix alone is incomplete - NBT-NS is a second, independent broadcast-resolution fallback that an attacker will pivot to the moment LLMNR stops answering. Both must be disabled together for the fix to actually close the attack surface. This pairing (two protocols, one underlying weakness class) mirrors the Kerberoasting/AS-REP-Roasting pairing from the previous section.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command-line auditing point is the one most worth dwelling on - without it enabled, Security log Event ID 4688 (a new process was created) fires but the actual command-line arguments are blank, which means a PowerShell-based attack shows up as "powershell.exe was run" with zero indication of what it actually did. This directly sets up the PowerShell visibility-gap risk spotlight next.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systemic visibility gap, not a single attack technique - hence the Risk Spotlight framing. PowerShell is especially dangerous from a visibility standpoint because it's a legitimate, signed, always-present admin tool - "living off the land" attacks that use it generate no alien-binary signal for traditional antivirus to catch, so logging is the primary control, not prevention. Note Script Block Logging specifically defeats basic obfuscation (Base64 encoding, string concatenation) because it logs the script after PowerShell's own engine decodes it, not the raw obfuscated text an attacker typed.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value proposition of WEF: once forwarded, a log entry is safe from an attacker who later gains full control of the source machine and wipes its local Event Log to cover their tracks - the centralized copy already exists elsewhere. This is what makes all the auditing improvements on the previous two slides actually durable rather than just locally present and erasable. WEF uses a subscription model - the collector defines which event IDs/channels to pull from which source computers, delivered over WinRM.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natural objection every preceding attack-spotlight demo raises: "what if I can't just disable this in my real environment?" The NTLM-auditing example is worth emphasizing because it's the same measure-before-you-change discipline as Policy Analyzer and the ASR audit-then-block workflow - you don't guess what's using a legacy protocol, you audit first, then scope the fix or the compensating control around what you actually find. This closes out the Cyber Track's hands-on hardening arc - the next section shifts entirely to the IT Track's DNS security material.</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This is where the lecture shifts to the IT Track's hands-on lab - signing a real registered subdomain with DNSSEC and, next section, layering SPF/DKIM/DMARC on top of it. The throughline from the last three sections continues: DNS as designed in the 1980s has effectively no built-in authenticity guarantee, and everything in this section exists to add one.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Cache poisoning is the foundational DNS attack that motivates DNSSEC's entire existence - classic DNS has no way for a resolver to tell a legitimate authoritative answer from a forged one, it just trusts whatever arrives first with a matching transaction ID. This is the direct setup for the DNSSEC concept slide immediately following - keep this slide's framing ("no authenticity guarantee") in mind, since it recurs almost verbatim in the email-security section next.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fundamentally a resource-abuse problem, not an authenticity problem like the other two DNS spotlights - the attacker doesn't need to fool anyone, they need the resolver to do amplification work on their behalf. Response Rate Limiting (RRL) is the standard operational mitigation; it doesn't fix open recursion by itself, but it caps how much damage an open (or even a correctly-scoped) resolver can do if abused.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distinction to draw out here: hijacking is the one DNS attack on this slide that DNSSEC does NOT fully protect against, because if an attacker controls the authoritative source and can re-sign records with a compromised key, a resolver validates successfully against forged-but-properly-signed data. This is why registrar-account security (MFA, registry lock) is a genuinely separate control layer from DNSSEC, not a redundant one.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RPZ is a practical, deployable mitigation against cache poisoning and amplification-adjacent abuse that doesn't require the target zone itself to support DNSSEC - it's a control on your own resolver, filtering outbound lookups against a threat-intelligence feed of known-bad domains. Worth contrasting directly with DNSSEC: RPZ protects your own users' outbound queries, DNSSEC protects the authenticity of answers about your own zone.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encryption/authenticity distinction is worth stating explicitly and often gets confused - DNSSEC is entirely about "can I trust this answer is genuine," never about hiding what's being queried (that's a separate technology, DNS-over-HTTPS/TLS). The VPN-reachability caveat matters practically: students should not expect dnsviz.net or similar public validators to reach their lab zone, and that's expected, not a sign something is broken.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DS (Delegation Signer) record is published in the PARENT zone and is what links a child zone's keys into the chain - without a correctly published DS record at the TLD, a resolver has no way to know your zone's keys are legitimate, even if your zone is perfectly signed internally. The dashed red break-point callout is deliberate: this is exactly the failure mode the validation-failure demo two slides from now reproduces on purpose.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ZSK/KSK split exists so the more sensitive key (KSK, which anchors the parent-zone trust relationship via the DS record) can be used less often and rotated less frequently, while the ZSK does the high-volume work of signing every record set and can rotate more casually without needing a parent-zone update each time. This maps directly onto the key-rollover-lifecycle diagram at the end of this section - ZSK rotates roughly quarterly, KSK roughly yearly.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key-size asymmetry (1024-bit ZSK, 2048-bit KSK) reflects their different rotation frequencies and roles - the KSK is used far less often and anchors the whole trust chain, so it gets the stronger key. auto-dnssec maintain plus inline-signing is what makes ongoing signing operational rather than a manual one-time step - BIND handles re-signing automatically as the zone changes or signatures approach expiration.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moment the abstract KSK/ZSK diagram becomes concrete output - point out the flags value in the DNSKEY response distinguishes the ZSK (256) from the KSK (257), and the RRSIG record on the A-record query is the actual signature a validating resolver checks. Both dig outputs here are exactly what the DNSSEC grading automation checks for.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delv +vtrace is the single most useful diagnostic command in this whole section - it prints the actual validation path step by step, so any break in the chain (a missing or mismatched DS record, an expired signature) shows up explicitly rather than as an opaque failure. This command reappears verbatim on the very next slide, run deliberately against a broken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purely to prevent a specific, predictable point of confusion - a student who tries dnsviz.net against their lab domain and sees a failure needs to know immediately that the tool simply cannot route to the zone, not that their signing work is wrong. The closing point generalizes the lesson: plenty of real-world DNSSEC deployments are for internal/VPN-only zones where public tooling was never going to help anyway.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demo deliberately breaks the zone to make an important point concrete: a SERVFAIL/BOGUS result is not a bug in DNSSEC, it's DNSSEC's entire purpose realized - a resolver refusing to accept an answer it cannot cryptographically verify. This is the exact defensive outcome the cache-poisoning attack spotlight at the start of this section promised DNSSEC would deliver. Reset the record back to its correct signed state immediately after this demo.</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dependency callout on the right is the single most operationally important fact in this whole DNSSEC unit: because the DS record lives in the PARENT zone (outside your own control, at the registrar), a KSK rollover requires a manual out-of-band step - publish the new DS record and confirm it propagates - before the old KSK/DS pairing is retired. Skipping or mistiming this step is the single most common cause of real-world DNSSEC outages, and it's the direct operational counterpart to the chain-of-trust diagram's break-point earlier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 The final section of the course this week. Email, like classic DNS, was designed with no built-in sender-authenticity guarantee - SMTP will happily relay a message claiming to be from any address. Everything in this section is a layer added after the fact to close that gap.</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direct parallel to the DNSSEC framing from the previous section - "designed with no authenticity guarantee, layers added after the fact to close the gap" is the same underlying story told twice, once for DNS and once for email. The SPF/DKIM/DMARC three-way split (who can send / was it altered / what do I do about failures) is the organizing structure for the rest of this section - keep returning to it as each piece is introduced.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-all vs. ~all distinction is a good discussion point - a domain still testing its SPF record would use ~all (soft fail, mail gets flagged but delivered) before committing to -all (hard fail, mail gets rejected), the same audit-before-enforce pattern seen with ASR rules and NTLM auditing earlier this week. Point out SPF's blind spot explicitly: it authenticates the sending server, not the message itself - that gap is exactly what DKIM closes next.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SPF is evaluated first in the authentication chain because it's the cheapest check - a simple IP-address lookup against a DNS TXT record, no cryptography involved. A pass here doesn't mean the message is fully authenticated, just that it came from a server authorized to send for that domain - DKIM (next) is what actually proves message integrity.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short, single-record demo relative to the DNSSEC section's multi-step signing workflow - SPF's simplicity (one text record, no key management) is itself worth pointing out as a contrast to DKIM's setup, which is next and considerably more involved.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forwarding point is an important practical distinction from SPF - SPF breaks when mail is forwarded through an intermediate server (the connecting IP no longer matches the original sender's authorized list), but DKIM's signature is embedded in the message itself and survives that hop. This is part of why DMARC (next) needs to account for SPF and DKIM independently rather than requiring both to always pass together.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selector concept specifically - "mail" in mail._domainkey.&lt;domain&gt; is just a label allowing a domain to run multiple DKIM key pairs simultaneously (useful for key rotation or multiple sending platforms). opendkim-testkey in the demo below is a diagnostic tool that confirms the private key on the sending server actually matches the public key currently published in DNS - a mismatch there means every outbound message will fail DKIM verification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mail.txt is generated pre-formatted as a DNS record - students copy it directly into the zone file rather than hand-constructing the TXT value, which avoids a common source of syntax errors (the key is base64 and easy to mistype). The next demo's opendkim-testkey call is the real proof the whole pipeline (private key on disk, public key in DNS) actually agrees.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not secure" is a benign warning specific to opendkim-testkey - it just means the zone hosting the DKIM record isn't itself DNSSEC-signed, which is a separate, optional layer of assurance rather than a DKIM configuration failure. Don't let students mistake that warning for an actual problem with their DKIM setup.</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alignment concept is the subtlest and most important idea in this slide - a message could technically pass SPF (correct sending IP for some domain) and even pass DKIM (validly signed by some domain), and still be a spoof, if neither of those passing domains actually matches what the recipient sees in their inbox's "From:" field. DMARC alignment is precisely the check that closes that loophole.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progression is the DMARC-specific instance of the same audit-then-enforce pattern that's run through this entire lecture: ASR rules (Audit before Block), NTLM auditing (before restricting), and now DMARC (p=none monitoring before any enforcement at all). Skipping straight to p=reject on a domain that's never been monitored risks silently dropping legitimate mail from a sender nobody remembered to add to SPF - exactly the outage pattern the staged percentage rollout (pct=10 before pct=100) is designed to catch early.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 that reporting happens regardless of pass or fail - every message contributes to the aggregate report sent to the rua= address, which is exactly what makes DMARC monitoring (p=none) useful even before any enforcement begins. This diagram is the decision logic underlying every row of the policy-progression table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capstone slide for the whole email-authentication arc - every prior concept slide (SPF flow, DKIM flow, DMARC alignment decision) is a component of this single unified picture. Worth spending real time on this one: walk a single message through the full path left to right, naming which earlier slide covered each box.</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demo closes the loop on the entire section's hands-on work - by this point students have independently verified SPF, DKIM, and DMARC records exist, but this is the first check that confirms all three work together as an actual pipeline against a real validating checker, not just that each DNS record is individually well-formed.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 is consistently one of the highest-dollar-loss categories of cybercrime precisely because it requires no malware and no technical exploit at all - just a forged sender header and a plausible pretext (an urgent wire transfer, a vendor invoice change). This is the direct real-world consequence of everything taught in this section; make the connection explicit that today's hands-on DMARC work is literally the fix for this exact fraud pattern.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consequence here is different in kind from the other attack spotlights this week - the victim isn't just the spoofed recipient, it's the relay operator's own domain reputation, which can take a very long time to recover once a mail server lands on major blocklists. This is why relay-restriction is treated as a baseline requirement, not an optional hardening step, on the mail-server-hardening slide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closing bullet's point is worth stating explicitly and is the last "layered defense" callback of the whole lecture - authentication standards (SPF/DKIM/DMARC) answer "is this sender who they claim to be," while these controls answer entirely separate questions (is this server being abused as a relay, is the transport encrypted, is the content itself malicious). A fully hardened mail posture needs both categories, not one instead of the other.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deliberate structural echo of the AppLocker rule-evaluation diagram from Section 01 - both are default-deny decision flows, just applied to different resources (application execution vs. mail relay). This is a good closing moment to note how many of this week's seemingly unrelated controls actually share the same underlying security philosophy.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closing methodology slide ties the whole section together into something students can apply immediately outside the lab - checking any domain's SPF/DKIM/DMARC posture is a five-minute dig exercise. The Strong/Moderate/Weak rating scale mirrors exactly how a real domain security assessment is communicated to a non-technical stakeholder who needs a quick read on risk without parsing raw DNS records themselves.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828800"/>
            <a:ext cx="5486400" cy="457200"/>
          </a:xfrm>
          <a:prstGeom prst="rect">
            <a:avLst/>
          </a:prstGeom>
          <a:noFill/>
        </p:spPr>
        <p:txBody>
          <a:bodyPr wrap="none">
            <a:spAutoFit/>
          </a:bodyPr>
          <a:lstStyle/>
          <a:p>
            <a:r>
              <a:rPr sz="2000" b="1" i="0">
                <a:solidFill>
                  <a:srgbClr val="00B4D8"/>
                </a:solidFill>
                <a:latin typeface="Calibri"/>
              </a:rPr>
              <a:t>WEEK 4</a:t>
            </a:r>
          </a:p>
        </p:txBody>
      </p:sp>
      <p:sp>
        <p:nvSpPr>
          <p:cNvPr id="4" name="TextBox 3"/>
          <p:cNvSpPr txBox="1"/>
          <p:nvPr/>
        </p:nvSpPr>
        <p:spPr>
          <a:xfrm>
            <a:off x="777240" y="2286000"/>
            <a:ext cx="10607040" cy="1280160"/>
          </a:xfrm>
          <a:prstGeom prst="rect">
            <a:avLst/>
          </a:prstGeom>
          <a:noFill/>
        </p:spPr>
        <p:txBody>
          <a:bodyPr wrap="square">
            <a:spAutoFit/>
          </a:bodyPr>
          <a:lstStyle/>
          <a:p>
            <a:r>
              <a:rPr sz="4000" b="1" i="0">
                <a:solidFill>
                  <a:srgbClr val="FFFFFF"/>
                </a:solidFill>
                <a:latin typeface="Cambria"/>
              </a:rPr>
              <a:t>Windows Hardening &amp; Email Security</a:t>
            </a:r>
          </a:p>
        </p:txBody>
      </p:sp>
      <p:sp>
        <p:nvSpPr>
          <p:cNvPr id="5" name="TextBox 4"/>
          <p:cNvSpPr txBox="1"/>
          <p:nvPr/>
        </p:nvSpPr>
        <p:spPr>
          <a:xfrm>
            <a:off x="822960" y="3749039"/>
            <a:ext cx="10515600" cy="1280160"/>
          </a:xfrm>
          <a:prstGeom prst="rect">
            <a:avLst/>
          </a:prstGeom>
          <a:noFill/>
        </p:spPr>
        <p:txBody>
          <a:bodyPr wrap="square">
            <a:spAutoFit/>
          </a:bodyPr>
          <a:lstStyle/>
          <a:p>
            <a:r>
              <a:rPr sz="1600" b="0" i="0">
                <a:solidFill>
                  <a:srgbClr val="E8EEF7"/>
                </a:solidFill>
                <a:latin typeface="Calibri"/>
              </a:rPr>
              <a:t>CYBER 444 — Systems &amp; Network Administration</a:t>
            </a:r>
          </a:p>
          <a:p>
            <a:pPr>
              <a:spcBef>
                <a:spcPts val="1000"/>
              </a:spcBef>
            </a:pPr>
            <a:r>
              <a:rPr sz="1300" b="0" i="1">
                <a:solidFill>
                  <a:srgbClr val="00B4D8"/>
                </a:solidFill>
                <a:latin typeface="Calibri"/>
              </a:rPr>
              <a:t>Windows Hardening · SCT &amp; ASR · Credential Guard &amp; LAPS · DNSSEC · SPF/DKIM/DMARC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Agenda</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Windows Security Baseline &amp; the Microsoft Security Compliance Toolkit (SCT)</a:t>
            </a:r>
          </a:p>
          <a:p>
            <a:pPr>
              <a:lnSpc>
                <a:spcPct val="125000"/>
              </a:lnSpc>
              <a:spcAft>
                <a:spcPts val="1200"/>
              </a:spcAft>
            </a:pPr>
            <a:r>
              <a:rPr sz="1600" b="0" i="0">
                <a:solidFill>
                  <a:srgbClr val="111B30"/>
                </a:solidFill>
                <a:latin typeface="Calibri"/>
              </a:rPr>
              <a:t>•  Attack Surface Reduction, Credential Guard, LAPS &amp; retiring legacy protocols</a:t>
            </a:r>
          </a:p>
          <a:p>
            <a:pPr>
              <a:lnSpc>
                <a:spcPct val="125000"/>
              </a:lnSpc>
              <a:spcAft>
                <a:spcPts val="1200"/>
              </a:spcAft>
            </a:pPr>
            <a:r>
              <a:rPr sz="1600" b="0" i="0">
                <a:solidFill>
                  <a:srgbClr val="111B30"/>
                </a:solidFill>
                <a:latin typeface="Calibri"/>
              </a:rPr>
              <a:t>•  Windows Firewall, audit policy &amp; centralized logging</a:t>
            </a:r>
          </a:p>
          <a:p>
            <a:pPr>
              <a:lnSpc>
                <a:spcPct val="125000"/>
              </a:lnSpc>
              <a:spcAft>
                <a:spcPts val="1200"/>
              </a:spcAft>
            </a:pPr>
            <a:r>
              <a:rPr sz="1600" b="0" i="0">
                <a:solidFill>
                  <a:srgbClr val="111B30"/>
                </a:solidFill>
                <a:latin typeface="Calibri"/>
              </a:rPr>
              <a:t>•  DNS security &amp; DNSSEC</a:t>
            </a:r>
          </a:p>
          <a:p>
            <a:pPr>
              <a:lnSpc>
                <a:spcPct val="125000"/>
              </a:lnSpc>
              <a:spcAft>
                <a:spcPts val="1200"/>
              </a:spcAft>
            </a:pPr>
            <a:r>
              <a:rPr sz="1600" b="0" i="0">
                <a:solidFill>
                  <a:srgbClr val="111B30"/>
                </a:solidFill>
                <a:latin typeface="Calibri"/>
              </a:rPr>
              <a:t>•  Email authentication (SPF/DKIM/DMARC) &amp; mail server hardening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Two Tracks, One Threat Model</a:t>
            </a:r>
          </a:p>
        </p:txBody>
      </p:sp>
      <p:sp>
        <p:nvSpPr>
          <p:cNvPr id="6" name="Rounded Rectangle 5"/>
          <p:cNvSpPr/>
          <p:nvPr/>
        </p:nvSpPr>
        <p:spPr>
          <a:xfrm>
            <a:off x="3108960" y="1234440"/>
            <a:ext cx="5943600" cy="594360"/>
          </a:xfrm>
          <a:prstGeom prst="roundRect">
            <a:avLst/>
          </a:prstGeom>
          <a:solidFill>
            <a:srgbClr val="1B2A4A"/>
          </a:solidFill>
          <a:ln w="2222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300" b="1" i="0">
                <a:solidFill>
                  <a:srgbClr val="FFFFFF"/>
                </a:solidFill>
                <a:latin typeface="Calibri"/>
              </a:rPr>
              <a:t>Reduce the Default Attack Surface</a:t>
            </a:r>
          </a:p>
        </p:txBody>
      </p:sp>
      <p:sp>
        <p:nvSpPr>
          <p:cNvPr id="7" name="Rounded Rectangle 6"/>
          <p:cNvSpPr/>
          <p:nvPr/>
        </p:nvSpPr>
        <p:spPr>
          <a:xfrm>
            <a:off x="914400" y="2148840"/>
            <a:ext cx="4206240" cy="6400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SCT Baseline</a:t>
            </a:r>
          </a:p>
        </p:txBody>
      </p:sp>
      <p:sp>
        <p:nvSpPr>
          <p:cNvPr id="8" name="Rounded Rectangle 7"/>
          <p:cNvSpPr/>
          <p:nvPr/>
        </p:nvSpPr>
        <p:spPr>
          <a:xfrm>
            <a:off x="914400" y="2926080"/>
            <a:ext cx="4206240" cy="6400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ASR Rules</a:t>
            </a:r>
          </a:p>
        </p:txBody>
      </p:sp>
      <p:sp>
        <p:nvSpPr>
          <p:cNvPr id="9" name="Rounded Rectangle 8"/>
          <p:cNvSpPr/>
          <p:nvPr/>
        </p:nvSpPr>
        <p:spPr>
          <a:xfrm>
            <a:off x="914400" y="3703320"/>
            <a:ext cx="4206240" cy="6400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Credential Guard / LAPS</a:t>
            </a:r>
          </a:p>
        </p:txBody>
      </p:sp>
      <p:sp>
        <p:nvSpPr>
          <p:cNvPr id="10" name="Rounded Rectangle 9"/>
          <p:cNvSpPr/>
          <p:nvPr/>
        </p:nvSpPr>
        <p:spPr>
          <a:xfrm>
            <a:off x="914400" y="4480560"/>
            <a:ext cx="4206240" cy="6400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Legacy Protocols</a:t>
            </a:r>
          </a:p>
        </p:txBody>
      </p:sp>
      <p:sp>
        <p:nvSpPr>
          <p:cNvPr id="11" name="Rounded Rectangle 10"/>
          <p:cNvSpPr/>
          <p:nvPr/>
        </p:nvSpPr>
        <p:spPr>
          <a:xfrm>
            <a:off x="7040880" y="2148840"/>
            <a:ext cx="4206240" cy="640080"/>
          </a:xfrm>
          <a:prstGeom prst="roundRect">
            <a:avLst/>
          </a:prstGeom>
          <a:solidFill>
            <a:srgbClr val="FFFFFF"/>
          </a:solidFill>
          <a:ln w="22225">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DNSSEC</a:t>
            </a:r>
          </a:p>
        </p:txBody>
      </p:sp>
      <p:sp>
        <p:nvSpPr>
          <p:cNvPr id="12" name="Rounded Rectangle 11"/>
          <p:cNvSpPr/>
          <p:nvPr/>
        </p:nvSpPr>
        <p:spPr>
          <a:xfrm>
            <a:off x="7040880" y="2926080"/>
            <a:ext cx="4206240" cy="640080"/>
          </a:xfrm>
          <a:prstGeom prst="roundRect">
            <a:avLst/>
          </a:prstGeom>
          <a:solidFill>
            <a:srgbClr val="FFFFFF"/>
          </a:solidFill>
          <a:ln w="22225">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SPF</a:t>
            </a:r>
          </a:p>
        </p:txBody>
      </p:sp>
      <p:sp>
        <p:nvSpPr>
          <p:cNvPr id="13" name="Rounded Rectangle 12"/>
          <p:cNvSpPr/>
          <p:nvPr/>
        </p:nvSpPr>
        <p:spPr>
          <a:xfrm>
            <a:off x="7040880" y="3703320"/>
            <a:ext cx="4206240" cy="640080"/>
          </a:xfrm>
          <a:prstGeom prst="roundRect">
            <a:avLst/>
          </a:prstGeom>
          <a:solidFill>
            <a:srgbClr val="FFFFFF"/>
          </a:solidFill>
          <a:ln w="22225">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DKIM</a:t>
            </a:r>
          </a:p>
        </p:txBody>
      </p:sp>
      <p:sp>
        <p:nvSpPr>
          <p:cNvPr id="14" name="Rounded Rectangle 13"/>
          <p:cNvSpPr/>
          <p:nvPr/>
        </p:nvSpPr>
        <p:spPr>
          <a:xfrm>
            <a:off x="7040880" y="4480560"/>
            <a:ext cx="4206240" cy="640080"/>
          </a:xfrm>
          <a:prstGeom prst="roundRect">
            <a:avLst/>
          </a:prstGeom>
          <a:solidFill>
            <a:srgbClr val="FFFFFF"/>
          </a:solidFill>
          <a:ln w="22225">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DMARC</a:t>
            </a:r>
          </a:p>
        </p:txBody>
      </p:sp>
      <p:cxnSp>
        <p:nvCxnSpPr>
          <p:cNvPr id="15" name="Connector 14"/>
          <p:cNvCxnSpPr/>
          <p:nvPr/>
        </p:nvCxnSpPr>
        <p:spPr>
          <a:xfrm>
            <a:off x="3017520" y="2788920"/>
            <a:ext cx="0" cy="137160"/>
          </a:xfrm>
          <a:prstGeom prst="line">
            <a:avLst/>
          </a:prstGeom>
          <a:ln w="19050">
            <a:solidFill>
              <a:srgbClr val="3D5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017520" y="3566160"/>
            <a:ext cx="0" cy="137160"/>
          </a:xfrm>
          <a:prstGeom prst="line">
            <a:avLst/>
          </a:prstGeom>
          <a:ln w="19050">
            <a:solidFill>
              <a:srgbClr val="3D5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17520" y="4343400"/>
            <a:ext cx="0" cy="137160"/>
          </a:xfrm>
          <a:prstGeom prst="line">
            <a:avLst/>
          </a:prstGeom>
          <a:ln w="19050">
            <a:solidFill>
              <a:srgbClr val="3D5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144000" y="2788920"/>
            <a:ext cx="0" cy="13716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144000" y="3566160"/>
            <a:ext cx="0" cy="13716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144000" y="4343400"/>
            <a:ext cx="0" cy="137160"/>
          </a:xfrm>
          <a:prstGeom prst="line">
            <a:avLst/>
          </a:prstGeom>
          <a:ln w="19050">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3017520" y="1828800"/>
            <a:ext cx="3063240" cy="32004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80760" y="1828800"/>
            <a:ext cx="3063240" cy="32004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651760" y="5989320"/>
            <a:ext cx="6858000" cy="594360"/>
          </a:xfrm>
          <a:prstGeom prst="roundRect">
            <a:avLst/>
          </a:prstGeom>
          <a:solidFill>
            <a:srgbClr val="E8EEF7"/>
          </a:solidFill>
          <a:ln w="22225">
            <a:solidFill>
              <a:srgbClr val="6B74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Assume compromise is attempted - remove the easy paths</a:t>
            </a:r>
          </a:p>
        </p:txBody>
      </p:sp>
      <p:cxnSp>
        <p:nvCxnSpPr>
          <p:cNvPr id="24" name="Connector 23"/>
          <p:cNvCxnSpPr/>
          <p:nvPr/>
        </p:nvCxnSpPr>
        <p:spPr>
          <a:xfrm>
            <a:off x="3017520" y="5120640"/>
            <a:ext cx="3063240" cy="86868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6080760" y="5120640"/>
            <a:ext cx="3063240" cy="868680"/>
          </a:xfrm>
          <a:prstGeom prst="line">
            <a:avLst/>
          </a:prstGeom>
          <a:ln w="15875">
            <a:solidFill>
              <a:srgbClr val="6B74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0080" y="5440680"/>
            <a:ext cx="10881360" cy="365760"/>
          </a:xfrm>
          <a:prstGeom prst="rect">
            <a:avLst/>
          </a:prstGeom>
          <a:noFill/>
        </p:spPr>
        <p:txBody>
          <a:bodyPr wrap="square">
            <a:spAutoFit/>
          </a:bodyPr>
          <a:lstStyle/>
          <a:p>
            <a:pPr algn="ctr"/>
            <a:r>
              <a:rPr sz="1100" b="0" i="1">
                <a:solidFill>
                  <a:srgbClr val="6B7480"/>
                </a:solidFill>
                <a:latin typeface="Calibri"/>
              </a:rPr>
              <a:t>Cyber Track (left): OS-level hardening.  IT Track (right): DNS/email-layer hardening.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77440"/>
            <a:ext cx="1554480" cy="155448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i="0">
                <a:solidFill>
                  <a:srgbClr val="1B2A4A"/>
                </a:solidFill>
                <a:latin typeface="Cambria"/>
              </a:rPr>
              <a:t>01</a:t>
            </a:r>
          </a:p>
        </p:txBody>
      </p:sp>
      <p:sp>
        <p:nvSpPr>
          <p:cNvPr id="4" name="TextBox 3"/>
          <p:cNvSpPr txBox="1"/>
          <p:nvPr/>
        </p:nvSpPr>
        <p:spPr>
          <a:xfrm>
            <a:off x="2651760" y="2514600"/>
            <a:ext cx="8869680" cy="1371600"/>
          </a:xfrm>
          <a:prstGeom prst="rect">
            <a:avLst/>
          </a:prstGeom>
          <a:noFill/>
        </p:spPr>
        <p:txBody>
          <a:bodyPr wrap="square" anchor="ctr">
            <a:spAutoFit/>
          </a:bodyPr>
          <a:lstStyle/>
          <a:p>
            <a:r>
              <a:rPr sz="3000" b="1" i="0">
                <a:solidFill>
                  <a:srgbClr val="FFFFFF"/>
                </a:solidFill>
                <a:latin typeface="Cambria"/>
              </a:rPr>
              <a:t>Windows Security Baseline &amp; SCT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Hardening Isn't One Setting, It's a Layered System</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No single control stops a determined attacker - defense in depth means multiple independent layers, each closing a different avenue</a:t>
            </a:r>
          </a:p>
          <a:p>
            <a:pPr>
              <a:lnSpc>
                <a:spcPct val="125000"/>
              </a:lnSpc>
              <a:spcAft>
                <a:spcPts val="1200"/>
              </a:spcAft>
            </a:pPr>
            <a:r>
              <a:rPr sz="1600" b="0" i="0">
                <a:solidFill>
                  <a:srgbClr val="111B30"/>
                </a:solidFill>
                <a:latin typeface="Calibri"/>
              </a:rPr>
              <a:t>•  A hardened system still gets attacked - the goal is to make each technique fail, get logged, or both</a:t>
            </a:r>
          </a:p>
          <a:p>
            <a:pPr>
              <a:lnSpc>
                <a:spcPct val="125000"/>
              </a:lnSpc>
              <a:spcAft>
                <a:spcPts val="1200"/>
              </a:spcAft>
            </a:pPr>
            <a:r>
              <a:rPr sz="1600" b="0" i="0">
                <a:solidFill>
                  <a:srgbClr val="111B30"/>
                </a:solidFill>
                <a:latin typeface="Calibri"/>
              </a:rPr>
              <a:t>•  Today's controls stack: a baseline (SCT) sets the floor, ASR blocks specific malicious behaviors, Credential Guard isolates secrets even from a compromised OS, LAPS limits blast radius, and retiring legacy protocols removes entire attack classes outright</a:t>
            </a:r>
          </a:p>
          <a:p>
            <a:pPr>
              <a:lnSpc>
                <a:spcPct val="125000"/>
              </a:lnSpc>
              <a:spcAft>
                <a:spcPts val="1200"/>
              </a:spcAft>
            </a:pPr>
            <a:r>
              <a:rPr sz="1600" b="0" i="0">
                <a:solidFill>
                  <a:srgbClr val="111B30"/>
                </a:solidFill>
                <a:latin typeface="Calibri"/>
              </a:rPr>
              <a:t>•  Every control introduced today gets both configured and verified - a setting that isn't confirmed to be active isn't actually protecting anything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Microsoft Security Compliance Toolkit (SCT) Baselines</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A free Microsoft toolset: pre-built, security-focused GPO baselines for each supported Windows Server and Windows 11 release, plus two analysis tools</a:t>
            </a:r>
          </a:p>
          <a:p>
            <a:pPr>
              <a:lnSpc>
                <a:spcPct val="125000"/>
              </a:lnSpc>
              <a:spcAft>
                <a:spcPts val="1200"/>
              </a:spcAft>
            </a:pPr>
            <a:r>
              <a:rPr sz="1600" b="0" i="0">
                <a:solidFill>
                  <a:srgbClr val="111B30"/>
                </a:solidFill>
                <a:latin typeface="Calibri"/>
              </a:rPr>
              <a:t>•  Policy Analyzer: compares a baseline's recommended settings against a system's actual local/effective policy and highlights every difference</a:t>
            </a:r>
          </a:p>
          <a:p>
            <a:pPr>
              <a:lnSpc>
                <a:spcPct val="125000"/>
              </a:lnSpc>
              <a:spcAft>
                <a:spcPts val="1200"/>
              </a:spcAft>
            </a:pPr>
            <a:r>
              <a:rPr sz="1600" b="0" i="0">
                <a:solidFill>
                  <a:srgbClr val="111B30"/>
                </a:solidFill>
                <a:latin typeface="Calibri"/>
              </a:rPr>
              <a:t>•  LGPO.exe: a command-line tool that applies an exported GPO backup directly to local policy - no domain, no GPMC needed</a:t>
            </a:r>
          </a:p>
          <a:p>
            <a:pPr>
              <a:lnSpc>
                <a:spcPct val="125000"/>
              </a:lnSpc>
              <a:spcAft>
                <a:spcPts val="1200"/>
              </a:spcAft>
            </a:pPr>
            <a:r>
              <a:rPr sz="1600" b="0" i="0">
                <a:solidFill>
                  <a:srgbClr val="111B30"/>
                </a:solidFill>
                <a:latin typeface="Calibri"/>
              </a:rPr>
              <a:t>•  Baselines exist per-OS: a “Windows Server 2022 Security Baseline” and a separate “Windows 11 Security Baseline,” each tuned to that OS's defaults and role</a:t>
            </a:r>
          </a:p>
          <a:p>
            <a:pPr>
              <a:lnSpc>
                <a:spcPct val="125000"/>
              </a:lnSpc>
              <a:spcAft>
                <a:spcPts val="1200"/>
              </a:spcAft>
            </a:pPr>
            <a:r>
              <a:rPr sz="1600" b="0" i="0">
                <a:solidFill>
                  <a:srgbClr val="111B30"/>
                </a:solidFill>
                <a:latin typeface="Calibri"/>
              </a:rPr>
              <a:t>•  Baselines are a starting point, not a finish line - every organization still tunes exceptions for its own line-of-business software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SCT Workflow: Baseline to Verified State</a:t>
            </a:r>
          </a:p>
        </p:txBody>
      </p:sp>
      <p:sp>
        <p:nvSpPr>
          <p:cNvPr id="6" name="Rounded Rectangle 5"/>
          <p:cNvSpPr/>
          <p:nvPr/>
        </p:nvSpPr>
        <p:spPr>
          <a:xfrm>
            <a:off x="457200" y="3200400"/>
            <a:ext cx="2560320" cy="11887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Load Baseline</a:t>
            </a:r>
          </a:p>
          <a:p>
            <a:pPr algn="ctr"/>
            <a:r>
              <a:rPr sz="1100" b="0" i="0">
                <a:solidFill>
                  <a:srgbClr val="111B30"/>
                </a:solidFill>
                <a:latin typeface="Calibri"/>
              </a:rPr>
              <a:t>into Policy Analyzer</a:t>
            </a:r>
          </a:p>
        </p:txBody>
      </p:sp>
      <p:sp>
        <p:nvSpPr>
          <p:cNvPr id="7" name="Rounded Rectangle 6"/>
          <p:cNvSpPr/>
          <p:nvPr/>
        </p:nvSpPr>
        <p:spPr>
          <a:xfrm>
            <a:off x="3291840" y="3200400"/>
            <a:ext cx="2560320" cy="11887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Compare vs.</a:t>
            </a:r>
          </a:p>
          <a:p>
            <a:pPr algn="ctr"/>
            <a:r>
              <a:rPr sz="1100" b="0" i="0">
                <a:solidFill>
                  <a:srgbClr val="111B30"/>
                </a:solidFill>
                <a:latin typeface="Calibri"/>
              </a:rPr>
              <a:t>Local Policy</a:t>
            </a:r>
          </a:p>
        </p:txBody>
      </p:sp>
      <p:sp>
        <p:nvSpPr>
          <p:cNvPr id="8" name="Rounded Rectangle 7"/>
          <p:cNvSpPr/>
          <p:nvPr/>
        </p:nvSpPr>
        <p:spPr>
          <a:xfrm>
            <a:off x="6126480" y="3200400"/>
            <a:ext cx="2651760" cy="1188720"/>
          </a:xfrm>
          <a:prstGeom prst="roundRect">
            <a:avLst/>
          </a:prstGeom>
          <a:solidFill>
            <a:srgbClr val="FFFFFF"/>
          </a:solidFill>
          <a:ln w="31750">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11B30"/>
                </a:solidFill>
                <a:latin typeface="Calibri"/>
              </a:rPr>
              <a:t>Apply Fixes:</a:t>
            </a:r>
          </a:p>
          <a:p>
            <a:pPr algn="ctr"/>
            <a:r>
              <a:rPr sz="1100" b="1" i="0">
                <a:solidFill>
                  <a:srgbClr val="111B30"/>
                </a:solidFill>
                <a:latin typeface="Calibri"/>
              </a:rPr>
              <a:t>LGPO.exe /g &lt;path&gt;</a:t>
            </a:r>
          </a:p>
        </p:txBody>
      </p:sp>
      <p:sp>
        <p:nvSpPr>
          <p:cNvPr id="9" name="Rounded Rectangle 8"/>
          <p:cNvSpPr/>
          <p:nvPr/>
        </p:nvSpPr>
        <p:spPr>
          <a:xfrm>
            <a:off x="9052560" y="3200400"/>
            <a:ext cx="2651760" cy="11887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gpupdate /force</a:t>
            </a:r>
          </a:p>
          <a:p>
            <a:pPr algn="ctr"/>
            <a:r>
              <a:rPr sz="1100" b="0" i="0">
                <a:solidFill>
                  <a:srgbClr val="111B30"/>
                </a:solidFill>
                <a:latin typeface="Calibri"/>
              </a:rPr>
              <a:t>+ Re-run Analyzer</a:t>
            </a:r>
          </a:p>
        </p:txBody>
      </p:sp>
      <p:cxnSp>
        <p:nvCxnSpPr>
          <p:cNvPr id="10" name="Connector 9"/>
          <p:cNvCxnSpPr/>
          <p:nvPr/>
        </p:nvCxnSpPr>
        <p:spPr>
          <a:xfrm>
            <a:off x="3017520" y="3794760"/>
            <a:ext cx="27432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52160" y="3794760"/>
            <a:ext cx="27432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78240" y="3794760"/>
            <a:ext cx="27432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4572000" y="3200400"/>
            <a:ext cx="5806440" cy="0"/>
          </a:xfrm>
          <a:prstGeom prst="line">
            <a:avLst/>
          </a:prstGeom>
          <a:ln w="22225">
            <a:solidFill>
              <a:srgbClr val="6B74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69380" y="2999232"/>
            <a:ext cx="2011680" cy="365760"/>
          </a:xfrm>
          <a:prstGeom prst="rect">
            <a:avLst/>
          </a:prstGeom>
          <a:noFill/>
        </p:spPr>
        <p:txBody>
          <a:bodyPr wrap="square">
            <a:spAutoFit/>
          </a:bodyPr>
          <a:lstStyle/>
          <a:p>
            <a:pPr algn="ctr"/>
            <a:r>
              <a:rPr sz="950" b="0" i="1">
                <a:solidFill>
                  <a:srgbClr val="6B7480"/>
                </a:solidFill>
                <a:latin typeface="Calibri"/>
              </a:rPr>
              <a:t>iterate until delta is minimal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Baseline Scan and Apply</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1">
                <a:solidFill>
                  <a:srgbClr val="6B7480"/>
                </a:solidFill>
                <a:latin typeface="Courier New"/>
              </a:rPr>
              <a:t># Policy Analyzer: load the OS-appropriate baseline GPO backup, compare against local policy</a:t>
            </a:r>
          </a:p>
          <a:p>
            <a:pPr>
              <a:spcAft>
                <a:spcPts val="600"/>
              </a:spcAft>
            </a:pPr>
            <a:r>
              <a:rPr sz="1350" b="0" i="0">
                <a:solidFill>
                  <a:srgbClr val="111B30"/>
                </a:solidFill>
                <a:latin typeface="Courier New"/>
              </a:rPr>
              <a:t>PolicyAnalyzer.exe</a:t>
            </a:r>
          </a:p>
          <a:p>
            <a:pPr>
              <a:spcAft>
                <a:spcPts val="600"/>
              </a:spcAft>
            </a:pPr>
            <a:r>
              <a:rPr sz="1350" b="0" i="1">
                <a:solidFill>
                  <a:srgbClr val="6B7480"/>
                </a:solidFill>
                <a:latin typeface="Courier New"/>
              </a:rPr>
              <a:t># review the highlighted differences, then apply the baseline via LGPO</a:t>
            </a:r>
          </a:p>
          <a:p>
            <a:pPr>
              <a:spcAft>
                <a:spcPts val="600"/>
              </a:spcAft>
            </a:pPr>
            <a:r>
              <a:rPr sz="1350" b="0" i="0">
                <a:solidFill>
                  <a:srgbClr val="111B30"/>
                </a:solidFill>
                <a:latin typeface="Courier New"/>
              </a:rPr>
              <a:t>LGPO.exe /g ".\GPOs\Computer\"</a:t>
            </a:r>
          </a:p>
          <a:p>
            <a:pPr>
              <a:spcAft>
                <a:spcPts val="600"/>
              </a:spcAft>
            </a:pPr>
            <a:r>
              <a:rPr sz="1350" b="0" i="0">
                <a:solidFill>
                  <a:srgbClr val="111B30"/>
                </a:solidFill>
                <a:latin typeface="Courier New"/>
              </a:rPr>
              <a:t>gpupdate /force</a:t>
            </a:r>
          </a:p>
          <a:p>
            <a:pPr>
              <a:spcAft>
                <a:spcPts val="600"/>
              </a:spcAft>
            </a:pPr>
            <a:r>
              <a:rPr sz="1350" b="0" i="1">
                <a:solidFill>
                  <a:srgbClr val="6B7480"/>
                </a:solidFill>
                <a:latin typeface="Courier New"/>
              </a:rPr>
              <a:t># force local policy to pick up the newly-applied settings immediately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Confirm the Delta Dropped</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1">
                <a:solidFill>
                  <a:srgbClr val="6B7480"/>
                </a:solidFill>
                <a:latin typeface="Courier New"/>
              </a:rPr>
              <a:t># re-run Policy Analyzer against the same baseline used before the LGPO apply</a:t>
            </a:r>
          </a:p>
          <a:p>
            <a:pPr>
              <a:spcAft>
                <a:spcPts val="600"/>
              </a:spcAft>
            </a:pPr>
            <a:r>
              <a:rPr sz="1350" b="0" i="0">
                <a:solidFill>
                  <a:srgbClr val="111B30"/>
                </a:solidFill>
                <a:latin typeface="Courier New"/>
              </a:rPr>
              <a:t>PolicyAnalyzer.exe</a:t>
            </a:r>
          </a:p>
          <a:p>
            <a:pPr>
              <a:spcAft>
                <a:spcPts val="600"/>
              </a:spcAft>
            </a:pPr>
            <a:r>
              <a:rPr sz="1350" b="0" i="1">
                <a:solidFill>
                  <a:srgbClr val="6B7480"/>
                </a:solidFill>
                <a:latin typeface="Courier New"/>
              </a:rPr>
              <a:t># spot-check one specific setting directly against the registry</a:t>
            </a:r>
          </a:p>
          <a:p>
            <a:pPr>
              <a:spcAft>
                <a:spcPts val="600"/>
              </a:spcAft>
            </a:pPr>
            <a:r>
              <a:rPr sz="1350" b="0" i="0">
                <a:solidFill>
                  <a:srgbClr val="111B30"/>
                </a:solidFill>
                <a:latin typeface="Courier New"/>
              </a:rPr>
              <a:t>Get-ItemProperty -Path "HKLM:\SYSTEM\CurrentControlSet\Control\Lsa" -Name LmCompatibilityLevel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AppLocker: Application Allow-Listing</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A default-deny model at the user-mode application layer: only explicitly allowed executables, scripts, installers, and DLLs are permitted to run</a:t>
            </a:r>
          </a:p>
          <a:p>
            <a:pPr>
              <a:lnSpc>
                <a:spcPct val="125000"/>
              </a:lnSpc>
              <a:spcAft>
                <a:spcPts val="1200"/>
              </a:spcAft>
            </a:pPr>
            <a:r>
              <a:rPr sz="1600" b="0" i="0">
                <a:solidFill>
                  <a:srgbClr val="111B30"/>
                </a:solidFill>
                <a:latin typeface="Calibri"/>
              </a:rPr>
              <a:t>•  Rules can be based on publisher signature, file path, or file hash - publisher rules survive application updates, hash rules don't</a:t>
            </a:r>
          </a:p>
          <a:p>
            <a:pPr>
              <a:lnSpc>
                <a:spcPct val="125000"/>
              </a:lnSpc>
              <a:spcAft>
                <a:spcPts val="1200"/>
              </a:spcAft>
            </a:pPr>
            <a:r>
              <a:rPr sz="1600" b="0" i="0">
                <a:solidFill>
                  <a:srgbClr val="111B30"/>
                </a:solidFill>
                <a:latin typeface="Calibri"/>
              </a:rPr>
              <a:t>•  Enforced per rule collection (Executable, Windows Installer, Script, DLL, Packaged app) - each can be independently set to Enforce or Audit</a:t>
            </a:r>
          </a:p>
          <a:p>
            <a:pPr>
              <a:lnSpc>
                <a:spcPct val="125000"/>
              </a:lnSpc>
              <a:spcAft>
                <a:spcPts val="1200"/>
              </a:spcAft>
            </a:pPr>
            <a:r>
              <a:rPr sz="1600" b="0" i="0">
                <a:solidFill>
                  <a:srgbClr val="111B30"/>
                </a:solidFill>
                <a:latin typeface="Calibri"/>
              </a:rPr>
              <a:t>•  Deployed via Group Policy - the same GPO infrastructure already used for the security baseline</a:t>
            </a:r>
          </a:p>
          <a:p>
            <a:pPr>
              <a:lnSpc>
                <a:spcPct val="125000"/>
              </a:lnSpc>
              <a:spcAft>
                <a:spcPts val="1200"/>
              </a:spcAft>
            </a:pPr>
            <a:r>
              <a:rPr sz="1600" b="0" i="0">
                <a:solidFill>
                  <a:srgbClr val="111B30"/>
                </a:solidFill>
                <a:latin typeface="Calibri"/>
              </a:rPr>
              <a:t>•  Effective against unauthorized/unknown binaries (commodity malware, unapproved tools) - not a substitute for the kernel-level protections WDAC provides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AppLocker Rule Evaluation Flow</a:t>
            </a:r>
          </a:p>
        </p:txBody>
      </p:sp>
      <p:sp>
        <p:nvSpPr>
          <p:cNvPr id="6" name="Rounded Rectangle 5"/>
          <p:cNvSpPr/>
          <p:nvPr/>
        </p:nvSpPr>
        <p:spPr>
          <a:xfrm>
            <a:off x="4937760" y="1371600"/>
            <a:ext cx="2286000" cy="7315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Process Attempts</a:t>
            </a:r>
          </a:p>
          <a:p>
            <a:pPr algn="ctr"/>
            <a:r>
              <a:rPr sz="1150" b="0" i="0">
                <a:solidFill>
                  <a:srgbClr val="111B30"/>
                </a:solidFill>
                <a:latin typeface="Calibri"/>
              </a:rPr>
              <a:t>to Execute</a:t>
            </a:r>
          </a:p>
        </p:txBody>
      </p:sp>
      <p:sp>
        <p:nvSpPr>
          <p:cNvPr id="7" name="Diamond 6"/>
          <p:cNvSpPr/>
          <p:nvPr/>
        </p:nvSpPr>
        <p:spPr>
          <a:xfrm>
            <a:off x="4480560" y="2743200"/>
            <a:ext cx="3200400" cy="118872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111B30"/>
                </a:solidFill>
                <a:latin typeface="Calibri"/>
              </a:rPr>
              <a:t>Matches an</a:t>
            </a:r>
          </a:p>
          <a:p>
            <a:pPr algn="ctr"/>
            <a:r>
              <a:rPr sz="1200" b="1" i="0">
                <a:solidFill>
                  <a:srgbClr val="111B30"/>
                </a:solidFill>
                <a:latin typeface="Calibri"/>
              </a:rPr>
              <a:t>Allow Rule?</a:t>
            </a:r>
          </a:p>
        </p:txBody>
      </p:sp>
      <p:sp>
        <p:nvSpPr>
          <p:cNvPr id="8" name="Rounded Rectangle 7"/>
          <p:cNvSpPr/>
          <p:nvPr/>
        </p:nvSpPr>
        <p:spPr>
          <a:xfrm>
            <a:off x="731520" y="4846320"/>
            <a:ext cx="3840480" cy="109728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2E7D32"/>
                </a:solidFill>
                <a:latin typeface="Calibri"/>
              </a:rPr>
              <a:t>Yes</a:t>
            </a:r>
          </a:p>
          <a:p>
            <a:pPr algn="ctr"/>
            <a:r>
              <a:rPr sz="1200" b="1" i="0">
                <a:solidFill>
                  <a:srgbClr val="2E7D32"/>
                </a:solidFill>
                <a:latin typeface="Calibri"/>
              </a:rPr>
              <a:t>Execution Permitted</a:t>
            </a:r>
          </a:p>
        </p:txBody>
      </p:sp>
      <p:sp>
        <p:nvSpPr>
          <p:cNvPr id="9" name="Rounded Rectangle 8"/>
          <p:cNvSpPr/>
          <p:nvPr/>
        </p:nvSpPr>
        <p:spPr>
          <a:xfrm>
            <a:off x="7589520" y="4846320"/>
            <a:ext cx="3840480" cy="109728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B02A2A"/>
                </a:solidFill>
                <a:latin typeface="Calibri"/>
              </a:rPr>
              <a:t>No (default-deny)</a:t>
            </a:r>
          </a:p>
          <a:p>
            <a:pPr algn="ctr"/>
            <a:r>
              <a:rPr sz="1200" b="1" i="0">
                <a:solidFill>
                  <a:srgbClr val="B02A2A"/>
                </a:solidFill>
                <a:latin typeface="Calibri"/>
              </a:rPr>
              <a:t>Execution Blocked</a:t>
            </a:r>
          </a:p>
        </p:txBody>
      </p:sp>
      <p:cxnSp>
        <p:nvCxnSpPr>
          <p:cNvPr id="10" name="Connector 9"/>
          <p:cNvCxnSpPr/>
          <p:nvPr/>
        </p:nvCxnSpPr>
        <p:spPr>
          <a:xfrm>
            <a:off x="6080760" y="2103120"/>
            <a:ext cx="0" cy="64008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2651760" y="3337560"/>
            <a:ext cx="1828800" cy="1508760"/>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560320" y="3890772"/>
            <a:ext cx="2011680" cy="365760"/>
          </a:xfrm>
          <a:prstGeom prst="rect">
            <a:avLst/>
          </a:prstGeom>
          <a:noFill/>
        </p:spPr>
        <p:txBody>
          <a:bodyPr wrap="square">
            <a:spAutoFit/>
          </a:bodyPr>
          <a:lstStyle/>
          <a:p>
            <a:pPr algn="ctr"/>
            <a:r>
              <a:rPr sz="950" b="0" i="1">
                <a:solidFill>
                  <a:srgbClr val="2E7D32"/>
                </a:solidFill>
                <a:latin typeface="Calibri"/>
              </a:rPr>
              <a:t>Yes</a:t>
            </a:r>
          </a:p>
        </p:txBody>
      </p:sp>
      <p:cxnSp>
        <p:nvCxnSpPr>
          <p:cNvPr id="13" name="Connector 12"/>
          <p:cNvCxnSpPr/>
          <p:nvPr/>
        </p:nvCxnSpPr>
        <p:spPr>
          <a:xfrm>
            <a:off x="7680960" y="3337560"/>
            <a:ext cx="1828800" cy="150876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589520" y="3890772"/>
            <a:ext cx="2011680" cy="365760"/>
          </a:xfrm>
          <a:prstGeom prst="rect">
            <a:avLst/>
          </a:prstGeom>
          <a:noFill/>
        </p:spPr>
        <p:txBody>
          <a:bodyPr wrap="square">
            <a:spAutoFit/>
          </a:bodyPr>
          <a:lstStyle/>
          <a:p>
            <a:pPr algn="ctr"/>
            <a:r>
              <a:rPr sz="950" b="0" i="1">
                <a:solidFill>
                  <a:srgbClr val="B02A2A"/>
                </a:solidFill>
                <a:latin typeface="Calibri"/>
              </a:rPr>
              <a:t>No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Windows Defender Application Control (WDAC)</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Kernel-mode code integrity enforcement - a true security boundary, unlike AppLocker's user-mode advisory control</a:t>
            </a:r>
          </a:p>
          <a:p>
            <a:pPr>
              <a:lnSpc>
                <a:spcPct val="125000"/>
              </a:lnSpc>
              <a:spcAft>
                <a:spcPts val="1200"/>
              </a:spcAft>
            </a:pPr>
            <a:r>
              <a:rPr sz="1600" b="0" i="0">
                <a:solidFill>
                  <a:srgbClr val="111B30"/>
                </a:solidFill>
                <a:latin typeface="Calibri"/>
              </a:rPr>
              <a:t>•  Enforces what can load into the kernel itself, not just what a user can double-click and run</a:t>
            </a:r>
          </a:p>
          <a:p>
            <a:pPr>
              <a:lnSpc>
                <a:spcPct val="125000"/>
              </a:lnSpc>
              <a:spcAft>
                <a:spcPts val="1200"/>
              </a:spcAft>
            </a:pPr>
            <a:r>
              <a:rPr sz="1600" b="0" i="0">
                <a:solidFill>
                  <a:srgbClr val="111B30"/>
                </a:solidFill>
                <a:latin typeface="Calibri"/>
              </a:rPr>
              <a:t>•  Policies are XML-defined and can combine multiple rule types: publisher certificate, file hash, path, or a Managed Installer designation</a:t>
            </a:r>
          </a:p>
          <a:p>
            <a:pPr>
              <a:lnSpc>
                <a:spcPct val="125000"/>
              </a:lnSpc>
              <a:spcAft>
                <a:spcPts val="1200"/>
              </a:spcAft>
            </a:pPr>
            <a:r>
              <a:rPr sz="1600" b="0" i="0">
                <a:solidFill>
                  <a:srgbClr val="111B30"/>
                </a:solidFill>
                <a:latin typeface="Calibri"/>
              </a:rPr>
              <a:t>•  Because it's kernel-enforced, WDAC can't be bypassed by a process running with local admin rights the way an AppLocker rule sometimes can</a:t>
            </a:r>
          </a:p>
          <a:p>
            <a:pPr>
              <a:lnSpc>
                <a:spcPct val="125000"/>
              </a:lnSpc>
              <a:spcAft>
                <a:spcPts val="1200"/>
              </a:spcAft>
            </a:pPr>
            <a:r>
              <a:rPr sz="1600" b="0" i="0">
                <a:solidFill>
                  <a:srgbClr val="111B30"/>
                </a:solidFill>
                <a:latin typeface="Calibri"/>
              </a:rPr>
              <a:t>•  More operationally demanding to deploy than AppLocker - policies must be built and refined against a representative reference system before enforcement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AppLocker vs. WDAC</a:t>
            </a:r>
          </a:p>
        </p:txBody>
      </p:sp>
      <p:graphicFrame>
        <p:nvGraphicFramePr>
          <p:cNvPr id="6" name="Table 5"/>
          <p:cNvGraphicFramePr>
            <a:graphicFrameLocks noGrp="1"/>
          </p:cNvGraphicFramePr>
          <p:nvPr/>
        </p:nvGraphicFramePr>
        <p:xfrm>
          <a:off x="640080" y="1188720"/>
          <a:ext cx="10911535" cy="3063240"/>
        </p:xfrm>
        <a:graphic>
          <a:graphicData uri="http://schemas.openxmlformats.org/drawingml/2006/table">
            <a:tbl>
              <a:tblPr firstRow="1" bandRow="1">
                <a:tableStyleId>{5C22544A-7EE6-4342-B048-85BDC9FD1C3A}</a:tableStyleId>
              </a:tblPr>
              <a:tblGrid>
                <a:gridCol w="2743200"/>
                <a:gridCol w="4480560"/>
                <a:gridCol w="3687775"/>
              </a:tblGrid>
              <a:tr h="510540">
                <a:tc>
                  <a:txBody>
                    <a:bodyPr wrap="square"/>
                    <a:lstStyle/>
                    <a:p>
                      <a:pPr algn="ctr"/>
                      <a:r>
                        <a:rPr sz="1300" b="1" i="0">
                          <a:solidFill>
                            <a:srgbClr val="FFFFFF"/>
                          </a:solidFill>
                          <a:latin typeface="Calibri"/>
                        </a:rPr>
                        <a:t>Dimension</a:t>
                      </a:r>
                    </a:p>
                  </a:txBody>
                  <a:tcPr anchor="ctr">
                    <a:solidFill>
                      <a:srgbClr val="1B2A4A"/>
                    </a:solidFill>
                  </a:tcPr>
                </a:tc>
                <a:tc>
                  <a:txBody>
                    <a:bodyPr wrap="square"/>
                    <a:lstStyle/>
                    <a:p>
                      <a:pPr algn="ctr"/>
                      <a:r>
                        <a:rPr sz="1300" b="1" i="0">
                          <a:solidFill>
                            <a:srgbClr val="FFFFFF"/>
                          </a:solidFill>
                          <a:latin typeface="Calibri"/>
                        </a:rPr>
                        <a:t>AppLocker</a:t>
                      </a:r>
                    </a:p>
                  </a:txBody>
                  <a:tcPr anchor="ctr">
                    <a:solidFill>
                      <a:srgbClr val="1B2A4A"/>
                    </a:solidFill>
                  </a:tcPr>
                </a:tc>
                <a:tc>
                  <a:txBody>
                    <a:bodyPr wrap="square"/>
                    <a:lstStyle/>
                    <a:p>
                      <a:pPr algn="ctr"/>
                      <a:r>
                        <a:rPr sz="1300" b="1" i="0">
                          <a:solidFill>
                            <a:srgbClr val="FFFFFF"/>
                          </a:solidFill>
                          <a:latin typeface="Calibri"/>
                        </a:rPr>
                        <a:t>WDAC</a:t>
                      </a:r>
                    </a:p>
                  </a:txBody>
                  <a:tcPr anchor="ctr">
                    <a:solidFill>
                      <a:srgbClr val="1B2A4A"/>
                    </a:solidFill>
                  </a:tcPr>
                </a:tc>
              </a:tr>
              <a:tr h="510540">
                <a:tc>
                  <a:txBody>
                    <a:bodyPr wrap="square"/>
                    <a:lstStyle/>
                    <a:p>
                      <a:r>
                        <a:rPr sz="1150" b="0" i="0">
                          <a:solidFill>
                            <a:srgbClr val="111B30"/>
                          </a:solidFill>
                          <a:latin typeface="Calibri"/>
                        </a:rPr>
                        <a:t>Enforcement layer</a:t>
                      </a:r>
                    </a:p>
                  </a:txBody>
                  <a:tcPr anchor="ctr">
                    <a:solidFill>
                      <a:srgbClr val="E8EEF7"/>
                    </a:solidFill>
                  </a:tcPr>
                </a:tc>
                <a:tc>
                  <a:txBody>
                    <a:bodyPr wrap="square"/>
                    <a:lstStyle/>
                    <a:p>
                      <a:r>
                        <a:rPr sz="1150" b="0" i="0">
                          <a:solidFill>
                            <a:srgbClr val="111B30"/>
                          </a:solidFill>
                          <a:latin typeface="Calibri"/>
                        </a:rPr>
                        <a:t>User mode</a:t>
                      </a:r>
                    </a:p>
                  </a:txBody>
                  <a:tcPr anchor="ctr">
                    <a:solidFill>
                      <a:srgbClr val="E8EEF7"/>
                    </a:solidFill>
                  </a:tcPr>
                </a:tc>
                <a:tc>
                  <a:txBody>
                    <a:bodyPr wrap="square"/>
                    <a:lstStyle/>
                    <a:p>
                      <a:r>
                        <a:rPr sz="1150" b="0" i="0">
                          <a:solidFill>
                            <a:srgbClr val="111B30"/>
                          </a:solidFill>
                          <a:latin typeface="Calibri"/>
                        </a:rPr>
                        <a:t>Kernel mode</a:t>
                      </a:r>
                    </a:p>
                  </a:txBody>
                  <a:tcPr anchor="ctr">
                    <a:solidFill>
                      <a:srgbClr val="E8EEF7"/>
                    </a:solidFill>
                  </a:tcPr>
                </a:tc>
              </a:tr>
              <a:tr h="510540">
                <a:tc>
                  <a:txBody>
                    <a:bodyPr wrap="square"/>
                    <a:lstStyle/>
                    <a:p>
                      <a:r>
                        <a:rPr sz="1150" b="0" i="0">
                          <a:solidFill>
                            <a:srgbClr val="111B30"/>
                          </a:solidFill>
                          <a:latin typeface="Calibri"/>
                        </a:rPr>
                        <a:t>Security boundary?</a:t>
                      </a:r>
                    </a:p>
                  </a:txBody>
                  <a:tcPr anchor="ctr">
                    <a:solidFill>
                      <a:srgbClr val="FFFFFF"/>
                    </a:solidFill>
                  </a:tcPr>
                </a:tc>
                <a:tc>
                  <a:txBody>
                    <a:bodyPr wrap="square"/>
                    <a:lstStyle/>
                    <a:p>
                      <a:r>
                        <a:rPr sz="1150" b="0" i="0">
                          <a:solidFill>
                            <a:srgbClr val="111B30"/>
                          </a:solidFill>
                          <a:latin typeface="Calibri"/>
                        </a:rPr>
                        <a:t>No (best-effort application control)</a:t>
                      </a:r>
                    </a:p>
                  </a:txBody>
                  <a:tcPr anchor="ctr">
                    <a:solidFill>
                      <a:srgbClr val="FFFFFF"/>
                    </a:solidFill>
                  </a:tcPr>
                </a:tc>
                <a:tc>
                  <a:txBody>
                    <a:bodyPr wrap="square"/>
                    <a:lstStyle/>
                    <a:p>
                      <a:r>
                        <a:rPr sz="1150" b="0" i="0">
                          <a:solidFill>
                            <a:srgbClr val="111B30"/>
                          </a:solidFill>
                          <a:latin typeface="Calibri"/>
                        </a:rPr>
                        <a:t>Yes (Microsoft-recognized security boundary)</a:t>
                      </a:r>
                    </a:p>
                  </a:txBody>
                  <a:tcPr anchor="ctr">
                    <a:solidFill>
                      <a:srgbClr val="FFFFFF"/>
                    </a:solidFill>
                  </a:tcPr>
                </a:tc>
              </a:tr>
              <a:tr h="510540">
                <a:tc>
                  <a:txBody>
                    <a:bodyPr wrap="square"/>
                    <a:lstStyle/>
                    <a:p>
                      <a:r>
                        <a:rPr sz="1150" b="0" i="0">
                          <a:solidFill>
                            <a:srgbClr val="111B30"/>
                          </a:solidFill>
                          <a:latin typeface="Calibri"/>
                        </a:rPr>
                        <a:t>Rule types</a:t>
                      </a:r>
                    </a:p>
                  </a:txBody>
                  <a:tcPr anchor="ctr">
                    <a:solidFill>
                      <a:srgbClr val="E8EEF7"/>
                    </a:solidFill>
                  </a:tcPr>
                </a:tc>
                <a:tc>
                  <a:txBody>
                    <a:bodyPr wrap="square"/>
                    <a:lstStyle/>
                    <a:p>
                      <a:r>
                        <a:rPr sz="1150" b="0" i="0">
                          <a:solidFill>
                            <a:srgbClr val="111B30"/>
                          </a:solidFill>
                          <a:latin typeface="Calibri"/>
                        </a:rPr>
                        <a:t>Publisher, path, hash (per rule collection)</a:t>
                      </a:r>
                    </a:p>
                  </a:txBody>
                  <a:tcPr anchor="ctr">
                    <a:solidFill>
                      <a:srgbClr val="E8EEF7"/>
                    </a:solidFill>
                  </a:tcPr>
                </a:tc>
                <a:tc>
                  <a:txBody>
                    <a:bodyPr wrap="square"/>
                    <a:lstStyle/>
                    <a:p>
                      <a:r>
                        <a:rPr sz="1150" b="0" i="0">
                          <a:solidFill>
                            <a:srgbClr val="111B30"/>
                          </a:solidFill>
                          <a:latin typeface="Calibri"/>
                        </a:rPr>
                        <a:t>Publisher, hash, path, Managed Installer</a:t>
                      </a:r>
                    </a:p>
                  </a:txBody>
                  <a:tcPr anchor="ctr">
                    <a:solidFill>
                      <a:srgbClr val="E8EEF7"/>
                    </a:solidFill>
                  </a:tcPr>
                </a:tc>
              </a:tr>
              <a:tr h="510540">
                <a:tc>
                  <a:txBody>
                    <a:bodyPr wrap="square"/>
                    <a:lstStyle/>
                    <a:p>
                      <a:r>
                        <a:rPr sz="1150" b="0" i="0">
                          <a:solidFill>
                            <a:srgbClr val="111B30"/>
                          </a:solidFill>
                          <a:latin typeface="Calibri"/>
                        </a:rPr>
                        <a:t>Granularity</a:t>
                      </a:r>
                    </a:p>
                  </a:txBody>
                  <a:tcPr anchor="ctr">
                    <a:solidFill>
                      <a:srgbClr val="FFFFFF"/>
                    </a:solidFill>
                  </a:tcPr>
                </a:tc>
                <a:tc>
                  <a:txBody>
                    <a:bodyPr wrap="square"/>
                    <a:lstStyle/>
                    <a:p>
                      <a:r>
                        <a:rPr sz="1150" b="0" i="0">
                          <a:solidFill>
                            <a:srgbClr val="111B30"/>
                          </a:solidFill>
                          <a:latin typeface="Calibri"/>
                        </a:rPr>
                        <a:t>Per rule collection (exe/script/installer/DLL/packaged app)</a:t>
                      </a:r>
                    </a:p>
                  </a:txBody>
                  <a:tcPr anchor="ctr">
                    <a:solidFill>
                      <a:srgbClr val="FFFFFF"/>
                    </a:solidFill>
                  </a:tcPr>
                </a:tc>
                <a:tc>
                  <a:txBody>
                    <a:bodyPr wrap="square"/>
                    <a:lstStyle/>
                    <a:p>
                      <a:r>
                        <a:rPr sz="1150" b="0" i="0">
                          <a:solidFill>
                            <a:srgbClr val="111B30"/>
                          </a:solidFill>
                          <a:latin typeface="Calibri"/>
                        </a:rPr>
                        <a:t>Single unified kernel-enforced policy</a:t>
                      </a:r>
                    </a:p>
                  </a:txBody>
                  <a:tcPr anchor="ctr">
                    <a:solidFill>
                      <a:srgbClr val="FFFFFF"/>
                    </a:solidFill>
                  </a:tcPr>
                </a:tc>
              </a:tr>
              <a:tr h="510540">
                <a:tc>
                  <a:txBody>
                    <a:bodyPr wrap="square"/>
                    <a:lstStyle/>
                    <a:p>
                      <a:r>
                        <a:rPr sz="1150" b="0" i="0">
                          <a:solidFill>
                            <a:srgbClr val="111B30"/>
                          </a:solidFill>
                          <a:latin typeface="Calibri"/>
                        </a:rPr>
                        <a:t>Typical use case</a:t>
                      </a:r>
                    </a:p>
                  </a:txBody>
                  <a:tcPr anchor="ctr">
                    <a:solidFill>
                      <a:srgbClr val="E8EEF7"/>
                    </a:solidFill>
                  </a:tcPr>
                </a:tc>
                <a:tc>
                  <a:txBody>
                    <a:bodyPr wrap="square"/>
                    <a:lstStyle/>
                    <a:p>
                      <a:r>
                        <a:rPr sz="1150" b="0" i="0">
                          <a:solidFill>
                            <a:srgbClr val="111B30"/>
                          </a:solidFill>
                          <a:latin typeface="Calibri"/>
                        </a:rPr>
                        <a:t>Targeted app control on top of an existing baseline</a:t>
                      </a:r>
                    </a:p>
                  </a:txBody>
                  <a:tcPr anchor="ctr">
                    <a:solidFill>
                      <a:srgbClr val="E8EEF7"/>
                    </a:solidFill>
                  </a:tcPr>
                </a:tc>
                <a:tc>
                  <a:txBody>
                    <a:bodyPr wrap="square"/>
                    <a:lstStyle/>
                    <a:p>
                      <a:r>
                        <a:rPr sz="1150" b="0" i="0">
                          <a:solidFill>
                            <a:srgbClr val="111B30"/>
                          </a:solidFill>
                          <a:latin typeface="Calibri"/>
                        </a:rPr>
                        <a:t>High-assurance environments requiring a true code-integrity guarantee</a:t>
                      </a:r>
                    </a:p>
                  </a:txBody>
                  <a:tcPr anchor="ctr">
                    <a:solidFill>
                      <a:srgbClr val="E8EEF7"/>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Credential Guard: Isolating Secrets from the OS Itself</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Uses virtualization-based security (VBS) to run the LSA (Local Security Authority) inside an isolated, hypervisor-protected environment</a:t>
            </a:r>
          </a:p>
          <a:p>
            <a:pPr>
              <a:lnSpc>
                <a:spcPct val="125000"/>
              </a:lnSpc>
              <a:spcAft>
                <a:spcPts val="1200"/>
              </a:spcAft>
            </a:pPr>
            <a:r>
              <a:rPr sz="1600" b="0" i="0">
                <a:solidFill>
                  <a:srgbClr val="111B30"/>
                </a:solidFill>
                <a:latin typeface="Calibri"/>
              </a:rPr>
              <a:t>•  Secrets normally cached in LSASS memory - NTLM hashes, Kerberos tickets - are moved into this isolated environment instead</a:t>
            </a:r>
          </a:p>
          <a:p>
            <a:pPr>
              <a:lnSpc>
                <a:spcPct val="125000"/>
              </a:lnSpc>
              <a:spcAft>
                <a:spcPts val="1200"/>
              </a:spcAft>
            </a:pPr>
            <a:r>
              <a:rPr sz="1600" b="0" i="0">
                <a:solidFill>
                  <a:srgbClr val="111B30"/>
                </a:solidFill>
                <a:latin typeface="Calibri"/>
              </a:rPr>
              <a:t>•  Even a process with SYSTEM privileges on the main OS cannot read these secrets directly - the hypervisor enforces the isolation boundary, not the OS itself</a:t>
            </a:r>
          </a:p>
          <a:p>
            <a:pPr>
              <a:lnSpc>
                <a:spcPct val="125000"/>
              </a:lnSpc>
              <a:spcAft>
                <a:spcPts val="1200"/>
              </a:spcAft>
            </a:pPr>
            <a:r>
              <a:rPr sz="1600" b="0" i="0">
                <a:solidFill>
                  <a:srgbClr val="111B30"/>
                </a:solidFill>
                <a:latin typeface="Calibri"/>
              </a:rPr>
              <a:t>•  This directly defeats credential-dumping tools (Mimikatz and similar) that rely on reading LSASS process memory from within the OS</a:t>
            </a:r>
          </a:p>
          <a:p>
            <a:pPr>
              <a:lnSpc>
                <a:spcPct val="125000"/>
              </a:lnSpc>
              <a:spcAft>
                <a:spcPts val="1200"/>
              </a:spcAft>
            </a:pPr>
            <a:r>
              <a:rPr sz="1600" b="0" i="0">
                <a:solidFill>
                  <a:srgbClr val="111B30"/>
                </a:solidFill>
                <a:latin typeface="Calibri"/>
              </a:rPr>
              <a:t>•  Requires UEFI Secure Boot and, for the strongest guarantee, can be locked via UEFI so it can't be disabled even by an admin without physical access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Credential Guard: VTL1 Isolation</a:t>
            </a:r>
          </a:p>
        </p:txBody>
      </p:sp>
      <p:sp>
        <p:nvSpPr>
          <p:cNvPr id="6" name="Rounded Rectangle 5"/>
          <p:cNvSpPr/>
          <p:nvPr/>
        </p:nvSpPr>
        <p:spPr>
          <a:xfrm>
            <a:off x="914400" y="2103120"/>
            <a:ext cx="10332720" cy="1463040"/>
          </a:xfrm>
          <a:prstGeom prst="roundRect">
            <a:avLst/>
          </a:prstGeom>
          <a:solidFill>
            <a:srgbClr val="FFFFFF"/>
          </a:solidFill>
          <a:ln w="31750">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111B30"/>
                </a:solidFill>
                <a:latin typeface="Calibri"/>
              </a:rPr>
              <a:t>VTL1 - Hypervisor-Isolated Secure Kernel</a:t>
            </a:r>
          </a:p>
          <a:p>
            <a:pPr algn="ctr"/>
            <a:r>
              <a:rPr sz="1200" b="1" i="0">
                <a:solidFill>
                  <a:srgbClr val="111B30"/>
                </a:solidFill>
                <a:latin typeface="Calibri"/>
              </a:rPr>
              <a:t>(LSA Isolated Process, protected secrets)</a:t>
            </a:r>
          </a:p>
        </p:txBody>
      </p:sp>
      <p:sp>
        <p:nvSpPr>
          <p:cNvPr id="7" name="Rounded Rectangle 6"/>
          <p:cNvSpPr/>
          <p:nvPr/>
        </p:nvSpPr>
        <p:spPr>
          <a:xfrm>
            <a:off x="914400" y="3566160"/>
            <a:ext cx="10332720" cy="146304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VTL0 - Normal Windows OS</a:t>
            </a:r>
          </a:p>
          <a:p>
            <a:pPr algn="ctr"/>
            <a:r>
              <a:rPr sz="1200" b="0" i="0">
                <a:solidFill>
                  <a:srgbClr val="111B30"/>
                </a:solidFill>
                <a:latin typeface="Calibri"/>
              </a:rPr>
              <a:t>(kernel, LSASS process, user apps)</a:t>
            </a:r>
          </a:p>
        </p:txBody>
      </p:sp>
      <p:sp>
        <p:nvSpPr>
          <p:cNvPr id="8" name="Rounded Rectangle 7"/>
          <p:cNvSpPr/>
          <p:nvPr/>
        </p:nvSpPr>
        <p:spPr>
          <a:xfrm>
            <a:off x="3108960" y="5577840"/>
            <a:ext cx="5943600" cy="54864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0" i="0">
                <a:solidFill>
                  <a:srgbClr val="B02A2A"/>
                </a:solidFill>
                <a:latin typeface="Calibri"/>
              </a:rPr>
              <a:t>Mimikatz / Credential-Dumping Tool (running in VTL0 with SYSTEM rights)</a:t>
            </a:r>
          </a:p>
        </p:txBody>
      </p:sp>
      <p:cxnSp>
        <p:nvCxnSpPr>
          <p:cNvPr id="9" name="Connector 8"/>
          <p:cNvCxnSpPr/>
          <p:nvPr/>
        </p:nvCxnSpPr>
        <p:spPr>
          <a:xfrm flipV="1">
            <a:off x="6080760" y="3566160"/>
            <a:ext cx="0" cy="201168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223760" y="5074920"/>
            <a:ext cx="4023360" cy="502920"/>
          </a:xfrm>
          <a:prstGeom prst="rect">
            <a:avLst/>
          </a:prstGeom>
          <a:noFill/>
        </p:spPr>
        <p:txBody>
          <a:bodyPr wrap="square">
            <a:spAutoFit/>
          </a:bodyPr>
          <a:lstStyle/>
          <a:p>
            <a:r>
              <a:rPr sz="1100" b="1" i="0">
                <a:solidFill>
                  <a:srgbClr val="B02A2A"/>
                </a:solidFill>
                <a:latin typeface="Calibri"/>
              </a:rPr>
              <a:t>Access Denied at the VTL0/VTL1 Boundary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BitLocker: Full-Volume Encryption</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Encrypts an entire volume, not just individual files - protects data at rest if a drive or machine is physically stolen</a:t>
            </a:r>
          </a:p>
          <a:p>
            <a:pPr>
              <a:lnSpc>
                <a:spcPct val="125000"/>
              </a:lnSpc>
              <a:spcAft>
                <a:spcPts val="1200"/>
              </a:spcAft>
            </a:pPr>
            <a:r>
              <a:rPr sz="1600" b="0" i="0">
                <a:solidFill>
                  <a:srgbClr val="111B30"/>
                </a:solidFill>
                <a:latin typeface="Calibri"/>
              </a:rPr>
              <a:t>•  Strongest when paired with a TPM (Trusted Platform Module) for measured boot - the TPM validates the boot chain hasn't been tampered with before releasing the volume key</a:t>
            </a:r>
          </a:p>
          <a:p>
            <a:pPr>
              <a:lnSpc>
                <a:spcPct val="125000"/>
              </a:lnSpc>
              <a:spcAft>
                <a:spcPts val="1200"/>
              </a:spcAft>
            </a:pPr>
            <a:r>
              <a:rPr sz="1600" b="0" i="0">
                <a:solidFill>
                  <a:srgbClr val="111B30"/>
                </a:solidFill>
                <a:latin typeface="Calibri"/>
              </a:rPr>
              <a:t>•  Without a TPM, BitLocker can still run in USB-key or password-only modes - weaker, since the key isn't hardware-bound</a:t>
            </a:r>
          </a:p>
          <a:p>
            <a:pPr>
              <a:lnSpc>
                <a:spcPct val="125000"/>
              </a:lnSpc>
              <a:spcAft>
                <a:spcPts val="1200"/>
              </a:spcAft>
            </a:pPr>
            <a:r>
              <a:rPr sz="1600" b="0" i="0">
                <a:solidFill>
                  <a:srgbClr val="111B30"/>
                </a:solidFill>
                <a:latin typeface="Calibri"/>
              </a:rPr>
              <a:t>•  A recovery key is generated at setup and should be escrowed centrally (AD or Entra ID) - losing both the TPM-release path and the recovery key means permanent data loss</a:t>
            </a:r>
          </a:p>
          <a:p>
            <a:pPr>
              <a:lnSpc>
                <a:spcPct val="125000"/>
              </a:lnSpc>
              <a:spcAft>
                <a:spcPts val="1200"/>
              </a:spcAft>
            </a:pPr>
            <a:r>
              <a:rPr sz="1600" b="0" i="0">
                <a:solidFill>
                  <a:srgbClr val="111B30"/>
                </a:solidFill>
                <a:latin typeface="Calibri"/>
              </a:rPr>
              <a:t>•  Protects against offline/physical attacks (stolen laptop, removed drive) - it does nothing once Windows has booted and a user is logged 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BitLocker Unlock Flow</a:t>
            </a:r>
          </a:p>
        </p:txBody>
      </p:sp>
      <p:sp>
        <p:nvSpPr>
          <p:cNvPr id="6" name="Rounded Rectangle 5"/>
          <p:cNvSpPr/>
          <p:nvPr/>
        </p:nvSpPr>
        <p:spPr>
          <a:xfrm>
            <a:off x="4937760" y="1371600"/>
            <a:ext cx="2286000" cy="7315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0" i="0">
                <a:solidFill>
                  <a:srgbClr val="111B30"/>
                </a:solidFill>
                <a:latin typeface="Calibri"/>
              </a:rPr>
              <a:t>System Boot</a:t>
            </a:r>
          </a:p>
        </p:txBody>
      </p:sp>
      <p:sp>
        <p:nvSpPr>
          <p:cNvPr id="7" name="Diamond 6"/>
          <p:cNvSpPr/>
          <p:nvPr/>
        </p:nvSpPr>
        <p:spPr>
          <a:xfrm>
            <a:off x="4480560" y="2743200"/>
            <a:ext cx="3200400" cy="118872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200" b="1" i="0">
                <a:solidFill>
                  <a:srgbClr val="111B30"/>
                </a:solidFill>
                <a:latin typeface="Calibri"/>
              </a:rPr>
              <a:t>TPM Validates</a:t>
            </a:r>
          </a:p>
          <a:p>
            <a:pPr algn="ctr"/>
            <a:r>
              <a:rPr sz="1200" b="1" i="0">
                <a:solidFill>
                  <a:srgbClr val="111B30"/>
                </a:solidFill>
                <a:latin typeface="Calibri"/>
              </a:rPr>
              <a:t>Boot Chain</a:t>
            </a:r>
          </a:p>
        </p:txBody>
      </p:sp>
      <p:sp>
        <p:nvSpPr>
          <p:cNvPr id="8" name="Rounded Rectangle 7"/>
          <p:cNvSpPr/>
          <p:nvPr/>
        </p:nvSpPr>
        <p:spPr>
          <a:xfrm>
            <a:off x="731520" y="4846320"/>
            <a:ext cx="4206240" cy="109728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2E7D32"/>
                </a:solidFill>
                <a:latin typeface="Calibri"/>
              </a:rPr>
              <a:t>Integrity OK -&gt;</a:t>
            </a:r>
          </a:p>
          <a:p>
            <a:pPr algn="ctr"/>
            <a:r>
              <a:rPr sz="1150" b="1" i="0">
                <a:solidFill>
                  <a:srgbClr val="2E7D32"/>
                </a:solidFill>
                <a:latin typeface="Calibri"/>
              </a:rPr>
              <a:t>Volume Key Released</a:t>
            </a:r>
          </a:p>
        </p:txBody>
      </p:sp>
      <p:sp>
        <p:nvSpPr>
          <p:cNvPr id="9" name="Rounded Rectangle 8"/>
          <p:cNvSpPr/>
          <p:nvPr/>
        </p:nvSpPr>
        <p:spPr>
          <a:xfrm>
            <a:off x="7223760" y="4846320"/>
            <a:ext cx="4206240" cy="109728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B02A2A"/>
                </a:solidFill>
                <a:latin typeface="Calibri"/>
              </a:rPr>
              <a:t>Integrity Check Fails -&gt;</a:t>
            </a:r>
          </a:p>
          <a:p>
            <a:pPr algn="ctr"/>
            <a:r>
              <a:rPr sz="1150" b="1" i="0">
                <a:solidFill>
                  <a:srgbClr val="B02A2A"/>
                </a:solidFill>
                <a:latin typeface="Calibri"/>
              </a:rPr>
              <a:t>Recovery Key Required</a:t>
            </a:r>
          </a:p>
        </p:txBody>
      </p:sp>
      <p:cxnSp>
        <p:nvCxnSpPr>
          <p:cNvPr id="10" name="Connector 9"/>
          <p:cNvCxnSpPr/>
          <p:nvPr/>
        </p:nvCxnSpPr>
        <p:spPr>
          <a:xfrm>
            <a:off x="6080760" y="2103120"/>
            <a:ext cx="0" cy="64008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2834639" y="3337560"/>
            <a:ext cx="1645921" cy="1508760"/>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651760" y="3890772"/>
            <a:ext cx="2011680" cy="365760"/>
          </a:xfrm>
          <a:prstGeom prst="rect">
            <a:avLst/>
          </a:prstGeom>
          <a:noFill/>
        </p:spPr>
        <p:txBody>
          <a:bodyPr wrap="square">
            <a:spAutoFit/>
          </a:bodyPr>
          <a:lstStyle/>
          <a:p>
            <a:pPr algn="ctr"/>
            <a:r>
              <a:rPr sz="950" b="0" i="1">
                <a:solidFill>
                  <a:srgbClr val="2E7D32"/>
                </a:solidFill>
                <a:latin typeface="Calibri"/>
              </a:rPr>
              <a:t>Pass</a:t>
            </a:r>
          </a:p>
        </p:txBody>
      </p:sp>
      <p:cxnSp>
        <p:nvCxnSpPr>
          <p:cNvPr id="13" name="Connector 12"/>
          <p:cNvCxnSpPr/>
          <p:nvPr/>
        </p:nvCxnSpPr>
        <p:spPr>
          <a:xfrm>
            <a:off x="7680960" y="3337560"/>
            <a:ext cx="1645920" cy="150876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498080" y="3890772"/>
            <a:ext cx="2011680" cy="365760"/>
          </a:xfrm>
          <a:prstGeom prst="rect">
            <a:avLst/>
          </a:prstGeom>
          <a:noFill/>
        </p:spPr>
        <p:txBody>
          <a:bodyPr wrap="square">
            <a:spAutoFit/>
          </a:bodyPr>
          <a:lstStyle/>
          <a:p>
            <a:pPr algn="ctr"/>
            <a:r>
              <a:rPr sz="950" b="0" i="1">
                <a:solidFill>
                  <a:srgbClr val="B02A2A"/>
                </a:solidFill>
                <a:latin typeface="Calibri"/>
              </a:rPr>
              <a:t>Fail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77440"/>
            <a:ext cx="1554480" cy="155448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i="0">
                <a:solidFill>
                  <a:srgbClr val="1B2A4A"/>
                </a:solidFill>
                <a:latin typeface="Cambria"/>
              </a:rPr>
              <a:t>02</a:t>
            </a:r>
          </a:p>
        </p:txBody>
      </p:sp>
      <p:sp>
        <p:nvSpPr>
          <p:cNvPr id="4" name="TextBox 3"/>
          <p:cNvSpPr txBox="1"/>
          <p:nvPr/>
        </p:nvSpPr>
        <p:spPr>
          <a:xfrm>
            <a:off x="2651760" y="2514600"/>
            <a:ext cx="8869680" cy="1371600"/>
          </a:xfrm>
          <a:prstGeom prst="rect">
            <a:avLst/>
          </a:prstGeom>
          <a:noFill/>
        </p:spPr>
        <p:txBody>
          <a:bodyPr wrap="square" anchor="ctr">
            <a:spAutoFit/>
          </a:bodyPr>
          <a:lstStyle/>
          <a:p>
            <a:r>
              <a:rPr sz="3000" b="1" i="0">
                <a:solidFill>
                  <a:srgbClr val="FFFFFF"/>
                </a:solidFill>
                <a:latin typeface="Cambria"/>
              </a:rPr>
              <a:t>Attack Surface Reduction, Credential Guard, LAPS &amp; Legacy Protocols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Attack Surface Reduction (ASR) Rules</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Defender feature that blocks specific, well-documented malicious behaviors - behavior-based, not signature-based</a:t>
            </a:r>
          </a:p>
          <a:p>
            <a:pPr>
              <a:lnSpc>
                <a:spcPct val="125000"/>
              </a:lnSpc>
              <a:spcAft>
                <a:spcPts val="1200"/>
              </a:spcAft>
            </a:pPr>
            <a:r>
              <a:rPr sz="1600" b="0" i="0">
                <a:solidFill>
                  <a:srgbClr val="111B30"/>
                </a:solidFill>
                <a:latin typeface="Calibri"/>
              </a:rPr>
              <a:t>•  Each rule targets one technique class: Office spawning child processes, credential theft from LSASS, untrusted USB execution, etc.</a:t>
            </a:r>
          </a:p>
          <a:p>
            <a:pPr>
              <a:lnSpc>
                <a:spcPct val="125000"/>
              </a:lnSpc>
              <a:spcAft>
                <a:spcPts val="1200"/>
              </a:spcAft>
            </a:pPr>
            <a:r>
              <a:rPr sz="1600" b="0" i="0">
                <a:solidFill>
                  <a:srgbClr val="111B30"/>
                </a:solidFill>
                <a:latin typeface="Calibri"/>
              </a:rPr>
              <a:t>•  Every rule supports three modes: Not Configured, Audit, and Block (Enabled)</a:t>
            </a:r>
          </a:p>
          <a:p>
            <a:pPr>
              <a:lnSpc>
                <a:spcPct val="125000"/>
              </a:lnSpc>
              <a:spcAft>
                <a:spcPts val="1200"/>
              </a:spcAft>
            </a:pPr>
            <a:r>
              <a:rPr sz="1600" b="0" i="0">
                <a:solidFill>
                  <a:srgbClr val="111B30"/>
                </a:solidFill>
                <a:latin typeface="Calibri"/>
              </a:rPr>
              <a:t>•  Audit mode logs what would have been blocked (Event ID 1121/1122) without breaking anything - critical for safe rollout</a:t>
            </a:r>
          </a:p>
          <a:p>
            <a:pPr>
              <a:lnSpc>
                <a:spcPct val="125000"/>
              </a:lnSpc>
              <a:spcAft>
                <a:spcPts val="1200"/>
              </a:spcAft>
            </a:pPr>
            <a:r>
              <a:rPr sz="1600" b="0" i="0">
                <a:solidFill>
                  <a:srgbClr val="111B30"/>
                </a:solidFill>
                <a:latin typeface="Calibri"/>
              </a:rPr>
              <a:t>•  Configured via Add-MpPreference -AttackSurfaceReductionRules_Ids &lt;GUID&gt; -AttackSurfaceReductionRules_Actions &lt;mode&gt;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ASR Rollout: Audit Before Block</a:t>
            </a:r>
          </a:p>
        </p:txBody>
      </p:sp>
      <p:sp>
        <p:nvSpPr>
          <p:cNvPr id="6" name="Rounded Rectangle 5"/>
          <p:cNvSpPr/>
          <p:nvPr/>
        </p:nvSpPr>
        <p:spPr>
          <a:xfrm>
            <a:off x="822960" y="3291840"/>
            <a:ext cx="246888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0" i="0">
                <a:solidFill>
                  <a:srgbClr val="111B30"/>
                </a:solidFill>
                <a:latin typeface="Calibri"/>
              </a:rPr>
              <a:t>Rule Configured:</a:t>
            </a:r>
          </a:p>
          <a:p>
            <a:pPr algn="ctr"/>
            <a:r>
              <a:rPr sz="1000" b="0" i="0">
                <a:solidFill>
                  <a:srgbClr val="111B30"/>
                </a:solidFill>
                <a:latin typeface="Calibri"/>
              </a:rPr>
              <a:t>AuditMode</a:t>
            </a:r>
          </a:p>
        </p:txBody>
      </p:sp>
      <p:sp>
        <p:nvSpPr>
          <p:cNvPr id="7" name="Rounded Rectangle 6"/>
          <p:cNvSpPr/>
          <p:nvPr/>
        </p:nvSpPr>
        <p:spPr>
          <a:xfrm>
            <a:off x="3566160" y="3291840"/>
            <a:ext cx="246888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0" i="0">
                <a:solidFill>
                  <a:srgbClr val="111B30"/>
                </a:solidFill>
                <a:latin typeface="Calibri"/>
              </a:rPr>
              <a:t>Behavior Occurs</a:t>
            </a:r>
          </a:p>
          <a:p>
            <a:pPr algn="ctr"/>
            <a:r>
              <a:rPr sz="950" b="0" i="0">
                <a:solidFill>
                  <a:srgbClr val="111B30"/>
                </a:solidFill>
                <a:latin typeface="Calibri"/>
              </a:rPr>
              <a:t>(e.g. Office spawns</a:t>
            </a:r>
          </a:p>
          <a:p>
            <a:pPr algn="ctr"/>
            <a:r>
              <a:rPr sz="950" b="0" i="0">
                <a:solidFill>
                  <a:srgbClr val="111B30"/>
                </a:solidFill>
                <a:latin typeface="Calibri"/>
              </a:rPr>
              <a:t>child process)</a:t>
            </a:r>
          </a:p>
        </p:txBody>
      </p:sp>
      <p:sp>
        <p:nvSpPr>
          <p:cNvPr id="8" name="Rounded Rectangle 7"/>
          <p:cNvSpPr/>
          <p:nvPr/>
        </p:nvSpPr>
        <p:spPr>
          <a:xfrm>
            <a:off x="6309360" y="3291840"/>
            <a:ext cx="246888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00" b="0" i="0">
                <a:solidFill>
                  <a:srgbClr val="111B30"/>
                </a:solidFill>
                <a:latin typeface="Calibri"/>
              </a:rPr>
              <a:t>Event Logged: ID 1121</a:t>
            </a:r>
          </a:p>
          <a:p>
            <a:pPr algn="ctr"/>
            <a:r>
              <a:rPr sz="900" b="0" i="0">
                <a:solidFill>
                  <a:srgbClr val="111B30"/>
                </a:solidFill>
                <a:latin typeface="Calibri"/>
              </a:rPr>
              <a:t>(would-block) or 1122</a:t>
            </a:r>
          </a:p>
          <a:p>
            <a:pPr algn="ctr"/>
            <a:r>
              <a:rPr sz="900" b="0" i="0">
                <a:solidFill>
                  <a:srgbClr val="111B30"/>
                </a:solidFill>
                <a:latin typeface="Calibri"/>
              </a:rPr>
              <a:t>(would-warn)</a:t>
            </a:r>
          </a:p>
        </p:txBody>
      </p:sp>
      <p:sp>
        <p:nvSpPr>
          <p:cNvPr id="9" name="Rounded Rectangle 8"/>
          <p:cNvSpPr/>
          <p:nvPr/>
        </p:nvSpPr>
        <p:spPr>
          <a:xfrm>
            <a:off x="9052560" y="3291840"/>
            <a:ext cx="2377440" cy="1005840"/>
          </a:xfrm>
          <a:prstGeom prst="roundRect">
            <a:avLst/>
          </a:prstGeom>
          <a:solidFill>
            <a:srgbClr val="FFFFFF"/>
          </a:solidFill>
          <a:ln w="22225">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1" i="0">
                <a:solidFill>
                  <a:srgbClr val="111B30"/>
                </a:solidFill>
                <a:latin typeface="Calibri"/>
              </a:rPr>
              <a:t>Review Hits -&gt;</a:t>
            </a:r>
          </a:p>
          <a:p>
            <a:pPr algn="ctr"/>
            <a:r>
              <a:rPr sz="950" b="1" i="0">
                <a:solidFill>
                  <a:srgbClr val="111B30"/>
                </a:solidFill>
                <a:latin typeface="Calibri"/>
              </a:rPr>
              <a:t>Flip Rule to</a:t>
            </a:r>
          </a:p>
          <a:p>
            <a:pPr algn="ctr"/>
            <a:r>
              <a:rPr sz="950" b="1" i="0">
                <a:solidFill>
                  <a:srgbClr val="111B30"/>
                </a:solidFill>
                <a:latin typeface="Calibri"/>
              </a:rPr>
              <a:t>Enabled (Block)</a:t>
            </a:r>
          </a:p>
        </p:txBody>
      </p:sp>
      <p:cxnSp>
        <p:nvCxnSpPr>
          <p:cNvPr id="10" name="Connector 9"/>
          <p:cNvCxnSpPr/>
          <p:nvPr/>
        </p:nvCxnSpPr>
        <p:spPr>
          <a:xfrm>
            <a:off x="3291840" y="3794760"/>
            <a:ext cx="27432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35040" y="3794760"/>
            <a:ext cx="27432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78240" y="3794760"/>
            <a:ext cx="27432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4572000"/>
            <a:ext cx="10881360" cy="365760"/>
          </a:xfrm>
          <a:prstGeom prst="rect">
            <a:avLst/>
          </a:prstGeom>
          <a:noFill/>
        </p:spPr>
        <p:txBody>
          <a:bodyPr wrap="square">
            <a:spAutoFit/>
          </a:bodyPr>
          <a:lstStyle/>
          <a:p>
            <a:pPr algn="ctr"/>
            <a:r>
              <a:rPr sz="1100" b="0" i="1">
                <a:solidFill>
                  <a:srgbClr val="6B7480"/>
                </a:solidFill>
                <a:latin typeface="Calibri"/>
              </a:rPr>
              <a:t>No user impact yet during Audit - this is observation only.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Enable ASR Rules in Audit Mode</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Get-MpPreference | Select-Object AttackSurfaceReductionRules_Ids, AttackSurfaceReductionRules_Actions</a:t>
            </a:r>
          </a:p>
          <a:p>
            <a:pPr>
              <a:spcAft>
                <a:spcPts val="600"/>
              </a:spcAft>
            </a:pPr>
            <a:r>
              <a:rPr sz="1350" b="0" i="1">
                <a:solidFill>
                  <a:srgbClr val="6B7480"/>
                </a:solidFill>
                <a:latin typeface="Courier New"/>
              </a:rPr>
              <a:t># check current ASR configuration</a:t>
            </a:r>
          </a:p>
          <a:p>
            <a:pPr>
              <a:spcAft>
                <a:spcPts val="600"/>
              </a:spcAft>
            </a:pPr>
            <a:r>
              <a:rPr sz="1350" b="0" i="0">
                <a:solidFill>
                  <a:srgbClr val="111B30"/>
                </a:solidFill>
                <a:latin typeface="Courier New"/>
              </a:rPr>
              <a:t>Add-MpPreference -AttackSurfaceReductionRules_Ids D4F940AB-401B-4EFC-AADC-AD5F3C50688A `</a:t>
            </a:r>
          </a:p>
          <a:p>
            <a:pPr>
              <a:spcAft>
                <a:spcPts val="600"/>
              </a:spcAft>
            </a:pPr>
            <a:r>
              <a:rPr sz="1350" b="0" i="0">
                <a:solidFill>
                  <a:srgbClr val="111B30"/>
                </a:solidFill>
                <a:latin typeface="Courier New"/>
              </a:rPr>
              <a:t>  -AttackSurfaceReductionRules_Actions AuditMode   # Block Office apps from creating child processes</a:t>
            </a:r>
          </a:p>
          <a:p>
            <a:pPr>
              <a:spcAft>
                <a:spcPts val="600"/>
              </a:spcAft>
            </a:pPr>
            <a:r>
              <a:rPr sz="1350" b="0" i="0">
                <a:solidFill>
                  <a:srgbClr val="111B30"/>
                </a:solidFill>
                <a:latin typeface="Courier New"/>
              </a:rPr>
              <a:t>Add-MpPreference -AttackSurfaceReductionRules_Ids 9E6C4E1F-7D60-472F-BA1A-A39EF669E4B2 `</a:t>
            </a:r>
          </a:p>
          <a:p>
            <a:pPr>
              <a:spcAft>
                <a:spcPts val="600"/>
              </a:spcAft>
            </a:pPr>
            <a:r>
              <a:rPr sz="1350" b="0" i="0">
                <a:solidFill>
                  <a:srgbClr val="111B30"/>
                </a:solidFill>
                <a:latin typeface="Courier New"/>
              </a:rPr>
              <a:t>  -AttackSurfaceReductionRules_Actions AuditMode   # Block credential stealing from LSASS</a:t>
            </a:r>
          </a:p>
          <a:p>
            <a:pPr>
              <a:spcAft>
                <a:spcPts val="600"/>
              </a:spcAft>
            </a:pPr>
            <a:r>
              <a:rPr sz="1350" b="0" i="0">
                <a:solidFill>
                  <a:srgbClr val="111B30"/>
                </a:solidFill>
                <a:latin typeface="Courier New"/>
              </a:rPr>
              <a:t>Get-WinEvent -LogName "Microsoft-Windows-Windows Defender/Operational" | Where-Object { $_.Id -in 1121,1122 }</a:t>
            </a:r>
          </a:p>
          <a:p>
            <a:pPr>
              <a:spcAft>
                <a:spcPts val="600"/>
              </a:spcAft>
            </a:pPr>
            <a:r>
              <a:rPr sz="1350" b="0" i="1">
                <a:solidFill>
                  <a:srgbClr val="6B7480"/>
                </a:solidFill>
                <a:latin typeface="Courier New"/>
              </a:rPr>
              <a:t># review audit hits in the Defender Operational log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Credential Dumping from LSASS</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Attacker has local</a:t>
            </a:r>
          </a:p>
          <a:p>
            <a:pPr algn="ctr"/>
            <a:r>
              <a:rPr sz="1150" b="0" i="0">
                <a:solidFill>
                  <a:srgbClr val="111B30"/>
                </a:solidFill>
                <a:latin typeface="Calibri"/>
              </a:rPr>
              <a:t>admin or SYSTEM</a:t>
            </a:r>
          </a:p>
          <a:p>
            <a:pPr algn="ctr"/>
            <a:r>
              <a:rPr sz="1150" b="0" i="0">
                <a:solidFill>
                  <a:srgbClr val="111B30"/>
                </a:solidFill>
                <a:latin typeface="Calibri"/>
              </a:rPr>
              <a:t>on a host</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Dumps LSASS process</a:t>
            </a:r>
          </a:p>
          <a:p>
            <a:pPr algn="ctr"/>
            <a:r>
              <a:rPr sz="1150" b="1" i="0">
                <a:solidFill>
                  <a:srgbClr val="111B30"/>
                </a:solidFill>
                <a:latin typeface="Calibri"/>
              </a:rPr>
              <a:t>memory (Task Manager</a:t>
            </a:r>
          </a:p>
          <a:p>
            <a:pPr algn="ctr"/>
            <a:r>
              <a:rPr sz="1150" b="1" i="0">
                <a:solidFill>
                  <a:srgbClr val="111B30"/>
                </a:solidFill>
                <a:latin typeface="Calibri"/>
              </a:rPr>
              <a:t>"Create Dump File", procdump, Mimikatz)</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Cleartext/hashed</a:t>
            </a:r>
          </a:p>
          <a:p>
            <a:pPr algn="ctr"/>
            <a:r>
              <a:rPr sz="1150" b="0" i="0">
                <a:solidFill>
                  <a:srgbClr val="111B30"/>
                </a:solidFill>
                <a:latin typeface="Calibri"/>
              </a:rPr>
              <a:t>credentials for every</a:t>
            </a:r>
          </a:p>
          <a:p>
            <a:pPr algn="ctr"/>
            <a:r>
              <a:rPr sz="1150" b="0" i="0">
                <a:solidFill>
                  <a:srgbClr val="111B30"/>
                </a:solidFill>
                <a:latin typeface="Calibri"/>
              </a:rPr>
              <a:t>logged-on account extracted</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Enable the ASR “Block credential stealing from lsass.exe” rule in Block mode - the dump attempt is denied and Event ID 1121 fires instead of a memory dump succeeding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Enforce and Verify the LSASS Rule</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Add-MpPreference -AttackSurfaceReductionRules_Ids 9E6C4E1F-7D60-472F-BA1A-A39EF669E4B2 `</a:t>
            </a:r>
          </a:p>
          <a:p>
            <a:pPr>
              <a:spcAft>
                <a:spcPts val="600"/>
              </a:spcAft>
            </a:pPr>
            <a:r>
              <a:rPr sz="1350" b="0" i="0">
                <a:solidFill>
                  <a:srgbClr val="111B30"/>
                </a:solidFill>
                <a:latin typeface="Courier New"/>
              </a:rPr>
              <a:t>  -AttackSurfaceReductionRules_Actions Enabled</a:t>
            </a:r>
          </a:p>
          <a:p>
            <a:pPr>
              <a:spcAft>
                <a:spcPts val="600"/>
              </a:spcAft>
            </a:pPr>
            <a:r>
              <a:rPr sz="1350" b="0" i="1">
                <a:solidFill>
                  <a:srgbClr val="6B7480"/>
                </a:solidFill>
                <a:latin typeface="Courier New"/>
              </a:rPr>
              <a:t># flip the LSASS credential-theft rule from Audit to Block</a:t>
            </a:r>
          </a:p>
          <a:p>
            <a:pPr>
              <a:spcAft>
                <a:spcPts val="600"/>
              </a:spcAft>
            </a:pPr>
            <a:r>
              <a:rPr sz="1350" b="0" i="0">
                <a:solidFill>
                  <a:srgbClr val="111B30"/>
                </a:solidFill>
                <a:latin typeface="Courier New"/>
              </a:rPr>
              <a:t>Get-MpPreference | Select-Object -ExpandProperty AttackSurfaceReductionRules_Ids</a:t>
            </a:r>
          </a:p>
          <a:p>
            <a:pPr>
              <a:spcAft>
                <a:spcPts val="600"/>
              </a:spcAft>
            </a:pPr>
            <a:r>
              <a:rPr sz="1350" b="0" i="1">
                <a:solidFill>
                  <a:srgbClr val="6B7480"/>
                </a:solidFill>
                <a:latin typeface="Courier New"/>
              </a:rPr>
              <a:t># confirm the rule is now enforcing</a:t>
            </a:r>
          </a:p>
          <a:p>
            <a:pPr>
              <a:spcAft>
                <a:spcPts val="600"/>
              </a:spcAft>
            </a:pPr>
            <a:r>
              <a:rPr sz="1350" b="0" i="1">
                <a:solidFill>
                  <a:srgbClr val="6B7480"/>
                </a:solidFill>
                <a:latin typeface="Courier New"/>
              </a:rPr>
              <a:t># attempt to dump LSASS via Task Manager ("Create Dump File" on lsass.exe) or procdump,</a:t>
            </a:r>
          </a:p>
          <a:p>
            <a:pPr>
              <a:spcAft>
                <a:spcPts val="600"/>
              </a:spcAft>
            </a:pPr>
            <a:r>
              <a:rPr sz="1350" b="0" i="1">
                <a:solidFill>
                  <a:srgbClr val="6B7480"/>
                </a:solidFill>
                <a:latin typeface="Courier New"/>
              </a:rPr>
              <a:t># then confirm the block was logged instead of a dump file being created</a:t>
            </a:r>
          </a:p>
          <a:p>
            <a:pPr>
              <a:spcAft>
                <a:spcPts val="600"/>
              </a:spcAft>
            </a:pPr>
            <a:r>
              <a:rPr sz="1350" b="0" i="0">
                <a:solidFill>
                  <a:srgbClr val="111B30"/>
                </a:solidFill>
                <a:latin typeface="Courier New"/>
              </a:rPr>
              <a:t>Get-WinEvent -LogName "Microsoft-Windows-Windows Defender/Operational" | Where-Object { $_.Id -eq 1121 } |</a:t>
            </a:r>
          </a:p>
          <a:p>
            <a:pPr>
              <a:spcAft>
                <a:spcPts val="600"/>
              </a:spcAft>
            </a:pPr>
            <a:r>
              <a:rPr sz="1350" b="0" i="0">
                <a:solidFill>
                  <a:srgbClr val="111B30"/>
                </a:solidFill>
                <a:latin typeface="Courier New"/>
              </a:rPr>
              <a:t>  Select-Object -First 1 -ExpandProperty Message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Credential Guard: Prerequisites and Enablement</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Requires UEFI firmware with Secure Boot enabled - verify with Confirm-SecureBootUEFI</a:t>
            </a:r>
          </a:p>
          <a:p>
            <a:pPr>
              <a:lnSpc>
                <a:spcPct val="125000"/>
              </a:lnSpc>
              <a:spcAft>
                <a:spcPts val="1200"/>
              </a:spcAft>
            </a:pPr>
            <a:r>
              <a:rPr sz="1600" b="0" i="0">
                <a:solidFill>
                  <a:srgbClr val="111B30"/>
                </a:solidFill>
                <a:latin typeface="Calibri"/>
              </a:rPr>
              <a:t>•  Enabled via registry under HKLM:\SYSTEM\CurrentControlSet\Control\DeviceGuard: EnableVirtualizationBasedSecurity=1, RequirePlatformSecurityFeatures=1</a:t>
            </a:r>
          </a:p>
          <a:p>
            <a:pPr>
              <a:lnSpc>
                <a:spcPct val="125000"/>
              </a:lnSpc>
              <a:spcAft>
                <a:spcPts val="1200"/>
              </a:spcAft>
            </a:pPr>
            <a:r>
              <a:rPr sz="1600" b="0" i="0">
                <a:solidFill>
                  <a:srgbClr val="111B30"/>
                </a:solidFill>
                <a:latin typeface="Calibri"/>
              </a:rPr>
              <a:t>•  LSA configuration flag under HKLM:\SYSTEM\CurrentControlSet\Control\Lsa: LsaCfgFlags=1 (enabled) or 2 (UEFI-locked, can't be disabled remotely)</a:t>
            </a:r>
          </a:p>
          <a:p>
            <a:pPr>
              <a:lnSpc>
                <a:spcPct val="125000"/>
              </a:lnSpc>
              <a:spcAft>
                <a:spcPts val="1200"/>
              </a:spcAft>
            </a:pPr>
            <a:r>
              <a:rPr sz="1600" b="0" i="0">
                <a:solidFill>
                  <a:srgbClr val="111B30"/>
                </a:solidFill>
                <a:latin typeface="Calibri"/>
              </a:rPr>
              <a:t>•  Requires a restart to take effect - this is not a live, non-disruptive change</a:t>
            </a:r>
          </a:p>
          <a:p>
            <a:pPr>
              <a:lnSpc>
                <a:spcPct val="125000"/>
              </a:lnSpc>
              <a:spcAft>
                <a:spcPts val="1200"/>
              </a:spcAft>
            </a:pPr>
            <a:r>
              <a:rPr sz="1600" b="0" i="0">
                <a:solidFill>
                  <a:srgbClr val="111B30"/>
                </a:solidFill>
                <a:latin typeface="Calibri"/>
              </a:rPr>
              <a:t>•  Identical registry paths on both Windows Server 2022 and Windows 11 - the control doesn't change per OS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Enable and Verify Credential Guard</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Confirm-SecureBootUEFI</a:t>
            </a:r>
          </a:p>
          <a:p>
            <a:pPr>
              <a:spcAft>
                <a:spcPts val="600"/>
              </a:spcAft>
            </a:pPr>
            <a:r>
              <a:rPr sz="1350" b="0" i="1">
                <a:solidFill>
                  <a:srgbClr val="6B7480"/>
                </a:solidFill>
                <a:latin typeface="Courier New"/>
              </a:rPr>
              <a:t># confirm UEFI/Secure Boot prerequisite</a:t>
            </a:r>
          </a:p>
          <a:p>
            <a:pPr>
              <a:spcAft>
                <a:spcPts val="600"/>
              </a:spcAft>
            </a:pPr>
            <a:r>
              <a:rPr sz="1350" b="0" i="0">
                <a:solidFill>
                  <a:srgbClr val="111B30"/>
                </a:solidFill>
                <a:latin typeface="Courier New"/>
              </a:rPr>
              <a:t>New-ItemProperty -Path "HKLM:\SYSTEM\CurrentControlSet\Control\DeviceGuard" `</a:t>
            </a:r>
          </a:p>
          <a:p>
            <a:pPr>
              <a:spcAft>
                <a:spcPts val="600"/>
              </a:spcAft>
            </a:pPr>
            <a:r>
              <a:rPr sz="1350" b="0" i="0">
                <a:solidFill>
                  <a:srgbClr val="111B30"/>
                </a:solidFill>
                <a:latin typeface="Courier New"/>
              </a:rPr>
              <a:t>  -Name EnableVirtualizationBasedSecurity -Value 1 -PropertyType DWord -Force</a:t>
            </a:r>
          </a:p>
          <a:p>
            <a:pPr>
              <a:spcAft>
                <a:spcPts val="600"/>
              </a:spcAft>
            </a:pPr>
            <a:r>
              <a:rPr sz="1350" b="0" i="0">
                <a:solidFill>
                  <a:srgbClr val="111B30"/>
                </a:solidFill>
                <a:latin typeface="Courier New"/>
              </a:rPr>
              <a:t>New-ItemProperty -Path "HKLM:\SYSTEM\CurrentControlSet\Control\DeviceGuard" `</a:t>
            </a:r>
          </a:p>
          <a:p>
            <a:pPr>
              <a:spcAft>
                <a:spcPts val="600"/>
              </a:spcAft>
            </a:pPr>
            <a:r>
              <a:rPr sz="1350" b="0" i="0">
                <a:solidFill>
                  <a:srgbClr val="111B30"/>
                </a:solidFill>
                <a:latin typeface="Courier New"/>
              </a:rPr>
              <a:t>  -Name RequirePlatformSecurityFeatures -Value 1 -PropertyType DWord -Force</a:t>
            </a:r>
          </a:p>
          <a:p>
            <a:pPr>
              <a:spcAft>
                <a:spcPts val="600"/>
              </a:spcAft>
            </a:pPr>
            <a:r>
              <a:rPr sz="1350" b="0" i="0">
                <a:solidFill>
                  <a:srgbClr val="111B30"/>
                </a:solidFill>
                <a:latin typeface="Courier New"/>
              </a:rPr>
              <a:t>New-ItemProperty -Path "HKLM:\SYSTEM\CurrentControlSet\Control\Lsa" -Name LsaCfgFlags `</a:t>
            </a:r>
          </a:p>
          <a:p>
            <a:pPr>
              <a:spcAft>
                <a:spcPts val="600"/>
              </a:spcAft>
            </a:pPr>
            <a:r>
              <a:rPr sz="1350" b="0" i="0">
                <a:solidFill>
                  <a:srgbClr val="111B30"/>
                </a:solidFill>
                <a:latin typeface="Courier New"/>
              </a:rPr>
              <a:t>  -Value 1 -PropertyType DWord -Force</a:t>
            </a:r>
          </a:p>
          <a:p>
            <a:pPr>
              <a:spcAft>
                <a:spcPts val="600"/>
              </a:spcAft>
            </a:pPr>
            <a:r>
              <a:rPr sz="1350" b="0" i="0">
                <a:solidFill>
                  <a:srgbClr val="111B30"/>
                </a:solidFill>
                <a:latin typeface="Courier New"/>
              </a:rPr>
              <a:t>Restart-Computer</a:t>
            </a:r>
          </a:p>
          <a:p>
            <a:pPr>
              <a:spcAft>
                <a:spcPts val="600"/>
              </a:spcAft>
            </a:pPr>
            <a:r>
              <a:rPr sz="1350" b="0" i="1">
                <a:solidFill>
                  <a:srgbClr val="6B7480"/>
                </a:solidFill>
                <a:latin typeface="Courier New"/>
              </a:rPr>
              <a:t># after reboot, verify it's actually running, not just configured</a:t>
            </a:r>
          </a:p>
          <a:p>
            <a:pPr>
              <a:spcAft>
                <a:spcPts val="600"/>
              </a:spcAft>
            </a:pPr>
            <a:r>
              <a:rPr sz="1350" b="0" i="0">
                <a:solidFill>
                  <a:srgbClr val="111B30"/>
                </a:solidFill>
                <a:latin typeface="Courier New"/>
              </a:rPr>
              <a:t>Get-CimInstance Win32_DeviceGuard -Namespace root\Microsoft\Windows\DeviceGuard |</a:t>
            </a:r>
          </a:p>
          <a:p>
            <a:pPr>
              <a:spcAft>
                <a:spcPts val="600"/>
              </a:spcAft>
            </a:pPr>
            <a:r>
              <a:rPr sz="1350" b="0" i="0">
                <a:solidFill>
                  <a:srgbClr val="111B30"/>
                </a:solidFill>
                <a:latin typeface="Courier New"/>
              </a:rPr>
              <a:t>  Select-Object SecurityServicesRunning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Pass-the-Hash (T1550.002)</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NTLM hash obtained</a:t>
            </a:r>
          </a:p>
          <a:p>
            <a:pPr algn="ctr"/>
            <a:r>
              <a:rPr sz="1150" b="0" i="0">
                <a:solidFill>
                  <a:srgbClr val="111B30"/>
                </a:solidFill>
                <a:latin typeface="Calibri"/>
              </a:rPr>
              <a:t>from a compromised host</a:t>
            </a:r>
          </a:p>
          <a:p>
            <a:pPr algn="ctr"/>
            <a:r>
              <a:rPr sz="1150" b="0" i="0">
                <a:solidFill>
                  <a:srgbClr val="111B30"/>
                </a:solidFill>
                <a:latin typeface="Calibri"/>
              </a:rPr>
              <a:t>(e.g. via LSASS dump)</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Hash replayed directly</a:t>
            </a:r>
          </a:p>
          <a:p>
            <a:pPr algn="ctr"/>
            <a:r>
              <a:rPr sz="1150" b="1" i="0">
                <a:solidFill>
                  <a:srgbClr val="111B30"/>
                </a:solidFill>
                <a:latin typeface="Calibri"/>
              </a:rPr>
              <a:t>to authenticate to other</a:t>
            </a:r>
          </a:p>
          <a:p>
            <a:pPr algn="ctr"/>
            <a:r>
              <a:rPr sz="1150" b="1" i="0">
                <a:solidFill>
                  <a:srgbClr val="111B30"/>
                </a:solidFill>
                <a:latin typeface="Calibri"/>
              </a:rPr>
              <a:t>systems - no cleartext password needed</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Lateral movement across</a:t>
            </a:r>
          </a:p>
          <a:p>
            <a:pPr algn="ctr"/>
            <a:r>
              <a:rPr sz="1150" b="0" i="0">
                <a:solidFill>
                  <a:srgbClr val="111B30"/>
                </a:solidFill>
                <a:latin typeface="Calibri"/>
              </a:rPr>
              <a:t>every system trusting that</a:t>
            </a:r>
          </a:p>
          <a:p>
            <a:pPr algn="ctr"/>
            <a:r>
              <a:rPr sz="1150" b="0" i="0">
                <a:solidFill>
                  <a:srgbClr val="111B30"/>
                </a:solidFill>
                <a:latin typeface="Calibri"/>
              </a:rPr>
              <a:t>account's NTLM hash</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Credential Guard isolates NTLM hashes in VTL1, denying extraction at the source. Pair with unique local admin passwords (LAPS, next) so a stolen hash on one box doesn't unlock every box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LAPS: Local Administrator Password Solution</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Without it, every managed machine shares one static local admin password - compromise one, effectively own all</a:t>
            </a:r>
          </a:p>
          <a:p>
            <a:pPr>
              <a:lnSpc>
                <a:spcPct val="125000"/>
              </a:lnSpc>
              <a:spcAft>
                <a:spcPts val="1200"/>
              </a:spcAft>
            </a:pPr>
            <a:r>
              <a:rPr sz="1600" b="0" i="0">
                <a:solidFill>
                  <a:srgbClr val="111B30"/>
                </a:solidFill>
                <a:latin typeface="Calibri"/>
              </a:rPr>
              <a:t>•  Windows LAPS is built into Windows Server 2022 and Windows 11 - no separate download required</a:t>
            </a:r>
          </a:p>
          <a:p>
            <a:pPr>
              <a:lnSpc>
                <a:spcPct val="125000"/>
              </a:lnSpc>
              <a:spcAft>
                <a:spcPts val="1200"/>
              </a:spcAft>
            </a:pPr>
            <a:r>
              <a:rPr sz="1600" b="0" i="0">
                <a:solidFill>
                  <a:srgbClr val="111B30"/>
                </a:solidFill>
                <a:latin typeface="Calibri"/>
              </a:rPr>
              <a:t>•  Randomizes and rotates the local admin password per-machine on a defined schedule</a:t>
            </a:r>
          </a:p>
          <a:p>
            <a:pPr>
              <a:lnSpc>
                <a:spcPct val="125000"/>
              </a:lnSpc>
              <a:spcAft>
                <a:spcPts val="1200"/>
              </a:spcAft>
            </a:pPr>
            <a:r>
              <a:rPr sz="1600" b="0" i="0">
                <a:solidFill>
                  <a:srgbClr val="111B30"/>
                </a:solidFill>
                <a:latin typeface="Calibri"/>
              </a:rPr>
              <a:t>•  Passwords are stored encrypted in Active Directory and retrievable only by authorized (typically Domain Admin) accounts</a:t>
            </a:r>
          </a:p>
          <a:p>
            <a:pPr>
              <a:lnSpc>
                <a:spcPct val="125000"/>
              </a:lnSpc>
              <a:spcAft>
                <a:spcPts val="1200"/>
              </a:spcAft>
            </a:pPr>
            <a:r>
              <a:rPr sz="1600" b="0" i="0">
                <a:solidFill>
                  <a:srgbClr val="111B30"/>
                </a:solidFill>
                <a:latin typeface="Calibri"/>
              </a:rPr>
              <a:t>•  Requires a one-time AD schema extension before any machine can use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LAPS Lifecycle</a:t>
            </a:r>
          </a:p>
        </p:txBody>
      </p:sp>
      <p:sp>
        <p:nvSpPr>
          <p:cNvPr id="6" name="Rounded Rectangle 5"/>
          <p:cNvSpPr/>
          <p:nvPr/>
        </p:nvSpPr>
        <p:spPr>
          <a:xfrm>
            <a:off x="548640" y="3383280"/>
            <a:ext cx="2286000" cy="10972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850" b="0" i="0">
                <a:solidFill>
                  <a:srgbClr val="111B30"/>
                </a:solidFill>
                <a:latin typeface="Calibri"/>
              </a:rPr>
              <a:t>Update-LapsADSchema</a:t>
            </a:r>
          </a:p>
          <a:p>
            <a:pPr algn="ctr"/>
            <a:r>
              <a:rPr sz="850" b="0" i="0">
                <a:solidFill>
                  <a:srgbClr val="111B30"/>
                </a:solidFill>
                <a:latin typeface="Calibri"/>
              </a:rPr>
              <a:t>(once, on a DC): Extends</a:t>
            </a:r>
          </a:p>
          <a:p>
            <a:pPr algn="ctr"/>
            <a:r>
              <a:rPr sz="850" b="0" i="0">
                <a:solidFill>
                  <a:srgbClr val="111B30"/>
                </a:solidFill>
                <a:latin typeface="Calibri"/>
              </a:rPr>
              <a:t>AD Schema</a:t>
            </a:r>
          </a:p>
        </p:txBody>
      </p:sp>
      <p:sp>
        <p:nvSpPr>
          <p:cNvPr id="7" name="Rounded Rectangle 6"/>
          <p:cNvSpPr/>
          <p:nvPr/>
        </p:nvSpPr>
        <p:spPr>
          <a:xfrm>
            <a:off x="3017520" y="3383280"/>
            <a:ext cx="2286000" cy="10972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850" b="0" i="0">
                <a:solidFill>
                  <a:srgbClr val="111B30"/>
                </a:solidFill>
                <a:latin typeface="Calibri"/>
              </a:rPr>
              <a:t>Set-LapsADComputer-</a:t>
            </a:r>
          </a:p>
          <a:p>
            <a:pPr algn="ctr"/>
            <a:r>
              <a:rPr sz="850" b="0" i="0">
                <a:solidFill>
                  <a:srgbClr val="111B30"/>
                </a:solidFill>
                <a:latin typeface="Calibri"/>
              </a:rPr>
              <a:t>SelfPermission -Identity</a:t>
            </a:r>
          </a:p>
          <a:p>
            <a:pPr algn="ctr"/>
            <a:r>
              <a:rPr sz="850" b="0" i="0">
                <a:solidFill>
                  <a:srgbClr val="111B30"/>
                </a:solidFill>
                <a:latin typeface="Calibri"/>
              </a:rPr>
              <a:t>&lt;OU&gt;</a:t>
            </a:r>
          </a:p>
        </p:txBody>
      </p:sp>
      <p:sp>
        <p:nvSpPr>
          <p:cNvPr id="8" name="Rounded Rectangle 7"/>
          <p:cNvSpPr/>
          <p:nvPr/>
        </p:nvSpPr>
        <p:spPr>
          <a:xfrm>
            <a:off x="5486400" y="3383280"/>
            <a:ext cx="2286000" cy="10972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800" b="0" i="0">
                <a:solidFill>
                  <a:srgbClr val="111B30"/>
                </a:solidFill>
                <a:latin typeface="Calibri"/>
              </a:rPr>
              <a:t>Registry Policy:</a:t>
            </a:r>
          </a:p>
          <a:p>
            <a:pPr algn="ctr"/>
            <a:r>
              <a:rPr sz="800" b="0" i="0">
                <a:solidFill>
                  <a:srgbClr val="111B30"/>
                </a:solidFill>
                <a:latin typeface="Calibri"/>
              </a:rPr>
              <a:t>BackupDirectory=2,</a:t>
            </a:r>
          </a:p>
          <a:p>
            <a:pPr algn="ctr"/>
            <a:r>
              <a:rPr sz="800" b="0" i="0">
                <a:solidFill>
                  <a:srgbClr val="111B30"/>
                </a:solidFill>
                <a:latin typeface="Calibri"/>
              </a:rPr>
              <a:t>Length=20, Complexity=4</a:t>
            </a:r>
          </a:p>
        </p:txBody>
      </p:sp>
      <p:sp>
        <p:nvSpPr>
          <p:cNvPr id="9" name="Rounded Rectangle 8"/>
          <p:cNvSpPr/>
          <p:nvPr/>
        </p:nvSpPr>
        <p:spPr>
          <a:xfrm>
            <a:off x="7955279" y="3383280"/>
            <a:ext cx="2103120" cy="1097280"/>
          </a:xfrm>
          <a:prstGeom prst="roundRect">
            <a:avLst/>
          </a:prstGeom>
          <a:solidFill>
            <a:srgbClr val="FFFFFF"/>
          </a:solidFill>
          <a:ln w="22225">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850" b="1" i="0">
                <a:solidFill>
                  <a:srgbClr val="111B30"/>
                </a:solidFill>
                <a:latin typeface="Calibri"/>
              </a:rPr>
              <a:t>Invoke-LapsPolicy-</a:t>
            </a:r>
          </a:p>
          <a:p>
            <a:pPr algn="ctr"/>
            <a:r>
              <a:rPr sz="850" b="1" i="0">
                <a:solidFill>
                  <a:srgbClr val="111B30"/>
                </a:solidFill>
                <a:latin typeface="Calibri"/>
              </a:rPr>
              <a:t>Processing: Generate</a:t>
            </a:r>
          </a:p>
          <a:p>
            <a:pPr algn="ctr"/>
            <a:r>
              <a:rPr sz="850" b="1" i="0">
                <a:solidFill>
                  <a:srgbClr val="111B30"/>
                </a:solidFill>
                <a:latin typeface="Calibri"/>
              </a:rPr>
              <a:t>&amp; Rotate Now</a:t>
            </a:r>
          </a:p>
        </p:txBody>
      </p:sp>
      <p:sp>
        <p:nvSpPr>
          <p:cNvPr id="10" name="Rounded Rectangle 9"/>
          <p:cNvSpPr/>
          <p:nvPr/>
        </p:nvSpPr>
        <p:spPr>
          <a:xfrm>
            <a:off x="10241280" y="3383280"/>
            <a:ext cx="1188720" cy="10972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800" b="0" i="0">
                <a:solidFill>
                  <a:srgbClr val="111B30"/>
                </a:solidFill>
                <a:latin typeface="Calibri"/>
              </a:rPr>
              <a:t>Get-LapsAD-</a:t>
            </a:r>
          </a:p>
          <a:p>
            <a:pPr algn="ctr"/>
            <a:r>
              <a:rPr sz="800" b="0" i="0">
                <a:solidFill>
                  <a:srgbClr val="111B30"/>
                </a:solidFill>
                <a:latin typeface="Calibri"/>
              </a:rPr>
              <a:t>Password</a:t>
            </a:r>
          </a:p>
          <a:p>
            <a:pPr algn="ctr"/>
            <a:r>
              <a:rPr sz="800" b="0" i="0">
                <a:solidFill>
                  <a:srgbClr val="111B30"/>
                </a:solidFill>
                <a:latin typeface="Calibri"/>
              </a:rPr>
              <a:t>-AsPlainText</a:t>
            </a:r>
          </a:p>
        </p:txBody>
      </p:sp>
      <p:cxnSp>
        <p:nvCxnSpPr>
          <p:cNvPr id="11" name="Connector 10"/>
          <p:cNvCxnSpPr/>
          <p:nvPr/>
        </p:nvCxnSpPr>
        <p:spPr>
          <a:xfrm>
            <a:off x="2834640" y="3931920"/>
            <a:ext cx="18288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5303520" y="3931920"/>
            <a:ext cx="18288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772400" y="3931920"/>
            <a:ext cx="182879"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058400" y="3931920"/>
            <a:ext cx="18288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0080" y="4663440"/>
            <a:ext cx="10881360" cy="365760"/>
          </a:xfrm>
          <a:prstGeom prst="rect">
            <a:avLst/>
          </a:prstGeom>
          <a:noFill/>
        </p:spPr>
        <p:txBody>
          <a:bodyPr wrap="square">
            <a:spAutoFit/>
          </a:bodyPr>
          <a:lstStyle/>
          <a:p>
            <a:pPr algn="ctr"/>
            <a:r>
              <a:rPr sz="1100" b="0" i="1">
                <a:solidFill>
                  <a:srgbClr val="6B7480"/>
                </a:solidFill>
                <a:latin typeface="Calibri"/>
              </a:rPr>
              <a:t>First two steps are one-time setup; the last two repeat every rotation period.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Shared Local Admin Password Blast Radius</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Risk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Every machine imaged</a:t>
            </a:r>
          </a:p>
          <a:p>
            <a:pPr algn="ctr"/>
            <a:r>
              <a:rPr sz="1150" b="0" i="0">
                <a:solidFill>
                  <a:srgbClr val="111B30"/>
                </a:solidFill>
                <a:latin typeface="Calibri"/>
              </a:rPr>
              <a:t>with the identical</a:t>
            </a:r>
          </a:p>
          <a:p>
            <a:pPr algn="ctr"/>
            <a:r>
              <a:rPr sz="1150" b="0" i="0">
                <a:solidFill>
                  <a:srgbClr val="111B30"/>
                </a:solidFill>
                <a:latin typeface="Calibri"/>
              </a:rPr>
              <a:t>local admin password</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extracts or</a:t>
            </a:r>
          </a:p>
          <a:p>
            <a:pPr algn="ctr"/>
            <a:r>
              <a:rPr sz="1150" b="1" i="0">
                <a:solidFill>
                  <a:srgbClr val="111B30"/>
                </a:solidFill>
                <a:latin typeface="Calibri"/>
              </a:rPr>
              <a:t>cracks that password</a:t>
            </a:r>
          </a:p>
          <a:p>
            <a:pPr algn="ctr"/>
            <a:r>
              <a:rPr sz="1150" b="1" i="0">
                <a:solidFill>
                  <a:srgbClr val="111B30"/>
                </a:solidFill>
                <a:latin typeface="Calibri"/>
              </a:rPr>
              <a:t>from any one compromised machine</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The exact same credential</a:t>
            </a:r>
          </a:p>
          <a:p>
            <a:pPr algn="ctr"/>
            <a:r>
              <a:rPr sz="1150" b="0" i="0">
                <a:solidFill>
                  <a:srgbClr val="111B30"/>
                </a:solidFill>
                <a:latin typeface="Calibri"/>
              </a:rPr>
              <a:t>unlocks every other machine</a:t>
            </a:r>
          </a:p>
          <a:p>
            <a:pPr algn="ctr"/>
            <a:r>
              <a:rPr sz="1150" b="0" i="0">
                <a:solidFill>
                  <a:srgbClr val="111B30"/>
                </a:solidFill>
                <a:latin typeface="Calibri"/>
              </a:rPr>
              <a:t>in the fleet</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LAPS generates and stores a unique, rotating password per machine - a credential stolen from one box is worthless everywhere else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Deploy LAPS</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Update-LapsADSchema</a:t>
            </a:r>
          </a:p>
          <a:p>
            <a:pPr>
              <a:spcAft>
                <a:spcPts val="600"/>
              </a:spcAft>
            </a:pPr>
            <a:r>
              <a:rPr sz="1350" b="0" i="1">
                <a:solidFill>
                  <a:srgbClr val="6B7480"/>
                </a:solidFill>
                <a:latin typeface="Courier New"/>
              </a:rPr>
              <a:t># one-time: extend the AD schema (run on a Domain Controller)</a:t>
            </a:r>
          </a:p>
          <a:p>
            <a:pPr>
              <a:spcAft>
                <a:spcPts val="600"/>
              </a:spcAft>
            </a:pPr>
            <a:r>
              <a:rPr sz="1350" b="0" i="0">
                <a:solidFill>
                  <a:srgbClr val="111B30"/>
                </a:solidFill>
                <a:latin typeface="Courier New"/>
              </a:rPr>
              <a:t>Set-LapsADComputerSelfPermission -Identity "OU=Workstations,DC=lab,DC=internal"</a:t>
            </a:r>
          </a:p>
          <a:p>
            <a:pPr>
              <a:spcAft>
                <a:spcPts val="600"/>
              </a:spcAft>
            </a:pPr>
            <a:r>
              <a:rPr sz="1350" b="0" i="1">
                <a:solidFill>
                  <a:srgbClr val="6B7480"/>
                </a:solidFill>
                <a:latin typeface="Courier New"/>
              </a:rPr>
              <a:t># allow computers in an OU to self-update their LAPS password</a:t>
            </a:r>
          </a:p>
          <a:p>
            <a:pPr>
              <a:spcAft>
                <a:spcPts val="600"/>
              </a:spcAft>
            </a:pPr>
            <a:r>
              <a:rPr sz="1350" b="0" i="0">
                <a:solidFill>
                  <a:srgbClr val="111B30"/>
                </a:solidFill>
                <a:latin typeface="Courier New"/>
              </a:rPr>
              <a:t>New-Item -Path "HKLM:\SOFTWARE\Microsoft\Windows\CurrentVersion\Policies\LAPS" -Force</a:t>
            </a:r>
          </a:p>
          <a:p>
            <a:pPr>
              <a:spcAft>
                <a:spcPts val="600"/>
              </a:spcAft>
            </a:pPr>
            <a:r>
              <a:rPr sz="1350" b="0" i="0">
                <a:solidFill>
                  <a:srgbClr val="111B30"/>
                </a:solidFill>
                <a:latin typeface="Courier New"/>
              </a:rPr>
              <a:t>Set-ItemProperty -Path "HKLM:\SOFTWARE\Microsoft\Windows\CurrentVersion\Policies\LAPS" `</a:t>
            </a:r>
          </a:p>
          <a:p>
            <a:pPr>
              <a:spcAft>
                <a:spcPts val="600"/>
              </a:spcAft>
            </a:pPr>
            <a:r>
              <a:rPr sz="1350" b="0" i="0">
                <a:solidFill>
                  <a:srgbClr val="111B30"/>
                </a:solidFill>
                <a:latin typeface="Courier New"/>
              </a:rPr>
              <a:t>  -Name BackupDirectory -Value 2</a:t>
            </a:r>
          </a:p>
          <a:p>
            <a:pPr>
              <a:spcAft>
                <a:spcPts val="600"/>
              </a:spcAft>
            </a:pPr>
            <a:r>
              <a:rPr sz="1350" b="0" i="0">
                <a:solidFill>
                  <a:srgbClr val="111B30"/>
                </a:solidFill>
                <a:latin typeface="Courier New"/>
              </a:rPr>
              <a:t>Set-ItemProperty ... -Name PasswordLength -Value 20</a:t>
            </a:r>
          </a:p>
          <a:p>
            <a:pPr>
              <a:spcAft>
                <a:spcPts val="600"/>
              </a:spcAft>
            </a:pPr>
            <a:r>
              <a:rPr sz="1350" b="0" i="0">
                <a:solidFill>
                  <a:srgbClr val="111B30"/>
                </a:solidFill>
                <a:latin typeface="Courier New"/>
              </a:rPr>
              <a:t>Set-ItemProperty ... -Name PasswordComplexity -Value 4</a:t>
            </a:r>
          </a:p>
          <a:p>
            <a:pPr>
              <a:spcAft>
                <a:spcPts val="600"/>
              </a:spcAft>
            </a:pPr>
            <a:r>
              <a:rPr sz="1350" b="0" i="0">
                <a:solidFill>
                  <a:srgbClr val="111B30"/>
                </a:solidFill>
                <a:latin typeface="Courier New"/>
              </a:rPr>
              <a:t>Set-ItemProperty ... -Name PasswordAgeDays -Value 30</a:t>
            </a:r>
          </a:p>
          <a:p>
            <a:pPr>
              <a:spcAft>
                <a:spcPts val="600"/>
              </a:spcAft>
            </a:pPr>
            <a:r>
              <a:rPr sz="1350" b="0" i="0">
                <a:solidFill>
                  <a:srgbClr val="111B30"/>
                </a:solidFill>
                <a:latin typeface="Courier New"/>
              </a:rPr>
              <a:t>Invoke-LapsPolicyProcessing</a:t>
            </a:r>
          </a:p>
          <a:p>
            <a:pPr>
              <a:spcAft>
                <a:spcPts val="600"/>
              </a:spcAft>
            </a:pPr>
            <a:r>
              <a:rPr sz="1350" b="0" i="0">
                <a:solidFill>
                  <a:srgbClr val="111B30"/>
                </a:solidFill>
                <a:latin typeface="Courier New"/>
              </a:rPr>
              <a:t>Get-LapsADPassword -Identity "WIN11-CLIENT" -AsPlainText</a:t>
            </a:r>
          </a:p>
          <a:p>
            <a:pPr>
              <a:spcAft>
                <a:spcPts val="600"/>
              </a:spcAft>
            </a:pPr>
            <a:r>
              <a:rPr sz="1350" b="0" i="1">
                <a:solidFill>
                  <a:srgbClr val="6B7480"/>
                </a:solidFill>
                <a:latin typeface="Courier New"/>
              </a:rPr>
              <a:t># force immediate generation, then retrieve as an authorized admin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Legacy Protocols: Why They're Still a Risk Today</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SMBv1: the file-sharing protocol exploited by EternalBlue and WannaCry - no legitimate reason to run it on a modern network</a:t>
            </a:r>
          </a:p>
          <a:p>
            <a:pPr>
              <a:lnSpc>
                <a:spcPct val="125000"/>
              </a:lnSpc>
              <a:spcAft>
                <a:spcPts val="1200"/>
              </a:spcAft>
            </a:pPr>
            <a:r>
              <a:rPr sz="1600" b="0" i="0">
                <a:solidFill>
                  <a:srgbClr val="111B30"/>
                </a:solidFill>
                <a:latin typeface="Calibri"/>
              </a:rPr>
              <a:t>•  NTLMv1: a weak challenge-response authentication protocol vulnerable to relay and downgrade attacks</a:t>
            </a:r>
          </a:p>
          <a:p>
            <a:pPr>
              <a:lnSpc>
                <a:spcPct val="125000"/>
              </a:lnSpc>
              <a:spcAft>
                <a:spcPts val="1200"/>
              </a:spcAft>
            </a:pPr>
            <a:r>
              <a:rPr sz="1600" b="0" i="0">
                <a:solidFill>
                  <a:srgbClr val="111B30"/>
                </a:solidFill>
                <a:latin typeface="Calibri"/>
              </a:rPr>
              <a:t>•  RC4-based Kerberos encryption: weak enough that ticket-cracking (Kerberoasting, AS-REP Roasting) becomes practical offline</a:t>
            </a:r>
          </a:p>
          <a:p>
            <a:pPr>
              <a:lnSpc>
                <a:spcPct val="125000"/>
              </a:lnSpc>
              <a:spcAft>
                <a:spcPts val="1200"/>
              </a:spcAft>
            </a:pPr>
            <a:r>
              <a:rPr sz="1600" b="0" i="0">
                <a:solidFill>
                  <a:srgbClr val="111B30"/>
                </a:solidFill>
                <a:latin typeface="Calibri"/>
              </a:rPr>
              <a:t>•  These aren't "old and irrelevant" - they're downgrade paths attackers deliberately target because modern protections don't apply to them</a:t>
            </a:r>
          </a:p>
          <a:p>
            <a:pPr>
              <a:lnSpc>
                <a:spcPct val="125000"/>
              </a:lnSpc>
              <a:spcAft>
                <a:spcPts val="1200"/>
              </a:spcAft>
            </a:pPr>
            <a:r>
              <a:rPr sz="1600" b="0" i="0">
                <a:solidFill>
                  <a:srgbClr val="111B30"/>
                </a:solidFill>
                <a:latin typeface="Calibri"/>
              </a:rPr>
              <a:t>•  All three are configured and verified via PowerShell/registry, not GUI toggles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SMBv1 / EternalBlue &amp; WannaCry</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SMBv1 enabled</a:t>
            </a:r>
          </a:p>
          <a:p>
            <a:pPr algn="ctr"/>
            <a:r>
              <a:rPr sz="1150" b="0" i="0">
                <a:solidFill>
                  <a:srgbClr val="111B30"/>
                </a:solidFill>
                <a:latin typeface="Calibri"/>
              </a:rPr>
              <a:t>server-wide (still the</a:t>
            </a:r>
          </a:p>
          <a:p>
            <a:pPr algn="ctr"/>
            <a:r>
              <a:rPr sz="1150" b="0" i="0">
                <a:solidFill>
                  <a:srgbClr val="111B30"/>
                </a:solidFill>
                <a:latin typeface="Calibri"/>
              </a:rPr>
              <a:t>default on many legacy builds)</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EternalBlue exploit chain</a:t>
            </a:r>
          </a:p>
          <a:p>
            <a:pPr algn="ctr"/>
            <a:r>
              <a:rPr sz="1150" b="1" i="0">
                <a:solidFill>
                  <a:srgbClr val="111B30"/>
                </a:solidFill>
                <a:latin typeface="Calibri"/>
              </a:rPr>
              <a:t>triggers remote code</a:t>
            </a:r>
          </a:p>
          <a:p>
            <a:pPr algn="ctr"/>
            <a:r>
              <a:rPr sz="1150" b="1" i="0">
                <a:solidFill>
                  <a:srgbClr val="111B30"/>
                </a:solidFill>
                <a:latin typeface="Calibri"/>
              </a:rPr>
              <a:t>execution over SMBv1</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Self-propagating ransomware</a:t>
            </a:r>
          </a:p>
          <a:p>
            <a:pPr algn="ctr"/>
            <a:r>
              <a:rPr sz="1150" b="0" i="0">
                <a:solidFill>
                  <a:srgbClr val="111B30"/>
                </a:solidFill>
                <a:latin typeface="Calibri"/>
              </a:rPr>
              <a:t>(WannaCry, NotPetya) worm</a:t>
            </a:r>
          </a:p>
          <a:p>
            <a:pPr algn="ctr"/>
            <a:r>
              <a:rPr sz="1150" b="0" i="0">
                <a:solidFill>
                  <a:srgbClr val="111B30"/>
                </a:solidFill>
                <a:latin typeface="Calibri"/>
              </a:rPr>
              <a:t>spreads with no user interaction</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Set-SmbServerConfiguration -EnableSMB1Protocol $false -Force - SMBv2/v3 fully replace SMBv1 for all legitimate file-sharing use cases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NTLM Downgrade &amp; Relay</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LmCompatibilityLevel</a:t>
            </a:r>
          </a:p>
          <a:p>
            <a:pPr algn="ctr"/>
            <a:r>
              <a:rPr sz="1150" b="0" i="0">
                <a:solidFill>
                  <a:srgbClr val="111B30"/>
                </a:solidFill>
                <a:latin typeface="Calibri"/>
              </a:rPr>
              <a:t>allows LM/NTLMv1</a:t>
            </a:r>
          </a:p>
          <a:p>
            <a:pPr algn="ctr"/>
            <a:r>
              <a:rPr sz="1150" b="0" i="0">
                <a:solidFill>
                  <a:srgbClr val="111B30"/>
                </a:solidFill>
                <a:latin typeface="Calibri"/>
              </a:rPr>
              <a:t>(default or misconfigured)</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forces or</a:t>
            </a:r>
          </a:p>
          <a:p>
            <a:pPr algn="ctr"/>
            <a:r>
              <a:rPr sz="1150" b="1" i="0">
                <a:solidFill>
                  <a:srgbClr val="111B30"/>
                </a:solidFill>
                <a:latin typeface="Calibri"/>
              </a:rPr>
              <a:t>intercepts a downgraded</a:t>
            </a:r>
          </a:p>
          <a:p>
            <a:pPr algn="ctr"/>
            <a:r>
              <a:rPr sz="1150" b="1" i="0">
                <a:solidFill>
                  <a:srgbClr val="111B30"/>
                </a:solidFill>
                <a:latin typeface="Calibri"/>
              </a:rPr>
              <a:t>NTLMv1 authentication attempt</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Authentication bypass or</a:t>
            </a:r>
          </a:p>
          <a:p>
            <a:pPr algn="ctr"/>
            <a:r>
              <a:rPr sz="1150" b="0" i="0">
                <a:solidFill>
                  <a:srgbClr val="111B30"/>
                </a:solidFill>
                <a:latin typeface="Calibri"/>
              </a:rPr>
              <a:t>credential compromise</a:t>
            </a:r>
          </a:p>
          <a:p>
            <a:pPr algn="ctr"/>
            <a:r>
              <a:rPr sz="1150" b="0" i="0">
                <a:solidFill>
                  <a:srgbClr val="111B30"/>
                </a:solidFill>
                <a:latin typeface="Calibri"/>
              </a:rPr>
              <a:t>without the plaintext password</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Set LmCompatibilityLevel=5 (send NTLMv2 only, refuse LM/NTLMv1 responses entirely) - removes the weak-protocol fallback attackers rely 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Kerberoasting</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Service accounts have</a:t>
            </a:r>
          </a:p>
          <a:p>
            <a:pPr algn="ctr"/>
            <a:r>
              <a:rPr sz="1150" b="0" i="0">
                <a:solidFill>
                  <a:srgbClr val="111B30"/>
                </a:solidFill>
                <a:latin typeface="Calibri"/>
              </a:rPr>
              <a:t>SPNs registered, tickets</a:t>
            </a:r>
          </a:p>
          <a:p>
            <a:pPr algn="ctr"/>
            <a:r>
              <a:rPr sz="1150" b="0" i="0">
                <a:solidFill>
                  <a:srgbClr val="111B30"/>
                </a:solidFill>
                <a:latin typeface="Calibri"/>
              </a:rPr>
              <a:t>encrypted with RC4</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Any authenticated user</a:t>
            </a:r>
          </a:p>
          <a:p>
            <a:pPr algn="ctr"/>
            <a:r>
              <a:rPr sz="1150" b="1" i="0">
                <a:solidFill>
                  <a:srgbClr val="111B30"/>
                </a:solidFill>
                <a:latin typeface="Calibri"/>
              </a:rPr>
              <a:t>requests a service ticket,</a:t>
            </a:r>
          </a:p>
          <a:p>
            <a:pPr algn="ctr"/>
            <a:r>
              <a:rPr sz="1150" b="1" i="0">
                <a:solidFill>
                  <a:srgbClr val="111B30"/>
                </a:solidFill>
                <a:latin typeface="Calibri"/>
              </a:rPr>
              <a:t>then cracks it offline</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Service account password</a:t>
            </a:r>
          </a:p>
          <a:p>
            <a:pPr algn="ctr"/>
            <a:r>
              <a:rPr sz="1150" b="0" i="0">
                <a:solidFill>
                  <a:srgbClr val="111B30"/>
                </a:solidFill>
                <a:latin typeface="Calibri"/>
              </a:rPr>
              <a:t>recovered offline with no</a:t>
            </a:r>
          </a:p>
          <a:p>
            <a:pPr algn="ctr"/>
            <a:r>
              <a:rPr sz="1150" b="0" i="0">
                <a:solidFill>
                  <a:srgbClr val="111B30"/>
                </a:solidFill>
                <a:latin typeface="Calibri"/>
              </a:rPr>
              <a:t>logon attempts against the target</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Set SupportedEncryptionTypes=24 (AES128+AES256 only, RC4/DES disabled) - AES-encrypted tickets are computationally infeasible to crack offline at scale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AS-REP Roasting</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An account has Kerberos</a:t>
            </a:r>
          </a:p>
          <a:p>
            <a:pPr algn="ctr"/>
            <a:r>
              <a:rPr sz="1150" b="0" i="0">
                <a:solidFill>
                  <a:srgbClr val="111B30"/>
                </a:solidFill>
                <a:latin typeface="Calibri"/>
              </a:rPr>
              <a:t>pre-authentication</a:t>
            </a:r>
          </a:p>
          <a:p>
            <a:pPr algn="ctr"/>
            <a:r>
              <a:rPr sz="1150" b="0" i="0">
                <a:solidFill>
                  <a:srgbClr val="111B30"/>
                </a:solidFill>
                <a:latin typeface="Calibri"/>
              </a:rPr>
              <a:t>disabled</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requests an</a:t>
            </a:r>
          </a:p>
          <a:p>
            <a:pPr algn="ctr"/>
            <a:r>
              <a:rPr sz="1150" b="1" i="0">
                <a:solidFill>
                  <a:srgbClr val="111B30"/>
                </a:solidFill>
                <a:latin typeface="Calibri"/>
              </a:rPr>
              <a:t>AS-REP for that account</a:t>
            </a:r>
          </a:p>
          <a:p>
            <a:pPr algn="ctr"/>
            <a:r>
              <a:rPr sz="1150" b="1" i="0">
                <a:solidFill>
                  <a:srgbClr val="111B30"/>
                </a:solidFill>
                <a:latin typeface="Calibri"/>
              </a:rPr>
              <a:t>without ever authenticating</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Offline password cracking</a:t>
            </a:r>
          </a:p>
          <a:p>
            <a:pPr algn="ctr"/>
            <a:r>
              <a:rPr sz="1150" b="0" i="0">
                <a:solidFill>
                  <a:srgbClr val="111B30"/>
                </a:solidFill>
                <a:latin typeface="Calibri"/>
              </a:rPr>
              <a:t>against the account with</a:t>
            </a:r>
          </a:p>
          <a:p>
            <a:pPr algn="ctr"/>
            <a:r>
              <a:rPr sz="1150" b="0" i="0">
                <a:solidFill>
                  <a:srgbClr val="111B30"/>
                </a:solidFill>
                <a:latin typeface="Calibri"/>
              </a:rPr>
              <a:t>zero logon events generated</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Require Kerberos pre-authentication on all accounts, and enforce SupportedEncryptionTypes=24 so any exposed material is AES-protected, not RC4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Disable Legacy Protocols</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Set-SmbServerConfiguration -EnableSMB1Protocol $false -Force</a:t>
            </a:r>
          </a:p>
          <a:p>
            <a:pPr>
              <a:spcAft>
                <a:spcPts val="600"/>
              </a:spcAft>
            </a:pPr>
            <a:r>
              <a:rPr sz="1350" b="0" i="1">
                <a:solidFill>
                  <a:srgbClr val="6B7480"/>
                </a:solidFill>
                <a:latin typeface="Courier New"/>
              </a:rPr>
              <a:t># disable SMBv1 entirely</a:t>
            </a:r>
          </a:p>
          <a:p>
            <a:pPr>
              <a:spcAft>
                <a:spcPts val="600"/>
              </a:spcAft>
            </a:pPr>
            <a:r>
              <a:rPr sz="1350" b="0" i="0">
                <a:solidFill>
                  <a:srgbClr val="111B30"/>
                </a:solidFill>
                <a:latin typeface="Courier New"/>
              </a:rPr>
              <a:t>New-ItemProperty -Path "HKLM:\SYSTEM\CurrentControlSet\Control\Lsa" -Name LmCompatibilityLevel `</a:t>
            </a:r>
          </a:p>
          <a:p>
            <a:pPr>
              <a:spcAft>
                <a:spcPts val="600"/>
              </a:spcAft>
            </a:pPr>
            <a:r>
              <a:rPr sz="1350" b="0" i="0">
                <a:solidFill>
                  <a:srgbClr val="111B30"/>
                </a:solidFill>
                <a:latin typeface="Courier New"/>
              </a:rPr>
              <a:t>  -Value 5 -PropertyType DWord -Force</a:t>
            </a:r>
          </a:p>
          <a:p>
            <a:pPr>
              <a:spcAft>
                <a:spcPts val="600"/>
              </a:spcAft>
            </a:pPr>
            <a:r>
              <a:rPr sz="1350" b="0" i="1">
                <a:solidFill>
                  <a:srgbClr val="6B7480"/>
                </a:solidFill>
                <a:latin typeface="Courier New"/>
              </a:rPr>
              <a:t># restrict NTLM to v2-only, refuse LM/NTLMv1</a:t>
            </a:r>
          </a:p>
          <a:p>
            <a:pPr>
              <a:spcAft>
                <a:spcPts val="600"/>
              </a:spcAft>
            </a:pPr>
            <a:r>
              <a:rPr sz="1350" b="0" i="0">
                <a:solidFill>
                  <a:srgbClr val="111B30"/>
                </a:solidFill>
                <a:latin typeface="Courier New"/>
              </a:rPr>
              <a:t>New-ItemProperty -Path "HKLM:\SOFTWARE\Microsoft\Windows\CurrentVersion\Policies\System\Kerberos\Parameters" `</a:t>
            </a:r>
          </a:p>
          <a:p>
            <a:pPr>
              <a:spcAft>
                <a:spcPts val="600"/>
              </a:spcAft>
            </a:pPr>
            <a:r>
              <a:rPr sz="1350" b="0" i="0">
                <a:solidFill>
                  <a:srgbClr val="111B30"/>
                </a:solidFill>
                <a:latin typeface="Courier New"/>
              </a:rPr>
              <a:t>  -Name SupportedEncryptionTypes -Value 24 -PropertyType DWord -Force</a:t>
            </a:r>
          </a:p>
          <a:p>
            <a:pPr>
              <a:spcAft>
                <a:spcPts val="600"/>
              </a:spcAft>
            </a:pPr>
            <a:r>
              <a:rPr sz="1350" b="0" i="1">
                <a:solidFill>
                  <a:srgbClr val="6B7480"/>
                </a:solidFill>
                <a:latin typeface="Courier New"/>
              </a:rPr>
              <a:t># disable RC4/DES Kerberos encryption, allow only AES128/AES256</a:t>
            </a:r>
          </a:p>
          <a:p>
            <a:pPr>
              <a:spcAft>
                <a:spcPts val="600"/>
              </a:spcAft>
            </a:pPr>
            <a:r>
              <a:rPr sz="1350" b="0" i="0">
                <a:solidFill>
                  <a:srgbClr val="111B30"/>
                </a:solidFill>
                <a:latin typeface="Courier New"/>
              </a:rPr>
              <a:t>Get-SmbShare</a:t>
            </a:r>
          </a:p>
          <a:p>
            <a:pPr>
              <a:spcAft>
                <a:spcPts val="600"/>
              </a:spcAft>
            </a:pPr>
            <a:r>
              <a:rPr sz="1350" b="0" i="1">
                <a:solidFill>
                  <a:srgbClr val="6B7480"/>
                </a:solidFill>
                <a:latin typeface="Courier New"/>
              </a:rPr>
              <a:t># verify legitimate SMB shares still function after the change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Applying the Same Six Controls: Server 2022 vs. Windows 11</a:t>
            </a:r>
          </a:p>
        </p:txBody>
      </p:sp>
      <p:graphicFrame>
        <p:nvGraphicFramePr>
          <p:cNvPr id="6" name="Table 5"/>
          <p:cNvGraphicFramePr>
            <a:graphicFrameLocks noGrp="1"/>
          </p:cNvGraphicFramePr>
          <p:nvPr/>
        </p:nvGraphicFramePr>
        <p:xfrm>
          <a:off x="640080" y="1188720"/>
          <a:ext cx="11277295" cy="3566160"/>
        </p:xfrm>
        <a:graphic>
          <a:graphicData uri="http://schemas.openxmlformats.org/drawingml/2006/table">
            <a:tbl>
              <a:tblPr firstRow="1" bandRow="1">
                <a:tableStyleId>{5C22544A-7EE6-4342-B048-85BDC9FD1C3A}</a:tableStyleId>
              </a:tblPr>
              <a:tblGrid>
                <a:gridCol w="2560320"/>
                <a:gridCol w="4206240"/>
                <a:gridCol w="4510735"/>
              </a:tblGrid>
              <a:tr h="509451">
                <a:tc>
                  <a:txBody>
                    <a:bodyPr wrap="square"/>
                    <a:lstStyle/>
                    <a:p>
                      <a:pPr algn="ctr"/>
                      <a:r>
                        <a:rPr sz="1300" b="1" i="0">
                          <a:solidFill>
                            <a:srgbClr val="FFFFFF"/>
                          </a:solidFill>
                          <a:latin typeface="Calibri"/>
                        </a:rPr>
                        <a:t>Control</a:t>
                      </a:r>
                    </a:p>
                  </a:txBody>
                  <a:tcPr anchor="ctr">
                    <a:solidFill>
                      <a:srgbClr val="1B2A4A"/>
                    </a:solidFill>
                  </a:tcPr>
                </a:tc>
                <a:tc>
                  <a:txBody>
                    <a:bodyPr wrap="square"/>
                    <a:lstStyle/>
                    <a:p>
                      <a:pPr algn="ctr"/>
                      <a:r>
                        <a:rPr sz="1300" b="1" i="0">
                          <a:solidFill>
                            <a:srgbClr val="FFFFFF"/>
                          </a:solidFill>
                          <a:latin typeface="Calibri"/>
                        </a:rPr>
                        <a:t>Windows Server 2022</a:t>
                      </a:r>
                    </a:p>
                  </a:txBody>
                  <a:tcPr anchor="ctr">
                    <a:solidFill>
                      <a:srgbClr val="1B2A4A"/>
                    </a:solidFill>
                  </a:tcPr>
                </a:tc>
                <a:tc>
                  <a:txBody>
                    <a:bodyPr wrap="square"/>
                    <a:lstStyle/>
                    <a:p>
                      <a:pPr algn="ctr"/>
                      <a:r>
                        <a:rPr sz="1300" b="1" i="0">
                          <a:solidFill>
                            <a:srgbClr val="FFFFFF"/>
                          </a:solidFill>
                          <a:latin typeface="Calibri"/>
                        </a:rPr>
                        <a:t>Windows 11</a:t>
                      </a:r>
                    </a:p>
                  </a:txBody>
                  <a:tcPr anchor="ctr">
                    <a:solidFill>
                      <a:srgbClr val="1B2A4A"/>
                    </a:solidFill>
                  </a:tcPr>
                </a:tc>
              </a:tr>
              <a:tr h="509451">
                <a:tc>
                  <a:txBody>
                    <a:bodyPr wrap="square"/>
                    <a:lstStyle/>
                    <a:p>
                      <a:r>
                        <a:rPr sz="1150" b="0" i="0">
                          <a:solidFill>
                            <a:srgbClr val="111B30"/>
                          </a:solidFill>
                          <a:latin typeface="Calibri"/>
                        </a:rPr>
                        <a:t>SCT baseline</a:t>
                      </a:r>
                    </a:p>
                  </a:txBody>
                  <a:tcPr anchor="ctr">
                    <a:solidFill>
                      <a:srgbClr val="E8EEF7"/>
                    </a:solidFill>
                  </a:tcPr>
                </a:tc>
                <a:tc>
                  <a:txBody>
                    <a:bodyPr wrap="square"/>
                    <a:lstStyle/>
                    <a:p>
                      <a:r>
                        <a:rPr sz="1150" b="0" i="0">
                          <a:solidFill>
                            <a:srgbClr val="111B30"/>
                          </a:solidFill>
                          <a:latin typeface="Calibri"/>
                        </a:rPr>
                        <a:t>"Windows Server 2022 Security Baseline" GPO folder</a:t>
                      </a:r>
                    </a:p>
                  </a:txBody>
                  <a:tcPr anchor="ctr">
                    <a:solidFill>
                      <a:srgbClr val="E8EEF7"/>
                    </a:solidFill>
                  </a:tcPr>
                </a:tc>
                <a:tc>
                  <a:txBody>
                    <a:bodyPr wrap="square"/>
                    <a:lstStyle/>
                    <a:p>
                      <a:r>
                        <a:rPr sz="1150" b="0" i="0">
                          <a:solidFill>
                            <a:srgbClr val="111B30"/>
                          </a:solidFill>
                          <a:latin typeface="Calibri"/>
                        </a:rPr>
                        <a:t>"Windows 11 Security Baseline" GPO folder</a:t>
                      </a:r>
                    </a:p>
                  </a:txBody>
                  <a:tcPr anchor="ctr">
                    <a:solidFill>
                      <a:srgbClr val="E8EEF7"/>
                    </a:solidFill>
                  </a:tcPr>
                </a:tc>
              </a:tr>
              <a:tr h="509451">
                <a:tc>
                  <a:txBody>
                    <a:bodyPr wrap="square"/>
                    <a:lstStyle/>
                    <a:p>
                      <a:r>
                        <a:rPr sz="1150" b="0" i="0">
                          <a:solidFill>
                            <a:srgbClr val="111B30"/>
                          </a:solidFill>
                          <a:latin typeface="Calibri"/>
                        </a:rPr>
                        <a:t>ASR rules</a:t>
                      </a:r>
                    </a:p>
                  </a:txBody>
                  <a:tcPr anchor="ctr">
                    <a:solidFill>
                      <a:srgbClr val="FFFFFF"/>
                    </a:solidFill>
                  </a:tcPr>
                </a:tc>
                <a:tc>
                  <a:txBody>
                    <a:bodyPr wrap="square"/>
                    <a:lstStyle/>
                    <a:p>
                      <a:r>
                        <a:rPr sz="1150" b="0" i="0">
                          <a:solidFill>
                            <a:srgbClr val="111B30"/>
                          </a:solidFill>
                          <a:latin typeface="Calibri"/>
                        </a:rPr>
                        <a:t>Identical GUIDs/cmdlets</a:t>
                      </a:r>
                    </a:p>
                  </a:txBody>
                  <a:tcPr anchor="ctr">
                    <a:solidFill>
                      <a:srgbClr val="FFFFFF"/>
                    </a:solidFill>
                  </a:tcPr>
                </a:tc>
                <a:tc>
                  <a:txBody>
                    <a:bodyPr wrap="square"/>
                    <a:lstStyle/>
                    <a:p>
                      <a:r>
                        <a:rPr sz="1150" b="0" i="0">
                          <a:solidFill>
                            <a:srgbClr val="111B30"/>
                          </a:solidFill>
                          <a:latin typeface="Calibri"/>
                        </a:rPr>
                        <a:t>Identical GUIDs/cmdlets</a:t>
                      </a:r>
                    </a:p>
                  </a:txBody>
                  <a:tcPr anchor="ctr">
                    <a:solidFill>
                      <a:srgbClr val="FFFFFF"/>
                    </a:solidFill>
                  </a:tcPr>
                </a:tc>
              </a:tr>
              <a:tr h="509451">
                <a:tc>
                  <a:txBody>
                    <a:bodyPr wrap="square"/>
                    <a:lstStyle/>
                    <a:p>
                      <a:r>
                        <a:rPr sz="1150" b="0" i="0">
                          <a:solidFill>
                            <a:srgbClr val="111B30"/>
                          </a:solidFill>
                          <a:latin typeface="Calibri"/>
                        </a:rPr>
                        <a:t>Credential Guard</a:t>
                      </a:r>
                    </a:p>
                  </a:txBody>
                  <a:tcPr anchor="ctr">
                    <a:solidFill>
                      <a:srgbClr val="E8EEF7"/>
                    </a:solidFill>
                  </a:tcPr>
                </a:tc>
                <a:tc>
                  <a:txBody>
                    <a:bodyPr wrap="square"/>
                    <a:lstStyle/>
                    <a:p>
                      <a:r>
                        <a:rPr sz="1150" b="0" i="0">
                          <a:solidFill>
                            <a:srgbClr val="111B30"/>
                          </a:solidFill>
                          <a:latin typeface="Calibri"/>
                        </a:rPr>
                        <a:t>Identical registry paths</a:t>
                      </a:r>
                    </a:p>
                  </a:txBody>
                  <a:tcPr anchor="ctr">
                    <a:solidFill>
                      <a:srgbClr val="E8EEF7"/>
                    </a:solidFill>
                  </a:tcPr>
                </a:tc>
                <a:tc>
                  <a:txBody>
                    <a:bodyPr wrap="square"/>
                    <a:lstStyle/>
                    <a:p>
                      <a:r>
                        <a:rPr sz="1150" b="0" i="0">
                          <a:solidFill>
                            <a:srgbClr val="111B30"/>
                          </a:solidFill>
                          <a:latin typeface="Calibri"/>
                        </a:rPr>
                        <a:t>Identical registry paths</a:t>
                      </a:r>
                    </a:p>
                  </a:txBody>
                  <a:tcPr anchor="ctr">
                    <a:solidFill>
                      <a:srgbClr val="E8EEF7"/>
                    </a:solidFill>
                  </a:tcPr>
                </a:tc>
              </a:tr>
              <a:tr h="509451">
                <a:tc>
                  <a:txBody>
                    <a:bodyPr wrap="square"/>
                    <a:lstStyle/>
                    <a:p>
                      <a:r>
                        <a:rPr sz="1150" b="0" i="0">
                          <a:solidFill>
                            <a:srgbClr val="111B30"/>
                          </a:solidFill>
                          <a:latin typeface="Calibri"/>
                        </a:rPr>
                        <a:t>LAPS availability check</a:t>
                      </a:r>
                    </a:p>
                  </a:txBody>
                  <a:tcPr anchor="ctr">
                    <a:solidFill>
                      <a:srgbClr val="FFFFFF"/>
                    </a:solidFill>
                  </a:tcPr>
                </a:tc>
                <a:tc>
                  <a:txBody>
                    <a:bodyPr wrap="square"/>
                    <a:lstStyle/>
                    <a:p>
                      <a:r>
                        <a:rPr sz="1150" b="0" i="0">
                          <a:solidFill>
                            <a:srgbClr val="111B30"/>
                          </a:solidFill>
                          <a:latin typeface="Calibri"/>
                        </a:rPr>
                        <a:t>Get-WindowsFeature</a:t>
                      </a:r>
                    </a:p>
                  </a:txBody>
                  <a:tcPr anchor="ctr">
                    <a:solidFill>
                      <a:srgbClr val="FFFFFF"/>
                    </a:solidFill>
                  </a:tcPr>
                </a:tc>
                <a:tc>
                  <a:txBody>
                    <a:bodyPr wrap="square"/>
                    <a:lstStyle/>
                    <a:p>
                      <a:r>
                        <a:rPr sz="1150" b="0" i="0">
                          <a:solidFill>
                            <a:srgbClr val="111B30"/>
                          </a:solidFill>
                          <a:latin typeface="Calibri"/>
                        </a:rPr>
                        <a:t>Get-Command Update-LapsADSchema (no Get-WindowsFeature on client OS)</a:t>
                      </a:r>
                    </a:p>
                  </a:txBody>
                  <a:tcPr anchor="ctr">
                    <a:solidFill>
                      <a:srgbClr val="FFFFFF"/>
                    </a:solidFill>
                  </a:tcPr>
                </a:tc>
              </a:tr>
              <a:tr h="509451">
                <a:tc>
                  <a:txBody>
                    <a:bodyPr wrap="square"/>
                    <a:lstStyle/>
                    <a:p>
                      <a:r>
                        <a:rPr sz="1150" b="0" i="0">
                          <a:solidFill>
                            <a:srgbClr val="111B30"/>
                          </a:solidFill>
                          <a:latin typeface="Calibri"/>
                        </a:rPr>
                        <a:t>Legacy protocol disable</a:t>
                      </a:r>
                    </a:p>
                  </a:txBody>
                  <a:tcPr anchor="ctr">
                    <a:solidFill>
                      <a:srgbClr val="E8EEF7"/>
                    </a:solidFill>
                  </a:tcPr>
                </a:tc>
                <a:tc>
                  <a:txBody>
                    <a:bodyPr wrap="square"/>
                    <a:lstStyle/>
                    <a:p>
                      <a:r>
                        <a:rPr sz="1150" b="0" i="0">
                          <a:solidFill>
                            <a:srgbClr val="111B30"/>
                          </a:solidFill>
                          <a:latin typeface="Calibri"/>
                        </a:rPr>
                        <a:t>Identical registry paths</a:t>
                      </a:r>
                    </a:p>
                  </a:txBody>
                  <a:tcPr anchor="ctr">
                    <a:solidFill>
                      <a:srgbClr val="E8EEF7"/>
                    </a:solidFill>
                  </a:tcPr>
                </a:tc>
                <a:tc>
                  <a:txBody>
                    <a:bodyPr wrap="square"/>
                    <a:lstStyle/>
                    <a:p>
                      <a:r>
                        <a:rPr sz="1150" b="0" i="0">
                          <a:solidFill>
                            <a:srgbClr val="111B30"/>
                          </a:solidFill>
                          <a:latin typeface="Calibri"/>
                        </a:rPr>
                        <a:t>Identical registry paths</a:t>
                      </a:r>
                    </a:p>
                  </a:txBody>
                  <a:tcPr anchor="ctr">
                    <a:solidFill>
                      <a:srgbClr val="E8EEF7"/>
                    </a:solidFill>
                  </a:tcPr>
                </a:tc>
              </a:tr>
              <a:tr h="509454">
                <a:tc>
                  <a:txBody>
                    <a:bodyPr wrap="square"/>
                    <a:lstStyle/>
                    <a:p>
                      <a:r>
                        <a:rPr sz="1150" b="0" i="0">
                          <a:solidFill>
                            <a:srgbClr val="111B30"/>
                          </a:solidFill>
                          <a:latin typeface="Calibri"/>
                        </a:rPr>
                        <a:t>Final delta re-check</a:t>
                      </a:r>
                    </a:p>
                  </a:txBody>
                  <a:tcPr anchor="ctr">
                    <a:solidFill>
                      <a:srgbClr val="FFFFFF"/>
                    </a:solidFill>
                  </a:tcPr>
                </a:tc>
                <a:tc>
                  <a:txBody>
                    <a:bodyPr wrap="square"/>
                    <a:lstStyle/>
                    <a:p>
                      <a:r>
                        <a:rPr sz="1150" b="0" i="0">
                          <a:solidFill>
                            <a:srgbClr val="111B30"/>
                          </a:solidFill>
                          <a:latin typeface="Calibri"/>
                        </a:rPr>
                        <a:t>Policy Analyzer vs. server baseline</a:t>
                      </a:r>
                    </a:p>
                  </a:txBody>
                  <a:tcPr anchor="ctr">
                    <a:solidFill>
                      <a:srgbClr val="FFFFFF"/>
                    </a:solidFill>
                  </a:tcPr>
                </a:tc>
                <a:tc>
                  <a:txBody>
                    <a:bodyPr wrap="square"/>
                    <a:lstStyle/>
                    <a:p>
                      <a:r>
                        <a:rPr sz="1150" b="0" i="0">
                          <a:solidFill>
                            <a:srgbClr val="111B30"/>
                          </a:solidFill>
                          <a:latin typeface="Calibri"/>
                        </a:rPr>
                        <a:t>Policy Analyzer vs. client baseline</a:t>
                      </a:r>
                    </a:p>
                  </a:txBody>
                  <a:tcPr anchor="ctr">
                    <a:solidFill>
                      <a:srgbClr val="FFFFFF"/>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Confirming the Layered Hardening Actually Reduced Risk</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Re-run Policy Analyzer against the same baseline used at the start of the session</a:t>
            </a:r>
          </a:p>
          <a:p>
            <a:pPr>
              <a:lnSpc>
                <a:spcPct val="125000"/>
              </a:lnSpc>
              <a:spcAft>
                <a:spcPts val="1200"/>
              </a:spcAft>
            </a:pPr>
            <a:r>
              <a:rPr sz="1600" b="0" i="0">
                <a:solidFill>
                  <a:srgbClr val="111B30"/>
                </a:solidFill>
                <a:latin typeface="Calibri"/>
              </a:rPr>
              <a:t>•  Compare the red-item count before any changes versus after all six controls are applied</a:t>
            </a:r>
          </a:p>
          <a:p>
            <a:pPr>
              <a:lnSpc>
                <a:spcPct val="125000"/>
              </a:lnSpc>
              <a:spcAft>
                <a:spcPts val="1200"/>
              </a:spcAft>
            </a:pPr>
            <a:r>
              <a:rPr sz="1600" b="0" i="0">
                <a:solidFill>
                  <a:srgbClr val="111B30"/>
                </a:solidFill>
                <a:latin typeface="Calibri"/>
              </a:rPr>
              <a:t>•  A meaningfully reduced count is the evidence a hardening effort worked - not just "I ran the commands"</a:t>
            </a:r>
          </a:p>
          <a:p>
            <a:pPr>
              <a:lnSpc>
                <a:spcPct val="125000"/>
              </a:lnSpc>
              <a:spcAft>
                <a:spcPts val="1200"/>
              </a:spcAft>
            </a:pPr>
            <a:r>
              <a:rPr sz="1600" b="0" i="0">
                <a:solidFill>
                  <a:srgbClr val="111B30"/>
                </a:solidFill>
                <a:latin typeface="Calibri"/>
              </a:rPr>
              <a:t>•  Any remaining red items should be explainable (pending reboot, informational-only setting, deliberate exception)</a:t>
            </a:r>
          </a:p>
          <a:p>
            <a:pPr>
              <a:lnSpc>
                <a:spcPct val="125000"/>
              </a:lnSpc>
              <a:spcAft>
                <a:spcPts val="1200"/>
              </a:spcAft>
            </a:pPr>
            <a:r>
              <a:rPr sz="1600" b="0" i="0">
                <a:solidFill>
                  <a:srgbClr val="111B30"/>
                </a:solidFill>
                <a:latin typeface="Calibri"/>
              </a:rPr>
              <a:t>•  This same close-the-loop discipline - measure, change, re-measure - is the pattern for every control introduced this week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77440"/>
            <a:ext cx="1554480" cy="155448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i="0">
                <a:solidFill>
                  <a:srgbClr val="1B2A4A"/>
                </a:solidFill>
                <a:latin typeface="Cambria"/>
              </a:rPr>
              <a:t>03</a:t>
            </a:r>
          </a:p>
        </p:txBody>
      </p:sp>
      <p:sp>
        <p:nvSpPr>
          <p:cNvPr id="4" name="TextBox 3"/>
          <p:cNvSpPr txBox="1"/>
          <p:nvPr/>
        </p:nvSpPr>
        <p:spPr>
          <a:xfrm>
            <a:off x="2651760" y="2514600"/>
            <a:ext cx="8869680" cy="1371600"/>
          </a:xfrm>
          <a:prstGeom prst="rect">
            <a:avLst/>
          </a:prstGeom>
          <a:noFill/>
        </p:spPr>
        <p:txBody>
          <a:bodyPr wrap="square" anchor="ctr">
            <a:spAutoFit/>
          </a:bodyPr>
          <a:lstStyle/>
          <a:p>
            <a:r>
              <a:rPr sz="3000" b="1" i="0">
                <a:solidFill>
                  <a:srgbClr val="FFFFFF"/>
                </a:solidFill>
                <a:latin typeface="Cambria"/>
              </a:rPr>
              <a:t>Windows Firewall, Auditing &amp; Centralized Logging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Windows Firewall Profiles</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Windows Firewall applies one of three profiles per network interface, chosen automatically based on how the network is classified</a:t>
            </a:r>
          </a:p>
          <a:p>
            <a:pPr>
              <a:lnSpc>
                <a:spcPct val="125000"/>
              </a:lnSpc>
              <a:spcAft>
                <a:spcPts val="1200"/>
              </a:spcAft>
            </a:pPr>
            <a:r>
              <a:rPr sz="1600" b="0" i="0">
                <a:solidFill>
                  <a:srgbClr val="111B30"/>
                </a:solidFill>
                <a:latin typeface="Calibri"/>
              </a:rPr>
              <a:t>•  Domain: applied when connected to a network where the domain controller is reachable - typically the most permissive, since the network is trusted</a:t>
            </a:r>
          </a:p>
          <a:p>
            <a:pPr>
              <a:lnSpc>
                <a:spcPct val="125000"/>
              </a:lnSpc>
              <a:spcAft>
                <a:spcPts val="1200"/>
              </a:spcAft>
            </a:pPr>
            <a:r>
              <a:rPr sz="1600" b="0" i="0">
                <a:solidFill>
                  <a:srgbClr val="111B30"/>
                </a:solidFill>
                <a:latin typeface="Calibri"/>
              </a:rPr>
              <a:t>•  Private: a manually-trusted non-domain network (a home or small-office LAN) - moderate restriction</a:t>
            </a:r>
          </a:p>
          <a:p>
            <a:pPr>
              <a:lnSpc>
                <a:spcPct val="125000"/>
              </a:lnSpc>
              <a:spcAft>
                <a:spcPts val="1200"/>
              </a:spcAft>
            </a:pPr>
            <a:r>
              <a:rPr sz="1600" b="0" i="0">
                <a:solidFill>
                  <a:srgbClr val="111B30"/>
                </a:solidFill>
                <a:latin typeface="Calibri"/>
              </a:rPr>
              <a:t>•  Public: the default for any unrecognized or untrusted network - most restrictive, blocks unsolicited inbound by default</a:t>
            </a:r>
          </a:p>
          <a:p>
            <a:pPr>
              <a:lnSpc>
                <a:spcPct val="125000"/>
              </a:lnSpc>
              <a:spcAft>
                <a:spcPts val="1200"/>
              </a:spcAft>
            </a:pPr>
            <a:r>
              <a:rPr sz="1600" b="0" i="0">
                <a:solidFill>
                  <a:srgbClr val="111B30"/>
                </a:solidFill>
                <a:latin typeface="Calibri"/>
              </a:rPr>
              <a:t>•  Each profile has independent inbound/outbound rule sets - a rule enabled on Domain doesn't automatically apply on Public</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Firewall Profile Selection</a:t>
            </a:r>
          </a:p>
        </p:txBody>
      </p:sp>
      <p:sp>
        <p:nvSpPr>
          <p:cNvPr id="6" name="Rounded Rectangle 5"/>
          <p:cNvSpPr/>
          <p:nvPr/>
        </p:nvSpPr>
        <p:spPr>
          <a:xfrm>
            <a:off x="4937760" y="1280160"/>
            <a:ext cx="2286000" cy="7315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Network Interface</a:t>
            </a:r>
          </a:p>
          <a:p>
            <a:pPr algn="ctr"/>
            <a:r>
              <a:rPr sz="1150" b="0" i="0">
                <a:solidFill>
                  <a:srgbClr val="111B30"/>
                </a:solidFill>
                <a:latin typeface="Calibri"/>
              </a:rPr>
              <a:t>Connects</a:t>
            </a:r>
          </a:p>
        </p:txBody>
      </p:sp>
      <p:sp>
        <p:nvSpPr>
          <p:cNvPr id="7" name="Diamond 6"/>
          <p:cNvSpPr/>
          <p:nvPr/>
        </p:nvSpPr>
        <p:spPr>
          <a:xfrm>
            <a:off x="4480560" y="2560320"/>
            <a:ext cx="3200400" cy="100584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Domain Controller</a:t>
            </a:r>
          </a:p>
          <a:p>
            <a:pPr algn="ctr"/>
            <a:r>
              <a:rPr sz="1150" b="1" i="0">
                <a:solidFill>
                  <a:srgbClr val="111B30"/>
                </a:solidFill>
                <a:latin typeface="Calibri"/>
              </a:rPr>
              <a:t>Reachable?</a:t>
            </a:r>
          </a:p>
        </p:txBody>
      </p:sp>
      <p:sp>
        <p:nvSpPr>
          <p:cNvPr id="8" name="Rounded Rectangle 7"/>
          <p:cNvSpPr/>
          <p:nvPr/>
        </p:nvSpPr>
        <p:spPr>
          <a:xfrm>
            <a:off x="548640" y="4206240"/>
            <a:ext cx="310896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11B30"/>
                </a:solidFill>
                <a:latin typeface="Calibri"/>
              </a:rPr>
              <a:t>Domain Profile</a:t>
            </a:r>
          </a:p>
          <a:p>
            <a:pPr algn="ctr"/>
            <a:r>
              <a:rPr sz="1100" b="1" i="0">
                <a:solidFill>
                  <a:srgbClr val="111B30"/>
                </a:solidFill>
                <a:latin typeface="Calibri"/>
              </a:rPr>
              <a:t>(most permissive)</a:t>
            </a:r>
          </a:p>
        </p:txBody>
      </p:sp>
      <p:sp>
        <p:nvSpPr>
          <p:cNvPr id="9" name="Diamond 8"/>
          <p:cNvSpPr/>
          <p:nvPr/>
        </p:nvSpPr>
        <p:spPr>
          <a:xfrm>
            <a:off x="4572000" y="4206240"/>
            <a:ext cx="3108960" cy="100584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11B30"/>
                </a:solidFill>
                <a:latin typeface="Calibri"/>
              </a:rPr>
              <a:t>Network Manually</a:t>
            </a:r>
          </a:p>
          <a:p>
            <a:pPr algn="ctr"/>
            <a:r>
              <a:rPr sz="1050" b="1" i="0">
                <a:solidFill>
                  <a:srgbClr val="111B30"/>
                </a:solidFill>
                <a:latin typeface="Calibri"/>
              </a:rPr>
              <a:t>Marked Trusted?</a:t>
            </a:r>
          </a:p>
        </p:txBody>
      </p:sp>
      <p:sp>
        <p:nvSpPr>
          <p:cNvPr id="10" name="Rounded Rectangle 9"/>
          <p:cNvSpPr/>
          <p:nvPr/>
        </p:nvSpPr>
        <p:spPr>
          <a:xfrm>
            <a:off x="3931920" y="5577840"/>
            <a:ext cx="2743200" cy="822960"/>
          </a:xfrm>
          <a:prstGeom prst="roundRect">
            <a:avLst/>
          </a:prstGeom>
          <a:solidFill>
            <a:srgbClr val="FFFFFF"/>
          </a:solidFill>
          <a:ln w="22225">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11B30"/>
                </a:solidFill>
                <a:latin typeface="Calibri"/>
              </a:rPr>
              <a:t>Private Profile</a:t>
            </a:r>
          </a:p>
          <a:p>
            <a:pPr algn="ctr"/>
            <a:r>
              <a:rPr sz="1100" b="1" i="0">
                <a:solidFill>
                  <a:srgbClr val="111B30"/>
                </a:solidFill>
                <a:latin typeface="Calibri"/>
              </a:rPr>
              <a:t>(moderate)</a:t>
            </a:r>
          </a:p>
        </p:txBody>
      </p:sp>
      <p:sp>
        <p:nvSpPr>
          <p:cNvPr id="11" name="Rounded Rectangle 10"/>
          <p:cNvSpPr/>
          <p:nvPr/>
        </p:nvSpPr>
        <p:spPr>
          <a:xfrm>
            <a:off x="8503920" y="4206240"/>
            <a:ext cx="3108960" cy="91440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B02A2A"/>
                </a:solidFill>
                <a:latin typeface="Calibri"/>
              </a:rPr>
              <a:t>Public Profile</a:t>
            </a:r>
          </a:p>
          <a:p>
            <a:pPr algn="ctr"/>
            <a:r>
              <a:rPr sz="1100" b="1" i="0">
                <a:solidFill>
                  <a:srgbClr val="B02A2A"/>
                </a:solidFill>
                <a:latin typeface="Calibri"/>
              </a:rPr>
              <a:t>(most restrictive)</a:t>
            </a:r>
          </a:p>
        </p:txBody>
      </p:sp>
      <p:cxnSp>
        <p:nvCxnSpPr>
          <p:cNvPr id="12" name="Connector 11"/>
          <p:cNvCxnSpPr/>
          <p:nvPr/>
        </p:nvCxnSpPr>
        <p:spPr>
          <a:xfrm>
            <a:off x="6080760" y="2011680"/>
            <a:ext cx="0" cy="54864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2103120" y="3063239"/>
            <a:ext cx="2377440" cy="1143001"/>
          </a:xfrm>
          <a:prstGeom prst="line">
            <a:avLst/>
          </a:prstGeom>
          <a:ln w="22225">
            <a:solidFill>
              <a:srgbClr val="3D5A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3433571"/>
            <a:ext cx="2011680" cy="365760"/>
          </a:xfrm>
          <a:prstGeom prst="rect">
            <a:avLst/>
          </a:prstGeom>
          <a:noFill/>
        </p:spPr>
        <p:txBody>
          <a:bodyPr wrap="square">
            <a:spAutoFit/>
          </a:bodyPr>
          <a:lstStyle/>
          <a:p>
            <a:pPr algn="ctr"/>
            <a:r>
              <a:rPr sz="950" b="0" i="1">
                <a:solidFill>
                  <a:srgbClr val="3D5A80"/>
                </a:solidFill>
                <a:latin typeface="Calibri"/>
              </a:rPr>
              <a:t>Yes</a:t>
            </a:r>
          </a:p>
        </p:txBody>
      </p:sp>
      <p:cxnSp>
        <p:nvCxnSpPr>
          <p:cNvPr id="15" name="Connector 14"/>
          <p:cNvCxnSpPr/>
          <p:nvPr/>
        </p:nvCxnSpPr>
        <p:spPr>
          <a:xfrm flipH="1">
            <a:off x="6126480" y="3063239"/>
            <a:ext cx="1554480" cy="1143001"/>
          </a:xfrm>
          <a:prstGeom prst="line">
            <a:avLst/>
          </a:prstGeom>
          <a:ln w="2222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897880" y="3433571"/>
            <a:ext cx="2011680" cy="365760"/>
          </a:xfrm>
          <a:prstGeom prst="rect">
            <a:avLst/>
          </a:prstGeom>
          <a:noFill/>
        </p:spPr>
        <p:txBody>
          <a:bodyPr wrap="square">
            <a:spAutoFit/>
          </a:bodyPr>
          <a:lstStyle/>
          <a:p>
            <a:pPr algn="ctr"/>
            <a:r>
              <a:rPr sz="950" b="0" i="1">
                <a:solidFill>
                  <a:srgbClr val="6B7480"/>
                </a:solidFill>
                <a:latin typeface="Calibri"/>
              </a:rPr>
              <a:t>No</a:t>
            </a:r>
          </a:p>
        </p:txBody>
      </p:sp>
      <p:cxnSp>
        <p:nvCxnSpPr>
          <p:cNvPr id="17" name="Connector 16"/>
          <p:cNvCxnSpPr/>
          <p:nvPr/>
        </p:nvCxnSpPr>
        <p:spPr>
          <a:xfrm>
            <a:off x="4572000" y="4709159"/>
            <a:ext cx="731520" cy="868681"/>
          </a:xfrm>
          <a:prstGeom prst="line">
            <a:avLst/>
          </a:prstGeom>
          <a:ln w="22225">
            <a:solidFill>
              <a:srgbClr val="00B4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931920" y="4942332"/>
            <a:ext cx="2011680" cy="365760"/>
          </a:xfrm>
          <a:prstGeom prst="rect">
            <a:avLst/>
          </a:prstGeom>
          <a:noFill/>
        </p:spPr>
        <p:txBody>
          <a:bodyPr wrap="square">
            <a:spAutoFit/>
          </a:bodyPr>
          <a:lstStyle/>
          <a:p>
            <a:pPr algn="ctr"/>
            <a:r>
              <a:rPr sz="950" b="0" i="1">
                <a:solidFill>
                  <a:srgbClr val="00B4D8"/>
                </a:solidFill>
                <a:latin typeface="Calibri"/>
              </a:rPr>
              <a:t>Yes</a:t>
            </a:r>
          </a:p>
        </p:txBody>
      </p:sp>
      <p:cxnSp>
        <p:nvCxnSpPr>
          <p:cNvPr id="19" name="Connector 18"/>
          <p:cNvCxnSpPr/>
          <p:nvPr/>
        </p:nvCxnSpPr>
        <p:spPr>
          <a:xfrm flipV="1">
            <a:off x="7680960" y="4206240"/>
            <a:ext cx="2377440" cy="502919"/>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863840" y="4256532"/>
            <a:ext cx="2011680" cy="365760"/>
          </a:xfrm>
          <a:prstGeom prst="rect">
            <a:avLst/>
          </a:prstGeom>
          <a:noFill/>
        </p:spPr>
        <p:txBody>
          <a:bodyPr wrap="square">
            <a:spAutoFit/>
          </a:bodyPr>
          <a:lstStyle/>
          <a:p>
            <a:pPr algn="ctr"/>
            <a:r>
              <a:rPr sz="950" b="0" i="1">
                <a:solidFill>
                  <a:srgbClr val="B02A2A"/>
                </a:solidFill>
                <a:latin typeface="Calibri"/>
              </a:rPr>
              <a:t>No</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LLMNR Poisoning</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LLMNR (Link-Local</a:t>
            </a:r>
          </a:p>
          <a:p>
            <a:pPr algn="ctr"/>
            <a:r>
              <a:rPr sz="1150" b="0" i="0">
                <a:solidFill>
                  <a:srgbClr val="111B30"/>
                </a:solidFill>
                <a:latin typeface="Calibri"/>
              </a:rPr>
              <a:t>Multicast Name Resolution)</a:t>
            </a:r>
          </a:p>
          <a:p>
            <a:pPr algn="ctr"/>
            <a:r>
              <a:rPr sz="1150" b="0" i="0">
                <a:solidFill>
                  <a:srgbClr val="111B30"/>
                </a:solidFill>
                <a:latin typeface="Calibri"/>
              </a:rPr>
              <a:t>enabled, DNS lookup fails</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on the same</a:t>
            </a:r>
          </a:p>
          <a:p>
            <a:pPr algn="ctr"/>
            <a:r>
              <a:rPr sz="1150" b="1" i="0">
                <a:solidFill>
                  <a:srgbClr val="111B30"/>
                </a:solidFill>
                <a:latin typeface="Calibri"/>
              </a:rPr>
              <a:t>segment answers the LLMNR</a:t>
            </a:r>
          </a:p>
          <a:p>
            <a:pPr algn="ctr"/>
            <a:r>
              <a:rPr sz="1150" b="1" i="0">
                <a:solidFill>
                  <a:srgbClr val="111B30"/>
                </a:solidFill>
                <a:latin typeface="Calibri"/>
              </a:rPr>
              <a:t>broadcast, impersonating the requested host</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Victim sends NTLM</a:t>
            </a:r>
          </a:p>
          <a:p>
            <a:pPr algn="ctr"/>
            <a:r>
              <a:rPr sz="1150" b="0" i="0">
                <a:solidFill>
                  <a:srgbClr val="111B30"/>
                </a:solidFill>
                <a:latin typeface="Calibri"/>
              </a:rPr>
              <a:t>authentication directly to</a:t>
            </a:r>
          </a:p>
          <a:p>
            <a:pPr algn="ctr"/>
            <a:r>
              <a:rPr sz="1150" b="0" i="0">
                <a:solidFill>
                  <a:srgbClr val="111B30"/>
                </a:solidFill>
                <a:latin typeface="Calibri"/>
              </a:rPr>
              <a:t>the attacker, captured or relayed</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Disable LLMNR via Group Policy (Computer Configuration &gt; Administrative Templates &gt; Network &gt; DNS Client &gt; Turn Off Multicast Name Resolution = Enabled)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NetBIOS Name Service Poisoning</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NetBIOS Name Service</a:t>
            </a:r>
          </a:p>
          <a:p>
            <a:pPr algn="ctr"/>
            <a:r>
              <a:rPr sz="1150" b="0" i="0">
                <a:solidFill>
                  <a:srgbClr val="111B30"/>
                </a:solidFill>
                <a:latin typeface="Calibri"/>
              </a:rPr>
              <a:t>(NBT-NS) enabled as a</a:t>
            </a:r>
          </a:p>
          <a:p>
            <a:pPr algn="ctr"/>
            <a:r>
              <a:rPr sz="1150" b="0" i="0">
                <a:solidFill>
                  <a:srgbClr val="111B30"/>
                </a:solidFill>
                <a:latin typeface="Calibri"/>
              </a:rPr>
              <a:t>second broadcast-resolution fallback</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answers the</a:t>
            </a:r>
          </a:p>
          <a:p>
            <a:pPr algn="ctr"/>
            <a:r>
              <a:rPr sz="1150" b="1" i="0">
                <a:solidFill>
                  <a:srgbClr val="111B30"/>
                </a:solidFill>
                <a:latin typeface="Calibri"/>
              </a:rPr>
              <a:t>NBT-NS broadcast the same</a:t>
            </a:r>
          </a:p>
          <a:p>
            <a:pPr algn="ctr"/>
            <a:r>
              <a:rPr sz="1150" b="1" i="0">
                <a:solidFill>
                  <a:srgbClr val="111B30"/>
                </a:solidFill>
                <a:latin typeface="Calibri"/>
              </a:rPr>
              <a:t>way as with LLMNR, once LLMNR is disabled</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Victim's NTLM authentication</a:t>
            </a:r>
          </a:p>
          <a:p>
            <a:pPr algn="ctr"/>
            <a:r>
              <a:rPr sz="1150" b="0" i="0">
                <a:solidFill>
                  <a:srgbClr val="111B30"/>
                </a:solidFill>
                <a:latin typeface="Calibri"/>
              </a:rPr>
              <a:t>is captured or relayed</a:t>
            </a:r>
          </a:p>
          <a:p>
            <a:pPr algn="ctr"/>
            <a:r>
              <a:rPr sz="1150" b="0" i="0">
                <a:solidFill>
                  <a:srgbClr val="111B30"/>
                </a:solidFill>
                <a:latin typeface="Calibri"/>
              </a:rPr>
              <a:t>to the attacker</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Disable NetBIOS over TCP/IP per network adapter (WINS tab &gt; Disable NetBIOS over TCP/IP), or block it via DHCP option 001 - must be paired with the LLMNR fix, not a substitute for 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Advanced Audit Policy vs. Legacy Audit Policy</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Legacy audit policy (9 broad categories under Local Security Policy) - coarse-grained, generates either too much noise or misses specific events entirely</a:t>
            </a:r>
          </a:p>
          <a:p>
            <a:pPr>
              <a:lnSpc>
                <a:spcPct val="125000"/>
              </a:lnSpc>
              <a:spcAft>
                <a:spcPts val="1200"/>
              </a:spcAft>
            </a:pPr>
            <a:r>
              <a:rPr sz="1600" b="0" i="0">
                <a:solidFill>
                  <a:srgbClr val="111B30"/>
                </a:solidFill>
                <a:latin typeface="Calibri"/>
              </a:rPr>
              <a:t>•  Advanced Audit Policy Configuration (10 categories, 60+ subcategories) - lets you audit precisely, e.g. "Audit Logon" without also auditing every unrelated account-management event</a:t>
            </a:r>
          </a:p>
          <a:p>
            <a:pPr>
              <a:lnSpc>
                <a:spcPct val="125000"/>
              </a:lnSpc>
              <a:spcAft>
                <a:spcPts val="1200"/>
              </a:spcAft>
            </a:pPr>
            <a:r>
              <a:rPr sz="1600" b="0" i="0">
                <a:solidFill>
                  <a:srgbClr val="111B30"/>
                </a:solidFill>
                <a:latin typeface="Calibri"/>
              </a:rPr>
              <a:t>•  Best practice: configure Advanced Audit Policy only, and set the legacy policy to not override it (via the "Audit: Force audit policy subcategory settings" GPO setting)</a:t>
            </a:r>
          </a:p>
          <a:p>
            <a:pPr>
              <a:lnSpc>
                <a:spcPct val="125000"/>
              </a:lnSpc>
              <a:spcAft>
                <a:spcPts val="1200"/>
              </a:spcAft>
            </a:pPr>
            <a:r>
              <a:rPr sz="1600" b="0" i="0">
                <a:solidFill>
                  <a:srgbClr val="111B30"/>
                </a:solidFill>
                <a:latin typeface="Calibri"/>
              </a:rPr>
              <a:t>•  Command-line/PowerShell auditing depends on this: Process Creation auditing (subcategory) plus "Include command line in process creation events" is what actually logs what a script or attacker typed, not just that PowerShell launched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PowerShell Visibility Gaps</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Risk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Script Block Logging</a:t>
            </a:r>
          </a:p>
          <a:p>
            <a:pPr algn="ctr"/>
            <a:r>
              <a:rPr sz="1150" b="0" i="0">
                <a:solidFill>
                  <a:srgbClr val="111B30"/>
                </a:solidFill>
                <a:latin typeface="Calibri"/>
              </a:rPr>
              <a:t>and command-line process</a:t>
            </a:r>
          </a:p>
          <a:p>
            <a:pPr algn="ctr"/>
            <a:r>
              <a:rPr sz="1150" b="0" i="0">
                <a:solidFill>
                  <a:srgbClr val="111B30"/>
                </a:solidFill>
                <a:latin typeface="Calibri"/>
              </a:rPr>
              <a:t>auditing both left disabled (defaults)</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runs obfuscated</a:t>
            </a:r>
          </a:p>
          <a:p>
            <a:pPr algn="ctr"/>
            <a:r>
              <a:rPr sz="1150" b="1" i="0">
                <a:solidFill>
                  <a:srgbClr val="111B30"/>
                </a:solidFill>
                <a:latin typeface="Calibri"/>
              </a:rPr>
              <a:t>or "living off the land"</a:t>
            </a:r>
          </a:p>
          <a:p>
            <a:pPr algn="ctr"/>
            <a:r>
              <a:rPr sz="1150" b="1" i="0">
                <a:solidFill>
                  <a:srgbClr val="111B30"/>
                </a:solidFill>
                <a:latin typeface="Calibri"/>
              </a:rPr>
              <a:t>PowerShell - no dedicated malware binary needed</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Malicious activity executes</a:t>
            </a:r>
          </a:p>
          <a:p>
            <a:pPr algn="ctr"/>
            <a:r>
              <a:rPr sz="1150" b="0" i="0">
                <a:solidFill>
                  <a:srgbClr val="111B30"/>
                </a:solidFill>
                <a:latin typeface="Calibri"/>
              </a:rPr>
              <a:t>with no readable record of</a:t>
            </a:r>
          </a:p>
          <a:p>
            <a:pPr algn="ctr"/>
            <a:r>
              <a:rPr sz="1150" b="0" i="0">
                <a:solidFill>
                  <a:srgbClr val="111B30"/>
                </a:solidFill>
                <a:latin typeface="Calibri"/>
              </a:rPr>
              <a:t>what command actually ran</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Enable PowerShell Script Block Logging (captures the fully deobfuscated script text) and Process Creation command-line auditing together - neither alone gives full visibility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Centralized Logging: Windows Event Forwarding (WEF)</a:t>
            </a:r>
          </a:p>
        </p:txBody>
      </p:sp>
      <p:sp>
        <p:nvSpPr>
          <p:cNvPr id="6" name="Rounded Rectangle 5"/>
          <p:cNvSpPr/>
          <p:nvPr/>
        </p:nvSpPr>
        <p:spPr>
          <a:xfrm>
            <a:off x="640080" y="1463040"/>
            <a:ext cx="2103120" cy="82296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Workstation A</a:t>
            </a:r>
          </a:p>
        </p:txBody>
      </p:sp>
      <p:sp>
        <p:nvSpPr>
          <p:cNvPr id="7" name="Rounded Rectangle 6"/>
          <p:cNvSpPr/>
          <p:nvPr/>
        </p:nvSpPr>
        <p:spPr>
          <a:xfrm>
            <a:off x="3108960" y="1463040"/>
            <a:ext cx="2103120" cy="82296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Workstation B</a:t>
            </a:r>
          </a:p>
        </p:txBody>
      </p:sp>
      <p:sp>
        <p:nvSpPr>
          <p:cNvPr id="8" name="Rounded Rectangle 7"/>
          <p:cNvSpPr/>
          <p:nvPr/>
        </p:nvSpPr>
        <p:spPr>
          <a:xfrm>
            <a:off x="5577840" y="1463040"/>
            <a:ext cx="2103120" cy="82296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Server C</a:t>
            </a:r>
          </a:p>
        </p:txBody>
      </p:sp>
      <p:sp>
        <p:nvSpPr>
          <p:cNvPr id="9" name="Rounded Rectangle 8"/>
          <p:cNvSpPr/>
          <p:nvPr/>
        </p:nvSpPr>
        <p:spPr>
          <a:xfrm>
            <a:off x="4389120" y="3108960"/>
            <a:ext cx="3383280" cy="1005840"/>
          </a:xfrm>
          <a:prstGeom prst="roundRect">
            <a:avLst/>
          </a:prstGeom>
          <a:solidFill>
            <a:srgbClr val="FFFFFF"/>
          </a:solidFill>
          <a:ln w="31750">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WEF Collector</a:t>
            </a:r>
          </a:p>
          <a:p>
            <a:pPr algn="ctr"/>
            <a:r>
              <a:rPr sz="1150" b="1" i="0">
                <a:solidFill>
                  <a:srgbClr val="111B30"/>
                </a:solidFill>
                <a:latin typeface="Calibri"/>
              </a:rPr>
              <a:t>(Windows Event Collector service)</a:t>
            </a:r>
          </a:p>
        </p:txBody>
      </p:sp>
      <p:sp>
        <p:nvSpPr>
          <p:cNvPr id="10" name="Rounded Rectangle 9"/>
          <p:cNvSpPr/>
          <p:nvPr/>
        </p:nvSpPr>
        <p:spPr>
          <a:xfrm>
            <a:off x="4480560" y="4937760"/>
            <a:ext cx="3200400" cy="91440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SIEM / Centralized</a:t>
            </a:r>
          </a:p>
          <a:p>
            <a:pPr algn="ctr"/>
            <a:r>
              <a:rPr sz="1150" b="1" i="0">
                <a:solidFill>
                  <a:srgbClr val="111B30"/>
                </a:solidFill>
                <a:latin typeface="Calibri"/>
              </a:rPr>
              <a:t>Log Analysis</a:t>
            </a:r>
          </a:p>
        </p:txBody>
      </p:sp>
      <p:cxnSp>
        <p:nvCxnSpPr>
          <p:cNvPr id="11" name="Connector 10"/>
          <p:cNvCxnSpPr/>
          <p:nvPr/>
        </p:nvCxnSpPr>
        <p:spPr>
          <a:xfrm>
            <a:off x="1691639" y="2286000"/>
            <a:ext cx="4389121" cy="82296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160520" y="2286000"/>
            <a:ext cx="1920240" cy="82296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6080760" y="2286000"/>
            <a:ext cx="548640" cy="822960"/>
          </a:xfrm>
          <a:prstGeom prst="line">
            <a:avLst/>
          </a:prstGeom>
          <a:ln w="15875">
            <a:solidFill>
              <a:srgbClr val="6B74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080760" y="4114800"/>
            <a:ext cx="0" cy="822960"/>
          </a:xfrm>
          <a:prstGeom prst="line">
            <a:avLst/>
          </a:prstGeom>
          <a:ln w="25400">
            <a:solidFill>
              <a:srgbClr val="3D5A8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0080" y="6035040"/>
            <a:ext cx="10881360" cy="365760"/>
          </a:xfrm>
          <a:prstGeom prst="rect">
            <a:avLst/>
          </a:prstGeom>
          <a:noFill/>
        </p:spPr>
        <p:txBody>
          <a:bodyPr wrap="square">
            <a:spAutoFit/>
          </a:bodyPr>
          <a:lstStyle/>
          <a:p>
            <a:pPr algn="ctr"/>
            <a:r>
              <a:rPr sz="1100" b="0" i="1">
                <a:solidFill>
                  <a:srgbClr val="6B7480"/>
                </a:solidFill>
                <a:latin typeface="Calibri"/>
              </a:rPr>
              <a:t>Logs survive even if the source host is later wiped or compromised further - the copy lives centrally.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Compensating Controls: When You Can't Disable Something Outright</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Legacy protocols and settings are sometimes kept enabled for a real reason - a vendor appliance still requiring SMBv1, a line-of-business tool that breaks under NTLMv2-only</a:t>
            </a:r>
          </a:p>
          <a:p>
            <a:pPr>
              <a:lnSpc>
                <a:spcPct val="125000"/>
              </a:lnSpc>
              <a:spcAft>
                <a:spcPts val="1200"/>
              </a:spcAft>
            </a:pPr>
            <a:r>
              <a:rPr sz="1600" b="0" i="0">
                <a:solidFill>
                  <a:srgbClr val="111B30"/>
                </a:solidFill>
                <a:latin typeface="Calibri"/>
              </a:rPr>
              <a:t>•  A compensating control reduces risk around something you can't yet remove, rather than removing it</a:t>
            </a:r>
          </a:p>
          <a:p>
            <a:pPr>
              <a:lnSpc>
                <a:spcPct val="125000"/>
              </a:lnSpc>
              <a:spcAft>
                <a:spcPts val="1200"/>
              </a:spcAft>
            </a:pPr>
            <a:r>
              <a:rPr sz="1600" b="0" i="0">
                <a:solidFill>
                  <a:srgbClr val="111B30"/>
                </a:solidFill>
                <a:latin typeface="Calibri"/>
              </a:rPr>
              <a:t>•  Example: if SMBv1 must stay on for one legacy device, isolate that device onto its own VLAN/firewall segment so SMBv1 traffic can't reach or be reached by the rest of the network</a:t>
            </a:r>
          </a:p>
          <a:p>
            <a:pPr>
              <a:lnSpc>
                <a:spcPct val="125000"/>
              </a:lnSpc>
              <a:spcAft>
                <a:spcPts val="1200"/>
              </a:spcAft>
            </a:pPr>
            <a:r>
              <a:rPr sz="1600" b="0" i="0">
                <a:solidFill>
                  <a:srgbClr val="111B30"/>
                </a:solidFill>
                <a:latin typeface="Calibri"/>
              </a:rPr>
              <a:t>•  Example: if NTLM can't be fully restricted domain-wide yet, enable NTLM auditing ("Audit NTLM Authentication") first to find what's actually still using it before changing the enforcement setting</a:t>
            </a:r>
          </a:p>
          <a:p>
            <a:pPr>
              <a:lnSpc>
                <a:spcPct val="125000"/>
              </a:lnSpc>
              <a:spcAft>
                <a:spcPts val="1200"/>
              </a:spcAft>
            </a:pPr>
            <a:r>
              <a:rPr sz="1600" b="0" i="0">
                <a:solidFill>
                  <a:srgbClr val="111B30"/>
                </a:solidFill>
                <a:latin typeface="Calibri"/>
              </a:rPr>
              <a:t>•  Compensating controls are a documented, time-bound exception - not a permanent substitute for actually fixing the underlying issue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77440"/>
            <a:ext cx="1554480" cy="155448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i="0">
                <a:solidFill>
                  <a:srgbClr val="1B2A4A"/>
                </a:solidFill>
                <a:latin typeface="Cambria"/>
              </a:rPr>
              <a:t>04</a:t>
            </a:r>
          </a:p>
        </p:txBody>
      </p:sp>
      <p:sp>
        <p:nvSpPr>
          <p:cNvPr id="4" name="TextBox 3"/>
          <p:cNvSpPr txBox="1"/>
          <p:nvPr/>
        </p:nvSpPr>
        <p:spPr>
          <a:xfrm>
            <a:off x="2651760" y="2514600"/>
            <a:ext cx="8869680" cy="1371600"/>
          </a:xfrm>
          <a:prstGeom prst="rect">
            <a:avLst/>
          </a:prstGeom>
          <a:noFill/>
        </p:spPr>
        <p:txBody>
          <a:bodyPr wrap="square" anchor="ctr">
            <a:spAutoFit/>
          </a:bodyPr>
          <a:lstStyle/>
          <a:p>
            <a:r>
              <a:rPr sz="3000" b="1" i="0">
                <a:solidFill>
                  <a:srgbClr val="FFFFFF"/>
                </a:solidFill>
                <a:latin typeface="Cambria"/>
              </a:rPr>
              <a:t>DNS Security &amp; DNSSEC</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DNS Cache Poisoning</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Resolver caches</a:t>
            </a:r>
          </a:p>
          <a:p>
            <a:pPr algn="ctr"/>
            <a:r>
              <a:rPr sz="1150" b="0" i="0">
                <a:solidFill>
                  <a:srgbClr val="111B30"/>
                </a:solidFill>
                <a:latin typeface="Calibri"/>
              </a:rPr>
              <a:t>answers without any</a:t>
            </a:r>
          </a:p>
          <a:p>
            <a:pPr algn="ctr"/>
            <a:r>
              <a:rPr sz="1150" b="0" i="0">
                <a:solidFill>
                  <a:srgbClr val="111B30"/>
                </a:solidFill>
                <a:latin typeface="Calibri"/>
              </a:rPr>
              <a:t>way to verify authenticity</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races or</a:t>
            </a:r>
          </a:p>
          <a:p>
            <a:pPr algn="ctr"/>
            <a:r>
              <a:rPr sz="1150" b="1" i="0">
                <a:solidFill>
                  <a:srgbClr val="111B30"/>
                </a:solidFill>
                <a:latin typeface="Calibri"/>
              </a:rPr>
              <a:t>spoofs a forged response</a:t>
            </a:r>
          </a:p>
          <a:p>
            <a:pPr algn="ctr"/>
            <a:r>
              <a:rPr sz="1150" b="1" i="0">
                <a:solidFill>
                  <a:srgbClr val="111B30"/>
                </a:solidFill>
                <a:latin typeface="Calibri"/>
              </a:rPr>
              <a:t>before the legitimate authoritative answer arrives</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Resolver caches the</a:t>
            </a:r>
          </a:p>
          <a:p>
            <a:pPr algn="ctr"/>
            <a:r>
              <a:rPr sz="1150" b="0" i="0">
                <a:solidFill>
                  <a:srgbClr val="111B30"/>
                </a:solidFill>
                <a:latin typeface="Calibri"/>
              </a:rPr>
              <a:t>forged record - every client</a:t>
            </a:r>
          </a:p>
          <a:p>
            <a:pPr algn="ctr"/>
            <a:r>
              <a:rPr sz="1150" b="0" i="0">
                <a:solidFill>
                  <a:srgbClr val="111B30"/>
                </a:solidFill>
                <a:latin typeface="Calibri"/>
              </a:rPr>
              <a:t>using that resolver is silently redirected</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DNSSEC cryptographically signs records so a resolver can reject any answer that doesn't validate against the zone's published keys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DNS Amplification</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Open DNS resolvers</a:t>
            </a:r>
          </a:p>
          <a:p>
            <a:pPr algn="ctr"/>
            <a:r>
              <a:rPr sz="1150" b="0" i="0">
                <a:solidFill>
                  <a:srgbClr val="111B30"/>
                </a:solidFill>
                <a:latin typeface="Calibri"/>
              </a:rPr>
              <a:t>respond to queries from</a:t>
            </a:r>
          </a:p>
          <a:p>
            <a:pPr algn="ctr"/>
            <a:r>
              <a:rPr sz="1150" b="0" i="0">
                <a:solidFill>
                  <a:srgbClr val="111B30"/>
                </a:solidFill>
                <a:latin typeface="Calibri"/>
              </a:rPr>
              <a:t>any source IP, no verification</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sends small</a:t>
            </a:r>
          </a:p>
          <a:p>
            <a:pPr algn="ctr"/>
            <a:r>
              <a:rPr sz="1150" b="1" i="0">
                <a:solidFill>
                  <a:srgbClr val="111B30"/>
                </a:solidFill>
                <a:latin typeface="Calibri"/>
              </a:rPr>
              <a:t>spoofed-source queries</a:t>
            </a:r>
          </a:p>
          <a:p>
            <a:pPr algn="ctr"/>
            <a:r>
              <a:rPr sz="1150" b="1" i="0">
                <a:solidFill>
                  <a:srgbClr val="111B30"/>
                </a:solidFill>
                <a:latin typeface="Calibri"/>
              </a:rPr>
              <a:t>for large record types (e.g. ANY) to open resolvers</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Large responses flood</a:t>
            </a:r>
          </a:p>
          <a:p>
            <a:pPr algn="ctr"/>
            <a:r>
              <a:rPr sz="1150" b="0" i="0">
                <a:solidFill>
                  <a:srgbClr val="111B30"/>
                </a:solidFill>
                <a:latin typeface="Calibri"/>
              </a:rPr>
              <a:t>the spoofed victim IP -</a:t>
            </a:r>
          </a:p>
          <a:p>
            <a:pPr algn="ctr"/>
            <a:r>
              <a:rPr sz="1150" b="0" i="0">
                <a:solidFill>
                  <a:srgbClr val="111B30"/>
                </a:solidFill>
                <a:latin typeface="Calibri"/>
              </a:rPr>
              <a:t>a distributed denial-of-service at scale</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Restrict resolvers to answer only trusted/internal clients (disable open recursion), and apply response-rate limiting (RRL) so any one source can't trigger a flood of large replies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DNS Hijacking</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Registrar account or</a:t>
            </a:r>
          </a:p>
          <a:p>
            <a:pPr algn="ctr"/>
            <a:r>
              <a:rPr sz="1150" b="0" i="0">
                <a:solidFill>
                  <a:srgbClr val="111B30"/>
                </a:solidFill>
                <a:latin typeface="Calibri"/>
              </a:rPr>
              <a:t>DNS provider credentials</a:t>
            </a:r>
          </a:p>
          <a:p>
            <a:pPr algn="ctr"/>
            <a:r>
              <a:rPr sz="1150" b="0" i="0">
                <a:solidFill>
                  <a:srgbClr val="111B30"/>
                </a:solidFill>
                <a:latin typeface="Calibri"/>
              </a:rPr>
              <a:t>compromised, or a stale/dangling record exists</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modifies</a:t>
            </a:r>
          </a:p>
          <a:p>
            <a:pPr algn="ctr"/>
            <a:r>
              <a:rPr sz="1150" b="1" i="0">
                <a:solidFill>
                  <a:srgbClr val="111B30"/>
                </a:solidFill>
                <a:latin typeface="Calibri"/>
              </a:rPr>
              <a:t>authoritative DNS records</a:t>
            </a:r>
          </a:p>
          <a:p>
            <a:pPr algn="ctr"/>
            <a:r>
              <a:rPr sz="1150" b="1" i="0">
                <a:solidFill>
                  <a:srgbClr val="111B30"/>
                </a:solidFill>
                <a:latin typeface="Calibri"/>
              </a:rPr>
              <a:t>directly (NS delegation, A/CNAME records) at the source</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Traffic for the domain</a:t>
            </a:r>
          </a:p>
          <a:p>
            <a:pPr algn="ctr"/>
            <a:r>
              <a:rPr sz="1150" b="0" i="0">
                <a:solidFill>
                  <a:srgbClr val="111B30"/>
                </a:solidFill>
                <a:latin typeface="Calibri"/>
              </a:rPr>
              <a:t>is redirected wholesale -</a:t>
            </a:r>
          </a:p>
          <a:p>
            <a:pPr algn="ctr"/>
            <a:r>
              <a:rPr sz="1150" b="0" i="0">
                <a:solidFill>
                  <a:srgbClr val="111B30"/>
                </a:solidFill>
                <a:latin typeface="Calibri"/>
              </a:rPr>
              <a:t>even DNSSEC-naive validation can be fooled if the attacker controls the real records</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Enable registrar-level protections (registry lock, MFA on the registrar account) and monitor authoritative records for unexpected changes - DNSSEC protects the resolution path, not the registrar account itself</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Response Policy Zones (RPZ): Blocking at the Resolver</a:t>
            </a:r>
          </a:p>
        </p:txBody>
      </p:sp>
      <p:sp>
        <p:nvSpPr>
          <p:cNvPr id="6" name="Rounded Rectangle 5"/>
          <p:cNvSpPr/>
          <p:nvPr/>
        </p:nvSpPr>
        <p:spPr>
          <a:xfrm>
            <a:off x="548640" y="3200400"/>
            <a:ext cx="237744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Client Sends</a:t>
            </a:r>
          </a:p>
          <a:p>
            <a:pPr algn="ctr"/>
            <a:r>
              <a:rPr sz="1100" b="0" i="0">
                <a:solidFill>
                  <a:srgbClr val="111B30"/>
                </a:solidFill>
                <a:latin typeface="Calibri"/>
              </a:rPr>
              <a:t>DNS Query</a:t>
            </a:r>
          </a:p>
        </p:txBody>
      </p:sp>
      <p:sp>
        <p:nvSpPr>
          <p:cNvPr id="7" name="Diamond 6"/>
          <p:cNvSpPr/>
          <p:nvPr/>
        </p:nvSpPr>
        <p:spPr>
          <a:xfrm>
            <a:off x="3383280" y="3200400"/>
            <a:ext cx="2926080" cy="109728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11B30"/>
                </a:solidFill>
                <a:latin typeface="Calibri"/>
              </a:rPr>
              <a:t>Resolver Checks</a:t>
            </a:r>
          </a:p>
          <a:p>
            <a:pPr algn="ctr"/>
            <a:r>
              <a:rPr sz="1050" b="1" i="0">
                <a:solidFill>
                  <a:srgbClr val="111B30"/>
                </a:solidFill>
                <a:latin typeface="Calibri"/>
              </a:rPr>
              <a:t>RPZ Policy Zone</a:t>
            </a:r>
          </a:p>
          <a:p>
            <a:pPr algn="ctr"/>
            <a:r>
              <a:rPr sz="1050" b="1" i="0">
                <a:solidFill>
                  <a:srgbClr val="111B30"/>
                </a:solidFill>
                <a:latin typeface="Calibri"/>
              </a:rPr>
              <a:t>(known-bad domain list)</a:t>
            </a:r>
          </a:p>
        </p:txBody>
      </p:sp>
      <p:sp>
        <p:nvSpPr>
          <p:cNvPr id="8" name="Rounded Rectangle 7"/>
          <p:cNvSpPr/>
          <p:nvPr/>
        </p:nvSpPr>
        <p:spPr>
          <a:xfrm>
            <a:off x="548640" y="5029200"/>
            <a:ext cx="2743200" cy="91440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B02A2A"/>
                </a:solidFill>
                <a:latin typeface="Calibri"/>
              </a:rPr>
              <a:t>Match -&gt; NXDOMAIN</a:t>
            </a:r>
          </a:p>
          <a:p>
            <a:pPr algn="ctr"/>
            <a:r>
              <a:rPr sz="1050" b="1" i="0">
                <a:solidFill>
                  <a:srgbClr val="B02A2A"/>
                </a:solidFill>
                <a:latin typeface="Calibri"/>
              </a:rPr>
              <a:t>or Sinkhole Response</a:t>
            </a:r>
          </a:p>
        </p:txBody>
      </p:sp>
      <p:sp>
        <p:nvSpPr>
          <p:cNvPr id="9" name="Rounded Rectangle 8"/>
          <p:cNvSpPr/>
          <p:nvPr/>
        </p:nvSpPr>
        <p:spPr>
          <a:xfrm>
            <a:off x="6858000" y="3200400"/>
            <a:ext cx="2743200" cy="100584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2E7D32"/>
                </a:solidFill>
                <a:latin typeface="Calibri"/>
              </a:rPr>
              <a:t>No Match -&gt;</a:t>
            </a:r>
          </a:p>
          <a:p>
            <a:pPr algn="ctr"/>
            <a:r>
              <a:rPr sz="1050" b="1" i="0">
                <a:solidFill>
                  <a:srgbClr val="2E7D32"/>
                </a:solidFill>
                <a:latin typeface="Calibri"/>
              </a:rPr>
              <a:t>Normal Resolution</a:t>
            </a:r>
          </a:p>
          <a:p>
            <a:pPr algn="ctr"/>
            <a:r>
              <a:rPr sz="1050" b="1" i="0">
                <a:solidFill>
                  <a:srgbClr val="2E7D32"/>
                </a:solidFill>
                <a:latin typeface="Calibri"/>
              </a:rPr>
              <a:t>Proceeds</a:t>
            </a:r>
          </a:p>
        </p:txBody>
      </p:sp>
      <p:cxnSp>
        <p:nvCxnSpPr>
          <p:cNvPr id="10" name="Connector 9"/>
          <p:cNvCxnSpPr/>
          <p:nvPr/>
        </p:nvCxnSpPr>
        <p:spPr>
          <a:xfrm>
            <a:off x="2926080" y="3703320"/>
            <a:ext cx="457200" cy="45719"/>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1920240" y="4297680"/>
            <a:ext cx="2926080" cy="73152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377440" y="4462272"/>
            <a:ext cx="2011680" cy="365760"/>
          </a:xfrm>
          <a:prstGeom prst="rect">
            <a:avLst/>
          </a:prstGeom>
          <a:noFill/>
        </p:spPr>
        <p:txBody>
          <a:bodyPr wrap="square">
            <a:spAutoFit/>
          </a:bodyPr>
          <a:lstStyle/>
          <a:p>
            <a:pPr algn="ctr"/>
            <a:r>
              <a:rPr sz="950" b="0" i="1">
                <a:solidFill>
                  <a:srgbClr val="B02A2A"/>
                </a:solidFill>
                <a:latin typeface="Calibri"/>
              </a:rPr>
              <a:t>Match</a:t>
            </a:r>
          </a:p>
        </p:txBody>
      </p:sp>
      <p:cxnSp>
        <p:nvCxnSpPr>
          <p:cNvPr id="13" name="Connector 12"/>
          <p:cNvCxnSpPr/>
          <p:nvPr/>
        </p:nvCxnSpPr>
        <p:spPr>
          <a:xfrm flipV="1">
            <a:off x="6309360" y="3703320"/>
            <a:ext cx="548640" cy="45719"/>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577840" y="3525011"/>
            <a:ext cx="2011680" cy="365760"/>
          </a:xfrm>
          <a:prstGeom prst="rect">
            <a:avLst/>
          </a:prstGeom>
          <a:noFill/>
        </p:spPr>
        <p:txBody>
          <a:bodyPr wrap="square">
            <a:spAutoFit/>
          </a:bodyPr>
          <a:lstStyle/>
          <a:p>
            <a:pPr algn="ctr"/>
            <a:r>
              <a:rPr sz="950" b="0" i="1">
                <a:solidFill>
                  <a:srgbClr val="2E7D32"/>
                </a:solidFill>
                <a:latin typeface="Calibri"/>
              </a:rPr>
              <a:t>No Match</a:t>
            </a:r>
          </a:p>
        </p:txBody>
      </p:sp>
      <p:sp>
        <p:nvSpPr>
          <p:cNvPr id="15" name="TextBox 14"/>
          <p:cNvSpPr txBox="1"/>
          <p:nvPr/>
        </p:nvSpPr>
        <p:spPr>
          <a:xfrm>
            <a:off x="640080" y="5577840"/>
            <a:ext cx="10881360" cy="365760"/>
          </a:xfrm>
          <a:prstGeom prst="rect">
            <a:avLst/>
          </a:prstGeom>
          <a:noFill/>
        </p:spPr>
        <p:txBody>
          <a:bodyPr wrap="square">
            <a:spAutoFit/>
          </a:bodyPr>
          <a:lstStyle/>
          <a:p>
            <a:pPr algn="ctr"/>
            <a:r>
              <a:rPr sz="1100" b="0" i="1">
                <a:solidFill>
                  <a:srgbClr val="6B7480"/>
                </a:solidFill>
                <a:latin typeface="Calibri"/>
              </a:rPr>
              <a:t>RPZ acts as a resolver-side firewall - it can block or redirect known-malicious names before resolution completes.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DNSSEC: Adding Authenticity to DNS</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DNS Security Extensions - adds cryptographic signatures to DNS records so a resolver can verify a response actually came from the zone's legitimate owner and wasn't altered in transit</a:t>
            </a:r>
          </a:p>
          <a:p>
            <a:pPr>
              <a:lnSpc>
                <a:spcPct val="125000"/>
              </a:lnSpc>
              <a:spcAft>
                <a:spcPts val="1200"/>
              </a:spcAft>
            </a:pPr>
            <a:r>
              <a:rPr sz="1600" b="0" i="0">
                <a:solidFill>
                  <a:srgbClr val="111B30"/>
                </a:solidFill>
                <a:latin typeface="Calibri"/>
              </a:rPr>
              <a:t>•  Does not encrypt DNS traffic - it's about authenticity and integrity, not confidentiality</a:t>
            </a:r>
          </a:p>
          <a:p>
            <a:pPr>
              <a:lnSpc>
                <a:spcPct val="125000"/>
              </a:lnSpc>
              <a:spcAft>
                <a:spcPts val="1200"/>
              </a:spcAft>
            </a:pPr>
            <a:r>
              <a:rPr sz="1600" b="0" i="0">
                <a:solidFill>
                  <a:srgbClr val="111B30"/>
                </a:solidFill>
                <a:latin typeface="Calibri"/>
              </a:rPr>
              <a:t>•  Every signed zone publishes DNSKEY records (the public keys) alongside RRSIG records (the signatures over each record set)</a:t>
            </a:r>
          </a:p>
          <a:p>
            <a:pPr>
              <a:lnSpc>
                <a:spcPct val="125000"/>
              </a:lnSpc>
              <a:spcAft>
                <a:spcPts val="1200"/>
              </a:spcAft>
            </a:pPr>
            <a:r>
              <a:rPr sz="1600" b="0" i="0">
                <a:solidFill>
                  <a:srgbClr val="111B30"/>
                </a:solidFill>
                <a:latin typeface="Calibri"/>
              </a:rPr>
              <a:t>•  Validation happens as a chain: a resolver only trusts a zone's keys if that trust can be traced back to a globally trusted root</a:t>
            </a:r>
          </a:p>
          <a:p>
            <a:pPr>
              <a:lnSpc>
                <a:spcPct val="125000"/>
              </a:lnSpc>
              <a:spcAft>
                <a:spcPts val="1200"/>
              </a:spcAft>
            </a:pPr>
            <a:r>
              <a:rPr sz="1600" b="0" i="0">
                <a:solidFill>
                  <a:srgbClr val="111B30"/>
                </a:solidFill>
                <a:latin typeface="Calibri"/>
              </a:rPr>
              <a:t>•  Deployed on a real, registered subdomain in today's hands-on work - reachable only over VPN, since public tools like dnsviz.net can't route to a private lab network</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DNSSEC Chain of Trust</a:t>
            </a:r>
          </a:p>
        </p:txBody>
      </p:sp>
      <p:sp>
        <p:nvSpPr>
          <p:cNvPr id="6" name="Rounded Rectangle 5"/>
          <p:cNvSpPr/>
          <p:nvPr/>
        </p:nvSpPr>
        <p:spPr>
          <a:xfrm>
            <a:off x="4937760" y="1280160"/>
            <a:ext cx="2286000" cy="731520"/>
          </a:xfrm>
          <a:prstGeom prst="roundRect">
            <a:avLst/>
          </a:prstGeom>
          <a:solidFill>
            <a:srgbClr val="1B2A4A"/>
          </a:solidFill>
          <a:ln w="22225">
            <a:solidFill>
              <a:srgbClr val="1B2A4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Calibri"/>
              </a:rPr>
              <a:t>Root Zone (.)</a:t>
            </a:r>
          </a:p>
          <a:p>
            <a:pPr algn="ctr"/>
            <a:r>
              <a:rPr sz="1100" b="1" i="0">
                <a:solidFill>
                  <a:srgbClr val="FFFFFF"/>
                </a:solidFill>
                <a:latin typeface="Calibri"/>
              </a:rPr>
              <a:t>Trust Anchor</a:t>
            </a:r>
          </a:p>
        </p:txBody>
      </p:sp>
      <p:sp>
        <p:nvSpPr>
          <p:cNvPr id="7" name="Rounded Rectangle 6"/>
          <p:cNvSpPr/>
          <p:nvPr/>
        </p:nvSpPr>
        <p:spPr>
          <a:xfrm>
            <a:off x="4937760" y="2560320"/>
            <a:ext cx="2286000" cy="731520"/>
          </a:xfrm>
          <a:prstGeom prst="roundRect">
            <a:avLst/>
          </a:prstGeom>
          <a:solidFill>
            <a:srgbClr val="3D5A80"/>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FFFFFF"/>
                </a:solidFill>
                <a:latin typeface="Calibri"/>
              </a:rPr>
              <a:t>TLD (e.g. .net)</a:t>
            </a:r>
          </a:p>
        </p:txBody>
      </p:sp>
      <p:sp>
        <p:nvSpPr>
          <p:cNvPr id="8" name="Rounded Rectangle 7"/>
          <p:cNvSpPr/>
          <p:nvPr/>
        </p:nvSpPr>
        <p:spPr>
          <a:xfrm>
            <a:off x="4937760" y="3840480"/>
            <a:ext cx="2286000" cy="731520"/>
          </a:xfrm>
          <a:prstGeom prst="roundRect">
            <a:avLst/>
          </a:prstGeom>
          <a:solidFill>
            <a:srgbClr val="FFFFFF"/>
          </a:solidFill>
          <a:ln w="31750">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11B30"/>
                </a:solidFill>
                <a:latin typeface="Calibri"/>
              </a:rPr>
              <a:t>Delegated Zone</a:t>
            </a:r>
          </a:p>
          <a:p>
            <a:pPr algn="ctr"/>
            <a:r>
              <a:rPr sz="1100" b="1" i="0">
                <a:solidFill>
                  <a:srgbClr val="111B30"/>
                </a:solidFill>
                <a:latin typeface="Calibri"/>
              </a:rPr>
              <a:t>(your subdomain)</a:t>
            </a:r>
          </a:p>
        </p:txBody>
      </p:sp>
      <p:sp>
        <p:nvSpPr>
          <p:cNvPr id="9" name="Rounded Rectangle 8"/>
          <p:cNvSpPr/>
          <p:nvPr/>
        </p:nvSpPr>
        <p:spPr>
          <a:xfrm>
            <a:off x="4937760" y="5120640"/>
            <a:ext cx="2286000" cy="7315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Signed Records</a:t>
            </a:r>
          </a:p>
          <a:p>
            <a:pPr algn="ctr"/>
            <a:r>
              <a:rPr sz="1100" b="0" i="0">
                <a:solidFill>
                  <a:srgbClr val="111B30"/>
                </a:solidFill>
                <a:latin typeface="Calibri"/>
              </a:rPr>
              <a:t>(A, MX, TXT ...)</a:t>
            </a:r>
          </a:p>
        </p:txBody>
      </p:sp>
      <p:cxnSp>
        <p:nvCxnSpPr>
          <p:cNvPr id="10" name="Connector 9"/>
          <p:cNvCxnSpPr/>
          <p:nvPr/>
        </p:nvCxnSpPr>
        <p:spPr>
          <a:xfrm>
            <a:off x="6080760" y="2011680"/>
            <a:ext cx="0" cy="54864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074920" y="2084831"/>
            <a:ext cx="2011680" cy="365760"/>
          </a:xfrm>
          <a:prstGeom prst="rect">
            <a:avLst/>
          </a:prstGeom>
          <a:noFill/>
        </p:spPr>
        <p:txBody>
          <a:bodyPr wrap="square">
            <a:spAutoFit/>
          </a:bodyPr>
          <a:lstStyle/>
          <a:p>
            <a:pPr algn="ctr"/>
            <a:r>
              <a:rPr sz="900" b="0" i="1">
                <a:solidFill>
                  <a:srgbClr val="404040"/>
                </a:solidFill>
                <a:latin typeface="Calibri"/>
              </a:rPr>
              <a:t>DS record</a:t>
            </a:r>
          </a:p>
        </p:txBody>
      </p:sp>
      <p:cxnSp>
        <p:nvCxnSpPr>
          <p:cNvPr id="12" name="Connector 11"/>
          <p:cNvCxnSpPr/>
          <p:nvPr/>
        </p:nvCxnSpPr>
        <p:spPr>
          <a:xfrm>
            <a:off x="6080760" y="3291839"/>
            <a:ext cx="0" cy="548641"/>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74920" y="3364991"/>
            <a:ext cx="2011680" cy="365760"/>
          </a:xfrm>
          <a:prstGeom prst="rect">
            <a:avLst/>
          </a:prstGeom>
          <a:noFill/>
        </p:spPr>
        <p:txBody>
          <a:bodyPr wrap="square">
            <a:spAutoFit/>
          </a:bodyPr>
          <a:lstStyle/>
          <a:p>
            <a:pPr algn="ctr"/>
            <a:r>
              <a:rPr sz="900" b="0" i="1">
                <a:solidFill>
                  <a:srgbClr val="404040"/>
                </a:solidFill>
                <a:latin typeface="Calibri"/>
              </a:rPr>
              <a:t>DS record</a:t>
            </a:r>
          </a:p>
        </p:txBody>
      </p:sp>
      <p:cxnSp>
        <p:nvCxnSpPr>
          <p:cNvPr id="14" name="Connector 13"/>
          <p:cNvCxnSpPr/>
          <p:nvPr/>
        </p:nvCxnSpPr>
        <p:spPr>
          <a:xfrm>
            <a:off x="6080760" y="4572000"/>
            <a:ext cx="0" cy="54864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074920" y="4645152"/>
            <a:ext cx="2011680" cy="365760"/>
          </a:xfrm>
          <a:prstGeom prst="rect">
            <a:avLst/>
          </a:prstGeom>
          <a:noFill/>
        </p:spPr>
        <p:txBody>
          <a:bodyPr wrap="square">
            <a:spAutoFit/>
          </a:bodyPr>
          <a:lstStyle/>
          <a:p>
            <a:pPr algn="ctr"/>
            <a:r>
              <a:rPr sz="900" b="0" i="1">
                <a:solidFill>
                  <a:srgbClr val="404040"/>
                </a:solidFill>
                <a:latin typeface="Calibri"/>
              </a:rPr>
              <a:t>RRSIG</a:t>
            </a:r>
          </a:p>
        </p:txBody>
      </p:sp>
      <p:sp>
        <p:nvSpPr>
          <p:cNvPr id="16" name="Rounded Rectangle 15"/>
          <p:cNvSpPr/>
          <p:nvPr/>
        </p:nvSpPr>
        <p:spPr>
          <a:xfrm>
            <a:off x="7863840" y="3840480"/>
            <a:ext cx="3474720" cy="73152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1" i="0">
                <a:solidFill>
                  <a:srgbClr val="B02A2A"/>
                </a:solidFill>
                <a:latin typeface="Calibri"/>
              </a:rPr>
              <a:t>Break here (no DS,</a:t>
            </a:r>
          </a:p>
          <a:p>
            <a:pPr algn="ctr"/>
            <a:r>
              <a:rPr sz="950" b="1" i="0">
                <a:solidFill>
                  <a:srgbClr val="B02A2A"/>
                </a:solidFill>
                <a:latin typeface="Calibri"/>
              </a:rPr>
              <a:t>or key mismatch) =</a:t>
            </a:r>
          </a:p>
          <a:p>
            <a:pPr algn="ctr"/>
            <a:r>
              <a:rPr sz="950" b="1" i="0">
                <a:solidFill>
                  <a:srgbClr val="B02A2A"/>
                </a:solidFill>
                <a:latin typeface="Calibri"/>
              </a:rPr>
              <a:t>chain fails to validate</a:t>
            </a:r>
          </a:p>
        </p:txBody>
      </p:sp>
      <p:cxnSp>
        <p:nvCxnSpPr>
          <p:cNvPr id="17" name="Connector 16"/>
          <p:cNvCxnSpPr/>
          <p:nvPr/>
        </p:nvCxnSpPr>
        <p:spPr>
          <a:xfrm>
            <a:off x="7223760" y="4206240"/>
            <a:ext cx="640080" cy="0"/>
          </a:xfrm>
          <a:prstGeom prst="line">
            <a:avLst/>
          </a:prstGeom>
          <a:ln w="19050">
            <a:solidFill>
              <a:srgbClr val="B02A2A"/>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KSK/ZSK Signing Workflow</a:t>
            </a:r>
          </a:p>
        </p:txBody>
      </p:sp>
      <p:sp>
        <p:nvSpPr>
          <p:cNvPr id="6" name="Rounded Rectangle 5"/>
          <p:cNvSpPr/>
          <p:nvPr/>
        </p:nvSpPr>
        <p:spPr>
          <a:xfrm>
            <a:off x="548640" y="2194560"/>
            <a:ext cx="310896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0" i="0">
                <a:solidFill>
                  <a:srgbClr val="111B30"/>
                </a:solidFill>
                <a:latin typeface="Calibri"/>
              </a:rPr>
              <a:t>Generate ZSK</a:t>
            </a:r>
          </a:p>
          <a:p>
            <a:pPr algn="ctr"/>
            <a:r>
              <a:rPr sz="1050" b="0" i="0">
                <a:solidFill>
                  <a:srgbClr val="111B30"/>
                </a:solidFill>
                <a:latin typeface="Calibri"/>
              </a:rPr>
              <a:t>(Zone Signing Key)</a:t>
            </a:r>
          </a:p>
          <a:p>
            <a:pPr algn="ctr"/>
            <a:r>
              <a:rPr sz="1050" b="0" i="0">
                <a:solidFill>
                  <a:srgbClr val="111B30"/>
                </a:solidFill>
                <a:latin typeface="Calibri"/>
              </a:rPr>
              <a:t>RSASHA256, 1024-bit</a:t>
            </a:r>
          </a:p>
        </p:txBody>
      </p:sp>
      <p:sp>
        <p:nvSpPr>
          <p:cNvPr id="7" name="Rounded Rectangle 6"/>
          <p:cNvSpPr/>
          <p:nvPr/>
        </p:nvSpPr>
        <p:spPr>
          <a:xfrm>
            <a:off x="548640" y="3566160"/>
            <a:ext cx="310896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0" i="0">
                <a:solidFill>
                  <a:srgbClr val="111B30"/>
                </a:solidFill>
                <a:latin typeface="Calibri"/>
              </a:rPr>
              <a:t>Generate KSK</a:t>
            </a:r>
          </a:p>
          <a:p>
            <a:pPr algn="ctr"/>
            <a:r>
              <a:rPr sz="1050" b="0" i="0">
                <a:solidFill>
                  <a:srgbClr val="111B30"/>
                </a:solidFill>
                <a:latin typeface="Calibri"/>
              </a:rPr>
              <a:t>(Key Signing Key)</a:t>
            </a:r>
          </a:p>
          <a:p>
            <a:pPr algn="ctr"/>
            <a:r>
              <a:rPr sz="1050" b="0" i="0">
                <a:solidFill>
                  <a:srgbClr val="111B30"/>
                </a:solidFill>
                <a:latin typeface="Calibri"/>
              </a:rPr>
              <a:t>RSASHA256, 2048-bit</a:t>
            </a:r>
          </a:p>
        </p:txBody>
      </p:sp>
      <p:sp>
        <p:nvSpPr>
          <p:cNvPr id="8" name="Rounded Rectangle 7"/>
          <p:cNvSpPr/>
          <p:nvPr/>
        </p:nvSpPr>
        <p:spPr>
          <a:xfrm>
            <a:off x="4206240" y="2880360"/>
            <a:ext cx="2926080" cy="1005840"/>
          </a:xfrm>
          <a:prstGeom prst="roundRect">
            <a:avLst/>
          </a:prstGeom>
          <a:solidFill>
            <a:srgbClr val="FFFFFF"/>
          </a:solidFill>
          <a:ln w="31750">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1" i="0">
                <a:solidFill>
                  <a:srgbClr val="111B30"/>
                </a:solidFill>
                <a:latin typeface="Calibri"/>
              </a:rPr>
              <a:t>dnssec-signzone:</a:t>
            </a:r>
          </a:p>
          <a:p>
            <a:pPr algn="ctr"/>
            <a:r>
              <a:rPr sz="1000" b="1" i="0">
                <a:solidFill>
                  <a:srgbClr val="111B30"/>
                </a:solidFill>
                <a:latin typeface="Calibri"/>
              </a:rPr>
              <a:t>Sign all records with ZSK,</a:t>
            </a:r>
          </a:p>
          <a:p>
            <a:pPr algn="ctr"/>
            <a:r>
              <a:rPr sz="1000" b="1" i="0">
                <a:solidFill>
                  <a:srgbClr val="111B30"/>
                </a:solidFill>
                <a:latin typeface="Calibri"/>
              </a:rPr>
              <a:t>DNSKEY set with KSK</a:t>
            </a:r>
          </a:p>
        </p:txBody>
      </p:sp>
      <p:sp>
        <p:nvSpPr>
          <p:cNvPr id="9" name="Rounded Rectangle 8"/>
          <p:cNvSpPr/>
          <p:nvPr/>
        </p:nvSpPr>
        <p:spPr>
          <a:xfrm>
            <a:off x="7680960" y="2880360"/>
            <a:ext cx="2743200" cy="100584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0" i="0">
                <a:solidFill>
                  <a:srgbClr val="111B30"/>
                </a:solidFill>
                <a:latin typeface="Calibri"/>
              </a:rPr>
              <a:t>Publish DS record</a:t>
            </a:r>
          </a:p>
          <a:p>
            <a:pPr algn="ctr"/>
            <a:r>
              <a:rPr sz="1050" b="0" i="0">
                <a:solidFill>
                  <a:srgbClr val="111B30"/>
                </a:solidFill>
                <a:latin typeface="Calibri"/>
              </a:rPr>
              <a:t>at parent zone/registrar</a:t>
            </a:r>
          </a:p>
        </p:txBody>
      </p:sp>
      <p:sp>
        <p:nvSpPr>
          <p:cNvPr id="10" name="Rounded Rectangle 9"/>
          <p:cNvSpPr/>
          <p:nvPr/>
        </p:nvSpPr>
        <p:spPr>
          <a:xfrm>
            <a:off x="7680960" y="4572000"/>
            <a:ext cx="2743200" cy="91440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0" i="0">
                <a:solidFill>
                  <a:srgbClr val="111B30"/>
                </a:solidFill>
                <a:latin typeface="Calibri"/>
              </a:rPr>
              <a:t>dig +dnssec /</a:t>
            </a:r>
          </a:p>
          <a:p>
            <a:pPr algn="ctr"/>
            <a:r>
              <a:rPr sz="1000" b="0" i="0">
                <a:solidFill>
                  <a:srgbClr val="111B30"/>
                </a:solidFill>
                <a:latin typeface="Calibri"/>
              </a:rPr>
              <a:t>delv +vtrace: confirm</a:t>
            </a:r>
          </a:p>
          <a:p>
            <a:pPr algn="ctr"/>
            <a:r>
              <a:rPr sz="1000" b="0" i="0">
                <a:solidFill>
                  <a:srgbClr val="111B30"/>
                </a:solidFill>
                <a:latin typeface="Calibri"/>
              </a:rPr>
              <a:t>validation</a:t>
            </a:r>
          </a:p>
        </p:txBody>
      </p:sp>
      <p:cxnSp>
        <p:nvCxnSpPr>
          <p:cNvPr id="11" name="Connector 10"/>
          <p:cNvCxnSpPr/>
          <p:nvPr/>
        </p:nvCxnSpPr>
        <p:spPr>
          <a:xfrm>
            <a:off x="3657600" y="2697480"/>
            <a:ext cx="548640" cy="68580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657600" y="3383280"/>
            <a:ext cx="548640" cy="68580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132320" y="3383280"/>
            <a:ext cx="54864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052560" y="3886200"/>
            <a:ext cx="0" cy="68580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0080" y="5852160"/>
            <a:ext cx="10881360" cy="365760"/>
          </a:xfrm>
          <a:prstGeom prst="rect">
            <a:avLst/>
          </a:prstGeom>
          <a:noFill/>
        </p:spPr>
        <p:txBody>
          <a:bodyPr wrap="square">
            <a:spAutoFit/>
          </a:bodyPr>
          <a:lstStyle/>
          <a:p>
            <a:pPr algn="ctr"/>
            <a:r>
              <a:rPr sz="1100" b="0" i="1">
                <a:solidFill>
                  <a:srgbClr val="6B7480"/>
                </a:solidFill>
                <a:latin typeface="Calibri"/>
              </a:rPr>
              <a:t>ZSK signs the records day-to-day; KSK signs only the key set itself and anchors the chain of trust.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Generate Zone Keys</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dnssec-keygen -a RSASHA256 -b 1024 -n ZONE &lt;domain&gt;</a:t>
            </a:r>
          </a:p>
          <a:p>
            <a:pPr>
              <a:spcAft>
                <a:spcPts val="600"/>
              </a:spcAft>
            </a:pPr>
            <a:r>
              <a:rPr sz="1350" b="0" i="1">
                <a:solidFill>
                  <a:srgbClr val="6B7480"/>
                </a:solidFill>
                <a:latin typeface="Courier New"/>
              </a:rPr>
              <a:t># generates the Zone Signing Key (ZSK) - used to sign individual record sets</a:t>
            </a:r>
          </a:p>
          <a:p>
            <a:pPr>
              <a:spcAft>
                <a:spcPts val="600"/>
              </a:spcAft>
            </a:pPr>
            <a:r>
              <a:rPr sz="1350" b="0" i="0">
                <a:solidFill>
                  <a:srgbClr val="111B30"/>
                </a:solidFill>
                <a:latin typeface="Courier New"/>
              </a:rPr>
              <a:t>dnssec-keygen -a RSASHA256 -b 2048 -f KSK -n ZONE &lt;domain&gt;</a:t>
            </a:r>
          </a:p>
          <a:p>
            <a:pPr>
              <a:spcAft>
                <a:spcPts val="600"/>
              </a:spcAft>
            </a:pPr>
            <a:r>
              <a:rPr sz="1350" b="0" i="1">
                <a:solidFill>
                  <a:srgbClr val="6B7480"/>
                </a:solidFill>
                <a:latin typeface="Courier New"/>
              </a:rPr>
              <a:t># generates the Key Signing Key (KSK) - larger key, signs only the DNSKEY record set itself</a:t>
            </a:r>
          </a:p>
          <a:p>
            <a:pPr>
              <a:spcAft>
                <a:spcPts val="600"/>
              </a:spcAft>
            </a:pPr>
            <a:r>
              <a:rPr sz="1350" b="0" i="1">
                <a:solidFill>
                  <a:srgbClr val="6B7480"/>
                </a:solidFill>
                <a:latin typeface="Courier New"/>
              </a:rPr>
              <a:t># in named.conf: auto-dnssec maintain; inline-signing yes;</a:t>
            </a:r>
          </a:p>
          <a:p>
            <a:pPr>
              <a:spcAft>
                <a:spcPts val="600"/>
              </a:spcAft>
            </a:pPr>
            <a:r>
              <a:rPr sz="1350" b="0" i="1">
                <a:solidFill>
                  <a:srgbClr val="6B7480"/>
                </a:solidFill>
                <a:latin typeface="Courier New"/>
              </a:rPr>
              <a:t># tells BIND to automatically maintain signatures and re-sign as records change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Sign the Zone and Verify</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dnssec-signzone -A -3 $(head -c 1000 /dev/random | sha1sum | cut -b 1-16) `</a:t>
            </a:r>
          </a:p>
          <a:p>
            <a:pPr>
              <a:spcAft>
                <a:spcPts val="600"/>
              </a:spcAft>
            </a:pPr>
            <a:r>
              <a:rPr sz="1350" b="0" i="0">
                <a:solidFill>
                  <a:srgbClr val="111B30"/>
                </a:solidFill>
                <a:latin typeface="Courier New"/>
              </a:rPr>
              <a:t>  -N INCREMENT -o &lt;domain&gt; -t &lt;zonefile&gt;</a:t>
            </a:r>
          </a:p>
          <a:p>
            <a:pPr>
              <a:spcAft>
                <a:spcPts val="600"/>
              </a:spcAft>
            </a:pPr>
            <a:r>
              <a:rPr sz="1350" b="0" i="1">
                <a:solidFill>
                  <a:srgbClr val="6B7480"/>
                </a:solidFill>
                <a:latin typeface="Courier New"/>
              </a:rPr>
              <a:t># signs every record set with the ZSK, signs the DNSKEY set with the KSK</a:t>
            </a:r>
          </a:p>
          <a:p>
            <a:pPr>
              <a:spcAft>
                <a:spcPts val="600"/>
              </a:spcAft>
            </a:pPr>
            <a:r>
              <a:rPr sz="1350" b="0" i="0">
                <a:solidFill>
                  <a:srgbClr val="111B30"/>
                </a:solidFill>
                <a:latin typeface="Courier New"/>
              </a:rPr>
              <a:t>dig @127.0.0.1 &lt;domain&gt; DNSKEY +short</a:t>
            </a:r>
          </a:p>
          <a:p>
            <a:pPr>
              <a:spcAft>
                <a:spcPts val="600"/>
              </a:spcAft>
            </a:pPr>
            <a:r>
              <a:rPr sz="1350" b="0" i="1">
                <a:solidFill>
                  <a:srgbClr val="6B7480"/>
                </a:solidFill>
                <a:latin typeface="Courier New"/>
              </a:rPr>
              <a:t># confirm both keys are now published (flags 256 = ZSK, 257 = KSK)</a:t>
            </a:r>
          </a:p>
          <a:p>
            <a:pPr>
              <a:spcAft>
                <a:spcPts val="600"/>
              </a:spcAft>
            </a:pPr>
            <a:r>
              <a:rPr sz="1350" b="0" i="0">
                <a:solidFill>
                  <a:srgbClr val="111B30"/>
                </a:solidFill>
                <a:latin typeface="Courier New"/>
              </a:rPr>
              <a:t>dig @127.0.0.1 www.&lt;domain&gt; A +dnssec</a:t>
            </a:r>
          </a:p>
          <a:p>
            <a:pPr>
              <a:spcAft>
                <a:spcPts val="600"/>
              </a:spcAft>
            </a:pPr>
            <a:r>
              <a:rPr sz="1350" b="0" i="1">
                <a:solidFill>
                  <a:srgbClr val="6B7480"/>
                </a:solidFill>
                <a:latin typeface="Courier New"/>
              </a:rPr>
              <a:t># confirm the A record now carries a matching RRSIG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Publish the DS Record and Confirm the Chain</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dig @127.0.0.1 &lt;domain&gt; DNSKEY | dnssec-dsfromkey -f - &lt;domain&gt;</a:t>
            </a:r>
          </a:p>
          <a:p>
            <a:pPr>
              <a:spcAft>
                <a:spcPts val="600"/>
              </a:spcAft>
            </a:pPr>
            <a:r>
              <a:rPr sz="1350" b="0" i="1">
                <a:solidFill>
                  <a:srgbClr val="6B7480"/>
                </a:solidFill>
                <a:latin typeface="Courier New"/>
              </a:rPr>
              <a:t># derive the DS record from the published DNSKEY set</a:t>
            </a:r>
          </a:p>
          <a:p>
            <a:pPr>
              <a:spcAft>
                <a:spcPts val="600"/>
              </a:spcAft>
            </a:pPr>
            <a:r>
              <a:rPr sz="1350" b="0" i="1">
                <a:solidFill>
                  <a:srgbClr val="6B7480"/>
                </a:solidFill>
                <a:latin typeface="Courier New"/>
              </a:rPr>
              <a:t># submit this DS record to the registrar/parent zone to complete the chain of trust</a:t>
            </a:r>
          </a:p>
          <a:p>
            <a:pPr>
              <a:spcAft>
                <a:spcPts val="600"/>
              </a:spcAft>
            </a:pPr>
            <a:r>
              <a:rPr sz="1350" b="0" i="0">
                <a:solidFill>
                  <a:srgbClr val="111B30"/>
                </a:solidFill>
                <a:latin typeface="Courier New"/>
              </a:rPr>
              <a:t>delv @127.0.0.1 &lt;domain&gt; SOA +vtrace</a:t>
            </a:r>
          </a:p>
          <a:p>
            <a:pPr>
              <a:spcAft>
                <a:spcPts val="600"/>
              </a:spcAft>
            </a:pPr>
            <a:r>
              <a:rPr sz="1350" b="0" i="1">
                <a:solidFill>
                  <a:srgbClr val="6B7480"/>
                </a:solidFill>
                <a:latin typeface="Courier New"/>
              </a:rPr>
              <a:t># walk the full validation chain and confirm a fully validated/secure result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Reachability Caveat: This Is a Private Lab Zone</a:t>
            </a:r>
          </a:p>
        </p:txBody>
      </p:sp>
      <p:sp>
        <p:nvSpPr>
          <p:cNvPr id="6" name="TextBox 5"/>
          <p:cNvSpPr txBox="1"/>
          <p:nvPr/>
        </p:nvSpPr>
        <p:spPr>
          <a:xfrm>
            <a:off x="640080" y="146304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Today's zone is a real, registered subdomain - but it resolves only over the course VPN, not from the public internet</a:t>
            </a:r>
          </a:p>
          <a:p>
            <a:pPr>
              <a:lnSpc>
                <a:spcPct val="125000"/>
              </a:lnSpc>
              <a:spcAft>
                <a:spcPts val="1200"/>
              </a:spcAft>
            </a:pPr>
            <a:r>
              <a:rPr sz="1600" b="0" i="0">
                <a:solidFill>
                  <a:srgbClr val="111B30"/>
                </a:solidFill>
                <a:latin typeface="Calibri"/>
              </a:rPr>
              <a:t>•  Public DNSSEC validators (dnsviz.net and similar) cannot reach it and will report failures that have nothing to do with your configuration</a:t>
            </a:r>
          </a:p>
          <a:p>
            <a:pPr>
              <a:lnSpc>
                <a:spcPct val="125000"/>
              </a:lnSpc>
              <a:spcAft>
                <a:spcPts val="1200"/>
              </a:spcAft>
            </a:pPr>
            <a:r>
              <a:rPr sz="1600" b="0" i="0">
                <a:solidFill>
                  <a:srgbClr val="111B30"/>
                </a:solidFill>
                <a:latin typeface="Calibri"/>
              </a:rPr>
              <a:t>•  Always validate using dig/delv directly against the lab's own resolver, not a public third-party tool</a:t>
            </a:r>
          </a:p>
          <a:p>
            <a:pPr>
              <a:lnSpc>
                <a:spcPct val="125000"/>
              </a:lnSpc>
              <a:spcAft>
                <a:spcPts val="1200"/>
              </a:spcAft>
            </a:pPr>
            <a:r>
              <a:rPr sz="1600" b="0" i="0">
                <a:solidFill>
                  <a:srgbClr val="111B30"/>
                </a:solidFill>
                <a:latin typeface="Calibri"/>
              </a:rPr>
              <a:t>•  This mirrors a real operational reality: internal/private zones are still worth signing, even though public tooling can't audit them for you</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Demo: A Deliberate Validation Failure</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3840480"/>
          </a:xfrm>
          <a:prstGeom prst="rect">
            <a:avLst/>
          </a:prstGeom>
          <a:noFill/>
        </p:spPr>
        <p:txBody>
          <a:bodyPr wrap="square">
            <a:spAutoFit/>
          </a:bodyPr>
          <a:lstStyle/>
          <a:p>
            <a:pPr>
              <a:spcAft>
                <a:spcPts val="600"/>
              </a:spcAft>
            </a:pPr>
            <a:r>
              <a:rPr sz="1300" b="0" i="1">
                <a:solidFill>
                  <a:srgbClr val="6B7480"/>
                </a:solidFill>
                <a:latin typeface="Courier New"/>
              </a:rPr>
              <a:t># hand-edit a signed record directly in the zone file (bypassing re-signing) to simulate tampering</a:t>
            </a:r>
          </a:p>
          <a:p>
            <a:pPr>
              <a:spcAft>
                <a:spcPts val="600"/>
              </a:spcAft>
            </a:pPr>
            <a:r>
              <a:rPr sz="1300" b="0" i="1">
                <a:solidFill>
                  <a:srgbClr val="6B7480"/>
                </a:solidFill>
                <a:latin typeface="Courier New"/>
              </a:rPr>
              <a:t># then reload the zone without re-running dnssec-signzone</a:t>
            </a:r>
          </a:p>
          <a:p>
            <a:pPr>
              <a:spcAft>
                <a:spcPts val="600"/>
              </a:spcAft>
            </a:pPr>
            <a:r>
              <a:rPr sz="1300" b="0" i="0">
                <a:solidFill>
                  <a:srgbClr val="111B30"/>
                </a:solidFill>
                <a:latin typeface="Courier New"/>
              </a:rPr>
              <a:t>rndc reload &lt;domain&gt;</a:t>
            </a:r>
          </a:p>
          <a:p>
            <a:pPr>
              <a:spcAft>
                <a:spcPts val="600"/>
              </a:spcAft>
            </a:pPr>
            <a:r>
              <a:rPr sz="1300" b="0" i="0">
                <a:solidFill>
                  <a:srgbClr val="111B30"/>
                </a:solidFill>
                <a:latin typeface="Courier New"/>
              </a:rPr>
              <a:t>dig @127.0.0.1 www.&lt;domain&gt; A +dnssec</a:t>
            </a:r>
          </a:p>
          <a:p>
            <a:pPr>
              <a:spcAft>
                <a:spcPts val="600"/>
              </a:spcAft>
            </a:pPr>
            <a:r>
              <a:rPr sz="1300" b="0" i="1">
                <a:solidFill>
                  <a:srgbClr val="6B7480"/>
                </a:solidFill>
                <a:latin typeface="Courier New"/>
              </a:rPr>
              <a:t># the RRSIG no longer matches the (now-altered) record data</a:t>
            </a:r>
          </a:p>
          <a:p>
            <a:pPr>
              <a:spcAft>
                <a:spcPts val="600"/>
              </a:spcAft>
            </a:pPr>
            <a:r>
              <a:rPr sz="1300" b="0" i="0">
                <a:solidFill>
                  <a:srgbClr val="111B30"/>
                </a:solidFill>
                <a:latin typeface="Courier New"/>
              </a:rPr>
              <a:t>delv @127.0.0.1 www.&lt;domain&gt; A +vtrace</a:t>
            </a:r>
          </a:p>
          <a:p>
            <a:pPr>
              <a:spcAft>
                <a:spcPts val="600"/>
              </a:spcAft>
            </a:pPr>
            <a:r>
              <a:rPr sz="1300" b="0" i="1">
                <a:solidFill>
                  <a:srgbClr val="6B7480"/>
                </a:solidFill>
                <a:latin typeface="Courier New"/>
              </a:rPr>
              <a:t># expect: SERVFAIL / BOGUS - the validator explicitly rejects the mismatched, unsigned-as-tampered answer</a:t>
            </a:r>
          </a:p>
        </p:txBody>
      </p:sp>
      <p:sp>
        <p:nvSpPr>
          <p:cNvPr id="8" name="Rounded Rectangle 7"/>
          <p:cNvSpPr/>
          <p:nvPr/>
        </p:nvSpPr>
        <p:spPr>
          <a:xfrm>
            <a:off x="640080" y="5577840"/>
            <a:ext cx="10881360" cy="822960"/>
          </a:xfrm>
          <a:prstGeom prst="roundRect">
            <a:avLst/>
          </a:prstGeom>
          <a:solidFill>
            <a:srgbClr val="E8EEF7"/>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2E7D32"/>
                </a:solidFill>
                <a:latin typeface="Calibri"/>
              </a:rPr>
              <a:t>This SERVFAIL/BOGUS result is DNSSEC working correctly - it is exactly what protects clients from a poisoned or tampered answer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Key Rollover Lifecycle</a:t>
            </a:r>
          </a:p>
        </p:txBody>
      </p:sp>
      <p:sp>
        <p:nvSpPr>
          <p:cNvPr id="6" name="Rounded Rectangle 5"/>
          <p:cNvSpPr/>
          <p:nvPr/>
        </p:nvSpPr>
        <p:spPr>
          <a:xfrm>
            <a:off x="548640" y="2286000"/>
            <a:ext cx="274320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0" i="0">
                <a:solidFill>
                  <a:srgbClr val="111B30"/>
                </a:solidFill>
                <a:latin typeface="Calibri"/>
              </a:rPr>
              <a:t>Current ZSK</a:t>
            </a:r>
          </a:p>
          <a:p>
            <a:pPr algn="ctr"/>
            <a:r>
              <a:rPr sz="1050" b="0" i="0">
                <a:solidFill>
                  <a:srgbClr val="111B30"/>
                </a:solidFill>
                <a:latin typeface="Calibri"/>
              </a:rPr>
              <a:t>(active, signing)</a:t>
            </a:r>
          </a:p>
        </p:txBody>
      </p:sp>
      <p:sp>
        <p:nvSpPr>
          <p:cNvPr id="7" name="Rounded Rectangle 6"/>
          <p:cNvSpPr/>
          <p:nvPr/>
        </p:nvSpPr>
        <p:spPr>
          <a:xfrm>
            <a:off x="548640" y="3566160"/>
            <a:ext cx="274320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0" i="0">
                <a:solidFill>
                  <a:srgbClr val="111B30"/>
                </a:solidFill>
                <a:latin typeface="Calibri"/>
              </a:rPr>
              <a:t>New ZSK generated</a:t>
            </a:r>
          </a:p>
          <a:p>
            <a:pPr algn="ctr"/>
            <a:r>
              <a:rPr sz="1000" b="0" i="0">
                <a:solidFill>
                  <a:srgbClr val="111B30"/>
                </a:solidFill>
                <a:latin typeface="Calibri"/>
              </a:rPr>
              <a:t>~quarterly, overlaps</a:t>
            </a:r>
          </a:p>
          <a:p>
            <a:pPr algn="ctr"/>
            <a:r>
              <a:rPr sz="1000" b="0" i="0">
                <a:solidFill>
                  <a:srgbClr val="111B30"/>
                </a:solidFill>
                <a:latin typeface="Calibri"/>
              </a:rPr>
              <a:t>before old one retires</a:t>
            </a:r>
          </a:p>
        </p:txBody>
      </p:sp>
      <p:sp>
        <p:nvSpPr>
          <p:cNvPr id="8" name="Rounded Rectangle 7"/>
          <p:cNvSpPr/>
          <p:nvPr/>
        </p:nvSpPr>
        <p:spPr>
          <a:xfrm>
            <a:off x="4206240" y="2286000"/>
            <a:ext cx="3108960" cy="914400"/>
          </a:xfrm>
          <a:prstGeom prst="roundRect">
            <a:avLst/>
          </a:prstGeom>
          <a:solidFill>
            <a:srgbClr val="FFFFFF"/>
          </a:solidFill>
          <a:ln w="25400">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0" i="0">
                <a:solidFill>
                  <a:srgbClr val="111B30"/>
                </a:solidFill>
                <a:latin typeface="Calibri"/>
              </a:rPr>
              <a:t>Current KSK</a:t>
            </a:r>
          </a:p>
          <a:p>
            <a:pPr algn="ctr"/>
            <a:r>
              <a:rPr sz="1000" b="0" i="0">
                <a:solidFill>
                  <a:srgbClr val="111B30"/>
                </a:solidFill>
                <a:latin typeface="Calibri"/>
              </a:rPr>
              <a:t>(anchors DS record</a:t>
            </a:r>
          </a:p>
          <a:p>
            <a:pPr algn="ctr"/>
            <a:r>
              <a:rPr sz="1000" b="0" i="0">
                <a:solidFill>
                  <a:srgbClr val="111B30"/>
                </a:solidFill>
                <a:latin typeface="Calibri"/>
              </a:rPr>
              <a:t>at parent zone)</a:t>
            </a:r>
          </a:p>
        </p:txBody>
      </p:sp>
      <p:sp>
        <p:nvSpPr>
          <p:cNvPr id="9" name="Rounded Rectangle 8"/>
          <p:cNvSpPr/>
          <p:nvPr/>
        </p:nvSpPr>
        <p:spPr>
          <a:xfrm>
            <a:off x="4206240" y="3566160"/>
            <a:ext cx="3108960" cy="109728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0" i="0">
                <a:solidFill>
                  <a:srgbClr val="111B30"/>
                </a:solidFill>
                <a:latin typeface="Calibri"/>
              </a:rPr>
              <a:t>New KSK generated</a:t>
            </a:r>
          </a:p>
          <a:p>
            <a:pPr algn="ctr"/>
            <a:r>
              <a:rPr sz="950" b="0" i="0">
                <a:solidFill>
                  <a:srgbClr val="111B30"/>
                </a:solidFill>
                <a:latin typeface="Calibri"/>
              </a:rPr>
              <a:t>~yearly - requires</a:t>
            </a:r>
          </a:p>
          <a:p>
            <a:pPr algn="ctr"/>
            <a:r>
              <a:rPr sz="950" b="0" i="0">
                <a:solidFill>
                  <a:srgbClr val="111B30"/>
                </a:solidFill>
                <a:latin typeface="Calibri"/>
              </a:rPr>
              <a:t>publishing a NEW DS record</a:t>
            </a:r>
          </a:p>
          <a:p>
            <a:pPr algn="ctr"/>
            <a:r>
              <a:rPr sz="950" b="0" i="0">
                <a:solidFill>
                  <a:srgbClr val="111B30"/>
                </a:solidFill>
                <a:latin typeface="Calibri"/>
              </a:rPr>
              <a:t>at the registrar first</a:t>
            </a:r>
          </a:p>
        </p:txBody>
      </p:sp>
      <p:sp>
        <p:nvSpPr>
          <p:cNvPr id="10" name="Rounded Rectangle 9"/>
          <p:cNvSpPr/>
          <p:nvPr/>
        </p:nvSpPr>
        <p:spPr>
          <a:xfrm>
            <a:off x="8503920" y="2880360"/>
            <a:ext cx="2743200" cy="109728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1" i="0">
                <a:solidFill>
                  <a:srgbClr val="B02A2A"/>
                </a:solidFill>
                <a:latin typeface="Calibri"/>
              </a:rPr>
              <a:t>DS record must be</a:t>
            </a:r>
          </a:p>
          <a:p>
            <a:pPr algn="ctr"/>
            <a:r>
              <a:rPr sz="950" b="1" i="0">
                <a:solidFill>
                  <a:srgbClr val="B02A2A"/>
                </a:solidFill>
                <a:latin typeface="Calibri"/>
              </a:rPr>
              <a:t>updated BEFORE the</a:t>
            </a:r>
          </a:p>
          <a:p>
            <a:pPr algn="ctr"/>
            <a:r>
              <a:rPr sz="950" b="1" i="0">
                <a:solidFill>
                  <a:srgbClr val="B02A2A"/>
                </a:solidFill>
                <a:latin typeface="Calibri"/>
              </a:rPr>
              <a:t>old KSK is retired,</a:t>
            </a:r>
          </a:p>
          <a:p>
            <a:pPr algn="ctr"/>
            <a:r>
              <a:rPr sz="950" b="1" i="0">
                <a:solidFill>
                  <a:srgbClr val="B02A2A"/>
                </a:solidFill>
                <a:latin typeface="Calibri"/>
              </a:rPr>
              <a:t>or the chain breaks</a:t>
            </a:r>
          </a:p>
        </p:txBody>
      </p:sp>
      <p:cxnSp>
        <p:nvCxnSpPr>
          <p:cNvPr id="11" name="Connector 10"/>
          <p:cNvCxnSpPr/>
          <p:nvPr/>
        </p:nvCxnSpPr>
        <p:spPr>
          <a:xfrm>
            <a:off x="1920240" y="3200400"/>
            <a:ext cx="0" cy="365760"/>
          </a:xfrm>
          <a:prstGeom prst="line">
            <a:avLst/>
          </a:prstGeom>
          <a:ln w="22225">
            <a:solidFill>
              <a:srgbClr val="3D5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14400" y="3182112"/>
            <a:ext cx="2011680" cy="365760"/>
          </a:xfrm>
          <a:prstGeom prst="rect">
            <a:avLst/>
          </a:prstGeom>
          <a:noFill/>
        </p:spPr>
        <p:txBody>
          <a:bodyPr wrap="square">
            <a:spAutoFit/>
          </a:bodyPr>
          <a:lstStyle/>
          <a:p>
            <a:pPr algn="ctr"/>
            <a:r>
              <a:rPr sz="950" b="0" i="1">
                <a:solidFill>
                  <a:srgbClr val="3D5A80"/>
                </a:solidFill>
                <a:latin typeface="Calibri"/>
              </a:rPr>
              <a:t>~3 mo</a:t>
            </a:r>
          </a:p>
        </p:txBody>
      </p:sp>
      <p:cxnSp>
        <p:nvCxnSpPr>
          <p:cNvPr id="13" name="Connector 12"/>
          <p:cNvCxnSpPr/>
          <p:nvPr/>
        </p:nvCxnSpPr>
        <p:spPr>
          <a:xfrm>
            <a:off x="5760720" y="3200400"/>
            <a:ext cx="0" cy="365760"/>
          </a:xfrm>
          <a:prstGeom prst="line">
            <a:avLst/>
          </a:prstGeom>
          <a:ln w="22225">
            <a:solidFill>
              <a:srgbClr val="00B4D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754879" y="3182112"/>
            <a:ext cx="2011680" cy="365760"/>
          </a:xfrm>
          <a:prstGeom prst="rect">
            <a:avLst/>
          </a:prstGeom>
          <a:noFill/>
        </p:spPr>
        <p:txBody>
          <a:bodyPr wrap="square">
            <a:spAutoFit/>
          </a:bodyPr>
          <a:lstStyle/>
          <a:p>
            <a:pPr algn="ctr"/>
            <a:r>
              <a:rPr sz="950" b="0" i="1">
                <a:solidFill>
                  <a:srgbClr val="00B4D8"/>
                </a:solidFill>
                <a:latin typeface="Calibri"/>
              </a:rPr>
              <a:t>~1 yr</a:t>
            </a:r>
          </a:p>
        </p:txBody>
      </p:sp>
      <p:cxnSp>
        <p:nvCxnSpPr>
          <p:cNvPr id="15" name="Connector 14"/>
          <p:cNvCxnSpPr/>
          <p:nvPr/>
        </p:nvCxnSpPr>
        <p:spPr>
          <a:xfrm flipV="1">
            <a:off x="7315200" y="3429000"/>
            <a:ext cx="1188720" cy="68580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377440"/>
            <a:ext cx="1554480" cy="155448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i="0">
                <a:solidFill>
                  <a:srgbClr val="1B2A4A"/>
                </a:solidFill>
                <a:latin typeface="Cambria"/>
              </a:rPr>
              <a:t>05</a:t>
            </a:r>
          </a:p>
        </p:txBody>
      </p:sp>
      <p:sp>
        <p:nvSpPr>
          <p:cNvPr id="4" name="TextBox 3"/>
          <p:cNvSpPr txBox="1"/>
          <p:nvPr/>
        </p:nvSpPr>
        <p:spPr>
          <a:xfrm>
            <a:off x="2651760" y="2514600"/>
            <a:ext cx="8869680" cy="1371600"/>
          </a:xfrm>
          <a:prstGeom prst="rect">
            <a:avLst/>
          </a:prstGeom>
          <a:noFill/>
        </p:spPr>
        <p:txBody>
          <a:bodyPr wrap="square" anchor="ctr">
            <a:spAutoFit/>
          </a:bodyPr>
          <a:lstStyle/>
          <a:p>
            <a:r>
              <a:rPr sz="3000" b="1" i="0">
                <a:solidFill>
                  <a:srgbClr val="FFFFFF"/>
                </a:solidFill>
                <a:latin typeface="Cambria"/>
              </a:rPr>
              <a:t>Email Authentication &amp; Mail Server Hardening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Email Has No Built-In Sender Authenticity</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SMTP was designed to relay mail, not to verify who actually sent it - the "From:" header is just a text field a sender can set to anything</a:t>
            </a:r>
          </a:p>
          <a:p>
            <a:pPr>
              <a:lnSpc>
                <a:spcPct val="125000"/>
              </a:lnSpc>
              <a:spcAft>
                <a:spcPts val="1200"/>
              </a:spcAft>
            </a:pPr>
            <a:r>
              <a:rPr sz="1600" b="0" i="0">
                <a:solidFill>
                  <a:srgbClr val="111B30"/>
                </a:solidFill>
                <a:latin typeface="Calibri"/>
              </a:rPr>
              <a:t>•  This is precisely what enables email spoofing and Business Email Compromise (BEC) - an attacker sends mail that appears to come from a trusted domain with no forgery required, just an unauthenticated SMTP session</a:t>
            </a:r>
          </a:p>
          <a:p>
            <a:pPr>
              <a:lnSpc>
                <a:spcPct val="125000"/>
              </a:lnSpc>
              <a:spcAft>
                <a:spcPts val="1200"/>
              </a:spcAft>
            </a:pPr>
            <a:r>
              <a:rPr sz="1600" b="0" i="0">
                <a:solidFill>
                  <a:srgbClr val="111B30"/>
                </a:solidFill>
                <a:latin typeface="Calibri"/>
              </a:rPr>
              <a:t>•  Three complementary standards close this gap, each solving a different piece: SPF (who's allowed to send), DKIM (was the message tampered with), DMARC (what to do when SPF/DKIM fail, and tie it to what the recipient actually sees)</a:t>
            </a:r>
          </a:p>
          <a:p>
            <a:pPr>
              <a:lnSpc>
                <a:spcPct val="125000"/>
              </a:lnSpc>
              <a:spcAft>
                <a:spcPts val="1200"/>
              </a:spcAft>
            </a:pPr>
            <a:r>
              <a:rPr sz="1600" b="0" i="0">
                <a:solidFill>
                  <a:srgbClr val="111B30"/>
                </a:solidFill>
                <a:latin typeface="Calibri"/>
              </a:rPr>
              <a:t>•  None of the three encrypts message content - like DNSSEC, this is about authenticity and integrity, not confidentiality</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SPF: Sender Policy Framework</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A DNS TXT record published by the domain owner listing which mail servers are authorized to send mail for that domain</a:t>
            </a:r>
          </a:p>
          <a:p>
            <a:pPr>
              <a:lnSpc>
                <a:spcPct val="125000"/>
              </a:lnSpc>
              <a:spcAft>
                <a:spcPts val="1200"/>
              </a:spcAft>
            </a:pPr>
            <a:r>
              <a:rPr sz="1600" b="0" i="0">
                <a:solidFill>
                  <a:srgbClr val="111B30"/>
                </a:solidFill>
                <a:latin typeface="Calibri"/>
              </a:rPr>
              <a:t>•  Receiving mail servers check the connecting server's IP against the sending domain's SPF record</a:t>
            </a:r>
          </a:p>
          <a:p>
            <a:pPr>
              <a:lnSpc>
                <a:spcPct val="125000"/>
              </a:lnSpc>
              <a:spcAft>
                <a:spcPts val="1200"/>
              </a:spcAft>
            </a:pPr>
            <a:r>
              <a:rPr sz="1600" b="0" i="0">
                <a:solidFill>
                  <a:srgbClr val="111B30"/>
                </a:solidFill>
                <a:latin typeface="Calibri"/>
              </a:rPr>
              <a:t>•  Record syntax: v=spf1 ip4:10.0.0.20 -all - authorizes exactly one IP, and -all (hard fail) rejects everything else outright</a:t>
            </a:r>
          </a:p>
          <a:p>
            <a:pPr>
              <a:lnSpc>
                <a:spcPct val="125000"/>
              </a:lnSpc>
              <a:spcAft>
                <a:spcPts val="1200"/>
              </a:spcAft>
            </a:pPr>
            <a:r>
              <a:rPr sz="1600" b="0" i="0">
                <a:solidFill>
                  <a:srgbClr val="111B30"/>
                </a:solidFill>
                <a:latin typeface="Calibri"/>
              </a:rPr>
              <a:t>•  A softer +all or ~all (soft fail) exists but is discouraged for a fully-configured domain - it tells receivers to accept or flag rather than reject unauthorized senders</a:t>
            </a:r>
          </a:p>
          <a:p>
            <a:pPr>
              <a:lnSpc>
                <a:spcPct val="125000"/>
              </a:lnSpc>
              <a:spcAft>
                <a:spcPts val="1200"/>
              </a:spcAft>
            </a:pPr>
            <a:r>
              <a:rPr sz="1600" b="0" i="0">
                <a:solidFill>
                  <a:srgbClr val="111B30"/>
                </a:solidFill>
                <a:latin typeface="Calibri"/>
              </a:rPr>
              <a:t>•  SPF alone only validates the connecting IP - it says nothing about whether the message content was altered in transit, which is DKIM's job</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SPF Validation Flow</a:t>
            </a:r>
          </a:p>
        </p:txBody>
      </p:sp>
      <p:sp>
        <p:nvSpPr>
          <p:cNvPr id="6" name="Rounded Rectangle 5"/>
          <p:cNvSpPr/>
          <p:nvPr/>
        </p:nvSpPr>
        <p:spPr>
          <a:xfrm>
            <a:off x="548640" y="3108960"/>
            <a:ext cx="256032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Inbound Mail</a:t>
            </a:r>
          </a:p>
          <a:p>
            <a:pPr algn="ctr"/>
            <a:r>
              <a:rPr sz="1100" b="0" i="0">
                <a:solidFill>
                  <a:srgbClr val="111B30"/>
                </a:solidFill>
                <a:latin typeface="Calibri"/>
              </a:rPr>
              <a:t>Connection Received</a:t>
            </a:r>
          </a:p>
        </p:txBody>
      </p:sp>
      <p:sp>
        <p:nvSpPr>
          <p:cNvPr id="7" name="Rounded Rectangle 6"/>
          <p:cNvSpPr/>
          <p:nvPr/>
        </p:nvSpPr>
        <p:spPr>
          <a:xfrm>
            <a:off x="3474720" y="3108960"/>
            <a:ext cx="2743200" cy="100584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0" i="0">
                <a:solidFill>
                  <a:srgbClr val="111B30"/>
                </a:solidFill>
                <a:latin typeface="Calibri"/>
              </a:rPr>
              <a:t>Receiver Looks Up</a:t>
            </a:r>
          </a:p>
          <a:p>
            <a:pPr algn="ctr"/>
            <a:r>
              <a:rPr sz="1050" b="0" i="0">
                <a:solidFill>
                  <a:srgbClr val="111B30"/>
                </a:solidFill>
                <a:latin typeface="Calibri"/>
              </a:rPr>
              <a:t>Sender Domain's</a:t>
            </a:r>
          </a:p>
          <a:p>
            <a:pPr algn="ctr"/>
            <a:r>
              <a:rPr sz="1050" b="0" i="0">
                <a:solidFill>
                  <a:srgbClr val="111B30"/>
                </a:solidFill>
                <a:latin typeface="Calibri"/>
              </a:rPr>
              <a:t>SPF TXT Record</a:t>
            </a:r>
          </a:p>
        </p:txBody>
      </p:sp>
      <p:sp>
        <p:nvSpPr>
          <p:cNvPr id="8" name="Diamond 7"/>
          <p:cNvSpPr/>
          <p:nvPr/>
        </p:nvSpPr>
        <p:spPr>
          <a:xfrm>
            <a:off x="6583680" y="2926080"/>
            <a:ext cx="2560320" cy="118872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1" i="0">
                <a:solidFill>
                  <a:srgbClr val="111B30"/>
                </a:solidFill>
                <a:latin typeface="Calibri"/>
              </a:rPr>
              <a:t>Connecting IP</a:t>
            </a:r>
          </a:p>
          <a:p>
            <a:pPr algn="ctr"/>
            <a:r>
              <a:rPr sz="1000" b="1" i="0">
                <a:solidFill>
                  <a:srgbClr val="111B30"/>
                </a:solidFill>
                <a:latin typeface="Calibri"/>
              </a:rPr>
              <a:t>Listed in SPF</a:t>
            </a:r>
          </a:p>
          <a:p>
            <a:pPr algn="ctr"/>
            <a:r>
              <a:rPr sz="1000" b="1" i="0">
                <a:solidFill>
                  <a:srgbClr val="111B30"/>
                </a:solidFill>
                <a:latin typeface="Calibri"/>
              </a:rPr>
              <a:t>Record?</a:t>
            </a:r>
          </a:p>
        </p:txBody>
      </p:sp>
      <p:sp>
        <p:nvSpPr>
          <p:cNvPr id="9" name="Rounded Rectangle 8"/>
          <p:cNvSpPr/>
          <p:nvPr/>
        </p:nvSpPr>
        <p:spPr>
          <a:xfrm>
            <a:off x="9418320" y="2103120"/>
            <a:ext cx="2377440" cy="82296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1" i="0">
                <a:solidFill>
                  <a:srgbClr val="2E7D32"/>
                </a:solidFill>
                <a:latin typeface="Calibri"/>
              </a:rPr>
              <a:t>Pass -&gt; Continue</a:t>
            </a:r>
          </a:p>
          <a:p>
            <a:pPr algn="ctr"/>
            <a:r>
              <a:rPr sz="1000" b="1" i="0">
                <a:solidFill>
                  <a:srgbClr val="2E7D32"/>
                </a:solidFill>
                <a:latin typeface="Calibri"/>
              </a:rPr>
              <a:t>to DKIM/DMARC</a:t>
            </a:r>
          </a:p>
        </p:txBody>
      </p:sp>
      <p:sp>
        <p:nvSpPr>
          <p:cNvPr id="10" name="Rounded Rectangle 9"/>
          <p:cNvSpPr/>
          <p:nvPr/>
        </p:nvSpPr>
        <p:spPr>
          <a:xfrm>
            <a:off x="9418320" y="4023360"/>
            <a:ext cx="2377440" cy="82296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1" i="0">
                <a:solidFill>
                  <a:srgbClr val="B02A2A"/>
                </a:solidFill>
                <a:latin typeface="Calibri"/>
              </a:rPr>
              <a:t>Fail -&gt; Reject</a:t>
            </a:r>
          </a:p>
          <a:p>
            <a:pPr algn="ctr"/>
            <a:r>
              <a:rPr sz="1000" b="1" i="0">
                <a:solidFill>
                  <a:srgbClr val="B02A2A"/>
                </a:solidFill>
                <a:latin typeface="Calibri"/>
              </a:rPr>
              <a:t>(hard fail, -all)</a:t>
            </a:r>
          </a:p>
        </p:txBody>
      </p:sp>
      <p:cxnSp>
        <p:nvCxnSpPr>
          <p:cNvPr id="11" name="Connector 10"/>
          <p:cNvCxnSpPr/>
          <p:nvPr/>
        </p:nvCxnSpPr>
        <p:spPr>
          <a:xfrm>
            <a:off x="3108960" y="3566160"/>
            <a:ext cx="365760" cy="4572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217920" y="3520440"/>
            <a:ext cx="365760" cy="9144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863840" y="2514600"/>
            <a:ext cx="1554480" cy="411480"/>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35240" y="2519172"/>
            <a:ext cx="2011680" cy="365760"/>
          </a:xfrm>
          <a:prstGeom prst="rect">
            <a:avLst/>
          </a:prstGeom>
          <a:noFill/>
        </p:spPr>
        <p:txBody>
          <a:bodyPr wrap="square">
            <a:spAutoFit/>
          </a:bodyPr>
          <a:lstStyle/>
          <a:p>
            <a:pPr algn="ctr"/>
            <a:r>
              <a:rPr sz="950" b="0" i="1">
                <a:solidFill>
                  <a:srgbClr val="2E7D32"/>
                </a:solidFill>
                <a:latin typeface="Calibri"/>
              </a:rPr>
              <a:t>Yes</a:t>
            </a:r>
          </a:p>
        </p:txBody>
      </p:sp>
      <p:cxnSp>
        <p:nvCxnSpPr>
          <p:cNvPr id="15" name="Connector 14"/>
          <p:cNvCxnSpPr/>
          <p:nvPr/>
        </p:nvCxnSpPr>
        <p:spPr>
          <a:xfrm>
            <a:off x="7863840" y="4114800"/>
            <a:ext cx="1554480" cy="32004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635240" y="4073652"/>
            <a:ext cx="2011680" cy="365760"/>
          </a:xfrm>
          <a:prstGeom prst="rect">
            <a:avLst/>
          </a:prstGeom>
          <a:noFill/>
        </p:spPr>
        <p:txBody>
          <a:bodyPr wrap="square">
            <a:spAutoFit/>
          </a:bodyPr>
          <a:lstStyle/>
          <a:p>
            <a:pPr algn="ctr"/>
            <a:r>
              <a:rPr sz="950" b="0" i="1">
                <a:solidFill>
                  <a:srgbClr val="B02A2A"/>
                </a:solidFill>
                <a:latin typeface="Calibri"/>
              </a:rPr>
              <a:t>No</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Publish and Verify an SPF Record</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1">
                <a:solidFill>
                  <a:srgbClr val="6B7480"/>
                </a:solidFill>
                <a:latin typeface="Courier New"/>
              </a:rPr>
              <a:t># add to the domain's zone file: &lt;domain&gt;. IN TXT "v=spf1 ip4:10.0.0.20 -all"</a:t>
            </a:r>
          </a:p>
          <a:p>
            <a:pPr>
              <a:spcAft>
                <a:spcPts val="600"/>
              </a:spcAft>
            </a:pPr>
            <a:r>
              <a:rPr sz="1350" b="0" i="0">
                <a:solidFill>
                  <a:srgbClr val="111B30"/>
                </a:solidFill>
                <a:latin typeface="Courier New"/>
              </a:rPr>
              <a:t>rndc reload &lt;domain&gt;</a:t>
            </a:r>
          </a:p>
          <a:p>
            <a:pPr>
              <a:spcAft>
                <a:spcPts val="600"/>
              </a:spcAft>
            </a:pPr>
            <a:r>
              <a:rPr sz="1350" b="0" i="0">
                <a:solidFill>
                  <a:srgbClr val="111B30"/>
                </a:solidFill>
                <a:latin typeface="Courier New"/>
              </a:rPr>
              <a:t>dig @127.0.0.1 &lt;domain&gt; TXT +short</a:t>
            </a:r>
          </a:p>
          <a:p>
            <a:pPr>
              <a:spcAft>
                <a:spcPts val="600"/>
              </a:spcAft>
            </a:pPr>
            <a:r>
              <a:rPr sz="1350" b="0" i="1">
                <a:solidFill>
                  <a:srgbClr val="6B7480"/>
                </a:solidFill>
                <a:latin typeface="Courier New"/>
              </a:rPr>
              <a:t># confirm the SPF record is published and correctly formatted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DKIM: DomainKeys Identified Mail</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Cryptographically signs outbound mail - proves the message wasn't altered after leaving the sending server and that it genuinely originated from a server holding the private key</a:t>
            </a:r>
          </a:p>
          <a:p>
            <a:pPr>
              <a:lnSpc>
                <a:spcPct val="125000"/>
              </a:lnSpc>
              <a:spcAft>
                <a:spcPts val="1200"/>
              </a:spcAft>
            </a:pPr>
            <a:r>
              <a:rPr sz="1600" b="0" i="0">
                <a:solidFill>
                  <a:srgbClr val="111B30"/>
                </a:solidFill>
                <a:latin typeface="Calibri"/>
              </a:rPr>
              <a:t>•  The sending mail server signs specific headers and the body with a private key, adding a DKIM-Signature header to the message</a:t>
            </a:r>
          </a:p>
          <a:p>
            <a:pPr>
              <a:lnSpc>
                <a:spcPct val="125000"/>
              </a:lnSpc>
              <a:spcAft>
                <a:spcPts val="1200"/>
              </a:spcAft>
            </a:pPr>
            <a:r>
              <a:rPr sz="1600" b="0" i="0">
                <a:solidFill>
                  <a:srgbClr val="111B30"/>
                </a:solidFill>
                <a:latin typeface="Calibri"/>
              </a:rPr>
              <a:t>•  The public key is published in DNS as a TXT record at a selector-specific name: mail._domainkey.&lt;domain&gt;</a:t>
            </a:r>
          </a:p>
          <a:p>
            <a:pPr>
              <a:lnSpc>
                <a:spcPct val="125000"/>
              </a:lnSpc>
              <a:spcAft>
                <a:spcPts val="1200"/>
              </a:spcAft>
            </a:pPr>
            <a:r>
              <a:rPr sz="1600" b="0" i="0">
                <a:solidFill>
                  <a:srgbClr val="111B30"/>
                </a:solidFill>
                <a:latin typeface="Calibri"/>
              </a:rPr>
              <a:t>•  The receiving server fetches that public key via DNS and verifies the signature against the received message</a:t>
            </a:r>
          </a:p>
          <a:p>
            <a:pPr>
              <a:lnSpc>
                <a:spcPct val="125000"/>
              </a:lnSpc>
              <a:spcAft>
                <a:spcPts val="1200"/>
              </a:spcAft>
            </a:pPr>
            <a:r>
              <a:rPr sz="1600" b="0" i="0">
                <a:solidFill>
                  <a:srgbClr val="111B30"/>
                </a:solidFill>
                <a:latin typeface="Calibri"/>
              </a:rPr>
              <a:t>•  Unlike SPF, DKIM survives mail forwarding - the signature travels with the message itself, not with the connecting IP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DKIM Signing &amp; Verification Flow</a:t>
            </a:r>
          </a:p>
        </p:txBody>
      </p:sp>
      <p:sp>
        <p:nvSpPr>
          <p:cNvPr id="6" name="Rounded Rectangle 5"/>
          <p:cNvSpPr/>
          <p:nvPr/>
        </p:nvSpPr>
        <p:spPr>
          <a:xfrm>
            <a:off x="548640" y="2194560"/>
            <a:ext cx="274320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0" i="0">
                <a:solidFill>
                  <a:srgbClr val="111B30"/>
                </a:solidFill>
                <a:latin typeface="Calibri"/>
              </a:rPr>
              <a:t>Sending Server:</a:t>
            </a:r>
          </a:p>
          <a:p>
            <a:pPr algn="ctr"/>
            <a:r>
              <a:rPr sz="1050" b="0" i="0">
                <a:solidFill>
                  <a:srgbClr val="111B30"/>
                </a:solidFill>
                <a:latin typeface="Calibri"/>
              </a:rPr>
              <a:t>Signs message with</a:t>
            </a:r>
          </a:p>
          <a:p>
            <a:pPr algn="ctr"/>
            <a:r>
              <a:rPr sz="1050" b="0" i="0">
                <a:solidFill>
                  <a:srgbClr val="111B30"/>
                </a:solidFill>
                <a:latin typeface="Calibri"/>
              </a:rPr>
              <a:t>private key</a:t>
            </a:r>
          </a:p>
        </p:txBody>
      </p:sp>
      <p:sp>
        <p:nvSpPr>
          <p:cNvPr id="7" name="Rounded Rectangle 6"/>
          <p:cNvSpPr/>
          <p:nvPr/>
        </p:nvSpPr>
        <p:spPr>
          <a:xfrm>
            <a:off x="3840480" y="2194560"/>
            <a:ext cx="3017520" cy="1005840"/>
          </a:xfrm>
          <a:prstGeom prst="roundRect">
            <a:avLst/>
          </a:prstGeom>
          <a:solidFill>
            <a:srgbClr val="FFFFFF"/>
          </a:solidFill>
          <a:ln w="25400">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0" i="0">
                <a:solidFill>
                  <a:srgbClr val="111B30"/>
                </a:solidFill>
                <a:latin typeface="Calibri"/>
              </a:rPr>
              <a:t>Adds DKIM-Signature</a:t>
            </a:r>
          </a:p>
          <a:p>
            <a:pPr algn="ctr"/>
            <a:r>
              <a:rPr sz="1000" b="0" i="0">
                <a:solidFill>
                  <a:srgbClr val="111B30"/>
                </a:solidFill>
                <a:latin typeface="Calibri"/>
              </a:rPr>
              <a:t>header (selector = mail,</a:t>
            </a:r>
          </a:p>
          <a:p>
            <a:pPr algn="ctr"/>
            <a:r>
              <a:rPr sz="1000" b="0" i="0">
                <a:solidFill>
                  <a:srgbClr val="111B30"/>
                </a:solidFill>
                <a:latin typeface="Calibri"/>
              </a:rPr>
              <a:t>d = &lt;domain&gt;)</a:t>
            </a:r>
          </a:p>
        </p:txBody>
      </p:sp>
      <p:sp>
        <p:nvSpPr>
          <p:cNvPr id="8" name="Rounded Rectangle 7"/>
          <p:cNvSpPr/>
          <p:nvPr/>
        </p:nvSpPr>
        <p:spPr>
          <a:xfrm>
            <a:off x="7406640" y="2194560"/>
            <a:ext cx="3291840" cy="100584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0" i="0">
                <a:solidFill>
                  <a:srgbClr val="111B30"/>
                </a:solidFill>
                <a:latin typeface="Calibri"/>
              </a:rPr>
              <a:t>Receiver Fetches</a:t>
            </a:r>
          </a:p>
          <a:p>
            <a:pPr algn="ctr"/>
            <a:r>
              <a:rPr sz="950" b="0" i="0">
                <a:solidFill>
                  <a:srgbClr val="111B30"/>
                </a:solidFill>
                <a:latin typeface="Calibri"/>
              </a:rPr>
              <a:t>Public Key: mail._domainkey.</a:t>
            </a:r>
          </a:p>
          <a:p>
            <a:pPr algn="ctr"/>
            <a:r>
              <a:rPr sz="950" b="0" i="0">
                <a:solidFill>
                  <a:srgbClr val="111B30"/>
                </a:solidFill>
                <a:latin typeface="Calibri"/>
              </a:rPr>
              <a:t>&lt;domain&gt; TXT</a:t>
            </a:r>
          </a:p>
        </p:txBody>
      </p:sp>
      <p:sp>
        <p:nvSpPr>
          <p:cNvPr id="9" name="Rounded Rectangle 8"/>
          <p:cNvSpPr/>
          <p:nvPr/>
        </p:nvSpPr>
        <p:spPr>
          <a:xfrm>
            <a:off x="3840480" y="3931920"/>
            <a:ext cx="301752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0" i="0">
                <a:solidFill>
                  <a:srgbClr val="111B30"/>
                </a:solidFill>
                <a:latin typeface="Calibri"/>
              </a:rPr>
              <a:t>Verifies Signature</a:t>
            </a:r>
          </a:p>
          <a:p>
            <a:pPr algn="ctr"/>
            <a:r>
              <a:rPr sz="1050" b="0" i="0">
                <a:solidFill>
                  <a:srgbClr val="111B30"/>
                </a:solidFill>
                <a:latin typeface="Calibri"/>
              </a:rPr>
              <a:t>Against Received</a:t>
            </a:r>
          </a:p>
          <a:p>
            <a:pPr algn="ctr"/>
            <a:r>
              <a:rPr sz="1050" b="0" i="0">
                <a:solidFill>
                  <a:srgbClr val="111B30"/>
                </a:solidFill>
                <a:latin typeface="Calibri"/>
              </a:rPr>
              <a:t>Message</a:t>
            </a:r>
          </a:p>
        </p:txBody>
      </p:sp>
      <p:sp>
        <p:nvSpPr>
          <p:cNvPr id="10" name="Rounded Rectangle 9"/>
          <p:cNvSpPr/>
          <p:nvPr/>
        </p:nvSpPr>
        <p:spPr>
          <a:xfrm>
            <a:off x="7406640" y="3931920"/>
            <a:ext cx="329184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1" i="0">
                <a:solidFill>
                  <a:srgbClr val="111B30"/>
                </a:solidFill>
                <a:latin typeface="Calibri"/>
              </a:rPr>
              <a:t>Match -&gt; DKIM Pass</a:t>
            </a:r>
          </a:p>
          <a:p>
            <a:pPr algn="ctr"/>
            <a:r>
              <a:rPr sz="950" b="1" i="0">
                <a:solidFill>
                  <a:srgbClr val="111B30"/>
                </a:solidFill>
                <a:latin typeface="Calibri"/>
              </a:rPr>
              <a:t>Mismatch -&gt; DKIM Fail</a:t>
            </a:r>
          </a:p>
          <a:p>
            <a:pPr algn="ctr"/>
            <a:r>
              <a:rPr sz="950" b="1" i="0">
                <a:solidFill>
                  <a:srgbClr val="111B30"/>
                </a:solidFill>
                <a:latin typeface="Calibri"/>
              </a:rPr>
              <a:t>(tampered or forged)</a:t>
            </a:r>
          </a:p>
        </p:txBody>
      </p:sp>
      <p:cxnSp>
        <p:nvCxnSpPr>
          <p:cNvPr id="11" name="Connector 10"/>
          <p:cNvCxnSpPr/>
          <p:nvPr/>
        </p:nvCxnSpPr>
        <p:spPr>
          <a:xfrm>
            <a:off x="3291840" y="2651760"/>
            <a:ext cx="548640" cy="4572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858000" y="2697480"/>
            <a:ext cx="54864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052560" y="3200400"/>
            <a:ext cx="1645920" cy="118872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858000" y="4389120"/>
            <a:ext cx="548640" cy="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Generate DKIM Keys and Publish the Selector</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opendkim-genkey -s mail -d &lt;domain&gt;</a:t>
            </a:r>
          </a:p>
          <a:p>
            <a:pPr>
              <a:spcAft>
                <a:spcPts val="600"/>
              </a:spcAft>
            </a:pPr>
            <a:r>
              <a:rPr sz="1350" b="0" i="1">
                <a:solidFill>
                  <a:srgbClr val="6B7480"/>
                </a:solidFill>
                <a:latin typeface="Courier New"/>
              </a:rPr>
              <a:t># generates mail.private (signing key) and mail.txt (DNS TXT record to publish)</a:t>
            </a:r>
          </a:p>
          <a:p>
            <a:pPr>
              <a:spcAft>
                <a:spcPts val="600"/>
              </a:spcAft>
            </a:pPr>
            <a:r>
              <a:rPr sz="1350" b="0" i="1">
                <a:solidFill>
                  <a:srgbClr val="6B7480"/>
                </a:solidFill>
                <a:latin typeface="Courier New"/>
              </a:rPr>
              <a:t># publish mail.txt's content at mail._domainkey.&lt;domain&gt; in the zone file</a:t>
            </a:r>
          </a:p>
          <a:p>
            <a:pPr>
              <a:spcAft>
                <a:spcPts val="600"/>
              </a:spcAft>
            </a:pPr>
            <a:r>
              <a:rPr sz="1350" b="0" i="0">
                <a:solidFill>
                  <a:srgbClr val="111B30"/>
                </a:solidFill>
                <a:latin typeface="Courier New"/>
              </a:rPr>
              <a:t>rndc reload &lt;domain&gt;</a:t>
            </a:r>
          </a:p>
          <a:p>
            <a:pPr>
              <a:spcAft>
                <a:spcPts val="600"/>
              </a:spcAft>
            </a:pPr>
            <a:r>
              <a:rPr sz="1350" b="0" i="0">
                <a:solidFill>
                  <a:srgbClr val="111B30"/>
                </a:solidFill>
                <a:latin typeface="Courier New"/>
              </a:rPr>
              <a:t>dig @127.0.0.1 mail._domainkey.&lt;domain&gt; TXT +short</a:t>
            </a:r>
          </a:p>
          <a:p>
            <a:pPr>
              <a:spcAft>
                <a:spcPts val="600"/>
              </a:spcAft>
            </a:pPr>
            <a:r>
              <a:rPr sz="1350" b="0" i="1">
                <a:solidFill>
                  <a:srgbClr val="6B7480"/>
                </a:solidFill>
                <a:latin typeface="Courier New"/>
              </a:rPr>
              <a:t># confirm the public key record is live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Verify the DKIM Key Pair</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0">
                <a:solidFill>
                  <a:srgbClr val="111B30"/>
                </a:solidFill>
                <a:latin typeface="Courier New"/>
              </a:rPr>
              <a:t>opendkim-testkey -d &lt;domain&gt; -s mail -vvv</a:t>
            </a:r>
          </a:p>
          <a:p>
            <a:pPr>
              <a:spcAft>
                <a:spcPts val="600"/>
              </a:spcAft>
            </a:pPr>
            <a:r>
              <a:rPr sz="1350" b="0" i="1">
                <a:solidFill>
                  <a:srgbClr val="6B7480"/>
                </a:solidFill>
                <a:latin typeface="Courier New"/>
              </a:rPr>
              <a:t># confirms the private signing key matches the currently published public DNS record</a:t>
            </a:r>
          </a:p>
          <a:p>
            <a:pPr>
              <a:spcAft>
                <a:spcPts val="600"/>
              </a:spcAft>
            </a:pPr>
            <a:r>
              <a:rPr sz="1350" b="0" i="1">
                <a:solidFill>
                  <a:srgbClr val="6B7480"/>
                </a:solidFill>
                <a:latin typeface="Courier New"/>
              </a:rPr>
              <a:t># expect: 'key OK' (or the benign 'key not secure' note if the zone itself isn't DNSSEC-signed)</a:t>
            </a:r>
          </a:p>
          <a:p>
            <a:pPr>
              <a:spcAft>
                <a:spcPts val="600"/>
              </a:spcAft>
            </a:pPr>
            <a:r>
              <a:rPr sz="1350" b="0" i="1">
                <a:solidFill>
                  <a:srgbClr val="6B7480"/>
                </a:solidFill>
                <a:latin typeface="Courier New"/>
              </a:rPr>
              <a:t># opendkim.conf: Domain &lt;domain&gt;, Selector mail, KeyFile /etc/opendkim/keys/&lt;domain&gt;/mail.private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DMARC: Domain-based Message Authentication, Reporting &amp; Conformance</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Ties SPF and DKIM together and tells receivers what to do when a message fails both - the missing enforcement policy neither standard defines on its own</a:t>
            </a:r>
          </a:p>
          <a:p>
            <a:pPr>
              <a:lnSpc>
                <a:spcPct val="125000"/>
              </a:lnSpc>
              <a:spcAft>
                <a:spcPts val="1200"/>
              </a:spcAft>
            </a:pPr>
            <a:r>
              <a:rPr sz="1600" b="0" i="0">
                <a:solidFill>
                  <a:srgbClr val="111B30"/>
                </a:solidFill>
                <a:latin typeface="Calibri"/>
              </a:rPr>
              <a:t>•  Published as a DNS TXT record at _dmarc.&lt;domain&gt;: v=DMARC1; p=&lt;policy&gt;; rua=mailto:&lt;reports address&gt;</a:t>
            </a:r>
          </a:p>
          <a:p>
            <a:pPr>
              <a:lnSpc>
                <a:spcPct val="125000"/>
              </a:lnSpc>
              <a:spcAft>
                <a:spcPts val="1200"/>
              </a:spcAft>
            </a:pPr>
            <a:r>
              <a:rPr sz="1600" b="0" i="0">
                <a:solidFill>
                  <a:srgbClr val="111B30"/>
                </a:solidFill>
                <a:latin typeface="Calibri"/>
              </a:rPr>
              <a:t>•  Alignment matters, not just pass/fail: the domain in the visible "From:" header must align with the domain that passed SPF or DKIM - otherwise a message can pass both individually yet still be a spoof of a different "From:" domain</a:t>
            </a:r>
          </a:p>
          <a:p>
            <a:pPr>
              <a:lnSpc>
                <a:spcPct val="125000"/>
              </a:lnSpc>
              <a:spcAft>
                <a:spcPts val="1200"/>
              </a:spcAft>
            </a:pPr>
            <a:r>
              <a:rPr sz="1600" b="0" i="0">
                <a:solidFill>
                  <a:srgbClr val="111B30"/>
                </a:solidFill>
                <a:latin typeface="Calibri"/>
              </a:rPr>
              <a:t>•  The rua= reporting address is what makes DMARC an iterative, data-driven rollout rather than a guess - aggregate reports show exactly what legitimate mail would have been affected before you enforce anything</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DMARC Policy Progression</a:t>
            </a:r>
          </a:p>
        </p:txBody>
      </p:sp>
      <p:graphicFrame>
        <p:nvGraphicFramePr>
          <p:cNvPr id="6" name="Table 5"/>
          <p:cNvGraphicFramePr>
            <a:graphicFrameLocks noGrp="1"/>
          </p:cNvGraphicFramePr>
          <p:nvPr/>
        </p:nvGraphicFramePr>
        <p:xfrm>
          <a:off x="640080" y="1188720"/>
          <a:ext cx="10911535" cy="2560320"/>
        </p:xfrm>
        <a:graphic>
          <a:graphicData uri="http://schemas.openxmlformats.org/drawingml/2006/table">
            <a:tbl>
              <a:tblPr firstRow="1" bandRow="1">
                <a:tableStyleId>{5C22544A-7EE6-4342-B048-85BDC9FD1C3A}</a:tableStyleId>
              </a:tblPr>
              <a:tblGrid>
                <a:gridCol w="2377440"/>
                <a:gridCol w="2743200"/>
                <a:gridCol w="5790895"/>
              </a:tblGrid>
              <a:tr h="512064">
                <a:tc>
                  <a:txBody>
                    <a:bodyPr wrap="square"/>
                    <a:lstStyle/>
                    <a:p>
                      <a:pPr algn="ctr"/>
                      <a:r>
                        <a:rPr sz="1300" b="1" i="0">
                          <a:solidFill>
                            <a:srgbClr val="FFFFFF"/>
                          </a:solidFill>
                          <a:latin typeface="Calibri"/>
                        </a:rPr>
                        <a:t>Stage</a:t>
                      </a:r>
                    </a:p>
                  </a:txBody>
                  <a:tcPr anchor="ctr">
                    <a:solidFill>
                      <a:srgbClr val="1B2A4A"/>
                    </a:solidFill>
                  </a:tcPr>
                </a:tc>
                <a:tc>
                  <a:txBody>
                    <a:bodyPr wrap="square"/>
                    <a:lstStyle/>
                    <a:p>
                      <a:pPr algn="ctr"/>
                      <a:r>
                        <a:rPr sz="1300" b="1" i="0">
                          <a:solidFill>
                            <a:srgbClr val="FFFFFF"/>
                          </a:solidFill>
                          <a:latin typeface="Calibri"/>
                        </a:rPr>
                        <a:t>Policy</a:t>
                      </a:r>
                    </a:p>
                  </a:txBody>
                  <a:tcPr anchor="ctr">
                    <a:solidFill>
                      <a:srgbClr val="1B2A4A"/>
                    </a:solidFill>
                  </a:tcPr>
                </a:tc>
                <a:tc>
                  <a:txBody>
                    <a:bodyPr wrap="square"/>
                    <a:lstStyle/>
                    <a:p>
                      <a:pPr algn="ctr"/>
                      <a:r>
                        <a:rPr sz="1300" b="1" i="0">
                          <a:solidFill>
                            <a:srgbClr val="FFFFFF"/>
                          </a:solidFill>
                          <a:latin typeface="Calibri"/>
                        </a:rPr>
                        <a:t>What Happens to Failing Mail</a:t>
                      </a:r>
                    </a:p>
                  </a:txBody>
                  <a:tcPr anchor="ctr">
                    <a:solidFill>
                      <a:srgbClr val="1B2A4A"/>
                    </a:solidFill>
                  </a:tcPr>
                </a:tc>
              </a:tr>
              <a:tr h="512064">
                <a:tc>
                  <a:txBody>
                    <a:bodyPr wrap="square"/>
                    <a:lstStyle/>
                    <a:p>
                      <a:r>
                        <a:rPr sz="1200" b="0" i="0">
                          <a:solidFill>
                            <a:srgbClr val="111B30"/>
                          </a:solidFill>
                          <a:latin typeface="Calibri"/>
                        </a:rPr>
                        <a:t>1. Monitor</a:t>
                      </a:r>
                    </a:p>
                  </a:txBody>
                  <a:tcPr anchor="ctr">
                    <a:solidFill>
                      <a:srgbClr val="E8EEF7"/>
                    </a:solidFill>
                  </a:tcPr>
                </a:tc>
                <a:tc>
                  <a:txBody>
                    <a:bodyPr wrap="square"/>
                    <a:lstStyle/>
                    <a:p>
                      <a:r>
                        <a:rPr sz="1200" b="0" i="0">
                          <a:solidFill>
                            <a:srgbClr val="111B30"/>
                          </a:solidFill>
                          <a:latin typeface="Calibri"/>
                        </a:rPr>
                        <a:t>p=none</a:t>
                      </a:r>
                    </a:p>
                  </a:txBody>
                  <a:tcPr anchor="ctr">
                    <a:solidFill>
                      <a:srgbClr val="E8EEF7"/>
                    </a:solidFill>
                  </a:tcPr>
                </a:tc>
                <a:tc>
                  <a:txBody>
                    <a:bodyPr wrap="square"/>
                    <a:lstStyle/>
                    <a:p>
                      <a:r>
                        <a:rPr sz="1200" b="0" i="0">
                          <a:solidFill>
                            <a:srgbClr val="111B30"/>
                          </a:solidFill>
                          <a:latin typeface="Calibri"/>
                        </a:rPr>
                        <a:t>Nothing - failing mail is delivered normally; only aggregate reports are generated</a:t>
                      </a:r>
                    </a:p>
                  </a:txBody>
                  <a:tcPr anchor="ctr">
                    <a:solidFill>
                      <a:srgbClr val="E8EEF7"/>
                    </a:solidFill>
                  </a:tcPr>
                </a:tc>
              </a:tr>
              <a:tr h="512064">
                <a:tc>
                  <a:txBody>
                    <a:bodyPr wrap="square"/>
                    <a:lstStyle/>
                    <a:p>
                      <a:r>
                        <a:rPr sz="1200" b="0" i="0">
                          <a:solidFill>
                            <a:srgbClr val="111B30"/>
                          </a:solidFill>
                          <a:latin typeface="Calibri"/>
                        </a:rPr>
                        <a:t>2. Partial enforcement</a:t>
                      </a:r>
                    </a:p>
                  </a:txBody>
                  <a:tcPr anchor="ctr">
                    <a:solidFill>
                      <a:srgbClr val="FFFFFF"/>
                    </a:solidFill>
                  </a:tcPr>
                </a:tc>
                <a:tc>
                  <a:txBody>
                    <a:bodyPr wrap="square"/>
                    <a:lstStyle/>
                    <a:p>
                      <a:r>
                        <a:rPr sz="1200" b="0" i="0">
                          <a:solidFill>
                            <a:srgbClr val="111B30"/>
                          </a:solidFill>
                          <a:latin typeface="Calibri"/>
                        </a:rPr>
                        <a:t>p=quarantine; pct=10</a:t>
                      </a:r>
                    </a:p>
                  </a:txBody>
                  <a:tcPr anchor="ctr">
                    <a:solidFill>
                      <a:srgbClr val="FFFFFF"/>
                    </a:solidFill>
                  </a:tcPr>
                </a:tc>
                <a:tc>
                  <a:txBody>
                    <a:bodyPr wrap="square"/>
                    <a:lstStyle/>
                    <a:p>
                      <a:r>
                        <a:rPr sz="1200" b="0" i="0">
                          <a:solidFill>
                            <a:srgbClr val="111B30"/>
                          </a:solidFill>
                          <a:latin typeface="Calibri"/>
                        </a:rPr>
                        <a:t>10% of failing mail is quarantined (spam-foldered); the rest still delivered, reports continue</a:t>
                      </a:r>
                    </a:p>
                  </a:txBody>
                  <a:tcPr anchor="ctr">
                    <a:solidFill>
                      <a:srgbClr val="FFFFFF"/>
                    </a:solidFill>
                  </a:tcPr>
                </a:tc>
              </a:tr>
              <a:tr h="512064">
                <a:tc>
                  <a:txBody>
                    <a:bodyPr wrap="square"/>
                    <a:lstStyle/>
                    <a:p>
                      <a:r>
                        <a:rPr sz="1200" b="0" i="0">
                          <a:solidFill>
                            <a:srgbClr val="111B30"/>
                          </a:solidFill>
                          <a:latin typeface="Calibri"/>
                        </a:rPr>
                        <a:t>3. Full quarantine</a:t>
                      </a:r>
                    </a:p>
                  </a:txBody>
                  <a:tcPr anchor="ctr">
                    <a:solidFill>
                      <a:srgbClr val="E8EEF7"/>
                    </a:solidFill>
                  </a:tcPr>
                </a:tc>
                <a:tc>
                  <a:txBody>
                    <a:bodyPr wrap="square"/>
                    <a:lstStyle/>
                    <a:p>
                      <a:r>
                        <a:rPr sz="1200" b="0" i="0">
                          <a:solidFill>
                            <a:srgbClr val="111B30"/>
                          </a:solidFill>
                          <a:latin typeface="Calibri"/>
                        </a:rPr>
                        <a:t>p=quarantine; pct=100</a:t>
                      </a:r>
                    </a:p>
                  </a:txBody>
                  <a:tcPr anchor="ctr">
                    <a:solidFill>
                      <a:srgbClr val="E8EEF7"/>
                    </a:solidFill>
                  </a:tcPr>
                </a:tc>
                <a:tc>
                  <a:txBody>
                    <a:bodyPr wrap="square"/>
                    <a:lstStyle/>
                    <a:p>
                      <a:r>
                        <a:rPr sz="1200" b="0" i="0">
                          <a:solidFill>
                            <a:srgbClr val="111B30"/>
                          </a:solidFill>
                          <a:latin typeface="Calibri"/>
                        </a:rPr>
                        <a:t>All failing mail is quarantined - full visibility into real-world impact before rejecting outright</a:t>
                      </a:r>
                    </a:p>
                  </a:txBody>
                  <a:tcPr anchor="ctr">
                    <a:solidFill>
                      <a:srgbClr val="E8EEF7"/>
                    </a:solidFill>
                  </a:tcPr>
                </a:tc>
              </a:tr>
              <a:tr h="512064">
                <a:tc>
                  <a:txBody>
                    <a:bodyPr wrap="square"/>
                    <a:lstStyle/>
                    <a:p>
                      <a:r>
                        <a:rPr sz="1200" b="0" i="0">
                          <a:solidFill>
                            <a:srgbClr val="111B30"/>
                          </a:solidFill>
                          <a:latin typeface="Calibri"/>
                        </a:rPr>
                        <a:t>4. Full enforcement</a:t>
                      </a:r>
                    </a:p>
                  </a:txBody>
                  <a:tcPr anchor="ctr">
                    <a:solidFill>
                      <a:srgbClr val="FFFFFF"/>
                    </a:solidFill>
                  </a:tcPr>
                </a:tc>
                <a:tc>
                  <a:txBody>
                    <a:bodyPr wrap="square"/>
                    <a:lstStyle/>
                    <a:p>
                      <a:r>
                        <a:rPr sz="1200" b="0" i="0">
                          <a:solidFill>
                            <a:srgbClr val="111B30"/>
                          </a:solidFill>
                          <a:latin typeface="Calibri"/>
                        </a:rPr>
                        <a:t>p=reject</a:t>
                      </a:r>
                    </a:p>
                  </a:txBody>
                  <a:tcPr anchor="ctr">
                    <a:solidFill>
                      <a:srgbClr val="FFFFFF"/>
                    </a:solidFill>
                  </a:tcPr>
                </a:tc>
                <a:tc>
                  <a:txBody>
                    <a:bodyPr wrap="square"/>
                    <a:lstStyle/>
                    <a:p>
                      <a:r>
                        <a:rPr sz="1200" b="0" i="0">
                          <a:solidFill>
                            <a:srgbClr val="111B30"/>
                          </a:solidFill>
                          <a:latin typeface="Calibri"/>
                        </a:rPr>
                        <a:t>Failing mail is rejected outright at the receiving server - the end state of a mature deployment</a:t>
                      </a:r>
                    </a:p>
                  </a:txBody>
                  <a:tcPr anchor="ctr">
                    <a:solidFill>
                      <a:srgbClr val="FFFFFF"/>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DMARC Alignment Decision</a:t>
            </a:r>
          </a:p>
        </p:txBody>
      </p:sp>
      <p:sp>
        <p:nvSpPr>
          <p:cNvPr id="6" name="Rounded Rectangle 5"/>
          <p:cNvSpPr/>
          <p:nvPr/>
        </p:nvSpPr>
        <p:spPr>
          <a:xfrm>
            <a:off x="4937760" y="1280160"/>
            <a:ext cx="2377440" cy="73152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Inbound Message</a:t>
            </a:r>
          </a:p>
          <a:p>
            <a:pPr algn="ctr"/>
            <a:r>
              <a:rPr sz="1150" b="0" i="0">
                <a:solidFill>
                  <a:srgbClr val="111B30"/>
                </a:solidFill>
                <a:latin typeface="Calibri"/>
              </a:rPr>
              <a:t>Arrives</a:t>
            </a:r>
          </a:p>
        </p:txBody>
      </p:sp>
      <p:sp>
        <p:nvSpPr>
          <p:cNvPr id="7" name="Diamond 6"/>
          <p:cNvSpPr/>
          <p:nvPr/>
        </p:nvSpPr>
        <p:spPr>
          <a:xfrm>
            <a:off x="4480560" y="2560320"/>
            <a:ext cx="3291840" cy="100584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1" i="0">
                <a:solidFill>
                  <a:srgbClr val="111B30"/>
                </a:solidFill>
                <a:latin typeface="Calibri"/>
              </a:rPr>
              <a:t>SPF or DKIM</a:t>
            </a:r>
          </a:p>
          <a:p>
            <a:pPr algn="ctr"/>
            <a:r>
              <a:rPr sz="950" b="1" i="0">
                <a:solidFill>
                  <a:srgbClr val="111B30"/>
                </a:solidFill>
                <a:latin typeface="Calibri"/>
              </a:rPr>
              <a:t>Passes AND Aligns</a:t>
            </a:r>
          </a:p>
          <a:p>
            <a:pPr algn="ctr"/>
            <a:r>
              <a:rPr sz="950" b="1" i="0">
                <a:solidFill>
                  <a:srgbClr val="111B30"/>
                </a:solidFill>
                <a:latin typeface="Calibri"/>
              </a:rPr>
              <a:t>with From: domain?</a:t>
            </a:r>
          </a:p>
        </p:txBody>
      </p:sp>
      <p:sp>
        <p:nvSpPr>
          <p:cNvPr id="8" name="Rounded Rectangle 7"/>
          <p:cNvSpPr/>
          <p:nvPr/>
        </p:nvSpPr>
        <p:spPr>
          <a:xfrm>
            <a:off x="640080" y="4297680"/>
            <a:ext cx="3291840" cy="91440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2E7D32"/>
                </a:solidFill>
                <a:latin typeface="Calibri"/>
              </a:rPr>
              <a:t>DMARC Pass -&gt;</a:t>
            </a:r>
          </a:p>
          <a:p>
            <a:pPr algn="ctr"/>
            <a:r>
              <a:rPr sz="1100" b="1" i="0">
                <a:solidFill>
                  <a:srgbClr val="2E7D32"/>
                </a:solidFill>
                <a:latin typeface="Calibri"/>
              </a:rPr>
              <a:t>Deliver Normally</a:t>
            </a:r>
          </a:p>
        </p:txBody>
      </p:sp>
      <p:sp>
        <p:nvSpPr>
          <p:cNvPr id="9" name="Rounded Rectangle 8"/>
          <p:cNvSpPr/>
          <p:nvPr/>
        </p:nvSpPr>
        <p:spPr>
          <a:xfrm>
            <a:off x="4846320" y="4297680"/>
            <a:ext cx="3291840" cy="100584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1" i="0">
                <a:solidFill>
                  <a:srgbClr val="B02A2A"/>
                </a:solidFill>
                <a:latin typeface="Calibri"/>
              </a:rPr>
              <a:t>DMARC Fail -&gt;</a:t>
            </a:r>
          </a:p>
          <a:p>
            <a:pPr algn="ctr"/>
            <a:r>
              <a:rPr sz="1000" b="1" i="0">
                <a:solidFill>
                  <a:srgbClr val="B02A2A"/>
                </a:solidFill>
                <a:latin typeface="Calibri"/>
              </a:rPr>
              <a:t>Apply Published Policy</a:t>
            </a:r>
          </a:p>
          <a:p>
            <a:pPr algn="ctr"/>
            <a:r>
              <a:rPr sz="1000" b="1" i="0">
                <a:solidFill>
                  <a:srgbClr val="B02A2A"/>
                </a:solidFill>
                <a:latin typeface="Calibri"/>
              </a:rPr>
              <a:t>(none/quarantine/reject)</a:t>
            </a:r>
          </a:p>
        </p:txBody>
      </p:sp>
      <p:sp>
        <p:nvSpPr>
          <p:cNvPr id="10" name="Rounded Rectangle 9"/>
          <p:cNvSpPr/>
          <p:nvPr/>
        </p:nvSpPr>
        <p:spPr>
          <a:xfrm>
            <a:off x="9052560" y="4297680"/>
            <a:ext cx="2743200" cy="91440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00" b="0" i="0">
                <a:solidFill>
                  <a:srgbClr val="111B30"/>
                </a:solidFill>
                <a:latin typeface="Calibri"/>
              </a:rPr>
              <a:t>Aggregate Report</a:t>
            </a:r>
          </a:p>
          <a:p>
            <a:pPr algn="ctr"/>
            <a:r>
              <a:rPr sz="1000" b="0" i="0">
                <a:solidFill>
                  <a:srgbClr val="111B30"/>
                </a:solidFill>
                <a:latin typeface="Calibri"/>
              </a:rPr>
              <a:t>Sent to rua= Address</a:t>
            </a:r>
          </a:p>
        </p:txBody>
      </p:sp>
      <p:cxnSp>
        <p:nvCxnSpPr>
          <p:cNvPr id="11" name="Connector 10"/>
          <p:cNvCxnSpPr/>
          <p:nvPr/>
        </p:nvCxnSpPr>
        <p:spPr>
          <a:xfrm>
            <a:off x="6126480" y="2011680"/>
            <a:ext cx="0" cy="54864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286000" y="3063239"/>
            <a:ext cx="2194560" cy="1234441"/>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377440" y="3479292"/>
            <a:ext cx="2011680" cy="365760"/>
          </a:xfrm>
          <a:prstGeom prst="rect">
            <a:avLst/>
          </a:prstGeom>
          <a:noFill/>
        </p:spPr>
        <p:txBody>
          <a:bodyPr wrap="square">
            <a:spAutoFit/>
          </a:bodyPr>
          <a:lstStyle/>
          <a:p>
            <a:pPr algn="ctr"/>
            <a:r>
              <a:rPr sz="950" b="0" i="1">
                <a:solidFill>
                  <a:srgbClr val="2E7D32"/>
                </a:solidFill>
                <a:latin typeface="Calibri"/>
              </a:rPr>
              <a:t>Yes</a:t>
            </a:r>
          </a:p>
        </p:txBody>
      </p:sp>
      <p:cxnSp>
        <p:nvCxnSpPr>
          <p:cNvPr id="14" name="Connector 13"/>
          <p:cNvCxnSpPr/>
          <p:nvPr/>
        </p:nvCxnSpPr>
        <p:spPr>
          <a:xfrm flipH="1">
            <a:off x="6492240" y="3063239"/>
            <a:ext cx="1280160" cy="1234441"/>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26479" y="3479292"/>
            <a:ext cx="2011680" cy="365760"/>
          </a:xfrm>
          <a:prstGeom prst="rect">
            <a:avLst/>
          </a:prstGeom>
          <a:noFill/>
        </p:spPr>
        <p:txBody>
          <a:bodyPr wrap="square">
            <a:spAutoFit/>
          </a:bodyPr>
          <a:lstStyle/>
          <a:p>
            <a:pPr algn="ctr"/>
            <a:r>
              <a:rPr sz="950" b="0" i="1">
                <a:solidFill>
                  <a:srgbClr val="B02A2A"/>
                </a:solidFill>
                <a:latin typeface="Calibri"/>
              </a:rPr>
              <a:t>No</a:t>
            </a:r>
          </a:p>
        </p:txBody>
      </p:sp>
      <p:cxnSp>
        <p:nvCxnSpPr>
          <p:cNvPr id="16" name="Connector 15"/>
          <p:cNvCxnSpPr/>
          <p:nvPr/>
        </p:nvCxnSpPr>
        <p:spPr>
          <a:xfrm flipV="1">
            <a:off x="8138160" y="4754880"/>
            <a:ext cx="914400" cy="45720"/>
          </a:xfrm>
          <a:prstGeom prst="line">
            <a:avLst/>
          </a:prstGeom>
          <a:ln w="22225">
            <a:solidFill>
              <a:srgbClr val="6B74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931920" y="4754880"/>
            <a:ext cx="5120640" cy="0"/>
          </a:xfrm>
          <a:prstGeom prst="line">
            <a:avLst/>
          </a:prstGeom>
          <a:ln w="22225">
            <a:solidFill>
              <a:srgbClr val="6B7480"/>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Full Pipeline: SPF + DKIM + DMARC Together</a:t>
            </a:r>
          </a:p>
        </p:txBody>
      </p:sp>
      <p:sp>
        <p:nvSpPr>
          <p:cNvPr id="6" name="Rounded Rectangle 5"/>
          <p:cNvSpPr/>
          <p:nvPr/>
        </p:nvSpPr>
        <p:spPr>
          <a:xfrm>
            <a:off x="365760" y="2331720"/>
            <a:ext cx="2011680" cy="82296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0" i="0">
                <a:solidFill>
                  <a:srgbClr val="111B30"/>
                </a:solidFill>
                <a:latin typeface="Calibri"/>
              </a:rPr>
              <a:t>Inbound Message</a:t>
            </a:r>
          </a:p>
        </p:txBody>
      </p:sp>
      <p:sp>
        <p:nvSpPr>
          <p:cNvPr id="7" name="Rounded Rectangle 6"/>
          <p:cNvSpPr/>
          <p:nvPr/>
        </p:nvSpPr>
        <p:spPr>
          <a:xfrm>
            <a:off x="2651760" y="1508760"/>
            <a:ext cx="2286000" cy="82296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00" b="0" i="0">
                <a:solidFill>
                  <a:srgbClr val="111B30"/>
                </a:solidFill>
                <a:latin typeface="Calibri"/>
              </a:rPr>
              <a:t>SPF Check:</a:t>
            </a:r>
          </a:p>
          <a:p>
            <a:pPr algn="ctr"/>
            <a:r>
              <a:rPr sz="900" b="0" i="0">
                <a:solidFill>
                  <a:srgbClr val="111B30"/>
                </a:solidFill>
                <a:latin typeface="Calibri"/>
              </a:rPr>
              <a:t>Sending IP Authorized?</a:t>
            </a:r>
          </a:p>
        </p:txBody>
      </p:sp>
      <p:sp>
        <p:nvSpPr>
          <p:cNvPr id="8" name="Rounded Rectangle 7"/>
          <p:cNvSpPr/>
          <p:nvPr/>
        </p:nvSpPr>
        <p:spPr>
          <a:xfrm>
            <a:off x="2651760" y="3154680"/>
            <a:ext cx="2286000" cy="82296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00" b="0" i="0">
                <a:solidFill>
                  <a:srgbClr val="111B30"/>
                </a:solidFill>
                <a:latin typeface="Calibri"/>
              </a:rPr>
              <a:t>DKIM Check:</a:t>
            </a:r>
          </a:p>
          <a:p>
            <a:pPr algn="ctr"/>
            <a:r>
              <a:rPr sz="900" b="0" i="0">
                <a:solidFill>
                  <a:srgbClr val="111B30"/>
                </a:solidFill>
                <a:latin typeface="Calibri"/>
              </a:rPr>
              <a:t>Signature Valid?</a:t>
            </a:r>
          </a:p>
        </p:txBody>
      </p:sp>
      <p:sp>
        <p:nvSpPr>
          <p:cNvPr id="9" name="Diamond 8"/>
          <p:cNvSpPr/>
          <p:nvPr/>
        </p:nvSpPr>
        <p:spPr>
          <a:xfrm>
            <a:off x="5212080" y="2103120"/>
            <a:ext cx="2377440" cy="1051560"/>
          </a:xfrm>
          <a:prstGeom prst="diamond">
            <a:avLst/>
          </a:prstGeom>
          <a:solidFill>
            <a:srgbClr val="E8EEF7"/>
          </a:solidFill>
          <a:ln w="25400">
            <a:solidFill>
              <a:srgbClr val="00B4D8"/>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00" b="1" i="0">
                <a:solidFill>
                  <a:srgbClr val="111B30"/>
                </a:solidFill>
                <a:latin typeface="Calibri"/>
              </a:rPr>
              <a:t>DMARC Alignment:</a:t>
            </a:r>
          </a:p>
          <a:p>
            <a:pPr algn="ctr"/>
            <a:r>
              <a:rPr sz="900" b="1" i="0">
                <a:solidFill>
                  <a:srgbClr val="111B30"/>
                </a:solidFill>
                <a:latin typeface="Calibri"/>
              </a:rPr>
              <a:t>Does a Pass Match</a:t>
            </a:r>
          </a:p>
          <a:p>
            <a:pPr algn="ctr"/>
            <a:r>
              <a:rPr sz="900" b="1" i="0">
                <a:solidFill>
                  <a:srgbClr val="111B30"/>
                </a:solidFill>
                <a:latin typeface="Calibri"/>
              </a:rPr>
              <a:t>the From: Domain?</a:t>
            </a:r>
          </a:p>
        </p:txBody>
      </p:sp>
      <p:sp>
        <p:nvSpPr>
          <p:cNvPr id="10" name="Rounded Rectangle 9"/>
          <p:cNvSpPr/>
          <p:nvPr/>
        </p:nvSpPr>
        <p:spPr>
          <a:xfrm>
            <a:off x="7863840" y="1325880"/>
            <a:ext cx="274320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00" b="0" i="0">
                <a:solidFill>
                  <a:srgbClr val="111B30"/>
                </a:solidFill>
                <a:latin typeface="Calibri"/>
              </a:rPr>
              <a:t>Apply DMARC Policy</a:t>
            </a:r>
          </a:p>
          <a:p>
            <a:pPr algn="ctr"/>
            <a:r>
              <a:rPr sz="900" b="0" i="0">
                <a:solidFill>
                  <a:srgbClr val="111B30"/>
                </a:solidFill>
                <a:latin typeface="Calibri"/>
              </a:rPr>
              <a:t>(none/quarantine/reject)</a:t>
            </a:r>
          </a:p>
          <a:p>
            <a:pPr algn="ctr"/>
            <a:r>
              <a:rPr sz="900" b="0" i="0">
                <a:solidFill>
                  <a:srgbClr val="111B30"/>
                </a:solidFill>
                <a:latin typeface="Calibri"/>
              </a:rPr>
              <a:t>per current stage</a:t>
            </a:r>
          </a:p>
        </p:txBody>
      </p:sp>
      <p:sp>
        <p:nvSpPr>
          <p:cNvPr id="11" name="Rounded Rectangle 10"/>
          <p:cNvSpPr/>
          <p:nvPr/>
        </p:nvSpPr>
        <p:spPr>
          <a:xfrm>
            <a:off x="7863840" y="2971800"/>
            <a:ext cx="2743200" cy="73152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1" i="0">
                <a:solidFill>
                  <a:srgbClr val="2E7D32"/>
                </a:solidFill>
                <a:latin typeface="Calibri"/>
              </a:rPr>
              <a:t>Pass -&gt; Delivered</a:t>
            </a:r>
          </a:p>
          <a:p>
            <a:pPr algn="ctr"/>
            <a:r>
              <a:rPr sz="950" b="1" i="0">
                <a:solidFill>
                  <a:srgbClr val="2E7D32"/>
                </a:solidFill>
                <a:latin typeface="Calibri"/>
              </a:rPr>
              <a:t>to Inbox Normally</a:t>
            </a:r>
          </a:p>
        </p:txBody>
      </p:sp>
      <p:sp>
        <p:nvSpPr>
          <p:cNvPr id="12" name="Rounded Rectangle 11"/>
          <p:cNvSpPr/>
          <p:nvPr/>
        </p:nvSpPr>
        <p:spPr>
          <a:xfrm>
            <a:off x="5120640" y="3566160"/>
            <a:ext cx="2560320" cy="640080"/>
          </a:xfrm>
          <a:prstGeom prst="roundRect">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00" b="0" i="0">
                <a:solidFill>
                  <a:srgbClr val="111B30"/>
                </a:solidFill>
                <a:latin typeface="Calibri"/>
              </a:rPr>
              <a:t>Aggregate Report</a:t>
            </a:r>
          </a:p>
          <a:p>
            <a:pPr algn="ctr"/>
            <a:r>
              <a:rPr sz="900" b="0" i="0">
                <a:solidFill>
                  <a:srgbClr val="111B30"/>
                </a:solidFill>
                <a:latin typeface="Calibri"/>
              </a:rPr>
              <a:t>-&gt; rua= address</a:t>
            </a:r>
          </a:p>
        </p:txBody>
      </p:sp>
      <p:cxnSp>
        <p:nvCxnSpPr>
          <p:cNvPr id="13" name="Connector 12"/>
          <p:cNvCxnSpPr/>
          <p:nvPr/>
        </p:nvCxnSpPr>
        <p:spPr>
          <a:xfrm flipV="1">
            <a:off x="2377440" y="1920240"/>
            <a:ext cx="274320" cy="82296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377440" y="2743200"/>
            <a:ext cx="274320" cy="82296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937760" y="1920240"/>
            <a:ext cx="274320" cy="70866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4937760" y="2628900"/>
            <a:ext cx="274320" cy="93726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6400800" y="1783080"/>
            <a:ext cx="1463040" cy="32004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126479" y="1741932"/>
            <a:ext cx="2011680" cy="365760"/>
          </a:xfrm>
          <a:prstGeom prst="rect">
            <a:avLst/>
          </a:prstGeom>
          <a:noFill/>
        </p:spPr>
        <p:txBody>
          <a:bodyPr wrap="square">
            <a:spAutoFit/>
          </a:bodyPr>
          <a:lstStyle/>
          <a:p>
            <a:pPr algn="ctr"/>
            <a:r>
              <a:rPr sz="950" b="0" i="1">
                <a:solidFill>
                  <a:srgbClr val="B02A2A"/>
                </a:solidFill>
                <a:latin typeface="Calibri"/>
              </a:rPr>
              <a:t>Fail</a:t>
            </a:r>
          </a:p>
        </p:txBody>
      </p:sp>
      <p:cxnSp>
        <p:nvCxnSpPr>
          <p:cNvPr id="19" name="Connector 18"/>
          <p:cNvCxnSpPr/>
          <p:nvPr/>
        </p:nvCxnSpPr>
        <p:spPr>
          <a:xfrm>
            <a:off x="7589520" y="2628900"/>
            <a:ext cx="274320" cy="708660"/>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720840" y="2782062"/>
            <a:ext cx="2011680" cy="365760"/>
          </a:xfrm>
          <a:prstGeom prst="rect">
            <a:avLst/>
          </a:prstGeom>
          <a:noFill/>
        </p:spPr>
        <p:txBody>
          <a:bodyPr wrap="square">
            <a:spAutoFit/>
          </a:bodyPr>
          <a:lstStyle/>
          <a:p>
            <a:pPr algn="ctr"/>
            <a:r>
              <a:rPr sz="950" b="0" i="1">
                <a:solidFill>
                  <a:srgbClr val="2E7D32"/>
                </a:solidFill>
                <a:latin typeface="Calibri"/>
              </a:rPr>
              <a:t>Pass</a:t>
            </a:r>
          </a:p>
        </p:txBody>
      </p:sp>
      <p:cxnSp>
        <p:nvCxnSpPr>
          <p:cNvPr id="21" name="Connector 20"/>
          <p:cNvCxnSpPr/>
          <p:nvPr/>
        </p:nvCxnSpPr>
        <p:spPr>
          <a:xfrm>
            <a:off x="6400800" y="3154679"/>
            <a:ext cx="0" cy="411481"/>
          </a:xfrm>
          <a:prstGeom prst="line">
            <a:avLst/>
          </a:prstGeom>
          <a:ln w="22225">
            <a:solidFill>
              <a:srgbClr val="6B748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0080" y="4434840"/>
            <a:ext cx="10881360" cy="365760"/>
          </a:xfrm>
          <a:prstGeom prst="rect">
            <a:avLst/>
          </a:prstGeom>
          <a:noFill/>
        </p:spPr>
        <p:txBody>
          <a:bodyPr wrap="square">
            <a:spAutoFit/>
          </a:bodyPr>
          <a:lstStyle/>
          <a:p>
            <a:pPr algn="ctr"/>
            <a:r>
              <a:rPr sz="1100" b="0" i="1">
                <a:solidFill>
                  <a:srgbClr val="6B7480"/>
                </a:solidFill>
                <a:latin typeface="Calibri"/>
              </a:rPr>
              <a:t>This is the complete authentication pipeline every inbound message passes through once all three standards are deployed together.</a:t>
            </a:r>
          </a:p>
        </p:txBody>
      </p:sp>
      <p:sp>
        <p:nvSpPr>
          <p:cNvPr id="23" name="TextBox 22"/>
          <p:cNvSpPr txBox="1"/>
          <p:nvPr/>
        </p:nvSpPr>
        <p:spPr>
          <a:xfrm>
            <a:off x="640080" y="4846320"/>
            <a:ext cx="10881360" cy="5029200"/>
          </a:xfrm>
          <a:prstGeom prst="rect">
            <a:avLst/>
          </a:prstGeom>
          <a:noFill/>
        </p:spPr>
        <p:txBody>
          <a:bodyPr wrap="square">
            <a:spAutoFit/>
          </a:bodyPr>
          <a:lstStyle/>
          <a:p>
            <a:pPr>
              <a:lnSpc>
                <a:spcPct val="125000"/>
              </a:lnSpc>
              <a:spcAft>
                <a:spcPts val="1200"/>
              </a:spcAft>
            </a:pPr>
            <a:r>
              <a:rPr sz="1300" b="0" i="0">
                <a:solidFill>
                  <a:srgbClr val="111B30"/>
                </a:solidFill>
                <a:latin typeface="Calibri"/>
              </a:rPr>
              <a:t>•  This capstone diagram is the whole section synthesized into one picture - SPF and DKIM are independent, parallel checks; DMARC is the alignment and enforcement layer sitting above both.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Live Demo: Publish DMARC and Confirm the Full Pipeline</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00B4D8"/>
                </a:solidFill>
                <a:latin typeface="Calibri"/>
              </a:rPr>
              <a:t>LIVE DEMO</a:t>
            </a:r>
          </a:p>
        </p:txBody>
      </p:sp>
      <p:sp>
        <p:nvSpPr>
          <p:cNvPr id="7" name="TextBox 6"/>
          <p:cNvSpPr txBox="1"/>
          <p:nvPr/>
        </p:nvSpPr>
        <p:spPr>
          <a:xfrm>
            <a:off x="640080" y="1508760"/>
            <a:ext cx="10881360" cy="4937760"/>
          </a:xfrm>
          <a:prstGeom prst="rect">
            <a:avLst/>
          </a:prstGeom>
          <a:noFill/>
        </p:spPr>
        <p:txBody>
          <a:bodyPr wrap="square">
            <a:spAutoFit/>
          </a:bodyPr>
          <a:lstStyle/>
          <a:p>
            <a:pPr>
              <a:spcAft>
                <a:spcPts val="600"/>
              </a:spcAft>
            </a:pPr>
            <a:r>
              <a:rPr sz="1350" b="0" i="1">
                <a:solidFill>
                  <a:srgbClr val="6B7480"/>
                </a:solidFill>
                <a:latin typeface="Courier New"/>
              </a:rPr>
              <a:t># add to the zone file: _dmarc.&lt;domain&gt;. IN TXT "v=DMARC1; p=none; rua=mailto:dmarc-reports@&lt;domain&gt;"</a:t>
            </a:r>
          </a:p>
          <a:p>
            <a:pPr>
              <a:spcAft>
                <a:spcPts val="600"/>
              </a:spcAft>
            </a:pPr>
            <a:r>
              <a:rPr sz="1350" b="0" i="0">
                <a:solidFill>
                  <a:srgbClr val="111B30"/>
                </a:solidFill>
                <a:latin typeface="Courier New"/>
              </a:rPr>
              <a:t>rndc reload &lt;domain&gt;</a:t>
            </a:r>
          </a:p>
          <a:p>
            <a:pPr>
              <a:spcAft>
                <a:spcPts val="600"/>
              </a:spcAft>
            </a:pPr>
            <a:r>
              <a:rPr sz="1350" b="0" i="0">
                <a:solidFill>
                  <a:srgbClr val="111B30"/>
                </a:solidFill>
                <a:latin typeface="Courier New"/>
              </a:rPr>
              <a:t>dig @127.0.0.1 _dmarc.&lt;domain&gt; TXT +short</a:t>
            </a:r>
          </a:p>
          <a:p>
            <a:pPr>
              <a:spcAft>
                <a:spcPts val="600"/>
              </a:spcAft>
            </a:pPr>
            <a:r>
              <a:rPr sz="1350" b="0" i="1">
                <a:solidFill>
                  <a:srgbClr val="6B7480"/>
                </a:solidFill>
                <a:latin typeface="Courier New"/>
              </a:rPr>
              <a:t># confirm the DMARC record is published with a reporting address</a:t>
            </a:r>
          </a:p>
          <a:p>
            <a:pPr>
              <a:spcAft>
                <a:spcPts val="600"/>
              </a:spcAft>
            </a:pPr>
            <a:r>
              <a:rPr sz="1350" b="0" i="1">
                <a:solidFill>
                  <a:srgbClr val="6B7480"/>
                </a:solidFill>
                <a:latin typeface="Courier New"/>
              </a:rPr>
              <a:t># send a test message through the professor-run validation checker to confirm SPF+DKIM+DMARC all pass together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Email Spoofing / Business Email Compromise (BEC)</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Domain has no SPF/</a:t>
            </a:r>
          </a:p>
          <a:p>
            <a:pPr algn="ctr"/>
            <a:r>
              <a:rPr sz="1150" b="0" i="0">
                <a:solidFill>
                  <a:srgbClr val="111B30"/>
                </a:solidFill>
                <a:latin typeface="Calibri"/>
              </a:rPr>
              <a:t>DKIM/DMARC enforcement</a:t>
            </a:r>
          </a:p>
          <a:p>
            <a:pPr algn="ctr"/>
            <a:r>
              <a:rPr sz="1150" b="0" i="0">
                <a:solidFill>
                  <a:srgbClr val="111B30"/>
                </a:solidFill>
                <a:latin typeface="Calibri"/>
              </a:rPr>
              <a:t>published (or policy is p=none only)</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sends mail</a:t>
            </a:r>
          </a:p>
          <a:p>
            <a:pPr algn="ctr"/>
            <a:r>
              <a:rPr sz="1150" b="1" i="0">
                <a:solidFill>
                  <a:srgbClr val="111B30"/>
                </a:solidFill>
                <a:latin typeface="Calibri"/>
              </a:rPr>
              <a:t>with a forged "From:"</a:t>
            </a:r>
          </a:p>
          <a:p>
            <a:pPr algn="ctr"/>
            <a:r>
              <a:rPr sz="1150" b="1" i="0">
                <a:solidFill>
                  <a:srgbClr val="111B30"/>
                </a:solidFill>
                <a:latin typeface="Calibri"/>
              </a:rPr>
              <a:t>header impersonating an executive or vendor</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Recipient trusts the</a:t>
            </a:r>
          </a:p>
          <a:p>
            <a:pPr algn="ctr"/>
            <a:r>
              <a:rPr sz="1150" b="0" i="0">
                <a:solidFill>
                  <a:srgbClr val="111B30"/>
                </a:solidFill>
                <a:latin typeface="Calibri"/>
              </a:rPr>
              <a:t>apparent sender, wires funds</a:t>
            </a:r>
          </a:p>
          <a:p>
            <a:pPr algn="ctr"/>
            <a:r>
              <a:rPr sz="1150" b="0" i="0">
                <a:solidFill>
                  <a:srgbClr val="111B30"/>
                </a:solidFill>
                <a:latin typeface="Calibri"/>
              </a:rPr>
              <a:t>or discloses credentials/data</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Publish and enforce SPF (-all), DKIM, and DMARC (working toward p=reject) - a receiving server rejects the forged message before it ever reaches an inbox</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Open Mail Relay Abuse</a:t>
            </a:r>
          </a:p>
        </p:txBody>
      </p:sp>
      <p:sp>
        <p:nvSpPr>
          <p:cNvPr id="6" name="TextBox 5"/>
          <p:cNvSpPr txBox="1"/>
          <p:nvPr/>
        </p:nvSpPr>
        <p:spPr>
          <a:xfrm>
            <a:off x="457200" y="1051560"/>
            <a:ext cx="10515600" cy="320040"/>
          </a:xfrm>
          <a:prstGeom prst="rect">
            <a:avLst/>
          </a:prstGeom>
          <a:noFill/>
        </p:spPr>
        <p:txBody>
          <a:bodyPr wrap="square">
            <a:spAutoFit/>
          </a:bodyPr>
          <a:lstStyle/>
          <a:p>
            <a:r>
              <a:rPr sz="1300" b="1" i="1">
                <a:solidFill>
                  <a:srgbClr val="B02A2A"/>
                </a:solidFill>
                <a:latin typeface="Calibri"/>
              </a:rPr>
              <a:t>Attack Spotlight</a:t>
            </a:r>
          </a:p>
        </p:txBody>
      </p:sp>
      <p:sp>
        <p:nvSpPr>
          <p:cNvPr id="7" name="Rounded Rectangle 6"/>
          <p:cNvSpPr/>
          <p:nvPr/>
        </p:nvSpPr>
        <p:spPr>
          <a:xfrm>
            <a:off x="64008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Mail server accepts</a:t>
            </a:r>
          </a:p>
          <a:p>
            <a:pPr algn="ctr"/>
            <a:r>
              <a:rPr sz="1150" b="0" i="0">
                <a:solidFill>
                  <a:srgbClr val="111B30"/>
                </a:solidFill>
                <a:latin typeface="Calibri"/>
              </a:rPr>
              <a:t>and relays messages from</a:t>
            </a:r>
          </a:p>
          <a:p>
            <a:pPr algn="ctr"/>
            <a:r>
              <a:rPr sz="1150" b="0" i="0">
                <a:solidFill>
                  <a:srgbClr val="111B30"/>
                </a:solidFill>
                <a:latin typeface="Calibri"/>
              </a:rPr>
              <a:t>any sender to any recipient, unauthenticated</a:t>
            </a:r>
          </a:p>
        </p:txBody>
      </p:sp>
      <p:sp>
        <p:nvSpPr>
          <p:cNvPr id="8" name="Rounded Rectangle 7"/>
          <p:cNvSpPr/>
          <p:nvPr/>
        </p:nvSpPr>
        <p:spPr>
          <a:xfrm>
            <a:off x="4297680" y="1965960"/>
            <a:ext cx="356616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1" i="0">
                <a:solidFill>
                  <a:srgbClr val="111B30"/>
                </a:solidFill>
                <a:latin typeface="Calibri"/>
              </a:rPr>
              <a:t>Attacker uses the</a:t>
            </a:r>
          </a:p>
          <a:p>
            <a:pPr algn="ctr"/>
            <a:r>
              <a:rPr sz="1150" b="1" i="0">
                <a:solidFill>
                  <a:srgbClr val="111B30"/>
                </a:solidFill>
                <a:latin typeface="Calibri"/>
              </a:rPr>
              <a:t>open relay to send spam</a:t>
            </a:r>
          </a:p>
          <a:p>
            <a:pPr algn="ctr"/>
            <a:r>
              <a:rPr sz="1150" b="1" i="0">
                <a:solidFill>
                  <a:srgbClr val="111B30"/>
                </a:solidFill>
                <a:latin typeface="Calibri"/>
              </a:rPr>
              <a:t>or phishing that appears to originate from a trusted server</a:t>
            </a:r>
          </a:p>
        </p:txBody>
      </p:sp>
      <p:sp>
        <p:nvSpPr>
          <p:cNvPr id="9" name="Rounded Rectangle 8"/>
          <p:cNvSpPr/>
          <p:nvPr/>
        </p:nvSpPr>
        <p:spPr>
          <a:xfrm>
            <a:off x="8229600" y="1965960"/>
            <a:ext cx="3291840" cy="1371600"/>
          </a:xfrm>
          <a:prstGeom prst="roundRect">
            <a:avLst/>
          </a:prstGeom>
          <a:solidFill>
            <a:srgbClr val="FFFFFF"/>
          </a:solidFill>
          <a:ln w="25400">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50" b="0" i="0">
                <a:solidFill>
                  <a:srgbClr val="111B30"/>
                </a:solidFill>
                <a:latin typeface="Calibri"/>
              </a:rPr>
              <a:t>The relay's own domain</a:t>
            </a:r>
          </a:p>
          <a:p>
            <a:pPr algn="ctr"/>
            <a:r>
              <a:rPr sz="1150" b="0" i="0">
                <a:solidFill>
                  <a:srgbClr val="111B30"/>
                </a:solidFill>
                <a:latin typeface="Calibri"/>
              </a:rPr>
              <a:t>and IP reputation is</a:t>
            </a:r>
          </a:p>
          <a:p>
            <a:pPr algn="ctr"/>
            <a:r>
              <a:rPr sz="1150" b="0" i="0">
                <a:solidFill>
                  <a:srgbClr val="111B30"/>
                </a:solidFill>
                <a:latin typeface="Calibri"/>
              </a:rPr>
              <a:t>destroyed - legitimate mail from that server gets blocked everywhere</a:t>
            </a:r>
          </a:p>
        </p:txBody>
      </p:sp>
      <p:cxnSp>
        <p:nvCxnSpPr>
          <p:cNvPr id="10" name="Connector 9"/>
          <p:cNvCxnSpPr/>
          <p:nvPr/>
        </p:nvCxnSpPr>
        <p:spPr>
          <a:xfrm>
            <a:off x="393192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2651760"/>
            <a:ext cx="365760" cy="0"/>
          </a:xfrm>
          <a:prstGeom prst="line">
            <a:avLst/>
          </a:prstGeom>
          <a:ln w="25400">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40080" y="3794760"/>
            <a:ext cx="10881360" cy="1737360"/>
          </a:xfrm>
          <a:prstGeom prst="roundRect">
            <a:avLst/>
          </a:prstGeom>
          <a:solidFill>
            <a:srgbClr val="E8EEF7"/>
          </a:solidFill>
          <a:ln w="254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300" b="1" i="0">
                <a:solidFill>
                  <a:srgbClr val="2E7D32"/>
                </a:solidFill>
                <a:latin typeface="Calibri"/>
              </a:rPr>
              <a:t>DEFENSE:  </a:t>
            </a:r>
            <a:r>
              <a:rPr sz="1300" b="0" i="0">
                <a:solidFill>
                  <a:srgbClr val="111B30"/>
                </a:solidFill>
                <a:latin typeface="Calibri"/>
              </a:rPr>
              <a:t>Restrict relaying to authenticated users and explicitly defined internal networks only - never relay for arbitrary external senders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Mail Server Hardening Beyond Authentication Standards</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Relay restriction: only relay for authenticated users or explicitly trusted internal networks - the direct fix for open relay abuse</a:t>
            </a:r>
          </a:p>
          <a:p>
            <a:pPr>
              <a:lnSpc>
                <a:spcPct val="125000"/>
              </a:lnSpc>
              <a:spcAft>
                <a:spcPts val="1200"/>
              </a:spcAft>
            </a:pPr>
            <a:r>
              <a:rPr sz="1600" b="0" i="0">
                <a:solidFill>
                  <a:srgbClr val="111B30"/>
                </a:solidFill>
                <a:latin typeface="Calibri"/>
              </a:rPr>
              <a:t>•  TLS enforcement: require STARTTLS for both inbound and outbound mail so message content isn't transmitted in plaintext across the internet</a:t>
            </a:r>
          </a:p>
          <a:p>
            <a:pPr>
              <a:lnSpc>
                <a:spcPct val="125000"/>
              </a:lnSpc>
              <a:spcAft>
                <a:spcPts val="1200"/>
              </a:spcAft>
            </a:pPr>
            <a:r>
              <a:rPr sz="1600" b="0" i="0">
                <a:solidFill>
                  <a:srgbClr val="111B30"/>
                </a:solidFill>
                <a:latin typeface="Calibri"/>
              </a:rPr>
              <a:t>•  Anti-spam/anti-malware scanning: layer content-based filtering in addition to sender-authentication - SPF/DKIM/DMARC confirm identity, not that a message's content is benign</a:t>
            </a:r>
          </a:p>
          <a:p>
            <a:pPr>
              <a:lnSpc>
                <a:spcPct val="125000"/>
              </a:lnSpc>
              <a:spcAft>
                <a:spcPts val="1200"/>
              </a:spcAft>
            </a:pPr>
            <a:r>
              <a:rPr sz="1600" b="0" i="0">
                <a:solidFill>
                  <a:srgbClr val="111B30"/>
                </a:solidFill>
                <a:latin typeface="Calibri"/>
              </a:rPr>
              <a:t>•  Rate limiting and connection throttling: slow down mass-sending abuse from a single compromised account before it damages the domain's reputation</a:t>
            </a:r>
          </a:p>
          <a:p>
            <a:pPr>
              <a:lnSpc>
                <a:spcPct val="125000"/>
              </a:lnSpc>
              <a:spcAft>
                <a:spcPts val="1200"/>
              </a:spcAft>
            </a:pPr>
            <a:r>
              <a:rPr sz="1600" b="0" i="0">
                <a:solidFill>
                  <a:srgbClr val="111B30"/>
                </a:solidFill>
                <a:latin typeface="Calibri"/>
              </a:rPr>
              <a:t>•  None of these substitute for SPF/DKIM/DMARC, and none of SPF/DKIM/DMARC substitute for these - they're independent, complementary layers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Relay Restriction Flow</a:t>
            </a:r>
          </a:p>
        </p:txBody>
      </p:sp>
      <p:sp>
        <p:nvSpPr>
          <p:cNvPr id="6" name="Rounded Rectangle 5"/>
          <p:cNvSpPr/>
          <p:nvPr/>
        </p:nvSpPr>
        <p:spPr>
          <a:xfrm>
            <a:off x="548640" y="3108960"/>
            <a:ext cx="2377440" cy="914400"/>
          </a:xfrm>
          <a:prstGeom prst="roundRect">
            <a:avLst/>
          </a:prstGeom>
          <a:solidFill>
            <a:srgbClr val="FFFFFF"/>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0" i="0">
                <a:solidFill>
                  <a:srgbClr val="111B30"/>
                </a:solidFill>
                <a:latin typeface="Calibri"/>
              </a:rPr>
              <a:t>Client Connects,</a:t>
            </a:r>
          </a:p>
          <a:p>
            <a:pPr algn="ctr"/>
            <a:r>
              <a:rPr sz="1100" b="0" i="0">
                <a:solidFill>
                  <a:srgbClr val="111B30"/>
                </a:solidFill>
                <a:latin typeface="Calibri"/>
              </a:rPr>
              <a:t>Attempts to Send</a:t>
            </a:r>
          </a:p>
        </p:txBody>
      </p:sp>
      <p:sp>
        <p:nvSpPr>
          <p:cNvPr id="7" name="Diamond 6"/>
          <p:cNvSpPr/>
          <p:nvPr/>
        </p:nvSpPr>
        <p:spPr>
          <a:xfrm>
            <a:off x="3291840" y="2926080"/>
            <a:ext cx="2926080" cy="1188720"/>
          </a:xfrm>
          <a:prstGeom prst="diamond">
            <a:avLst/>
          </a:prstGeom>
          <a:solidFill>
            <a:srgbClr val="E8EEF7"/>
          </a:solidFill>
          <a:ln w="22225">
            <a:solidFill>
              <a:srgbClr val="3D5A8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950" b="1" i="0">
                <a:solidFill>
                  <a:srgbClr val="111B30"/>
                </a:solidFill>
                <a:latin typeface="Calibri"/>
              </a:rPr>
              <a:t>Authenticated User,</a:t>
            </a:r>
          </a:p>
          <a:p>
            <a:pPr algn="ctr"/>
            <a:r>
              <a:rPr sz="950" b="1" i="0">
                <a:solidFill>
                  <a:srgbClr val="111B30"/>
                </a:solidFill>
                <a:latin typeface="Calibri"/>
              </a:rPr>
              <a:t>or From a Trusted</a:t>
            </a:r>
          </a:p>
          <a:p>
            <a:pPr algn="ctr"/>
            <a:r>
              <a:rPr sz="950" b="1" i="0">
                <a:solidFill>
                  <a:srgbClr val="111B30"/>
                </a:solidFill>
                <a:latin typeface="Calibri"/>
              </a:rPr>
              <a:t>Internal Network?</a:t>
            </a:r>
          </a:p>
        </p:txBody>
      </p:sp>
      <p:sp>
        <p:nvSpPr>
          <p:cNvPr id="8" name="Rounded Rectangle 7"/>
          <p:cNvSpPr/>
          <p:nvPr/>
        </p:nvSpPr>
        <p:spPr>
          <a:xfrm>
            <a:off x="6766560" y="2011680"/>
            <a:ext cx="2743200" cy="822960"/>
          </a:xfrm>
          <a:prstGeom prst="roundRect">
            <a:avLst/>
          </a:prstGeom>
          <a:solidFill>
            <a:srgbClr val="FFFFFF"/>
          </a:solidFill>
          <a:ln w="222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2E7D32"/>
                </a:solidFill>
                <a:latin typeface="Calibri"/>
              </a:rPr>
              <a:t>Relay Permitted:</a:t>
            </a:r>
          </a:p>
          <a:p>
            <a:pPr algn="ctr"/>
            <a:r>
              <a:rPr sz="1050" b="1" i="0">
                <a:solidFill>
                  <a:srgbClr val="2E7D32"/>
                </a:solidFill>
                <a:latin typeface="Calibri"/>
              </a:rPr>
              <a:t>Message Sent Onward</a:t>
            </a:r>
          </a:p>
        </p:txBody>
      </p:sp>
      <p:sp>
        <p:nvSpPr>
          <p:cNvPr id="9" name="Rounded Rectangle 8"/>
          <p:cNvSpPr/>
          <p:nvPr/>
        </p:nvSpPr>
        <p:spPr>
          <a:xfrm>
            <a:off x="6766560" y="3931920"/>
            <a:ext cx="2743200" cy="822960"/>
          </a:xfrm>
          <a:prstGeom prst="roundRect">
            <a:avLst/>
          </a:prstGeom>
          <a:solidFill>
            <a:srgbClr val="FFFFFF"/>
          </a:solidFill>
          <a:ln w="22225">
            <a:solidFill>
              <a:srgbClr val="B0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B02A2A"/>
                </a:solidFill>
                <a:latin typeface="Calibri"/>
              </a:rPr>
              <a:t>Relay Denied</a:t>
            </a:r>
          </a:p>
          <a:p>
            <a:pPr algn="ctr"/>
            <a:r>
              <a:rPr sz="1050" b="1" i="0">
                <a:solidFill>
                  <a:srgbClr val="B02A2A"/>
                </a:solidFill>
                <a:latin typeface="Calibri"/>
              </a:rPr>
              <a:t>(default posture)</a:t>
            </a:r>
          </a:p>
        </p:txBody>
      </p:sp>
      <p:cxnSp>
        <p:nvCxnSpPr>
          <p:cNvPr id="10" name="Connector 9"/>
          <p:cNvCxnSpPr/>
          <p:nvPr/>
        </p:nvCxnSpPr>
        <p:spPr>
          <a:xfrm flipV="1">
            <a:off x="2926080" y="3520440"/>
            <a:ext cx="365760" cy="45720"/>
          </a:xfrm>
          <a:prstGeom prst="line">
            <a:avLst/>
          </a:prstGeom>
          <a:ln w="22225">
            <a:solidFill>
              <a:srgbClr val="40404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754880" y="2423160"/>
            <a:ext cx="2011680" cy="502920"/>
          </a:xfrm>
          <a:prstGeom prst="line">
            <a:avLst/>
          </a:prstGeom>
          <a:ln w="22225">
            <a:solidFill>
              <a:srgbClr val="2E7D3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754880" y="2473452"/>
            <a:ext cx="2011680" cy="365760"/>
          </a:xfrm>
          <a:prstGeom prst="rect">
            <a:avLst/>
          </a:prstGeom>
          <a:noFill/>
        </p:spPr>
        <p:txBody>
          <a:bodyPr wrap="square">
            <a:spAutoFit/>
          </a:bodyPr>
          <a:lstStyle/>
          <a:p>
            <a:pPr algn="ctr"/>
            <a:r>
              <a:rPr sz="950" b="0" i="1">
                <a:solidFill>
                  <a:srgbClr val="2E7D32"/>
                </a:solidFill>
                <a:latin typeface="Calibri"/>
              </a:rPr>
              <a:t>Yes</a:t>
            </a:r>
          </a:p>
        </p:txBody>
      </p:sp>
      <p:cxnSp>
        <p:nvCxnSpPr>
          <p:cNvPr id="13" name="Connector 12"/>
          <p:cNvCxnSpPr/>
          <p:nvPr/>
        </p:nvCxnSpPr>
        <p:spPr>
          <a:xfrm>
            <a:off x="4754880" y="4114800"/>
            <a:ext cx="2011680" cy="228600"/>
          </a:xfrm>
          <a:prstGeom prst="line">
            <a:avLst/>
          </a:prstGeom>
          <a:ln w="22225">
            <a:solidFill>
              <a:srgbClr val="B02A2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754880" y="4027932"/>
            <a:ext cx="2011680" cy="365760"/>
          </a:xfrm>
          <a:prstGeom prst="rect">
            <a:avLst/>
          </a:prstGeom>
          <a:noFill/>
        </p:spPr>
        <p:txBody>
          <a:bodyPr wrap="square">
            <a:spAutoFit/>
          </a:bodyPr>
          <a:lstStyle/>
          <a:p>
            <a:pPr algn="ctr"/>
            <a:r>
              <a:rPr sz="950" b="0" i="1">
                <a:solidFill>
                  <a:srgbClr val="B02A2A"/>
                </a:solidFill>
                <a:latin typeface="Calibri"/>
              </a:rPr>
              <a:t>No</a:t>
            </a:r>
          </a:p>
        </p:txBody>
      </p:sp>
      <p:sp>
        <p:nvSpPr>
          <p:cNvPr id="15" name="TextBox 14"/>
          <p:cNvSpPr txBox="1"/>
          <p:nvPr/>
        </p:nvSpPr>
        <p:spPr>
          <a:xfrm>
            <a:off x="640080" y="5120640"/>
            <a:ext cx="10881360" cy="365760"/>
          </a:xfrm>
          <a:prstGeom prst="rect">
            <a:avLst/>
          </a:prstGeom>
          <a:noFill/>
        </p:spPr>
        <p:txBody>
          <a:bodyPr wrap="square">
            <a:spAutoFit/>
          </a:bodyPr>
          <a:lstStyle/>
          <a:p>
            <a:pPr algn="ctr"/>
            <a:r>
              <a:rPr sz="1100" b="0" i="1">
                <a:solidFill>
                  <a:srgbClr val="6B7480"/>
                </a:solidFill>
                <a:latin typeface="Calibri"/>
              </a:rPr>
              <a:t>Default posture is deny - the same default-deny philosophy already seen in AppLocker's rule evaluation.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2600" b="1" i="0">
                <a:solidFill>
                  <a:srgbClr val="FFFFFF"/>
                </a:solidFill>
                <a:latin typeface="Cambria"/>
              </a:rPr>
              <a:t>Assessing a Domain's Email Security Posture</a:t>
            </a:r>
          </a:p>
        </p:txBody>
      </p:sp>
      <p:sp>
        <p:nvSpPr>
          <p:cNvPr id="6" name="TextBox 5"/>
          <p:cNvSpPr txBox="1"/>
          <p:nvPr/>
        </p:nvSpPr>
        <p:spPr>
          <a:xfrm>
            <a:off x="640080" y="1371600"/>
            <a:ext cx="10881360" cy="5029200"/>
          </a:xfrm>
          <a:prstGeom prst="rect">
            <a:avLst/>
          </a:prstGeom>
          <a:noFill/>
        </p:spPr>
        <p:txBody>
          <a:bodyPr wrap="square">
            <a:spAutoFit/>
          </a:bodyPr>
          <a:lstStyle/>
          <a:p>
            <a:pPr>
              <a:lnSpc>
                <a:spcPct val="125000"/>
              </a:lnSpc>
              <a:spcAft>
                <a:spcPts val="1200"/>
              </a:spcAft>
            </a:pPr>
            <a:r>
              <a:rPr sz="1600" b="0" i="0">
                <a:solidFill>
                  <a:srgbClr val="111B30"/>
                </a:solidFill>
                <a:latin typeface="Calibri"/>
              </a:rPr>
              <a:t>•  Check for an SPF record and its enforcement level (-all vs. ~all vs. missing entirely)</a:t>
            </a:r>
          </a:p>
          <a:p>
            <a:pPr>
              <a:lnSpc>
                <a:spcPct val="125000"/>
              </a:lnSpc>
              <a:spcAft>
                <a:spcPts val="1200"/>
              </a:spcAft>
            </a:pPr>
            <a:r>
              <a:rPr sz="1600" b="0" i="0">
                <a:solidFill>
                  <a:srgbClr val="111B30"/>
                </a:solidFill>
                <a:latin typeface="Calibri"/>
              </a:rPr>
              <a:t>•  Check for a DKIM selector record and confirm it's actually referenced by outbound mail (a published key nobody signs with is meaningless)</a:t>
            </a:r>
          </a:p>
          <a:p>
            <a:pPr>
              <a:lnSpc>
                <a:spcPct val="125000"/>
              </a:lnSpc>
              <a:spcAft>
                <a:spcPts val="1200"/>
              </a:spcAft>
            </a:pPr>
            <a:r>
              <a:rPr sz="1600" b="0" i="0">
                <a:solidFill>
                  <a:srgbClr val="111B30"/>
                </a:solidFill>
                <a:latin typeface="Calibri"/>
              </a:rPr>
              <a:t>•  Check the DMARC record's policy stage (none/quarantine/reject) and whether a reporting address is configured</a:t>
            </a:r>
          </a:p>
          <a:p>
            <a:pPr>
              <a:lnSpc>
                <a:spcPct val="125000"/>
              </a:lnSpc>
              <a:spcAft>
                <a:spcPts val="1200"/>
              </a:spcAft>
            </a:pPr>
            <a:r>
              <a:rPr sz="1600" b="0" i="0">
                <a:solidFill>
                  <a:srgbClr val="111B30"/>
                </a:solidFill>
                <a:latin typeface="Calibri"/>
              </a:rPr>
              <a:t>•  Rate the overall posture: Strong (DMARC at p=reject, SPF hard fail, DKIM active), Moderate (DMARC present but not yet enforcing, or SPF soft fail), Weak (any standard missing entirely, or DMARC absent)</a:t>
            </a:r>
          </a:p>
          <a:p>
            <a:pPr>
              <a:lnSpc>
                <a:spcPct val="125000"/>
              </a:lnSpc>
              <a:spcAft>
                <a:spcPts val="1200"/>
              </a:spcAft>
            </a:pPr>
            <a:r>
              <a:rPr sz="1600" b="0" i="0">
                <a:solidFill>
                  <a:srgbClr val="111B30"/>
                </a:solidFill>
                <a:latin typeface="Calibri"/>
              </a:rPr>
              <a:t>•  This same three-check methodology applies to any domain, not just ones you administer - useful for assessing third-party or vendor domains before trusting mail that claims to come from them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