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0"/>
  </p:notesMasterIdLst>
  <p:sldIdLst>
    <p:sldId id="256" r:id="rId2"/>
    <p:sldId id="257" r:id="rId3"/>
    <p:sldId id="259" r:id="rId4"/>
    <p:sldId id="260" r:id="rId5"/>
    <p:sldId id="261" r:id="rId6"/>
    <p:sldId id="265" r:id="rId7"/>
    <p:sldId id="266" r:id="rId8"/>
    <p:sldId id="267" r:id="rId9"/>
    <p:sldId id="268" r:id="rId10"/>
    <p:sldId id="269" r:id="rId11"/>
    <p:sldId id="272" r:id="rId12"/>
    <p:sldId id="274" r:id="rId13"/>
    <p:sldId id="275" r:id="rId14"/>
    <p:sldId id="276" r:id="rId15"/>
    <p:sldId id="282" r:id="rId16"/>
    <p:sldId id="283" r:id="rId17"/>
    <p:sldId id="285" r:id="rId18"/>
    <p:sldId id="287" r:id="rId19"/>
    <p:sldId id="337" r:id="rId20"/>
    <p:sldId id="288" r:id="rId21"/>
    <p:sldId id="289" r:id="rId22"/>
    <p:sldId id="338" r:id="rId23"/>
    <p:sldId id="290" r:id="rId24"/>
    <p:sldId id="291" r:id="rId25"/>
    <p:sldId id="304" r:id="rId26"/>
    <p:sldId id="305" r:id="rId27"/>
    <p:sldId id="306" r:id="rId28"/>
    <p:sldId id="307" r:id="rId29"/>
    <p:sldId id="309" r:id="rId30"/>
    <p:sldId id="310" r:id="rId31"/>
    <p:sldId id="311" r:id="rId32"/>
    <p:sldId id="315" r:id="rId33"/>
    <p:sldId id="317" r:id="rId34"/>
    <p:sldId id="318" r:id="rId35"/>
    <p:sldId id="319" r:id="rId36"/>
    <p:sldId id="320" r:id="rId37"/>
    <p:sldId id="321" r:id="rId38"/>
    <p:sldId id="323" r:id="rId39"/>
    <p:sldId id="324" r:id="rId40"/>
    <p:sldId id="326" r:id="rId41"/>
    <p:sldId id="327" r:id="rId42"/>
    <p:sldId id="328" r:id="rId43"/>
    <p:sldId id="329" r:id="rId44"/>
    <p:sldId id="330" r:id="rId45"/>
    <p:sldId id="332" r:id="rId46"/>
    <p:sldId id="333" r:id="rId47"/>
    <p:sldId id="334" r:id="rId48"/>
    <p:sldId id="336" r:id="rId4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4524" autoAdjust="0"/>
  </p:normalViewPr>
  <p:slideViewPr>
    <p:cSldViewPr snapToGrid="0" snapToObjects="1">
      <p:cViewPr varScale="1">
        <p:scale>
          <a:sx n="94" d="100"/>
          <a:sy n="94" d="100"/>
        </p:scale>
        <p:origin x="1194" y="9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845996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Today's lecture runs both tracks together: Cyber Track students spend their hands-on lab time hardening a Windows Server 2022 domain controller and a Windows 11 client against the same control set, while IT Track students spend theirs standing up DNSSEC and the email-authentication triad (SPF/DKIM/DMARC) on a real registered subdomain. Both halves share one theme worth stating up front: every control this week exists to remove a default-enabled attack surface that attackers specifically target because it's so often left at its out-of-the-box setting.</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Five sections, roughly ordered from “what ships enabled by default and needs to be locked down” (Sections 1-3, mostly Cyber Track hands-on) through to “what's missing by default at the DNS/email layer and needs to be added” (Sections 4-5, IT Track hands-on). Both tracks should sit through all five sections - the underlying pattern (attackers exploit whatever is left at its default state) is the same lesson taught twice, once for the OS and once for the network-facing services around it.</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(~30 sec) This section covers the Cyber Track's foundational baseline work - before touching any individual control (ASR, Credential Guard, LAPS - all next section), you need a way to measure a system's current state against a known-good reference. That's what SCT and Policy Analyzer give you.</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thesis for the whole Cyber Track half of the lecture - each subsequent slide is one layer in this stack. The “configure and verify” discipline previewed here recurs explicitly at least four times today: Policy Analyzer re-checks, Credential Guard's SecurityServicesRunning check, LAPS's password-retrieval check, and the final delta re-check closing out Section 02.</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Emphasize that Policy Analyzer and LGPO solve two different problems: Policy Analyzer answers “where do I currently differ from the recommended baseline,” LGPO answers “how do I actually apply the fix without a domain-joined GPO push.” Both get used back-to-back in today's demo. The baseline-as-starting-point framing matters because a hardening project that blindly applies every baseline setting without testing against real line-of-business software is how outages happen.</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These four aren't mutually exclusive - an organization can apply SCT locally and still map its settings to CIS or STIG control IDs for audit purposes, since all three ultimately converge on similar registry-level settings. The axis worth remembering is the one running down this table: on-prem free tool (SCT) vs. compliance-framework-driven (CIS/STIGs) vs. cloud-native with no domain required (Intune). That on-prem-vs-cloud tension reappears any time a fleet is hybrid or cloud-only - worth flagging as a preview even though this course's lab environment is entirely on-prem/domain-joined.</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AppLocker is a licensing-tier-dependent feature (available on Enterprise/Education editions) - worth a one-line mention since it's not universally available the way SCT baselines are. The publisher-vs-hash rule tradeoff is a good discussion point: hash rules are precise but brittle (break on every update), publisher rules are durable but trust the vendor's signing key.</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key phrase to land here is “default-deny” - unlike traditional antivirus (default-allow, block known-bad), AppLocker inverts the model: nothing runs unless it's on the allow list. This is a fundamentally different security posture and a good bridge into WDAC, which applies the same default-deny philosophy at the kernel level instead of user mode.</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security-boundary distinction is the crux of the next slide's comparison table - Microsoft itself documents AppLocker as application control (best-effort) and WDAC as a security boundary (a guarantee they'll patch if bypassed). That's a meaningfully different promise. Ask the class: if WDAC is strictly stronger, why would anyone still deploy AppLocker instead? Answer: WDAC's policy-authoring and deployment overhead is real, and AppLocker's per-rule-collection granularity (scripts vs. installers vs. DLLs) is sometimes exactly the flexibility a rollout needs.</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table is the direct payoff of the two preceding concept slides - walk it row by row rather than reading it verbatim, since the class just built the mental model for each row individually. The “security boundary” row is worth lingering on: it's the single most quotable distinction between the two technologies and a common interview/certification question.</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scope limitation in the last bullet is important to state explicitly - BitLocker is not a defense against any of today's other attack spotlights (credential dumping, Pass-the-Hash, Kerberoasting), all of which assume the attacker already has a running, decrypted system to work against. It answers a completely different threat: what happens to data on a drive that's no longer in a trusted chassis.</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(~30 sec) This is the hands-on core of the Cyber Track's lab - every control introduced here gets configured and verified live, on both a server and a client machine.</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audit-then-block workflow is the single most important operational lesson in this section - flipping straight to Block in production without an audit period is how hardening projects break line-of-business apps and get rolled back. This directly sets up the LSASS-credential-theft rule as today's worked example. Ask the class why an organization would leave some ASR rules permanently in Audit mode rather than ever enforcing them - false-positive-prone rules against legitimate line-of-business tooling.</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exact sequence students run today for a batch of ASR rules before switching just the LSASS-theft rule to enforcement. Event ID 1121 (block) and 1122 (warn/audit) are the two IDs to search for in the Defender Operational log. This same audit-log-review pattern is a transferable skill - it's the same "observe before enforce" philosophy used when rolling out DMARC policy later this week. Ask what could go wrong if an organization skips straight to Block mode on a rule like "block Office apps from creating child processes" in an environment with legitimate mail-merge macros.</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second of two MITRE techniques worth mapping defenses against explicitly - make the ID (T1550.002) and the "what changes for the attacker on a hardened system" framing explicit. Cross-reference forward to LAPS: Credential Guard stops the hash theft, but LAPS is what prevents the consequence of a hash theft (identical local admin passwords everywhere) from being catastrophic. Ask the class to trace the full chain: unhardened LSASS -&gt; hash dumped -&gt; hash replayed -&gt; lateral movement - and identify which control breaks which link.</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"compromise one, own all" framing is the whole reason LAPS exists - connect this directly back to the Pass-the-Hash spotlight, since a stolen hash for a shared local admin account is exactly the scenario LAPS neutralizes. This is consistently one of the highest-impact findings on a real unhardened-server review given how outsized its blast-radius impact is. Ask the class why the schema extension only needs to happen once per domain but the self-permission grant needs to happen per-OU.</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Risk Spotlight variant (a systemic risk pattern, not a single named attack technique) - use it to reinforce that LAPS's value isn't abstract, it's specifically about limiting blast radius. Ask: if an organization images 500 machines from one golden image with one local admin password baked in, how many machines does one stolen laptop actually put at risk? Answer: all 500, until LAPS (or an equivalent) is deployed.</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lang="en-US" sz="1200" b="0" i="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WannaCry (2017) is still the canonical case study because it demonstrates unattended, network-wide propagation - no phishing click required, just an open SMBv1 listener. This is consistently one of the highest-severity, lowest-effort-to-fix items on a real hardening review. Ask the class why any organization would still have SMBv1 enabled today - the honest answer is almost always a legacy device or vendor application, exactly the scenario the upcoming compensating-controls slide addresses.</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Level 5 is the strictest of the six defined levels (0-5); level 1 ("send LM &amp; NTLM") is a common unhardened default. NTLM relay attacks remain one of the most common real-world lateral-movement techniques in enterprise penetration tests specifically because this setting is so often left at default. Point out this pairs with disabling NTLM traffic outright where possible (RestrictSendingNTLMTraffic) for defense in depth beyond just the compatibility level.</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key insight is that Kerberoasting requires zero elevated privileges to begin - any domain user can request any service ticket, so the entire defense rests on the cryptographic strength of how that ticket is encrypted. A good discussion prompt: why do service accounts with weak, never-rotated passwords make Kerberoasting far more dangerous even with strong encryption types configured. Cross-reference the next slide (AS-REP Roasting) as the sibling technique - same root cause, different precondition.</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Distinguish this clearly from Kerberoasting: that technique targets service accounts via legitimate ticket requests, AS-REP Roasting targets accounts with pre-auth disabled and needs no valid credentials at all to trigger. Both share the same underlying fix (disable RC4, enforce AES) which is exactly what today's registry change accomplishes for the whole domain at once. Ask why pre-authentication is ever disabled in real environments - usually legacy application compatibility, again previewing the compensating-controls discussion.</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(~30 sec) This is where the lecture shifts to the IT Track's hands-on lab - signing a real registered subdomain with DNSSEC and, next section, layering SPF/DKIM/DMARC on top of it. The throughline from the last three sections continues: DNS as designed in the 1980s has effectively no built-in authenticity guarantee, and everything in this section exists to add one.</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Cache poisoning is the foundational DNS attack that motivates DNSSEC's entire existence - classic DNS has no way for a resolver to tell a legitimate authoritative answer from a forged one, it just trusts whatever arrives first with a matching transaction ID. This is the direct setup for the DNSSEC concept slide immediately following - keep this slide's framing ("no authenticity guarantee") in mind, since it recurs almost verbatim in the email-security section next.</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fundamentally a resource-abuse problem, not an authenticity problem like the other two DNS spotlights - the attacker doesn't need to fool anyone, they need the resolver to do amplification work on their behalf. Response Rate Limiting (RRL) is the standard operational mitigation; it doesn't fix open recursion by itself, but it caps how much damage an open (or even a correctly-scoped) resolver can do if abused.</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key distinction to draw out here: hijacking is the one DNS attack on this slide that DNSSEC does NOT fully protect against, because if an attacker controls the authoritative source and can re-sign records with a compromised key, a resolver validates successfully against forged-but-properly-signed data. This is why registrar-account security (MFA, registry lock) is a genuinely separate control layer from DNSSEC, not a redundant one.</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encryption/authenticity distinction is worth stating explicitly and often gets confused - DNSSEC is entirely about "can I trust this answer is genuine," never about hiding what's being queried (that's a separate technology, DNS-over-HTTPS/TLS). The VPN-reachability caveat matters practically: students should not expect dnsviz.net or similar public validators to reach their lab zone, and that's expected, not a sign something is broken.</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Each DS (Delegation Signer) record is published in the PARENT zone and is what links a child zone's keys into the chain - without a correctly published DS record at the TLD, a resolver has no way to know your zone's keys are legitimate, even if your zone is perfectly signed internally. The dashed red break-point callout is deliberate: this is exactly the failure mode the validation-failure demo two slides from now reproduces on purpose.</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ZSK/KSK split exists so the more sensitive key (KSK, which anchors the parent-zone trust relationship via the DS record) can be used less often and rotated less frequently, while the ZSK does the high-volume work of signing every record set and can rotate more casually without needing a parent-zone update each time. This maps directly onto the key-rollover-lifecycle diagram at the end of this section - ZSK rotates roughly quarterly, KSK roughly yearly.</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exists purely to prevent a specific, predictable point of confusion - a student who tries dnsviz.net against their lab domain and sees a failure needs to know immediately that the tool simply cannot route to the zone, not that their signing work is wrong. The closing point generalizes the lesson: plenty of real-world DNSSEC deployments are for internal/VPN-only zones where public tooling was never going to help anyway.</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dependency callout on the right is the single most operationally important fact in this whole DNSSEC unit: because the DS record lives in the PARENT zone (outside your own control, at the registrar), a KSK rollover requires a manual out-of-band step - publish the new DS record and confirm it propagates - before the old KSK/DS pairing is retired. Skipping or mistiming this step is the single most common cause of real-world DNSSEC outages, and it's the direct operational counterpart to the chain-of-trust diagram's break-point earlier in this section.</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(~30 sec) The final section of the course this week. Email, like classic DNS, was designed with no built-in sender-authenticity guarantee - SMTP will happily relay a message claiming to be from any address. Everything in this section is a layer added after the fact to close that gap.</a:t>
            </a: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Draw the direct parallel to the DNSSEC framing from the previous section - "designed with no authenticity guarantee, layers added after the fact to close the gap" is the same underlying story told twice, once for DNS and once for email. The SPF/DKIM/DMARC three-way split (who can send / was it altered / what do I do about failures) is the organizing structure for the rest of this section - keep returning to it as each piece is introduced.</a:t>
            </a:r>
          </a:p>
        </p:txBody>
      </p:sp>
      <p:sp>
        <p:nvSpPr>
          <p:cNvPr id="4" name="Slide Number Placeholder 3"/>
          <p:cNvSpPr>
            <a:spLocks noGrp="1"/>
          </p:cNvSpPr>
          <p:nvPr>
            <p:ph type="sldNum" sz="quarter" idx="5"/>
          </p:nvPr>
        </p:nvSpPr>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-all vs. ~all distinction is a good discussion point - a domain still testing its SPF record would use ~all (soft fail, mail gets flagged but delivered) before committing to -all (hard fail, mail gets rejected), the same audit-before-enforce pattern seen with ASR rules and NTLM auditing earlier this week. Point out SPF's blind spot explicitly: it authenticates the sending server, not the message itself - that gap is exactly what DKIM closes next.</a:t>
            </a:r>
          </a:p>
        </p:txBody>
      </p:sp>
      <p:sp>
        <p:nvSpPr>
          <p:cNvPr id="4" name="Slide Number Placeholder 3"/>
          <p:cNvSpPr>
            <a:spLocks noGrp="1"/>
          </p:cNvSpPr>
          <p:nvPr>
            <p:ph type="sldNum" sz="quarter" idx="5"/>
          </p:nvPr>
        </p:nvSpPr>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SPF is evaluated first in the authentication chain because it's the cheapest check - a simple IP-address lookup against a DNS TXT record, no cryptography involved. A pass here doesn't mean the message is fully authenticated, just that it came from a server authorized to send for that domain - DKIM (next) is what actually proves message integrity.</a:t>
            </a:r>
          </a:p>
        </p:txBody>
      </p:sp>
      <p:sp>
        <p:nvSpPr>
          <p:cNvPr id="4" name="Slide Number Placeholder 3"/>
          <p:cNvSpPr>
            <a:spLocks noGrp="1"/>
          </p:cNvSpPr>
          <p:nvPr>
            <p:ph type="sldNum" sz="quarter" idx="5"/>
          </p:nvPr>
        </p:nvSpPr>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forwarding point is an important practical distinction from SPF - SPF breaks when mail is forwarded through an intermediate server (the connecting IP no longer matches the original sender's authorized list), but DKIM's signature is embedded in the message itself and survives that hop. This is part of why DMARC (next) needs to account for SPF and DKIM independently rather than requiring both to always pass together.</a:t>
            </a:r>
          </a:p>
        </p:txBody>
      </p:sp>
      <p:sp>
        <p:nvSpPr>
          <p:cNvPr id="4" name="Slide Number Placeholder 3"/>
          <p:cNvSpPr>
            <a:spLocks noGrp="1"/>
          </p:cNvSpPr>
          <p:nvPr>
            <p:ph type="sldNum" sz="quarter" idx="5"/>
          </p:nvPr>
        </p:nvSpPr>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Walk the selector concept specifically - "mail" in mail._domainkey.&lt;domain&gt; is just a label allowing a domain to run multiple DKIM key pairs simultaneously (useful for key rotation or multiple sending platforms). opendkim-testkey in the demo below is a diagnostic tool that confirms the private key on the sending server actually matches the public key currently published in DNS - a mismatch there means every outbound message will fail DKIM verification everywhere.</a:t>
            </a:r>
          </a:p>
        </p:txBody>
      </p:sp>
      <p:sp>
        <p:nvSpPr>
          <p:cNvPr id="4" name="Slide Number Placeholder 3"/>
          <p:cNvSpPr>
            <a:spLocks noGrp="1"/>
          </p:cNvSpPr>
          <p:nvPr>
            <p:ph type="sldNum" sz="quarter" idx="5"/>
          </p:nvPr>
        </p:nvSpPr>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"Key not secure" is a benign warning specific to opendkim-testkey - it just means the zone hosting the DKIM record isn't itself DNSSEC-signed, which is a separate, optional layer of assurance rather than a DKIM configuration failure. Don't let students mistake that warning for an actual problem with their DKIM setup.</a:t>
            </a:r>
          </a:p>
        </p:txBody>
      </p:sp>
      <p:sp>
        <p:nvSpPr>
          <p:cNvPr id="4" name="Slide Number Placeholder 3"/>
          <p:cNvSpPr>
            <a:spLocks noGrp="1"/>
          </p:cNvSpPr>
          <p:nvPr>
            <p:ph type="sldNum" sz="quarter" idx="5"/>
          </p:nvPr>
        </p:nvSpPr>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alignment concept is the subtlest and most important idea in this slide - a message could technically pass SPF (correct sending IP for some domain) and even pass DKIM (validly signed by some domain), and still be a spoof, if neither of those passing domains actually matches what the recipient sees in their inbox's "From:" field. DMARC alignment is precisely the check that closes that loophole.</a:t>
            </a:r>
          </a:p>
        </p:txBody>
      </p:sp>
      <p:sp>
        <p:nvSpPr>
          <p:cNvPr id="4" name="Slide Number Placeholder 3"/>
          <p:cNvSpPr>
            <a:spLocks noGrp="1"/>
          </p:cNvSpPr>
          <p:nvPr>
            <p:ph type="sldNum" sz="quarter" idx="5"/>
          </p:nvPr>
        </p:nvSpPr>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progression is the DMARC-specific instance of the same audit-then-enforce pattern that's run through this entire lecture: ASR rules (Audit before Block), NTLM auditing (before restricting), and now DMARC (p=none monitoring before any enforcement at all). Skipping straight to p=reject on a domain that's never been monitored risks silently dropping legitimate mail from a sender nobody remembered to add to SPF - exactly the outage pattern the staged percentage rollout (pct=10 before pct=100) is designed to catch early.</a:t>
            </a:r>
          </a:p>
        </p:txBody>
      </p:sp>
      <p:sp>
        <p:nvSpPr>
          <p:cNvPr id="4" name="Slide Number Placeholder 3"/>
          <p:cNvSpPr>
            <a:spLocks noGrp="1"/>
          </p:cNvSpPr>
          <p:nvPr>
            <p:ph type="sldNum" sz="quarter" idx="5"/>
          </p:nvPr>
        </p:nvSpPr>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Note that reporting happens regardless of pass or fail - every message contributes to the aggregate report sent to the rua= address, which is exactly what makes DMARC monitoring (p=none) useful even before any enforcement begins. This diagram is the decision logic underlying every row of the policy-progression table on the previous slide.</a:t>
            </a:r>
          </a:p>
        </p:txBody>
      </p:sp>
      <p:sp>
        <p:nvSpPr>
          <p:cNvPr id="4" name="Slide Number Placeholder 3"/>
          <p:cNvSpPr>
            <a:spLocks noGrp="1"/>
          </p:cNvSpPr>
          <p:nvPr>
            <p:ph type="sldNum" sz="quarter" idx="5"/>
          </p:nvPr>
        </p:nvSpPr>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capstone slide for the whole email-authentication arc - every prior concept slide (SPF flow, DKIM flow, DMARC alignment decision) is a component of this single unified picture. Worth spending real time on this one: walk a single message through the full path left to right, naming which earlier slide covered each box.</a:t>
            </a:r>
          </a:p>
        </p:txBody>
      </p:sp>
      <p:sp>
        <p:nvSpPr>
          <p:cNvPr id="4" name="Slide Number Placeholder 3"/>
          <p:cNvSpPr>
            <a:spLocks noGrp="1"/>
          </p:cNvSpPr>
          <p:nvPr>
            <p:ph type="sldNum" sz="quarter" idx="5"/>
          </p:nvPr>
        </p:nvSpPr>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BEC is consistently one of the highest-dollar-loss categories of cybercrime precisely because it requires no malware and no technical exploit at all - just a forged sender header and a plausible pretext (an urgent wire transfer, a vendor invoice change). This is the direct real-world consequence of everything taught in this section; make the connection explicit that today's hands-on DMARC work is literally the fix for this exact fraud pattern.</a:t>
            </a:r>
          </a:p>
        </p:txBody>
      </p:sp>
      <p:sp>
        <p:nvSpPr>
          <p:cNvPr id="4" name="Slide Number Placeholder 3"/>
          <p:cNvSpPr>
            <a:spLocks noGrp="1"/>
          </p:cNvSpPr>
          <p:nvPr>
            <p:ph type="sldNum" sz="quarter" idx="5"/>
          </p:nvPr>
        </p:nvSpPr>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consequence here is different in kind from the other attack spotlights this week - the victim isn't just the spoofed recipient, it's the relay operator's own domain reputation, which can take a very long time to recover once a mail server lands on major blocklists. This is why relay-restriction is treated as a baseline requirement, not an optional hardening step, on the mail-server-hardening slide next.</a:t>
            </a:r>
          </a:p>
        </p:txBody>
      </p:sp>
      <p:sp>
        <p:nvSpPr>
          <p:cNvPr id="4" name="Slide Number Placeholder 3"/>
          <p:cNvSpPr>
            <a:spLocks noGrp="1"/>
          </p:cNvSpPr>
          <p:nvPr>
            <p:ph type="sldNum" sz="quarter" idx="5"/>
          </p:nvPr>
        </p:nvSpPr>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closing bullet's point is worth stating explicitly and is the last "layered defense" callback of the whole lecture - authentication standards (SPF/DKIM/DMARC) answer "is this sender who they claim to be," while these controls answer entirely separate questions (is this server being abused as a relay, is the transport encrypted, is the content itself malicious). A fully hardened mail posture needs both categories, not one instead of the other.</a:t>
            </a:r>
          </a:p>
        </p:txBody>
      </p:sp>
      <p:sp>
        <p:nvSpPr>
          <p:cNvPr id="4" name="Slide Number Placeholder 3"/>
          <p:cNvSpPr>
            <a:spLocks noGrp="1"/>
          </p:cNvSpPr>
          <p:nvPr>
            <p:ph type="sldNum" sz="quarter" idx="5"/>
          </p:nvPr>
        </p:nvSpPr>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closing methodology slide ties the whole section together into something students can apply immediately outside the lab - checking any domain's SPF/DKIM/DMARC posture is a five-minute dig exercise. The Strong/Moderate/Weak rating scale mirrors exactly how a real domain security assessment is communicated to a non-technical stakeholder who needs a quick read on risk without parsing raw DNS records themselves.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9/24/2026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9/24/2026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9/24/2026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9/24/2026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1828800"/>
            <a:ext cx="5486400" cy="457200"/>
          </a:xfrm>
          <a:prstGeom prst="rect">
            <a:avLst/>
          </a:prstGeom>
          <a:noFill/>
        </p:spPr>
        <p:txBody>
          <a:bodyPr wrap="none">
            <a:spAutoFit/>
          </a:bodyPr>
          <a:lstStyle/>
          <a:p>
            <a:r>
              <a:rPr sz="2000" b="1" i="0">
                <a:solidFill>
                  <a:srgbClr val="00B4D8"/>
                </a:solidFill>
                <a:latin typeface="Calibri"/>
              </a:rPr>
              <a:t>WEEK 4</a:t>
            </a:r>
          </a:p>
        </p:txBody>
      </p:sp>
      <p:sp>
        <p:nvSpPr>
          <p:cNvPr id="4" name="TextBox 3"/>
          <p:cNvSpPr txBox="1"/>
          <p:nvPr/>
        </p:nvSpPr>
        <p:spPr>
          <a:xfrm>
            <a:off x="777240" y="2286000"/>
            <a:ext cx="10607040" cy="1280160"/>
          </a:xfrm>
          <a:prstGeom prst="rect">
            <a:avLst/>
          </a:prstGeom>
          <a:noFill/>
        </p:spPr>
        <p:txBody>
          <a:bodyPr wrap="square">
            <a:spAutoFit/>
          </a:bodyPr>
          <a:lstStyle/>
          <a:p>
            <a:r>
              <a:rPr sz="4000" b="1" i="0">
                <a:solidFill>
                  <a:srgbClr val="FFFFFF"/>
                </a:solidFill>
                <a:latin typeface="Cambria"/>
              </a:rPr>
              <a:t>Windows Hardening &amp; Email Security</a:t>
            </a:r>
          </a:p>
        </p:txBody>
      </p:sp>
      <p:sp>
        <p:nvSpPr>
          <p:cNvPr id="5" name="TextBox 4"/>
          <p:cNvSpPr txBox="1"/>
          <p:nvPr/>
        </p:nvSpPr>
        <p:spPr>
          <a:xfrm>
            <a:off x="822960" y="3749039"/>
            <a:ext cx="10515600" cy="1280160"/>
          </a:xfrm>
          <a:prstGeom prst="rect">
            <a:avLst/>
          </a:prstGeom>
          <a:noFill/>
        </p:spPr>
        <p:txBody>
          <a:bodyPr wrap="square">
            <a:spAutoFit/>
          </a:bodyPr>
          <a:lstStyle/>
          <a:p>
            <a:r>
              <a:rPr sz="1600" b="0" i="0">
                <a:solidFill>
                  <a:srgbClr val="E8EEF7"/>
                </a:solidFill>
                <a:latin typeface="Calibri"/>
              </a:rPr>
              <a:t>CYBER 444 — Systems &amp; Network Administration</a:t>
            </a:r>
          </a:p>
          <a:p>
            <a:pPr>
              <a:spcBef>
                <a:spcPts val="1000"/>
              </a:spcBef>
            </a:pPr>
            <a:r>
              <a:rPr sz="1300" b="0" i="1">
                <a:solidFill>
                  <a:srgbClr val="00B4D8"/>
                </a:solidFill>
                <a:latin typeface="Calibri"/>
              </a:rPr>
              <a:t>Windows Hardening · SCT &amp; ASR · Credential Guard &amp; LAPS · DNSSEC · SPF/DKIM/DMARC</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96012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960120"/>
            <a:ext cx="12191695" cy="54864"/>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109728"/>
            <a:ext cx="11247120" cy="777240"/>
          </a:xfrm>
          <a:prstGeom prst="rect">
            <a:avLst/>
          </a:prstGeom>
          <a:noFill/>
        </p:spPr>
        <p:txBody>
          <a:bodyPr wrap="square" anchor="ctr">
            <a:spAutoFit/>
          </a:bodyPr>
          <a:lstStyle/>
          <a:p>
            <a:r>
              <a:rPr sz="2600" b="1" i="0">
                <a:solidFill>
                  <a:srgbClr val="FFFFFF"/>
                </a:solidFill>
                <a:latin typeface="Cambria"/>
              </a:rPr>
              <a:t>Agenda</a:t>
            </a:r>
          </a:p>
        </p:txBody>
      </p:sp>
      <p:sp>
        <p:nvSpPr>
          <p:cNvPr id="6" name="TextBox 5"/>
          <p:cNvSpPr txBox="1"/>
          <p:nvPr/>
        </p:nvSpPr>
        <p:spPr>
          <a:xfrm>
            <a:off x="640080" y="1371600"/>
            <a:ext cx="10881360" cy="5029200"/>
          </a:xfrm>
          <a:prstGeom prst="rect">
            <a:avLst/>
          </a:prstGeom>
          <a:noFill/>
        </p:spPr>
        <p:txBody>
          <a:bodyPr wrap="square">
            <a:spAutoFit/>
          </a:bodyPr>
          <a:lstStyle/>
          <a:p>
            <a:pPr>
              <a:lnSpc>
                <a:spcPct val="125000"/>
              </a:lnSpc>
              <a:spcAft>
                <a:spcPts val="1200"/>
              </a:spcAft>
            </a:pPr>
            <a:r>
              <a:rPr sz="1600" b="0" i="0">
                <a:solidFill>
                  <a:srgbClr val="111B30"/>
                </a:solidFill>
                <a:latin typeface="Calibri"/>
              </a:rPr>
              <a:t>•  Windows Security Baseline &amp; the Microsoft Security Compliance Toolkit (SCT)</a:t>
            </a:r>
          </a:p>
          <a:p>
            <a:pPr>
              <a:lnSpc>
                <a:spcPct val="125000"/>
              </a:lnSpc>
              <a:spcAft>
                <a:spcPts val="1200"/>
              </a:spcAft>
            </a:pPr>
            <a:r>
              <a:rPr sz="1600" b="0" i="0">
                <a:solidFill>
                  <a:srgbClr val="111B30"/>
                </a:solidFill>
                <a:latin typeface="Calibri"/>
              </a:rPr>
              <a:t>•  Attack Surface Reduction, Credential Guard, LAPS &amp; retiring legacy protocols</a:t>
            </a:r>
          </a:p>
          <a:p>
            <a:pPr>
              <a:lnSpc>
                <a:spcPct val="125000"/>
              </a:lnSpc>
              <a:spcAft>
                <a:spcPts val="1200"/>
              </a:spcAft>
            </a:pPr>
            <a:r>
              <a:rPr sz="1600" b="0" i="0">
                <a:solidFill>
                  <a:srgbClr val="111B30"/>
                </a:solidFill>
                <a:latin typeface="Calibri"/>
              </a:rPr>
              <a:t>•  Windows Firewall, audit policy &amp; centralized logging</a:t>
            </a:r>
          </a:p>
          <a:p>
            <a:pPr>
              <a:lnSpc>
                <a:spcPct val="125000"/>
              </a:lnSpc>
              <a:spcAft>
                <a:spcPts val="1200"/>
              </a:spcAft>
            </a:pPr>
            <a:r>
              <a:rPr sz="1600" b="0" i="0">
                <a:solidFill>
                  <a:srgbClr val="111B30"/>
                </a:solidFill>
                <a:latin typeface="Calibri"/>
              </a:rPr>
              <a:t>•  DNS security &amp; DNSSEC</a:t>
            </a:r>
          </a:p>
          <a:p>
            <a:pPr>
              <a:lnSpc>
                <a:spcPct val="125000"/>
              </a:lnSpc>
              <a:spcAft>
                <a:spcPts val="1200"/>
              </a:spcAft>
            </a:pPr>
            <a:r>
              <a:rPr sz="1600" b="0" i="0">
                <a:solidFill>
                  <a:srgbClr val="111B30"/>
                </a:solidFill>
                <a:latin typeface="Calibri"/>
              </a:rPr>
              <a:t>•  Email authentication (SPF/DKIM/DMARC) &amp; mail server hardening</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822960" y="2377440"/>
            <a:ext cx="1554480" cy="1554480"/>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4000" b="1" i="0">
                <a:solidFill>
                  <a:srgbClr val="1B2A4A"/>
                </a:solidFill>
                <a:latin typeface="Cambria"/>
              </a:rPr>
              <a:t>01</a:t>
            </a:r>
          </a:p>
        </p:txBody>
      </p:sp>
      <p:sp>
        <p:nvSpPr>
          <p:cNvPr id="4" name="TextBox 3"/>
          <p:cNvSpPr txBox="1"/>
          <p:nvPr/>
        </p:nvSpPr>
        <p:spPr>
          <a:xfrm>
            <a:off x="2651760" y="2514600"/>
            <a:ext cx="8869680" cy="1371600"/>
          </a:xfrm>
          <a:prstGeom prst="rect">
            <a:avLst/>
          </a:prstGeom>
          <a:noFill/>
        </p:spPr>
        <p:txBody>
          <a:bodyPr wrap="square" anchor="ctr">
            <a:spAutoFit/>
          </a:bodyPr>
          <a:lstStyle/>
          <a:p>
            <a:r>
              <a:rPr sz="3000" b="1" i="0">
                <a:solidFill>
                  <a:srgbClr val="FFFFFF"/>
                </a:solidFill>
                <a:latin typeface="Cambria"/>
              </a:rPr>
              <a:t>Windows Security Baseline &amp; SCT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96012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960120"/>
            <a:ext cx="12191695" cy="54864"/>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109728"/>
            <a:ext cx="11247120" cy="777240"/>
          </a:xfrm>
          <a:prstGeom prst="rect">
            <a:avLst/>
          </a:prstGeom>
          <a:noFill/>
        </p:spPr>
        <p:txBody>
          <a:bodyPr wrap="square" anchor="ctr">
            <a:spAutoFit/>
          </a:bodyPr>
          <a:lstStyle/>
          <a:p>
            <a:r>
              <a:rPr sz="2600" b="1" i="0">
                <a:solidFill>
                  <a:srgbClr val="FFFFFF"/>
                </a:solidFill>
                <a:latin typeface="Cambria"/>
              </a:rPr>
              <a:t>Hardening Isn't One Setting, It's a Layered System</a:t>
            </a:r>
          </a:p>
        </p:txBody>
      </p:sp>
      <p:sp>
        <p:nvSpPr>
          <p:cNvPr id="6" name="TextBox 5"/>
          <p:cNvSpPr txBox="1"/>
          <p:nvPr/>
        </p:nvSpPr>
        <p:spPr>
          <a:xfrm>
            <a:off x="640080" y="1371600"/>
            <a:ext cx="10881360" cy="5029200"/>
          </a:xfrm>
          <a:prstGeom prst="rect">
            <a:avLst/>
          </a:prstGeom>
          <a:noFill/>
        </p:spPr>
        <p:txBody>
          <a:bodyPr wrap="square">
            <a:spAutoFit/>
          </a:bodyPr>
          <a:lstStyle/>
          <a:p>
            <a:pPr>
              <a:lnSpc>
                <a:spcPct val="125000"/>
              </a:lnSpc>
              <a:spcAft>
                <a:spcPts val="1200"/>
              </a:spcAft>
            </a:pPr>
            <a:r>
              <a:rPr sz="1600" b="0" i="0">
                <a:solidFill>
                  <a:srgbClr val="111B30"/>
                </a:solidFill>
                <a:latin typeface="Calibri"/>
              </a:rPr>
              <a:t>•  No single control stops a determined attacker - defense in depth means multiple independent layers, each closing a different avenue</a:t>
            </a:r>
          </a:p>
          <a:p>
            <a:pPr>
              <a:lnSpc>
                <a:spcPct val="125000"/>
              </a:lnSpc>
              <a:spcAft>
                <a:spcPts val="1200"/>
              </a:spcAft>
            </a:pPr>
            <a:r>
              <a:rPr sz="1600" b="0" i="0">
                <a:solidFill>
                  <a:srgbClr val="111B30"/>
                </a:solidFill>
                <a:latin typeface="Calibri"/>
              </a:rPr>
              <a:t>•  A hardened system still gets attacked - the goal is to make each technique fail, get logged, or both</a:t>
            </a:r>
          </a:p>
          <a:p>
            <a:pPr>
              <a:lnSpc>
                <a:spcPct val="125000"/>
              </a:lnSpc>
              <a:spcAft>
                <a:spcPts val="1200"/>
              </a:spcAft>
            </a:pPr>
            <a:r>
              <a:rPr sz="1600" b="0" i="0">
                <a:solidFill>
                  <a:srgbClr val="111B30"/>
                </a:solidFill>
                <a:latin typeface="Calibri"/>
              </a:rPr>
              <a:t>•  Today's controls stack: a baseline (SCT) sets the floor, ASR blocks specific malicious behaviors, Credential Guard isolates secrets even from a compromised OS, LAPS limits blast radius, and retiring legacy protocols removes entire attack classes outright</a:t>
            </a:r>
          </a:p>
          <a:p>
            <a:pPr>
              <a:lnSpc>
                <a:spcPct val="125000"/>
              </a:lnSpc>
              <a:spcAft>
                <a:spcPts val="1200"/>
              </a:spcAft>
            </a:pPr>
            <a:r>
              <a:rPr sz="1600" b="0" i="0">
                <a:solidFill>
                  <a:srgbClr val="111B30"/>
                </a:solidFill>
                <a:latin typeface="Calibri"/>
              </a:rPr>
              <a:t>•  Every control introduced today gets both configured and verified - a setting that isn't confirmed to be active isn't actually protecting anything</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96012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960120"/>
            <a:ext cx="12191695" cy="54864"/>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109728"/>
            <a:ext cx="11247120" cy="777240"/>
          </a:xfrm>
          <a:prstGeom prst="rect">
            <a:avLst/>
          </a:prstGeom>
          <a:noFill/>
        </p:spPr>
        <p:txBody>
          <a:bodyPr wrap="square" anchor="ctr">
            <a:spAutoFit/>
          </a:bodyPr>
          <a:lstStyle/>
          <a:p>
            <a:r>
              <a:rPr sz="2600" b="1" i="0">
                <a:solidFill>
                  <a:srgbClr val="FFFFFF"/>
                </a:solidFill>
                <a:latin typeface="Cambria"/>
              </a:rPr>
              <a:t>Microsoft Security Compliance Toolkit (SCT) Baselines</a:t>
            </a:r>
          </a:p>
        </p:txBody>
      </p:sp>
      <p:sp>
        <p:nvSpPr>
          <p:cNvPr id="6" name="TextBox 5"/>
          <p:cNvSpPr txBox="1"/>
          <p:nvPr/>
        </p:nvSpPr>
        <p:spPr>
          <a:xfrm>
            <a:off x="640080" y="1371600"/>
            <a:ext cx="10881360" cy="5029200"/>
          </a:xfrm>
          <a:prstGeom prst="rect">
            <a:avLst/>
          </a:prstGeom>
          <a:noFill/>
        </p:spPr>
        <p:txBody>
          <a:bodyPr wrap="square">
            <a:spAutoFit/>
          </a:bodyPr>
          <a:lstStyle/>
          <a:p>
            <a:pPr>
              <a:lnSpc>
                <a:spcPct val="125000"/>
              </a:lnSpc>
              <a:spcAft>
                <a:spcPts val="1200"/>
              </a:spcAft>
            </a:pPr>
            <a:r>
              <a:rPr sz="1600" b="0" i="0">
                <a:solidFill>
                  <a:srgbClr val="111B30"/>
                </a:solidFill>
                <a:latin typeface="Calibri"/>
              </a:rPr>
              <a:t>•  A free Microsoft toolset: pre-built, security-focused GPO baselines for each supported Windows Server and Windows 11 release, plus two analysis tools</a:t>
            </a:r>
          </a:p>
          <a:p>
            <a:pPr>
              <a:lnSpc>
                <a:spcPct val="125000"/>
              </a:lnSpc>
              <a:spcAft>
                <a:spcPts val="1200"/>
              </a:spcAft>
            </a:pPr>
            <a:r>
              <a:rPr sz="1600" b="0" i="0">
                <a:solidFill>
                  <a:srgbClr val="111B30"/>
                </a:solidFill>
                <a:latin typeface="Calibri"/>
              </a:rPr>
              <a:t>•  Policy Analyzer: compares a baseline's recommended settings against a system's actual local/effective policy and highlights every difference</a:t>
            </a:r>
          </a:p>
          <a:p>
            <a:pPr>
              <a:lnSpc>
                <a:spcPct val="125000"/>
              </a:lnSpc>
              <a:spcAft>
                <a:spcPts val="1200"/>
              </a:spcAft>
            </a:pPr>
            <a:r>
              <a:rPr sz="1600" b="0" i="0">
                <a:solidFill>
                  <a:srgbClr val="111B30"/>
                </a:solidFill>
                <a:latin typeface="Calibri"/>
              </a:rPr>
              <a:t>•  LGPO.exe: a command-line tool that applies an exported GPO backup directly to local policy - no domain, no GPMC needed</a:t>
            </a:r>
          </a:p>
          <a:p>
            <a:pPr>
              <a:lnSpc>
                <a:spcPct val="125000"/>
              </a:lnSpc>
              <a:spcAft>
                <a:spcPts val="1200"/>
              </a:spcAft>
            </a:pPr>
            <a:r>
              <a:rPr sz="1600" b="0" i="0">
                <a:solidFill>
                  <a:srgbClr val="111B30"/>
                </a:solidFill>
                <a:latin typeface="Calibri"/>
              </a:rPr>
              <a:t>•  Baselines exist per-OS: a “Windows Server 2022 Security Baseline” and a separate “Windows 11 Security Baseline,” each tuned to that OS's defaults and role</a:t>
            </a:r>
          </a:p>
          <a:p>
            <a:pPr>
              <a:lnSpc>
                <a:spcPct val="125000"/>
              </a:lnSpc>
              <a:spcAft>
                <a:spcPts val="1200"/>
              </a:spcAft>
            </a:pPr>
            <a:r>
              <a:rPr sz="1600" b="0" i="0">
                <a:solidFill>
                  <a:srgbClr val="111B30"/>
                </a:solidFill>
                <a:latin typeface="Calibri"/>
              </a:rPr>
              <a:t>•  Baselines are a starting point, not a finish line - every organization still tunes exceptions for its own line-of-business software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96012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960120"/>
            <a:ext cx="12191695" cy="54864"/>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109728"/>
            <a:ext cx="11247120" cy="777240"/>
          </a:xfrm>
          <a:prstGeom prst="rect">
            <a:avLst/>
          </a:prstGeom>
          <a:noFill/>
        </p:spPr>
        <p:txBody>
          <a:bodyPr wrap="square" anchor="ctr">
            <a:spAutoFit/>
          </a:bodyPr>
          <a:lstStyle/>
          <a:p>
            <a:r>
              <a:rPr sz="2600" b="1" i="0">
                <a:solidFill>
                  <a:srgbClr val="FFFFFF"/>
                </a:solidFill>
                <a:latin typeface="Cambria"/>
              </a:rPr>
              <a:t>Baseline Hardening: SCT vs. Alternative Approaches</a:t>
            </a:r>
          </a:p>
        </p:txBody>
      </p:sp>
      <p:graphicFrame>
        <p:nvGraphicFramePr>
          <p:cNvPr id="6" name="Table 5"/>
          <p:cNvGraphicFramePr>
            <a:graphicFrameLocks noGrp="1"/>
          </p:cNvGraphicFramePr>
          <p:nvPr/>
        </p:nvGraphicFramePr>
        <p:xfrm>
          <a:off x="640080" y="1188720"/>
          <a:ext cx="10881360" cy="2560320"/>
        </p:xfrm>
        <a:graphic>
          <a:graphicData uri="http://schemas.openxmlformats.org/drawingml/2006/table">
            <a:tbl>
              <a:tblPr firstRow="1" bandRow="1">
                <a:tableStyleId>{5C22544A-7EE6-4342-B048-85BDC9FD1C3A}</a:tableStyleId>
              </a:tblPr>
              <a:tblGrid>
                <a:gridCol w="2377440">
                  <a:extLst>
                    <a:ext uri="{9D8B030D-6E8A-4147-A177-3AD203B41FA5}">
                      <a16:colId xmlns:a16="http://schemas.microsoft.com/office/drawing/2014/main" val="20000"/>
                    </a:ext>
                  </a:extLst>
                </a:gridCol>
                <a:gridCol w="2560320">
                  <a:extLst>
                    <a:ext uri="{9D8B030D-6E8A-4147-A177-3AD203B41FA5}">
                      <a16:colId xmlns:a16="http://schemas.microsoft.com/office/drawing/2014/main" val="20001"/>
                    </a:ext>
                  </a:extLst>
                </a:gridCol>
                <a:gridCol w="3108960">
                  <a:extLst>
                    <a:ext uri="{9D8B030D-6E8A-4147-A177-3AD203B41FA5}">
                      <a16:colId xmlns:a16="http://schemas.microsoft.com/office/drawing/2014/main" val="20002"/>
                    </a:ext>
                  </a:extLst>
                </a:gridCol>
                <a:gridCol w="2834640">
                  <a:extLst>
                    <a:ext uri="{9D8B030D-6E8A-4147-A177-3AD203B41FA5}">
                      <a16:colId xmlns:a16="http://schemas.microsoft.com/office/drawing/2014/main" val="20003"/>
                    </a:ext>
                  </a:extLst>
                </a:gridCol>
              </a:tblGrid>
              <a:tr h="512064">
                <a:tc>
                  <a:txBody>
                    <a:bodyPr/>
                    <a:lstStyle/>
                    <a:p>
                      <a:pPr algn="ctr"/>
                      <a:r>
                        <a:rPr sz="1300" b="1" i="0">
                          <a:solidFill>
                            <a:srgbClr val="FFFFFF"/>
                          </a:solidFill>
                          <a:latin typeface="Calibri"/>
                        </a:rPr>
                        <a:t>Approach</a:t>
                      </a:r>
                    </a:p>
                  </a:txBody>
                  <a:tcPr anchor="ctr">
                    <a:solidFill>
                      <a:srgbClr val="1B2A4A"/>
                    </a:solidFill>
                  </a:tcPr>
                </a:tc>
                <a:tc>
                  <a:txBody>
                    <a:bodyPr/>
                    <a:lstStyle/>
                    <a:p>
                      <a:pPr algn="ctr"/>
                      <a:r>
                        <a:rPr sz="1300" b="1" i="0">
                          <a:solidFill>
                            <a:srgbClr val="FFFFFF"/>
                          </a:solidFill>
                          <a:latin typeface="Calibri"/>
                        </a:rPr>
                        <a:t>Maintainer</a:t>
                      </a:r>
                    </a:p>
                  </a:txBody>
                  <a:tcPr anchor="ctr">
                    <a:solidFill>
                      <a:srgbClr val="1B2A4A"/>
                    </a:solidFill>
                  </a:tcPr>
                </a:tc>
                <a:tc>
                  <a:txBody>
                    <a:bodyPr/>
                    <a:lstStyle/>
                    <a:p>
                      <a:pPr algn="ctr"/>
                      <a:r>
                        <a:rPr sz="1300" b="1" i="0">
                          <a:solidFill>
                            <a:srgbClr val="FFFFFF"/>
                          </a:solidFill>
                          <a:latin typeface="Calibri"/>
                        </a:rPr>
                        <a:t>Delivery Mechanism</a:t>
                      </a:r>
                    </a:p>
                  </a:txBody>
                  <a:tcPr anchor="ctr">
                    <a:solidFill>
                      <a:srgbClr val="1B2A4A"/>
                    </a:solidFill>
                  </a:tcPr>
                </a:tc>
                <a:tc>
                  <a:txBody>
                    <a:bodyPr/>
                    <a:lstStyle/>
                    <a:p>
                      <a:pPr algn="ctr"/>
                      <a:r>
                        <a:rPr sz="1300" b="1" i="0">
                          <a:solidFill>
                            <a:srgbClr val="FFFFFF"/>
                          </a:solidFill>
                          <a:latin typeface="Calibri"/>
                        </a:rPr>
                        <a:t>Best Fit</a:t>
                      </a:r>
                    </a:p>
                  </a:txBody>
                  <a:tcPr anchor="ctr">
                    <a:solidFill>
                      <a:srgbClr val="1B2A4A"/>
                    </a:solidFill>
                  </a:tcPr>
                </a:tc>
                <a:extLst>
                  <a:ext uri="{0D108BD9-81ED-4DB2-BD59-A6C34878D82A}">
                    <a16:rowId xmlns:a16="http://schemas.microsoft.com/office/drawing/2014/main" val="10000"/>
                  </a:ext>
                </a:extLst>
              </a:tr>
              <a:tr h="512064">
                <a:tc>
                  <a:txBody>
                    <a:bodyPr/>
                    <a:lstStyle/>
                    <a:p>
                      <a:r>
                        <a:rPr sz="1050" b="0" i="0">
                          <a:solidFill>
                            <a:srgbClr val="111B30"/>
                          </a:solidFill>
                          <a:latin typeface="Calibri"/>
                        </a:rPr>
                        <a:t>Microsoft SCT</a:t>
                      </a:r>
                    </a:p>
                  </a:txBody>
                  <a:tcPr anchor="ctr">
                    <a:solidFill>
                      <a:srgbClr val="E8EEF7"/>
                    </a:solidFill>
                  </a:tcPr>
                </a:tc>
                <a:tc>
                  <a:txBody>
                    <a:bodyPr/>
                    <a:lstStyle/>
                    <a:p>
                      <a:r>
                        <a:rPr sz="1050" b="0" i="0">
                          <a:solidFill>
                            <a:srgbClr val="111B30"/>
                          </a:solidFill>
                          <a:latin typeface="Calibri"/>
                        </a:rPr>
                        <a:t>Microsoft</a:t>
                      </a:r>
                    </a:p>
                  </a:txBody>
                  <a:tcPr anchor="ctr">
                    <a:solidFill>
                      <a:srgbClr val="E8EEF7"/>
                    </a:solidFill>
                  </a:tcPr>
                </a:tc>
                <a:tc>
                  <a:txBody>
                    <a:bodyPr/>
                    <a:lstStyle/>
                    <a:p>
                      <a:r>
                        <a:rPr sz="1050" b="0" i="0">
                          <a:solidFill>
                            <a:srgbClr val="111B30"/>
                          </a:solidFill>
                          <a:latin typeface="Calibri"/>
                        </a:rPr>
                        <a:t>Policy Analyzer + LGPO.exe, GPO backups</a:t>
                      </a:r>
                    </a:p>
                  </a:txBody>
                  <a:tcPr anchor="ctr">
                    <a:solidFill>
                      <a:srgbClr val="E8EEF7"/>
                    </a:solidFill>
                  </a:tcPr>
                </a:tc>
                <a:tc>
                  <a:txBody>
                    <a:bodyPr/>
                    <a:lstStyle/>
                    <a:p>
                      <a:r>
                        <a:rPr sz="1050" b="0" i="0">
                          <a:solidFill>
                            <a:srgbClr val="111B30"/>
                          </a:solidFill>
                          <a:latin typeface="Calibri"/>
                        </a:rPr>
                        <a:t>Any Windows environment, domain or standalone - free, and what today's demo used</a:t>
                      </a:r>
                    </a:p>
                  </a:txBody>
                  <a:tcPr anchor="ctr">
                    <a:solidFill>
                      <a:srgbClr val="E8EEF7"/>
                    </a:solidFill>
                  </a:tcPr>
                </a:tc>
                <a:extLst>
                  <a:ext uri="{0D108BD9-81ED-4DB2-BD59-A6C34878D82A}">
                    <a16:rowId xmlns:a16="http://schemas.microsoft.com/office/drawing/2014/main" val="10001"/>
                  </a:ext>
                </a:extLst>
              </a:tr>
              <a:tr h="512064">
                <a:tc>
                  <a:txBody>
                    <a:bodyPr/>
                    <a:lstStyle/>
                    <a:p>
                      <a:r>
                        <a:rPr sz="1050" b="0" i="0">
                          <a:solidFill>
                            <a:srgbClr val="111B30"/>
                          </a:solidFill>
                          <a:latin typeface="Calibri"/>
                        </a:rPr>
                        <a:t>CIS Benchmarks</a:t>
                      </a:r>
                    </a:p>
                  </a:txBody>
                  <a:tcPr anchor="ctr">
                    <a:solidFill>
                      <a:srgbClr val="FFFFFF"/>
                    </a:solidFill>
                  </a:tcPr>
                </a:tc>
                <a:tc>
                  <a:txBody>
                    <a:bodyPr/>
                    <a:lstStyle/>
                    <a:p>
                      <a:r>
                        <a:rPr sz="1050" b="0" i="0">
                          <a:solidFill>
                            <a:srgbClr val="111B30"/>
                          </a:solidFill>
                          <a:latin typeface="Calibri"/>
                        </a:rPr>
                        <a:t>Center for Internet Security</a:t>
                      </a:r>
                    </a:p>
                  </a:txBody>
                  <a:tcPr anchor="ctr">
                    <a:solidFill>
                      <a:srgbClr val="FFFFFF"/>
                    </a:solidFill>
                  </a:tcPr>
                </a:tc>
                <a:tc>
                  <a:txBody>
                    <a:bodyPr/>
                    <a:lstStyle/>
                    <a:p>
                      <a:r>
                        <a:rPr sz="1050" b="0" i="0">
                          <a:solidFill>
                            <a:srgbClr val="111B30"/>
                          </a:solidFill>
                          <a:latin typeface="Calibri"/>
                        </a:rPr>
                        <a:t>CIS-CAT Pro scanner, GPO/script templates</a:t>
                      </a:r>
                    </a:p>
                  </a:txBody>
                  <a:tcPr anchor="ctr">
                    <a:solidFill>
                      <a:srgbClr val="FFFFFF"/>
                    </a:solidFill>
                  </a:tcPr>
                </a:tc>
                <a:tc>
                  <a:txBody>
                    <a:bodyPr/>
                    <a:lstStyle/>
                    <a:p>
                      <a:r>
                        <a:rPr sz="1050" b="0" i="0">
                          <a:solidFill>
                            <a:srgbClr val="111B30"/>
                          </a:solidFill>
                          <a:latin typeface="Calibri"/>
                        </a:rPr>
                        <a:t>Compliance-driven orgs needing benchmark-numbered controls (PCI-DSS, SOC 2)</a:t>
                      </a:r>
                    </a:p>
                  </a:txBody>
                  <a:tcPr anchor="ctr">
                    <a:solidFill>
                      <a:srgbClr val="FFFFFF"/>
                    </a:solidFill>
                  </a:tcPr>
                </a:tc>
                <a:extLst>
                  <a:ext uri="{0D108BD9-81ED-4DB2-BD59-A6C34878D82A}">
                    <a16:rowId xmlns:a16="http://schemas.microsoft.com/office/drawing/2014/main" val="10002"/>
                  </a:ext>
                </a:extLst>
              </a:tr>
              <a:tr h="512064">
                <a:tc>
                  <a:txBody>
                    <a:bodyPr/>
                    <a:lstStyle/>
                    <a:p>
                      <a:r>
                        <a:rPr sz="1050" b="0" i="0">
                          <a:solidFill>
                            <a:srgbClr val="111B30"/>
                          </a:solidFill>
                          <a:latin typeface="Calibri"/>
                        </a:rPr>
                        <a:t>DISA STIGs</a:t>
                      </a:r>
                    </a:p>
                  </a:txBody>
                  <a:tcPr anchor="ctr">
                    <a:solidFill>
                      <a:srgbClr val="E8EEF7"/>
                    </a:solidFill>
                  </a:tcPr>
                </a:tc>
                <a:tc>
                  <a:txBody>
                    <a:bodyPr/>
                    <a:lstStyle/>
                    <a:p>
                      <a:r>
                        <a:rPr sz="1050" b="0" i="0">
                          <a:solidFill>
                            <a:srgbClr val="111B30"/>
                          </a:solidFill>
                          <a:latin typeface="Calibri"/>
                        </a:rPr>
                        <a:t>Defense Information Systems Agency</a:t>
                      </a:r>
                    </a:p>
                  </a:txBody>
                  <a:tcPr anchor="ctr">
                    <a:solidFill>
                      <a:srgbClr val="E8EEF7"/>
                    </a:solidFill>
                  </a:tcPr>
                </a:tc>
                <a:tc>
                  <a:txBody>
                    <a:bodyPr/>
                    <a:lstStyle/>
                    <a:p>
                      <a:r>
                        <a:rPr sz="1050" b="0" i="0">
                          <a:solidFill>
                            <a:srgbClr val="111B30"/>
                          </a:solidFill>
                          <a:latin typeface="Calibri"/>
                        </a:rPr>
                        <a:t>SCAP Compliance Checker (SCC) + STIG Viewer, GPO templates</a:t>
                      </a:r>
                    </a:p>
                  </a:txBody>
                  <a:tcPr anchor="ctr">
                    <a:solidFill>
                      <a:srgbClr val="E8EEF7"/>
                    </a:solidFill>
                  </a:tcPr>
                </a:tc>
                <a:tc>
                  <a:txBody>
                    <a:bodyPr/>
                    <a:lstStyle/>
                    <a:p>
                      <a:r>
                        <a:rPr sz="1050" b="0" i="0">
                          <a:solidFill>
                            <a:srgbClr val="111B30"/>
                          </a:solidFill>
                          <a:latin typeface="Calibri"/>
                        </a:rPr>
                        <a:t>Federal/DoD and government contractors, ties to accreditation (RMF/ATO)</a:t>
                      </a:r>
                    </a:p>
                  </a:txBody>
                  <a:tcPr anchor="ctr">
                    <a:solidFill>
                      <a:srgbClr val="E8EEF7"/>
                    </a:solidFill>
                  </a:tcPr>
                </a:tc>
                <a:extLst>
                  <a:ext uri="{0D108BD9-81ED-4DB2-BD59-A6C34878D82A}">
                    <a16:rowId xmlns:a16="http://schemas.microsoft.com/office/drawing/2014/main" val="10003"/>
                  </a:ext>
                </a:extLst>
              </a:tr>
              <a:tr h="512064">
                <a:tc>
                  <a:txBody>
                    <a:bodyPr/>
                    <a:lstStyle/>
                    <a:p>
                      <a:r>
                        <a:rPr sz="1050" b="0" i="0">
                          <a:solidFill>
                            <a:srgbClr val="111B30"/>
                          </a:solidFill>
                          <a:latin typeface="Calibri"/>
                        </a:rPr>
                        <a:t>Intune Security Baselines</a:t>
                      </a:r>
                    </a:p>
                  </a:txBody>
                  <a:tcPr anchor="ctr">
                    <a:solidFill>
                      <a:srgbClr val="FFFFFF"/>
                    </a:solidFill>
                  </a:tcPr>
                </a:tc>
                <a:tc>
                  <a:txBody>
                    <a:bodyPr/>
                    <a:lstStyle/>
                    <a:p>
                      <a:r>
                        <a:rPr sz="1050" b="0" i="0">
                          <a:solidFill>
                            <a:srgbClr val="111B30"/>
                          </a:solidFill>
                          <a:latin typeface="Calibri"/>
                        </a:rPr>
                        <a:t>Microsoft</a:t>
                      </a:r>
                    </a:p>
                  </a:txBody>
                  <a:tcPr anchor="ctr">
                    <a:solidFill>
                      <a:srgbClr val="FFFFFF"/>
                    </a:solidFill>
                  </a:tcPr>
                </a:tc>
                <a:tc>
                  <a:txBody>
                    <a:bodyPr/>
                    <a:lstStyle/>
                    <a:p>
                      <a:r>
                        <a:rPr sz="1050" b="0" i="0">
                          <a:solidFill>
                            <a:srgbClr val="111B30"/>
                          </a:solidFill>
                          <a:latin typeface="Calibri"/>
                        </a:rPr>
                        <a:t>Cloud-delivered via Intune/Endpoint Manager, no on-prem AD needed</a:t>
                      </a:r>
                    </a:p>
                  </a:txBody>
                  <a:tcPr anchor="ctr">
                    <a:solidFill>
                      <a:srgbClr val="FFFFFF"/>
                    </a:solidFill>
                  </a:tcPr>
                </a:tc>
                <a:tc>
                  <a:txBody>
                    <a:bodyPr/>
                    <a:lstStyle/>
                    <a:p>
                      <a:r>
                        <a:rPr sz="1050" b="0" i="0">
                          <a:solidFill>
                            <a:srgbClr val="111B30"/>
                          </a:solidFill>
                          <a:latin typeface="Calibri"/>
                        </a:rPr>
                        <a:t>Cloud-managed or hybrid-joined fleets, remote workforce without on-prem infrastructure</a:t>
                      </a:r>
                    </a:p>
                  </a:txBody>
                  <a:tcPr anchor="ctr">
                    <a:solidFill>
                      <a:srgbClr val="FFFFFF"/>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96012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960120"/>
            <a:ext cx="12191695" cy="54864"/>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109728"/>
            <a:ext cx="11247120" cy="777240"/>
          </a:xfrm>
          <a:prstGeom prst="rect">
            <a:avLst/>
          </a:prstGeom>
          <a:noFill/>
        </p:spPr>
        <p:txBody>
          <a:bodyPr wrap="square" anchor="ctr">
            <a:spAutoFit/>
          </a:bodyPr>
          <a:lstStyle/>
          <a:p>
            <a:r>
              <a:rPr sz="2600" b="1" i="0">
                <a:solidFill>
                  <a:srgbClr val="FFFFFF"/>
                </a:solidFill>
                <a:latin typeface="Cambria"/>
              </a:rPr>
              <a:t>AppLocker: Application Allow-Listing</a:t>
            </a:r>
          </a:p>
        </p:txBody>
      </p:sp>
      <p:sp>
        <p:nvSpPr>
          <p:cNvPr id="6" name="TextBox 5"/>
          <p:cNvSpPr txBox="1"/>
          <p:nvPr/>
        </p:nvSpPr>
        <p:spPr>
          <a:xfrm>
            <a:off x="640080" y="1371600"/>
            <a:ext cx="10881360" cy="5029200"/>
          </a:xfrm>
          <a:prstGeom prst="rect">
            <a:avLst/>
          </a:prstGeom>
          <a:noFill/>
        </p:spPr>
        <p:txBody>
          <a:bodyPr wrap="square">
            <a:spAutoFit/>
          </a:bodyPr>
          <a:lstStyle/>
          <a:p>
            <a:pPr>
              <a:lnSpc>
                <a:spcPct val="125000"/>
              </a:lnSpc>
              <a:spcAft>
                <a:spcPts val="1200"/>
              </a:spcAft>
            </a:pPr>
            <a:r>
              <a:rPr sz="1600" b="0" i="0">
                <a:solidFill>
                  <a:srgbClr val="111B30"/>
                </a:solidFill>
                <a:latin typeface="Calibri"/>
              </a:rPr>
              <a:t>•  A default-deny model at the user-mode application layer: only explicitly allowed executables, scripts, installers, and DLLs are permitted to run</a:t>
            </a:r>
          </a:p>
          <a:p>
            <a:pPr>
              <a:lnSpc>
                <a:spcPct val="125000"/>
              </a:lnSpc>
              <a:spcAft>
                <a:spcPts val="1200"/>
              </a:spcAft>
            </a:pPr>
            <a:r>
              <a:rPr sz="1600" b="0" i="0">
                <a:solidFill>
                  <a:srgbClr val="111B30"/>
                </a:solidFill>
                <a:latin typeface="Calibri"/>
              </a:rPr>
              <a:t>•  Rules can be based on publisher signature, file path, or file hash - publisher rules survive application updates, hash rules don't</a:t>
            </a:r>
          </a:p>
          <a:p>
            <a:pPr>
              <a:lnSpc>
                <a:spcPct val="125000"/>
              </a:lnSpc>
              <a:spcAft>
                <a:spcPts val="1200"/>
              </a:spcAft>
            </a:pPr>
            <a:r>
              <a:rPr sz="1600" b="0" i="0">
                <a:solidFill>
                  <a:srgbClr val="111B30"/>
                </a:solidFill>
                <a:latin typeface="Calibri"/>
              </a:rPr>
              <a:t>•  Enforced per rule collection (Executable, Windows Installer, Script, DLL, Packaged app) - each can be independently set to Enforce or Audit</a:t>
            </a:r>
          </a:p>
          <a:p>
            <a:pPr>
              <a:lnSpc>
                <a:spcPct val="125000"/>
              </a:lnSpc>
              <a:spcAft>
                <a:spcPts val="1200"/>
              </a:spcAft>
            </a:pPr>
            <a:r>
              <a:rPr sz="1600" b="0" i="0">
                <a:solidFill>
                  <a:srgbClr val="111B30"/>
                </a:solidFill>
                <a:latin typeface="Calibri"/>
              </a:rPr>
              <a:t>•  Deployed via Group Policy - the same GPO infrastructure already used for the security baseline</a:t>
            </a:r>
          </a:p>
          <a:p>
            <a:pPr>
              <a:lnSpc>
                <a:spcPct val="125000"/>
              </a:lnSpc>
              <a:spcAft>
                <a:spcPts val="1200"/>
              </a:spcAft>
            </a:pPr>
            <a:r>
              <a:rPr sz="1600" b="0" i="0">
                <a:solidFill>
                  <a:srgbClr val="111B30"/>
                </a:solidFill>
                <a:latin typeface="Calibri"/>
              </a:rPr>
              <a:t>•  Effective against unauthorized/unknown binaries (commodity malware, unapproved tools) - not a substitute for the kernel-level protections WDAC provides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96012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960120"/>
            <a:ext cx="12191695" cy="54864"/>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109728"/>
            <a:ext cx="11247120" cy="777240"/>
          </a:xfrm>
          <a:prstGeom prst="rect">
            <a:avLst/>
          </a:prstGeom>
          <a:noFill/>
        </p:spPr>
        <p:txBody>
          <a:bodyPr wrap="square" anchor="ctr">
            <a:spAutoFit/>
          </a:bodyPr>
          <a:lstStyle/>
          <a:p>
            <a:r>
              <a:rPr sz="2600" b="1" i="0">
                <a:solidFill>
                  <a:srgbClr val="FFFFFF"/>
                </a:solidFill>
                <a:latin typeface="Cambria"/>
              </a:rPr>
              <a:t>AppLocker Rule Evaluation Flow</a:t>
            </a:r>
          </a:p>
        </p:txBody>
      </p:sp>
      <p:sp>
        <p:nvSpPr>
          <p:cNvPr id="6" name="Rounded Rectangle 5"/>
          <p:cNvSpPr/>
          <p:nvPr/>
        </p:nvSpPr>
        <p:spPr>
          <a:xfrm>
            <a:off x="4937760" y="1371600"/>
            <a:ext cx="2286000" cy="731520"/>
          </a:xfrm>
          <a:prstGeom prst="roundRect">
            <a:avLst/>
          </a:prstGeom>
          <a:solidFill>
            <a:srgbClr val="FFFFFF"/>
          </a:solidFill>
          <a:ln w="22225">
            <a:solidFill>
              <a:srgbClr val="3D5A80"/>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150" b="0" i="0">
                <a:solidFill>
                  <a:srgbClr val="111B30"/>
                </a:solidFill>
                <a:latin typeface="Calibri"/>
              </a:rPr>
              <a:t>Process Attempts</a:t>
            </a:r>
          </a:p>
          <a:p>
            <a:pPr algn="ctr"/>
            <a:r>
              <a:rPr sz="1150" b="0" i="0">
                <a:solidFill>
                  <a:srgbClr val="111B30"/>
                </a:solidFill>
                <a:latin typeface="Calibri"/>
              </a:rPr>
              <a:t>to Execute</a:t>
            </a:r>
          </a:p>
        </p:txBody>
      </p:sp>
      <p:sp>
        <p:nvSpPr>
          <p:cNvPr id="7" name="Diamond 6"/>
          <p:cNvSpPr/>
          <p:nvPr/>
        </p:nvSpPr>
        <p:spPr>
          <a:xfrm>
            <a:off x="4480560" y="2743200"/>
            <a:ext cx="3200400" cy="1188720"/>
          </a:xfrm>
          <a:prstGeom prst="diamond">
            <a:avLst/>
          </a:prstGeom>
          <a:solidFill>
            <a:srgbClr val="E8EEF7"/>
          </a:solidFill>
          <a:ln w="22225">
            <a:solidFill>
              <a:srgbClr val="3D5A80"/>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200" b="1" i="0">
                <a:solidFill>
                  <a:srgbClr val="111B30"/>
                </a:solidFill>
                <a:latin typeface="Calibri"/>
              </a:rPr>
              <a:t>Matches an</a:t>
            </a:r>
          </a:p>
          <a:p>
            <a:pPr algn="ctr"/>
            <a:r>
              <a:rPr sz="1200" b="1" i="0">
                <a:solidFill>
                  <a:srgbClr val="111B30"/>
                </a:solidFill>
                <a:latin typeface="Calibri"/>
              </a:rPr>
              <a:t>Allow Rule?</a:t>
            </a:r>
          </a:p>
        </p:txBody>
      </p:sp>
      <p:sp>
        <p:nvSpPr>
          <p:cNvPr id="8" name="Rounded Rectangle 7"/>
          <p:cNvSpPr/>
          <p:nvPr/>
        </p:nvSpPr>
        <p:spPr>
          <a:xfrm>
            <a:off x="731520" y="4846320"/>
            <a:ext cx="3840480" cy="1097280"/>
          </a:xfrm>
          <a:prstGeom prst="roundRect">
            <a:avLst/>
          </a:prstGeom>
          <a:solidFill>
            <a:srgbClr val="FFFFFF"/>
          </a:solidFill>
          <a:ln w="22225">
            <a:solidFill>
              <a:srgbClr val="2E7D32"/>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200" b="1" i="0">
                <a:solidFill>
                  <a:srgbClr val="2E7D32"/>
                </a:solidFill>
                <a:latin typeface="Calibri"/>
              </a:rPr>
              <a:t>Yes</a:t>
            </a:r>
          </a:p>
          <a:p>
            <a:pPr algn="ctr"/>
            <a:r>
              <a:rPr sz="1200" b="1" i="0">
                <a:solidFill>
                  <a:srgbClr val="2E7D32"/>
                </a:solidFill>
                <a:latin typeface="Calibri"/>
              </a:rPr>
              <a:t>Execution Permitted</a:t>
            </a:r>
          </a:p>
        </p:txBody>
      </p:sp>
      <p:sp>
        <p:nvSpPr>
          <p:cNvPr id="9" name="Rounded Rectangle 8"/>
          <p:cNvSpPr/>
          <p:nvPr/>
        </p:nvSpPr>
        <p:spPr>
          <a:xfrm>
            <a:off x="7589520" y="4846320"/>
            <a:ext cx="3840480" cy="1097280"/>
          </a:xfrm>
          <a:prstGeom prst="roundRect">
            <a:avLst/>
          </a:prstGeom>
          <a:solidFill>
            <a:srgbClr val="FFFFFF"/>
          </a:solidFill>
          <a:ln w="22225">
            <a:solidFill>
              <a:srgbClr val="B02A2A"/>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200" b="1" i="0">
                <a:solidFill>
                  <a:srgbClr val="B02A2A"/>
                </a:solidFill>
                <a:latin typeface="Calibri"/>
              </a:rPr>
              <a:t>No (default-deny)</a:t>
            </a:r>
          </a:p>
          <a:p>
            <a:pPr algn="ctr"/>
            <a:r>
              <a:rPr sz="1200" b="1" i="0">
                <a:solidFill>
                  <a:srgbClr val="B02A2A"/>
                </a:solidFill>
                <a:latin typeface="Calibri"/>
              </a:rPr>
              <a:t>Execution Blocked</a:t>
            </a:r>
          </a:p>
        </p:txBody>
      </p:sp>
      <p:cxnSp>
        <p:nvCxnSpPr>
          <p:cNvPr id="10" name="Connector 9"/>
          <p:cNvCxnSpPr/>
          <p:nvPr/>
        </p:nvCxnSpPr>
        <p:spPr>
          <a:xfrm>
            <a:off x="6080760" y="2103120"/>
            <a:ext cx="0" cy="640080"/>
          </a:xfrm>
          <a:prstGeom prst="line">
            <a:avLst/>
          </a:prstGeom>
          <a:ln w="22225">
            <a:solidFill>
              <a:srgbClr val="40404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H="1">
            <a:off x="2651760" y="3337560"/>
            <a:ext cx="1828800" cy="1508760"/>
          </a:xfrm>
          <a:prstGeom prst="line">
            <a:avLst/>
          </a:prstGeom>
          <a:ln w="22225">
            <a:solidFill>
              <a:srgbClr val="2E7D32"/>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2560320" y="3890772"/>
            <a:ext cx="2011680" cy="365760"/>
          </a:xfrm>
          <a:prstGeom prst="rect">
            <a:avLst/>
          </a:prstGeom>
          <a:noFill/>
        </p:spPr>
        <p:txBody>
          <a:bodyPr wrap="square">
            <a:spAutoFit/>
          </a:bodyPr>
          <a:lstStyle/>
          <a:p>
            <a:pPr algn="ctr"/>
            <a:r>
              <a:rPr sz="950" b="0" i="1">
                <a:solidFill>
                  <a:srgbClr val="2E7D32"/>
                </a:solidFill>
                <a:latin typeface="Calibri"/>
              </a:rPr>
              <a:t>Yes</a:t>
            </a:r>
          </a:p>
        </p:txBody>
      </p:sp>
      <p:cxnSp>
        <p:nvCxnSpPr>
          <p:cNvPr id="13" name="Connector 12"/>
          <p:cNvCxnSpPr/>
          <p:nvPr/>
        </p:nvCxnSpPr>
        <p:spPr>
          <a:xfrm>
            <a:off x="7680960" y="3337560"/>
            <a:ext cx="1828800" cy="1508760"/>
          </a:xfrm>
          <a:prstGeom prst="line">
            <a:avLst/>
          </a:prstGeom>
          <a:ln w="22225">
            <a:solidFill>
              <a:srgbClr val="B02A2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7589520" y="3890772"/>
            <a:ext cx="2011680" cy="365760"/>
          </a:xfrm>
          <a:prstGeom prst="rect">
            <a:avLst/>
          </a:prstGeom>
          <a:noFill/>
        </p:spPr>
        <p:txBody>
          <a:bodyPr wrap="square">
            <a:spAutoFit/>
          </a:bodyPr>
          <a:lstStyle/>
          <a:p>
            <a:pPr algn="ctr"/>
            <a:r>
              <a:rPr sz="950" b="0" i="1">
                <a:solidFill>
                  <a:srgbClr val="B02A2A"/>
                </a:solidFill>
                <a:latin typeface="Calibri"/>
              </a:rPr>
              <a:t>No</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96012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960120"/>
            <a:ext cx="12191695" cy="54864"/>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109728"/>
            <a:ext cx="11247120" cy="777240"/>
          </a:xfrm>
          <a:prstGeom prst="rect">
            <a:avLst/>
          </a:prstGeom>
          <a:noFill/>
        </p:spPr>
        <p:txBody>
          <a:bodyPr wrap="square" anchor="ctr">
            <a:spAutoFit/>
          </a:bodyPr>
          <a:lstStyle/>
          <a:p>
            <a:r>
              <a:rPr sz="2600" b="1" i="0">
                <a:solidFill>
                  <a:srgbClr val="FFFFFF"/>
                </a:solidFill>
                <a:latin typeface="Cambria"/>
              </a:rPr>
              <a:t>Windows Defender Application Control (WDAC)</a:t>
            </a:r>
          </a:p>
        </p:txBody>
      </p:sp>
      <p:sp>
        <p:nvSpPr>
          <p:cNvPr id="6" name="TextBox 5"/>
          <p:cNvSpPr txBox="1"/>
          <p:nvPr/>
        </p:nvSpPr>
        <p:spPr>
          <a:xfrm>
            <a:off x="640080" y="1371600"/>
            <a:ext cx="10881360" cy="5029200"/>
          </a:xfrm>
          <a:prstGeom prst="rect">
            <a:avLst/>
          </a:prstGeom>
          <a:noFill/>
        </p:spPr>
        <p:txBody>
          <a:bodyPr wrap="square">
            <a:spAutoFit/>
          </a:bodyPr>
          <a:lstStyle/>
          <a:p>
            <a:pPr>
              <a:lnSpc>
                <a:spcPct val="125000"/>
              </a:lnSpc>
              <a:spcAft>
                <a:spcPts val="1200"/>
              </a:spcAft>
            </a:pPr>
            <a:r>
              <a:rPr sz="1600" b="0" i="0">
                <a:solidFill>
                  <a:srgbClr val="111B30"/>
                </a:solidFill>
                <a:latin typeface="Calibri"/>
              </a:rPr>
              <a:t>•  Kernel-mode code integrity enforcement - a true security boundary, unlike AppLocker's user-mode advisory control</a:t>
            </a:r>
          </a:p>
          <a:p>
            <a:pPr>
              <a:lnSpc>
                <a:spcPct val="125000"/>
              </a:lnSpc>
              <a:spcAft>
                <a:spcPts val="1200"/>
              </a:spcAft>
            </a:pPr>
            <a:r>
              <a:rPr sz="1600" b="0" i="0">
                <a:solidFill>
                  <a:srgbClr val="111B30"/>
                </a:solidFill>
                <a:latin typeface="Calibri"/>
              </a:rPr>
              <a:t>•  Enforces what can load into the kernel itself, not just what a user can double-click and run</a:t>
            </a:r>
          </a:p>
          <a:p>
            <a:pPr>
              <a:lnSpc>
                <a:spcPct val="125000"/>
              </a:lnSpc>
              <a:spcAft>
                <a:spcPts val="1200"/>
              </a:spcAft>
            </a:pPr>
            <a:r>
              <a:rPr sz="1600" b="0" i="0">
                <a:solidFill>
                  <a:srgbClr val="111B30"/>
                </a:solidFill>
                <a:latin typeface="Calibri"/>
              </a:rPr>
              <a:t>•  Policies are XML-defined and can combine multiple rule types: publisher certificate, file hash, path, or a Managed Installer designation</a:t>
            </a:r>
          </a:p>
          <a:p>
            <a:pPr>
              <a:lnSpc>
                <a:spcPct val="125000"/>
              </a:lnSpc>
              <a:spcAft>
                <a:spcPts val="1200"/>
              </a:spcAft>
            </a:pPr>
            <a:r>
              <a:rPr sz="1600" b="0" i="0">
                <a:solidFill>
                  <a:srgbClr val="111B30"/>
                </a:solidFill>
                <a:latin typeface="Calibri"/>
              </a:rPr>
              <a:t>•  Because it's kernel-enforced, WDAC can't be bypassed by a process running with local admin rights the way an AppLocker rule sometimes can</a:t>
            </a:r>
          </a:p>
          <a:p>
            <a:pPr>
              <a:lnSpc>
                <a:spcPct val="125000"/>
              </a:lnSpc>
              <a:spcAft>
                <a:spcPts val="1200"/>
              </a:spcAft>
            </a:pPr>
            <a:r>
              <a:rPr sz="1600" b="0" i="0">
                <a:solidFill>
                  <a:srgbClr val="111B30"/>
                </a:solidFill>
                <a:latin typeface="Calibri"/>
              </a:rPr>
              <a:t>•  More operationally demanding to deploy than AppLocker - policies must be built and refined against a representative reference system before enforcement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96012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960120"/>
            <a:ext cx="12191695" cy="54864"/>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109728"/>
            <a:ext cx="11247120" cy="777240"/>
          </a:xfrm>
          <a:prstGeom prst="rect">
            <a:avLst/>
          </a:prstGeom>
          <a:noFill/>
        </p:spPr>
        <p:txBody>
          <a:bodyPr wrap="square" anchor="ctr">
            <a:spAutoFit/>
          </a:bodyPr>
          <a:lstStyle/>
          <a:p>
            <a:r>
              <a:rPr sz="2600" b="1" i="0">
                <a:solidFill>
                  <a:srgbClr val="FFFFFF"/>
                </a:solidFill>
                <a:latin typeface="Cambria"/>
              </a:rPr>
              <a:t>AppLocker vs. WDAC</a:t>
            </a:r>
          </a:p>
        </p:txBody>
      </p:sp>
      <p:graphicFrame>
        <p:nvGraphicFramePr>
          <p:cNvPr id="6" name="Table 5"/>
          <p:cNvGraphicFramePr>
            <a:graphicFrameLocks noGrp="1"/>
          </p:cNvGraphicFramePr>
          <p:nvPr/>
        </p:nvGraphicFramePr>
        <p:xfrm>
          <a:off x="640080" y="1188720"/>
          <a:ext cx="10911535" cy="3063240"/>
        </p:xfrm>
        <a:graphic>
          <a:graphicData uri="http://schemas.openxmlformats.org/drawingml/2006/table">
            <a:tbl>
              <a:tblPr firstRow="1" bandRow="1">
                <a:tableStyleId>{5C22544A-7EE6-4342-B048-85BDC9FD1C3A}</a:tableStyleId>
              </a:tblPr>
              <a:tblGrid>
                <a:gridCol w="2743200">
                  <a:extLst>
                    <a:ext uri="{9D8B030D-6E8A-4147-A177-3AD203B41FA5}">
                      <a16:colId xmlns:a16="http://schemas.microsoft.com/office/drawing/2014/main" val="20000"/>
                    </a:ext>
                  </a:extLst>
                </a:gridCol>
                <a:gridCol w="4480560">
                  <a:extLst>
                    <a:ext uri="{9D8B030D-6E8A-4147-A177-3AD203B41FA5}">
                      <a16:colId xmlns:a16="http://schemas.microsoft.com/office/drawing/2014/main" val="20001"/>
                    </a:ext>
                  </a:extLst>
                </a:gridCol>
                <a:gridCol w="3687775">
                  <a:extLst>
                    <a:ext uri="{9D8B030D-6E8A-4147-A177-3AD203B41FA5}">
                      <a16:colId xmlns:a16="http://schemas.microsoft.com/office/drawing/2014/main" val="20002"/>
                    </a:ext>
                  </a:extLst>
                </a:gridCol>
              </a:tblGrid>
              <a:tr h="510540">
                <a:tc>
                  <a:txBody>
                    <a:bodyPr/>
                    <a:lstStyle/>
                    <a:p>
                      <a:pPr algn="ctr"/>
                      <a:r>
                        <a:rPr sz="1300" b="1" i="0">
                          <a:solidFill>
                            <a:srgbClr val="FFFFFF"/>
                          </a:solidFill>
                          <a:latin typeface="Calibri"/>
                        </a:rPr>
                        <a:t>Dimension</a:t>
                      </a:r>
                    </a:p>
                  </a:txBody>
                  <a:tcPr anchor="ctr">
                    <a:solidFill>
                      <a:srgbClr val="1B2A4A"/>
                    </a:solidFill>
                  </a:tcPr>
                </a:tc>
                <a:tc>
                  <a:txBody>
                    <a:bodyPr/>
                    <a:lstStyle/>
                    <a:p>
                      <a:pPr algn="ctr"/>
                      <a:r>
                        <a:rPr sz="1300" b="1" i="0">
                          <a:solidFill>
                            <a:srgbClr val="FFFFFF"/>
                          </a:solidFill>
                          <a:latin typeface="Calibri"/>
                        </a:rPr>
                        <a:t>AppLocker</a:t>
                      </a:r>
                    </a:p>
                  </a:txBody>
                  <a:tcPr anchor="ctr">
                    <a:solidFill>
                      <a:srgbClr val="1B2A4A"/>
                    </a:solidFill>
                  </a:tcPr>
                </a:tc>
                <a:tc>
                  <a:txBody>
                    <a:bodyPr/>
                    <a:lstStyle/>
                    <a:p>
                      <a:pPr algn="ctr"/>
                      <a:r>
                        <a:rPr sz="1300" b="1" i="0">
                          <a:solidFill>
                            <a:srgbClr val="FFFFFF"/>
                          </a:solidFill>
                          <a:latin typeface="Calibri"/>
                        </a:rPr>
                        <a:t>WDAC</a:t>
                      </a:r>
                    </a:p>
                  </a:txBody>
                  <a:tcPr anchor="ctr">
                    <a:solidFill>
                      <a:srgbClr val="1B2A4A"/>
                    </a:solidFill>
                  </a:tcPr>
                </a:tc>
                <a:extLst>
                  <a:ext uri="{0D108BD9-81ED-4DB2-BD59-A6C34878D82A}">
                    <a16:rowId xmlns:a16="http://schemas.microsoft.com/office/drawing/2014/main" val="10000"/>
                  </a:ext>
                </a:extLst>
              </a:tr>
              <a:tr h="510540">
                <a:tc>
                  <a:txBody>
                    <a:bodyPr/>
                    <a:lstStyle/>
                    <a:p>
                      <a:r>
                        <a:rPr sz="1150" b="0" i="0">
                          <a:solidFill>
                            <a:srgbClr val="111B30"/>
                          </a:solidFill>
                          <a:latin typeface="Calibri"/>
                        </a:rPr>
                        <a:t>Enforcement layer</a:t>
                      </a:r>
                    </a:p>
                  </a:txBody>
                  <a:tcPr anchor="ctr">
                    <a:solidFill>
                      <a:srgbClr val="E8EEF7"/>
                    </a:solidFill>
                  </a:tcPr>
                </a:tc>
                <a:tc>
                  <a:txBody>
                    <a:bodyPr/>
                    <a:lstStyle/>
                    <a:p>
                      <a:r>
                        <a:rPr sz="1150" b="0" i="0">
                          <a:solidFill>
                            <a:srgbClr val="111B30"/>
                          </a:solidFill>
                          <a:latin typeface="Calibri"/>
                        </a:rPr>
                        <a:t>User mode</a:t>
                      </a:r>
                    </a:p>
                  </a:txBody>
                  <a:tcPr anchor="ctr">
                    <a:solidFill>
                      <a:srgbClr val="E8EEF7"/>
                    </a:solidFill>
                  </a:tcPr>
                </a:tc>
                <a:tc>
                  <a:txBody>
                    <a:bodyPr/>
                    <a:lstStyle/>
                    <a:p>
                      <a:r>
                        <a:rPr sz="1150" b="0" i="0">
                          <a:solidFill>
                            <a:srgbClr val="111B30"/>
                          </a:solidFill>
                          <a:latin typeface="Calibri"/>
                        </a:rPr>
                        <a:t>Kernel mode</a:t>
                      </a:r>
                    </a:p>
                  </a:txBody>
                  <a:tcPr anchor="ctr">
                    <a:solidFill>
                      <a:srgbClr val="E8EEF7"/>
                    </a:solidFill>
                  </a:tcPr>
                </a:tc>
                <a:extLst>
                  <a:ext uri="{0D108BD9-81ED-4DB2-BD59-A6C34878D82A}">
                    <a16:rowId xmlns:a16="http://schemas.microsoft.com/office/drawing/2014/main" val="10001"/>
                  </a:ext>
                </a:extLst>
              </a:tr>
              <a:tr h="510540">
                <a:tc>
                  <a:txBody>
                    <a:bodyPr/>
                    <a:lstStyle/>
                    <a:p>
                      <a:r>
                        <a:rPr sz="1150" b="0" i="0">
                          <a:solidFill>
                            <a:srgbClr val="111B30"/>
                          </a:solidFill>
                          <a:latin typeface="Calibri"/>
                        </a:rPr>
                        <a:t>Security boundary?</a:t>
                      </a:r>
                    </a:p>
                  </a:txBody>
                  <a:tcPr anchor="ctr">
                    <a:solidFill>
                      <a:srgbClr val="FFFFFF"/>
                    </a:solidFill>
                  </a:tcPr>
                </a:tc>
                <a:tc>
                  <a:txBody>
                    <a:bodyPr/>
                    <a:lstStyle/>
                    <a:p>
                      <a:r>
                        <a:rPr sz="1150" b="0" i="0">
                          <a:solidFill>
                            <a:srgbClr val="111B30"/>
                          </a:solidFill>
                          <a:latin typeface="Calibri"/>
                        </a:rPr>
                        <a:t>No (best-effort application control)</a:t>
                      </a:r>
                    </a:p>
                  </a:txBody>
                  <a:tcPr anchor="ctr">
                    <a:solidFill>
                      <a:srgbClr val="FFFFFF"/>
                    </a:solidFill>
                  </a:tcPr>
                </a:tc>
                <a:tc>
                  <a:txBody>
                    <a:bodyPr/>
                    <a:lstStyle/>
                    <a:p>
                      <a:r>
                        <a:rPr sz="1150" b="0" i="0">
                          <a:solidFill>
                            <a:srgbClr val="111B30"/>
                          </a:solidFill>
                          <a:latin typeface="Calibri"/>
                        </a:rPr>
                        <a:t>Yes (Microsoft-recognized security boundary)</a:t>
                      </a:r>
                    </a:p>
                  </a:txBody>
                  <a:tcPr anchor="ctr">
                    <a:solidFill>
                      <a:srgbClr val="FFFFFF"/>
                    </a:solidFill>
                  </a:tcPr>
                </a:tc>
                <a:extLst>
                  <a:ext uri="{0D108BD9-81ED-4DB2-BD59-A6C34878D82A}">
                    <a16:rowId xmlns:a16="http://schemas.microsoft.com/office/drawing/2014/main" val="10002"/>
                  </a:ext>
                </a:extLst>
              </a:tr>
              <a:tr h="510540">
                <a:tc>
                  <a:txBody>
                    <a:bodyPr/>
                    <a:lstStyle/>
                    <a:p>
                      <a:r>
                        <a:rPr sz="1150" b="0" i="0">
                          <a:solidFill>
                            <a:srgbClr val="111B30"/>
                          </a:solidFill>
                          <a:latin typeface="Calibri"/>
                        </a:rPr>
                        <a:t>Rule types</a:t>
                      </a:r>
                    </a:p>
                  </a:txBody>
                  <a:tcPr anchor="ctr">
                    <a:solidFill>
                      <a:srgbClr val="E8EEF7"/>
                    </a:solidFill>
                  </a:tcPr>
                </a:tc>
                <a:tc>
                  <a:txBody>
                    <a:bodyPr/>
                    <a:lstStyle/>
                    <a:p>
                      <a:r>
                        <a:rPr sz="1150" b="0" i="0">
                          <a:solidFill>
                            <a:srgbClr val="111B30"/>
                          </a:solidFill>
                          <a:latin typeface="Calibri"/>
                        </a:rPr>
                        <a:t>Publisher, path, hash (per rule collection)</a:t>
                      </a:r>
                    </a:p>
                  </a:txBody>
                  <a:tcPr anchor="ctr">
                    <a:solidFill>
                      <a:srgbClr val="E8EEF7"/>
                    </a:solidFill>
                  </a:tcPr>
                </a:tc>
                <a:tc>
                  <a:txBody>
                    <a:bodyPr/>
                    <a:lstStyle/>
                    <a:p>
                      <a:r>
                        <a:rPr sz="1150" b="0" i="0">
                          <a:solidFill>
                            <a:srgbClr val="111B30"/>
                          </a:solidFill>
                          <a:latin typeface="Calibri"/>
                        </a:rPr>
                        <a:t>Publisher, hash, path, Managed Installer</a:t>
                      </a:r>
                    </a:p>
                  </a:txBody>
                  <a:tcPr anchor="ctr">
                    <a:solidFill>
                      <a:srgbClr val="E8EEF7"/>
                    </a:solidFill>
                  </a:tcPr>
                </a:tc>
                <a:extLst>
                  <a:ext uri="{0D108BD9-81ED-4DB2-BD59-A6C34878D82A}">
                    <a16:rowId xmlns:a16="http://schemas.microsoft.com/office/drawing/2014/main" val="10003"/>
                  </a:ext>
                </a:extLst>
              </a:tr>
              <a:tr h="510540">
                <a:tc>
                  <a:txBody>
                    <a:bodyPr/>
                    <a:lstStyle/>
                    <a:p>
                      <a:r>
                        <a:rPr sz="1150" b="0" i="0">
                          <a:solidFill>
                            <a:srgbClr val="111B30"/>
                          </a:solidFill>
                          <a:latin typeface="Calibri"/>
                        </a:rPr>
                        <a:t>Granularity</a:t>
                      </a:r>
                    </a:p>
                  </a:txBody>
                  <a:tcPr anchor="ctr">
                    <a:solidFill>
                      <a:srgbClr val="FFFFFF"/>
                    </a:solidFill>
                  </a:tcPr>
                </a:tc>
                <a:tc>
                  <a:txBody>
                    <a:bodyPr/>
                    <a:lstStyle/>
                    <a:p>
                      <a:r>
                        <a:rPr sz="1150" b="0" i="0">
                          <a:solidFill>
                            <a:srgbClr val="111B30"/>
                          </a:solidFill>
                          <a:latin typeface="Calibri"/>
                        </a:rPr>
                        <a:t>Per rule collection (exe/script/installer/DLL/packaged app)</a:t>
                      </a:r>
                    </a:p>
                  </a:txBody>
                  <a:tcPr anchor="ctr">
                    <a:solidFill>
                      <a:srgbClr val="FFFFFF"/>
                    </a:solidFill>
                  </a:tcPr>
                </a:tc>
                <a:tc>
                  <a:txBody>
                    <a:bodyPr/>
                    <a:lstStyle/>
                    <a:p>
                      <a:r>
                        <a:rPr sz="1150" b="0" i="0">
                          <a:solidFill>
                            <a:srgbClr val="111B30"/>
                          </a:solidFill>
                          <a:latin typeface="Calibri"/>
                        </a:rPr>
                        <a:t>Single unified kernel-enforced policy</a:t>
                      </a:r>
                    </a:p>
                  </a:txBody>
                  <a:tcPr anchor="ctr">
                    <a:solidFill>
                      <a:srgbClr val="FFFFFF"/>
                    </a:solidFill>
                  </a:tcPr>
                </a:tc>
                <a:extLst>
                  <a:ext uri="{0D108BD9-81ED-4DB2-BD59-A6C34878D82A}">
                    <a16:rowId xmlns:a16="http://schemas.microsoft.com/office/drawing/2014/main" val="10004"/>
                  </a:ext>
                </a:extLst>
              </a:tr>
              <a:tr h="510540">
                <a:tc>
                  <a:txBody>
                    <a:bodyPr/>
                    <a:lstStyle/>
                    <a:p>
                      <a:r>
                        <a:rPr sz="1150" b="0" i="0">
                          <a:solidFill>
                            <a:srgbClr val="111B30"/>
                          </a:solidFill>
                          <a:latin typeface="Calibri"/>
                        </a:rPr>
                        <a:t>Typical use case</a:t>
                      </a:r>
                    </a:p>
                  </a:txBody>
                  <a:tcPr anchor="ctr">
                    <a:solidFill>
                      <a:srgbClr val="E8EEF7"/>
                    </a:solidFill>
                  </a:tcPr>
                </a:tc>
                <a:tc>
                  <a:txBody>
                    <a:bodyPr/>
                    <a:lstStyle/>
                    <a:p>
                      <a:r>
                        <a:rPr sz="1150" b="0" i="0">
                          <a:solidFill>
                            <a:srgbClr val="111B30"/>
                          </a:solidFill>
                          <a:latin typeface="Calibri"/>
                        </a:rPr>
                        <a:t>Targeted app control on top of an existing baseline</a:t>
                      </a:r>
                    </a:p>
                  </a:txBody>
                  <a:tcPr anchor="ctr">
                    <a:solidFill>
                      <a:srgbClr val="E8EEF7"/>
                    </a:solidFill>
                  </a:tcPr>
                </a:tc>
                <a:tc>
                  <a:txBody>
                    <a:bodyPr/>
                    <a:lstStyle/>
                    <a:p>
                      <a:r>
                        <a:rPr sz="1150" b="0" i="0">
                          <a:solidFill>
                            <a:srgbClr val="111B30"/>
                          </a:solidFill>
                          <a:latin typeface="Calibri"/>
                        </a:rPr>
                        <a:t>High-assurance environments requiring a true code-integrity guarantee</a:t>
                      </a:r>
                    </a:p>
                  </a:txBody>
                  <a:tcPr anchor="ctr">
                    <a:solidFill>
                      <a:srgbClr val="E8EEF7"/>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96012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960120"/>
            <a:ext cx="12191695" cy="54864"/>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109728"/>
            <a:ext cx="11247120" cy="777240"/>
          </a:xfrm>
          <a:prstGeom prst="rect">
            <a:avLst/>
          </a:prstGeom>
          <a:noFill/>
        </p:spPr>
        <p:txBody>
          <a:bodyPr wrap="square" anchor="ctr">
            <a:spAutoFit/>
          </a:bodyPr>
          <a:lstStyle/>
          <a:p>
            <a:r>
              <a:rPr sz="2600" b="1" i="0">
                <a:solidFill>
                  <a:srgbClr val="FFFFFF"/>
                </a:solidFill>
                <a:latin typeface="Cambria"/>
              </a:rPr>
              <a:t>BitLocker: Full-Volume Encryption</a:t>
            </a:r>
          </a:p>
        </p:txBody>
      </p:sp>
      <p:sp>
        <p:nvSpPr>
          <p:cNvPr id="6" name="TextBox 5"/>
          <p:cNvSpPr txBox="1"/>
          <p:nvPr/>
        </p:nvSpPr>
        <p:spPr>
          <a:xfrm>
            <a:off x="640080" y="1371600"/>
            <a:ext cx="10881360" cy="2377830"/>
          </a:xfrm>
          <a:prstGeom prst="rect">
            <a:avLst/>
          </a:prstGeom>
          <a:noFill/>
        </p:spPr>
        <p:txBody>
          <a:bodyPr wrap="square">
            <a:spAutoFit/>
          </a:bodyPr>
          <a:lstStyle/>
          <a:p>
            <a:pPr>
              <a:lnSpc>
                <a:spcPct val="125000"/>
              </a:lnSpc>
              <a:spcAft>
                <a:spcPts val="1200"/>
              </a:spcAft>
            </a:pPr>
            <a:r>
              <a:rPr sz="1600" b="0" i="0" dirty="0">
                <a:solidFill>
                  <a:srgbClr val="111B30"/>
                </a:solidFill>
                <a:latin typeface="Calibri"/>
              </a:rPr>
              <a:t>•  Encrypts an entire volume, not just individual files - protects data at rest if a drive or machine is physically stolen</a:t>
            </a:r>
          </a:p>
          <a:p>
            <a:pPr>
              <a:lnSpc>
                <a:spcPct val="125000"/>
              </a:lnSpc>
              <a:spcAft>
                <a:spcPts val="1200"/>
              </a:spcAft>
            </a:pPr>
            <a:r>
              <a:rPr sz="1600" b="0" i="0" dirty="0">
                <a:solidFill>
                  <a:srgbClr val="111B30"/>
                </a:solidFill>
                <a:latin typeface="Calibri"/>
              </a:rPr>
              <a:t>•  Strongest when paired with a TPM (Trusted Platform Module) for measured boot - the TPM validates the boot chain hasn't been tampered with before releasing the volume key</a:t>
            </a:r>
          </a:p>
          <a:p>
            <a:pPr>
              <a:lnSpc>
                <a:spcPct val="125000"/>
              </a:lnSpc>
              <a:spcAft>
                <a:spcPts val="1200"/>
              </a:spcAft>
            </a:pPr>
            <a:r>
              <a:rPr sz="1600" b="0" i="0" dirty="0">
                <a:solidFill>
                  <a:srgbClr val="111B30"/>
                </a:solidFill>
                <a:latin typeface="Calibri"/>
              </a:rPr>
              <a:t>•  Without a TPM, BitLocker can still run in USB-key or password-only modes - weaker, since the key isn't hardware-bound</a:t>
            </a:r>
          </a:p>
          <a:p>
            <a:pPr>
              <a:lnSpc>
                <a:spcPct val="125000"/>
              </a:lnSpc>
              <a:spcAft>
                <a:spcPts val="1200"/>
              </a:spcAft>
            </a:pPr>
            <a:r>
              <a:rPr sz="1600" b="0" i="0" dirty="0">
                <a:solidFill>
                  <a:srgbClr val="111B30"/>
                </a:solidFill>
                <a:latin typeface="Calibri"/>
              </a:rPr>
              <a:t>•  Protects against offline/physical attacks (stolen laptop, removed drive) - it does nothing once Windows has booted and a user is logged in</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822960" y="2377440"/>
            <a:ext cx="1554480" cy="1554480"/>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4000" b="1" i="0">
                <a:solidFill>
                  <a:srgbClr val="1B2A4A"/>
                </a:solidFill>
                <a:latin typeface="Cambria"/>
              </a:rPr>
              <a:t>02</a:t>
            </a:r>
          </a:p>
        </p:txBody>
      </p:sp>
      <p:sp>
        <p:nvSpPr>
          <p:cNvPr id="4" name="TextBox 3"/>
          <p:cNvSpPr txBox="1"/>
          <p:nvPr/>
        </p:nvSpPr>
        <p:spPr>
          <a:xfrm>
            <a:off x="2651760" y="2514600"/>
            <a:ext cx="8869680" cy="1371600"/>
          </a:xfrm>
          <a:prstGeom prst="rect">
            <a:avLst/>
          </a:prstGeom>
          <a:noFill/>
        </p:spPr>
        <p:txBody>
          <a:bodyPr wrap="square" anchor="ctr">
            <a:spAutoFit/>
          </a:bodyPr>
          <a:lstStyle/>
          <a:p>
            <a:r>
              <a:rPr sz="3000" b="1" i="0">
                <a:solidFill>
                  <a:srgbClr val="FFFFFF"/>
                </a:solidFill>
                <a:latin typeface="Cambria"/>
              </a:rPr>
              <a:t>Attack Surface Reduction, Credential Guard, LAPS &amp; Legacy Protocols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96012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960120"/>
            <a:ext cx="12191695" cy="54864"/>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109728"/>
            <a:ext cx="11247120" cy="777240"/>
          </a:xfrm>
          <a:prstGeom prst="rect">
            <a:avLst/>
          </a:prstGeom>
          <a:noFill/>
        </p:spPr>
        <p:txBody>
          <a:bodyPr wrap="square" anchor="ctr">
            <a:spAutoFit/>
          </a:bodyPr>
          <a:lstStyle/>
          <a:p>
            <a:r>
              <a:rPr sz="2600" b="1" i="0">
                <a:solidFill>
                  <a:srgbClr val="FFFFFF"/>
                </a:solidFill>
                <a:latin typeface="Cambria"/>
              </a:rPr>
              <a:t>Attack Surface Reduction (ASR) Rules</a:t>
            </a:r>
          </a:p>
        </p:txBody>
      </p:sp>
      <p:sp>
        <p:nvSpPr>
          <p:cNvPr id="6" name="TextBox 5"/>
          <p:cNvSpPr txBox="1"/>
          <p:nvPr/>
        </p:nvSpPr>
        <p:spPr>
          <a:xfrm>
            <a:off x="640080" y="1371600"/>
            <a:ext cx="10881360" cy="5029200"/>
          </a:xfrm>
          <a:prstGeom prst="rect">
            <a:avLst/>
          </a:prstGeom>
          <a:noFill/>
        </p:spPr>
        <p:txBody>
          <a:bodyPr wrap="square">
            <a:spAutoFit/>
          </a:bodyPr>
          <a:lstStyle/>
          <a:p>
            <a:pPr>
              <a:lnSpc>
                <a:spcPct val="125000"/>
              </a:lnSpc>
              <a:spcAft>
                <a:spcPts val="1200"/>
              </a:spcAft>
            </a:pPr>
            <a:r>
              <a:rPr sz="1600" b="0" i="0">
                <a:solidFill>
                  <a:srgbClr val="111B30"/>
                </a:solidFill>
                <a:latin typeface="Calibri"/>
              </a:rPr>
              <a:t>•  Defender feature that blocks specific, well-documented malicious behaviors - behavior-based, not signature-based</a:t>
            </a:r>
          </a:p>
          <a:p>
            <a:pPr>
              <a:lnSpc>
                <a:spcPct val="125000"/>
              </a:lnSpc>
              <a:spcAft>
                <a:spcPts val="1200"/>
              </a:spcAft>
            </a:pPr>
            <a:r>
              <a:rPr sz="1600" b="0" i="0">
                <a:solidFill>
                  <a:srgbClr val="111B30"/>
                </a:solidFill>
                <a:latin typeface="Calibri"/>
              </a:rPr>
              <a:t>•  Each rule targets one technique class: Office spawning child processes, credential theft from LSASS, untrusted USB execution, etc.</a:t>
            </a:r>
          </a:p>
          <a:p>
            <a:pPr>
              <a:lnSpc>
                <a:spcPct val="125000"/>
              </a:lnSpc>
              <a:spcAft>
                <a:spcPts val="1200"/>
              </a:spcAft>
            </a:pPr>
            <a:r>
              <a:rPr sz="1600" b="0" i="0">
                <a:solidFill>
                  <a:srgbClr val="111B30"/>
                </a:solidFill>
                <a:latin typeface="Calibri"/>
              </a:rPr>
              <a:t>•  Every rule supports three modes: Not Configured, Audit, and Block (Enabled)</a:t>
            </a:r>
          </a:p>
          <a:p>
            <a:pPr>
              <a:lnSpc>
                <a:spcPct val="125000"/>
              </a:lnSpc>
              <a:spcAft>
                <a:spcPts val="1200"/>
              </a:spcAft>
            </a:pPr>
            <a:r>
              <a:rPr sz="1600" b="0" i="0">
                <a:solidFill>
                  <a:srgbClr val="111B30"/>
                </a:solidFill>
                <a:latin typeface="Calibri"/>
              </a:rPr>
              <a:t>•  Audit mode logs what would have been blocked (Event ID 1121/1122) without breaking anything - critical for safe rollout</a:t>
            </a:r>
          </a:p>
          <a:p>
            <a:pPr>
              <a:lnSpc>
                <a:spcPct val="125000"/>
              </a:lnSpc>
              <a:spcAft>
                <a:spcPts val="1200"/>
              </a:spcAft>
            </a:pPr>
            <a:r>
              <a:rPr sz="1600" b="0" i="0">
                <a:solidFill>
                  <a:srgbClr val="111B30"/>
                </a:solidFill>
                <a:latin typeface="Calibri"/>
              </a:rPr>
              <a:t>•  Configured via Add-MpPreference -AttackSurfaceReductionRules_Ids &lt;GUID&gt; -AttackSurfaceReductionRules_Actions &lt;mode&gt;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96012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960120"/>
            <a:ext cx="12191695" cy="54864"/>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109728"/>
            <a:ext cx="11247120" cy="777240"/>
          </a:xfrm>
          <a:prstGeom prst="rect">
            <a:avLst/>
          </a:prstGeom>
          <a:noFill/>
        </p:spPr>
        <p:txBody>
          <a:bodyPr wrap="square" anchor="ctr">
            <a:spAutoFit/>
          </a:bodyPr>
          <a:lstStyle/>
          <a:p>
            <a:r>
              <a:rPr sz="2600" b="1" i="0">
                <a:solidFill>
                  <a:srgbClr val="FFFFFF"/>
                </a:solidFill>
                <a:latin typeface="Cambria"/>
              </a:rPr>
              <a:t>ASR Rollout: Audit Before Block</a:t>
            </a:r>
          </a:p>
        </p:txBody>
      </p:sp>
      <p:sp>
        <p:nvSpPr>
          <p:cNvPr id="6" name="Rounded Rectangle 5"/>
          <p:cNvSpPr/>
          <p:nvPr/>
        </p:nvSpPr>
        <p:spPr>
          <a:xfrm>
            <a:off x="822960" y="3291840"/>
            <a:ext cx="2468880" cy="1005840"/>
          </a:xfrm>
          <a:prstGeom prst="roundRect">
            <a:avLst/>
          </a:prstGeom>
          <a:solidFill>
            <a:srgbClr val="FFFFFF"/>
          </a:solidFill>
          <a:ln w="22225">
            <a:solidFill>
              <a:srgbClr val="3D5A80"/>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000" b="0" i="0">
                <a:solidFill>
                  <a:srgbClr val="111B30"/>
                </a:solidFill>
                <a:latin typeface="Calibri"/>
              </a:rPr>
              <a:t>Rule Configured:</a:t>
            </a:r>
          </a:p>
          <a:p>
            <a:pPr algn="ctr"/>
            <a:r>
              <a:rPr sz="1000" b="0" i="0">
                <a:solidFill>
                  <a:srgbClr val="111B30"/>
                </a:solidFill>
                <a:latin typeface="Calibri"/>
              </a:rPr>
              <a:t>AuditMode</a:t>
            </a:r>
          </a:p>
        </p:txBody>
      </p:sp>
      <p:sp>
        <p:nvSpPr>
          <p:cNvPr id="7" name="Rounded Rectangle 6"/>
          <p:cNvSpPr/>
          <p:nvPr/>
        </p:nvSpPr>
        <p:spPr>
          <a:xfrm>
            <a:off x="3566160" y="3291840"/>
            <a:ext cx="2468880" cy="1005840"/>
          </a:xfrm>
          <a:prstGeom prst="roundRect">
            <a:avLst/>
          </a:prstGeom>
          <a:solidFill>
            <a:srgbClr val="FFFFFF"/>
          </a:solidFill>
          <a:ln w="22225">
            <a:solidFill>
              <a:srgbClr val="3D5A80"/>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950" b="0" i="0">
                <a:solidFill>
                  <a:srgbClr val="111B30"/>
                </a:solidFill>
                <a:latin typeface="Calibri"/>
              </a:rPr>
              <a:t>Behavior Occurs</a:t>
            </a:r>
          </a:p>
          <a:p>
            <a:pPr algn="ctr"/>
            <a:r>
              <a:rPr sz="950" b="0" i="0">
                <a:solidFill>
                  <a:srgbClr val="111B30"/>
                </a:solidFill>
                <a:latin typeface="Calibri"/>
              </a:rPr>
              <a:t>(e.g. Office spawns</a:t>
            </a:r>
          </a:p>
          <a:p>
            <a:pPr algn="ctr"/>
            <a:r>
              <a:rPr sz="950" b="0" i="0">
                <a:solidFill>
                  <a:srgbClr val="111B30"/>
                </a:solidFill>
                <a:latin typeface="Calibri"/>
              </a:rPr>
              <a:t>child process)</a:t>
            </a:r>
          </a:p>
        </p:txBody>
      </p:sp>
      <p:sp>
        <p:nvSpPr>
          <p:cNvPr id="8" name="Rounded Rectangle 7"/>
          <p:cNvSpPr/>
          <p:nvPr/>
        </p:nvSpPr>
        <p:spPr>
          <a:xfrm>
            <a:off x="6309360" y="3291840"/>
            <a:ext cx="2468880" cy="1005840"/>
          </a:xfrm>
          <a:prstGeom prst="roundRect">
            <a:avLst/>
          </a:prstGeom>
          <a:solidFill>
            <a:srgbClr val="FFFFFF"/>
          </a:solidFill>
          <a:ln w="22225">
            <a:solidFill>
              <a:srgbClr val="3D5A80"/>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900" b="0" i="0">
                <a:solidFill>
                  <a:srgbClr val="111B30"/>
                </a:solidFill>
                <a:latin typeface="Calibri"/>
              </a:rPr>
              <a:t>Event Logged: ID 1121</a:t>
            </a:r>
          </a:p>
          <a:p>
            <a:pPr algn="ctr"/>
            <a:r>
              <a:rPr sz="900" b="0" i="0">
                <a:solidFill>
                  <a:srgbClr val="111B30"/>
                </a:solidFill>
                <a:latin typeface="Calibri"/>
              </a:rPr>
              <a:t>(would-block) or 1122</a:t>
            </a:r>
          </a:p>
          <a:p>
            <a:pPr algn="ctr"/>
            <a:r>
              <a:rPr sz="900" b="0" i="0">
                <a:solidFill>
                  <a:srgbClr val="111B30"/>
                </a:solidFill>
                <a:latin typeface="Calibri"/>
              </a:rPr>
              <a:t>(would-warn)</a:t>
            </a:r>
          </a:p>
        </p:txBody>
      </p:sp>
      <p:sp>
        <p:nvSpPr>
          <p:cNvPr id="9" name="Rounded Rectangle 8"/>
          <p:cNvSpPr/>
          <p:nvPr/>
        </p:nvSpPr>
        <p:spPr>
          <a:xfrm>
            <a:off x="9052560" y="3291840"/>
            <a:ext cx="2377440" cy="1005840"/>
          </a:xfrm>
          <a:prstGeom prst="roundRect">
            <a:avLst/>
          </a:prstGeom>
          <a:solidFill>
            <a:srgbClr val="FFFFFF"/>
          </a:solidFill>
          <a:ln w="22225">
            <a:solidFill>
              <a:srgbClr val="00B4D8"/>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950" b="1" i="0">
                <a:solidFill>
                  <a:srgbClr val="111B30"/>
                </a:solidFill>
                <a:latin typeface="Calibri"/>
              </a:rPr>
              <a:t>Review Hits -&gt;</a:t>
            </a:r>
          </a:p>
          <a:p>
            <a:pPr algn="ctr"/>
            <a:r>
              <a:rPr sz="950" b="1" i="0">
                <a:solidFill>
                  <a:srgbClr val="111B30"/>
                </a:solidFill>
                <a:latin typeface="Calibri"/>
              </a:rPr>
              <a:t>Flip Rule to</a:t>
            </a:r>
          </a:p>
          <a:p>
            <a:pPr algn="ctr"/>
            <a:r>
              <a:rPr sz="950" b="1" i="0">
                <a:solidFill>
                  <a:srgbClr val="111B30"/>
                </a:solidFill>
                <a:latin typeface="Calibri"/>
              </a:rPr>
              <a:t>Enabled (Block)</a:t>
            </a:r>
          </a:p>
        </p:txBody>
      </p:sp>
      <p:cxnSp>
        <p:nvCxnSpPr>
          <p:cNvPr id="10" name="Connector 9"/>
          <p:cNvCxnSpPr/>
          <p:nvPr/>
        </p:nvCxnSpPr>
        <p:spPr>
          <a:xfrm>
            <a:off x="3291840" y="3794760"/>
            <a:ext cx="274320" cy="0"/>
          </a:xfrm>
          <a:prstGeom prst="line">
            <a:avLst/>
          </a:prstGeom>
          <a:ln w="22225">
            <a:solidFill>
              <a:srgbClr val="40404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035040" y="3794760"/>
            <a:ext cx="274320" cy="0"/>
          </a:xfrm>
          <a:prstGeom prst="line">
            <a:avLst/>
          </a:prstGeom>
          <a:ln w="22225">
            <a:solidFill>
              <a:srgbClr val="40404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8778240" y="3794760"/>
            <a:ext cx="274320" cy="0"/>
          </a:xfrm>
          <a:prstGeom prst="line">
            <a:avLst/>
          </a:prstGeom>
          <a:ln w="22225">
            <a:solidFill>
              <a:srgbClr val="40404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640080" y="4572000"/>
            <a:ext cx="10881360" cy="365760"/>
          </a:xfrm>
          <a:prstGeom prst="rect">
            <a:avLst/>
          </a:prstGeom>
          <a:noFill/>
        </p:spPr>
        <p:txBody>
          <a:bodyPr wrap="square">
            <a:spAutoFit/>
          </a:bodyPr>
          <a:lstStyle/>
          <a:p>
            <a:pPr algn="ctr"/>
            <a:r>
              <a:rPr sz="1100" b="0" i="1">
                <a:solidFill>
                  <a:srgbClr val="6B7480"/>
                </a:solidFill>
                <a:latin typeface="Calibri"/>
              </a:rPr>
              <a:t>No user impact yet during Audit - this is observation only.</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96012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960120"/>
            <a:ext cx="12191695" cy="54864"/>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109728"/>
            <a:ext cx="11247120" cy="777240"/>
          </a:xfrm>
          <a:prstGeom prst="rect">
            <a:avLst/>
          </a:prstGeom>
          <a:noFill/>
        </p:spPr>
        <p:txBody>
          <a:bodyPr wrap="square" anchor="ctr">
            <a:spAutoFit/>
          </a:bodyPr>
          <a:lstStyle/>
          <a:p>
            <a:r>
              <a:rPr sz="2600" b="1" i="0">
                <a:solidFill>
                  <a:srgbClr val="FFFFFF"/>
                </a:solidFill>
                <a:latin typeface="Cambria"/>
              </a:rPr>
              <a:t>Pass-the-Hash (T1550.002)</a:t>
            </a:r>
          </a:p>
        </p:txBody>
      </p:sp>
      <p:sp>
        <p:nvSpPr>
          <p:cNvPr id="6" name="TextBox 5"/>
          <p:cNvSpPr txBox="1"/>
          <p:nvPr/>
        </p:nvSpPr>
        <p:spPr>
          <a:xfrm>
            <a:off x="457200" y="1051560"/>
            <a:ext cx="10515600" cy="320040"/>
          </a:xfrm>
          <a:prstGeom prst="rect">
            <a:avLst/>
          </a:prstGeom>
          <a:noFill/>
        </p:spPr>
        <p:txBody>
          <a:bodyPr wrap="square">
            <a:spAutoFit/>
          </a:bodyPr>
          <a:lstStyle/>
          <a:p>
            <a:r>
              <a:rPr sz="1300" b="1" i="1">
                <a:solidFill>
                  <a:srgbClr val="B02A2A"/>
                </a:solidFill>
                <a:latin typeface="Calibri"/>
              </a:rPr>
              <a:t>Attack Spotlight</a:t>
            </a:r>
          </a:p>
        </p:txBody>
      </p:sp>
      <p:sp>
        <p:nvSpPr>
          <p:cNvPr id="7" name="Rounded Rectangle 6"/>
          <p:cNvSpPr/>
          <p:nvPr/>
        </p:nvSpPr>
        <p:spPr>
          <a:xfrm>
            <a:off x="640080" y="1965960"/>
            <a:ext cx="3291840" cy="1371600"/>
          </a:xfrm>
          <a:prstGeom prst="roundRect">
            <a:avLst/>
          </a:prstGeom>
          <a:solidFill>
            <a:srgbClr val="FFFFFF"/>
          </a:solidFill>
          <a:ln w="25400">
            <a:solidFill>
              <a:srgbClr val="B02A2A"/>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150" b="0" i="0">
                <a:solidFill>
                  <a:srgbClr val="111B30"/>
                </a:solidFill>
                <a:latin typeface="Calibri"/>
              </a:rPr>
              <a:t>NTLM hash obtained</a:t>
            </a:r>
          </a:p>
          <a:p>
            <a:pPr algn="ctr"/>
            <a:r>
              <a:rPr sz="1150" b="0" i="0">
                <a:solidFill>
                  <a:srgbClr val="111B30"/>
                </a:solidFill>
                <a:latin typeface="Calibri"/>
              </a:rPr>
              <a:t>from a compromised host</a:t>
            </a:r>
          </a:p>
          <a:p>
            <a:pPr algn="ctr"/>
            <a:r>
              <a:rPr sz="1150" b="0" i="0">
                <a:solidFill>
                  <a:srgbClr val="111B30"/>
                </a:solidFill>
                <a:latin typeface="Calibri"/>
              </a:rPr>
              <a:t>(e.g. via LSASS dump)</a:t>
            </a:r>
          </a:p>
        </p:txBody>
      </p:sp>
      <p:sp>
        <p:nvSpPr>
          <p:cNvPr id="8" name="Rounded Rectangle 7"/>
          <p:cNvSpPr/>
          <p:nvPr/>
        </p:nvSpPr>
        <p:spPr>
          <a:xfrm>
            <a:off x="4297680" y="1965960"/>
            <a:ext cx="3566160" cy="1371600"/>
          </a:xfrm>
          <a:prstGeom prst="roundRect">
            <a:avLst/>
          </a:prstGeom>
          <a:solidFill>
            <a:srgbClr val="FFFFFF"/>
          </a:solidFill>
          <a:ln w="25400">
            <a:solidFill>
              <a:srgbClr val="B02A2A"/>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150" b="1" i="0">
                <a:solidFill>
                  <a:srgbClr val="111B30"/>
                </a:solidFill>
                <a:latin typeface="Calibri"/>
              </a:rPr>
              <a:t>Hash replayed directly</a:t>
            </a:r>
          </a:p>
          <a:p>
            <a:pPr algn="ctr"/>
            <a:r>
              <a:rPr sz="1150" b="1" i="0">
                <a:solidFill>
                  <a:srgbClr val="111B30"/>
                </a:solidFill>
                <a:latin typeface="Calibri"/>
              </a:rPr>
              <a:t>to authenticate to other</a:t>
            </a:r>
          </a:p>
          <a:p>
            <a:pPr algn="ctr"/>
            <a:r>
              <a:rPr sz="1150" b="1" i="0">
                <a:solidFill>
                  <a:srgbClr val="111B30"/>
                </a:solidFill>
                <a:latin typeface="Calibri"/>
              </a:rPr>
              <a:t>systems - no cleartext password needed</a:t>
            </a:r>
          </a:p>
        </p:txBody>
      </p:sp>
      <p:sp>
        <p:nvSpPr>
          <p:cNvPr id="9" name="Rounded Rectangle 8"/>
          <p:cNvSpPr/>
          <p:nvPr/>
        </p:nvSpPr>
        <p:spPr>
          <a:xfrm>
            <a:off x="8229600" y="1965960"/>
            <a:ext cx="3291840" cy="1371600"/>
          </a:xfrm>
          <a:prstGeom prst="roundRect">
            <a:avLst/>
          </a:prstGeom>
          <a:solidFill>
            <a:srgbClr val="FFFFFF"/>
          </a:solidFill>
          <a:ln w="25400">
            <a:solidFill>
              <a:srgbClr val="B02A2A"/>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150" b="0" i="0">
                <a:solidFill>
                  <a:srgbClr val="111B30"/>
                </a:solidFill>
                <a:latin typeface="Calibri"/>
              </a:rPr>
              <a:t>Lateral movement across</a:t>
            </a:r>
          </a:p>
          <a:p>
            <a:pPr algn="ctr"/>
            <a:r>
              <a:rPr sz="1150" b="0" i="0">
                <a:solidFill>
                  <a:srgbClr val="111B30"/>
                </a:solidFill>
                <a:latin typeface="Calibri"/>
              </a:rPr>
              <a:t>every system trusting that</a:t>
            </a:r>
          </a:p>
          <a:p>
            <a:pPr algn="ctr"/>
            <a:r>
              <a:rPr sz="1150" b="0" i="0">
                <a:solidFill>
                  <a:srgbClr val="111B30"/>
                </a:solidFill>
                <a:latin typeface="Calibri"/>
              </a:rPr>
              <a:t>account's NTLM hash</a:t>
            </a:r>
          </a:p>
        </p:txBody>
      </p:sp>
      <p:cxnSp>
        <p:nvCxnSpPr>
          <p:cNvPr id="10" name="Connector 9"/>
          <p:cNvCxnSpPr/>
          <p:nvPr/>
        </p:nvCxnSpPr>
        <p:spPr>
          <a:xfrm>
            <a:off x="3931920" y="2651760"/>
            <a:ext cx="365760" cy="0"/>
          </a:xfrm>
          <a:prstGeom prst="line">
            <a:avLst/>
          </a:prstGeom>
          <a:ln w="25400">
            <a:solidFill>
              <a:srgbClr val="B02A2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863840" y="2651760"/>
            <a:ext cx="365760" cy="0"/>
          </a:xfrm>
          <a:prstGeom prst="line">
            <a:avLst/>
          </a:prstGeom>
          <a:ln w="25400">
            <a:solidFill>
              <a:srgbClr val="B02A2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640080" y="3794760"/>
            <a:ext cx="10881360" cy="1737360"/>
          </a:xfrm>
          <a:prstGeom prst="roundRect">
            <a:avLst/>
          </a:prstGeom>
          <a:solidFill>
            <a:srgbClr val="E8EEF7"/>
          </a:solidFill>
          <a:ln w="25400">
            <a:solidFill>
              <a:srgbClr val="2E7D32"/>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300" b="1" i="0">
                <a:solidFill>
                  <a:srgbClr val="2E7D32"/>
                </a:solidFill>
                <a:latin typeface="Calibri"/>
              </a:rPr>
              <a:t>DEFENSE:  </a:t>
            </a:r>
            <a:r>
              <a:rPr sz="1300" b="0" i="0">
                <a:solidFill>
                  <a:srgbClr val="111B30"/>
                </a:solidFill>
                <a:latin typeface="Calibri"/>
              </a:rPr>
              <a:t>Credential Guard isolates NTLM hashes in VTL1, denying extraction at the source. Pair with unique local admin passwords (LAPS, next) so a stolen hash on one box doesn't unlock every box</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96012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960120"/>
            <a:ext cx="12191695" cy="54864"/>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109728"/>
            <a:ext cx="11247120" cy="777240"/>
          </a:xfrm>
          <a:prstGeom prst="rect">
            <a:avLst/>
          </a:prstGeom>
          <a:noFill/>
        </p:spPr>
        <p:txBody>
          <a:bodyPr wrap="square" anchor="ctr">
            <a:spAutoFit/>
          </a:bodyPr>
          <a:lstStyle/>
          <a:p>
            <a:r>
              <a:rPr sz="2600" b="1" i="0">
                <a:solidFill>
                  <a:srgbClr val="FFFFFF"/>
                </a:solidFill>
                <a:latin typeface="Cambria"/>
              </a:rPr>
              <a:t>LAPS: Local Administrator Password Solution</a:t>
            </a:r>
          </a:p>
        </p:txBody>
      </p:sp>
      <p:sp>
        <p:nvSpPr>
          <p:cNvPr id="6" name="TextBox 5"/>
          <p:cNvSpPr txBox="1"/>
          <p:nvPr/>
        </p:nvSpPr>
        <p:spPr>
          <a:xfrm>
            <a:off x="640080" y="1371600"/>
            <a:ext cx="10881360" cy="5029200"/>
          </a:xfrm>
          <a:prstGeom prst="rect">
            <a:avLst/>
          </a:prstGeom>
          <a:noFill/>
        </p:spPr>
        <p:txBody>
          <a:bodyPr wrap="square">
            <a:spAutoFit/>
          </a:bodyPr>
          <a:lstStyle/>
          <a:p>
            <a:pPr>
              <a:lnSpc>
                <a:spcPct val="125000"/>
              </a:lnSpc>
              <a:spcAft>
                <a:spcPts val="1200"/>
              </a:spcAft>
            </a:pPr>
            <a:r>
              <a:rPr sz="1600" b="0" i="0">
                <a:solidFill>
                  <a:srgbClr val="111B30"/>
                </a:solidFill>
                <a:latin typeface="Calibri"/>
              </a:rPr>
              <a:t>•  Without it, every managed machine shares one static local admin password - compromise one, effectively own all</a:t>
            </a:r>
          </a:p>
          <a:p>
            <a:pPr>
              <a:lnSpc>
                <a:spcPct val="125000"/>
              </a:lnSpc>
              <a:spcAft>
                <a:spcPts val="1200"/>
              </a:spcAft>
            </a:pPr>
            <a:r>
              <a:rPr sz="1600" b="0" i="0">
                <a:solidFill>
                  <a:srgbClr val="111B30"/>
                </a:solidFill>
                <a:latin typeface="Calibri"/>
              </a:rPr>
              <a:t>•  Windows LAPS is built into Windows Server 2022 and Windows 11 - no separate download required</a:t>
            </a:r>
          </a:p>
          <a:p>
            <a:pPr>
              <a:lnSpc>
                <a:spcPct val="125000"/>
              </a:lnSpc>
              <a:spcAft>
                <a:spcPts val="1200"/>
              </a:spcAft>
            </a:pPr>
            <a:r>
              <a:rPr sz="1600" b="0" i="0">
                <a:solidFill>
                  <a:srgbClr val="111B30"/>
                </a:solidFill>
                <a:latin typeface="Calibri"/>
              </a:rPr>
              <a:t>•  Randomizes and rotates the local admin password per-machine on a defined schedule</a:t>
            </a:r>
          </a:p>
          <a:p>
            <a:pPr>
              <a:lnSpc>
                <a:spcPct val="125000"/>
              </a:lnSpc>
              <a:spcAft>
                <a:spcPts val="1200"/>
              </a:spcAft>
            </a:pPr>
            <a:r>
              <a:rPr sz="1600" b="0" i="0">
                <a:solidFill>
                  <a:srgbClr val="111B30"/>
                </a:solidFill>
                <a:latin typeface="Calibri"/>
              </a:rPr>
              <a:t>•  Passwords are stored encrypted in Active Directory and retrievable only by authorized (typically Domain Admin) accounts</a:t>
            </a:r>
          </a:p>
          <a:p>
            <a:pPr>
              <a:lnSpc>
                <a:spcPct val="125000"/>
              </a:lnSpc>
              <a:spcAft>
                <a:spcPts val="1200"/>
              </a:spcAft>
            </a:pPr>
            <a:r>
              <a:rPr sz="1600" b="0" i="0">
                <a:solidFill>
                  <a:srgbClr val="111B30"/>
                </a:solidFill>
                <a:latin typeface="Calibri"/>
              </a:rPr>
              <a:t>•  Requires a one-time AD schema extension before any machine can use it</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96012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960120"/>
            <a:ext cx="12191695" cy="54864"/>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109728"/>
            <a:ext cx="11247120" cy="777240"/>
          </a:xfrm>
          <a:prstGeom prst="rect">
            <a:avLst/>
          </a:prstGeom>
          <a:noFill/>
        </p:spPr>
        <p:txBody>
          <a:bodyPr wrap="square" anchor="ctr">
            <a:spAutoFit/>
          </a:bodyPr>
          <a:lstStyle/>
          <a:p>
            <a:r>
              <a:rPr sz="2600" b="1" i="0">
                <a:solidFill>
                  <a:srgbClr val="FFFFFF"/>
                </a:solidFill>
                <a:latin typeface="Cambria"/>
              </a:rPr>
              <a:t>Shared Local Admin Password Blast Radius</a:t>
            </a:r>
          </a:p>
        </p:txBody>
      </p:sp>
      <p:sp>
        <p:nvSpPr>
          <p:cNvPr id="6" name="TextBox 5"/>
          <p:cNvSpPr txBox="1"/>
          <p:nvPr/>
        </p:nvSpPr>
        <p:spPr>
          <a:xfrm>
            <a:off x="457200" y="1051560"/>
            <a:ext cx="10515600" cy="320040"/>
          </a:xfrm>
          <a:prstGeom prst="rect">
            <a:avLst/>
          </a:prstGeom>
          <a:noFill/>
        </p:spPr>
        <p:txBody>
          <a:bodyPr wrap="square">
            <a:spAutoFit/>
          </a:bodyPr>
          <a:lstStyle/>
          <a:p>
            <a:r>
              <a:rPr sz="1300" b="1" i="1">
                <a:solidFill>
                  <a:srgbClr val="B02A2A"/>
                </a:solidFill>
                <a:latin typeface="Calibri"/>
              </a:rPr>
              <a:t>Risk Spotlight</a:t>
            </a:r>
          </a:p>
        </p:txBody>
      </p:sp>
      <p:sp>
        <p:nvSpPr>
          <p:cNvPr id="7" name="Rounded Rectangle 6"/>
          <p:cNvSpPr/>
          <p:nvPr/>
        </p:nvSpPr>
        <p:spPr>
          <a:xfrm>
            <a:off x="640080" y="1965960"/>
            <a:ext cx="3291840" cy="1371600"/>
          </a:xfrm>
          <a:prstGeom prst="roundRect">
            <a:avLst/>
          </a:prstGeom>
          <a:solidFill>
            <a:srgbClr val="FFFFFF"/>
          </a:solidFill>
          <a:ln w="25400">
            <a:solidFill>
              <a:srgbClr val="B02A2A"/>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150" b="0" i="0">
                <a:solidFill>
                  <a:srgbClr val="111B30"/>
                </a:solidFill>
                <a:latin typeface="Calibri"/>
              </a:rPr>
              <a:t>Every machine imaged</a:t>
            </a:r>
          </a:p>
          <a:p>
            <a:pPr algn="ctr"/>
            <a:r>
              <a:rPr sz="1150" b="0" i="0">
                <a:solidFill>
                  <a:srgbClr val="111B30"/>
                </a:solidFill>
                <a:latin typeface="Calibri"/>
              </a:rPr>
              <a:t>with the identical</a:t>
            </a:r>
          </a:p>
          <a:p>
            <a:pPr algn="ctr"/>
            <a:r>
              <a:rPr sz="1150" b="0" i="0">
                <a:solidFill>
                  <a:srgbClr val="111B30"/>
                </a:solidFill>
                <a:latin typeface="Calibri"/>
              </a:rPr>
              <a:t>local admin password</a:t>
            </a:r>
          </a:p>
        </p:txBody>
      </p:sp>
      <p:sp>
        <p:nvSpPr>
          <p:cNvPr id="8" name="Rounded Rectangle 7"/>
          <p:cNvSpPr/>
          <p:nvPr/>
        </p:nvSpPr>
        <p:spPr>
          <a:xfrm>
            <a:off x="4297680" y="1965960"/>
            <a:ext cx="3566160" cy="1371600"/>
          </a:xfrm>
          <a:prstGeom prst="roundRect">
            <a:avLst/>
          </a:prstGeom>
          <a:solidFill>
            <a:srgbClr val="FFFFFF"/>
          </a:solidFill>
          <a:ln w="25400">
            <a:solidFill>
              <a:srgbClr val="B02A2A"/>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150" b="1" i="0">
                <a:solidFill>
                  <a:srgbClr val="111B30"/>
                </a:solidFill>
                <a:latin typeface="Calibri"/>
              </a:rPr>
              <a:t>Attacker extracts or</a:t>
            </a:r>
          </a:p>
          <a:p>
            <a:pPr algn="ctr"/>
            <a:r>
              <a:rPr sz="1150" b="1" i="0">
                <a:solidFill>
                  <a:srgbClr val="111B30"/>
                </a:solidFill>
                <a:latin typeface="Calibri"/>
              </a:rPr>
              <a:t>cracks that password</a:t>
            </a:r>
          </a:p>
          <a:p>
            <a:pPr algn="ctr"/>
            <a:r>
              <a:rPr sz="1150" b="1" i="0">
                <a:solidFill>
                  <a:srgbClr val="111B30"/>
                </a:solidFill>
                <a:latin typeface="Calibri"/>
              </a:rPr>
              <a:t>from any one compromised machine</a:t>
            </a:r>
          </a:p>
        </p:txBody>
      </p:sp>
      <p:sp>
        <p:nvSpPr>
          <p:cNvPr id="9" name="Rounded Rectangle 8"/>
          <p:cNvSpPr/>
          <p:nvPr/>
        </p:nvSpPr>
        <p:spPr>
          <a:xfrm>
            <a:off x="8229600" y="1965960"/>
            <a:ext cx="3291840" cy="1371600"/>
          </a:xfrm>
          <a:prstGeom prst="roundRect">
            <a:avLst/>
          </a:prstGeom>
          <a:solidFill>
            <a:srgbClr val="FFFFFF"/>
          </a:solidFill>
          <a:ln w="25400">
            <a:solidFill>
              <a:srgbClr val="B02A2A"/>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150" b="0" i="0">
                <a:solidFill>
                  <a:srgbClr val="111B30"/>
                </a:solidFill>
                <a:latin typeface="Calibri"/>
              </a:rPr>
              <a:t>The exact same credential</a:t>
            </a:r>
          </a:p>
          <a:p>
            <a:pPr algn="ctr"/>
            <a:r>
              <a:rPr sz="1150" b="0" i="0">
                <a:solidFill>
                  <a:srgbClr val="111B30"/>
                </a:solidFill>
                <a:latin typeface="Calibri"/>
              </a:rPr>
              <a:t>unlocks every other machine</a:t>
            </a:r>
          </a:p>
          <a:p>
            <a:pPr algn="ctr"/>
            <a:r>
              <a:rPr sz="1150" b="0" i="0">
                <a:solidFill>
                  <a:srgbClr val="111B30"/>
                </a:solidFill>
                <a:latin typeface="Calibri"/>
              </a:rPr>
              <a:t>in the fleet</a:t>
            </a:r>
          </a:p>
        </p:txBody>
      </p:sp>
      <p:cxnSp>
        <p:nvCxnSpPr>
          <p:cNvPr id="10" name="Connector 9"/>
          <p:cNvCxnSpPr/>
          <p:nvPr/>
        </p:nvCxnSpPr>
        <p:spPr>
          <a:xfrm>
            <a:off x="3931920" y="2651760"/>
            <a:ext cx="365760" cy="0"/>
          </a:xfrm>
          <a:prstGeom prst="line">
            <a:avLst/>
          </a:prstGeom>
          <a:ln w="25400">
            <a:solidFill>
              <a:srgbClr val="B02A2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863840" y="2651760"/>
            <a:ext cx="365760" cy="0"/>
          </a:xfrm>
          <a:prstGeom prst="line">
            <a:avLst/>
          </a:prstGeom>
          <a:ln w="25400">
            <a:solidFill>
              <a:srgbClr val="B02A2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640080" y="3794760"/>
            <a:ext cx="10881360" cy="1737360"/>
          </a:xfrm>
          <a:prstGeom prst="roundRect">
            <a:avLst/>
          </a:prstGeom>
          <a:solidFill>
            <a:srgbClr val="E8EEF7"/>
          </a:solidFill>
          <a:ln w="25400">
            <a:solidFill>
              <a:srgbClr val="2E7D32"/>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300" b="1" i="0">
                <a:solidFill>
                  <a:srgbClr val="2E7D32"/>
                </a:solidFill>
                <a:latin typeface="Calibri"/>
              </a:rPr>
              <a:t>DEFENSE:  </a:t>
            </a:r>
            <a:r>
              <a:rPr sz="1300" b="0" i="0">
                <a:solidFill>
                  <a:srgbClr val="111B30"/>
                </a:solidFill>
                <a:latin typeface="Calibri"/>
              </a:rPr>
              <a:t>LAPS generates and stores a unique, rotating password per machine - a credential stolen from one box is worthless everywhere else</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96012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960120"/>
            <a:ext cx="12191695" cy="54864"/>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109728"/>
            <a:ext cx="11247120" cy="777240"/>
          </a:xfrm>
          <a:prstGeom prst="rect">
            <a:avLst/>
          </a:prstGeom>
          <a:noFill/>
        </p:spPr>
        <p:txBody>
          <a:bodyPr wrap="square" anchor="ctr">
            <a:spAutoFit/>
          </a:bodyPr>
          <a:lstStyle/>
          <a:p>
            <a:r>
              <a:rPr sz="2600" b="1" i="0">
                <a:solidFill>
                  <a:srgbClr val="FFFFFF"/>
                </a:solidFill>
                <a:latin typeface="Cambria"/>
              </a:rPr>
              <a:t>Legacy Protocols: Why They're Still a Risk Today</a:t>
            </a:r>
          </a:p>
        </p:txBody>
      </p:sp>
      <p:sp>
        <p:nvSpPr>
          <p:cNvPr id="6" name="TextBox 5"/>
          <p:cNvSpPr txBox="1"/>
          <p:nvPr/>
        </p:nvSpPr>
        <p:spPr>
          <a:xfrm>
            <a:off x="640080" y="1371600"/>
            <a:ext cx="10881360" cy="5029200"/>
          </a:xfrm>
          <a:prstGeom prst="rect">
            <a:avLst/>
          </a:prstGeom>
          <a:noFill/>
        </p:spPr>
        <p:txBody>
          <a:bodyPr wrap="square">
            <a:spAutoFit/>
          </a:bodyPr>
          <a:lstStyle/>
          <a:p>
            <a:pPr>
              <a:lnSpc>
                <a:spcPct val="125000"/>
              </a:lnSpc>
              <a:spcAft>
                <a:spcPts val="1200"/>
              </a:spcAft>
            </a:pPr>
            <a:r>
              <a:rPr sz="1600" b="0" i="0" dirty="0">
                <a:solidFill>
                  <a:srgbClr val="111B30"/>
                </a:solidFill>
                <a:latin typeface="Calibri"/>
              </a:rPr>
              <a:t>•  SMBv1: the file-sharing protocol exploited by </a:t>
            </a:r>
            <a:r>
              <a:rPr sz="1600" b="0" i="0" dirty="0" err="1">
                <a:solidFill>
                  <a:srgbClr val="111B30"/>
                </a:solidFill>
                <a:latin typeface="Calibri"/>
              </a:rPr>
              <a:t>EternalBlue</a:t>
            </a:r>
            <a:r>
              <a:rPr sz="1600" b="0" i="0" dirty="0">
                <a:solidFill>
                  <a:srgbClr val="111B30"/>
                </a:solidFill>
                <a:latin typeface="Calibri"/>
              </a:rPr>
              <a:t> and WannaCry - no legitimate reason to run it on a modern network</a:t>
            </a:r>
          </a:p>
          <a:p>
            <a:pPr>
              <a:lnSpc>
                <a:spcPct val="125000"/>
              </a:lnSpc>
              <a:spcAft>
                <a:spcPts val="1200"/>
              </a:spcAft>
            </a:pPr>
            <a:r>
              <a:rPr sz="1600" b="0" i="0" dirty="0">
                <a:solidFill>
                  <a:srgbClr val="111B30"/>
                </a:solidFill>
                <a:latin typeface="Calibri"/>
              </a:rPr>
              <a:t>•  NTLMv1: a weak challenge-response authentication protocol vulnerable to relay and downgrade attacks</a:t>
            </a:r>
          </a:p>
          <a:p>
            <a:pPr>
              <a:lnSpc>
                <a:spcPct val="125000"/>
              </a:lnSpc>
              <a:spcAft>
                <a:spcPts val="1200"/>
              </a:spcAft>
            </a:pPr>
            <a:r>
              <a:rPr sz="1600" b="0" i="0" dirty="0">
                <a:solidFill>
                  <a:srgbClr val="111B30"/>
                </a:solidFill>
                <a:latin typeface="Calibri"/>
              </a:rPr>
              <a:t>•  RC4-based Kerberos encryption: weak enough that ticket-cracking (</a:t>
            </a:r>
            <a:r>
              <a:rPr sz="1600" b="0" i="0" dirty="0" err="1">
                <a:solidFill>
                  <a:srgbClr val="111B30"/>
                </a:solidFill>
                <a:latin typeface="Calibri"/>
              </a:rPr>
              <a:t>Kerberoasting</a:t>
            </a:r>
            <a:r>
              <a:rPr sz="1600" b="0" i="0" dirty="0">
                <a:solidFill>
                  <a:srgbClr val="111B30"/>
                </a:solidFill>
                <a:latin typeface="Calibri"/>
              </a:rPr>
              <a:t>, AS-REP Roasting) becomes practical offline</a:t>
            </a:r>
          </a:p>
          <a:p>
            <a:pPr>
              <a:lnSpc>
                <a:spcPct val="125000"/>
              </a:lnSpc>
              <a:spcAft>
                <a:spcPts val="1200"/>
              </a:spcAft>
            </a:pPr>
            <a:r>
              <a:rPr sz="1600" b="0" i="0" dirty="0">
                <a:solidFill>
                  <a:srgbClr val="111B30"/>
                </a:solidFill>
                <a:latin typeface="Calibri"/>
              </a:rPr>
              <a:t>•  These aren't "old and irrelevant" - they're downgrade paths attackers deliberately target because modern protections don't apply to them</a:t>
            </a:r>
          </a:p>
          <a:p>
            <a:pPr>
              <a:lnSpc>
                <a:spcPct val="125000"/>
              </a:lnSpc>
              <a:spcAft>
                <a:spcPts val="1200"/>
              </a:spcAft>
            </a:pPr>
            <a:r>
              <a:rPr sz="1600" b="0" i="0" dirty="0">
                <a:solidFill>
                  <a:srgbClr val="111B30"/>
                </a:solidFill>
                <a:latin typeface="Calibri"/>
              </a:rPr>
              <a:t>•  All three are configured and verified via PowerShell/registry, not GUI toggles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2" name="Picture 1" descr="ntlmv1_diagram">
            <a:extLst>
              <a:ext uri="{FF2B5EF4-FFF2-40B4-BE49-F238E27FC236}">
                <a16:creationId xmlns:a16="http://schemas.microsoft.com/office/drawing/2014/main" id="{EBCF8DDE-7364-10E8-BCB5-B1BEDC26BCA6}"/>
              </a:ext>
            </a:extLst>
          </p:cNvPr>
          <p:cNvPicPr>
            <a:picLocks noChangeAspect="1"/>
          </p:cNvPicPr>
          <p:nvPr/>
        </p:nvPicPr>
        <p:blipFill>
          <a:blip r:embed="rId2"/>
          <a:srcRect t="19"/>
          <a:stretch>
            <a:fillRect/>
          </a:stretch>
        </p:blipFill>
        <p:spPr>
          <a:xfrm>
            <a:off x="20" y="1282"/>
            <a:ext cx="12191980" cy="6856718"/>
          </a:xfrm>
          <a:prstGeom prst="rect">
            <a:avLst/>
          </a:prstGeom>
        </p:spPr>
      </p:pic>
    </p:spTree>
    <p:extLst>
      <p:ext uri="{BB962C8B-B14F-4D97-AF65-F5344CB8AC3E}">
        <p14:creationId xmlns:p14="http://schemas.microsoft.com/office/powerpoint/2010/main" val="167516470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96012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960120"/>
            <a:ext cx="12191695" cy="54864"/>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109728"/>
            <a:ext cx="11247120" cy="777240"/>
          </a:xfrm>
          <a:prstGeom prst="rect">
            <a:avLst/>
          </a:prstGeom>
          <a:noFill/>
        </p:spPr>
        <p:txBody>
          <a:bodyPr wrap="square" anchor="ctr">
            <a:spAutoFit/>
          </a:bodyPr>
          <a:lstStyle/>
          <a:p>
            <a:r>
              <a:rPr sz="2600" b="1" i="0">
                <a:solidFill>
                  <a:srgbClr val="FFFFFF"/>
                </a:solidFill>
                <a:latin typeface="Cambria"/>
              </a:rPr>
              <a:t>SMBv1 / EternalBlue &amp; WannaCry</a:t>
            </a:r>
          </a:p>
        </p:txBody>
      </p:sp>
      <p:sp>
        <p:nvSpPr>
          <p:cNvPr id="6" name="TextBox 5"/>
          <p:cNvSpPr txBox="1"/>
          <p:nvPr/>
        </p:nvSpPr>
        <p:spPr>
          <a:xfrm>
            <a:off x="457200" y="1051560"/>
            <a:ext cx="10515600" cy="320040"/>
          </a:xfrm>
          <a:prstGeom prst="rect">
            <a:avLst/>
          </a:prstGeom>
          <a:noFill/>
        </p:spPr>
        <p:txBody>
          <a:bodyPr wrap="square">
            <a:spAutoFit/>
          </a:bodyPr>
          <a:lstStyle/>
          <a:p>
            <a:r>
              <a:rPr sz="1300" b="1" i="1">
                <a:solidFill>
                  <a:srgbClr val="B02A2A"/>
                </a:solidFill>
                <a:latin typeface="Calibri"/>
              </a:rPr>
              <a:t>Attack Spotlight</a:t>
            </a:r>
          </a:p>
        </p:txBody>
      </p:sp>
      <p:sp>
        <p:nvSpPr>
          <p:cNvPr id="7" name="Rounded Rectangle 6"/>
          <p:cNvSpPr/>
          <p:nvPr/>
        </p:nvSpPr>
        <p:spPr>
          <a:xfrm>
            <a:off x="640080" y="1965960"/>
            <a:ext cx="3291840" cy="1371600"/>
          </a:xfrm>
          <a:prstGeom prst="roundRect">
            <a:avLst/>
          </a:prstGeom>
          <a:solidFill>
            <a:srgbClr val="FFFFFF"/>
          </a:solidFill>
          <a:ln w="25400">
            <a:solidFill>
              <a:srgbClr val="B02A2A"/>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150" b="0" i="0">
                <a:solidFill>
                  <a:srgbClr val="111B30"/>
                </a:solidFill>
                <a:latin typeface="Calibri"/>
              </a:rPr>
              <a:t>SMBv1 enabled</a:t>
            </a:r>
          </a:p>
          <a:p>
            <a:pPr algn="ctr"/>
            <a:r>
              <a:rPr sz="1150" b="0" i="0">
                <a:solidFill>
                  <a:srgbClr val="111B30"/>
                </a:solidFill>
                <a:latin typeface="Calibri"/>
              </a:rPr>
              <a:t>server-wide (still the</a:t>
            </a:r>
          </a:p>
          <a:p>
            <a:pPr algn="ctr"/>
            <a:r>
              <a:rPr sz="1150" b="0" i="0">
                <a:solidFill>
                  <a:srgbClr val="111B30"/>
                </a:solidFill>
                <a:latin typeface="Calibri"/>
              </a:rPr>
              <a:t>default on many legacy builds)</a:t>
            </a:r>
          </a:p>
        </p:txBody>
      </p:sp>
      <p:sp>
        <p:nvSpPr>
          <p:cNvPr id="8" name="Rounded Rectangle 7"/>
          <p:cNvSpPr/>
          <p:nvPr/>
        </p:nvSpPr>
        <p:spPr>
          <a:xfrm>
            <a:off x="4297680" y="1965960"/>
            <a:ext cx="3566160" cy="1371600"/>
          </a:xfrm>
          <a:prstGeom prst="roundRect">
            <a:avLst/>
          </a:prstGeom>
          <a:solidFill>
            <a:srgbClr val="FFFFFF"/>
          </a:solidFill>
          <a:ln w="25400">
            <a:solidFill>
              <a:srgbClr val="B02A2A"/>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150" b="1" i="0">
                <a:solidFill>
                  <a:srgbClr val="111B30"/>
                </a:solidFill>
                <a:latin typeface="Calibri"/>
              </a:rPr>
              <a:t>EternalBlue exploit chain</a:t>
            </a:r>
          </a:p>
          <a:p>
            <a:pPr algn="ctr"/>
            <a:r>
              <a:rPr sz="1150" b="1" i="0">
                <a:solidFill>
                  <a:srgbClr val="111B30"/>
                </a:solidFill>
                <a:latin typeface="Calibri"/>
              </a:rPr>
              <a:t>triggers remote code</a:t>
            </a:r>
          </a:p>
          <a:p>
            <a:pPr algn="ctr"/>
            <a:r>
              <a:rPr sz="1150" b="1" i="0">
                <a:solidFill>
                  <a:srgbClr val="111B30"/>
                </a:solidFill>
                <a:latin typeface="Calibri"/>
              </a:rPr>
              <a:t>execution over SMBv1</a:t>
            </a:r>
          </a:p>
        </p:txBody>
      </p:sp>
      <p:sp>
        <p:nvSpPr>
          <p:cNvPr id="9" name="Rounded Rectangle 8"/>
          <p:cNvSpPr/>
          <p:nvPr/>
        </p:nvSpPr>
        <p:spPr>
          <a:xfrm>
            <a:off x="8229600" y="1965960"/>
            <a:ext cx="3291840" cy="1371600"/>
          </a:xfrm>
          <a:prstGeom prst="roundRect">
            <a:avLst/>
          </a:prstGeom>
          <a:solidFill>
            <a:srgbClr val="FFFFFF"/>
          </a:solidFill>
          <a:ln w="25400">
            <a:solidFill>
              <a:srgbClr val="B02A2A"/>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150" b="0" i="0">
                <a:solidFill>
                  <a:srgbClr val="111B30"/>
                </a:solidFill>
                <a:latin typeface="Calibri"/>
              </a:rPr>
              <a:t>Self-propagating ransomware</a:t>
            </a:r>
          </a:p>
          <a:p>
            <a:pPr algn="ctr"/>
            <a:r>
              <a:rPr sz="1150" b="0" i="0">
                <a:solidFill>
                  <a:srgbClr val="111B30"/>
                </a:solidFill>
                <a:latin typeface="Calibri"/>
              </a:rPr>
              <a:t>(WannaCry, NotPetya) worm</a:t>
            </a:r>
          </a:p>
          <a:p>
            <a:pPr algn="ctr"/>
            <a:r>
              <a:rPr sz="1150" b="0" i="0">
                <a:solidFill>
                  <a:srgbClr val="111B30"/>
                </a:solidFill>
                <a:latin typeface="Calibri"/>
              </a:rPr>
              <a:t>spreads with no user interaction</a:t>
            </a:r>
          </a:p>
        </p:txBody>
      </p:sp>
      <p:cxnSp>
        <p:nvCxnSpPr>
          <p:cNvPr id="10" name="Connector 9"/>
          <p:cNvCxnSpPr/>
          <p:nvPr/>
        </p:nvCxnSpPr>
        <p:spPr>
          <a:xfrm>
            <a:off x="3931920" y="2651760"/>
            <a:ext cx="365760" cy="0"/>
          </a:xfrm>
          <a:prstGeom prst="line">
            <a:avLst/>
          </a:prstGeom>
          <a:ln w="25400">
            <a:solidFill>
              <a:srgbClr val="B02A2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863840" y="2651760"/>
            <a:ext cx="365760" cy="0"/>
          </a:xfrm>
          <a:prstGeom prst="line">
            <a:avLst/>
          </a:prstGeom>
          <a:ln w="25400">
            <a:solidFill>
              <a:srgbClr val="B02A2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640080" y="3794760"/>
            <a:ext cx="10881360" cy="1737360"/>
          </a:xfrm>
          <a:prstGeom prst="roundRect">
            <a:avLst/>
          </a:prstGeom>
          <a:solidFill>
            <a:srgbClr val="E8EEF7"/>
          </a:solidFill>
          <a:ln w="25400">
            <a:solidFill>
              <a:srgbClr val="2E7D32"/>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300" b="1" i="0">
                <a:solidFill>
                  <a:srgbClr val="2E7D32"/>
                </a:solidFill>
                <a:latin typeface="Calibri"/>
              </a:rPr>
              <a:t>DEFENSE:  </a:t>
            </a:r>
            <a:r>
              <a:rPr sz="1300" b="0" i="0">
                <a:solidFill>
                  <a:srgbClr val="111B30"/>
                </a:solidFill>
                <a:latin typeface="Calibri"/>
              </a:rPr>
              <a:t>Set-SmbServerConfiguration -EnableSMB1Protocol $false -Force - SMBv2/v3 fully replace SMBv1 for all legitimate file-sharing use cases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96012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960120"/>
            <a:ext cx="12191695" cy="54864"/>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109728"/>
            <a:ext cx="11247120" cy="777240"/>
          </a:xfrm>
          <a:prstGeom prst="rect">
            <a:avLst/>
          </a:prstGeom>
          <a:noFill/>
        </p:spPr>
        <p:txBody>
          <a:bodyPr wrap="square" anchor="ctr">
            <a:spAutoFit/>
          </a:bodyPr>
          <a:lstStyle/>
          <a:p>
            <a:r>
              <a:rPr sz="2600" b="1" i="0">
                <a:solidFill>
                  <a:srgbClr val="FFFFFF"/>
                </a:solidFill>
                <a:latin typeface="Cambria"/>
              </a:rPr>
              <a:t>NTLM Downgrade &amp; Relay</a:t>
            </a:r>
          </a:p>
        </p:txBody>
      </p:sp>
      <p:sp>
        <p:nvSpPr>
          <p:cNvPr id="6" name="TextBox 5"/>
          <p:cNvSpPr txBox="1"/>
          <p:nvPr/>
        </p:nvSpPr>
        <p:spPr>
          <a:xfrm>
            <a:off x="457200" y="1051560"/>
            <a:ext cx="10515600" cy="320040"/>
          </a:xfrm>
          <a:prstGeom prst="rect">
            <a:avLst/>
          </a:prstGeom>
          <a:noFill/>
        </p:spPr>
        <p:txBody>
          <a:bodyPr wrap="square">
            <a:spAutoFit/>
          </a:bodyPr>
          <a:lstStyle/>
          <a:p>
            <a:r>
              <a:rPr sz="1300" b="1" i="1">
                <a:solidFill>
                  <a:srgbClr val="B02A2A"/>
                </a:solidFill>
                <a:latin typeface="Calibri"/>
              </a:rPr>
              <a:t>Attack Spotlight</a:t>
            </a:r>
          </a:p>
        </p:txBody>
      </p:sp>
      <p:sp>
        <p:nvSpPr>
          <p:cNvPr id="7" name="Rounded Rectangle 6"/>
          <p:cNvSpPr/>
          <p:nvPr/>
        </p:nvSpPr>
        <p:spPr>
          <a:xfrm>
            <a:off x="640080" y="1965960"/>
            <a:ext cx="3291840" cy="1371600"/>
          </a:xfrm>
          <a:prstGeom prst="roundRect">
            <a:avLst/>
          </a:prstGeom>
          <a:solidFill>
            <a:srgbClr val="FFFFFF"/>
          </a:solidFill>
          <a:ln w="25400">
            <a:solidFill>
              <a:srgbClr val="B02A2A"/>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150" b="0" i="0">
                <a:solidFill>
                  <a:srgbClr val="111B30"/>
                </a:solidFill>
                <a:latin typeface="Calibri"/>
              </a:rPr>
              <a:t>LmCompatibilityLevel</a:t>
            </a:r>
          </a:p>
          <a:p>
            <a:pPr algn="ctr"/>
            <a:r>
              <a:rPr sz="1150" b="0" i="0">
                <a:solidFill>
                  <a:srgbClr val="111B30"/>
                </a:solidFill>
                <a:latin typeface="Calibri"/>
              </a:rPr>
              <a:t>allows LM/NTLMv1</a:t>
            </a:r>
          </a:p>
          <a:p>
            <a:pPr algn="ctr"/>
            <a:r>
              <a:rPr sz="1150" b="0" i="0">
                <a:solidFill>
                  <a:srgbClr val="111B30"/>
                </a:solidFill>
                <a:latin typeface="Calibri"/>
              </a:rPr>
              <a:t>(default or misconfigured)</a:t>
            </a:r>
          </a:p>
        </p:txBody>
      </p:sp>
      <p:sp>
        <p:nvSpPr>
          <p:cNvPr id="8" name="Rounded Rectangle 7"/>
          <p:cNvSpPr/>
          <p:nvPr/>
        </p:nvSpPr>
        <p:spPr>
          <a:xfrm>
            <a:off x="4297680" y="1965960"/>
            <a:ext cx="3566160" cy="1371600"/>
          </a:xfrm>
          <a:prstGeom prst="roundRect">
            <a:avLst/>
          </a:prstGeom>
          <a:solidFill>
            <a:srgbClr val="FFFFFF"/>
          </a:solidFill>
          <a:ln w="25400">
            <a:solidFill>
              <a:srgbClr val="B02A2A"/>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150" b="1" i="0">
                <a:solidFill>
                  <a:srgbClr val="111B30"/>
                </a:solidFill>
                <a:latin typeface="Calibri"/>
              </a:rPr>
              <a:t>Attacker forces or</a:t>
            </a:r>
          </a:p>
          <a:p>
            <a:pPr algn="ctr"/>
            <a:r>
              <a:rPr sz="1150" b="1" i="0">
                <a:solidFill>
                  <a:srgbClr val="111B30"/>
                </a:solidFill>
                <a:latin typeface="Calibri"/>
              </a:rPr>
              <a:t>intercepts a downgraded</a:t>
            </a:r>
          </a:p>
          <a:p>
            <a:pPr algn="ctr"/>
            <a:r>
              <a:rPr sz="1150" b="1" i="0">
                <a:solidFill>
                  <a:srgbClr val="111B30"/>
                </a:solidFill>
                <a:latin typeface="Calibri"/>
              </a:rPr>
              <a:t>NTLMv1 authentication attempt</a:t>
            </a:r>
          </a:p>
        </p:txBody>
      </p:sp>
      <p:sp>
        <p:nvSpPr>
          <p:cNvPr id="9" name="Rounded Rectangle 8"/>
          <p:cNvSpPr/>
          <p:nvPr/>
        </p:nvSpPr>
        <p:spPr>
          <a:xfrm>
            <a:off x="8229600" y="1965960"/>
            <a:ext cx="3291840" cy="1371600"/>
          </a:xfrm>
          <a:prstGeom prst="roundRect">
            <a:avLst/>
          </a:prstGeom>
          <a:solidFill>
            <a:srgbClr val="FFFFFF"/>
          </a:solidFill>
          <a:ln w="25400">
            <a:solidFill>
              <a:srgbClr val="B02A2A"/>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150" b="0" i="0">
                <a:solidFill>
                  <a:srgbClr val="111B30"/>
                </a:solidFill>
                <a:latin typeface="Calibri"/>
              </a:rPr>
              <a:t>Authentication bypass or</a:t>
            </a:r>
          </a:p>
          <a:p>
            <a:pPr algn="ctr"/>
            <a:r>
              <a:rPr sz="1150" b="0" i="0">
                <a:solidFill>
                  <a:srgbClr val="111B30"/>
                </a:solidFill>
                <a:latin typeface="Calibri"/>
              </a:rPr>
              <a:t>credential compromise</a:t>
            </a:r>
          </a:p>
          <a:p>
            <a:pPr algn="ctr"/>
            <a:r>
              <a:rPr sz="1150" b="0" i="0">
                <a:solidFill>
                  <a:srgbClr val="111B30"/>
                </a:solidFill>
                <a:latin typeface="Calibri"/>
              </a:rPr>
              <a:t>without the plaintext password</a:t>
            </a:r>
          </a:p>
        </p:txBody>
      </p:sp>
      <p:cxnSp>
        <p:nvCxnSpPr>
          <p:cNvPr id="10" name="Connector 9"/>
          <p:cNvCxnSpPr/>
          <p:nvPr/>
        </p:nvCxnSpPr>
        <p:spPr>
          <a:xfrm>
            <a:off x="3931920" y="2651760"/>
            <a:ext cx="365760" cy="0"/>
          </a:xfrm>
          <a:prstGeom prst="line">
            <a:avLst/>
          </a:prstGeom>
          <a:ln w="25400">
            <a:solidFill>
              <a:srgbClr val="B02A2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863840" y="2651760"/>
            <a:ext cx="365760" cy="0"/>
          </a:xfrm>
          <a:prstGeom prst="line">
            <a:avLst/>
          </a:prstGeom>
          <a:ln w="25400">
            <a:solidFill>
              <a:srgbClr val="B02A2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640080" y="3794760"/>
            <a:ext cx="10881360" cy="1737360"/>
          </a:xfrm>
          <a:prstGeom prst="roundRect">
            <a:avLst/>
          </a:prstGeom>
          <a:solidFill>
            <a:srgbClr val="E8EEF7"/>
          </a:solidFill>
          <a:ln w="25400">
            <a:solidFill>
              <a:srgbClr val="2E7D32"/>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300" b="1" i="0">
                <a:solidFill>
                  <a:srgbClr val="2E7D32"/>
                </a:solidFill>
                <a:latin typeface="Calibri"/>
              </a:rPr>
              <a:t>DEFENSE:  </a:t>
            </a:r>
            <a:r>
              <a:rPr sz="1300" b="0" i="0">
                <a:solidFill>
                  <a:srgbClr val="111B30"/>
                </a:solidFill>
                <a:latin typeface="Calibri"/>
              </a:rPr>
              <a:t>Set LmCompatibilityLevel=5 (send NTLMv2 only, refuse LM/NTLMv1 responses entirely) - removes the weak-protocol fallback attackers rely on</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 name="Picture 1" descr="Diagram showing how Kerberos authentication works">
            <a:extLst>
              <a:ext uri="{FF2B5EF4-FFF2-40B4-BE49-F238E27FC236}">
                <a16:creationId xmlns:a16="http://schemas.microsoft.com/office/drawing/2014/main" id="{7669723A-7705-CD52-358F-5BF6A6F2DFE7}"/>
              </a:ext>
            </a:extLst>
          </p:cNvPr>
          <p:cNvPicPr>
            <a:picLocks noChangeAspect="1"/>
          </p:cNvPicPr>
          <p:nvPr/>
        </p:nvPicPr>
        <p:blipFill>
          <a:blip r:embed="rId2"/>
          <a:stretch>
            <a:fillRect/>
          </a:stretch>
        </p:blipFill>
        <p:spPr>
          <a:xfrm>
            <a:off x="771499" y="643466"/>
            <a:ext cx="10649001" cy="5571067"/>
          </a:xfrm>
          <a:prstGeom prst="rect">
            <a:avLst/>
          </a:prstGeom>
        </p:spPr>
      </p:pic>
    </p:spTree>
    <p:extLst>
      <p:ext uri="{BB962C8B-B14F-4D97-AF65-F5344CB8AC3E}">
        <p14:creationId xmlns:p14="http://schemas.microsoft.com/office/powerpoint/2010/main" val="422448499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96012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960120"/>
            <a:ext cx="12191695" cy="54864"/>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109728"/>
            <a:ext cx="11247120" cy="777240"/>
          </a:xfrm>
          <a:prstGeom prst="rect">
            <a:avLst/>
          </a:prstGeom>
          <a:noFill/>
        </p:spPr>
        <p:txBody>
          <a:bodyPr wrap="square" anchor="ctr">
            <a:spAutoFit/>
          </a:bodyPr>
          <a:lstStyle/>
          <a:p>
            <a:r>
              <a:rPr sz="2600" b="1" i="0">
                <a:solidFill>
                  <a:srgbClr val="FFFFFF"/>
                </a:solidFill>
                <a:latin typeface="Cambria"/>
              </a:rPr>
              <a:t>Kerberoasting</a:t>
            </a:r>
          </a:p>
        </p:txBody>
      </p:sp>
      <p:sp>
        <p:nvSpPr>
          <p:cNvPr id="6" name="TextBox 5"/>
          <p:cNvSpPr txBox="1"/>
          <p:nvPr/>
        </p:nvSpPr>
        <p:spPr>
          <a:xfrm>
            <a:off x="457200" y="1051560"/>
            <a:ext cx="10515600" cy="320040"/>
          </a:xfrm>
          <a:prstGeom prst="rect">
            <a:avLst/>
          </a:prstGeom>
          <a:noFill/>
        </p:spPr>
        <p:txBody>
          <a:bodyPr wrap="square">
            <a:spAutoFit/>
          </a:bodyPr>
          <a:lstStyle/>
          <a:p>
            <a:r>
              <a:rPr sz="1300" b="1" i="1">
                <a:solidFill>
                  <a:srgbClr val="B02A2A"/>
                </a:solidFill>
                <a:latin typeface="Calibri"/>
              </a:rPr>
              <a:t>Attack Spotlight</a:t>
            </a:r>
          </a:p>
        </p:txBody>
      </p:sp>
      <p:sp>
        <p:nvSpPr>
          <p:cNvPr id="7" name="Rounded Rectangle 6"/>
          <p:cNvSpPr/>
          <p:nvPr/>
        </p:nvSpPr>
        <p:spPr>
          <a:xfrm>
            <a:off x="640080" y="1965960"/>
            <a:ext cx="3291840" cy="1371600"/>
          </a:xfrm>
          <a:prstGeom prst="roundRect">
            <a:avLst/>
          </a:prstGeom>
          <a:solidFill>
            <a:srgbClr val="FFFFFF"/>
          </a:solidFill>
          <a:ln w="25400">
            <a:solidFill>
              <a:srgbClr val="B02A2A"/>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150" b="0" i="0">
                <a:solidFill>
                  <a:srgbClr val="111B30"/>
                </a:solidFill>
                <a:latin typeface="Calibri"/>
              </a:rPr>
              <a:t>Service accounts have</a:t>
            </a:r>
          </a:p>
          <a:p>
            <a:pPr algn="ctr"/>
            <a:r>
              <a:rPr sz="1150" b="0" i="0">
                <a:solidFill>
                  <a:srgbClr val="111B30"/>
                </a:solidFill>
                <a:latin typeface="Calibri"/>
              </a:rPr>
              <a:t>SPNs registered, tickets</a:t>
            </a:r>
          </a:p>
          <a:p>
            <a:pPr algn="ctr"/>
            <a:r>
              <a:rPr sz="1150" b="0" i="0">
                <a:solidFill>
                  <a:srgbClr val="111B30"/>
                </a:solidFill>
                <a:latin typeface="Calibri"/>
              </a:rPr>
              <a:t>encrypted with RC4</a:t>
            </a:r>
          </a:p>
        </p:txBody>
      </p:sp>
      <p:sp>
        <p:nvSpPr>
          <p:cNvPr id="8" name="Rounded Rectangle 7"/>
          <p:cNvSpPr/>
          <p:nvPr/>
        </p:nvSpPr>
        <p:spPr>
          <a:xfrm>
            <a:off x="4297680" y="1965960"/>
            <a:ext cx="3566160" cy="1371600"/>
          </a:xfrm>
          <a:prstGeom prst="roundRect">
            <a:avLst/>
          </a:prstGeom>
          <a:solidFill>
            <a:srgbClr val="FFFFFF"/>
          </a:solidFill>
          <a:ln w="25400">
            <a:solidFill>
              <a:srgbClr val="B02A2A"/>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150" b="1" i="0">
                <a:solidFill>
                  <a:srgbClr val="111B30"/>
                </a:solidFill>
                <a:latin typeface="Calibri"/>
              </a:rPr>
              <a:t>Any authenticated user</a:t>
            </a:r>
          </a:p>
          <a:p>
            <a:pPr algn="ctr"/>
            <a:r>
              <a:rPr sz="1150" b="1" i="0">
                <a:solidFill>
                  <a:srgbClr val="111B30"/>
                </a:solidFill>
                <a:latin typeface="Calibri"/>
              </a:rPr>
              <a:t>requests a service ticket,</a:t>
            </a:r>
          </a:p>
          <a:p>
            <a:pPr algn="ctr"/>
            <a:r>
              <a:rPr sz="1150" b="1" i="0">
                <a:solidFill>
                  <a:srgbClr val="111B30"/>
                </a:solidFill>
                <a:latin typeface="Calibri"/>
              </a:rPr>
              <a:t>then cracks it offline</a:t>
            </a:r>
          </a:p>
        </p:txBody>
      </p:sp>
      <p:sp>
        <p:nvSpPr>
          <p:cNvPr id="9" name="Rounded Rectangle 8"/>
          <p:cNvSpPr/>
          <p:nvPr/>
        </p:nvSpPr>
        <p:spPr>
          <a:xfrm>
            <a:off x="8229600" y="1965960"/>
            <a:ext cx="3291840" cy="1371600"/>
          </a:xfrm>
          <a:prstGeom prst="roundRect">
            <a:avLst/>
          </a:prstGeom>
          <a:solidFill>
            <a:srgbClr val="FFFFFF"/>
          </a:solidFill>
          <a:ln w="25400">
            <a:solidFill>
              <a:srgbClr val="B02A2A"/>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150" b="0" i="0">
                <a:solidFill>
                  <a:srgbClr val="111B30"/>
                </a:solidFill>
                <a:latin typeface="Calibri"/>
              </a:rPr>
              <a:t>Service account password</a:t>
            </a:r>
          </a:p>
          <a:p>
            <a:pPr algn="ctr"/>
            <a:r>
              <a:rPr sz="1150" b="0" i="0">
                <a:solidFill>
                  <a:srgbClr val="111B30"/>
                </a:solidFill>
                <a:latin typeface="Calibri"/>
              </a:rPr>
              <a:t>recovered offline with no</a:t>
            </a:r>
          </a:p>
          <a:p>
            <a:pPr algn="ctr"/>
            <a:r>
              <a:rPr sz="1150" b="0" i="0">
                <a:solidFill>
                  <a:srgbClr val="111B30"/>
                </a:solidFill>
                <a:latin typeface="Calibri"/>
              </a:rPr>
              <a:t>logon attempts against the target</a:t>
            </a:r>
          </a:p>
        </p:txBody>
      </p:sp>
      <p:cxnSp>
        <p:nvCxnSpPr>
          <p:cNvPr id="10" name="Connector 9"/>
          <p:cNvCxnSpPr/>
          <p:nvPr/>
        </p:nvCxnSpPr>
        <p:spPr>
          <a:xfrm>
            <a:off x="3931920" y="2651760"/>
            <a:ext cx="365760" cy="0"/>
          </a:xfrm>
          <a:prstGeom prst="line">
            <a:avLst/>
          </a:prstGeom>
          <a:ln w="25400">
            <a:solidFill>
              <a:srgbClr val="B02A2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863840" y="2651760"/>
            <a:ext cx="365760" cy="0"/>
          </a:xfrm>
          <a:prstGeom prst="line">
            <a:avLst/>
          </a:prstGeom>
          <a:ln w="25400">
            <a:solidFill>
              <a:srgbClr val="B02A2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640080" y="3794760"/>
            <a:ext cx="10881360" cy="1737360"/>
          </a:xfrm>
          <a:prstGeom prst="roundRect">
            <a:avLst/>
          </a:prstGeom>
          <a:solidFill>
            <a:srgbClr val="E8EEF7"/>
          </a:solidFill>
          <a:ln w="25400">
            <a:solidFill>
              <a:srgbClr val="2E7D32"/>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300" b="1" i="0">
                <a:solidFill>
                  <a:srgbClr val="2E7D32"/>
                </a:solidFill>
                <a:latin typeface="Calibri"/>
              </a:rPr>
              <a:t>DEFENSE:  </a:t>
            </a:r>
            <a:r>
              <a:rPr sz="1300" b="0" i="0">
                <a:solidFill>
                  <a:srgbClr val="111B30"/>
                </a:solidFill>
                <a:latin typeface="Calibri"/>
              </a:rPr>
              <a:t>Set SupportedEncryptionTypes=24 (AES128+AES256 only, RC4/DES disabled) - AES-encrypted tickets are computationally infeasible to crack offline at scale</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96012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960120"/>
            <a:ext cx="12191695" cy="54864"/>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109728"/>
            <a:ext cx="11247120" cy="777240"/>
          </a:xfrm>
          <a:prstGeom prst="rect">
            <a:avLst/>
          </a:prstGeom>
          <a:noFill/>
        </p:spPr>
        <p:txBody>
          <a:bodyPr wrap="square" anchor="ctr">
            <a:spAutoFit/>
          </a:bodyPr>
          <a:lstStyle/>
          <a:p>
            <a:r>
              <a:rPr sz="2600" b="1" i="0" dirty="0">
                <a:solidFill>
                  <a:srgbClr val="FFFFFF"/>
                </a:solidFill>
                <a:latin typeface="Cambria"/>
              </a:rPr>
              <a:t>AS-REP Roasting</a:t>
            </a:r>
          </a:p>
        </p:txBody>
      </p:sp>
      <p:sp>
        <p:nvSpPr>
          <p:cNvPr id="6" name="TextBox 5"/>
          <p:cNvSpPr txBox="1"/>
          <p:nvPr/>
        </p:nvSpPr>
        <p:spPr>
          <a:xfrm>
            <a:off x="457200" y="1051560"/>
            <a:ext cx="10515600" cy="320040"/>
          </a:xfrm>
          <a:prstGeom prst="rect">
            <a:avLst/>
          </a:prstGeom>
          <a:noFill/>
        </p:spPr>
        <p:txBody>
          <a:bodyPr wrap="square">
            <a:spAutoFit/>
          </a:bodyPr>
          <a:lstStyle/>
          <a:p>
            <a:r>
              <a:rPr sz="1300" b="1" i="1">
                <a:solidFill>
                  <a:srgbClr val="B02A2A"/>
                </a:solidFill>
                <a:latin typeface="Calibri"/>
              </a:rPr>
              <a:t>Attack Spotlight</a:t>
            </a:r>
          </a:p>
        </p:txBody>
      </p:sp>
      <p:sp>
        <p:nvSpPr>
          <p:cNvPr id="7" name="Rounded Rectangle 6"/>
          <p:cNvSpPr/>
          <p:nvPr/>
        </p:nvSpPr>
        <p:spPr>
          <a:xfrm>
            <a:off x="640080" y="1965960"/>
            <a:ext cx="3291840" cy="1371600"/>
          </a:xfrm>
          <a:prstGeom prst="roundRect">
            <a:avLst/>
          </a:prstGeom>
          <a:solidFill>
            <a:srgbClr val="FFFFFF"/>
          </a:solidFill>
          <a:ln w="25400">
            <a:solidFill>
              <a:srgbClr val="B02A2A"/>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150" b="0" i="0">
                <a:solidFill>
                  <a:srgbClr val="111B30"/>
                </a:solidFill>
                <a:latin typeface="Calibri"/>
              </a:rPr>
              <a:t>An account has Kerberos</a:t>
            </a:r>
          </a:p>
          <a:p>
            <a:pPr algn="ctr"/>
            <a:r>
              <a:rPr sz="1150" b="0" i="0">
                <a:solidFill>
                  <a:srgbClr val="111B30"/>
                </a:solidFill>
                <a:latin typeface="Calibri"/>
              </a:rPr>
              <a:t>pre-authentication</a:t>
            </a:r>
          </a:p>
          <a:p>
            <a:pPr algn="ctr"/>
            <a:r>
              <a:rPr sz="1150" b="0" i="0">
                <a:solidFill>
                  <a:srgbClr val="111B30"/>
                </a:solidFill>
                <a:latin typeface="Calibri"/>
              </a:rPr>
              <a:t>disabled</a:t>
            </a:r>
          </a:p>
        </p:txBody>
      </p:sp>
      <p:sp>
        <p:nvSpPr>
          <p:cNvPr id="8" name="Rounded Rectangle 7"/>
          <p:cNvSpPr/>
          <p:nvPr/>
        </p:nvSpPr>
        <p:spPr>
          <a:xfrm>
            <a:off x="4297680" y="1965960"/>
            <a:ext cx="3566160" cy="1371600"/>
          </a:xfrm>
          <a:prstGeom prst="roundRect">
            <a:avLst/>
          </a:prstGeom>
          <a:solidFill>
            <a:srgbClr val="FFFFFF"/>
          </a:solidFill>
          <a:ln w="25400">
            <a:solidFill>
              <a:srgbClr val="B02A2A"/>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150" b="1" i="0">
                <a:solidFill>
                  <a:srgbClr val="111B30"/>
                </a:solidFill>
                <a:latin typeface="Calibri"/>
              </a:rPr>
              <a:t>Attacker requests an</a:t>
            </a:r>
          </a:p>
          <a:p>
            <a:pPr algn="ctr"/>
            <a:r>
              <a:rPr sz="1150" b="1" i="0">
                <a:solidFill>
                  <a:srgbClr val="111B30"/>
                </a:solidFill>
                <a:latin typeface="Calibri"/>
              </a:rPr>
              <a:t>AS-REP for that account</a:t>
            </a:r>
          </a:p>
          <a:p>
            <a:pPr algn="ctr"/>
            <a:r>
              <a:rPr sz="1150" b="1" i="0">
                <a:solidFill>
                  <a:srgbClr val="111B30"/>
                </a:solidFill>
                <a:latin typeface="Calibri"/>
              </a:rPr>
              <a:t>without ever authenticating</a:t>
            </a:r>
          </a:p>
        </p:txBody>
      </p:sp>
      <p:sp>
        <p:nvSpPr>
          <p:cNvPr id="9" name="Rounded Rectangle 8"/>
          <p:cNvSpPr/>
          <p:nvPr/>
        </p:nvSpPr>
        <p:spPr>
          <a:xfrm>
            <a:off x="8229600" y="1965960"/>
            <a:ext cx="3291840" cy="1371600"/>
          </a:xfrm>
          <a:prstGeom prst="roundRect">
            <a:avLst/>
          </a:prstGeom>
          <a:solidFill>
            <a:srgbClr val="FFFFFF"/>
          </a:solidFill>
          <a:ln w="25400">
            <a:solidFill>
              <a:srgbClr val="B02A2A"/>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150" b="0" i="0">
                <a:solidFill>
                  <a:srgbClr val="111B30"/>
                </a:solidFill>
                <a:latin typeface="Calibri"/>
              </a:rPr>
              <a:t>Offline password cracking</a:t>
            </a:r>
          </a:p>
          <a:p>
            <a:pPr algn="ctr"/>
            <a:r>
              <a:rPr sz="1150" b="0" i="0">
                <a:solidFill>
                  <a:srgbClr val="111B30"/>
                </a:solidFill>
                <a:latin typeface="Calibri"/>
              </a:rPr>
              <a:t>against the account with</a:t>
            </a:r>
          </a:p>
          <a:p>
            <a:pPr algn="ctr"/>
            <a:r>
              <a:rPr sz="1150" b="0" i="0">
                <a:solidFill>
                  <a:srgbClr val="111B30"/>
                </a:solidFill>
                <a:latin typeface="Calibri"/>
              </a:rPr>
              <a:t>zero logon events generated</a:t>
            </a:r>
          </a:p>
        </p:txBody>
      </p:sp>
      <p:cxnSp>
        <p:nvCxnSpPr>
          <p:cNvPr id="10" name="Connector 9"/>
          <p:cNvCxnSpPr/>
          <p:nvPr/>
        </p:nvCxnSpPr>
        <p:spPr>
          <a:xfrm>
            <a:off x="3931920" y="2651760"/>
            <a:ext cx="365760" cy="0"/>
          </a:xfrm>
          <a:prstGeom prst="line">
            <a:avLst/>
          </a:prstGeom>
          <a:ln w="25400">
            <a:solidFill>
              <a:srgbClr val="B02A2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863840" y="2651760"/>
            <a:ext cx="365760" cy="0"/>
          </a:xfrm>
          <a:prstGeom prst="line">
            <a:avLst/>
          </a:prstGeom>
          <a:ln w="25400">
            <a:solidFill>
              <a:srgbClr val="B02A2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640080" y="3794760"/>
            <a:ext cx="10881360" cy="1737360"/>
          </a:xfrm>
          <a:prstGeom prst="roundRect">
            <a:avLst/>
          </a:prstGeom>
          <a:solidFill>
            <a:srgbClr val="E8EEF7"/>
          </a:solidFill>
          <a:ln w="25400">
            <a:solidFill>
              <a:srgbClr val="2E7D32"/>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300" b="1" i="0">
                <a:solidFill>
                  <a:srgbClr val="2E7D32"/>
                </a:solidFill>
                <a:latin typeface="Calibri"/>
              </a:rPr>
              <a:t>DEFENSE:  </a:t>
            </a:r>
            <a:r>
              <a:rPr sz="1300" b="0" i="0">
                <a:solidFill>
                  <a:srgbClr val="111B30"/>
                </a:solidFill>
                <a:latin typeface="Calibri"/>
              </a:rPr>
              <a:t>Require Kerberos pre-authentication on all accounts, and enforce SupportedEncryptionTypes=24 so any exposed material is AES-protected, not RC4</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822960" y="2377440"/>
            <a:ext cx="1554480" cy="1554480"/>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4000" b="1" i="0" dirty="0">
                <a:solidFill>
                  <a:srgbClr val="1B2A4A"/>
                </a:solidFill>
                <a:latin typeface="Cambria"/>
              </a:rPr>
              <a:t>0</a:t>
            </a:r>
            <a:r>
              <a:rPr lang="en-US" sz="4000" b="1" i="0" dirty="0">
                <a:solidFill>
                  <a:srgbClr val="1B2A4A"/>
                </a:solidFill>
                <a:latin typeface="Cambria"/>
              </a:rPr>
              <a:t>3</a:t>
            </a:r>
            <a:endParaRPr sz="4000" b="1" i="0" dirty="0">
              <a:solidFill>
                <a:srgbClr val="1B2A4A"/>
              </a:solidFill>
              <a:latin typeface="Cambria"/>
            </a:endParaRPr>
          </a:p>
        </p:txBody>
      </p:sp>
      <p:sp>
        <p:nvSpPr>
          <p:cNvPr id="4" name="TextBox 3"/>
          <p:cNvSpPr txBox="1"/>
          <p:nvPr/>
        </p:nvSpPr>
        <p:spPr>
          <a:xfrm>
            <a:off x="2651760" y="2514600"/>
            <a:ext cx="8869680" cy="1371600"/>
          </a:xfrm>
          <a:prstGeom prst="rect">
            <a:avLst/>
          </a:prstGeom>
          <a:noFill/>
        </p:spPr>
        <p:txBody>
          <a:bodyPr wrap="square" anchor="ctr">
            <a:spAutoFit/>
          </a:bodyPr>
          <a:lstStyle/>
          <a:p>
            <a:r>
              <a:rPr sz="3000" b="1" i="0">
                <a:solidFill>
                  <a:srgbClr val="FFFFFF"/>
                </a:solidFill>
                <a:latin typeface="Cambria"/>
              </a:rPr>
              <a:t>DNS Security &amp; DNSSEC</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96012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960120"/>
            <a:ext cx="12191695" cy="54864"/>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109728"/>
            <a:ext cx="11247120" cy="777240"/>
          </a:xfrm>
          <a:prstGeom prst="rect">
            <a:avLst/>
          </a:prstGeom>
          <a:noFill/>
        </p:spPr>
        <p:txBody>
          <a:bodyPr wrap="square" anchor="ctr">
            <a:spAutoFit/>
          </a:bodyPr>
          <a:lstStyle/>
          <a:p>
            <a:r>
              <a:rPr sz="2600" b="1" i="0">
                <a:solidFill>
                  <a:srgbClr val="FFFFFF"/>
                </a:solidFill>
                <a:latin typeface="Cambria"/>
              </a:rPr>
              <a:t>DNS Cache Poisoning</a:t>
            </a:r>
          </a:p>
        </p:txBody>
      </p:sp>
      <p:sp>
        <p:nvSpPr>
          <p:cNvPr id="6" name="TextBox 5"/>
          <p:cNvSpPr txBox="1"/>
          <p:nvPr/>
        </p:nvSpPr>
        <p:spPr>
          <a:xfrm>
            <a:off x="457200" y="1051560"/>
            <a:ext cx="10515600" cy="320040"/>
          </a:xfrm>
          <a:prstGeom prst="rect">
            <a:avLst/>
          </a:prstGeom>
          <a:noFill/>
        </p:spPr>
        <p:txBody>
          <a:bodyPr wrap="square">
            <a:spAutoFit/>
          </a:bodyPr>
          <a:lstStyle/>
          <a:p>
            <a:r>
              <a:rPr sz="1300" b="1" i="1">
                <a:solidFill>
                  <a:srgbClr val="B02A2A"/>
                </a:solidFill>
                <a:latin typeface="Calibri"/>
              </a:rPr>
              <a:t>Attack Spotlight</a:t>
            </a:r>
          </a:p>
        </p:txBody>
      </p:sp>
      <p:sp>
        <p:nvSpPr>
          <p:cNvPr id="7" name="Rounded Rectangle 6"/>
          <p:cNvSpPr/>
          <p:nvPr/>
        </p:nvSpPr>
        <p:spPr>
          <a:xfrm>
            <a:off x="640080" y="1965960"/>
            <a:ext cx="3291840" cy="1371600"/>
          </a:xfrm>
          <a:prstGeom prst="roundRect">
            <a:avLst/>
          </a:prstGeom>
          <a:solidFill>
            <a:srgbClr val="FFFFFF"/>
          </a:solidFill>
          <a:ln w="25400">
            <a:solidFill>
              <a:srgbClr val="B02A2A"/>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150" b="0" i="0">
                <a:solidFill>
                  <a:srgbClr val="111B30"/>
                </a:solidFill>
                <a:latin typeface="Calibri"/>
              </a:rPr>
              <a:t>Resolver caches</a:t>
            </a:r>
          </a:p>
          <a:p>
            <a:pPr algn="ctr"/>
            <a:r>
              <a:rPr sz="1150" b="0" i="0">
                <a:solidFill>
                  <a:srgbClr val="111B30"/>
                </a:solidFill>
                <a:latin typeface="Calibri"/>
              </a:rPr>
              <a:t>answers without any</a:t>
            </a:r>
          </a:p>
          <a:p>
            <a:pPr algn="ctr"/>
            <a:r>
              <a:rPr sz="1150" b="0" i="0">
                <a:solidFill>
                  <a:srgbClr val="111B30"/>
                </a:solidFill>
                <a:latin typeface="Calibri"/>
              </a:rPr>
              <a:t>way to verify authenticity</a:t>
            </a:r>
          </a:p>
        </p:txBody>
      </p:sp>
      <p:sp>
        <p:nvSpPr>
          <p:cNvPr id="8" name="Rounded Rectangle 7"/>
          <p:cNvSpPr/>
          <p:nvPr/>
        </p:nvSpPr>
        <p:spPr>
          <a:xfrm>
            <a:off x="4297680" y="1965960"/>
            <a:ext cx="3566160" cy="1371600"/>
          </a:xfrm>
          <a:prstGeom prst="roundRect">
            <a:avLst/>
          </a:prstGeom>
          <a:solidFill>
            <a:srgbClr val="FFFFFF"/>
          </a:solidFill>
          <a:ln w="25400">
            <a:solidFill>
              <a:srgbClr val="B02A2A"/>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150" b="1" i="0">
                <a:solidFill>
                  <a:srgbClr val="111B30"/>
                </a:solidFill>
                <a:latin typeface="Calibri"/>
              </a:rPr>
              <a:t>Attacker races or</a:t>
            </a:r>
          </a:p>
          <a:p>
            <a:pPr algn="ctr"/>
            <a:r>
              <a:rPr sz="1150" b="1" i="0">
                <a:solidFill>
                  <a:srgbClr val="111B30"/>
                </a:solidFill>
                <a:latin typeface="Calibri"/>
              </a:rPr>
              <a:t>spoofs a forged response</a:t>
            </a:r>
          </a:p>
          <a:p>
            <a:pPr algn="ctr"/>
            <a:r>
              <a:rPr sz="1150" b="1" i="0">
                <a:solidFill>
                  <a:srgbClr val="111B30"/>
                </a:solidFill>
                <a:latin typeface="Calibri"/>
              </a:rPr>
              <a:t>before the legitimate authoritative answer arrives</a:t>
            </a:r>
          </a:p>
        </p:txBody>
      </p:sp>
      <p:sp>
        <p:nvSpPr>
          <p:cNvPr id="9" name="Rounded Rectangle 8"/>
          <p:cNvSpPr/>
          <p:nvPr/>
        </p:nvSpPr>
        <p:spPr>
          <a:xfrm>
            <a:off x="8229600" y="1965960"/>
            <a:ext cx="3291840" cy="1371600"/>
          </a:xfrm>
          <a:prstGeom prst="roundRect">
            <a:avLst/>
          </a:prstGeom>
          <a:solidFill>
            <a:srgbClr val="FFFFFF"/>
          </a:solidFill>
          <a:ln w="25400">
            <a:solidFill>
              <a:srgbClr val="B02A2A"/>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150" b="0" i="0">
                <a:solidFill>
                  <a:srgbClr val="111B30"/>
                </a:solidFill>
                <a:latin typeface="Calibri"/>
              </a:rPr>
              <a:t>Resolver caches the</a:t>
            </a:r>
          </a:p>
          <a:p>
            <a:pPr algn="ctr"/>
            <a:r>
              <a:rPr sz="1150" b="0" i="0">
                <a:solidFill>
                  <a:srgbClr val="111B30"/>
                </a:solidFill>
                <a:latin typeface="Calibri"/>
              </a:rPr>
              <a:t>forged record - every client</a:t>
            </a:r>
          </a:p>
          <a:p>
            <a:pPr algn="ctr"/>
            <a:r>
              <a:rPr sz="1150" b="0" i="0">
                <a:solidFill>
                  <a:srgbClr val="111B30"/>
                </a:solidFill>
                <a:latin typeface="Calibri"/>
              </a:rPr>
              <a:t>using that resolver is silently redirected</a:t>
            </a:r>
          </a:p>
        </p:txBody>
      </p:sp>
      <p:cxnSp>
        <p:nvCxnSpPr>
          <p:cNvPr id="10" name="Connector 9"/>
          <p:cNvCxnSpPr/>
          <p:nvPr/>
        </p:nvCxnSpPr>
        <p:spPr>
          <a:xfrm>
            <a:off x="3931920" y="2651760"/>
            <a:ext cx="365760" cy="0"/>
          </a:xfrm>
          <a:prstGeom prst="line">
            <a:avLst/>
          </a:prstGeom>
          <a:ln w="25400">
            <a:solidFill>
              <a:srgbClr val="B02A2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863840" y="2651760"/>
            <a:ext cx="365760" cy="0"/>
          </a:xfrm>
          <a:prstGeom prst="line">
            <a:avLst/>
          </a:prstGeom>
          <a:ln w="25400">
            <a:solidFill>
              <a:srgbClr val="B02A2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640080" y="3794760"/>
            <a:ext cx="10881360" cy="1737360"/>
          </a:xfrm>
          <a:prstGeom prst="roundRect">
            <a:avLst/>
          </a:prstGeom>
          <a:solidFill>
            <a:srgbClr val="E8EEF7"/>
          </a:solidFill>
          <a:ln w="25400">
            <a:solidFill>
              <a:srgbClr val="2E7D32"/>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300" b="1" i="0">
                <a:solidFill>
                  <a:srgbClr val="2E7D32"/>
                </a:solidFill>
                <a:latin typeface="Calibri"/>
              </a:rPr>
              <a:t>DEFENSE:  </a:t>
            </a:r>
            <a:r>
              <a:rPr sz="1300" b="0" i="0">
                <a:solidFill>
                  <a:srgbClr val="111B30"/>
                </a:solidFill>
                <a:latin typeface="Calibri"/>
              </a:rPr>
              <a:t>DNSSEC cryptographically signs records so a resolver can reject any answer that doesn't validate against the zone's published keys</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96012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960120"/>
            <a:ext cx="12191695" cy="54864"/>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109728"/>
            <a:ext cx="11247120" cy="777240"/>
          </a:xfrm>
          <a:prstGeom prst="rect">
            <a:avLst/>
          </a:prstGeom>
          <a:noFill/>
        </p:spPr>
        <p:txBody>
          <a:bodyPr wrap="square" anchor="ctr">
            <a:spAutoFit/>
          </a:bodyPr>
          <a:lstStyle/>
          <a:p>
            <a:r>
              <a:rPr sz="2600" b="1" i="0" dirty="0">
                <a:solidFill>
                  <a:srgbClr val="FFFFFF"/>
                </a:solidFill>
                <a:latin typeface="Cambria"/>
              </a:rPr>
              <a:t>DNS Amplification</a:t>
            </a:r>
          </a:p>
        </p:txBody>
      </p:sp>
      <p:sp>
        <p:nvSpPr>
          <p:cNvPr id="6" name="TextBox 5"/>
          <p:cNvSpPr txBox="1"/>
          <p:nvPr/>
        </p:nvSpPr>
        <p:spPr>
          <a:xfrm>
            <a:off x="457200" y="1051560"/>
            <a:ext cx="10515600" cy="320040"/>
          </a:xfrm>
          <a:prstGeom prst="rect">
            <a:avLst/>
          </a:prstGeom>
          <a:noFill/>
        </p:spPr>
        <p:txBody>
          <a:bodyPr wrap="square">
            <a:spAutoFit/>
          </a:bodyPr>
          <a:lstStyle/>
          <a:p>
            <a:r>
              <a:rPr sz="1300" b="1" i="1">
                <a:solidFill>
                  <a:srgbClr val="B02A2A"/>
                </a:solidFill>
                <a:latin typeface="Calibri"/>
              </a:rPr>
              <a:t>Attack Spotlight</a:t>
            </a:r>
          </a:p>
        </p:txBody>
      </p:sp>
      <p:sp>
        <p:nvSpPr>
          <p:cNvPr id="7" name="Rounded Rectangle 6"/>
          <p:cNvSpPr/>
          <p:nvPr/>
        </p:nvSpPr>
        <p:spPr>
          <a:xfrm>
            <a:off x="640080" y="1965960"/>
            <a:ext cx="3291840" cy="1371600"/>
          </a:xfrm>
          <a:prstGeom prst="roundRect">
            <a:avLst/>
          </a:prstGeom>
          <a:solidFill>
            <a:srgbClr val="FFFFFF"/>
          </a:solidFill>
          <a:ln w="25400">
            <a:solidFill>
              <a:srgbClr val="B02A2A"/>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150" b="0" i="0">
                <a:solidFill>
                  <a:srgbClr val="111B30"/>
                </a:solidFill>
                <a:latin typeface="Calibri"/>
              </a:rPr>
              <a:t>Open DNS resolvers</a:t>
            </a:r>
          </a:p>
          <a:p>
            <a:pPr algn="ctr"/>
            <a:r>
              <a:rPr sz="1150" b="0" i="0">
                <a:solidFill>
                  <a:srgbClr val="111B30"/>
                </a:solidFill>
                <a:latin typeface="Calibri"/>
              </a:rPr>
              <a:t>respond to queries from</a:t>
            </a:r>
          </a:p>
          <a:p>
            <a:pPr algn="ctr"/>
            <a:r>
              <a:rPr sz="1150" b="0" i="0">
                <a:solidFill>
                  <a:srgbClr val="111B30"/>
                </a:solidFill>
                <a:latin typeface="Calibri"/>
              </a:rPr>
              <a:t>any source IP, no verification</a:t>
            </a:r>
          </a:p>
        </p:txBody>
      </p:sp>
      <p:sp>
        <p:nvSpPr>
          <p:cNvPr id="8" name="Rounded Rectangle 7"/>
          <p:cNvSpPr/>
          <p:nvPr/>
        </p:nvSpPr>
        <p:spPr>
          <a:xfrm>
            <a:off x="4297680" y="1965960"/>
            <a:ext cx="3566160" cy="1371600"/>
          </a:xfrm>
          <a:prstGeom prst="roundRect">
            <a:avLst/>
          </a:prstGeom>
          <a:solidFill>
            <a:srgbClr val="FFFFFF"/>
          </a:solidFill>
          <a:ln w="25400">
            <a:solidFill>
              <a:srgbClr val="B02A2A"/>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150" b="1" i="0">
                <a:solidFill>
                  <a:srgbClr val="111B30"/>
                </a:solidFill>
                <a:latin typeface="Calibri"/>
              </a:rPr>
              <a:t>Attacker sends small</a:t>
            </a:r>
          </a:p>
          <a:p>
            <a:pPr algn="ctr"/>
            <a:r>
              <a:rPr sz="1150" b="1" i="0">
                <a:solidFill>
                  <a:srgbClr val="111B30"/>
                </a:solidFill>
                <a:latin typeface="Calibri"/>
              </a:rPr>
              <a:t>spoofed-source queries</a:t>
            </a:r>
          </a:p>
          <a:p>
            <a:pPr algn="ctr"/>
            <a:r>
              <a:rPr sz="1150" b="1" i="0">
                <a:solidFill>
                  <a:srgbClr val="111B30"/>
                </a:solidFill>
                <a:latin typeface="Calibri"/>
              </a:rPr>
              <a:t>for large record types (e.g. ANY) to open resolvers</a:t>
            </a:r>
          </a:p>
        </p:txBody>
      </p:sp>
      <p:sp>
        <p:nvSpPr>
          <p:cNvPr id="9" name="Rounded Rectangle 8"/>
          <p:cNvSpPr/>
          <p:nvPr/>
        </p:nvSpPr>
        <p:spPr>
          <a:xfrm>
            <a:off x="8229600" y="1965960"/>
            <a:ext cx="3291840" cy="1371600"/>
          </a:xfrm>
          <a:prstGeom prst="roundRect">
            <a:avLst/>
          </a:prstGeom>
          <a:solidFill>
            <a:srgbClr val="FFFFFF"/>
          </a:solidFill>
          <a:ln w="25400">
            <a:solidFill>
              <a:srgbClr val="B02A2A"/>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150" b="0" i="0">
                <a:solidFill>
                  <a:srgbClr val="111B30"/>
                </a:solidFill>
                <a:latin typeface="Calibri"/>
              </a:rPr>
              <a:t>Large responses flood</a:t>
            </a:r>
          </a:p>
          <a:p>
            <a:pPr algn="ctr"/>
            <a:r>
              <a:rPr sz="1150" b="0" i="0">
                <a:solidFill>
                  <a:srgbClr val="111B30"/>
                </a:solidFill>
                <a:latin typeface="Calibri"/>
              </a:rPr>
              <a:t>the spoofed victim IP -</a:t>
            </a:r>
          </a:p>
          <a:p>
            <a:pPr algn="ctr"/>
            <a:r>
              <a:rPr sz="1150" b="0" i="0">
                <a:solidFill>
                  <a:srgbClr val="111B30"/>
                </a:solidFill>
                <a:latin typeface="Calibri"/>
              </a:rPr>
              <a:t>a distributed denial-of-service at scale</a:t>
            </a:r>
          </a:p>
        </p:txBody>
      </p:sp>
      <p:cxnSp>
        <p:nvCxnSpPr>
          <p:cNvPr id="10" name="Connector 9"/>
          <p:cNvCxnSpPr/>
          <p:nvPr/>
        </p:nvCxnSpPr>
        <p:spPr>
          <a:xfrm>
            <a:off x="3931920" y="2651760"/>
            <a:ext cx="365760" cy="0"/>
          </a:xfrm>
          <a:prstGeom prst="line">
            <a:avLst/>
          </a:prstGeom>
          <a:ln w="25400">
            <a:solidFill>
              <a:srgbClr val="B02A2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863840" y="2651760"/>
            <a:ext cx="365760" cy="0"/>
          </a:xfrm>
          <a:prstGeom prst="line">
            <a:avLst/>
          </a:prstGeom>
          <a:ln w="25400">
            <a:solidFill>
              <a:srgbClr val="B02A2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640080" y="3794760"/>
            <a:ext cx="10881360" cy="1737360"/>
          </a:xfrm>
          <a:prstGeom prst="roundRect">
            <a:avLst/>
          </a:prstGeom>
          <a:solidFill>
            <a:srgbClr val="E8EEF7"/>
          </a:solidFill>
          <a:ln w="25400">
            <a:solidFill>
              <a:srgbClr val="2E7D32"/>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300" b="1" i="0">
                <a:solidFill>
                  <a:srgbClr val="2E7D32"/>
                </a:solidFill>
                <a:latin typeface="Calibri"/>
              </a:rPr>
              <a:t>DEFENSE:  </a:t>
            </a:r>
            <a:r>
              <a:rPr sz="1300" b="0" i="0">
                <a:solidFill>
                  <a:srgbClr val="111B30"/>
                </a:solidFill>
                <a:latin typeface="Calibri"/>
              </a:rPr>
              <a:t>Restrict resolvers to answer only trusted/internal clients (disable open recursion), and apply response-rate limiting (RRL) so any one source can't trigger a flood of large replies</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96012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960120"/>
            <a:ext cx="12191695" cy="54864"/>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109728"/>
            <a:ext cx="11247120" cy="777240"/>
          </a:xfrm>
          <a:prstGeom prst="rect">
            <a:avLst/>
          </a:prstGeom>
          <a:noFill/>
        </p:spPr>
        <p:txBody>
          <a:bodyPr wrap="square" anchor="ctr">
            <a:spAutoFit/>
          </a:bodyPr>
          <a:lstStyle/>
          <a:p>
            <a:r>
              <a:rPr sz="2600" b="1" i="0">
                <a:solidFill>
                  <a:srgbClr val="FFFFFF"/>
                </a:solidFill>
                <a:latin typeface="Cambria"/>
              </a:rPr>
              <a:t>DNS Hijacking</a:t>
            </a:r>
          </a:p>
        </p:txBody>
      </p:sp>
      <p:sp>
        <p:nvSpPr>
          <p:cNvPr id="6" name="TextBox 5"/>
          <p:cNvSpPr txBox="1"/>
          <p:nvPr/>
        </p:nvSpPr>
        <p:spPr>
          <a:xfrm>
            <a:off x="457200" y="1051560"/>
            <a:ext cx="10515600" cy="320040"/>
          </a:xfrm>
          <a:prstGeom prst="rect">
            <a:avLst/>
          </a:prstGeom>
          <a:noFill/>
        </p:spPr>
        <p:txBody>
          <a:bodyPr wrap="square">
            <a:spAutoFit/>
          </a:bodyPr>
          <a:lstStyle/>
          <a:p>
            <a:r>
              <a:rPr sz="1300" b="1" i="1">
                <a:solidFill>
                  <a:srgbClr val="B02A2A"/>
                </a:solidFill>
                <a:latin typeface="Calibri"/>
              </a:rPr>
              <a:t>Attack Spotlight</a:t>
            </a:r>
          </a:p>
        </p:txBody>
      </p:sp>
      <p:sp>
        <p:nvSpPr>
          <p:cNvPr id="7" name="Rounded Rectangle 6"/>
          <p:cNvSpPr/>
          <p:nvPr/>
        </p:nvSpPr>
        <p:spPr>
          <a:xfrm>
            <a:off x="640080" y="1965960"/>
            <a:ext cx="3291840" cy="1371600"/>
          </a:xfrm>
          <a:prstGeom prst="roundRect">
            <a:avLst/>
          </a:prstGeom>
          <a:solidFill>
            <a:srgbClr val="FFFFFF"/>
          </a:solidFill>
          <a:ln w="25400">
            <a:solidFill>
              <a:srgbClr val="B02A2A"/>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150" b="0" i="0">
                <a:solidFill>
                  <a:srgbClr val="111B30"/>
                </a:solidFill>
                <a:latin typeface="Calibri"/>
              </a:rPr>
              <a:t>Registrar account or</a:t>
            </a:r>
          </a:p>
          <a:p>
            <a:pPr algn="ctr"/>
            <a:r>
              <a:rPr sz="1150" b="0" i="0">
                <a:solidFill>
                  <a:srgbClr val="111B30"/>
                </a:solidFill>
                <a:latin typeface="Calibri"/>
              </a:rPr>
              <a:t>DNS provider credentials</a:t>
            </a:r>
          </a:p>
          <a:p>
            <a:pPr algn="ctr"/>
            <a:r>
              <a:rPr sz="1150" b="0" i="0">
                <a:solidFill>
                  <a:srgbClr val="111B30"/>
                </a:solidFill>
                <a:latin typeface="Calibri"/>
              </a:rPr>
              <a:t>compromised, or a stale/dangling record exists</a:t>
            </a:r>
          </a:p>
        </p:txBody>
      </p:sp>
      <p:sp>
        <p:nvSpPr>
          <p:cNvPr id="8" name="Rounded Rectangle 7"/>
          <p:cNvSpPr/>
          <p:nvPr/>
        </p:nvSpPr>
        <p:spPr>
          <a:xfrm>
            <a:off x="4297680" y="1965960"/>
            <a:ext cx="3566160" cy="1371600"/>
          </a:xfrm>
          <a:prstGeom prst="roundRect">
            <a:avLst/>
          </a:prstGeom>
          <a:solidFill>
            <a:srgbClr val="FFFFFF"/>
          </a:solidFill>
          <a:ln w="25400">
            <a:solidFill>
              <a:srgbClr val="B02A2A"/>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150" b="1" i="0">
                <a:solidFill>
                  <a:srgbClr val="111B30"/>
                </a:solidFill>
                <a:latin typeface="Calibri"/>
              </a:rPr>
              <a:t>Attacker modifies</a:t>
            </a:r>
          </a:p>
          <a:p>
            <a:pPr algn="ctr"/>
            <a:r>
              <a:rPr sz="1150" b="1" i="0">
                <a:solidFill>
                  <a:srgbClr val="111B30"/>
                </a:solidFill>
                <a:latin typeface="Calibri"/>
              </a:rPr>
              <a:t>authoritative DNS records</a:t>
            </a:r>
          </a:p>
          <a:p>
            <a:pPr algn="ctr"/>
            <a:r>
              <a:rPr sz="1150" b="1" i="0">
                <a:solidFill>
                  <a:srgbClr val="111B30"/>
                </a:solidFill>
                <a:latin typeface="Calibri"/>
              </a:rPr>
              <a:t>directly (NS delegation, A/CNAME records) at the source</a:t>
            </a:r>
          </a:p>
        </p:txBody>
      </p:sp>
      <p:sp>
        <p:nvSpPr>
          <p:cNvPr id="9" name="Rounded Rectangle 8"/>
          <p:cNvSpPr/>
          <p:nvPr/>
        </p:nvSpPr>
        <p:spPr>
          <a:xfrm>
            <a:off x="8229600" y="1965960"/>
            <a:ext cx="3291840" cy="1371600"/>
          </a:xfrm>
          <a:prstGeom prst="roundRect">
            <a:avLst/>
          </a:prstGeom>
          <a:solidFill>
            <a:srgbClr val="FFFFFF"/>
          </a:solidFill>
          <a:ln w="25400">
            <a:solidFill>
              <a:srgbClr val="B02A2A"/>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150" b="0" i="0">
                <a:solidFill>
                  <a:srgbClr val="111B30"/>
                </a:solidFill>
                <a:latin typeface="Calibri"/>
              </a:rPr>
              <a:t>Traffic for the domain</a:t>
            </a:r>
          </a:p>
          <a:p>
            <a:pPr algn="ctr"/>
            <a:r>
              <a:rPr sz="1150" b="0" i="0">
                <a:solidFill>
                  <a:srgbClr val="111B30"/>
                </a:solidFill>
                <a:latin typeface="Calibri"/>
              </a:rPr>
              <a:t>is redirected wholesale -</a:t>
            </a:r>
          </a:p>
          <a:p>
            <a:pPr algn="ctr"/>
            <a:r>
              <a:rPr sz="1150" b="0" i="0">
                <a:solidFill>
                  <a:srgbClr val="111B30"/>
                </a:solidFill>
                <a:latin typeface="Calibri"/>
              </a:rPr>
              <a:t>even DNSSEC-naive validation can be fooled if the attacker controls the real records</a:t>
            </a:r>
          </a:p>
        </p:txBody>
      </p:sp>
      <p:cxnSp>
        <p:nvCxnSpPr>
          <p:cNvPr id="10" name="Connector 9"/>
          <p:cNvCxnSpPr/>
          <p:nvPr/>
        </p:nvCxnSpPr>
        <p:spPr>
          <a:xfrm>
            <a:off x="3931920" y="2651760"/>
            <a:ext cx="365760" cy="0"/>
          </a:xfrm>
          <a:prstGeom prst="line">
            <a:avLst/>
          </a:prstGeom>
          <a:ln w="25400">
            <a:solidFill>
              <a:srgbClr val="B02A2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863840" y="2651760"/>
            <a:ext cx="365760" cy="0"/>
          </a:xfrm>
          <a:prstGeom prst="line">
            <a:avLst/>
          </a:prstGeom>
          <a:ln w="25400">
            <a:solidFill>
              <a:srgbClr val="B02A2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640080" y="3794760"/>
            <a:ext cx="10881360" cy="1737360"/>
          </a:xfrm>
          <a:prstGeom prst="roundRect">
            <a:avLst/>
          </a:prstGeom>
          <a:solidFill>
            <a:srgbClr val="E8EEF7"/>
          </a:solidFill>
          <a:ln w="25400">
            <a:solidFill>
              <a:srgbClr val="2E7D32"/>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300" b="1" i="0">
                <a:solidFill>
                  <a:srgbClr val="2E7D32"/>
                </a:solidFill>
                <a:latin typeface="Calibri"/>
              </a:rPr>
              <a:t>DEFENSE:  </a:t>
            </a:r>
            <a:r>
              <a:rPr sz="1300" b="0" i="0">
                <a:solidFill>
                  <a:srgbClr val="111B30"/>
                </a:solidFill>
                <a:latin typeface="Calibri"/>
              </a:rPr>
              <a:t>Enable registrar-level protections (registry lock, MFA on the registrar account) and monitor authoritative records for unexpected changes - DNSSEC protects the resolution path, not the registrar account itself</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96012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960120"/>
            <a:ext cx="12191695" cy="54864"/>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109728"/>
            <a:ext cx="11247120" cy="777240"/>
          </a:xfrm>
          <a:prstGeom prst="rect">
            <a:avLst/>
          </a:prstGeom>
          <a:noFill/>
        </p:spPr>
        <p:txBody>
          <a:bodyPr wrap="square" anchor="ctr">
            <a:spAutoFit/>
          </a:bodyPr>
          <a:lstStyle/>
          <a:p>
            <a:r>
              <a:rPr sz="2600" b="1" i="0">
                <a:solidFill>
                  <a:srgbClr val="FFFFFF"/>
                </a:solidFill>
                <a:latin typeface="Cambria"/>
              </a:rPr>
              <a:t>DNSSEC: Adding Authenticity to DNS</a:t>
            </a:r>
          </a:p>
        </p:txBody>
      </p:sp>
      <p:sp>
        <p:nvSpPr>
          <p:cNvPr id="6" name="TextBox 5"/>
          <p:cNvSpPr txBox="1"/>
          <p:nvPr/>
        </p:nvSpPr>
        <p:spPr>
          <a:xfrm>
            <a:off x="640080" y="1371600"/>
            <a:ext cx="10881360" cy="5029200"/>
          </a:xfrm>
          <a:prstGeom prst="rect">
            <a:avLst/>
          </a:prstGeom>
          <a:noFill/>
        </p:spPr>
        <p:txBody>
          <a:bodyPr wrap="square">
            <a:spAutoFit/>
          </a:bodyPr>
          <a:lstStyle/>
          <a:p>
            <a:pPr>
              <a:lnSpc>
                <a:spcPct val="125000"/>
              </a:lnSpc>
              <a:spcAft>
                <a:spcPts val="1200"/>
              </a:spcAft>
            </a:pPr>
            <a:r>
              <a:rPr sz="1600" b="0" i="0">
                <a:solidFill>
                  <a:srgbClr val="111B30"/>
                </a:solidFill>
                <a:latin typeface="Calibri"/>
              </a:rPr>
              <a:t>•  DNS Security Extensions - adds cryptographic signatures to DNS records so a resolver can verify a response actually came from the zone's legitimate owner and wasn't altered in transit</a:t>
            </a:r>
          </a:p>
          <a:p>
            <a:pPr>
              <a:lnSpc>
                <a:spcPct val="125000"/>
              </a:lnSpc>
              <a:spcAft>
                <a:spcPts val="1200"/>
              </a:spcAft>
            </a:pPr>
            <a:r>
              <a:rPr sz="1600" b="0" i="0">
                <a:solidFill>
                  <a:srgbClr val="111B30"/>
                </a:solidFill>
                <a:latin typeface="Calibri"/>
              </a:rPr>
              <a:t>•  Does not encrypt DNS traffic - it's about authenticity and integrity, not confidentiality</a:t>
            </a:r>
          </a:p>
          <a:p>
            <a:pPr>
              <a:lnSpc>
                <a:spcPct val="125000"/>
              </a:lnSpc>
              <a:spcAft>
                <a:spcPts val="1200"/>
              </a:spcAft>
            </a:pPr>
            <a:r>
              <a:rPr sz="1600" b="0" i="0">
                <a:solidFill>
                  <a:srgbClr val="111B30"/>
                </a:solidFill>
                <a:latin typeface="Calibri"/>
              </a:rPr>
              <a:t>•  Every signed zone publishes DNSKEY records (the public keys) alongside RRSIG records (the signatures over each record set)</a:t>
            </a:r>
          </a:p>
          <a:p>
            <a:pPr>
              <a:lnSpc>
                <a:spcPct val="125000"/>
              </a:lnSpc>
              <a:spcAft>
                <a:spcPts val="1200"/>
              </a:spcAft>
            </a:pPr>
            <a:r>
              <a:rPr sz="1600" b="0" i="0">
                <a:solidFill>
                  <a:srgbClr val="111B30"/>
                </a:solidFill>
                <a:latin typeface="Calibri"/>
              </a:rPr>
              <a:t>•  Validation happens as a chain: a resolver only trusts a zone's keys if that trust can be traced back to a globally trusted root</a:t>
            </a:r>
          </a:p>
          <a:p>
            <a:pPr>
              <a:lnSpc>
                <a:spcPct val="125000"/>
              </a:lnSpc>
              <a:spcAft>
                <a:spcPts val="1200"/>
              </a:spcAft>
            </a:pPr>
            <a:r>
              <a:rPr sz="1600" b="0" i="0">
                <a:solidFill>
                  <a:srgbClr val="111B30"/>
                </a:solidFill>
                <a:latin typeface="Calibri"/>
              </a:rPr>
              <a:t>•  Deployed on a real, registered subdomain in today's hands-on work - reachable only over VPN, since public tools like dnsviz.net can't route to a private lab network</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96012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960120"/>
            <a:ext cx="12191695" cy="54864"/>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109728"/>
            <a:ext cx="11247120" cy="777240"/>
          </a:xfrm>
          <a:prstGeom prst="rect">
            <a:avLst/>
          </a:prstGeom>
          <a:noFill/>
        </p:spPr>
        <p:txBody>
          <a:bodyPr wrap="square" anchor="ctr">
            <a:spAutoFit/>
          </a:bodyPr>
          <a:lstStyle/>
          <a:p>
            <a:r>
              <a:rPr sz="2600" b="1" i="0">
                <a:solidFill>
                  <a:srgbClr val="FFFFFF"/>
                </a:solidFill>
                <a:latin typeface="Cambria"/>
              </a:rPr>
              <a:t>DNSSEC Chain of Trust</a:t>
            </a:r>
          </a:p>
        </p:txBody>
      </p:sp>
      <p:sp>
        <p:nvSpPr>
          <p:cNvPr id="6" name="Rounded Rectangle 5"/>
          <p:cNvSpPr/>
          <p:nvPr/>
        </p:nvSpPr>
        <p:spPr>
          <a:xfrm>
            <a:off x="4937760" y="1280160"/>
            <a:ext cx="2286000" cy="731520"/>
          </a:xfrm>
          <a:prstGeom prst="roundRect">
            <a:avLst/>
          </a:prstGeom>
          <a:solidFill>
            <a:srgbClr val="1B2A4A"/>
          </a:solidFill>
          <a:ln w="22225">
            <a:solidFill>
              <a:srgbClr val="1B2A4A"/>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100" b="1" i="0">
                <a:solidFill>
                  <a:srgbClr val="FFFFFF"/>
                </a:solidFill>
                <a:latin typeface="Calibri"/>
              </a:rPr>
              <a:t>Root Zone (.)</a:t>
            </a:r>
          </a:p>
          <a:p>
            <a:pPr algn="ctr"/>
            <a:r>
              <a:rPr sz="1100" b="1" i="0">
                <a:solidFill>
                  <a:srgbClr val="FFFFFF"/>
                </a:solidFill>
                <a:latin typeface="Calibri"/>
              </a:rPr>
              <a:t>Trust Anchor</a:t>
            </a:r>
          </a:p>
        </p:txBody>
      </p:sp>
      <p:sp>
        <p:nvSpPr>
          <p:cNvPr id="7" name="Rounded Rectangle 6"/>
          <p:cNvSpPr/>
          <p:nvPr/>
        </p:nvSpPr>
        <p:spPr>
          <a:xfrm>
            <a:off x="4937760" y="2560320"/>
            <a:ext cx="2286000" cy="731520"/>
          </a:xfrm>
          <a:prstGeom prst="roundRect">
            <a:avLst/>
          </a:prstGeom>
          <a:solidFill>
            <a:srgbClr val="3D5A80"/>
          </a:solidFill>
          <a:ln w="22225">
            <a:solidFill>
              <a:srgbClr val="3D5A80"/>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100" b="1" i="0">
                <a:solidFill>
                  <a:srgbClr val="FFFFFF"/>
                </a:solidFill>
                <a:latin typeface="Calibri"/>
              </a:rPr>
              <a:t>TLD (e.g. .net)</a:t>
            </a:r>
          </a:p>
        </p:txBody>
      </p:sp>
      <p:sp>
        <p:nvSpPr>
          <p:cNvPr id="8" name="Rounded Rectangle 7"/>
          <p:cNvSpPr/>
          <p:nvPr/>
        </p:nvSpPr>
        <p:spPr>
          <a:xfrm>
            <a:off x="4937760" y="3840480"/>
            <a:ext cx="2286000" cy="731520"/>
          </a:xfrm>
          <a:prstGeom prst="roundRect">
            <a:avLst/>
          </a:prstGeom>
          <a:solidFill>
            <a:srgbClr val="FFFFFF"/>
          </a:solidFill>
          <a:ln w="31750">
            <a:solidFill>
              <a:srgbClr val="00B4D8"/>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100" b="1" i="0">
                <a:solidFill>
                  <a:srgbClr val="111B30"/>
                </a:solidFill>
                <a:latin typeface="Calibri"/>
              </a:rPr>
              <a:t>Delegated Zone</a:t>
            </a:r>
          </a:p>
          <a:p>
            <a:pPr algn="ctr"/>
            <a:r>
              <a:rPr sz="1100" b="1" i="0">
                <a:solidFill>
                  <a:srgbClr val="111B30"/>
                </a:solidFill>
                <a:latin typeface="Calibri"/>
              </a:rPr>
              <a:t>(your subdomain)</a:t>
            </a:r>
          </a:p>
        </p:txBody>
      </p:sp>
      <p:sp>
        <p:nvSpPr>
          <p:cNvPr id="9" name="Rounded Rectangle 8"/>
          <p:cNvSpPr/>
          <p:nvPr/>
        </p:nvSpPr>
        <p:spPr>
          <a:xfrm>
            <a:off x="4937760" y="5120640"/>
            <a:ext cx="2286000" cy="731520"/>
          </a:xfrm>
          <a:prstGeom prst="roundRect">
            <a:avLst/>
          </a:prstGeom>
          <a:solidFill>
            <a:srgbClr val="FFFFFF"/>
          </a:solidFill>
          <a:ln w="22225">
            <a:solidFill>
              <a:srgbClr val="3D5A80"/>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100" b="0" i="0">
                <a:solidFill>
                  <a:srgbClr val="111B30"/>
                </a:solidFill>
                <a:latin typeface="Calibri"/>
              </a:rPr>
              <a:t>Signed Records</a:t>
            </a:r>
          </a:p>
          <a:p>
            <a:pPr algn="ctr"/>
            <a:r>
              <a:rPr sz="1100" b="0" i="0">
                <a:solidFill>
                  <a:srgbClr val="111B30"/>
                </a:solidFill>
                <a:latin typeface="Calibri"/>
              </a:rPr>
              <a:t>(A, MX, TXT ...)</a:t>
            </a:r>
          </a:p>
        </p:txBody>
      </p:sp>
      <p:cxnSp>
        <p:nvCxnSpPr>
          <p:cNvPr id="10" name="Connector 9"/>
          <p:cNvCxnSpPr/>
          <p:nvPr/>
        </p:nvCxnSpPr>
        <p:spPr>
          <a:xfrm>
            <a:off x="6080760" y="2011680"/>
            <a:ext cx="0" cy="548640"/>
          </a:xfrm>
          <a:prstGeom prst="line">
            <a:avLst/>
          </a:prstGeom>
          <a:ln w="22225">
            <a:solidFill>
              <a:srgbClr val="40404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5074920" y="2084831"/>
            <a:ext cx="2011680" cy="365760"/>
          </a:xfrm>
          <a:prstGeom prst="rect">
            <a:avLst/>
          </a:prstGeom>
          <a:noFill/>
        </p:spPr>
        <p:txBody>
          <a:bodyPr wrap="square">
            <a:spAutoFit/>
          </a:bodyPr>
          <a:lstStyle/>
          <a:p>
            <a:pPr algn="ctr"/>
            <a:r>
              <a:rPr sz="900" b="0" i="1">
                <a:solidFill>
                  <a:srgbClr val="404040"/>
                </a:solidFill>
                <a:latin typeface="Calibri"/>
              </a:rPr>
              <a:t>DS record</a:t>
            </a:r>
          </a:p>
        </p:txBody>
      </p:sp>
      <p:cxnSp>
        <p:nvCxnSpPr>
          <p:cNvPr id="12" name="Connector 11"/>
          <p:cNvCxnSpPr/>
          <p:nvPr/>
        </p:nvCxnSpPr>
        <p:spPr>
          <a:xfrm>
            <a:off x="6080760" y="3291839"/>
            <a:ext cx="0" cy="548641"/>
          </a:xfrm>
          <a:prstGeom prst="line">
            <a:avLst/>
          </a:prstGeom>
          <a:ln w="22225">
            <a:solidFill>
              <a:srgbClr val="40404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074920" y="3364991"/>
            <a:ext cx="2011680" cy="365760"/>
          </a:xfrm>
          <a:prstGeom prst="rect">
            <a:avLst/>
          </a:prstGeom>
          <a:noFill/>
        </p:spPr>
        <p:txBody>
          <a:bodyPr wrap="square">
            <a:spAutoFit/>
          </a:bodyPr>
          <a:lstStyle/>
          <a:p>
            <a:pPr algn="ctr"/>
            <a:r>
              <a:rPr sz="900" b="0" i="1">
                <a:solidFill>
                  <a:srgbClr val="404040"/>
                </a:solidFill>
                <a:latin typeface="Calibri"/>
              </a:rPr>
              <a:t>DS record</a:t>
            </a:r>
          </a:p>
        </p:txBody>
      </p:sp>
      <p:cxnSp>
        <p:nvCxnSpPr>
          <p:cNvPr id="14" name="Connector 13"/>
          <p:cNvCxnSpPr/>
          <p:nvPr/>
        </p:nvCxnSpPr>
        <p:spPr>
          <a:xfrm>
            <a:off x="6080760" y="4572000"/>
            <a:ext cx="0" cy="548640"/>
          </a:xfrm>
          <a:prstGeom prst="line">
            <a:avLst/>
          </a:prstGeom>
          <a:ln w="22225">
            <a:solidFill>
              <a:srgbClr val="40404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5074920" y="4645152"/>
            <a:ext cx="2011680" cy="365760"/>
          </a:xfrm>
          <a:prstGeom prst="rect">
            <a:avLst/>
          </a:prstGeom>
          <a:noFill/>
        </p:spPr>
        <p:txBody>
          <a:bodyPr wrap="square">
            <a:spAutoFit/>
          </a:bodyPr>
          <a:lstStyle/>
          <a:p>
            <a:pPr algn="ctr"/>
            <a:r>
              <a:rPr sz="900" b="0" i="1">
                <a:solidFill>
                  <a:srgbClr val="404040"/>
                </a:solidFill>
                <a:latin typeface="Calibri"/>
              </a:rPr>
              <a:t>RRSIG</a:t>
            </a:r>
          </a:p>
        </p:txBody>
      </p:sp>
      <p:sp>
        <p:nvSpPr>
          <p:cNvPr id="16" name="Rounded Rectangle 15"/>
          <p:cNvSpPr/>
          <p:nvPr/>
        </p:nvSpPr>
        <p:spPr>
          <a:xfrm>
            <a:off x="7863840" y="3840480"/>
            <a:ext cx="3474720" cy="731520"/>
          </a:xfrm>
          <a:prstGeom prst="roundRect">
            <a:avLst/>
          </a:prstGeom>
          <a:solidFill>
            <a:srgbClr val="FFFFFF"/>
          </a:solidFill>
          <a:ln w="22225">
            <a:solidFill>
              <a:srgbClr val="B02A2A"/>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950" b="1" i="0">
                <a:solidFill>
                  <a:srgbClr val="B02A2A"/>
                </a:solidFill>
                <a:latin typeface="Calibri"/>
              </a:rPr>
              <a:t>Break here (no DS,</a:t>
            </a:r>
          </a:p>
          <a:p>
            <a:pPr algn="ctr"/>
            <a:r>
              <a:rPr sz="950" b="1" i="0">
                <a:solidFill>
                  <a:srgbClr val="B02A2A"/>
                </a:solidFill>
                <a:latin typeface="Calibri"/>
              </a:rPr>
              <a:t>or key mismatch) =</a:t>
            </a:r>
          </a:p>
          <a:p>
            <a:pPr algn="ctr"/>
            <a:r>
              <a:rPr sz="950" b="1" i="0">
                <a:solidFill>
                  <a:srgbClr val="B02A2A"/>
                </a:solidFill>
                <a:latin typeface="Calibri"/>
              </a:rPr>
              <a:t>chain fails to validate</a:t>
            </a:r>
          </a:p>
        </p:txBody>
      </p:sp>
      <p:cxnSp>
        <p:nvCxnSpPr>
          <p:cNvPr id="17" name="Connector 16"/>
          <p:cNvCxnSpPr/>
          <p:nvPr/>
        </p:nvCxnSpPr>
        <p:spPr>
          <a:xfrm>
            <a:off x="7223760" y="4206240"/>
            <a:ext cx="640080" cy="0"/>
          </a:xfrm>
          <a:prstGeom prst="line">
            <a:avLst/>
          </a:prstGeom>
          <a:ln w="19050">
            <a:solidFill>
              <a:srgbClr val="B02A2A"/>
            </a:solidFill>
            <a:prstDash val="dash"/>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96012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960120"/>
            <a:ext cx="12191695" cy="54864"/>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109728"/>
            <a:ext cx="11247120" cy="777240"/>
          </a:xfrm>
          <a:prstGeom prst="rect">
            <a:avLst/>
          </a:prstGeom>
          <a:noFill/>
        </p:spPr>
        <p:txBody>
          <a:bodyPr wrap="square" anchor="ctr">
            <a:spAutoFit/>
          </a:bodyPr>
          <a:lstStyle/>
          <a:p>
            <a:r>
              <a:rPr sz="2600" b="1" i="0" dirty="0">
                <a:solidFill>
                  <a:srgbClr val="FFFFFF"/>
                </a:solidFill>
                <a:latin typeface="Cambria"/>
              </a:rPr>
              <a:t>KSK/ZSK Signing Workflow</a:t>
            </a:r>
          </a:p>
        </p:txBody>
      </p:sp>
      <p:sp>
        <p:nvSpPr>
          <p:cNvPr id="6" name="Rounded Rectangle 5"/>
          <p:cNvSpPr/>
          <p:nvPr/>
        </p:nvSpPr>
        <p:spPr>
          <a:xfrm>
            <a:off x="548640" y="2194560"/>
            <a:ext cx="3108960" cy="1005840"/>
          </a:xfrm>
          <a:prstGeom prst="roundRect">
            <a:avLst/>
          </a:prstGeom>
          <a:solidFill>
            <a:srgbClr val="FFFFFF"/>
          </a:solidFill>
          <a:ln w="22225">
            <a:solidFill>
              <a:srgbClr val="3D5A80"/>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050" b="0" i="0" dirty="0">
                <a:solidFill>
                  <a:srgbClr val="111B30"/>
                </a:solidFill>
                <a:latin typeface="Calibri"/>
              </a:rPr>
              <a:t>Generate ZSK</a:t>
            </a:r>
          </a:p>
          <a:p>
            <a:pPr algn="ctr"/>
            <a:r>
              <a:rPr sz="1050" b="0" i="0" dirty="0">
                <a:solidFill>
                  <a:srgbClr val="111B30"/>
                </a:solidFill>
                <a:latin typeface="Calibri"/>
              </a:rPr>
              <a:t>(Zone Signing Key)</a:t>
            </a:r>
          </a:p>
          <a:p>
            <a:pPr algn="ctr"/>
            <a:r>
              <a:rPr sz="1050" b="0" i="0" dirty="0">
                <a:solidFill>
                  <a:srgbClr val="111B30"/>
                </a:solidFill>
                <a:latin typeface="Calibri"/>
              </a:rPr>
              <a:t>RSASHA256, 1024-bit</a:t>
            </a:r>
          </a:p>
        </p:txBody>
      </p:sp>
      <p:sp>
        <p:nvSpPr>
          <p:cNvPr id="7" name="Rounded Rectangle 6"/>
          <p:cNvSpPr/>
          <p:nvPr/>
        </p:nvSpPr>
        <p:spPr>
          <a:xfrm>
            <a:off x="548640" y="3566160"/>
            <a:ext cx="3108960" cy="1005840"/>
          </a:xfrm>
          <a:prstGeom prst="roundRect">
            <a:avLst/>
          </a:prstGeom>
          <a:solidFill>
            <a:srgbClr val="FFFFFF"/>
          </a:solidFill>
          <a:ln w="22225">
            <a:solidFill>
              <a:srgbClr val="3D5A80"/>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050" b="0" i="0" dirty="0">
                <a:solidFill>
                  <a:srgbClr val="111B30"/>
                </a:solidFill>
                <a:latin typeface="Calibri"/>
              </a:rPr>
              <a:t>Generate KSK</a:t>
            </a:r>
          </a:p>
          <a:p>
            <a:pPr algn="ctr"/>
            <a:r>
              <a:rPr sz="1050" b="0" i="0" dirty="0">
                <a:solidFill>
                  <a:srgbClr val="111B30"/>
                </a:solidFill>
                <a:latin typeface="Calibri"/>
              </a:rPr>
              <a:t>(Key Signing Key)</a:t>
            </a:r>
          </a:p>
          <a:p>
            <a:pPr algn="ctr"/>
            <a:r>
              <a:rPr sz="1050" b="0" i="0" dirty="0">
                <a:solidFill>
                  <a:srgbClr val="111B30"/>
                </a:solidFill>
                <a:latin typeface="Calibri"/>
              </a:rPr>
              <a:t>RSASHA256, 2048-bit</a:t>
            </a:r>
          </a:p>
        </p:txBody>
      </p:sp>
      <p:sp>
        <p:nvSpPr>
          <p:cNvPr id="8" name="Rounded Rectangle 7"/>
          <p:cNvSpPr/>
          <p:nvPr/>
        </p:nvSpPr>
        <p:spPr>
          <a:xfrm>
            <a:off x="4206240" y="2880360"/>
            <a:ext cx="2926080" cy="1005840"/>
          </a:xfrm>
          <a:prstGeom prst="roundRect">
            <a:avLst/>
          </a:prstGeom>
          <a:solidFill>
            <a:srgbClr val="FFFFFF"/>
          </a:solidFill>
          <a:ln w="31750">
            <a:solidFill>
              <a:srgbClr val="00B4D8"/>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000" b="1" i="0">
                <a:solidFill>
                  <a:srgbClr val="111B30"/>
                </a:solidFill>
                <a:latin typeface="Calibri"/>
              </a:rPr>
              <a:t>dnssec-signzone:</a:t>
            </a:r>
          </a:p>
          <a:p>
            <a:pPr algn="ctr"/>
            <a:r>
              <a:rPr sz="1000" b="1" i="0">
                <a:solidFill>
                  <a:srgbClr val="111B30"/>
                </a:solidFill>
                <a:latin typeface="Calibri"/>
              </a:rPr>
              <a:t>Sign all records with ZSK,</a:t>
            </a:r>
          </a:p>
          <a:p>
            <a:pPr algn="ctr"/>
            <a:r>
              <a:rPr sz="1000" b="1" i="0">
                <a:solidFill>
                  <a:srgbClr val="111B30"/>
                </a:solidFill>
                <a:latin typeface="Calibri"/>
              </a:rPr>
              <a:t>DNSKEY set with KSK</a:t>
            </a:r>
          </a:p>
        </p:txBody>
      </p:sp>
      <p:sp>
        <p:nvSpPr>
          <p:cNvPr id="9" name="Rounded Rectangle 8"/>
          <p:cNvSpPr/>
          <p:nvPr/>
        </p:nvSpPr>
        <p:spPr>
          <a:xfrm>
            <a:off x="7680960" y="2880360"/>
            <a:ext cx="2743200" cy="1005840"/>
          </a:xfrm>
          <a:prstGeom prst="roundRect">
            <a:avLst/>
          </a:prstGeom>
          <a:solidFill>
            <a:srgbClr val="FFFFFF"/>
          </a:solidFill>
          <a:ln w="22225">
            <a:solidFill>
              <a:srgbClr val="3D5A80"/>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050" b="0" i="0">
                <a:solidFill>
                  <a:srgbClr val="111B30"/>
                </a:solidFill>
                <a:latin typeface="Calibri"/>
              </a:rPr>
              <a:t>Publish DS record</a:t>
            </a:r>
          </a:p>
          <a:p>
            <a:pPr algn="ctr"/>
            <a:r>
              <a:rPr sz="1050" b="0" i="0">
                <a:solidFill>
                  <a:srgbClr val="111B30"/>
                </a:solidFill>
                <a:latin typeface="Calibri"/>
              </a:rPr>
              <a:t>at parent zone/registrar</a:t>
            </a:r>
          </a:p>
        </p:txBody>
      </p:sp>
      <p:sp>
        <p:nvSpPr>
          <p:cNvPr id="10" name="Rounded Rectangle 9"/>
          <p:cNvSpPr/>
          <p:nvPr/>
        </p:nvSpPr>
        <p:spPr>
          <a:xfrm>
            <a:off x="7680960" y="4572000"/>
            <a:ext cx="2743200" cy="914400"/>
          </a:xfrm>
          <a:prstGeom prst="roundRect">
            <a:avLst/>
          </a:prstGeom>
          <a:solidFill>
            <a:srgbClr val="E8EEF7"/>
          </a:solidFill>
          <a:ln w="22225">
            <a:solidFill>
              <a:srgbClr val="3D5A80"/>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000" b="0" i="0">
                <a:solidFill>
                  <a:srgbClr val="111B30"/>
                </a:solidFill>
                <a:latin typeface="Calibri"/>
              </a:rPr>
              <a:t>dig +dnssec /</a:t>
            </a:r>
          </a:p>
          <a:p>
            <a:pPr algn="ctr"/>
            <a:r>
              <a:rPr sz="1000" b="0" i="0">
                <a:solidFill>
                  <a:srgbClr val="111B30"/>
                </a:solidFill>
                <a:latin typeface="Calibri"/>
              </a:rPr>
              <a:t>delv +vtrace: confirm</a:t>
            </a:r>
          </a:p>
          <a:p>
            <a:pPr algn="ctr"/>
            <a:r>
              <a:rPr sz="1000" b="0" i="0">
                <a:solidFill>
                  <a:srgbClr val="111B30"/>
                </a:solidFill>
                <a:latin typeface="Calibri"/>
              </a:rPr>
              <a:t>validation</a:t>
            </a:r>
          </a:p>
        </p:txBody>
      </p:sp>
      <p:cxnSp>
        <p:nvCxnSpPr>
          <p:cNvPr id="11" name="Connector 10"/>
          <p:cNvCxnSpPr/>
          <p:nvPr/>
        </p:nvCxnSpPr>
        <p:spPr>
          <a:xfrm>
            <a:off x="3657600" y="2697480"/>
            <a:ext cx="548640" cy="685800"/>
          </a:xfrm>
          <a:prstGeom prst="line">
            <a:avLst/>
          </a:prstGeom>
          <a:ln w="22225">
            <a:solidFill>
              <a:srgbClr val="40404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3657600" y="3383280"/>
            <a:ext cx="548640" cy="685800"/>
          </a:xfrm>
          <a:prstGeom prst="line">
            <a:avLst/>
          </a:prstGeom>
          <a:ln w="22225">
            <a:solidFill>
              <a:srgbClr val="40404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7132320" y="3383280"/>
            <a:ext cx="548640" cy="0"/>
          </a:xfrm>
          <a:prstGeom prst="line">
            <a:avLst/>
          </a:prstGeom>
          <a:ln w="22225">
            <a:solidFill>
              <a:srgbClr val="40404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9052560" y="3886200"/>
            <a:ext cx="0" cy="685800"/>
          </a:xfrm>
          <a:prstGeom prst="line">
            <a:avLst/>
          </a:prstGeom>
          <a:ln w="22225">
            <a:solidFill>
              <a:srgbClr val="40404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40080" y="5852160"/>
            <a:ext cx="10881360" cy="365760"/>
          </a:xfrm>
          <a:prstGeom prst="rect">
            <a:avLst/>
          </a:prstGeom>
          <a:noFill/>
        </p:spPr>
        <p:txBody>
          <a:bodyPr wrap="square">
            <a:spAutoFit/>
          </a:bodyPr>
          <a:lstStyle/>
          <a:p>
            <a:pPr algn="ctr"/>
            <a:r>
              <a:rPr sz="1100" b="0" i="1">
                <a:solidFill>
                  <a:srgbClr val="6B7480"/>
                </a:solidFill>
                <a:latin typeface="Calibri"/>
              </a:rPr>
              <a:t>ZSK signs the records day-to-day; KSK signs only the key set itself and anchors the chain of trust.</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96012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960120"/>
            <a:ext cx="12191695" cy="54864"/>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109728"/>
            <a:ext cx="11247120" cy="777240"/>
          </a:xfrm>
          <a:prstGeom prst="rect">
            <a:avLst/>
          </a:prstGeom>
          <a:noFill/>
        </p:spPr>
        <p:txBody>
          <a:bodyPr wrap="square" anchor="ctr">
            <a:spAutoFit/>
          </a:bodyPr>
          <a:lstStyle/>
          <a:p>
            <a:r>
              <a:rPr sz="2600" b="1" i="0">
                <a:solidFill>
                  <a:srgbClr val="FFFFFF"/>
                </a:solidFill>
                <a:latin typeface="Cambria"/>
              </a:rPr>
              <a:t>Reachability Caveat: This Is a Private Lab Zone</a:t>
            </a:r>
          </a:p>
        </p:txBody>
      </p:sp>
      <p:sp>
        <p:nvSpPr>
          <p:cNvPr id="6" name="TextBox 5"/>
          <p:cNvSpPr txBox="1"/>
          <p:nvPr/>
        </p:nvSpPr>
        <p:spPr>
          <a:xfrm>
            <a:off x="640080" y="1463040"/>
            <a:ext cx="10881360" cy="5029200"/>
          </a:xfrm>
          <a:prstGeom prst="rect">
            <a:avLst/>
          </a:prstGeom>
          <a:noFill/>
        </p:spPr>
        <p:txBody>
          <a:bodyPr wrap="square">
            <a:spAutoFit/>
          </a:bodyPr>
          <a:lstStyle/>
          <a:p>
            <a:pPr>
              <a:lnSpc>
                <a:spcPct val="125000"/>
              </a:lnSpc>
              <a:spcAft>
                <a:spcPts val="1200"/>
              </a:spcAft>
            </a:pPr>
            <a:r>
              <a:rPr sz="1600" b="0" i="0">
                <a:solidFill>
                  <a:srgbClr val="111B30"/>
                </a:solidFill>
                <a:latin typeface="Calibri"/>
              </a:rPr>
              <a:t>•  Today's zone is a real, registered subdomain - but it resolves only over the course VPN, not from the public internet</a:t>
            </a:r>
          </a:p>
          <a:p>
            <a:pPr>
              <a:lnSpc>
                <a:spcPct val="125000"/>
              </a:lnSpc>
              <a:spcAft>
                <a:spcPts val="1200"/>
              </a:spcAft>
            </a:pPr>
            <a:r>
              <a:rPr sz="1600" b="0" i="0">
                <a:solidFill>
                  <a:srgbClr val="111B30"/>
                </a:solidFill>
                <a:latin typeface="Calibri"/>
              </a:rPr>
              <a:t>•  Public DNSSEC validators (dnsviz.net and similar) cannot reach it and will report failures that have nothing to do with your configuration</a:t>
            </a:r>
          </a:p>
          <a:p>
            <a:pPr>
              <a:lnSpc>
                <a:spcPct val="125000"/>
              </a:lnSpc>
              <a:spcAft>
                <a:spcPts val="1200"/>
              </a:spcAft>
            </a:pPr>
            <a:r>
              <a:rPr sz="1600" b="0" i="0">
                <a:solidFill>
                  <a:srgbClr val="111B30"/>
                </a:solidFill>
                <a:latin typeface="Calibri"/>
              </a:rPr>
              <a:t>•  Always validate using dig/delv directly against the lab's own resolver, not a public third-party tool</a:t>
            </a:r>
          </a:p>
          <a:p>
            <a:pPr>
              <a:lnSpc>
                <a:spcPct val="125000"/>
              </a:lnSpc>
              <a:spcAft>
                <a:spcPts val="1200"/>
              </a:spcAft>
            </a:pPr>
            <a:r>
              <a:rPr sz="1600" b="0" i="0">
                <a:solidFill>
                  <a:srgbClr val="111B30"/>
                </a:solidFill>
                <a:latin typeface="Calibri"/>
              </a:rPr>
              <a:t>•  This mirrors a real operational reality: internal/private zones are still worth signing, even though public tooling can't audit them for you</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96012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960120"/>
            <a:ext cx="12191695" cy="54864"/>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109728"/>
            <a:ext cx="11247120" cy="777240"/>
          </a:xfrm>
          <a:prstGeom prst="rect">
            <a:avLst/>
          </a:prstGeom>
          <a:noFill/>
        </p:spPr>
        <p:txBody>
          <a:bodyPr wrap="square" anchor="ctr">
            <a:spAutoFit/>
          </a:bodyPr>
          <a:lstStyle/>
          <a:p>
            <a:r>
              <a:rPr sz="2600" b="1" i="0">
                <a:solidFill>
                  <a:srgbClr val="FFFFFF"/>
                </a:solidFill>
                <a:latin typeface="Cambria"/>
              </a:rPr>
              <a:t>Key Rollover Lifecycle</a:t>
            </a:r>
          </a:p>
        </p:txBody>
      </p:sp>
      <p:sp>
        <p:nvSpPr>
          <p:cNvPr id="6" name="Rounded Rectangle 5"/>
          <p:cNvSpPr/>
          <p:nvPr/>
        </p:nvSpPr>
        <p:spPr>
          <a:xfrm>
            <a:off x="548640" y="2286000"/>
            <a:ext cx="2743200" cy="914400"/>
          </a:xfrm>
          <a:prstGeom prst="roundRect">
            <a:avLst/>
          </a:prstGeom>
          <a:solidFill>
            <a:srgbClr val="FFFFFF"/>
          </a:solidFill>
          <a:ln w="22225">
            <a:solidFill>
              <a:srgbClr val="3D5A80"/>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050" b="0" i="0">
                <a:solidFill>
                  <a:srgbClr val="111B30"/>
                </a:solidFill>
                <a:latin typeface="Calibri"/>
              </a:rPr>
              <a:t>Current ZSK</a:t>
            </a:r>
          </a:p>
          <a:p>
            <a:pPr algn="ctr"/>
            <a:r>
              <a:rPr sz="1050" b="0" i="0">
                <a:solidFill>
                  <a:srgbClr val="111B30"/>
                </a:solidFill>
                <a:latin typeface="Calibri"/>
              </a:rPr>
              <a:t>(active, signing)</a:t>
            </a:r>
          </a:p>
        </p:txBody>
      </p:sp>
      <p:sp>
        <p:nvSpPr>
          <p:cNvPr id="7" name="Rounded Rectangle 6"/>
          <p:cNvSpPr/>
          <p:nvPr/>
        </p:nvSpPr>
        <p:spPr>
          <a:xfrm>
            <a:off x="548640" y="3566160"/>
            <a:ext cx="2743200" cy="914400"/>
          </a:xfrm>
          <a:prstGeom prst="roundRect">
            <a:avLst/>
          </a:prstGeom>
          <a:solidFill>
            <a:srgbClr val="FFFFFF"/>
          </a:solidFill>
          <a:ln w="22225">
            <a:solidFill>
              <a:srgbClr val="3D5A80"/>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000" b="0" i="0">
                <a:solidFill>
                  <a:srgbClr val="111B30"/>
                </a:solidFill>
                <a:latin typeface="Calibri"/>
              </a:rPr>
              <a:t>New ZSK generated</a:t>
            </a:r>
          </a:p>
          <a:p>
            <a:pPr algn="ctr"/>
            <a:r>
              <a:rPr sz="1000" b="0" i="0">
                <a:solidFill>
                  <a:srgbClr val="111B30"/>
                </a:solidFill>
                <a:latin typeface="Calibri"/>
              </a:rPr>
              <a:t>~quarterly, overlaps</a:t>
            </a:r>
          </a:p>
          <a:p>
            <a:pPr algn="ctr"/>
            <a:r>
              <a:rPr sz="1000" b="0" i="0">
                <a:solidFill>
                  <a:srgbClr val="111B30"/>
                </a:solidFill>
                <a:latin typeface="Calibri"/>
              </a:rPr>
              <a:t>before old one retires</a:t>
            </a:r>
          </a:p>
        </p:txBody>
      </p:sp>
      <p:sp>
        <p:nvSpPr>
          <p:cNvPr id="8" name="Rounded Rectangle 7"/>
          <p:cNvSpPr/>
          <p:nvPr/>
        </p:nvSpPr>
        <p:spPr>
          <a:xfrm>
            <a:off x="4206240" y="2286000"/>
            <a:ext cx="3108960" cy="914400"/>
          </a:xfrm>
          <a:prstGeom prst="roundRect">
            <a:avLst/>
          </a:prstGeom>
          <a:solidFill>
            <a:srgbClr val="FFFFFF"/>
          </a:solidFill>
          <a:ln w="25400">
            <a:solidFill>
              <a:srgbClr val="00B4D8"/>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000" b="0" i="0">
                <a:solidFill>
                  <a:srgbClr val="111B30"/>
                </a:solidFill>
                <a:latin typeface="Calibri"/>
              </a:rPr>
              <a:t>Current KSK</a:t>
            </a:r>
          </a:p>
          <a:p>
            <a:pPr algn="ctr"/>
            <a:r>
              <a:rPr sz="1000" b="0" i="0">
                <a:solidFill>
                  <a:srgbClr val="111B30"/>
                </a:solidFill>
                <a:latin typeface="Calibri"/>
              </a:rPr>
              <a:t>(anchors DS record</a:t>
            </a:r>
          </a:p>
          <a:p>
            <a:pPr algn="ctr"/>
            <a:r>
              <a:rPr sz="1000" b="0" i="0">
                <a:solidFill>
                  <a:srgbClr val="111B30"/>
                </a:solidFill>
                <a:latin typeface="Calibri"/>
              </a:rPr>
              <a:t>at parent zone)</a:t>
            </a:r>
          </a:p>
        </p:txBody>
      </p:sp>
      <p:sp>
        <p:nvSpPr>
          <p:cNvPr id="9" name="Rounded Rectangle 8"/>
          <p:cNvSpPr/>
          <p:nvPr/>
        </p:nvSpPr>
        <p:spPr>
          <a:xfrm>
            <a:off x="4206240" y="3566160"/>
            <a:ext cx="3108960" cy="1097280"/>
          </a:xfrm>
          <a:prstGeom prst="roundRect">
            <a:avLst/>
          </a:prstGeom>
          <a:solidFill>
            <a:srgbClr val="FFFFFF"/>
          </a:solidFill>
          <a:ln w="22225">
            <a:solidFill>
              <a:srgbClr val="3D5A80"/>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950" b="0" i="0">
                <a:solidFill>
                  <a:srgbClr val="111B30"/>
                </a:solidFill>
                <a:latin typeface="Calibri"/>
              </a:rPr>
              <a:t>New KSK generated</a:t>
            </a:r>
          </a:p>
          <a:p>
            <a:pPr algn="ctr"/>
            <a:r>
              <a:rPr sz="950" b="0" i="0">
                <a:solidFill>
                  <a:srgbClr val="111B30"/>
                </a:solidFill>
                <a:latin typeface="Calibri"/>
              </a:rPr>
              <a:t>~yearly - requires</a:t>
            </a:r>
          </a:p>
          <a:p>
            <a:pPr algn="ctr"/>
            <a:r>
              <a:rPr sz="950" b="0" i="0">
                <a:solidFill>
                  <a:srgbClr val="111B30"/>
                </a:solidFill>
                <a:latin typeface="Calibri"/>
              </a:rPr>
              <a:t>publishing a NEW DS record</a:t>
            </a:r>
          </a:p>
          <a:p>
            <a:pPr algn="ctr"/>
            <a:r>
              <a:rPr sz="950" b="0" i="0">
                <a:solidFill>
                  <a:srgbClr val="111B30"/>
                </a:solidFill>
                <a:latin typeface="Calibri"/>
              </a:rPr>
              <a:t>at the registrar first</a:t>
            </a:r>
          </a:p>
        </p:txBody>
      </p:sp>
      <p:sp>
        <p:nvSpPr>
          <p:cNvPr id="10" name="Rounded Rectangle 9"/>
          <p:cNvSpPr/>
          <p:nvPr/>
        </p:nvSpPr>
        <p:spPr>
          <a:xfrm>
            <a:off x="8503920" y="2880360"/>
            <a:ext cx="2743200" cy="1097280"/>
          </a:xfrm>
          <a:prstGeom prst="roundRect">
            <a:avLst/>
          </a:prstGeom>
          <a:solidFill>
            <a:srgbClr val="FFFFFF"/>
          </a:solidFill>
          <a:ln w="22225">
            <a:solidFill>
              <a:srgbClr val="B02A2A"/>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950" b="1" i="0">
                <a:solidFill>
                  <a:srgbClr val="B02A2A"/>
                </a:solidFill>
                <a:latin typeface="Calibri"/>
              </a:rPr>
              <a:t>DS record must be</a:t>
            </a:r>
          </a:p>
          <a:p>
            <a:pPr algn="ctr"/>
            <a:r>
              <a:rPr sz="950" b="1" i="0">
                <a:solidFill>
                  <a:srgbClr val="B02A2A"/>
                </a:solidFill>
                <a:latin typeface="Calibri"/>
              </a:rPr>
              <a:t>updated BEFORE the</a:t>
            </a:r>
          </a:p>
          <a:p>
            <a:pPr algn="ctr"/>
            <a:r>
              <a:rPr sz="950" b="1" i="0">
                <a:solidFill>
                  <a:srgbClr val="B02A2A"/>
                </a:solidFill>
                <a:latin typeface="Calibri"/>
              </a:rPr>
              <a:t>old KSK is retired,</a:t>
            </a:r>
          </a:p>
          <a:p>
            <a:pPr algn="ctr"/>
            <a:r>
              <a:rPr sz="950" b="1" i="0">
                <a:solidFill>
                  <a:srgbClr val="B02A2A"/>
                </a:solidFill>
                <a:latin typeface="Calibri"/>
              </a:rPr>
              <a:t>or the chain breaks</a:t>
            </a:r>
          </a:p>
        </p:txBody>
      </p:sp>
      <p:cxnSp>
        <p:nvCxnSpPr>
          <p:cNvPr id="11" name="Connector 10"/>
          <p:cNvCxnSpPr/>
          <p:nvPr/>
        </p:nvCxnSpPr>
        <p:spPr>
          <a:xfrm>
            <a:off x="1920240" y="3200400"/>
            <a:ext cx="0" cy="365760"/>
          </a:xfrm>
          <a:prstGeom prst="line">
            <a:avLst/>
          </a:prstGeom>
          <a:ln w="22225">
            <a:solidFill>
              <a:srgbClr val="3D5A80"/>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914400" y="3182112"/>
            <a:ext cx="2011680" cy="365760"/>
          </a:xfrm>
          <a:prstGeom prst="rect">
            <a:avLst/>
          </a:prstGeom>
          <a:noFill/>
        </p:spPr>
        <p:txBody>
          <a:bodyPr wrap="square">
            <a:spAutoFit/>
          </a:bodyPr>
          <a:lstStyle/>
          <a:p>
            <a:pPr algn="ctr"/>
            <a:r>
              <a:rPr sz="950" b="0" i="1">
                <a:solidFill>
                  <a:srgbClr val="3D5A80"/>
                </a:solidFill>
                <a:latin typeface="Calibri"/>
              </a:rPr>
              <a:t>~3 mo</a:t>
            </a:r>
          </a:p>
        </p:txBody>
      </p:sp>
      <p:cxnSp>
        <p:nvCxnSpPr>
          <p:cNvPr id="13" name="Connector 12"/>
          <p:cNvCxnSpPr/>
          <p:nvPr/>
        </p:nvCxnSpPr>
        <p:spPr>
          <a:xfrm>
            <a:off x="5760720" y="3200400"/>
            <a:ext cx="0" cy="365760"/>
          </a:xfrm>
          <a:prstGeom prst="line">
            <a:avLst/>
          </a:prstGeom>
          <a:ln w="22225">
            <a:solidFill>
              <a:srgbClr val="00B4D8"/>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4754879" y="3182112"/>
            <a:ext cx="2011680" cy="365760"/>
          </a:xfrm>
          <a:prstGeom prst="rect">
            <a:avLst/>
          </a:prstGeom>
          <a:noFill/>
        </p:spPr>
        <p:txBody>
          <a:bodyPr wrap="square">
            <a:spAutoFit/>
          </a:bodyPr>
          <a:lstStyle/>
          <a:p>
            <a:pPr algn="ctr"/>
            <a:r>
              <a:rPr sz="950" b="0" i="1">
                <a:solidFill>
                  <a:srgbClr val="00B4D8"/>
                </a:solidFill>
                <a:latin typeface="Calibri"/>
              </a:rPr>
              <a:t>~1 yr</a:t>
            </a:r>
          </a:p>
        </p:txBody>
      </p:sp>
      <p:cxnSp>
        <p:nvCxnSpPr>
          <p:cNvPr id="15" name="Connector 14"/>
          <p:cNvCxnSpPr/>
          <p:nvPr/>
        </p:nvCxnSpPr>
        <p:spPr>
          <a:xfrm flipV="1">
            <a:off x="7315200" y="3429000"/>
            <a:ext cx="1188720" cy="685800"/>
          </a:xfrm>
          <a:prstGeom prst="line">
            <a:avLst/>
          </a:prstGeom>
          <a:ln w="25400">
            <a:solidFill>
              <a:srgbClr val="B02A2A"/>
            </a:solidFill>
            <a:tailEnd type="triangle" w="med" len="med"/>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822960" y="2377440"/>
            <a:ext cx="1554480" cy="1554480"/>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4000" b="1" i="0">
                <a:solidFill>
                  <a:srgbClr val="1B2A4A"/>
                </a:solidFill>
                <a:latin typeface="Cambria"/>
              </a:rPr>
              <a:t>05</a:t>
            </a:r>
          </a:p>
        </p:txBody>
      </p:sp>
      <p:sp>
        <p:nvSpPr>
          <p:cNvPr id="4" name="TextBox 3"/>
          <p:cNvSpPr txBox="1"/>
          <p:nvPr/>
        </p:nvSpPr>
        <p:spPr>
          <a:xfrm>
            <a:off x="2651760" y="2514600"/>
            <a:ext cx="8869680" cy="1371600"/>
          </a:xfrm>
          <a:prstGeom prst="rect">
            <a:avLst/>
          </a:prstGeom>
          <a:noFill/>
        </p:spPr>
        <p:txBody>
          <a:bodyPr wrap="square" anchor="ctr">
            <a:spAutoFit/>
          </a:bodyPr>
          <a:lstStyle/>
          <a:p>
            <a:r>
              <a:rPr sz="3000" b="1" i="0">
                <a:solidFill>
                  <a:srgbClr val="FFFFFF"/>
                </a:solidFill>
                <a:latin typeface="Cambria"/>
              </a:rPr>
              <a:t>Email Authentication &amp; Mail Server Hardening</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96012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960120"/>
            <a:ext cx="12191695" cy="54864"/>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109728"/>
            <a:ext cx="11247120" cy="777240"/>
          </a:xfrm>
          <a:prstGeom prst="rect">
            <a:avLst/>
          </a:prstGeom>
          <a:noFill/>
        </p:spPr>
        <p:txBody>
          <a:bodyPr wrap="square" anchor="ctr">
            <a:spAutoFit/>
          </a:bodyPr>
          <a:lstStyle/>
          <a:p>
            <a:r>
              <a:rPr sz="2600" b="1" i="0">
                <a:solidFill>
                  <a:srgbClr val="FFFFFF"/>
                </a:solidFill>
                <a:latin typeface="Cambria"/>
              </a:rPr>
              <a:t>Email Has No Built-In Sender Authenticity</a:t>
            </a:r>
          </a:p>
        </p:txBody>
      </p:sp>
      <p:sp>
        <p:nvSpPr>
          <p:cNvPr id="6" name="TextBox 5"/>
          <p:cNvSpPr txBox="1"/>
          <p:nvPr/>
        </p:nvSpPr>
        <p:spPr>
          <a:xfrm>
            <a:off x="640080" y="1371600"/>
            <a:ext cx="10881360" cy="5029200"/>
          </a:xfrm>
          <a:prstGeom prst="rect">
            <a:avLst/>
          </a:prstGeom>
          <a:noFill/>
        </p:spPr>
        <p:txBody>
          <a:bodyPr wrap="square">
            <a:spAutoFit/>
          </a:bodyPr>
          <a:lstStyle/>
          <a:p>
            <a:pPr>
              <a:lnSpc>
                <a:spcPct val="125000"/>
              </a:lnSpc>
              <a:spcAft>
                <a:spcPts val="1200"/>
              </a:spcAft>
            </a:pPr>
            <a:r>
              <a:rPr sz="1600" b="0" i="0">
                <a:solidFill>
                  <a:srgbClr val="111B30"/>
                </a:solidFill>
                <a:latin typeface="Calibri"/>
              </a:rPr>
              <a:t>•  SMTP was designed to relay mail, not to verify who actually sent it - the "From:" header is just a text field a sender can set to anything</a:t>
            </a:r>
          </a:p>
          <a:p>
            <a:pPr>
              <a:lnSpc>
                <a:spcPct val="125000"/>
              </a:lnSpc>
              <a:spcAft>
                <a:spcPts val="1200"/>
              </a:spcAft>
            </a:pPr>
            <a:r>
              <a:rPr sz="1600" b="0" i="0">
                <a:solidFill>
                  <a:srgbClr val="111B30"/>
                </a:solidFill>
                <a:latin typeface="Calibri"/>
              </a:rPr>
              <a:t>•  This is precisely what enables email spoofing and Business Email Compromise (BEC) - an attacker sends mail that appears to come from a trusted domain with no forgery required, just an unauthenticated SMTP session</a:t>
            </a:r>
          </a:p>
          <a:p>
            <a:pPr>
              <a:lnSpc>
                <a:spcPct val="125000"/>
              </a:lnSpc>
              <a:spcAft>
                <a:spcPts val="1200"/>
              </a:spcAft>
            </a:pPr>
            <a:r>
              <a:rPr sz="1600" b="0" i="0">
                <a:solidFill>
                  <a:srgbClr val="111B30"/>
                </a:solidFill>
                <a:latin typeface="Calibri"/>
              </a:rPr>
              <a:t>•  Three complementary standards close this gap, each solving a different piece: SPF (who's allowed to send), DKIM (was the message tampered with), DMARC (what to do when SPF/DKIM fail, and tie it to what the recipient actually sees)</a:t>
            </a:r>
          </a:p>
          <a:p>
            <a:pPr>
              <a:lnSpc>
                <a:spcPct val="125000"/>
              </a:lnSpc>
              <a:spcAft>
                <a:spcPts val="1200"/>
              </a:spcAft>
            </a:pPr>
            <a:r>
              <a:rPr sz="1600" b="0" i="0">
                <a:solidFill>
                  <a:srgbClr val="111B30"/>
                </a:solidFill>
                <a:latin typeface="Calibri"/>
              </a:rPr>
              <a:t>•  None of the three encrypts message content - like DNSSEC, this is about authenticity and integrity, not confidentiality</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96012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960120"/>
            <a:ext cx="12191695" cy="54864"/>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109728"/>
            <a:ext cx="11247120" cy="777240"/>
          </a:xfrm>
          <a:prstGeom prst="rect">
            <a:avLst/>
          </a:prstGeom>
          <a:noFill/>
        </p:spPr>
        <p:txBody>
          <a:bodyPr wrap="square" anchor="ctr">
            <a:spAutoFit/>
          </a:bodyPr>
          <a:lstStyle/>
          <a:p>
            <a:r>
              <a:rPr sz="2600" b="1" i="0">
                <a:solidFill>
                  <a:srgbClr val="FFFFFF"/>
                </a:solidFill>
                <a:latin typeface="Cambria"/>
              </a:rPr>
              <a:t>SPF: Sender Policy Framework</a:t>
            </a:r>
          </a:p>
        </p:txBody>
      </p:sp>
      <p:sp>
        <p:nvSpPr>
          <p:cNvPr id="6" name="TextBox 5"/>
          <p:cNvSpPr txBox="1"/>
          <p:nvPr/>
        </p:nvSpPr>
        <p:spPr>
          <a:xfrm>
            <a:off x="640080" y="1371600"/>
            <a:ext cx="10881360" cy="5029200"/>
          </a:xfrm>
          <a:prstGeom prst="rect">
            <a:avLst/>
          </a:prstGeom>
          <a:noFill/>
        </p:spPr>
        <p:txBody>
          <a:bodyPr wrap="square">
            <a:spAutoFit/>
          </a:bodyPr>
          <a:lstStyle/>
          <a:p>
            <a:pPr>
              <a:lnSpc>
                <a:spcPct val="125000"/>
              </a:lnSpc>
              <a:spcAft>
                <a:spcPts val="1200"/>
              </a:spcAft>
            </a:pPr>
            <a:r>
              <a:rPr sz="1600" b="0" i="0">
                <a:solidFill>
                  <a:srgbClr val="111B30"/>
                </a:solidFill>
                <a:latin typeface="Calibri"/>
              </a:rPr>
              <a:t>•  A DNS TXT record published by the domain owner listing which mail servers are authorized to send mail for that domain</a:t>
            </a:r>
          </a:p>
          <a:p>
            <a:pPr>
              <a:lnSpc>
                <a:spcPct val="125000"/>
              </a:lnSpc>
              <a:spcAft>
                <a:spcPts val="1200"/>
              </a:spcAft>
            </a:pPr>
            <a:r>
              <a:rPr sz="1600" b="0" i="0">
                <a:solidFill>
                  <a:srgbClr val="111B30"/>
                </a:solidFill>
                <a:latin typeface="Calibri"/>
              </a:rPr>
              <a:t>•  Receiving mail servers check the connecting server's IP against the sending domain's SPF record</a:t>
            </a:r>
          </a:p>
          <a:p>
            <a:pPr>
              <a:lnSpc>
                <a:spcPct val="125000"/>
              </a:lnSpc>
              <a:spcAft>
                <a:spcPts val="1200"/>
              </a:spcAft>
            </a:pPr>
            <a:r>
              <a:rPr sz="1600" b="0" i="0">
                <a:solidFill>
                  <a:srgbClr val="111B30"/>
                </a:solidFill>
                <a:latin typeface="Calibri"/>
              </a:rPr>
              <a:t>•  Record syntax: v=spf1 ip4:10.0.0.20 -all - authorizes exactly one IP, and -all (hard fail) rejects everything else outright</a:t>
            </a:r>
          </a:p>
          <a:p>
            <a:pPr>
              <a:lnSpc>
                <a:spcPct val="125000"/>
              </a:lnSpc>
              <a:spcAft>
                <a:spcPts val="1200"/>
              </a:spcAft>
            </a:pPr>
            <a:r>
              <a:rPr sz="1600" b="0" i="0">
                <a:solidFill>
                  <a:srgbClr val="111B30"/>
                </a:solidFill>
                <a:latin typeface="Calibri"/>
              </a:rPr>
              <a:t>•  A softer +all or ~all (soft fail) exists but is discouraged for a fully-configured domain - it tells receivers to accept or flag rather than reject unauthorized senders</a:t>
            </a:r>
          </a:p>
          <a:p>
            <a:pPr>
              <a:lnSpc>
                <a:spcPct val="125000"/>
              </a:lnSpc>
              <a:spcAft>
                <a:spcPts val="1200"/>
              </a:spcAft>
            </a:pPr>
            <a:r>
              <a:rPr sz="1600" b="0" i="0">
                <a:solidFill>
                  <a:srgbClr val="111B30"/>
                </a:solidFill>
                <a:latin typeface="Calibri"/>
              </a:rPr>
              <a:t>•  SPF alone only validates the connecting IP - it says nothing about whether the message content was altered in transit, which is DKIM's job</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96012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960120"/>
            <a:ext cx="12191695" cy="54864"/>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109728"/>
            <a:ext cx="11247120" cy="777240"/>
          </a:xfrm>
          <a:prstGeom prst="rect">
            <a:avLst/>
          </a:prstGeom>
          <a:noFill/>
        </p:spPr>
        <p:txBody>
          <a:bodyPr wrap="square" anchor="ctr">
            <a:spAutoFit/>
          </a:bodyPr>
          <a:lstStyle/>
          <a:p>
            <a:r>
              <a:rPr sz="2600" b="1" i="0">
                <a:solidFill>
                  <a:srgbClr val="FFFFFF"/>
                </a:solidFill>
                <a:latin typeface="Cambria"/>
              </a:rPr>
              <a:t>SPF Validation Flow</a:t>
            </a:r>
          </a:p>
        </p:txBody>
      </p:sp>
      <p:sp>
        <p:nvSpPr>
          <p:cNvPr id="6" name="Rounded Rectangle 5"/>
          <p:cNvSpPr/>
          <p:nvPr/>
        </p:nvSpPr>
        <p:spPr>
          <a:xfrm>
            <a:off x="548640" y="3108960"/>
            <a:ext cx="2560320" cy="914400"/>
          </a:xfrm>
          <a:prstGeom prst="roundRect">
            <a:avLst/>
          </a:prstGeom>
          <a:solidFill>
            <a:srgbClr val="FFFFFF"/>
          </a:solidFill>
          <a:ln w="22225">
            <a:solidFill>
              <a:srgbClr val="3D5A80"/>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100" b="0" i="0">
                <a:solidFill>
                  <a:srgbClr val="111B30"/>
                </a:solidFill>
                <a:latin typeface="Calibri"/>
              </a:rPr>
              <a:t>Inbound Mail</a:t>
            </a:r>
          </a:p>
          <a:p>
            <a:pPr algn="ctr"/>
            <a:r>
              <a:rPr sz="1100" b="0" i="0">
                <a:solidFill>
                  <a:srgbClr val="111B30"/>
                </a:solidFill>
                <a:latin typeface="Calibri"/>
              </a:rPr>
              <a:t>Connection Received</a:t>
            </a:r>
          </a:p>
        </p:txBody>
      </p:sp>
      <p:sp>
        <p:nvSpPr>
          <p:cNvPr id="7" name="Rounded Rectangle 6"/>
          <p:cNvSpPr/>
          <p:nvPr/>
        </p:nvSpPr>
        <p:spPr>
          <a:xfrm>
            <a:off x="3474720" y="3108960"/>
            <a:ext cx="2743200" cy="1005840"/>
          </a:xfrm>
          <a:prstGeom prst="roundRect">
            <a:avLst/>
          </a:prstGeom>
          <a:solidFill>
            <a:srgbClr val="E8EEF7"/>
          </a:solidFill>
          <a:ln w="22225">
            <a:solidFill>
              <a:srgbClr val="3D5A80"/>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050" b="0" i="0">
                <a:solidFill>
                  <a:srgbClr val="111B30"/>
                </a:solidFill>
                <a:latin typeface="Calibri"/>
              </a:rPr>
              <a:t>Receiver Looks Up</a:t>
            </a:r>
          </a:p>
          <a:p>
            <a:pPr algn="ctr"/>
            <a:r>
              <a:rPr sz="1050" b="0" i="0">
                <a:solidFill>
                  <a:srgbClr val="111B30"/>
                </a:solidFill>
                <a:latin typeface="Calibri"/>
              </a:rPr>
              <a:t>Sender Domain's</a:t>
            </a:r>
          </a:p>
          <a:p>
            <a:pPr algn="ctr"/>
            <a:r>
              <a:rPr sz="1050" b="0" i="0">
                <a:solidFill>
                  <a:srgbClr val="111B30"/>
                </a:solidFill>
                <a:latin typeface="Calibri"/>
              </a:rPr>
              <a:t>SPF TXT Record</a:t>
            </a:r>
          </a:p>
        </p:txBody>
      </p:sp>
      <p:sp>
        <p:nvSpPr>
          <p:cNvPr id="8" name="Diamond 7"/>
          <p:cNvSpPr/>
          <p:nvPr/>
        </p:nvSpPr>
        <p:spPr>
          <a:xfrm>
            <a:off x="6583680" y="2926080"/>
            <a:ext cx="2560320" cy="1188720"/>
          </a:xfrm>
          <a:prstGeom prst="diamond">
            <a:avLst/>
          </a:prstGeom>
          <a:solidFill>
            <a:srgbClr val="E8EEF7"/>
          </a:solidFill>
          <a:ln w="22225">
            <a:solidFill>
              <a:srgbClr val="3D5A80"/>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000" b="1" i="0">
                <a:solidFill>
                  <a:srgbClr val="111B30"/>
                </a:solidFill>
                <a:latin typeface="Calibri"/>
              </a:rPr>
              <a:t>Connecting IP</a:t>
            </a:r>
          </a:p>
          <a:p>
            <a:pPr algn="ctr"/>
            <a:r>
              <a:rPr sz="1000" b="1" i="0">
                <a:solidFill>
                  <a:srgbClr val="111B30"/>
                </a:solidFill>
                <a:latin typeface="Calibri"/>
              </a:rPr>
              <a:t>Listed in SPF</a:t>
            </a:r>
          </a:p>
          <a:p>
            <a:pPr algn="ctr"/>
            <a:r>
              <a:rPr sz="1000" b="1" i="0">
                <a:solidFill>
                  <a:srgbClr val="111B30"/>
                </a:solidFill>
                <a:latin typeface="Calibri"/>
              </a:rPr>
              <a:t>Record?</a:t>
            </a:r>
          </a:p>
        </p:txBody>
      </p:sp>
      <p:sp>
        <p:nvSpPr>
          <p:cNvPr id="9" name="Rounded Rectangle 8"/>
          <p:cNvSpPr/>
          <p:nvPr/>
        </p:nvSpPr>
        <p:spPr>
          <a:xfrm>
            <a:off x="9418320" y="2103120"/>
            <a:ext cx="2377440" cy="822960"/>
          </a:xfrm>
          <a:prstGeom prst="roundRect">
            <a:avLst/>
          </a:prstGeom>
          <a:solidFill>
            <a:srgbClr val="FFFFFF"/>
          </a:solidFill>
          <a:ln w="22225">
            <a:solidFill>
              <a:srgbClr val="2E7D32"/>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000" b="1" i="0">
                <a:solidFill>
                  <a:srgbClr val="2E7D32"/>
                </a:solidFill>
                <a:latin typeface="Calibri"/>
              </a:rPr>
              <a:t>Pass -&gt; Continue</a:t>
            </a:r>
          </a:p>
          <a:p>
            <a:pPr algn="ctr"/>
            <a:r>
              <a:rPr sz="1000" b="1" i="0">
                <a:solidFill>
                  <a:srgbClr val="2E7D32"/>
                </a:solidFill>
                <a:latin typeface="Calibri"/>
              </a:rPr>
              <a:t>to DKIM/DMARC</a:t>
            </a:r>
          </a:p>
        </p:txBody>
      </p:sp>
      <p:sp>
        <p:nvSpPr>
          <p:cNvPr id="10" name="Rounded Rectangle 9"/>
          <p:cNvSpPr/>
          <p:nvPr/>
        </p:nvSpPr>
        <p:spPr>
          <a:xfrm>
            <a:off x="9418320" y="4023360"/>
            <a:ext cx="2377440" cy="822960"/>
          </a:xfrm>
          <a:prstGeom prst="roundRect">
            <a:avLst/>
          </a:prstGeom>
          <a:solidFill>
            <a:srgbClr val="FFFFFF"/>
          </a:solidFill>
          <a:ln w="22225">
            <a:solidFill>
              <a:srgbClr val="B02A2A"/>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000" b="1" i="0">
                <a:solidFill>
                  <a:srgbClr val="B02A2A"/>
                </a:solidFill>
                <a:latin typeface="Calibri"/>
              </a:rPr>
              <a:t>Fail -&gt; Reject</a:t>
            </a:r>
          </a:p>
          <a:p>
            <a:pPr algn="ctr"/>
            <a:r>
              <a:rPr sz="1000" b="1" i="0">
                <a:solidFill>
                  <a:srgbClr val="B02A2A"/>
                </a:solidFill>
                <a:latin typeface="Calibri"/>
              </a:rPr>
              <a:t>(hard fail, -all)</a:t>
            </a:r>
          </a:p>
        </p:txBody>
      </p:sp>
      <p:cxnSp>
        <p:nvCxnSpPr>
          <p:cNvPr id="11" name="Connector 10"/>
          <p:cNvCxnSpPr/>
          <p:nvPr/>
        </p:nvCxnSpPr>
        <p:spPr>
          <a:xfrm>
            <a:off x="3108960" y="3566160"/>
            <a:ext cx="365760" cy="45720"/>
          </a:xfrm>
          <a:prstGeom prst="line">
            <a:avLst/>
          </a:prstGeom>
          <a:ln w="22225">
            <a:solidFill>
              <a:srgbClr val="40404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6217920" y="3520440"/>
            <a:ext cx="365760" cy="91440"/>
          </a:xfrm>
          <a:prstGeom prst="line">
            <a:avLst/>
          </a:prstGeom>
          <a:ln w="22225">
            <a:solidFill>
              <a:srgbClr val="40404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V="1">
            <a:off x="7863840" y="2514600"/>
            <a:ext cx="1554480" cy="411480"/>
          </a:xfrm>
          <a:prstGeom prst="line">
            <a:avLst/>
          </a:prstGeom>
          <a:ln w="22225">
            <a:solidFill>
              <a:srgbClr val="2E7D32"/>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7635240" y="2519172"/>
            <a:ext cx="2011680" cy="365760"/>
          </a:xfrm>
          <a:prstGeom prst="rect">
            <a:avLst/>
          </a:prstGeom>
          <a:noFill/>
        </p:spPr>
        <p:txBody>
          <a:bodyPr wrap="square">
            <a:spAutoFit/>
          </a:bodyPr>
          <a:lstStyle/>
          <a:p>
            <a:pPr algn="ctr"/>
            <a:r>
              <a:rPr sz="950" b="0" i="1">
                <a:solidFill>
                  <a:srgbClr val="2E7D32"/>
                </a:solidFill>
                <a:latin typeface="Calibri"/>
              </a:rPr>
              <a:t>Yes</a:t>
            </a:r>
          </a:p>
        </p:txBody>
      </p:sp>
      <p:cxnSp>
        <p:nvCxnSpPr>
          <p:cNvPr id="15" name="Connector 14"/>
          <p:cNvCxnSpPr/>
          <p:nvPr/>
        </p:nvCxnSpPr>
        <p:spPr>
          <a:xfrm>
            <a:off x="7863840" y="4114800"/>
            <a:ext cx="1554480" cy="320040"/>
          </a:xfrm>
          <a:prstGeom prst="line">
            <a:avLst/>
          </a:prstGeom>
          <a:ln w="22225">
            <a:solidFill>
              <a:srgbClr val="B02A2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7635240" y="4073652"/>
            <a:ext cx="2011680" cy="365760"/>
          </a:xfrm>
          <a:prstGeom prst="rect">
            <a:avLst/>
          </a:prstGeom>
          <a:noFill/>
        </p:spPr>
        <p:txBody>
          <a:bodyPr wrap="square">
            <a:spAutoFit/>
          </a:bodyPr>
          <a:lstStyle/>
          <a:p>
            <a:pPr algn="ctr"/>
            <a:r>
              <a:rPr sz="950" b="0" i="1">
                <a:solidFill>
                  <a:srgbClr val="B02A2A"/>
                </a:solidFill>
                <a:latin typeface="Calibri"/>
              </a:rPr>
              <a:t>No</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96012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960120"/>
            <a:ext cx="12191695" cy="54864"/>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109728"/>
            <a:ext cx="11247120" cy="777240"/>
          </a:xfrm>
          <a:prstGeom prst="rect">
            <a:avLst/>
          </a:prstGeom>
          <a:noFill/>
        </p:spPr>
        <p:txBody>
          <a:bodyPr wrap="square" anchor="ctr">
            <a:spAutoFit/>
          </a:bodyPr>
          <a:lstStyle/>
          <a:p>
            <a:r>
              <a:rPr sz="2600" b="1" i="0">
                <a:solidFill>
                  <a:srgbClr val="FFFFFF"/>
                </a:solidFill>
                <a:latin typeface="Cambria"/>
              </a:rPr>
              <a:t>DKIM: DomainKeys Identified Mail</a:t>
            </a:r>
          </a:p>
        </p:txBody>
      </p:sp>
      <p:sp>
        <p:nvSpPr>
          <p:cNvPr id="6" name="TextBox 5"/>
          <p:cNvSpPr txBox="1"/>
          <p:nvPr/>
        </p:nvSpPr>
        <p:spPr>
          <a:xfrm>
            <a:off x="640080" y="1371600"/>
            <a:ext cx="10881360" cy="5029200"/>
          </a:xfrm>
          <a:prstGeom prst="rect">
            <a:avLst/>
          </a:prstGeom>
          <a:noFill/>
        </p:spPr>
        <p:txBody>
          <a:bodyPr wrap="square">
            <a:spAutoFit/>
          </a:bodyPr>
          <a:lstStyle/>
          <a:p>
            <a:pPr>
              <a:lnSpc>
                <a:spcPct val="125000"/>
              </a:lnSpc>
              <a:spcAft>
                <a:spcPts val="1200"/>
              </a:spcAft>
            </a:pPr>
            <a:r>
              <a:rPr sz="1600" b="0" i="0">
                <a:solidFill>
                  <a:srgbClr val="111B30"/>
                </a:solidFill>
                <a:latin typeface="Calibri"/>
              </a:rPr>
              <a:t>•  Cryptographically signs outbound mail - proves the message wasn't altered after leaving the sending server and that it genuinely originated from a server holding the private key</a:t>
            </a:r>
          </a:p>
          <a:p>
            <a:pPr>
              <a:lnSpc>
                <a:spcPct val="125000"/>
              </a:lnSpc>
              <a:spcAft>
                <a:spcPts val="1200"/>
              </a:spcAft>
            </a:pPr>
            <a:r>
              <a:rPr sz="1600" b="0" i="0">
                <a:solidFill>
                  <a:srgbClr val="111B30"/>
                </a:solidFill>
                <a:latin typeface="Calibri"/>
              </a:rPr>
              <a:t>•  The sending mail server signs specific headers and the body with a private key, adding a DKIM-Signature header to the message</a:t>
            </a:r>
          </a:p>
          <a:p>
            <a:pPr>
              <a:lnSpc>
                <a:spcPct val="125000"/>
              </a:lnSpc>
              <a:spcAft>
                <a:spcPts val="1200"/>
              </a:spcAft>
            </a:pPr>
            <a:r>
              <a:rPr sz="1600" b="0" i="0">
                <a:solidFill>
                  <a:srgbClr val="111B30"/>
                </a:solidFill>
                <a:latin typeface="Calibri"/>
              </a:rPr>
              <a:t>•  The public key is published in DNS as a TXT record at a selector-specific name: mail._domainkey.&lt;domain&gt;</a:t>
            </a:r>
          </a:p>
          <a:p>
            <a:pPr>
              <a:lnSpc>
                <a:spcPct val="125000"/>
              </a:lnSpc>
              <a:spcAft>
                <a:spcPts val="1200"/>
              </a:spcAft>
            </a:pPr>
            <a:r>
              <a:rPr sz="1600" b="0" i="0">
                <a:solidFill>
                  <a:srgbClr val="111B30"/>
                </a:solidFill>
                <a:latin typeface="Calibri"/>
              </a:rPr>
              <a:t>•  The receiving server fetches that public key via DNS and verifies the signature against the received message</a:t>
            </a:r>
          </a:p>
          <a:p>
            <a:pPr>
              <a:lnSpc>
                <a:spcPct val="125000"/>
              </a:lnSpc>
              <a:spcAft>
                <a:spcPts val="1200"/>
              </a:spcAft>
            </a:pPr>
            <a:r>
              <a:rPr sz="1600" b="0" i="0">
                <a:solidFill>
                  <a:srgbClr val="111B30"/>
                </a:solidFill>
                <a:latin typeface="Calibri"/>
              </a:rPr>
              <a:t>•  Unlike SPF, DKIM survives mail forwarding - the signature travels with the message itself, not with the connecting IP</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96012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960120"/>
            <a:ext cx="12191695" cy="54864"/>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109728"/>
            <a:ext cx="11247120" cy="777240"/>
          </a:xfrm>
          <a:prstGeom prst="rect">
            <a:avLst/>
          </a:prstGeom>
          <a:noFill/>
        </p:spPr>
        <p:txBody>
          <a:bodyPr wrap="square" anchor="ctr">
            <a:spAutoFit/>
          </a:bodyPr>
          <a:lstStyle/>
          <a:p>
            <a:r>
              <a:rPr sz="2600" b="1" i="0">
                <a:solidFill>
                  <a:srgbClr val="FFFFFF"/>
                </a:solidFill>
                <a:latin typeface="Cambria"/>
              </a:rPr>
              <a:t>DKIM Signing &amp; Verification Flow</a:t>
            </a:r>
          </a:p>
        </p:txBody>
      </p:sp>
      <p:sp>
        <p:nvSpPr>
          <p:cNvPr id="6" name="Rounded Rectangle 5"/>
          <p:cNvSpPr/>
          <p:nvPr/>
        </p:nvSpPr>
        <p:spPr>
          <a:xfrm>
            <a:off x="548640" y="2194560"/>
            <a:ext cx="2743200" cy="914400"/>
          </a:xfrm>
          <a:prstGeom prst="roundRect">
            <a:avLst/>
          </a:prstGeom>
          <a:solidFill>
            <a:srgbClr val="FFFFFF"/>
          </a:solidFill>
          <a:ln w="22225">
            <a:solidFill>
              <a:srgbClr val="3D5A80"/>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050" b="0" i="0">
                <a:solidFill>
                  <a:srgbClr val="111B30"/>
                </a:solidFill>
                <a:latin typeface="Calibri"/>
              </a:rPr>
              <a:t>Sending Server:</a:t>
            </a:r>
          </a:p>
          <a:p>
            <a:pPr algn="ctr"/>
            <a:r>
              <a:rPr sz="1050" b="0" i="0">
                <a:solidFill>
                  <a:srgbClr val="111B30"/>
                </a:solidFill>
                <a:latin typeface="Calibri"/>
              </a:rPr>
              <a:t>Signs message with</a:t>
            </a:r>
          </a:p>
          <a:p>
            <a:pPr algn="ctr"/>
            <a:r>
              <a:rPr sz="1050" b="0" i="0">
                <a:solidFill>
                  <a:srgbClr val="111B30"/>
                </a:solidFill>
                <a:latin typeface="Calibri"/>
              </a:rPr>
              <a:t>private key</a:t>
            </a:r>
          </a:p>
        </p:txBody>
      </p:sp>
      <p:sp>
        <p:nvSpPr>
          <p:cNvPr id="7" name="Rounded Rectangle 6"/>
          <p:cNvSpPr/>
          <p:nvPr/>
        </p:nvSpPr>
        <p:spPr>
          <a:xfrm>
            <a:off x="3840480" y="2194560"/>
            <a:ext cx="3017520" cy="1005840"/>
          </a:xfrm>
          <a:prstGeom prst="roundRect">
            <a:avLst/>
          </a:prstGeom>
          <a:solidFill>
            <a:srgbClr val="FFFFFF"/>
          </a:solidFill>
          <a:ln w="25400">
            <a:solidFill>
              <a:srgbClr val="00B4D8"/>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000" b="0" i="0">
                <a:solidFill>
                  <a:srgbClr val="111B30"/>
                </a:solidFill>
                <a:latin typeface="Calibri"/>
              </a:rPr>
              <a:t>Adds DKIM-Signature</a:t>
            </a:r>
          </a:p>
          <a:p>
            <a:pPr algn="ctr"/>
            <a:r>
              <a:rPr sz="1000" b="0" i="0">
                <a:solidFill>
                  <a:srgbClr val="111B30"/>
                </a:solidFill>
                <a:latin typeface="Calibri"/>
              </a:rPr>
              <a:t>header (selector = mail,</a:t>
            </a:r>
          </a:p>
          <a:p>
            <a:pPr algn="ctr"/>
            <a:r>
              <a:rPr sz="1000" b="0" i="0">
                <a:solidFill>
                  <a:srgbClr val="111B30"/>
                </a:solidFill>
                <a:latin typeface="Calibri"/>
              </a:rPr>
              <a:t>d = &lt;domain&gt;)</a:t>
            </a:r>
          </a:p>
        </p:txBody>
      </p:sp>
      <p:sp>
        <p:nvSpPr>
          <p:cNvPr id="8" name="Rounded Rectangle 7"/>
          <p:cNvSpPr/>
          <p:nvPr/>
        </p:nvSpPr>
        <p:spPr>
          <a:xfrm>
            <a:off x="7406640" y="2194560"/>
            <a:ext cx="3291840" cy="1005840"/>
          </a:xfrm>
          <a:prstGeom prst="roundRect">
            <a:avLst/>
          </a:prstGeom>
          <a:solidFill>
            <a:srgbClr val="E8EEF7"/>
          </a:solidFill>
          <a:ln w="22225">
            <a:solidFill>
              <a:srgbClr val="3D5A80"/>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950" b="0" i="0">
                <a:solidFill>
                  <a:srgbClr val="111B30"/>
                </a:solidFill>
                <a:latin typeface="Calibri"/>
              </a:rPr>
              <a:t>Receiver Fetches</a:t>
            </a:r>
          </a:p>
          <a:p>
            <a:pPr algn="ctr"/>
            <a:r>
              <a:rPr sz="950" b="0" i="0">
                <a:solidFill>
                  <a:srgbClr val="111B30"/>
                </a:solidFill>
                <a:latin typeface="Calibri"/>
              </a:rPr>
              <a:t>Public Key: mail._domainkey.</a:t>
            </a:r>
          </a:p>
          <a:p>
            <a:pPr algn="ctr"/>
            <a:r>
              <a:rPr sz="950" b="0" i="0">
                <a:solidFill>
                  <a:srgbClr val="111B30"/>
                </a:solidFill>
                <a:latin typeface="Calibri"/>
              </a:rPr>
              <a:t>&lt;domain&gt; TXT</a:t>
            </a:r>
          </a:p>
        </p:txBody>
      </p:sp>
      <p:sp>
        <p:nvSpPr>
          <p:cNvPr id="9" name="Rounded Rectangle 8"/>
          <p:cNvSpPr/>
          <p:nvPr/>
        </p:nvSpPr>
        <p:spPr>
          <a:xfrm>
            <a:off x="3840480" y="3931920"/>
            <a:ext cx="3017520" cy="914400"/>
          </a:xfrm>
          <a:prstGeom prst="roundRect">
            <a:avLst/>
          </a:prstGeom>
          <a:solidFill>
            <a:srgbClr val="FFFFFF"/>
          </a:solidFill>
          <a:ln w="22225">
            <a:solidFill>
              <a:srgbClr val="3D5A80"/>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050" b="0" i="0">
                <a:solidFill>
                  <a:srgbClr val="111B30"/>
                </a:solidFill>
                <a:latin typeface="Calibri"/>
              </a:rPr>
              <a:t>Verifies Signature</a:t>
            </a:r>
          </a:p>
          <a:p>
            <a:pPr algn="ctr"/>
            <a:r>
              <a:rPr sz="1050" b="0" i="0">
                <a:solidFill>
                  <a:srgbClr val="111B30"/>
                </a:solidFill>
                <a:latin typeface="Calibri"/>
              </a:rPr>
              <a:t>Against Received</a:t>
            </a:r>
          </a:p>
          <a:p>
            <a:pPr algn="ctr"/>
            <a:r>
              <a:rPr sz="1050" b="0" i="0">
                <a:solidFill>
                  <a:srgbClr val="111B30"/>
                </a:solidFill>
                <a:latin typeface="Calibri"/>
              </a:rPr>
              <a:t>Message</a:t>
            </a:r>
          </a:p>
        </p:txBody>
      </p:sp>
      <p:sp>
        <p:nvSpPr>
          <p:cNvPr id="10" name="Rounded Rectangle 9"/>
          <p:cNvSpPr/>
          <p:nvPr/>
        </p:nvSpPr>
        <p:spPr>
          <a:xfrm>
            <a:off x="7406640" y="3931920"/>
            <a:ext cx="3291840" cy="914400"/>
          </a:xfrm>
          <a:prstGeom prst="roundRect">
            <a:avLst/>
          </a:prstGeom>
          <a:solidFill>
            <a:srgbClr val="FFFFFF"/>
          </a:solidFill>
          <a:ln w="22225">
            <a:solidFill>
              <a:srgbClr val="3D5A80"/>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950" b="1" i="0">
                <a:solidFill>
                  <a:srgbClr val="111B30"/>
                </a:solidFill>
                <a:latin typeface="Calibri"/>
              </a:rPr>
              <a:t>Match -&gt; DKIM Pass</a:t>
            </a:r>
          </a:p>
          <a:p>
            <a:pPr algn="ctr"/>
            <a:r>
              <a:rPr sz="950" b="1" i="0">
                <a:solidFill>
                  <a:srgbClr val="111B30"/>
                </a:solidFill>
                <a:latin typeface="Calibri"/>
              </a:rPr>
              <a:t>Mismatch -&gt; DKIM Fail</a:t>
            </a:r>
          </a:p>
          <a:p>
            <a:pPr algn="ctr"/>
            <a:r>
              <a:rPr sz="950" b="1" i="0">
                <a:solidFill>
                  <a:srgbClr val="111B30"/>
                </a:solidFill>
                <a:latin typeface="Calibri"/>
              </a:rPr>
              <a:t>(tampered or forged)</a:t>
            </a:r>
          </a:p>
        </p:txBody>
      </p:sp>
      <p:cxnSp>
        <p:nvCxnSpPr>
          <p:cNvPr id="11" name="Connector 10"/>
          <p:cNvCxnSpPr/>
          <p:nvPr/>
        </p:nvCxnSpPr>
        <p:spPr>
          <a:xfrm>
            <a:off x="3291840" y="2651760"/>
            <a:ext cx="548640" cy="45720"/>
          </a:xfrm>
          <a:prstGeom prst="line">
            <a:avLst/>
          </a:prstGeom>
          <a:ln w="22225">
            <a:solidFill>
              <a:srgbClr val="40404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6858000" y="2697480"/>
            <a:ext cx="548640" cy="0"/>
          </a:xfrm>
          <a:prstGeom prst="line">
            <a:avLst/>
          </a:prstGeom>
          <a:ln w="22225">
            <a:solidFill>
              <a:srgbClr val="40404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3" name="Connector 12"/>
          <p:cNvCxnSpPr>
            <a:cxnSpLocks/>
            <a:endCxn id="10" idx="0"/>
          </p:cNvCxnSpPr>
          <p:nvPr/>
        </p:nvCxnSpPr>
        <p:spPr>
          <a:xfrm>
            <a:off x="9052560" y="3200400"/>
            <a:ext cx="0" cy="731520"/>
          </a:xfrm>
          <a:prstGeom prst="line">
            <a:avLst/>
          </a:prstGeom>
          <a:ln w="22225">
            <a:solidFill>
              <a:srgbClr val="40404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H="1">
            <a:off x="6858000" y="4389120"/>
            <a:ext cx="548640" cy="0"/>
          </a:xfrm>
          <a:prstGeom prst="line">
            <a:avLst/>
          </a:prstGeom>
          <a:ln w="22225">
            <a:solidFill>
              <a:srgbClr val="404040"/>
            </a:solidFill>
            <a:tailEnd type="triangle" w="med" len="med"/>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96012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960120"/>
            <a:ext cx="12191695" cy="54864"/>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109728"/>
            <a:ext cx="11247120" cy="777240"/>
          </a:xfrm>
          <a:prstGeom prst="rect">
            <a:avLst/>
          </a:prstGeom>
          <a:noFill/>
        </p:spPr>
        <p:txBody>
          <a:bodyPr wrap="square" anchor="ctr">
            <a:spAutoFit/>
          </a:bodyPr>
          <a:lstStyle/>
          <a:p>
            <a:r>
              <a:rPr sz="2600" b="1" i="0">
                <a:solidFill>
                  <a:srgbClr val="FFFFFF"/>
                </a:solidFill>
                <a:latin typeface="Cambria"/>
              </a:rPr>
              <a:t>Live Demo: Verify the DKIM Key Pair</a:t>
            </a:r>
          </a:p>
        </p:txBody>
      </p:sp>
      <p:sp>
        <p:nvSpPr>
          <p:cNvPr id="6" name="TextBox 5"/>
          <p:cNvSpPr txBox="1"/>
          <p:nvPr/>
        </p:nvSpPr>
        <p:spPr>
          <a:xfrm>
            <a:off x="457200" y="1051560"/>
            <a:ext cx="10515600" cy="320040"/>
          </a:xfrm>
          <a:prstGeom prst="rect">
            <a:avLst/>
          </a:prstGeom>
          <a:noFill/>
        </p:spPr>
        <p:txBody>
          <a:bodyPr wrap="square">
            <a:spAutoFit/>
          </a:bodyPr>
          <a:lstStyle/>
          <a:p>
            <a:r>
              <a:rPr sz="1300" b="1" i="1">
                <a:solidFill>
                  <a:srgbClr val="00B4D8"/>
                </a:solidFill>
                <a:latin typeface="Calibri"/>
              </a:rPr>
              <a:t>LIVE DEMO</a:t>
            </a:r>
          </a:p>
        </p:txBody>
      </p:sp>
      <p:sp>
        <p:nvSpPr>
          <p:cNvPr id="7" name="TextBox 6"/>
          <p:cNvSpPr txBox="1"/>
          <p:nvPr/>
        </p:nvSpPr>
        <p:spPr>
          <a:xfrm>
            <a:off x="640080" y="1508760"/>
            <a:ext cx="10881360" cy="4937760"/>
          </a:xfrm>
          <a:prstGeom prst="rect">
            <a:avLst/>
          </a:prstGeom>
          <a:noFill/>
        </p:spPr>
        <p:txBody>
          <a:bodyPr wrap="square">
            <a:spAutoFit/>
          </a:bodyPr>
          <a:lstStyle/>
          <a:p>
            <a:pPr>
              <a:spcAft>
                <a:spcPts val="600"/>
              </a:spcAft>
            </a:pPr>
            <a:r>
              <a:rPr sz="1350" b="0" i="0">
                <a:solidFill>
                  <a:srgbClr val="111B30"/>
                </a:solidFill>
                <a:latin typeface="Courier New"/>
              </a:rPr>
              <a:t>opendkim-testkey -d &lt;domain&gt; -s mail -vvv</a:t>
            </a:r>
          </a:p>
          <a:p>
            <a:pPr>
              <a:spcAft>
                <a:spcPts val="600"/>
              </a:spcAft>
            </a:pPr>
            <a:r>
              <a:rPr sz="1350" b="0" i="1">
                <a:solidFill>
                  <a:srgbClr val="6B7480"/>
                </a:solidFill>
                <a:latin typeface="Courier New"/>
              </a:rPr>
              <a:t># confirms the private signing key matches the currently published public DNS record</a:t>
            </a:r>
          </a:p>
          <a:p>
            <a:pPr>
              <a:spcAft>
                <a:spcPts val="600"/>
              </a:spcAft>
            </a:pPr>
            <a:r>
              <a:rPr sz="1350" b="0" i="1">
                <a:solidFill>
                  <a:srgbClr val="6B7480"/>
                </a:solidFill>
                <a:latin typeface="Courier New"/>
              </a:rPr>
              <a:t># expect: 'key OK' (or the benign 'key not secure' note if the zone itself isn't DNSSEC-signed)</a:t>
            </a:r>
          </a:p>
          <a:p>
            <a:pPr>
              <a:spcAft>
                <a:spcPts val="600"/>
              </a:spcAft>
            </a:pPr>
            <a:r>
              <a:rPr sz="1350" b="0" i="1">
                <a:solidFill>
                  <a:srgbClr val="6B7480"/>
                </a:solidFill>
                <a:latin typeface="Courier New"/>
              </a:rPr>
              <a:t># opendkim.conf: Domain &lt;domain&gt;, Selector mail, KeyFile /etc/opendkim/keys/&lt;domain&gt;/mail.private</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96012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960120"/>
            <a:ext cx="12191695" cy="54864"/>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109728"/>
            <a:ext cx="11247120" cy="777240"/>
          </a:xfrm>
          <a:prstGeom prst="rect">
            <a:avLst/>
          </a:prstGeom>
          <a:noFill/>
        </p:spPr>
        <p:txBody>
          <a:bodyPr wrap="square" anchor="ctr">
            <a:spAutoFit/>
          </a:bodyPr>
          <a:lstStyle/>
          <a:p>
            <a:r>
              <a:rPr sz="2600" b="1" i="0">
                <a:solidFill>
                  <a:srgbClr val="FFFFFF"/>
                </a:solidFill>
                <a:latin typeface="Cambria"/>
              </a:rPr>
              <a:t>DMARC: Domain-based Message Authentication, Reporting &amp; Conformance</a:t>
            </a:r>
          </a:p>
        </p:txBody>
      </p:sp>
      <p:sp>
        <p:nvSpPr>
          <p:cNvPr id="6" name="TextBox 5"/>
          <p:cNvSpPr txBox="1"/>
          <p:nvPr/>
        </p:nvSpPr>
        <p:spPr>
          <a:xfrm>
            <a:off x="640080" y="1371600"/>
            <a:ext cx="10881360" cy="5029200"/>
          </a:xfrm>
          <a:prstGeom prst="rect">
            <a:avLst/>
          </a:prstGeom>
          <a:noFill/>
        </p:spPr>
        <p:txBody>
          <a:bodyPr wrap="square">
            <a:spAutoFit/>
          </a:bodyPr>
          <a:lstStyle/>
          <a:p>
            <a:pPr>
              <a:lnSpc>
                <a:spcPct val="125000"/>
              </a:lnSpc>
              <a:spcAft>
                <a:spcPts val="1200"/>
              </a:spcAft>
            </a:pPr>
            <a:r>
              <a:rPr sz="1600" b="0" i="0">
                <a:solidFill>
                  <a:srgbClr val="111B30"/>
                </a:solidFill>
                <a:latin typeface="Calibri"/>
              </a:rPr>
              <a:t>•  Ties SPF and DKIM together and tells receivers what to do when a message fails both - the missing enforcement policy neither standard defines on its own</a:t>
            </a:r>
          </a:p>
          <a:p>
            <a:pPr>
              <a:lnSpc>
                <a:spcPct val="125000"/>
              </a:lnSpc>
              <a:spcAft>
                <a:spcPts val="1200"/>
              </a:spcAft>
            </a:pPr>
            <a:r>
              <a:rPr sz="1600" b="0" i="0">
                <a:solidFill>
                  <a:srgbClr val="111B30"/>
                </a:solidFill>
                <a:latin typeface="Calibri"/>
              </a:rPr>
              <a:t>•  Published as a DNS TXT record at _dmarc.&lt;domain&gt;: v=DMARC1; p=&lt;policy&gt;; rua=mailto:&lt;reports address&gt;</a:t>
            </a:r>
          </a:p>
          <a:p>
            <a:pPr>
              <a:lnSpc>
                <a:spcPct val="125000"/>
              </a:lnSpc>
              <a:spcAft>
                <a:spcPts val="1200"/>
              </a:spcAft>
            </a:pPr>
            <a:r>
              <a:rPr sz="1600" b="0" i="0">
                <a:solidFill>
                  <a:srgbClr val="111B30"/>
                </a:solidFill>
                <a:latin typeface="Calibri"/>
              </a:rPr>
              <a:t>•  Alignment matters, not just pass/fail: the domain in the visible "From:" header must align with the domain that passed SPF or DKIM - otherwise a message can pass both individually yet still be a spoof of a different "From:" domain</a:t>
            </a:r>
          </a:p>
          <a:p>
            <a:pPr>
              <a:lnSpc>
                <a:spcPct val="125000"/>
              </a:lnSpc>
              <a:spcAft>
                <a:spcPts val="1200"/>
              </a:spcAft>
            </a:pPr>
            <a:r>
              <a:rPr sz="1600" b="0" i="0">
                <a:solidFill>
                  <a:srgbClr val="111B30"/>
                </a:solidFill>
                <a:latin typeface="Calibri"/>
              </a:rPr>
              <a:t>•  The rua= reporting address is what makes DMARC an iterative, data-driven rollout rather than a guess - aggregate reports show exactly what legitimate mail would have been affected before you enforce anything</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96012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960120"/>
            <a:ext cx="12191695" cy="54864"/>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109728"/>
            <a:ext cx="11247120" cy="777240"/>
          </a:xfrm>
          <a:prstGeom prst="rect">
            <a:avLst/>
          </a:prstGeom>
          <a:noFill/>
        </p:spPr>
        <p:txBody>
          <a:bodyPr wrap="square" anchor="ctr">
            <a:spAutoFit/>
          </a:bodyPr>
          <a:lstStyle/>
          <a:p>
            <a:r>
              <a:rPr sz="2600" b="1" i="0">
                <a:solidFill>
                  <a:srgbClr val="FFFFFF"/>
                </a:solidFill>
                <a:latin typeface="Cambria"/>
              </a:rPr>
              <a:t>DMARC Policy Progression</a:t>
            </a:r>
          </a:p>
        </p:txBody>
      </p:sp>
      <p:graphicFrame>
        <p:nvGraphicFramePr>
          <p:cNvPr id="6" name="Table 5"/>
          <p:cNvGraphicFramePr>
            <a:graphicFrameLocks noGrp="1"/>
          </p:cNvGraphicFramePr>
          <p:nvPr/>
        </p:nvGraphicFramePr>
        <p:xfrm>
          <a:off x="640080" y="1188720"/>
          <a:ext cx="10911535" cy="2560320"/>
        </p:xfrm>
        <a:graphic>
          <a:graphicData uri="http://schemas.openxmlformats.org/drawingml/2006/table">
            <a:tbl>
              <a:tblPr firstRow="1" bandRow="1">
                <a:tableStyleId>{5C22544A-7EE6-4342-B048-85BDC9FD1C3A}</a:tableStyleId>
              </a:tblPr>
              <a:tblGrid>
                <a:gridCol w="237744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5790895">
                  <a:extLst>
                    <a:ext uri="{9D8B030D-6E8A-4147-A177-3AD203B41FA5}">
                      <a16:colId xmlns:a16="http://schemas.microsoft.com/office/drawing/2014/main" val="20002"/>
                    </a:ext>
                  </a:extLst>
                </a:gridCol>
              </a:tblGrid>
              <a:tr h="512064">
                <a:tc>
                  <a:txBody>
                    <a:bodyPr/>
                    <a:lstStyle/>
                    <a:p>
                      <a:pPr algn="ctr"/>
                      <a:r>
                        <a:rPr sz="1300" b="1" i="0">
                          <a:solidFill>
                            <a:srgbClr val="FFFFFF"/>
                          </a:solidFill>
                          <a:latin typeface="Calibri"/>
                        </a:rPr>
                        <a:t>Stage</a:t>
                      </a:r>
                    </a:p>
                  </a:txBody>
                  <a:tcPr anchor="ctr">
                    <a:solidFill>
                      <a:srgbClr val="1B2A4A"/>
                    </a:solidFill>
                  </a:tcPr>
                </a:tc>
                <a:tc>
                  <a:txBody>
                    <a:bodyPr/>
                    <a:lstStyle/>
                    <a:p>
                      <a:pPr algn="ctr"/>
                      <a:r>
                        <a:rPr sz="1300" b="1" i="0">
                          <a:solidFill>
                            <a:srgbClr val="FFFFFF"/>
                          </a:solidFill>
                          <a:latin typeface="Calibri"/>
                        </a:rPr>
                        <a:t>Policy</a:t>
                      </a:r>
                    </a:p>
                  </a:txBody>
                  <a:tcPr anchor="ctr">
                    <a:solidFill>
                      <a:srgbClr val="1B2A4A"/>
                    </a:solidFill>
                  </a:tcPr>
                </a:tc>
                <a:tc>
                  <a:txBody>
                    <a:bodyPr/>
                    <a:lstStyle/>
                    <a:p>
                      <a:pPr algn="ctr"/>
                      <a:r>
                        <a:rPr sz="1300" b="1" i="0">
                          <a:solidFill>
                            <a:srgbClr val="FFFFFF"/>
                          </a:solidFill>
                          <a:latin typeface="Calibri"/>
                        </a:rPr>
                        <a:t>What Happens to Failing Mail</a:t>
                      </a:r>
                    </a:p>
                  </a:txBody>
                  <a:tcPr anchor="ctr">
                    <a:solidFill>
                      <a:srgbClr val="1B2A4A"/>
                    </a:solidFill>
                  </a:tcPr>
                </a:tc>
                <a:extLst>
                  <a:ext uri="{0D108BD9-81ED-4DB2-BD59-A6C34878D82A}">
                    <a16:rowId xmlns:a16="http://schemas.microsoft.com/office/drawing/2014/main" val="10000"/>
                  </a:ext>
                </a:extLst>
              </a:tr>
              <a:tr h="512064">
                <a:tc>
                  <a:txBody>
                    <a:bodyPr/>
                    <a:lstStyle/>
                    <a:p>
                      <a:r>
                        <a:rPr sz="1200" b="0" i="0">
                          <a:solidFill>
                            <a:srgbClr val="111B30"/>
                          </a:solidFill>
                          <a:latin typeface="Calibri"/>
                        </a:rPr>
                        <a:t>1. Monitor</a:t>
                      </a:r>
                    </a:p>
                  </a:txBody>
                  <a:tcPr anchor="ctr">
                    <a:solidFill>
                      <a:srgbClr val="E8EEF7"/>
                    </a:solidFill>
                  </a:tcPr>
                </a:tc>
                <a:tc>
                  <a:txBody>
                    <a:bodyPr/>
                    <a:lstStyle/>
                    <a:p>
                      <a:r>
                        <a:rPr sz="1200" b="0" i="0">
                          <a:solidFill>
                            <a:srgbClr val="111B30"/>
                          </a:solidFill>
                          <a:latin typeface="Calibri"/>
                        </a:rPr>
                        <a:t>p=none</a:t>
                      </a:r>
                    </a:p>
                  </a:txBody>
                  <a:tcPr anchor="ctr">
                    <a:solidFill>
                      <a:srgbClr val="E8EEF7"/>
                    </a:solidFill>
                  </a:tcPr>
                </a:tc>
                <a:tc>
                  <a:txBody>
                    <a:bodyPr/>
                    <a:lstStyle/>
                    <a:p>
                      <a:r>
                        <a:rPr sz="1200" b="0" i="0">
                          <a:solidFill>
                            <a:srgbClr val="111B30"/>
                          </a:solidFill>
                          <a:latin typeface="Calibri"/>
                        </a:rPr>
                        <a:t>Nothing - failing mail is delivered normally; only aggregate reports are generated</a:t>
                      </a:r>
                    </a:p>
                  </a:txBody>
                  <a:tcPr anchor="ctr">
                    <a:solidFill>
                      <a:srgbClr val="E8EEF7"/>
                    </a:solidFill>
                  </a:tcPr>
                </a:tc>
                <a:extLst>
                  <a:ext uri="{0D108BD9-81ED-4DB2-BD59-A6C34878D82A}">
                    <a16:rowId xmlns:a16="http://schemas.microsoft.com/office/drawing/2014/main" val="10001"/>
                  </a:ext>
                </a:extLst>
              </a:tr>
              <a:tr h="512064">
                <a:tc>
                  <a:txBody>
                    <a:bodyPr/>
                    <a:lstStyle/>
                    <a:p>
                      <a:r>
                        <a:rPr sz="1200" b="0" i="0">
                          <a:solidFill>
                            <a:srgbClr val="111B30"/>
                          </a:solidFill>
                          <a:latin typeface="Calibri"/>
                        </a:rPr>
                        <a:t>2. Partial enforcement</a:t>
                      </a:r>
                    </a:p>
                  </a:txBody>
                  <a:tcPr anchor="ctr">
                    <a:solidFill>
                      <a:srgbClr val="FFFFFF"/>
                    </a:solidFill>
                  </a:tcPr>
                </a:tc>
                <a:tc>
                  <a:txBody>
                    <a:bodyPr/>
                    <a:lstStyle/>
                    <a:p>
                      <a:r>
                        <a:rPr sz="1200" b="0" i="0">
                          <a:solidFill>
                            <a:srgbClr val="111B30"/>
                          </a:solidFill>
                          <a:latin typeface="Calibri"/>
                        </a:rPr>
                        <a:t>p=quarantine; pct=10</a:t>
                      </a:r>
                    </a:p>
                  </a:txBody>
                  <a:tcPr anchor="ctr">
                    <a:solidFill>
                      <a:srgbClr val="FFFFFF"/>
                    </a:solidFill>
                  </a:tcPr>
                </a:tc>
                <a:tc>
                  <a:txBody>
                    <a:bodyPr/>
                    <a:lstStyle/>
                    <a:p>
                      <a:r>
                        <a:rPr sz="1200" b="0" i="0">
                          <a:solidFill>
                            <a:srgbClr val="111B30"/>
                          </a:solidFill>
                          <a:latin typeface="Calibri"/>
                        </a:rPr>
                        <a:t>10% of failing mail is quarantined (spam-foldered); the rest still delivered, reports continue</a:t>
                      </a:r>
                    </a:p>
                  </a:txBody>
                  <a:tcPr anchor="ctr">
                    <a:solidFill>
                      <a:srgbClr val="FFFFFF"/>
                    </a:solidFill>
                  </a:tcPr>
                </a:tc>
                <a:extLst>
                  <a:ext uri="{0D108BD9-81ED-4DB2-BD59-A6C34878D82A}">
                    <a16:rowId xmlns:a16="http://schemas.microsoft.com/office/drawing/2014/main" val="10002"/>
                  </a:ext>
                </a:extLst>
              </a:tr>
              <a:tr h="512064">
                <a:tc>
                  <a:txBody>
                    <a:bodyPr/>
                    <a:lstStyle/>
                    <a:p>
                      <a:r>
                        <a:rPr sz="1200" b="0" i="0">
                          <a:solidFill>
                            <a:srgbClr val="111B30"/>
                          </a:solidFill>
                          <a:latin typeface="Calibri"/>
                        </a:rPr>
                        <a:t>3. Full quarantine</a:t>
                      </a:r>
                    </a:p>
                  </a:txBody>
                  <a:tcPr anchor="ctr">
                    <a:solidFill>
                      <a:srgbClr val="E8EEF7"/>
                    </a:solidFill>
                  </a:tcPr>
                </a:tc>
                <a:tc>
                  <a:txBody>
                    <a:bodyPr/>
                    <a:lstStyle/>
                    <a:p>
                      <a:r>
                        <a:rPr sz="1200" b="0" i="0">
                          <a:solidFill>
                            <a:srgbClr val="111B30"/>
                          </a:solidFill>
                          <a:latin typeface="Calibri"/>
                        </a:rPr>
                        <a:t>p=quarantine; pct=100</a:t>
                      </a:r>
                    </a:p>
                  </a:txBody>
                  <a:tcPr anchor="ctr">
                    <a:solidFill>
                      <a:srgbClr val="E8EEF7"/>
                    </a:solidFill>
                  </a:tcPr>
                </a:tc>
                <a:tc>
                  <a:txBody>
                    <a:bodyPr/>
                    <a:lstStyle/>
                    <a:p>
                      <a:r>
                        <a:rPr sz="1200" b="0" i="0">
                          <a:solidFill>
                            <a:srgbClr val="111B30"/>
                          </a:solidFill>
                          <a:latin typeface="Calibri"/>
                        </a:rPr>
                        <a:t>All failing mail is quarantined - full visibility into real-world impact before rejecting outright</a:t>
                      </a:r>
                    </a:p>
                  </a:txBody>
                  <a:tcPr anchor="ctr">
                    <a:solidFill>
                      <a:srgbClr val="E8EEF7"/>
                    </a:solidFill>
                  </a:tcPr>
                </a:tc>
                <a:extLst>
                  <a:ext uri="{0D108BD9-81ED-4DB2-BD59-A6C34878D82A}">
                    <a16:rowId xmlns:a16="http://schemas.microsoft.com/office/drawing/2014/main" val="10003"/>
                  </a:ext>
                </a:extLst>
              </a:tr>
              <a:tr h="512064">
                <a:tc>
                  <a:txBody>
                    <a:bodyPr/>
                    <a:lstStyle/>
                    <a:p>
                      <a:r>
                        <a:rPr sz="1200" b="0" i="0">
                          <a:solidFill>
                            <a:srgbClr val="111B30"/>
                          </a:solidFill>
                          <a:latin typeface="Calibri"/>
                        </a:rPr>
                        <a:t>4. Full enforcement</a:t>
                      </a:r>
                    </a:p>
                  </a:txBody>
                  <a:tcPr anchor="ctr">
                    <a:solidFill>
                      <a:srgbClr val="FFFFFF"/>
                    </a:solidFill>
                  </a:tcPr>
                </a:tc>
                <a:tc>
                  <a:txBody>
                    <a:bodyPr/>
                    <a:lstStyle/>
                    <a:p>
                      <a:r>
                        <a:rPr sz="1200" b="0" i="0">
                          <a:solidFill>
                            <a:srgbClr val="111B30"/>
                          </a:solidFill>
                          <a:latin typeface="Calibri"/>
                        </a:rPr>
                        <a:t>p=reject</a:t>
                      </a:r>
                    </a:p>
                  </a:txBody>
                  <a:tcPr anchor="ctr">
                    <a:solidFill>
                      <a:srgbClr val="FFFFFF"/>
                    </a:solidFill>
                  </a:tcPr>
                </a:tc>
                <a:tc>
                  <a:txBody>
                    <a:bodyPr/>
                    <a:lstStyle/>
                    <a:p>
                      <a:r>
                        <a:rPr sz="1200" b="0" i="0">
                          <a:solidFill>
                            <a:srgbClr val="111B30"/>
                          </a:solidFill>
                          <a:latin typeface="Calibri"/>
                        </a:rPr>
                        <a:t>Failing mail is rejected outright at the receiving server - the end state of a mature deployment</a:t>
                      </a:r>
                    </a:p>
                  </a:txBody>
                  <a:tcPr anchor="ctr">
                    <a:solidFill>
                      <a:srgbClr val="FFFFFF"/>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0"/>
            <a:ext cx="12191695" cy="96012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960120"/>
            <a:ext cx="12191695" cy="54864"/>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109728"/>
            <a:ext cx="11247120" cy="777240"/>
          </a:xfrm>
          <a:prstGeom prst="rect">
            <a:avLst/>
          </a:prstGeom>
          <a:noFill/>
        </p:spPr>
        <p:txBody>
          <a:bodyPr wrap="square" anchor="ctr">
            <a:spAutoFit/>
          </a:bodyPr>
          <a:lstStyle/>
          <a:p>
            <a:r>
              <a:rPr sz="2600" b="1" i="0">
                <a:solidFill>
                  <a:srgbClr val="FFFFFF"/>
                </a:solidFill>
                <a:latin typeface="Cambria"/>
              </a:rPr>
              <a:t>DMARC Alignment Decision</a:t>
            </a:r>
          </a:p>
        </p:txBody>
      </p:sp>
      <p:sp>
        <p:nvSpPr>
          <p:cNvPr id="6" name="Rounded Rectangle 5"/>
          <p:cNvSpPr/>
          <p:nvPr/>
        </p:nvSpPr>
        <p:spPr>
          <a:xfrm>
            <a:off x="4937760" y="1280160"/>
            <a:ext cx="2377440" cy="731520"/>
          </a:xfrm>
          <a:prstGeom prst="roundRect">
            <a:avLst/>
          </a:prstGeom>
          <a:solidFill>
            <a:srgbClr val="FFFFFF"/>
          </a:solidFill>
          <a:ln w="22225">
            <a:solidFill>
              <a:srgbClr val="3D5A80"/>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150" b="0" i="0">
                <a:solidFill>
                  <a:srgbClr val="111B30"/>
                </a:solidFill>
                <a:latin typeface="Calibri"/>
              </a:rPr>
              <a:t>Inbound Message</a:t>
            </a:r>
          </a:p>
          <a:p>
            <a:pPr algn="ctr"/>
            <a:r>
              <a:rPr sz="1150" b="0" i="0">
                <a:solidFill>
                  <a:srgbClr val="111B30"/>
                </a:solidFill>
                <a:latin typeface="Calibri"/>
              </a:rPr>
              <a:t>Arrives</a:t>
            </a:r>
          </a:p>
        </p:txBody>
      </p:sp>
      <p:sp>
        <p:nvSpPr>
          <p:cNvPr id="7" name="Diamond 6"/>
          <p:cNvSpPr/>
          <p:nvPr/>
        </p:nvSpPr>
        <p:spPr>
          <a:xfrm>
            <a:off x="4480560" y="2560320"/>
            <a:ext cx="3291840" cy="1005840"/>
          </a:xfrm>
          <a:prstGeom prst="diamond">
            <a:avLst/>
          </a:prstGeom>
          <a:solidFill>
            <a:srgbClr val="E8EEF7"/>
          </a:solidFill>
          <a:ln w="22225">
            <a:solidFill>
              <a:srgbClr val="3D5A80"/>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950" b="1" i="0">
                <a:solidFill>
                  <a:srgbClr val="111B30"/>
                </a:solidFill>
                <a:latin typeface="Calibri"/>
              </a:rPr>
              <a:t>SPF or DKIM</a:t>
            </a:r>
          </a:p>
          <a:p>
            <a:pPr algn="ctr"/>
            <a:r>
              <a:rPr sz="950" b="1" i="0">
                <a:solidFill>
                  <a:srgbClr val="111B30"/>
                </a:solidFill>
                <a:latin typeface="Calibri"/>
              </a:rPr>
              <a:t>Passes AND Aligns</a:t>
            </a:r>
          </a:p>
          <a:p>
            <a:pPr algn="ctr"/>
            <a:r>
              <a:rPr sz="950" b="1" i="0">
                <a:solidFill>
                  <a:srgbClr val="111B30"/>
                </a:solidFill>
                <a:latin typeface="Calibri"/>
              </a:rPr>
              <a:t>with From: domain?</a:t>
            </a:r>
          </a:p>
        </p:txBody>
      </p:sp>
      <p:sp>
        <p:nvSpPr>
          <p:cNvPr id="8" name="Rounded Rectangle 7"/>
          <p:cNvSpPr/>
          <p:nvPr/>
        </p:nvSpPr>
        <p:spPr>
          <a:xfrm>
            <a:off x="640080" y="4297680"/>
            <a:ext cx="3291840" cy="914400"/>
          </a:xfrm>
          <a:prstGeom prst="roundRect">
            <a:avLst/>
          </a:prstGeom>
          <a:solidFill>
            <a:srgbClr val="FFFFFF"/>
          </a:solidFill>
          <a:ln w="22225">
            <a:solidFill>
              <a:srgbClr val="2E7D32"/>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100" b="1" i="0">
                <a:solidFill>
                  <a:srgbClr val="2E7D32"/>
                </a:solidFill>
                <a:latin typeface="Calibri"/>
              </a:rPr>
              <a:t>DMARC Pass -&gt;</a:t>
            </a:r>
          </a:p>
          <a:p>
            <a:pPr algn="ctr"/>
            <a:r>
              <a:rPr sz="1100" b="1" i="0">
                <a:solidFill>
                  <a:srgbClr val="2E7D32"/>
                </a:solidFill>
                <a:latin typeface="Calibri"/>
              </a:rPr>
              <a:t>Deliver Normally</a:t>
            </a:r>
          </a:p>
        </p:txBody>
      </p:sp>
      <p:sp>
        <p:nvSpPr>
          <p:cNvPr id="9" name="Rounded Rectangle 8"/>
          <p:cNvSpPr/>
          <p:nvPr/>
        </p:nvSpPr>
        <p:spPr>
          <a:xfrm>
            <a:off x="7884160" y="4297680"/>
            <a:ext cx="3291840" cy="1005840"/>
          </a:xfrm>
          <a:prstGeom prst="roundRect">
            <a:avLst/>
          </a:prstGeom>
          <a:solidFill>
            <a:srgbClr val="FFFFFF"/>
          </a:solidFill>
          <a:ln w="22225">
            <a:solidFill>
              <a:srgbClr val="B02A2A"/>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000" b="1" i="0" dirty="0">
                <a:solidFill>
                  <a:srgbClr val="B02A2A"/>
                </a:solidFill>
                <a:latin typeface="Calibri"/>
              </a:rPr>
              <a:t>DMARC Fail -&gt;</a:t>
            </a:r>
          </a:p>
          <a:p>
            <a:pPr algn="ctr"/>
            <a:r>
              <a:rPr sz="1000" b="1" i="0" dirty="0">
                <a:solidFill>
                  <a:srgbClr val="B02A2A"/>
                </a:solidFill>
                <a:latin typeface="Calibri"/>
              </a:rPr>
              <a:t>Apply Published Policy</a:t>
            </a:r>
          </a:p>
          <a:p>
            <a:pPr algn="ctr"/>
            <a:r>
              <a:rPr sz="1000" b="1" i="0" dirty="0">
                <a:solidFill>
                  <a:srgbClr val="B02A2A"/>
                </a:solidFill>
                <a:latin typeface="Calibri"/>
              </a:rPr>
              <a:t>(none/quarantine/reject)</a:t>
            </a:r>
          </a:p>
        </p:txBody>
      </p:sp>
      <p:cxnSp>
        <p:nvCxnSpPr>
          <p:cNvPr id="11" name="Connector 10"/>
          <p:cNvCxnSpPr/>
          <p:nvPr/>
        </p:nvCxnSpPr>
        <p:spPr>
          <a:xfrm>
            <a:off x="6126480" y="2011680"/>
            <a:ext cx="0" cy="548640"/>
          </a:xfrm>
          <a:prstGeom prst="line">
            <a:avLst/>
          </a:prstGeom>
          <a:ln w="22225">
            <a:solidFill>
              <a:srgbClr val="40404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a:off x="2286000" y="3063239"/>
            <a:ext cx="2194560" cy="1234441"/>
          </a:xfrm>
          <a:prstGeom prst="line">
            <a:avLst/>
          </a:prstGeom>
          <a:ln w="22225">
            <a:solidFill>
              <a:srgbClr val="2E7D32"/>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2377440" y="3479292"/>
            <a:ext cx="2011680" cy="365760"/>
          </a:xfrm>
          <a:prstGeom prst="rect">
            <a:avLst/>
          </a:prstGeom>
          <a:noFill/>
        </p:spPr>
        <p:txBody>
          <a:bodyPr wrap="square">
            <a:spAutoFit/>
          </a:bodyPr>
          <a:lstStyle/>
          <a:p>
            <a:pPr algn="ctr"/>
            <a:r>
              <a:rPr sz="950" b="0" i="1">
                <a:solidFill>
                  <a:srgbClr val="2E7D32"/>
                </a:solidFill>
                <a:latin typeface="Calibri"/>
              </a:rPr>
              <a:t>Yes</a:t>
            </a:r>
          </a:p>
        </p:txBody>
      </p:sp>
      <p:cxnSp>
        <p:nvCxnSpPr>
          <p:cNvPr id="14" name="Connector 13"/>
          <p:cNvCxnSpPr>
            <a:cxnSpLocks/>
            <a:endCxn id="9" idx="0"/>
          </p:cNvCxnSpPr>
          <p:nvPr/>
        </p:nvCxnSpPr>
        <p:spPr>
          <a:xfrm>
            <a:off x="7772400" y="3063239"/>
            <a:ext cx="1757680" cy="1234441"/>
          </a:xfrm>
          <a:prstGeom prst="line">
            <a:avLst/>
          </a:prstGeom>
          <a:ln w="22225">
            <a:solidFill>
              <a:srgbClr val="B02A2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126479" y="3479292"/>
            <a:ext cx="2011680" cy="365760"/>
          </a:xfrm>
          <a:prstGeom prst="rect">
            <a:avLst/>
          </a:prstGeom>
          <a:noFill/>
        </p:spPr>
        <p:txBody>
          <a:bodyPr wrap="square">
            <a:spAutoFit/>
          </a:bodyPr>
          <a:lstStyle/>
          <a:p>
            <a:pPr algn="ctr"/>
            <a:r>
              <a:rPr sz="950" b="0" i="1">
                <a:solidFill>
                  <a:srgbClr val="B02A2A"/>
                </a:solidFill>
                <a:latin typeface="Calibri"/>
              </a:rPr>
              <a:t>No</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96012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960120"/>
            <a:ext cx="12191695" cy="54864"/>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109728"/>
            <a:ext cx="11247120" cy="777240"/>
          </a:xfrm>
          <a:prstGeom prst="rect">
            <a:avLst/>
          </a:prstGeom>
          <a:noFill/>
        </p:spPr>
        <p:txBody>
          <a:bodyPr wrap="square" anchor="ctr">
            <a:spAutoFit/>
          </a:bodyPr>
          <a:lstStyle/>
          <a:p>
            <a:r>
              <a:rPr sz="2600" b="1" i="0">
                <a:solidFill>
                  <a:srgbClr val="FFFFFF"/>
                </a:solidFill>
                <a:latin typeface="Cambria"/>
              </a:rPr>
              <a:t>Full Pipeline: SPF + DKIM + DMARC Together</a:t>
            </a:r>
          </a:p>
        </p:txBody>
      </p:sp>
      <p:sp>
        <p:nvSpPr>
          <p:cNvPr id="6" name="Rounded Rectangle 5"/>
          <p:cNvSpPr/>
          <p:nvPr/>
        </p:nvSpPr>
        <p:spPr>
          <a:xfrm>
            <a:off x="365760" y="2331720"/>
            <a:ext cx="2011680" cy="822960"/>
          </a:xfrm>
          <a:prstGeom prst="roundRect">
            <a:avLst/>
          </a:prstGeom>
          <a:solidFill>
            <a:srgbClr val="FFFFFF"/>
          </a:solidFill>
          <a:ln w="22225">
            <a:solidFill>
              <a:srgbClr val="3D5A80"/>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050" b="0" i="0">
                <a:solidFill>
                  <a:srgbClr val="111B30"/>
                </a:solidFill>
                <a:latin typeface="Calibri"/>
              </a:rPr>
              <a:t>Inbound Message</a:t>
            </a:r>
          </a:p>
        </p:txBody>
      </p:sp>
      <p:sp>
        <p:nvSpPr>
          <p:cNvPr id="7" name="Rounded Rectangle 6"/>
          <p:cNvSpPr/>
          <p:nvPr/>
        </p:nvSpPr>
        <p:spPr>
          <a:xfrm>
            <a:off x="2651760" y="1508760"/>
            <a:ext cx="2286000" cy="822960"/>
          </a:xfrm>
          <a:prstGeom prst="roundRect">
            <a:avLst/>
          </a:prstGeom>
          <a:solidFill>
            <a:srgbClr val="FFFFFF"/>
          </a:solidFill>
          <a:ln w="22225">
            <a:solidFill>
              <a:srgbClr val="3D5A80"/>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900" b="0" i="0">
                <a:solidFill>
                  <a:srgbClr val="111B30"/>
                </a:solidFill>
                <a:latin typeface="Calibri"/>
              </a:rPr>
              <a:t>SPF Check:</a:t>
            </a:r>
          </a:p>
          <a:p>
            <a:pPr algn="ctr"/>
            <a:r>
              <a:rPr sz="900" b="0" i="0">
                <a:solidFill>
                  <a:srgbClr val="111B30"/>
                </a:solidFill>
                <a:latin typeface="Calibri"/>
              </a:rPr>
              <a:t>Sending IP Authorized?</a:t>
            </a:r>
          </a:p>
        </p:txBody>
      </p:sp>
      <p:sp>
        <p:nvSpPr>
          <p:cNvPr id="8" name="Rounded Rectangle 7"/>
          <p:cNvSpPr/>
          <p:nvPr/>
        </p:nvSpPr>
        <p:spPr>
          <a:xfrm>
            <a:off x="2651760" y="3154680"/>
            <a:ext cx="2286000" cy="822960"/>
          </a:xfrm>
          <a:prstGeom prst="roundRect">
            <a:avLst/>
          </a:prstGeom>
          <a:solidFill>
            <a:srgbClr val="FFFFFF"/>
          </a:solidFill>
          <a:ln w="22225">
            <a:solidFill>
              <a:srgbClr val="3D5A80"/>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900" b="0" i="0">
                <a:solidFill>
                  <a:srgbClr val="111B30"/>
                </a:solidFill>
                <a:latin typeface="Calibri"/>
              </a:rPr>
              <a:t>DKIM Check:</a:t>
            </a:r>
          </a:p>
          <a:p>
            <a:pPr algn="ctr"/>
            <a:r>
              <a:rPr sz="900" b="0" i="0">
                <a:solidFill>
                  <a:srgbClr val="111B30"/>
                </a:solidFill>
                <a:latin typeface="Calibri"/>
              </a:rPr>
              <a:t>Signature Valid?</a:t>
            </a:r>
          </a:p>
        </p:txBody>
      </p:sp>
      <p:sp>
        <p:nvSpPr>
          <p:cNvPr id="9" name="Diamond 8"/>
          <p:cNvSpPr/>
          <p:nvPr/>
        </p:nvSpPr>
        <p:spPr>
          <a:xfrm>
            <a:off x="5212080" y="2103120"/>
            <a:ext cx="2377440" cy="1051560"/>
          </a:xfrm>
          <a:prstGeom prst="diamond">
            <a:avLst/>
          </a:prstGeom>
          <a:solidFill>
            <a:srgbClr val="E8EEF7"/>
          </a:solidFill>
          <a:ln w="25400">
            <a:solidFill>
              <a:srgbClr val="00B4D8"/>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900" b="1" i="0">
                <a:solidFill>
                  <a:srgbClr val="111B30"/>
                </a:solidFill>
                <a:latin typeface="Calibri"/>
              </a:rPr>
              <a:t>DMARC Alignment:</a:t>
            </a:r>
          </a:p>
          <a:p>
            <a:pPr algn="ctr"/>
            <a:r>
              <a:rPr sz="900" b="1" i="0">
                <a:solidFill>
                  <a:srgbClr val="111B30"/>
                </a:solidFill>
                <a:latin typeface="Calibri"/>
              </a:rPr>
              <a:t>Does a Pass Match</a:t>
            </a:r>
          </a:p>
          <a:p>
            <a:pPr algn="ctr"/>
            <a:r>
              <a:rPr sz="900" b="1" i="0">
                <a:solidFill>
                  <a:srgbClr val="111B30"/>
                </a:solidFill>
                <a:latin typeface="Calibri"/>
              </a:rPr>
              <a:t>the From: Domain?</a:t>
            </a:r>
          </a:p>
        </p:txBody>
      </p:sp>
      <p:sp>
        <p:nvSpPr>
          <p:cNvPr id="10" name="Rounded Rectangle 9"/>
          <p:cNvSpPr/>
          <p:nvPr/>
        </p:nvSpPr>
        <p:spPr>
          <a:xfrm>
            <a:off x="7863840" y="1325880"/>
            <a:ext cx="2743200" cy="914400"/>
          </a:xfrm>
          <a:prstGeom prst="roundRect">
            <a:avLst/>
          </a:prstGeom>
          <a:solidFill>
            <a:srgbClr val="FFFFFF"/>
          </a:solidFill>
          <a:ln w="22225">
            <a:solidFill>
              <a:srgbClr val="3D5A80"/>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900" b="0" i="0">
                <a:solidFill>
                  <a:srgbClr val="111B30"/>
                </a:solidFill>
                <a:latin typeface="Calibri"/>
              </a:rPr>
              <a:t>Apply DMARC Policy</a:t>
            </a:r>
          </a:p>
          <a:p>
            <a:pPr algn="ctr"/>
            <a:r>
              <a:rPr sz="900" b="0" i="0">
                <a:solidFill>
                  <a:srgbClr val="111B30"/>
                </a:solidFill>
                <a:latin typeface="Calibri"/>
              </a:rPr>
              <a:t>(none/quarantine/reject)</a:t>
            </a:r>
          </a:p>
          <a:p>
            <a:pPr algn="ctr"/>
            <a:r>
              <a:rPr sz="900" b="0" i="0">
                <a:solidFill>
                  <a:srgbClr val="111B30"/>
                </a:solidFill>
                <a:latin typeface="Calibri"/>
              </a:rPr>
              <a:t>per current stage</a:t>
            </a:r>
          </a:p>
        </p:txBody>
      </p:sp>
      <p:sp>
        <p:nvSpPr>
          <p:cNvPr id="11" name="Rounded Rectangle 10"/>
          <p:cNvSpPr/>
          <p:nvPr/>
        </p:nvSpPr>
        <p:spPr>
          <a:xfrm>
            <a:off x="7863840" y="2971800"/>
            <a:ext cx="2743200" cy="731520"/>
          </a:xfrm>
          <a:prstGeom prst="roundRect">
            <a:avLst/>
          </a:prstGeom>
          <a:solidFill>
            <a:srgbClr val="FFFFFF"/>
          </a:solidFill>
          <a:ln w="22225">
            <a:solidFill>
              <a:srgbClr val="2E7D32"/>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950" b="1" i="0">
                <a:solidFill>
                  <a:srgbClr val="2E7D32"/>
                </a:solidFill>
                <a:latin typeface="Calibri"/>
              </a:rPr>
              <a:t>Pass -&gt; Delivered</a:t>
            </a:r>
          </a:p>
          <a:p>
            <a:pPr algn="ctr"/>
            <a:r>
              <a:rPr sz="950" b="1" i="0">
                <a:solidFill>
                  <a:srgbClr val="2E7D32"/>
                </a:solidFill>
                <a:latin typeface="Calibri"/>
              </a:rPr>
              <a:t>to Inbox Normally</a:t>
            </a:r>
          </a:p>
        </p:txBody>
      </p:sp>
      <p:sp>
        <p:nvSpPr>
          <p:cNvPr id="12" name="Rounded Rectangle 11"/>
          <p:cNvSpPr/>
          <p:nvPr/>
        </p:nvSpPr>
        <p:spPr>
          <a:xfrm>
            <a:off x="5120640" y="3566160"/>
            <a:ext cx="2560320" cy="640080"/>
          </a:xfrm>
          <a:prstGeom prst="roundRect">
            <a:avLst/>
          </a:prstGeom>
          <a:solidFill>
            <a:srgbClr val="E8EEF7"/>
          </a:solidFill>
          <a:ln w="22225">
            <a:solidFill>
              <a:srgbClr val="3D5A80"/>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900" b="0" i="0">
                <a:solidFill>
                  <a:srgbClr val="111B30"/>
                </a:solidFill>
                <a:latin typeface="Calibri"/>
              </a:rPr>
              <a:t>Aggregate Report</a:t>
            </a:r>
          </a:p>
          <a:p>
            <a:pPr algn="ctr"/>
            <a:r>
              <a:rPr sz="900" b="0" i="0">
                <a:solidFill>
                  <a:srgbClr val="111B30"/>
                </a:solidFill>
                <a:latin typeface="Calibri"/>
              </a:rPr>
              <a:t>-&gt; rua= address</a:t>
            </a:r>
          </a:p>
        </p:txBody>
      </p:sp>
      <p:cxnSp>
        <p:nvCxnSpPr>
          <p:cNvPr id="13" name="Connector 12"/>
          <p:cNvCxnSpPr/>
          <p:nvPr/>
        </p:nvCxnSpPr>
        <p:spPr>
          <a:xfrm flipV="1">
            <a:off x="2377440" y="1920240"/>
            <a:ext cx="274320" cy="822960"/>
          </a:xfrm>
          <a:prstGeom prst="line">
            <a:avLst/>
          </a:prstGeom>
          <a:ln w="22225">
            <a:solidFill>
              <a:srgbClr val="40404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2377440" y="2743200"/>
            <a:ext cx="274320" cy="822960"/>
          </a:xfrm>
          <a:prstGeom prst="line">
            <a:avLst/>
          </a:prstGeom>
          <a:ln w="22225">
            <a:solidFill>
              <a:srgbClr val="40404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4937760" y="1920240"/>
            <a:ext cx="274320" cy="708660"/>
          </a:xfrm>
          <a:prstGeom prst="line">
            <a:avLst/>
          </a:prstGeom>
          <a:ln w="22225">
            <a:solidFill>
              <a:srgbClr val="40404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V="1">
            <a:off x="4937760" y="2628900"/>
            <a:ext cx="274320" cy="937260"/>
          </a:xfrm>
          <a:prstGeom prst="line">
            <a:avLst/>
          </a:prstGeom>
          <a:ln w="22225">
            <a:solidFill>
              <a:srgbClr val="40404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V="1">
            <a:off x="6400800" y="1783080"/>
            <a:ext cx="1463040" cy="320040"/>
          </a:xfrm>
          <a:prstGeom prst="line">
            <a:avLst/>
          </a:prstGeom>
          <a:ln w="22225">
            <a:solidFill>
              <a:srgbClr val="B02A2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6126479" y="1741932"/>
            <a:ext cx="2011680" cy="365760"/>
          </a:xfrm>
          <a:prstGeom prst="rect">
            <a:avLst/>
          </a:prstGeom>
          <a:noFill/>
        </p:spPr>
        <p:txBody>
          <a:bodyPr wrap="square">
            <a:spAutoFit/>
          </a:bodyPr>
          <a:lstStyle/>
          <a:p>
            <a:pPr algn="ctr"/>
            <a:r>
              <a:rPr sz="950" b="0" i="1">
                <a:solidFill>
                  <a:srgbClr val="B02A2A"/>
                </a:solidFill>
                <a:latin typeface="Calibri"/>
              </a:rPr>
              <a:t>Fail</a:t>
            </a:r>
          </a:p>
        </p:txBody>
      </p:sp>
      <p:cxnSp>
        <p:nvCxnSpPr>
          <p:cNvPr id="19" name="Connector 18"/>
          <p:cNvCxnSpPr/>
          <p:nvPr/>
        </p:nvCxnSpPr>
        <p:spPr>
          <a:xfrm>
            <a:off x="7589520" y="2628900"/>
            <a:ext cx="274320" cy="708660"/>
          </a:xfrm>
          <a:prstGeom prst="line">
            <a:avLst/>
          </a:prstGeom>
          <a:ln w="22225">
            <a:solidFill>
              <a:srgbClr val="2E7D32"/>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6720840" y="2782062"/>
            <a:ext cx="2011680" cy="365760"/>
          </a:xfrm>
          <a:prstGeom prst="rect">
            <a:avLst/>
          </a:prstGeom>
          <a:noFill/>
        </p:spPr>
        <p:txBody>
          <a:bodyPr wrap="square">
            <a:spAutoFit/>
          </a:bodyPr>
          <a:lstStyle/>
          <a:p>
            <a:pPr algn="ctr"/>
            <a:r>
              <a:rPr sz="950" b="0" i="1">
                <a:solidFill>
                  <a:srgbClr val="2E7D32"/>
                </a:solidFill>
                <a:latin typeface="Calibri"/>
              </a:rPr>
              <a:t>Pass</a:t>
            </a:r>
          </a:p>
        </p:txBody>
      </p:sp>
      <p:cxnSp>
        <p:nvCxnSpPr>
          <p:cNvPr id="21" name="Connector 20"/>
          <p:cNvCxnSpPr/>
          <p:nvPr/>
        </p:nvCxnSpPr>
        <p:spPr>
          <a:xfrm>
            <a:off x="6400800" y="3154679"/>
            <a:ext cx="0" cy="411481"/>
          </a:xfrm>
          <a:prstGeom prst="line">
            <a:avLst/>
          </a:prstGeom>
          <a:ln w="22225">
            <a:solidFill>
              <a:srgbClr val="6B7480"/>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640080" y="4434840"/>
            <a:ext cx="10881360" cy="365760"/>
          </a:xfrm>
          <a:prstGeom prst="rect">
            <a:avLst/>
          </a:prstGeom>
          <a:noFill/>
        </p:spPr>
        <p:txBody>
          <a:bodyPr wrap="square">
            <a:spAutoFit/>
          </a:bodyPr>
          <a:lstStyle/>
          <a:p>
            <a:pPr algn="ctr"/>
            <a:r>
              <a:rPr sz="1100" b="0" i="1">
                <a:solidFill>
                  <a:srgbClr val="6B7480"/>
                </a:solidFill>
                <a:latin typeface="Calibri"/>
              </a:rPr>
              <a:t>This is the complete authentication pipeline every inbound message passes through once all three standards are deployed together.</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96012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960120"/>
            <a:ext cx="12191695" cy="54864"/>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109728"/>
            <a:ext cx="11247120" cy="777240"/>
          </a:xfrm>
          <a:prstGeom prst="rect">
            <a:avLst/>
          </a:prstGeom>
          <a:noFill/>
        </p:spPr>
        <p:txBody>
          <a:bodyPr wrap="square" anchor="ctr">
            <a:spAutoFit/>
          </a:bodyPr>
          <a:lstStyle/>
          <a:p>
            <a:r>
              <a:rPr sz="2600" b="1" i="0">
                <a:solidFill>
                  <a:srgbClr val="FFFFFF"/>
                </a:solidFill>
                <a:latin typeface="Cambria"/>
              </a:rPr>
              <a:t>Email Spoofing / Business Email Compromise (BEC)</a:t>
            </a:r>
          </a:p>
        </p:txBody>
      </p:sp>
      <p:sp>
        <p:nvSpPr>
          <p:cNvPr id="6" name="TextBox 5"/>
          <p:cNvSpPr txBox="1"/>
          <p:nvPr/>
        </p:nvSpPr>
        <p:spPr>
          <a:xfrm>
            <a:off x="457200" y="1051560"/>
            <a:ext cx="10515600" cy="320040"/>
          </a:xfrm>
          <a:prstGeom prst="rect">
            <a:avLst/>
          </a:prstGeom>
          <a:noFill/>
        </p:spPr>
        <p:txBody>
          <a:bodyPr wrap="square">
            <a:spAutoFit/>
          </a:bodyPr>
          <a:lstStyle/>
          <a:p>
            <a:r>
              <a:rPr sz="1300" b="1" i="1">
                <a:solidFill>
                  <a:srgbClr val="B02A2A"/>
                </a:solidFill>
                <a:latin typeface="Calibri"/>
              </a:rPr>
              <a:t>Attack Spotlight</a:t>
            </a:r>
          </a:p>
        </p:txBody>
      </p:sp>
      <p:sp>
        <p:nvSpPr>
          <p:cNvPr id="7" name="Rounded Rectangle 6"/>
          <p:cNvSpPr/>
          <p:nvPr/>
        </p:nvSpPr>
        <p:spPr>
          <a:xfrm>
            <a:off x="640080" y="1965960"/>
            <a:ext cx="3291840" cy="1371600"/>
          </a:xfrm>
          <a:prstGeom prst="roundRect">
            <a:avLst/>
          </a:prstGeom>
          <a:solidFill>
            <a:srgbClr val="FFFFFF"/>
          </a:solidFill>
          <a:ln w="25400">
            <a:solidFill>
              <a:srgbClr val="B02A2A"/>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150" b="0" i="0">
                <a:solidFill>
                  <a:srgbClr val="111B30"/>
                </a:solidFill>
                <a:latin typeface="Calibri"/>
              </a:rPr>
              <a:t>Domain has no SPF/</a:t>
            </a:r>
          </a:p>
          <a:p>
            <a:pPr algn="ctr"/>
            <a:r>
              <a:rPr sz="1150" b="0" i="0">
                <a:solidFill>
                  <a:srgbClr val="111B30"/>
                </a:solidFill>
                <a:latin typeface="Calibri"/>
              </a:rPr>
              <a:t>DKIM/DMARC enforcement</a:t>
            </a:r>
          </a:p>
          <a:p>
            <a:pPr algn="ctr"/>
            <a:r>
              <a:rPr sz="1150" b="0" i="0">
                <a:solidFill>
                  <a:srgbClr val="111B30"/>
                </a:solidFill>
                <a:latin typeface="Calibri"/>
              </a:rPr>
              <a:t>published (or policy is p=none only)</a:t>
            </a:r>
          </a:p>
        </p:txBody>
      </p:sp>
      <p:sp>
        <p:nvSpPr>
          <p:cNvPr id="8" name="Rounded Rectangle 7"/>
          <p:cNvSpPr/>
          <p:nvPr/>
        </p:nvSpPr>
        <p:spPr>
          <a:xfrm>
            <a:off x="4297680" y="1965960"/>
            <a:ext cx="3566160" cy="1371600"/>
          </a:xfrm>
          <a:prstGeom prst="roundRect">
            <a:avLst/>
          </a:prstGeom>
          <a:solidFill>
            <a:srgbClr val="FFFFFF"/>
          </a:solidFill>
          <a:ln w="25400">
            <a:solidFill>
              <a:srgbClr val="B02A2A"/>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150" b="1" i="0">
                <a:solidFill>
                  <a:srgbClr val="111B30"/>
                </a:solidFill>
                <a:latin typeface="Calibri"/>
              </a:rPr>
              <a:t>Attacker sends mail</a:t>
            </a:r>
          </a:p>
          <a:p>
            <a:pPr algn="ctr"/>
            <a:r>
              <a:rPr sz="1150" b="1" i="0">
                <a:solidFill>
                  <a:srgbClr val="111B30"/>
                </a:solidFill>
                <a:latin typeface="Calibri"/>
              </a:rPr>
              <a:t>with a forged "From:"</a:t>
            </a:r>
          </a:p>
          <a:p>
            <a:pPr algn="ctr"/>
            <a:r>
              <a:rPr sz="1150" b="1" i="0">
                <a:solidFill>
                  <a:srgbClr val="111B30"/>
                </a:solidFill>
                <a:latin typeface="Calibri"/>
              </a:rPr>
              <a:t>header impersonating an executive or vendor</a:t>
            </a:r>
          </a:p>
        </p:txBody>
      </p:sp>
      <p:sp>
        <p:nvSpPr>
          <p:cNvPr id="9" name="Rounded Rectangle 8"/>
          <p:cNvSpPr/>
          <p:nvPr/>
        </p:nvSpPr>
        <p:spPr>
          <a:xfrm>
            <a:off x="8229600" y="1965960"/>
            <a:ext cx="3291840" cy="1371600"/>
          </a:xfrm>
          <a:prstGeom prst="roundRect">
            <a:avLst/>
          </a:prstGeom>
          <a:solidFill>
            <a:srgbClr val="FFFFFF"/>
          </a:solidFill>
          <a:ln w="25400">
            <a:solidFill>
              <a:srgbClr val="B02A2A"/>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150" b="0" i="0">
                <a:solidFill>
                  <a:srgbClr val="111B30"/>
                </a:solidFill>
                <a:latin typeface="Calibri"/>
              </a:rPr>
              <a:t>Recipient trusts the</a:t>
            </a:r>
          </a:p>
          <a:p>
            <a:pPr algn="ctr"/>
            <a:r>
              <a:rPr sz="1150" b="0" i="0">
                <a:solidFill>
                  <a:srgbClr val="111B30"/>
                </a:solidFill>
                <a:latin typeface="Calibri"/>
              </a:rPr>
              <a:t>apparent sender, wires funds</a:t>
            </a:r>
          </a:p>
          <a:p>
            <a:pPr algn="ctr"/>
            <a:r>
              <a:rPr sz="1150" b="0" i="0">
                <a:solidFill>
                  <a:srgbClr val="111B30"/>
                </a:solidFill>
                <a:latin typeface="Calibri"/>
              </a:rPr>
              <a:t>or discloses credentials/data</a:t>
            </a:r>
          </a:p>
        </p:txBody>
      </p:sp>
      <p:cxnSp>
        <p:nvCxnSpPr>
          <p:cNvPr id="10" name="Connector 9"/>
          <p:cNvCxnSpPr/>
          <p:nvPr/>
        </p:nvCxnSpPr>
        <p:spPr>
          <a:xfrm>
            <a:off x="3931920" y="2651760"/>
            <a:ext cx="365760" cy="0"/>
          </a:xfrm>
          <a:prstGeom prst="line">
            <a:avLst/>
          </a:prstGeom>
          <a:ln w="25400">
            <a:solidFill>
              <a:srgbClr val="B02A2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863840" y="2651760"/>
            <a:ext cx="365760" cy="0"/>
          </a:xfrm>
          <a:prstGeom prst="line">
            <a:avLst/>
          </a:prstGeom>
          <a:ln w="25400">
            <a:solidFill>
              <a:srgbClr val="B02A2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640080" y="3794760"/>
            <a:ext cx="10881360" cy="1737360"/>
          </a:xfrm>
          <a:prstGeom prst="roundRect">
            <a:avLst/>
          </a:prstGeom>
          <a:solidFill>
            <a:srgbClr val="E8EEF7"/>
          </a:solidFill>
          <a:ln w="25400">
            <a:solidFill>
              <a:srgbClr val="2E7D32"/>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300" b="1" i="0">
                <a:solidFill>
                  <a:srgbClr val="2E7D32"/>
                </a:solidFill>
                <a:latin typeface="Calibri"/>
              </a:rPr>
              <a:t>DEFENSE:  </a:t>
            </a:r>
            <a:r>
              <a:rPr sz="1300" b="0" i="0">
                <a:solidFill>
                  <a:srgbClr val="111B30"/>
                </a:solidFill>
                <a:latin typeface="Calibri"/>
              </a:rPr>
              <a:t>Publish and enforce SPF (-all), DKIM, and DMARC (working toward p=reject) - a receiving server rejects the forged message before it ever reaches an inbox</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96012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960120"/>
            <a:ext cx="12191695" cy="54864"/>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109728"/>
            <a:ext cx="11247120" cy="777240"/>
          </a:xfrm>
          <a:prstGeom prst="rect">
            <a:avLst/>
          </a:prstGeom>
          <a:noFill/>
        </p:spPr>
        <p:txBody>
          <a:bodyPr wrap="square" anchor="ctr">
            <a:spAutoFit/>
          </a:bodyPr>
          <a:lstStyle/>
          <a:p>
            <a:r>
              <a:rPr sz="2600" b="1" i="0">
                <a:solidFill>
                  <a:srgbClr val="FFFFFF"/>
                </a:solidFill>
                <a:latin typeface="Cambria"/>
              </a:rPr>
              <a:t>Open Mail Relay Abuse</a:t>
            </a:r>
          </a:p>
        </p:txBody>
      </p:sp>
      <p:sp>
        <p:nvSpPr>
          <p:cNvPr id="6" name="TextBox 5"/>
          <p:cNvSpPr txBox="1"/>
          <p:nvPr/>
        </p:nvSpPr>
        <p:spPr>
          <a:xfrm>
            <a:off x="457200" y="1051560"/>
            <a:ext cx="10515600" cy="320040"/>
          </a:xfrm>
          <a:prstGeom prst="rect">
            <a:avLst/>
          </a:prstGeom>
          <a:noFill/>
        </p:spPr>
        <p:txBody>
          <a:bodyPr wrap="square">
            <a:spAutoFit/>
          </a:bodyPr>
          <a:lstStyle/>
          <a:p>
            <a:r>
              <a:rPr sz="1300" b="1" i="1">
                <a:solidFill>
                  <a:srgbClr val="B02A2A"/>
                </a:solidFill>
                <a:latin typeface="Calibri"/>
              </a:rPr>
              <a:t>Attack Spotlight</a:t>
            </a:r>
          </a:p>
        </p:txBody>
      </p:sp>
      <p:sp>
        <p:nvSpPr>
          <p:cNvPr id="7" name="Rounded Rectangle 6"/>
          <p:cNvSpPr/>
          <p:nvPr/>
        </p:nvSpPr>
        <p:spPr>
          <a:xfrm>
            <a:off x="640080" y="1965960"/>
            <a:ext cx="3291840" cy="1371600"/>
          </a:xfrm>
          <a:prstGeom prst="roundRect">
            <a:avLst/>
          </a:prstGeom>
          <a:solidFill>
            <a:srgbClr val="FFFFFF"/>
          </a:solidFill>
          <a:ln w="25400">
            <a:solidFill>
              <a:srgbClr val="B02A2A"/>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150" b="0" i="0">
                <a:solidFill>
                  <a:srgbClr val="111B30"/>
                </a:solidFill>
                <a:latin typeface="Calibri"/>
              </a:rPr>
              <a:t>Mail server accepts</a:t>
            </a:r>
          </a:p>
          <a:p>
            <a:pPr algn="ctr"/>
            <a:r>
              <a:rPr sz="1150" b="0" i="0">
                <a:solidFill>
                  <a:srgbClr val="111B30"/>
                </a:solidFill>
                <a:latin typeface="Calibri"/>
              </a:rPr>
              <a:t>and relays messages from</a:t>
            </a:r>
          </a:p>
          <a:p>
            <a:pPr algn="ctr"/>
            <a:r>
              <a:rPr sz="1150" b="0" i="0">
                <a:solidFill>
                  <a:srgbClr val="111B30"/>
                </a:solidFill>
                <a:latin typeface="Calibri"/>
              </a:rPr>
              <a:t>any sender to any recipient, unauthenticated</a:t>
            </a:r>
          </a:p>
        </p:txBody>
      </p:sp>
      <p:sp>
        <p:nvSpPr>
          <p:cNvPr id="8" name="Rounded Rectangle 7"/>
          <p:cNvSpPr/>
          <p:nvPr/>
        </p:nvSpPr>
        <p:spPr>
          <a:xfrm>
            <a:off x="4297680" y="1965960"/>
            <a:ext cx="3566160" cy="1371600"/>
          </a:xfrm>
          <a:prstGeom prst="roundRect">
            <a:avLst/>
          </a:prstGeom>
          <a:solidFill>
            <a:srgbClr val="FFFFFF"/>
          </a:solidFill>
          <a:ln w="25400">
            <a:solidFill>
              <a:srgbClr val="B02A2A"/>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150" b="1" i="0">
                <a:solidFill>
                  <a:srgbClr val="111B30"/>
                </a:solidFill>
                <a:latin typeface="Calibri"/>
              </a:rPr>
              <a:t>Attacker uses the</a:t>
            </a:r>
          </a:p>
          <a:p>
            <a:pPr algn="ctr"/>
            <a:r>
              <a:rPr sz="1150" b="1" i="0">
                <a:solidFill>
                  <a:srgbClr val="111B30"/>
                </a:solidFill>
                <a:latin typeface="Calibri"/>
              </a:rPr>
              <a:t>open relay to send spam</a:t>
            </a:r>
          </a:p>
          <a:p>
            <a:pPr algn="ctr"/>
            <a:r>
              <a:rPr sz="1150" b="1" i="0">
                <a:solidFill>
                  <a:srgbClr val="111B30"/>
                </a:solidFill>
                <a:latin typeface="Calibri"/>
              </a:rPr>
              <a:t>or phishing that appears to originate from a trusted server</a:t>
            </a:r>
          </a:p>
        </p:txBody>
      </p:sp>
      <p:sp>
        <p:nvSpPr>
          <p:cNvPr id="9" name="Rounded Rectangle 8"/>
          <p:cNvSpPr/>
          <p:nvPr/>
        </p:nvSpPr>
        <p:spPr>
          <a:xfrm>
            <a:off x="8229600" y="1965960"/>
            <a:ext cx="3291840" cy="1371600"/>
          </a:xfrm>
          <a:prstGeom prst="roundRect">
            <a:avLst/>
          </a:prstGeom>
          <a:solidFill>
            <a:srgbClr val="FFFFFF"/>
          </a:solidFill>
          <a:ln w="25400">
            <a:solidFill>
              <a:srgbClr val="B02A2A"/>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150" b="0" i="0">
                <a:solidFill>
                  <a:srgbClr val="111B30"/>
                </a:solidFill>
                <a:latin typeface="Calibri"/>
              </a:rPr>
              <a:t>The relay's own domain</a:t>
            </a:r>
          </a:p>
          <a:p>
            <a:pPr algn="ctr"/>
            <a:r>
              <a:rPr sz="1150" b="0" i="0">
                <a:solidFill>
                  <a:srgbClr val="111B30"/>
                </a:solidFill>
                <a:latin typeface="Calibri"/>
              </a:rPr>
              <a:t>and IP reputation is</a:t>
            </a:r>
          </a:p>
          <a:p>
            <a:pPr algn="ctr"/>
            <a:r>
              <a:rPr sz="1150" b="0" i="0">
                <a:solidFill>
                  <a:srgbClr val="111B30"/>
                </a:solidFill>
                <a:latin typeface="Calibri"/>
              </a:rPr>
              <a:t>destroyed - legitimate mail from that server gets blocked everywhere</a:t>
            </a:r>
          </a:p>
        </p:txBody>
      </p:sp>
      <p:cxnSp>
        <p:nvCxnSpPr>
          <p:cNvPr id="10" name="Connector 9"/>
          <p:cNvCxnSpPr/>
          <p:nvPr/>
        </p:nvCxnSpPr>
        <p:spPr>
          <a:xfrm>
            <a:off x="3931920" y="2651760"/>
            <a:ext cx="365760" cy="0"/>
          </a:xfrm>
          <a:prstGeom prst="line">
            <a:avLst/>
          </a:prstGeom>
          <a:ln w="25400">
            <a:solidFill>
              <a:srgbClr val="B02A2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863840" y="2651760"/>
            <a:ext cx="365760" cy="0"/>
          </a:xfrm>
          <a:prstGeom prst="line">
            <a:avLst/>
          </a:prstGeom>
          <a:ln w="25400">
            <a:solidFill>
              <a:srgbClr val="B02A2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640080" y="3794760"/>
            <a:ext cx="10881360" cy="1737360"/>
          </a:xfrm>
          <a:prstGeom prst="roundRect">
            <a:avLst/>
          </a:prstGeom>
          <a:solidFill>
            <a:srgbClr val="E8EEF7"/>
          </a:solidFill>
          <a:ln w="25400">
            <a:solidFill>
              <a:srgbClr val="2E7D32"/>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r>
              <a:rPr sz="1300" b="1" i="0">
                <a:solidFill>
                  <a:srgbClr val="2E7D32"/>
                </a:solidFill>
                <a:latin typeface="Calibri"/>
              </a:rPr>
              <a:t>DEFENSE:  </a:t>
            </a:r>
            <a:r>
              <a:rPr sz="1300" b="0" i="0">
                <a:solidFill>
                  <a:srgbClr val="111B30"/>
                </a:solidFill>
                <a:latin typeface="Calibri"/>
              </a:rPr>
              <a:t>Restrict relaying to authenticated users and explicitly defined internal networks only - never relay for arbitrary external senders</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96012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960120"/>
            <a:ext cx="12191695" cy="54864"/>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109728"/>
            <a:ext cx="11247120" cy="777240"/>
          </a:xfrm>
          <a:prstGeom prst="rect">
            <a:avLst/>
          </a:prstGeom>
          <a:noFill/>
        </p:spPr>
        <p:txBody>
          <a:bodyPr wrap="square" anchor="ctr">
            <a:spAutoFit/>
          </a:bodyPr>
          <a:lstStyle/>
          <a:p>
            <a:r>
              <a:rPr sz="2600" b="1" i="0">
                <a:solidFill>
                  <a:srgbClr val="FFFFFF"/>
                </a:solidFill>
                <a:latin typeface="Cambria"/>
              </a:rPr>
              <a:t>Mail Server Hardening Beyond Authentication Standards</a:t>
            </a:r>
          </a:p>
        </p:txBody>
      </p:sp>
      <p:sp>
        <p:nvSpPr>
          <p:cNvPr id="6" name="TextBox 5"/>
          <p:cNvSpPr txBox="1"/>
          <p:nvPr/>
        </p:nvSpPr>
        <p:spPr>
          <a:xfrm>
            <a:off x="640080" y="1371600"/>
            <a:ext cx="10881360" cy="5029200"/>
          </a:xfrm>
          <a:prstGeom prst="rect">
            <a:avLst/>
          </a:prstGeom>
          <a:noFill/>
        </p:spPr>
        <p:txBody>
          <a:bodyPr wrap="square">
            <a:spAutoFit/>
          </a:bodyPr>
          <a:lstStyle/>
          <a:p>
            <a:pPr>
              <a:lnSpc>
                <a:spcPct val="125000"/>
              </a:lnSpc>
              <a:spcAft>
                <a:spcPts val="1200"/>
              </a:spcAft>
            </a:pPr>
            <a:r>
              <a:rPr sz="1600" b="0" i="0">
                <a:solidFill>
                  <a:srgbClr val="111B30"/>
                </a:solidFill>
                <a:latin typeface="Calibri"/>
              </a:rPr>
              <a:t>•  Relay restriction: only relay for authenticated users or explicitly trusted internal networks - the direct fix for open relay abuse</a:t>
            </a:r>
          </a:p>
          <a:p>
            <a:pPr>
              <a:lnSpc>
                <a:spcPct val="125000"/>
              </a:lnSpc>
              <a:spcAft>
                <a:spcPts val="1200"/>
              </a:spcAft>
            </a:pPr>
            <a:r>
              <a:rPr sz="1600" b="0" i="0">
                <a:solidFill>
                  <a:srgbClr val="111B30"/>
                </a:solidFill>
                <a:latin typeface="Calibri"/>
              </a:rPr>
              <a:t>•  TLS enforcement: require STARTTLS for both inbound and outbound mail so message content isn't transmitted in plaintext across the internet</a:t>
            </a:r>
          </a:p>
          <a:p>
            <a:pPr>
              <a:lnSpc>
                <a:spcPct val="125000"/>
              </a:lnSpc>
              <a:spcAft>
                <a:spcPts val="1200"/>
              </a:spcAft>
            </a:pPr>
            <a:r>
              <a:rPr sz="1600" b="0" i="0">
                <a:solidFill>
                  <a:srgbClr val="111B30"/>
                </a:solidFill>
                <a:latin typeface="Calibri"/>
              </a:rPr>
              <a:t>•  Anti-spam/anti-malware scanning: layer content-based filtering in addition to sender-authentication - SPF/DKIM/DMARC confirm identity, not that a message's content is benign</a:t>
            </a:r>
          </a:p>
          <a:p>
            <a:pPr>
              <a:lnSpc>
                <a:spcPct val="125000"/>
              </a:lnSpc>
              <a:spcAft>
                <a:spcPts val="1200"/>
              </a:spcAft>
            </a:pPr>
            <a:r>
              <a:rPr sz="1600" b="0" i="0">
                <a:solidFill>
                  <a:srgbClr val="111B30"/>
                </a:solidFill>
                <a:latin typeface="Calibri"/>
              </a:rPr>
              <a:t>•  Rate limiting and connection throttling: slow down mass-sending abuse from a single compromised account before it damages the domain's reputation</a:t>
            </a:r>
          </a:p>
          <a:p>
            <a:pPr>
              <a:lnSpc>
                <a:spcPct val="125000"/>
              </a:lnSpc>
              <a:spcAft>
                <a:spcPts val="1200"/>
              </a:spcAft>
            </a:pPr>
            <a:r>
              <a:rPr sz="1600" b="0" i="0">
                <a:solidFill>
                  <a:srgbClr val="111B30"/>
                </a:solidFill>
                <a:latin typeface="Calibri"/>
              </a:rPr>
              <a:t>•  None of these substitute for SPF/DKIM/DMARC, and none of SPF/DKIM/DMARC substitute for these - they're independent, complementary layers</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96012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960120"/>
            <a:ext cx="12191695" cy="54864"/>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109728"/>
            <a:ext cx="11247120" cy="777240"/>
          </a:xfrm>
          <a:prstGeom prst="rect">
            <a:avLst/>
          </a:prstGeom>
          <a:noFill/>
        </p:spPr>
        <p:txBody>
          <a:bodyPr wrap="square" anchor="ctr">
            <a:spAutoFit/>
          </a:bodyPr>
          <a:lstStyle/>
          <a:p>
            <a:r>
              <a:rPr sz="2600" b="1" i="0">
                <a:solidFill>
                  <a:srgbClr val="FFFFFF"/>
                </a:solidFill>
                <a:latin typeface="Cambria"/>
              </a:rPr>
              <a:t>Assessing a Domain's Email Security Posture</a:t>
            </a:r>
          </a:p>
        </p:txBody>
      </p:sp>
      <p:sp>
        <p:nvSpPr>
          <p:cNvPr id="6" name="TextBox 5"/>
          <p:cNvSpPr txBox="1"/>
          <p:nvPr/>
        </p:nvSpPr>
        <p:spPr>
          <a:xfrm>
            <a:off x="640080" y="1371600"/>
            <a:ext cx="10881360" cy="5029200"/>
          </a:xfrm>
          <a:prstGeom prst="rect">
            <a:avLst/>
          </a:prstGeom>
          <a:noFill/>
        </p:spPr>
        <p:txBody>
          <a:bodyPr wrap="square">
            <a:spAutoFit/>
          </a:bodyPr>
          <a:lstStyle/>
          <a:p>
            <a:pPr>
              <a:lnSpc>
                <a:spcPct val="125000"/>
              </a:lnSpc>
              <a:spcAft>
                <a:spcPts val="1200"/>
              </a:spcAft>
            </a:pPr>
            <a:r>
              <a:rPr sz="1600" b="0" i="0">
                <a:solidFill>
                  <a:srgbClr val="111B30"/>
                </a:solidFill>
                <a:latin typeface="Calibri"/>
              </a:rPr>
              <a:t>•  Check for an SPF record and its enforcement level (-all vs. ~all vs. missing entirely)</a:t>
            </a:r>
          </a:p>
          <a:p>
            <a:pPr>
              <a:lnSpc>
                <a:spcPct val="125000"/>
              </a:lnSpc>
              <a:spcAft>
                <a:spcPts val="1200"/>
              </a:spcAft>
            </a:pPr>
            <a:r>
              <a:rPr sz="1600" b="0" i="0">
                <a:solidFill>
                  <a:srgbClr val="111B30"/>
                </a:solidFill>
                <a:latin typeface="Calibri"/>
              </a:rPr>
              <a:t>•  Check for a DKIM selector record and confirm it's actually referenced by outbound mail (a published key nobody signs with is meaningless)</a:t>
            </a:r>
          </a:p>
          <a:p>
            <a:pPr>
              <a:lnSpc>
                <a:spcPct val="125000"/>
              </a:lnSpc>
              <a:spcAft>
                <a:spcPts val="1200"/>
              </a:spcAft>
            </a:pPr>
            <a:r>
              <a:rPr sz="1600" b="0" i="0">
                <a:solidFill>
                  <a:srgbClr val="111B30"/>
                </a:solidFill>
                <a:latin typeface="Calibri"/>
              </a:rPr>
              <a:t>•  Check the DMARC record's policy stage (none/quarantine/reject) and whether a reporting address is configured</a:t>
            </a:r>
          </a:p>
          <a:p>
            <a:pPr>
              <a:lnSpc>
                <a:spcPct val="125000"/>
              </a:lnSpc>
              <a:spcAft>
                <a:spcPts val="1200"/>
              </a:spcAft>
            </a:pPr>
            <a:r>
              <a:rPr sz="1600" b="0" i="0">
                <a:solidFill>
                  <a:srgbClr val="111B30"/>
                </a:solidFill>
                <a:latin typeface="Calibri"/>
              </a:rPr>
              <a:t>•  Rate the overall posture: Strong (DMARC at p=reject, SPF hard fail, DKIM active), Moderate (DMARC present but not yet enforcing, or SPF soft fail), Weak (any standard missing entirely, or DMARC absent)</a:t>
            </a:r>
          </a:p>
          <a:p>
            <a:pPr>
              <a:lnSpc>
                <a:spcPct val="125000"/>
              </a:lnSpc>
              <a:spcAft>
                <a:spcPts val="1200"/>
              </a:spcAft>
            </a:pPr>
            <a:r>
              <a:rPr sz="1600" b="0" i="0">
                <a:solidFill>
                  <a:srgbClr val="111B30"/>
                </a:solidFill>
                <a:latin typeface="Calibri"/>
              </a:rPr>
              <a:t>•  This same three-check methodology applies to any domain, not just ones you administer - useful for assessing third-party or vendor domains before trusting mail that claims to come from them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103</TotalTime>
  <Words>7244</Words>
  <Application>Microsoft Office PowerPoint</Application>
  <PresentationFormat>Widescreen</PresentationFormat>
  <Paragraphs>484</Paragraphs>
  <Slides>48</Slides>
  <Notes>46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48</vt:i4>
      </vt:variant>
    </vt:vector>
  </HeadingPairs>
  <TitlesOfParts>
    <vt:vector size="54" baseType="lpstr">
      <vt:lpstr>Aptos</vt: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Sebastian Hayes</cp:lastModifiedBy>
  <cp:revision>4</cp:revision>
  <dcterms:created xsi:type="dcterms:W3CDTF">2013-01-27T09:14:16Z</dcterms:created>
  <dcterms:modified xsi:type="dcterms:W3CDTF">2026-09-24T22:53:11Z</dcterms:modified>
  <cp:category/>
</cp:coreProperties>
</file>