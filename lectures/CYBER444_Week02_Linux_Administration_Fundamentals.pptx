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2"/>
    <p:sldId id="257" r:id="rId3"/>
    <p:sldId id="258" r:id="rId4"/>
    <p:sldId id="278" r:id="rId5"/>
    <p:sldId id="259" r:id="rId6"/>
    <p:sldId id="260" r:id="rId7"/>
    <p:sldId id="283" r:id="rId34"/>
    <p:sldId id="261" r:id="rId8"/>
    <p:sldId id="262" r:id="rId9"/>
    <p:sldId id="263" r:id="rId10"/>
    <p:sldId id="284" r:id="rId35"/>
    <p:sldId id="264" r:id="rId11"/>
    <p:sldId id="265" r:id="rId12"/>
    <p:sldId id="285" r:id="rId36"/>
    <p:sldId id="266" r:id="rId13"/>
    <p:sldId id="279" r:id="rId14"/>
    <p:sldId id="286" r:id="rId37"/>
    <p:sldId id="267" r:id="rId15"/>
    <p:sldId id="280" r:id="rId16"/>
    <p:sldId id="287" r:id="rId38"/>
    <p:sldId id="281" r:id="rId17"/>
    <p:sldId id="268" r:id="rId18"/>
    <p:sldId id="269" r:id="rId19"/>
    <p:sldId id="270" r:id="rId20"/>
    <p:sldId id="288" r:id="rId39"/>
    <p:sldId id="271" r:id="rId21"/>
    <p:sldId id="272" r:id="rId22"/>
    <p:sldId id="289" r:id="rId40"/>
    <p:sldId id="273" r:id="rId23"/>
    <p:sldId id="282" r:id="rId24"/>
    <p:sldId id="274" r:id="rId25"/>
    <p:sldId id="275" r:id="rId26"/>
    <p:sldId id="276" r:id="rId27"/>
    <p:sldId id="277"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2095" autoAdjust="0"/>
  </p:normalViewPr>
  <p:slideViewPr>
    <p:cSldViewPr snapToGrid="0" snapToObjects="1">
      <p:cViewPr varScale="1">
        <p:scale>
          <a:sx n="109" d="100"/>
          <a:sy n="109" d="100"/>
        </p:scale>
        <p:origin x="126" y="5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0.xml"/><Relationship Id="rId11" Type="http://schemas.openxmlformats.org/officeDocument/2006/relationships/slide" Target="slides/slide12.xml"/><Relationship Id="rId12" Type="http://schemas.openxmlformats.org/officeDocument/2006/relationships/slide" Target="slides/slide13.xml"/><Relationship Id="rId13" Type="http://schemas.openxmlformats.org/officeDocument/2006/relationships/slide" Target="slides/slide15.xml"/><Relationship Id="rId14" Type="http://schemas.openxmlformats.org/officeDocument/2006/relationships/slide" Target="slides/slide16.xml"/><Relationship Id="rId15" Type="http://schemas.openxmlformats.org/officeDocument/2006/relationships/slide" Target="slides/slide18.xml"/><Relationship Id="rId16" Type="http://schemas.openxmlformats.org/officeDocument/2006/relationships/slide" Target="slides/slide19.xml"/><Relationship Id="rId17" Type="http://schemas.openxmlformats.org/officeDocument/2006/relationships/slide" Target="slides/slide21.xml"/><Relationship Id="rId18" Type="http://schemas.openxmlformats.org/officeDocument/2006/relationships/slide" Target="slides/slide22.xml"/><Relationship Id="rId19" Type="http://schemas.openxmlformats.org/officeDocument/2006/relationships/slide" Target="slides/slide23.xml"/><Relationship Id="rId20" Type="http://schemas.openxmlformats.org/officeDocument/2006/relationships/slide" Target="slides/slide24.xml"/><Relationship Id="rId21" Type="http://schemas.openxmlformats.org/officeDocument/2006/relationships/slide" Target="slides/slide26.xml"/><Relationship Id="rId22" Type="http://schemas.openxmlformats.org/officeDocument/2006/relationships/slide" Target="slides/slide27.xml"/><Relationship Id="rId23" Type="http://schemas.openxmlformats.org/officeDocument/2006/relationships/slide" Target="slides/slide29.xml"/><Relationship Id="rId24" Type="http://schemas.openxmlformats.org/officeDocument/2006/relationships/slide" Target="slides/slide30.xml"/><Relationship Id="rId25" Type="http://schemas.openxmlformats.org/officeDocument/2006/relationships/slide" Target="slides/slide31.xml"/><Relationship Id="rId26" Type="http://schemas.openxmlformats.org/officeDocument/2006/relationships/slide" Target="slides/slide32.xml"/><Relationship Id="rId27" Type="http://schemas.openxmlformats.org/officeDocument/2006/relationships/slide" Target="slides/slide33.xml"/><Relationship Id="rId28" Type="http://schemas.openxmlformats.org/officeDocument/2006/relationships/slide" Target="slides/slide34.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 Id="rId34" Type="http://schemas.openxmlformats.org/officeDocument/2006/relationships/slide" Target="slides/slide7.xml"/><Relationship Id="rId35" Type="http://schemas.openxmlformats.org/officeDocument/2006/relationships/slide" Target="slides/slide11.xml"/><Relationship Id="rId36" Type="http://schemas.openxmlformats.org/officeDocument/2006/relationships/slide" Target="slides/slide14.xml"/><Relationship Id="rId37" Type="http://schemas.openxmlformats.org/officeDocument/2006/relationships/slide" Target="slides/slide17.xml"/><Relationship Id="rId38" Type="http://schemas.openxmlformats.org/officeDocument/2006/relationships/slide" Target="slides/slide20.xml"/><Relationship Id="rId39" Type="http://schemas.openxmlformats.org/officeDocument/2006/relationships/slide" Target="slides/slide25.xml"/><Relationship Id="rId40"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869222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 min) Welcome back. Quick roadmap for today: six blocks - filesystem &amp; access control, sudo design, network services (DNS/DHCP/NFS), time sync, firewall scoping &amp; audit interpretation, then a walkthrough of this week's Lab 2 and Homework 2. Total runtime is designed to land close to two hours across both class days; adjust pacing live if a section runs long, but don't skip the DHCP/NFS syntax slides or the remediation-prioritization slide - both tracks lean on that material directly in HW 2. Frame everything as "you'll use this in twenty minutes," not "this is good to know" - most of this deck maps to something students touch hands-on in Lab 2 or have to write about in HW 2 within the same week.</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 min) Transition slide. Section 1 covers the foundation everything else this semester builds on: where things live on disk, who's allowed to touch them, and how to express "these three people need three different levels of access to the same path" - exactly the ACL problem Lab 2 Part 4 hands them.</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(~5 min) Walk the table top to bottom, but don't just read it - open a terminal and run `ls -la /</a:t>
            </a:r>
            <a:r>
              <a:rPr dirty="0" err="1"/>
              <a:t>etc</a:t>
            </a:r>
            <a:r>
              <a:rPr dirty="0"/>
              <a:t> /var /home /</a:t>
            </a:r>
            <a:r>
              <a:rPr dirty="0" err="1"/>
              <a:t>usr</a:t>
            </a:r>
            <a:r>
              <a:rPr dirty="0"/>
              <a:t> /opt /</a:t>
            </a:r>
            <a:r>
              <a:rPr dirty="0" err="1"/>
              <a:t>srv</a:t>
            </a:r>
            <a:r>
              <a:rPr dirty="0"/>
              <a:t>` live so students see it's not an abstraction. Emphasize /</a:t>
            </a:r>
            <a:r>
              <a:rPr dirty="0" err="1"/>
              <a:t>etc</a:t>
            </a:r>
            <a:r>
              <a:rPr dirty="0"/>
              <a:t> (</a:t>
            </a:r>
            <a:r>
              <a:rPr dirty="0" err="1"/>
              <a:t>named.conf</a:t>
            </a:r>
            <a:r>
              <a:rPr dirty="0"/>
              <a:t>, </a:t>
            </a:r>
            <a:r>
              <a:rPr dirty="0" err="1"/>
              <a:t>chrony.conf</a:t>
            </a:r>
            <a:r>
              <a:rPr dirty="0"/>
              <a:t>, </a:t>
            </a:r>
            <a:r>
              <a:rPr dirty="0" err="1"/>
              <a:t>sudoers.d</a:t>
            </a:r>
            <a:r>
              <a:rPr dirty="0"/>
              <a:t>/ all live here) and /var (log data and </a:t>
            </a:r>
            <a:r>
              <a:rPr dirty="0" err="1"/>
              <a:t>named's</a:t>
            </a:r>
            <a:r>
              <a:rPr dirty="0"/>
              <a:t> zone files under /var/named, which Lab 2 Part 2 uses). Ask: "if you found a suspicious file under /</a:t>
            </a:r>
            <a:r>
              <a:rPr dirty="0" err="1"/>
              <a:t>srv</a:t>
            </a:r>
            <a:r>
              <a:rPr dirty="0"/>
              <a:t> vs /</a:t>
            </a:r>
            <a:r>
              <a:rPr dirty="0" err="1"/>
              <a:t>tmp</a:t>
            </a:r>
            <a:r>
              <a:rPr dirty="0"/>
              <a:t>, would your read on it differ?" - sets up the audit-interpretation mindset from Section 5. Mention FHS is a convention, not something the kernel enforces - a service can technically write anywhere, but violating FHS makes a host harder for the next admin to reason about.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(~6 min) This is the piece students need before Cyber HW 2's accounts-category findings make sense: duplicate_uid0, empty_password, and stale_privileged_account all refer directly to fields in /etc/passwd and /etc/shadow. Walk the field layout live: username:x:UID:GID:GECOS:home:shell for passwd, username:hash:lastchange:min:max:warn:inactive:expire for shadow. Point out that "x" in the passwd password field means the real hash lives in shadow, and an empty second field in shadow means no password is set at all, not that the account is disabled (that's ! or *). Emphasize UID 0 = root, full stop, regardless of username - that's why duplicate_uid0 is CRITICAL rather than WARNING. Cover wheel membership as "sudo-eligible," not "has sudo" - sudoers policy (Section 2) is the separate layer. Live demo: `id &lt;user&gt;`, `getent passwd &lt;user&gt;`, `sudo useradd -m -G wheel alice`, `sudo passwd alice`. Close the loop: `lastlog -b 90` is literally what the stale_privileged_account check in HW 2 runs under the hood.</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(~6 min) Live demo beats slides here: `touch f; ls -l f` to show the 10-character mode string, then `</a:t>
            </a:r>
            <a:r>
              <a:rPr dirty="0" err="1"/>
              <a:t>chmod</a:t>
            </a:r>
            <a:r>
              <a:rPr dirty="0"/>
              <a:t> 750 f` and `ls -l f` again so the numeric mapping lands. Walk </a:t>
            </a:r>
            <a:r>
              <a:rPr dirty="0" err="1"/>
              <a:t>rwx</a:t>
            </a:r>
            <a:r>
              <a:rPr dirty="0"/>
              <a:t> meaning differing for files vs. directories - this trips people up constantly (execute on a directory means "can cd into / traverse it," not "can run it"). Demo </a:t>
            </a:r>
            <a:r>
              <a:rPr dirty="0" err="1"/>
              <a:t>umask</a:t>
            </a:r>
            <a:r>
              <a:rPr dirty="0"/>
              <a:t>: `</a:t>
            </a:r>
            <a:r>
              <a:rPr dirty="0" err="1"/>
              <a:t>umask</a:t>
            </a:r>
            <a:r>
              <a:rPr dirty="0"/>
              <a:t>`, then `touch f2; </a:t>
            </a:r>
            <a:r>
              <a:rPr dirty="0" err="1"/>
              <a:t>mkdir</a:t>
            </a:r>
            <a:r>
              <a:rPr dirty="0"/>
              <a:t> d2; ls -</a:t>
            </a:r>
            <a:r>
              <a:rPr dirty="0" err="1"/>
              <a:t>ld</a:t>
            </a:r>
            <a:r>
              <a:rPr dirty="0"/>
              <a:t> f2 d2` to show 644/755 falling out of 022. Tie forward: this is the DAC layer that Lab 2 Part 4 says ACLs sit on top of, not replace - plain </a:t>
            </a:r>
            <a:r>
              <a:rPr dirty="0" err="1"/>
              <a:t>chmod</a:t>
            </a:r>
            <a:r>
              <a:rPr dirty="0"/>
              <a:t> still governs the base case.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(~6 min) Frame this as solving one specific limitation: plain owner/group/other gives exactly one non-owner role (the group), and alice/bob/carol in Lab 2 need three different roles on the same paths. Walk the diagram: alice full rwx, bob rwx on zones only, carol read-only. Live demo if a VM is handy: `setfacl -m u:bob:rwx /var/named; getfacl /var/named`. Make sure they register `-d` for default ACLs (inherited by new files) versus a one-time ACL on the directory itself - Lab 2 uses both and it's an easy point to lose if skipped. The SELinux row is a preview, not a distraction: /var/named already carries an SELinux context, and Lab 2's note about `restorecon` and `ausearch -m avc` connects MAC and DAC as complementary layers, not competing ones.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 min) Transition. Section 2 is entirely about the sudoers.d file(s) Lab 2 Part 1 has them write - the lecture equivalent of the lab's own "alternatives to sudoers-based privilege management" aside, with more room to discuss trade-offs.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(~6 min) Lead with the rule, not the syntax: never edit /etc/sudoers directly, drop numbered role-scoped files into /etc/sudoers.d/ instead - numbering matters because sudo evaluates files in order and a later match can override an earlier one. Walk the Cmnd_Alias example line by line: it exists specifically to stop `sudo systemctl restart named` from becoming a root shell escape hatch. Ask the class: "what's wrong with `bob ALL=(ALL) NOPASSWD: ALL`?" before showing the fix. Point out alice's row requires a password on purpose - NOPASSWD is not the default-good option, it's a deliberate trade-off for narrowly-scoped, non-destructive commands only. Mention `visudo -c -f &lt;file&gt;` as the syntax check that prevents locking yourself out - Lab 2 requires running it before saving.</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 min) Keep this one moving - context, not something graded hands-on this week. The throughline: sudoers.d is right for one box, so ask "what breaks about this approach at 200 hosts?" before revealing the row (answer: policy drift, nothing keeps files in sync). FreeIPA/IdM is worth a beat since Cyber HW 2 Part 3.1 asks students to design whitelist management at scale for 200 servers - centralized-policy thinking is the pattern to plant here, even though that homework question is about a different whitelist.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 min) Transition. The biggest section - three services (DNS, DHCP, NFS) that both HW 2 tracks touch, and the two new syntax slides in this block exist specifically so students can read a config file, not just recite the theory.</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(~6 min) Walk the record table against the actual </a:t>
            </a:r>
            <a:r>
              <a:rPr dirty="0" err="1"/>
              <a:t>lab.internal.zone</a:t>
            </a:r>
            <a:r>
              <a:rPr dirty="0"/>
              <a:t> file from Lab 2 Part 2 - project it if you have it open. SOA first: refresh/retry/expire/negative-TTL as "how a secondary decides when to re-check and how long to cache a failure," not just abstract numbers. Spend real time on the CNAME -&gt; A chain (ftp -&gt; www -&gt; 10.0.0.10) since "confirm the CNAME resolves to www.lab.internal." is an explicit Lab 2 grading check. Explain PTR and why it lives in a separate reverse zone (0.0.10.in-addr.arpa) - octets reversed, the single most common point of confusion. Call out `recursion no` explicitly: an authoritative server that also serves arbitrary recursive queries is a cache-poisoning target and a DDoS amplification reflector - a deliberate hardening decision, not a default. IT HW 2 Part 2 requires an ADR justifying config choices for BIND - `recursion no` is a ready-made example of what a good ADR justification looks like.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(~5 min) Walk Discover/Offer/Request/Ack and hammer the reason it's all broadcast: the client doesn't have an IP yet, so it can't unicast to a specific server - the detail students most often get backwards. Define lease time, scope, reservation, and options precisely, since IT HW 2's broken dhcpd.conf trades on confusing "range" (the pool) with "reservation" (one fixed address for one MAC). Note DORA is per-lease, not per-boot: a client with a still-valid lease skips straight to a unicast renewal until roughly half the lease time has elapsed.</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(~6 min) This slide exists because DORA theory alone doesn't prepare anyone to audit a real dhcpd.conf, which is exactly what IT HW 2 Part 1 asks for. Walk the annotated directives line by line: `authoritative;` (this server is the source of truth for its subnets - omit it and a misconfigured client can get conflicting answers from a rogue DHCP server without this one objecting), default-lease-time vs. max-lease-time (client-requested vs. hard ceiling), the subnet/range block as the pool, `option routers` and `option broadcast-address` (which must actually match the subnet/netmask - a mismatch is a classic "looks fine, breaks silently" error), the host block as a reservation keyed to a MAC address, and the class/match block for PXE. Do not walk through the specific broken file from the homework - point out the shape of the mistakes to watch for (missing semicolons, a broadcast address outside the subnet, a fixed-address outside the declared range, an omitted `authoritative;`) without confirming which actually appear in their assignment. Mention `/etc/sysconfig/dhcpd` (`DHCPDARGS=`) as the easy-to-forget piece that controls which interface dhcpd listens on.</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(~5 min) Server decides what to share (/</a:t>
            </a:r>
            <a:r>
              <a:rPr dirty="0" err="1"/>
              <a:t>etc</a:t>
            </a:r>
            <a:r>
              <a:rPr dirty="0"/>
              <a:t>/exports) and who may mount it; client attaches it into its own tree - keep hammering that NFS access control starts on the server, not the client, since students often assume a client-side mount option is a security boundary. Walk NFSv3 vs. NFSv4: </a:t>
            </a:r>
            <a:r>
              <a:rPr dirty="0" err="1"/>
              <a:t>statefulness</a:t>
            </a:r>
            <a:r>
              <a:rPr dirty="0"/>
              <a:t> (v4 builds locking into the protocol instead of a separate lock manager) and port consolidation (v4's single port 2049 is meaningfully easier to firewall than v3's </a:t>
            </a:r>
            <a:r>
              <a:rPr dirty="0" err="1"/>
              <a:t>rpcbind</a:t>
            </a:r>
            <a:r>
              <a:rPr dirty="0"/>
              <a:t>/portmapper dance). Flag AUTH_SYS by name: it trusts whatever UID/GID the client claims, which is exactly why </a:t>
            </a:r>
            <a:r>
              <a:rPr dirty="0" err="1"/>
              <a:t>root_squash</a:t>
            </a:r>
            <a:r>
              <a:rPr dirty="0"/>
              <a:t> (next slide) matters so much on an AUTH_SYS export.</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(~6 min) IT HW 2 Part 1 requires finding at least 3 planted errors across </a:t>
            </a:r>
            <a:r>
              <a:rPr dirty="0" err="1"/>
              <a:t>named.conf</a:t>
            </a:r>
            <a:r>
              <a:rPr dirty="0"/>
              <a:t>, </a:t>
            </a:r>
            <a:r>
              <a:rPr dirty="0" err="1"/>
              <a:t>dhcpd.conf</a:t>
            </a:r>
            <a:r>
              <a:rPr dirty="0"/>
              <a:t>, and exports - this slide is exports' turn. Walk the option table: </a:t>
            </a:r>
            <a:r>
              <a:rPr dirty="0" err="1"/>
              <a:t>rw</a:t>
            </a:r>
            <a:r>
              <a:rPr dirty="0"/>
              <a:t>/</a:t>
            </a:r>
            <a:r>
              <a:rPr dirty="0" err="1"/>
              <a:t>ro</a:t>
            </a:r>
            <a:r>
              <a:rPr dirty="0"/>
              <a:t>, sync vs. async (sync acknowledges a write only once it's on stable storage - async is faster but a server crash mid-write can silently lose data the client already believes was saved), </a:t>
            </a:r>
            <a:r>
              <a:rPr dirty="0" err="1"/>
              <a:t>root_squash</a:t>
            </a:r>
            <a:r>
              <a:rPr dirty="0"/>
              <a:t> vs. </a:t>
            </a:r>
            <a:r>
              <a:rPr dirty="0" err="1"/>
              <a:t>no_root_squash</a:t>
            </a:r>
            <a:r>
              <a:rPr dirty="0"/>
              <a:t> (</a:t>
            </a:r>
            <a:r>
              <a:rPr dirty="0" err="1"/>
              <a:t>root_squash</a:t>
            </a:r>
            <a:r>
              <a:rPr dirty="0"/>
              <a:t> maps the client's root to an unprivileged user on the server - the sane default; </a:t>
            </a:r>
            <a:r>
              <a:rPr dirty="0" err="1"/>
              <a:t>no_root_squash</a:t>
            </a:r>
            <a:r>
              <a:rPr dirty="0"/>
              <a:t> means a root user on any client that can mount the share is root on the server's filesystem too), </a:t>
            </a:r>
            <a:r>
              <a:rPr dirty="0" err="1"/>
              <a:t>subtree_check</a:t>
            </a:r>
            <a:r>
              <a:rPr dirty="0"/>
              <a:t> vs. </a:t>
            </a:r>
            <a:r>
              <a:rPr dirty="0" err="1"/>
              <a:t>no_subtree_check</a:t>
            </a:r>
            <a:r>
              <a:rPr dirty="0"/>
              <a:t>, and client specifiers (CIDR, single host, or a bare `*` meaning literally any host that can route here). Point out the same path can appear more than once with different options for different clients, and ask what should happen if the same path appears twice for overlapping client specs. Don't confirm which of these appear in the graded file - the point is recognizing the pattern.</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(~4 min) This exists for one reason: IT HW 2 Part 3 asks why /exports sits on a dedicated LVM volume instead of a plain partition, and what breaks a year later if it hadn't been. Keep this conceptual. Three-layer model: physical volume (a disk or partition, `</a:t>
            </a:r>
            <a:r>
              <a:rPr dirty="0" err="1"/>
              <a:t>pvcreate</a:t>
            </a:r>
            <a:r>
              <a:rPr dirty="0"/>
              <a:t>`) -&gt; volume group (a pool combining one or more PVs, `</a:t>
            </a:r>
            <a:r>
              <a:rPr dirty="0" err="1"/>
              <a:t>vgcreate</a:t>
            </a:r>
            <a:r>
              <a:rPr dirty="0"/>
              <a:t>`) -&gt; logical volume (a resizable slice of that pool, `</a:t>
            </a:r>
            <a:r>
              <a:rPr dirty="0" err="1"/>
              <a:t>lvcreate</a:t>
            </a:r>
            <a:r>
              <a:rPr dirty="0"/>
              <a:t>`), then a filesystem on top. The fact that matters for the homework question: `</a:t>
            </a:r>
            <a:r>
              <a:rPr dirty="0" err="1"/>
              <a:t>lvextend</a:t>
            </a:r>
            <a:r>
              <a:rPr dirty="0"/>
              <a:t>` + `resize2fs`/`</a:t>
            </a:r>
            <a:r>
              <a:rPr dirty="0" err="1"/>
              <a:t>xfs_growfs</a:t>
            </a:r>
            <a:r>
              <a:rPr dirty="0"/>
              <a:t>` can grow a logical volume and its filesystem online, live, with the service still running - a plain partition that fills up needs a repartition, which usually means backup, unmount, recreate, restore, and downtime. Don't hand them the specific "what breaks after a year of growth" answer - that's the reflection question - but make sure they leave knowing LVM's advantage is elasticity, not just "it's more modern."</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 min) Transition. Time sync is short but not optional - Kerberos-based auth (later this semester) hard-fails outside a 5-minute clock skew, and log correlation across hosts is meaningless if their clocks disagree.</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(~6 min) Walk the diagram top to bottom: this host pulls from the internet pool, then re-serves that time internally, so only one machine needs outbound reachability instead of every client. Explain each directive, but spend the most time on `local stratum 2` (keeps serving a plausible time to internal clients even if upstream is briefly unreachable) and `makestep` (step vs. slew - a large one-time correction on startup vs. gradual adjustment once running, and why stepping should only be allowed for the first few updates, not indefinitely, since a service mid-operation having its clock suddenly jump can break things worse than the drift did). Live demo if possible: `chronyc tracking` and `chronyc sources -v` - Lab 2's own verification step and a directly reusable IT HW 2 runbook command.</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 min) A "know when NOT to reach for the fancier tool" slide. Walk the table, then land on the punchline: PTP's accuracy advantage depends on hardware timestamping in NICs and switches along the path, which a lab VM's virtual NIC doesn't provide - running ptp4l here would fall back to software timestamping and land in roughly NTP's accuracy range anyway. Ask the class to name a scenario where PTP is worth the hardware investment (financial trading, telecom base station sync) before revealing the "common use" row. Worth saying even though it's not on the slide: neither protocol as configured here authenticates its time source - a spoofed NTP reply can quietly skew a host's clock, and NTS is the emerging fix, conceptually parallel to TSIG for DNS zone transfers.</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 min) Transition. Last technical section before turning to this week's assignments - firewalld first (the last network-facing control), then how to actually read the audit tool's output, the entire spine of Cyber HW 2.</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(~6 min) Default-deny by zone is the concept to land: nothing is reachable unless explicitly added to the zone, so there's no rule to write for "block everything else" - that's the starting state. Walk the diagram's green/gray distinction, then live-demo: `firewall-cmd --permanent --add-service=dns`, `--add-service=ntp`, `--reload` (emphasize --permanent alone does nothing to the running config until --reload - a very common gotcha), then `--list-services` to confirm. Tie to Lab 2: the host should end up exposing exactly dns, ntp, and ssh - nothing else - graded by live inspection, not config review, so `--list-services` is their own verification step before considering the lab done.</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(~6 min) Reframe explicitly: Cyber HW 2 does not ask anyone to write this script, it asks them to read its JSON output like an incident responder would, against machines they've never seen. Walk the six example findings and make sure CRITICAL vs. WARNING vs. INFO is intuitive, not memorized - CRITICAL means a direct path to full compromise or an already-compromised state, WARNING means a weakness that needs another factor to become exploitable, INFO is situational awareness, not inherently bad. Mention the table shows 6 of 17 total checks across the 5 categories (filesystem, accounts, network, ssh, cron) - point to the full check reference on the assignment page rather than reproducing all 17 here. This slide sets up the next one, which is about what to do with a report full of these, not just what they mean individually.</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(~6 min) This is the slide that turns "I can read a finding" into "I can write Cyber HW 2 Part 2's cross-machine risk ranking," worth 15 points on its own and one that explicitly penalizes "the machine with the most findings wins" as a justification. Core framework: severity is a per-finding label, risk is a judgment about exploitability, exposure, and blast radius - a machine with five WARNINGs that are all internet-facing can be higher risk than one with two CRITICALs that require existing local access. Walk the three questions worth asking about any finding: is it reachable without already being on the box, does it lead directly to root or full data access, does it affect one account/service or the whole host. Second half: false-positive tuning conceptually - not every category degrades the same way at fleet scale (a hardcoded SUID whitelist gets noisier as legitimately-different server roles are added; an unexpected_listener check gets noisier as more services are legitimately deployed) - ask which category they'd expect to be noisiest at 200 hosts before Part 3 makes them commit to an answer in writing. Close with a one-line pointer to the MITRE ATT&amp;CK framework (attack.mitre.org) as the standard vocabulary for naming attack techniques - Part 3.2 asks them to name a specific technique this script's 5 categories wouldn't catch; don't suggest which one, but make sure everyone knows ATT&amp;CK is where you'd look up a technique ID rather than inventing terminology.</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 min) Transition into logistics. Keep this brief - the point of the next two slides is making sure nobody leaves confused about what's due or which track they're on, not re-teaching content.</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 min) Walk objectives against the four lab parts (sudo, DNS, chrony, ACLs) plus Part 5's diagnose-and-repair, and be explicit that Part 5 is graded on using the same live-check habits as Parts 1-4 (dig, chronyc, sudo -l -U, an actual read/write test) rather than eyeballing config files - "looks right" and "is right" are different claims, and the lab is built to catch the gap. Point out both tracks submit the same lab (no cyber/IT split here, unlike the homework) and that access controls are graded by attempting the denied action and confirming it fails - a working configuration that was never actually tested against bob/carol's restrictions won't earn those points even if it would pass.</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(~5 min) Split the room's attention deliberately by track. For Cyber: stress Part 1 is a floor, not the assignment - the 45 points in Part 2 and 35 in Part 3 are where the real thinking is graded, and remind them Part 2 wants remediation steps as an exact command or config change, not a general description. For IT: stress Part 2's handoff document is written for an admin who's never seen this environment - "that's just how it was configured" is called out by name in the assignment as unacceptable for the architecture decision records. Mention both grad extensions exist (CVSS v3.1 scoring for Cyber, DNS HA architecture + a formal ADR for IT) so grad students know to look for them on the assignment page. Remind everyone of the PR title convention and the `/grade` discord bot before moving on.</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(~5 min) Open floor. If nobody has questions immediately, prime it: ask which of the two new syntax slides (DHCP or NFS exports) felt least intuitive, since those map most directly to where students most often lose points on IT HW 2 Part 1. Remind them office hours and Discord are the right channel for VM connection issues specifically - those aren't content questions and eat lecture time if raised here.</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(~5 min) This slide is the payoff for Section 1: every row is a named check from Cyber HW 2's filesystem/accounts categories, now framed as "what's the actual attack, not just the finding name." Walk unexpected_suid and world_writable first since they're the most concrete - ask "what could an attacker actually DO with a world-writable file under /etc that a root cron job reads?" before revealing the defense column. The ACL-drift row is the one without a direct audit-script check - flag that explicitly: the script catches static misconfigurations, not policy that was correct on day one and just never got re-verified. That gap is worth remembering going into the remediation-prioritization slide later.</a:t>
            </a:r>
          </a:p>
        </p:txBody>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(~5 min) Frame this as "here's what a badly-designed sudoers.d file actually costs you." The shell-escape row is worth a live example if you have a moment: `sudo systemctl restart named` looks safe, but some services or wrapper scripts can be coerced into spawning a shell - this is exactly why Lab 2's Cmnd_Alias is scoped to specific systemctl subcommands rather than granting systemctl broadly. Tie NOPASSWD overreach and credential theft together: NOPASSWD removes a speed bump, so anything that grants it should assume a stolen password is one command away from being used - that's the honest threat model, not "but they'd need my password too."</a:t>
            </a:r>
          </a:p>
        </p:txBody>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(~5 min) Point out that this lab's named.conf already implements 3 of these 5 defenses (recursion no, dnssec-validation auto, version "not disclosed") - ask the class to spot which lines in the config from Section 3 map to which row before you reveal it. Zone transfer leakage is worth emphasizing since it's the one this config doesn't fully close (allow-transfer isn't set in the lab's config, meaning it defaults permissively) - a good moment to connect back to IT HW 2's named.conf audit, where allow-transfer { any; } is exactly the kind of finding students are asked to catch.</a:t>
            </a:r>
          </a:p>
        </p:txBody>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(~5 min) Lead with the uncomfortable fact: DHCP has no authentication built into the protocol at all, so most of these defenses live at the switch/network layer, not in dhcpd.conf itself. That's a different kind of mitigation than students have seen so far this lecture (config-file hardening) - worth naming explicitly as "sometimes the fix isn't in the service's own config." Rogue DHCP and starvation are the two worth a real-world anchor: ask if anyone's seen a laptop accidentally running Internet Connection Sharing take down a network's DHCP - that's an accidental rogue server, not even a malicious one.</a:t>
            </a:r>
          </a:p>
        </p:txBody>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(~5 min) Everything here traces back to one sentence: NFS access control lives entirely on the server, and AUTH_SYS trusts the client's word for who's asking. Spend the most time on no_root_squash since it's the row most directly tied to IT HW 2's exports audit - ask the class to predict what no_root_squash combined with a wildcard client spec would let an attacker do (answer: become root on the server's filesystem from any host that can reach it). The Kerberos/NFSv4 row is a preview of a security control they haven't configured yet in this course - fine to name it without going deep.</a:t>
            </a:r>
          </a:p>
        </p:txBody>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(~4 min) Two of these five are already answered by this lab's chrony.conf - ask which directives close which row (local stratum 2 limits blast radius from a compromised upstream; nothing in the lab's config touches NTS or amplification directly, which is the honest gap to name). The clock-skew auth-bypass row is worth connecting forward: Kerberos shows up later this semester, and "why does a security course care about a time protocol" is a question worth answering explicitly here rather than assuming it's obvious.</a:t>
            </a:r>
          </a:p>
        </p:txBody>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(~5 min) This is the last technical slide before logistics, so use it to reinforce the whole lecture's theme: a correctly configured control (firewalld, in this case) is necessary but not sufficient. The "firewall as the only layer" row is the one to land hardest - it's a direct bridge into the next two slides (interpreting audit output, prioritizing remediation), where the point is that a clean firewalld --list-services doesn't mean the host is secure if SSH is misconfigured behind it. Forgotten --reload is worth a live demo if time allows: run --add-service without --reload, then --list-services, to show the gap between saved and running state.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2331720"/>
            <a:ext cx="8229600" cy="411480"/>
          </a:xfrm>
          <a:prstGeom prst="rect">
            <a:avLst/>
          </a:prstGeom>
          <a:noFill/>
        </p:spPr>
        <p:txBody>
          <a:bodyPr wrap="square" lIns="0" tIns="0" rIns="0" bIns="0" anchor="t">
            <a:spAutoFit/>
          </a:bodyPr>
          <a:lstStyle/>
          <a:p>
            <a:pPr algn="l"/>
            <a:r>
              <a:rPr sz="1600" b="1" i="0">
                <a:solidFill>
                  <a:srgbClr val="00B4D8"/>
                </a:solidFill>
                <a:latin typeface="Calibri"/>
              </a:rPr>
              <a:t>WEEK 2</a:t>
            </a:r>
          </a:p>
        </p:txBody>
      </p:sp>
      <p:sp>
        <p:nvSpPr>
          <p:cNvPr id="3" name="TextBox 2"/>
          <p:cNvSpPr txBox="1"/>
          <p:nvPr/>
        </p:nvSpPr>
        <p:spPr>
          <a:xfrm>
            <a:off x="640080" y="2743200"/>
            <a:ext cx="10515600" cy="1188720"/>
          </a:xfrm>
          <a:prstGeom prst="rect">
            <a:avLst/>
          </a:prstGeom>
          <a:noFill/>
        </p:spPr>
        <p:txBody>
          <a:bodyPr wrap="square" lIns="0" tIns="0" rIns="0" bIns="0" anchor="t">
            <a:spAutoFit/>
          </a:bodyPr>
          <a:lstStyle/>
          <a:p>
            <a:pPr algn="l"/>
            <a:r>
              <a:rPr sz="4400" b="1" i="0">
                <a:solidFill>
                  <a:srgbClr val="1B2A4A"/>
                </a:solidFill>
                <a:latin typeface="Cambria"/>
              </a:rPr>
              <a:t>Linux Administration Fundamentals</a:t>
            </a:r>
          </a:p>
        </p:txBody>
      </p:sp>
      <p:sp>
        <p:nvSpPr>
          <p:cNvPr id="4" name="TextBox 3"/>
          <p:cNvSpPr txBox="1"/>
          <p:nvPr/>
        </p:nvSpPr>
        <p:spPr>
          <a:xfrm>
            <a:off x="640080" y="3977639"/>
            <a:ext cx="8229600" cy="457200"/>
          </a:xfrm>
          <a:prstGeom prst="rect">
            <a:avLst/>
          </a:prstGeom>
          <a:noFill/>
        </p:spPr>
        <p:txBody>
          <a:bodyPr wrap="square" lIns="0" tIns="0" rIns="0" bIns="0" anchor="t">
            <a:spAutoFit/>
          </a:bodyPr>
          <a:lstStyle/>
          <a:p>
            <a:pPr algn="l"/>
            <a:r>
              <a:rPr sz="1800" b="0" i="0">
                <a:solidFill>
                  <a:srgbClr val="3D5A80"/>
                </a:solidFill>
                <a:latin typeface="Calibri"/>
              </a:rPr>
              <a:t>CYBER 444  ·  Fall 2026</a:t>
            </a:r>
          </a:p>
        </p:txBody>
      </p:sp>
      <p:sp>
        <p:nvSpPr>
          <p:cNvPr id="5" name="TextBox 4"/>
          <p:cNvSpPr txBox="1"/>
          <p:nvPr/>
        </p:nvSpPr>
        <p:spPr>
          <a:xfrm>
            <a:off x="640080" y="4434840"/>
            <a:ext cx="8229600" cy="457200"/>
          </a:xfrm>
          <a:prstGeom prst="rect">
            <a:avLst/>
          </a:prstGeom>
          <a:noFill/>
        </p:spPr>
        <p:txBody>
          <a:bodyPr wrap="square" lIns="0" tIns="0" rIns="0" bIns="0" anchor="t">
            <a:spAutoFit/>
          </a:bodyPr>
          <a:lstStyle/>
          <a:p>
            <a:pPr algn="l"/>
            <a:r>
              <a:rPr sz="1400" b="0" i="0">
                <a:solidFill>
                  <a:srgbClr val="3D5A80"/>
                </a:solidFill>
                <a:latin typeface="Calibri"/>
              </a:rPr>
              <a:t>Sept 8 &amp; 10  ·  Tuesdays &amp; Thursdays, 4:00–5:50 PM  ·  CTB 350</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B2A4A"/>
        </a:solidFill>
        <a:effectLst/>
      </p:bgPr>
    </p:bg>
    <p:spTree>
      <p:nvGrpSpPr>
        <p:cNvPr id="1" name=""/>
        <p:cNvGrpSpPr/>
        <p:nvPr/>
      </p:nvGrpSpPr>
      <p:grpSpPr>
        <a:xfrm>
          <a:off x="0" y="0"/>
          <a:ext cx="0" cy="0"/>
          <a:chOff x="0" y="0"/>
          <a:chExt cx="0" cy="0"/>
        </a:xfrm>
      </p:grpSpPr>
      <p:sp>
        <p:nvSpPr>
          <p:cNvPr id="2" name="Rectangle 1"/>
          <p:cNvSpPr/>
          <p:nvPr/>
        </p:nvSpPr>
        <p:spPr>
          <a:xfrm>
            <a:off x="822960" y="2962656"/>
            <a:ext cx="1005840" cy="100584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3000" b="1" i="0">
                <a:solidFill>
                  <a:srgbClr val="1B2A4A"/>
                </a:solidFill>
                <a:latin typeface="Cambria"/>
              </a:rPr>
              <a:t>01</a:t>
            </a:r>
          </a:p>
        </p:txBody>
      </p:sp>
      <p:sp>
        <p:nvSpPr>
          <p:cNvPr id="3" name="TextBox 2"/>
          <p:cNvSpPr txBox="1"/>
          <p:nvPr/>
        </p:nvSpPr>
        <p:spPr>
          <a:xfrm>
            <a:off x="2103120" y="3008376"/>
            <a:ext cx="9235440" cy="914400"/>
          </a:xfrm>
          <a:prstGeom prst="rect">
            <a:avLst/>
          </a:prstGeom>
          <a:noFill/>
        </p:spPr>
        <p:txBody>
          <a:bodyPr wrap="square" lIns="0" tIns="0" rIns="0" bIns="0" anchor="ctr">
            <a:spAutoFit/>
          </a:bodyPr>
          <a:lstStyle/>
          <a:p>
            <a:pPr algn="l"/>
            <a:r>
              <a:rPr sz="3600" b="1" i="0">
                <a:solidFill>
                  <a:srgbClr val="FFFFFF"/>
                </a:solidFill>
                <a:latin typeface="Cambria"/>
              </a:rPr>
              <a:t>Filesystem, Users &amp; Access Control</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10908792" cy="446276"/>
          </a:xfrm>
          <a:prstGeom prst="rect">
            <a:avLst/>
          </a:prstGeom>
          <a:noFill/>
        </p:spPr>
        <p:txBody>
          <a:bodyPr wrap="square" lIns="0" tIns="0" rIns="0" bIns="0" anchor="t">
            <a:spAutoFit/>
          </a:bodyPr>
          <a:lstStyle/>
          <a:p>
            <a:r>
              <a:rPr sz="2900" b="1" i="0" dirty="0">
                <a:solidFill>
                  <a:srgbClr val="1B2A4A"/>
                </a:solidFill>
                <a:latin typeface="Cambria"/>
              </a:rPr>
              <a:t>The Linux Filesystem Hierarchy</a:t>
            </a:r>
          </a:p>
        </p:txBody>
      </p:sp>
      <p:sp>
        <p:nvSpPr>
          <p:cNvPr id="3" name="TextBox 2"/>
          <p:cNvSpPr txBox="1"/>
          <p:nvPr/>
        </p:nvSpPr>
        <p:spPr>
          <a:xfrm>
            <a:off x="640080" y="1243584"/>
            <a:ext cx="10908792" cy="457200"/>
          </a:xfrm>
          <a:prstGeom prst="rect">
            <a:avLst/>
          </a:prstGeom>
          <a:noFill/>
        </p:spPr>
        <p:txBody>
          <a:bodyPr wrap="square" lIns="0" tIns="0" rIns="0" bIns="0" anchor="t">
            <a:spAutoFit/>
          </a:bodyPr>
          <a:lstStyle/>
          <a:p>
            <a:r>
              <a:rPr sz="1250" b="0" i="0">
                <a:solidFill>
                  <a:srgbClr val="3D5A80"/>
                </a:solidFill>
                <a:latin typeface="Calibri"/>
              </a:rPr>
              <a:t>Every Rocky/RHEL system follows the same top-level layout - knowing what lives where is the first skill any admin needs before touching permissions.</a:t>
            </a:r>
          </a:p>
        </p:txBody>
      </p:sp>
      <p:sp>
        <p:nvSpPr>
          <p:cNvPr id="4" name="Rounded Rectangle 3"/>
          <p:cNvSpPr/>
          <p:nvPr/>
        </p:nvSpPr>
        <p:spPr>
          <a:xfrm>
            <a:off x="5500116" y="1810512"/>
            <a:ext cx="1188720" cy="548640"/>
          </a:xfrm>
          <a:prstGeom prst="round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600" b="1" i="0">
                <a:solidFill>
                  <a:srgbClr val="FFFFFF"/>
                </a:solidFill>
                <a:latin typeface="Calibri"/>
              </a:rPr>
              <a:t>/</a:t>
            </a:r>
          </a:p>
        </p:txBody>
      </p:sp>
      <p:cxnSp>
        <p:nvCxnSpPr>
          <p:cNvPr id="5" name="Connector 4"/>
          <p:cNvCxnSpPr/>
          <p:nvPr/>
        </p:nvCxnSpPr>
        <p:spPr>
          <a:xfrm flipH="1">
            <a:off x="1522476" y="2359152"/>
            <a:ext cx="4572000" cy="502920"/>
          </a:xfrm>
          <a:prstGeom prst="line">
            <a:avLst/>
          </a:prstGeom>
          <a:ln w="19050">
            <a:solidFill>
              <a:srgbClr val="00B4D8"/>
            </a:solidFill>
            <a:tailEnd type="triangle" w="med" len="med"/>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722376" y="2862072"/>
            <a:ext cx="1600200" cy="566928"/>
          </a:xfrm>
          <a:prstGeom prst="round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300" b="1" i="0">
                <a:solidFill>
                  <a:srgbClr val="FFFFFF"/>
                </a:solidFill>
                <a:latin typeface="Calibri"/>
              </a:rPr>
              <a:t>/etc</a:t>
            </a:r>
          </a:p>
        </p:txBody>
      </p:sp>
      <p:cxnSp>
        <p:nvCxnSpPr>
          <p:cNvPr id="7" name="Connector 6"/>
          <p:cNvCxnSpPr/>
          <p:nvPr/>
        </p:nvCxnSpPr>
        <p:spPr>
          <a:xfrm flipH="1">
            <a:off x="3351276" y="2359152"/>
            <a:ext cx="2743200" cy="502920"/>
          </a:xfrm>
          <a:prstGeom prst="line">
            <a:avLst/>
          </a:prstGeom>
          <a:ln w="19050">
            <a:solidFill>
              <a:srgbClr val="00B4D8"/>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2551176" y="2862072"/>
            <a:ext cx="1600200" cy="566928"/>
          </a:xfrm>
          <a:prstGeom prst="round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300" b="1" i="0">
                <a:solidFill>
                  <a:srgbClr val="FFFFFF"/>
                </a:solidFill>
                <a:latin typeface="Calibri"/>
              </a:rPr>
              <a:t>/var</a:t>
            </a:r>
          </a:p>
        </p:txBody>
      </p:sp>
      <p:cxnSp>
        <p:nvCxnSpPr>
          <p:cNvPr id="9" name="Connector 8"/>
          <p:cNvCxnSpPr/>
          <p:nvPr/>
        </p:nvCxnSpPr>
        <p:spPr>
          <a:xfrm flipH="1">
            <a:off x="5180076" y="2359152"/>
            <a:ext cx="914400" cy="502920"/>
          </a:xfrm>
          <a:prstGeom prst="line">
            <a:avLst/>
          </a:prstGeom>
          <a:ln w="19050">
            <a:solidFill>
              <a:srgbClr val="00B4D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4379976" y="2862072"/>
            <a:ext cx="1600200" cy="566928"/>
          </a:xfrm>
          <a:prstGeom prst="round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300" b="1" i="0">
                <a:solidFill>
                  <a:srgbClr val="FFFFFF"/>
                </a:solidFill>
                <a:latin typeface="Calibri"/>
              </a:rPr>
              <a:t>/home</a:t>
            </a:r>
          </a:p>
        </p:txBody>
      </p:sp>
      <p:cxnSp>
        <p:nvCxnSpPr>
          <p:cNvPr id="11" name="Connector 10"/>
          <p:cNvCxnSpPr/>
          <p:nvPr/>
        </p:nvCxnSpPr>
        <p:spPr>
          <a:xfrm>
            <a:off x="6094476" y="2359152"/>
            <a:ext cx="914400" cy="502920"/>
          </a:xfrm>
          <a:prstGeom prst="line">
            <a:avLst/>
          </a:prstGeom>
          <a:ln w="19050">
            <a:solidFill>
              <a:srgbClr val="00B4D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6208776" y="2862072"/>
            <a:ext cx="1600200" cy="566928"/>
          </a:xfrm>
          <a:prstGeom prst="round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300" b="1" i="0">
                <a:solidFill>
                  <a:srgbClr val="FFFFFF"/>
                </a:solidFill>
                <a:latin typeface="Calibri"/>
              </a:rPr>
              <a:t>/usr</a:t>
            </a:r>
          </a:p>
        </p:txBody>
      </p:sp>
      <p:cxnSp>
        <p:nvCxnSpPr>
          <p:cNvPr id="13" name="Connector 12"/>
          <p:cNvCxnSpPr/>
          <p:nvPr/>
        </p:nvCxnSpPr>
        <p:spPr>
          <a:xfrm>
            <a:off x="6094476" y="2359152"/>
            <a:ext cx="2743200" cy="502920"/>
          </a:xfrm>
          <a:prstGeom prst="line">
            <a:avLst/>
          </a:prstGeom>
          <a:ln w="19050">
            <a:solidFill>
              <a:srgbClr val="00B4D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8037576" y="2862072"/>
            <a:ext cx="1600200" cy="566928"/>
          </a:xfrm>
          <a:prstGeom prst="round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300" b="1" i="0">
                <a:solidFill>
                  <a:srgbClr val="FFFFFF"/>
                </a:solidFill>
                <a:latin typeface="Calibri"/>
              </a:rPr>
              <a:t>/opt</a:t>
            </a:r>
          </a:p>
        </p:txBody>
      </p:sp>
      <p:cxnSp>
        <p:nvCxnSpPr>
          <p:cNvPr id="15" name="Connector 14"/>
          <p:cNvCxnSpPr/>
          <p:nvPr/>
        </p:nvCxnSpPr>
        <p:spPr>
          <a:xfrm>
            <a:off x="6094476" y="2359152"/>
            <a:ext cx="4572000" cy="502920"/>
          </a:xfrm>
          <a:prstGeom prst="line">
            <a:avLst/>
          </a:prstGeom>
          <a:ln w="19050">
            <a:solidFill>
              <a:srgbClr val="00B4D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9866376" y="2862072"/>
            <a:ext cx="1600200" cy="566928"/>
          </a:xfrm>
          <a:prstGeom prst="round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300" b="1" i="0">
                <a:solidFill>
                  <a:srgbClr val="FFFFFF"/>
                </a:solidFill>
                <a:latin typeface="Calibri"/>
              </a:rPr>
              <a:t>/srv</a:t>
            </a:r>
          </a:p>
        </p:txBody>
      </p:sp>
      <p:graphicFrame>
        <p:nvGraphicFramePr>
          <p:cNvPr id="17" name="Table 16"/>
          <p:cNvGraphicFramePr>
            <a:graphicFrameLocks noGrp="1"/>
          </p:cNvGraphicFramePr>
          <p:nvPr/>
        </p:nvGraphicFramePr>
        <p:xfrm>
          <a:off x="640080" y="3703320"/>
          <a:ext cx="10908792" cy="2880360"/>
        </p:xfrm>
        <a:graphic>
          <a:graphicData uri="http://schemas.openxmlformats.org/drawingml/2006/table">
            <a:tbl>
              <a:tblPr/>
              <a:tblGrid>
                <a:gridCol w="1828800">
                  <a:extLst>
                    <a:ext uri="{9D8B030D-6E8A-4147-A177-3AD203B41FA5}">
                      <a16:colId xmlns:a16="http://schemas.microsoft.com/office/drawing/2014/main" val="20000"/>
                    </a:ext>
                  </a:extLst>
                </a:gridCol>
                <a:gridCol w="9079992">
                  <a:extLst>
                    <a:ext uri="{9D8B030D-6E8A-4147-A177-3AD203B41FA5}">
                      <a16:colId xmlns:a16="http://schemas.microsoft.com/office/drawing/2014/main" val="20001"/>
                    </a:ext>
                  </a:extLst>
                </a:gridCol>
              </a:tblGrid>
              <a:tr h="411480">
                <a:tc>
                  <a:txBody>
                    <a:bodyPr/>
                    <a:lstStyle/>
                    <a:p>
                      <a:r>
                        <a:rPr sz="1200" b="1" i="0">
                          <a:solidFill>
                            <a:srgbClr val="FFFFFF"/>
                          </a:solidFill>
                          <a:latin typeface="Calibri"/>
                        </a:rPr>
                        <a:t>Path</a:t>
                      </a:r>
                    </a:p>
                  </a:txBody>
                  <a:tcPr marL="82296" marR="82296" marT="27432" marB="27432" anchor="ctr">
                    <a:solidFill>
                      <a:srgbClr val="1B2A4A"/>
                    </a:solidFill>
                  </a:tcPr>
                </a:tc>
                <a:tc>
                  <a:txBody>
                    <a:bodyPr/>
                    <a:lstStyle/>
                    <a:p>
                      <a:r>
                        <a:rPr sz="1200" b="1" i="0">
                          <a:solidFill>
                            <a:srgbClr val="FFFFFF"/>
                          </a:solidFill>
                          <a:latin typeface="Calibri"/>
                        </a:rPr>
                        <a:t>What lives there</a:t>
                      </a:r>
                    </a:p>
                  </a:txBody>
                  <a:tcPr marL="82296" marR="82296" marT="27432" marB="27432" anchor="ctr">
                    <a:solidFill>
                      <a:srgbClr val="1B2A4A"/>
                    </a:solidFill>
                  </a:tcPr>
                </a:tc>
                <a:extLst>
                  <a:ext uri="{0D108BD9-81ED-4DB2-BD59-A6C34878D82A}">
                    <a16:rowId xmlns:a16="http://schemas.microsoft.com/office/drawing/2014/main" val="10000"/>
                  </a:ext>
                </a:extLst>
              </a:tr>
              <a:tr h="411480">
                <a:tc>
                  <a:txBody>
                    <a:bodyPr/>
                    <a:lstStyle/>
                    <a:p>
                      <a:r>
                        <a:rPr sz="1050" b="1" i="0">
                          <a:solidFill>
                            <a:srgbClr val="1B2A4A"/>
                          </a:solidFill>
                          <a:latin typeface="Calibri"/>
                        </a:rPr>
                        <a:t>/etc</a:t>
                      </a:r>
                    </a:p>
                  </a:txBody>
                  <a:tcPr marL="82296" marR="82296" marT="27432" marB="27432" anchor="ctr">
                    <a:solidFill>
                      <a:srgbClr val="FFFFFF"/>
                    </a:solidFill>
                  </a:tcPr>
                </a:tc>
                <a:tc>
                  <a:txBody>
                    <a:bodyPr/>
                    <a:lstStyle/>
                    <a:p>
                      <a:r>
                        <a:rPr sz="1050" b="0" i="0">
                          <a:solidFill>
                            <a:srgbClr val="3D5A80"/>
                          </a:solidFill>
                          <a:latin typeface="Calibri"/>
                        </a:rPr>
                        <a:t>System-wide configuration - named.conf, chrony.conf, sudoers.d/</a:t>
                      </a:r>
                    </a:p>
                  </a:txBody>
                  <a:tcPr marL="82296" marR="82296" marT="27432" marB="27432" anchor="ctr">
                    <a:solidFill>
                      <a:srgbClr val="FFFFFF"/>
                    </a:solidFill>
                  </a:tcPr>
                </a:tc>
                <a:extLst>
                  <a:ext uri="{0D108BD9-81ED-4DB2-BD59-A6C34878D82A}">
                    <a16:rowId xmlns:a16="http://schemas.microsoft.com/office/drawing/2014/main" val="10001"/>
                  </a:ext>
                </a:extLst>
              </a:tr>
              <a:tr h="411480">
                <a:tc>
                  <a:txBody>
                    <a:bodyPr/>
                    <a:lstStyle/>
                    <a:p>
                      <a:r>
                        <a:rPr sz="1050" b="1" i="0">
                          <a:solidFill>
                            <a:srgbClr val="1B2A4A"/>
                          </a:solidFill>
                          <a:latin typeface="Calibri"/>
                        </a:rPr>
                        <a:t>/var</a:t>
                      </a:r>
                    </a:p>
                  </a:txBody>
                  <a:tcPr marL="82296" marR="82296" marT="27432" marB="27432" anchor="ctr">
                    <a:solidFill>
                      <a:srgbClr val="E8EEF7"/>
                    </a:solidFill>
                  </a:tcPr>
                </a:tc>
                <a:tc>
                  <a:txBody>
                    <a:bodyPr/>
                    <a:lstStyle/>
                    <a:p>
                      <a:r>
                        <a:rPr sz="1050" b="0" i="0">
                          <a:solidFill>
                            <a:srgbClr val="3D5A80"/>
                          </a:solidFill>
                          <a:latin typeface="Calibri"/>
                        </a:rPr>
                        <a:t>Variable/runtime data - logs (/var/log), zone data (/var/named)</a:t>
                      </a:r>
                    </a:p>
                  </a:txBody>
                  <a:tcPr marL="82296" marR="82296" marT="27432" marB="27432" anchor="ctr">
                    <a:solidFill>
                      <a:srgbClr val="E8EEF7"/>
                    </a:solidFill>
                  </a:tcPr>
                </a:tc>
                <a:extLst>
                  <a:ext uri="{0D108BD9-81ED-4DB2-BD59-A6C34878D82A}">
                    <a16:rowId xmlns:a16="http://schemas.microsoft.com/office/drawing/2014/main" val="10002"/>
                  </a:ext>
                </a:extLst>
              </a:tr>
              <a:tr h="411480">
                <a:tc>
                  <a:txBody>
                    <a:bodyPr/>
                    <a:lstStyle/>
                    <a:p>
                      <a:r>
                        <a:rPr sz="1050" b="1" i="0">
                          <a:solidFill>
                            <a:srgbClr val="1B2A4A"/>
                          </a:solidFill>
                          <a:latin typeface="Calibri"/>
                        </a:rPr>
                        <a:t>/home</a:t>
                      </a:r>
                    </a:p>
                  </a:txBody>
                  <a:tcPr marL="82296" marR="82296" marT="27432" marB="27432" anchor="ctr">
                    <a:solidFill>
                      <a:srgbClr val="FFFFFF"/>
                    </a:solidFill>
                  </a:tcPr>
                </a:tc>
                <a:tc>
                  <a:txBody>
                    <a:bodyPr/>
                    <a:lstStyle/>
                    <a:p>
                      <a:r>
                        <a:rPr sz="1050" b="0" i="0">
                          <a:solidFill>
                            <a:srgbClr val="3D5A80"/>
                          </a:solidFill>
                          <a:latin typeface="Calibri"/>
                        </a:rPr>
                        <a:t>Per-user home directories</a:t>
                      </a:r>
                    </a:p>
                  </a:txBody>
                  <a:tcPr marL="82296" marR="82296" marT="27432" marB="27432" anchor="ctr">
                    <a:solidFill>
                      <a:srgbClr val="FFFFFF"/>
                    </a:solidFill>
                  </a:tcPr>
                </a:tc>
                <a:extLst>
                  <a:ext uri="{0D108BD9-81ED-4DB2-BD59-A6C34878D82A}">
                    <a16:rowId xmlns:a16="http://schemas.microsoft.com/office/drawing/2014/main" val="10003"/>
                  </a:ext>
                </a:extLst>
              </a:tr>
              <a:tr h="411480">
                <a:tc>
                  <a:txBody>
                    <a:bodyPr/>
                    <a:lstStyle/>
                    <a:p>
                      <a:r>
                        <a:rPr sz="1050" b="1" i="0">
                          <a:solidFill>
                            <a:srgbClr val="1B2A4A"/>
                          </a:solidFill>
                          <a:latin typeface="Calibri"/>
                        </a:rPr>
                        <a:t>/usr</a:t>
                      </a:r>
                    </a:p>
                  </a:txBody>
                  <a:tcPr marL="82296" marR="82296" marT="27432" marB="27432" anchor="ctr">
                    <a:solidFill>
                      <a:srgbClr val="E8EEF7"/>
                    </a:solidFill>
                  </a:tcPr>
                </a:tc>
                <a:tc>
                  <a:txBody>
                    <a:bodyPr/>
                    <a:lstStyle/>
                    <a:p>
                      <a:r>
                        <a:rPr sz="1050" b="0" i="0">
                          <a:solidFill>
                            <a:srgbClr val="3D5A80"/>
                          </a:solidFill>
                          <a:latin typeface="Calibri"/>
                        </a:rPr>
                        <a:t>Installed software - binaries, libraries, shared docs</a:t>
                      </a:r>
                    </a:p>
                  </a:txBody>
                  <a:tcPr marL="82296" marR="82296" marT="27432" marB="27432" anchor="ctr">
                    <a:solidFill>
                      <a:srgbClr val="E8EEF7"/>
                    </a:solidFill>
                  </a:tcPr>
                </a:tc>
                <a:extLst>
                  <a:ext uri="{0D108BD9-81ED-4DB2-BD59-A6C34878D82A}">
                    <a16:rowId xmlns:a16="http://schemas.microsoft.com/office/drawing/2014/main" val="10004"/>
                  </a:ext>
                </a:extLst>
              </a:tr>
              <a:tr h="411480">
                <a:tc>
                  <a:txBody>
                    <a:bodyPr/>
                    <a:lstStyle/>
                    <a:p>
                      <a:r>
                        <a:rPr sz="1050" b="1" i="0">
                          <a:solidFill>
                            <a:srgbClr val="1B2A4A"/>
                          </a:solidFill>
                          <a:latin typeface="Calibri"/>
                        </a:rPr>
                        <a:t>/opt</a:t>
                      </a:r>
                    </a:p>
                  </a:txBody>
                  <a:tcPr marL="82296" marR="82296" marT="27432" marB="27432" anchor="ctr">
                    <a:solidFill>
                      <a:srgbClr val="FFFFFF"/>
                    </a:solidFill>
                  </a:tcPr>
                </a:tc>
                <a:tc>
                  <a:txBody>
                    <a:bodyPr/>
                    <a:lstStyle/>
                    <a:p>
                      <a:r>
                        <a:rPr sz="1050" b="0" i="0">
                          <a:solidFill>
                            <a:srgbClr val="3D5A80"/>
                          </a:solidFill>
                          <a:latin typeface="Calibri"/>
                        </a:rPr>
                        <a:t>Third-party / add-on software packages</a:t>
                      </a:r>
                    </a:p>
                  </a:txBody>
                  <a:tcPr marL="82296" marR="82296" marT="27432" marB="27432" anchor="ctr">
                    <a:solidFill>
                      <a:srgbClr val="FFFFFF"/>
                    </a:solidFill>
                  </a:tcPr>
                </a:tc>
                <a:extLst>
                  <a:ext uri="{0D108BD9-81ED-4DB2-BD59-A6C34878D82A}">
                    <a16:rowId xmlns:a16="http://schemas.microsoft.com/office/drawing/2014/main" val="10005"/>
                  </a:ext>
                </a:extLst>
              </a:tr>
              <a:tr h="411480">
                <a:tc>
                  <a:txBody>
                    <a:bodyPr/>
                    <a:lstStyle/>
                    <a:p>
                      <a:r>
                        <a:rPr sz="1050" b="1" i="0">
                          <a:solidFill>
                            <a:srgbClr val="1B2A4A"/>
                          </a:solidFill>
                          <a:latin typeface="Calibri"/>
                        </a:rPr>
                        <a:t>/srv</a:t>
                      </a:r>
                    </a:p>
                  </a:txBody>
                  <a:tcPr marL="82296" marR="82296" marT="27432" marB="27432" anchor="ctr">
                    <a:solidFill>
                      <a:srgbClr val="E8EEF7"/>
                    </a:solidFill>
                  </a:tcPr>
                </a:tc>
                <a:tc>
                  <a:txBody>
                    <a:bodyPr/>
                    <a:lstStyle/>
                    <a:p>
                      <a:r>
                        <a:rPr sz="1050" b="0" i="0">
                          <a:solidFill>
                            <a:srgbClr val="3D5A80"/>
                          </a:solidFill>
                          <a:latin typeface="Calibri"/>
                        </a:rPr>
                        <a:t>Data this host serves to others (site/service data)</a:t>
                      </a:r>
                    </a:p>
                  </a:txBody>
                  <a:tcPr marL="82296" marR="82296" marT="27432" marB="27432" anchor="ctr">
                    <a:solidFill>
                      <a:srgbClr val="E8EEF7"/>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40080" y="457200"/>
            <a:ext cx="10908792" cy="777240"/>
          </a:xfrm>
          <a:prstGeom prst="rect">
            <a:avLst/>
          </a:prstGeom>
          <a:noFill/>
        </p:spPr>
        <p:txBody>
          <a:bodyPr wrap="square" lIns="0" tIns="0" rIns="0" bIns="0" anchor="t">
            <a:spAutoFit/>
          </a:bodyPr>
          <a:lstStyle/>
          <a:p>
            <a:r>
              <a:rPr sz="2900" b="1" i="0">
                <a:solidFill>
                  <a:srgbClr val="1B2A4A"/>
                </a:solidFill>
                <a:latin typeface="Cambria"/>
              </a:rPr>
              <a:t>User &amp; Group Management: The Files Behind the Audit</a:t>
            </a:r>
          </a:p>
        </p:txBody>
      </p:sp>
      <p:sp>
        <p:nvSpPr>
          <p:cNvPr id="3" name="TextBox 3"/>
          <p:cNvSpPr txBox="1"/>
          <p:nvPr/>
        </p:nvSpPr>
        <p:spPr>
          <a:xfrm>
            <a:off x="640080" y="1243584"/>
            <a:ext cx="10908792" cy="365760"/>
          </a:xfrm>
          <a:prstGeom prst="rect">
            <a:avLst/>
          </a:prstGeom>
          <a:noFill/>
        </p:spPr>
        <p:txBody>
          <a:bodyPr wrap="square" lIns="0" tIns="0" rIns="0" bIns="0" anchor="t">
            <a:spAutoFit/>
          </a:bodyPr>
          <a:lstStyle/>
          <a:p>
            <a:r>
              <a:rPr sz="1250" b="0" i="0">
                <a:solidFill>
                  <a:srgbClr val="3D5A80"/>
                </a:solidFill>
                <a:latin typeface="Calibri"/>
              </a:rPr>
              <a:t>Every accounts-category finding in this week's audit traces back to a field in one of these two files.</a:t>
            </a:r>
          </a:p>
        </p:txBody>
      </p:sp>
      <p:graphicFrame>
        <p:nvGraphicFramePr>
          <p:cNvPr id="4" name="Table 4"/>
          <p:cNvGraphicFramePr>
            <a:graphicFrameLocks noGrp="1"/>
          </p:cNvGraphicFramePr>
          <p:nvPr/>
        </p:nvGraphicFramePr>
        <p:xfrm>
          <a:off x="640080" y="1828800"/>
          <a:ext cx="10908792" cy="4754880"/>
        </p:xfrm>
        <a:graphic>
          <a:graphicData uri="http://schemas.openxmlformats.org/drawingml/2006/table">
            <a:tbl>
              <a:tblPr/>
              <a:tblGrid>
                <a:gridCol w="3200000">
                  <a:extLst>
                    <a:ext uri="{9D8B030D-6E8A-4147-A177-3AD203B41FA5}">
                      <a16:colId xmlns:a16="http://schemas.microsoft.com/office/drawing/2014/main" val="20000"/>
                    </a:ext>
                  </a:extLst>
                </a:gridCol>
                <a:gridCol w="2400000">
                  <a:extLst>
                    <a:ext uri="{9D8B030D-6E8A-4147-A177-3AD203B41FA5}">
                      <a16:colId xmlns:a16="http://schemas.microsoft.com/office/drawing/2014/main" val="20001"/>
                    </a:ext>
                  </a:extLst>
                </a:gridCol>
                <a:gridCol w="5308792">
                  <a:extLst>
                    <a:ext uri="{9D8B030D-6E8A-4147-A177-3AD203B41FA5}">
                      <a16:colId xmlns:a16="http://schemas.microsoft.com/office/drawing/2014/main" val="20002"/>
                    </a:ext>
                  </a:extLst>
                </a:gridCol>
              </a:tblGrid>
              <a:tr h="792480">
                <a:tc>
                  <a:txBody>
                    <a:bodyPr/>
                    <a:lstStyle/>
                    <a:p>
                      <a:r>
                        <a:rPr sz="1200" b="1" i="0">
                          <a:solidFill>
                            <a:srgbClr val="FFFFFF"/>
                          </a:solidFill>
                          <a:latin typeface="Calibri"/>
                        </a:rPr>
                        <a:t>Where</a:t>
                      </a:r>
                    </a:p>
                  </a:txBody>
                  <a:tcPr marL="82296" marR="82296" marT="27432" marB="27432" anchor="ctr">
                    <a:solidFill>
                      <a:srgbClr val="1B2A4A"/>
                    </a:solidFill>
                  </a:tcPr>
                </a:tc>
                <a:tc>
                  <a:txBody>
                    <a:bodyPr/>
                    <a:lstStyle/>
                    <a:p>
                      <a:r>
                        <a:rPr sz="1200" b="1" i="0">
                          <a:solidFill>
                            <a:srgbClr val="FFFFFF"/>
                          </a:solidFill>
                          <a:latin typeface="Calibri"/>
                        </a:rPr>
                        <a:t>What to look at</a:t>
                      </a:r>
                    </a:p>
                  </a:txBody>
                  <a:tcPr marL="82296" marR="82296" marT="27432" marB="27432" anchor="ctr">
                    <a:solidFill>
                      <a:srgbClr val="1B2A4A"/>
                    </a:solidFill>
                  </a:tcPr>
                </a:tc>
                <a:tc>
                  <a:txBody>
                    <a:bodyPr/>
                    <a:lstStyle/>
                    <a:p>
                      <a:r>
                        <a:rPr sz="1200" b="1" i="0">
                          <a:solidFill>
                            <a:srgbClr val="FFFFFF"/>
                          </a:solidFill>
                          <a:latin typeface="Calibri"/>
                        </a:rPr>
                        <a:t>Why it matters</a:t>
                      </a:r>
                    </a:p>
                  </a:txBody>
                  <a:tcPr marL="82296" marR="82296" marT="27432" marB="27432" anchor="ctr">
                    <a:solidFill>
                      <a:srgbClr val="1B2A4A"/>
                    </a:solidFill>
                  </a:tcPr>
                </a:tc>
                <a:extLst>
                  <a:ext uri="{0D108BD9-81ED-4DB2-BD59-A6C34878D82A}">
                    <a16:rowId xmlns:a16="http://schemas.microsoft.com/office/drawing/2014/main" val="10000"/>
                  </a:ext>
                </a:extLst>
              </a:tr>
              <a:tr h="792480">
                <a:tc>
                  <a:txBody>
                    <a:bodyPr/>
                    <a:lstStyle/>
                    <a:p>
                      <a:r>
                        <a:rPr sz="1050" b="1" i="0">
                          <a:solidFill>
                            <a:srgbClr val="1B2A4A"/>
                          </a:solidFill>
                          <a:latin typeface="Calibri"/>
                        </a:rPr>
                        <a:t>/etc/passwd</a:t>
                      </a:r>
                    </a:p>
                  </a:txBody>
                  <a:tcPr marL="82296" marR="82296" marT="27432" marB="27432" anchor="ctr">
                    <a:solidFill>
                      <a:srgbClr val="FFFFFF"/>
                    </a:solidFill>
                  </a:tcPr>
                </a:tc>
                <a:tc>
                  <a:txBody>
                    <a:bodyPr/>
                    <a:lstStyle/>
                    <a:p>
                      <a:r>
                        <a:rPr sz="1050" b="0" i="0">
                          <a:solidFill>
                            <a:srgbClr val="3D5A80"/>
                          </a:solidFill>
                          <a:latin typeface="Calibri"/>
                        </a:rPr>
                        <a:t>UID field</a:t>
                      </a:r>
                    </a:p>
                  </a:txBody>
                  <a:tcPr marL="82296" marR="82296" marT="27432" marB="27432" anchor="ctr">
                    <a:solidFill>
                      <a:srgbClr val="FFFFFF"/>
                    </a:solidFill>
                  </a:tcPr>
                </a:tc>
                <a:tc>
                  <a:txBody>
                    <a:bodyPr/>
                    <a:lstStyle/>
                    <a:p>
                      <a:r>
                        <a:rPr sz="1050" b="0" i="0">
                          <a:solidFill>
                            <a:srgbClr val="3D5A80"/>
                          </a:solidFill>
                          <a:latin typeface="Calibri"/>
                        </a:rPr>
                        <a:t>0 always means root - a duplicate UID 0 account is CRITICAL (duplicate_uid0) regardless of its username</a:t>
                      </a:r>
                    </a:p>
                  </a:txBody>
                  <a:tcPr marL="82296" marR="82296" marT="27432" marB="27432" anchor="ctr">
                    <a:solidFill>
                      <a:srgbClr val="FFFFFF"/>
                    </a:solidFill>
                  </a:tcPr>
                </a:tc>
                <a:extLst>
                  <a:ext uri="{0D108BD9-81ED-4DB2-BD59-A6C34878D82A}">
                    <a16:rowId xmlns:a16="http://schemas.microsoft.com/office/drawing/2014/main" val="10001"/>
                  </a:ext>
                </a:extLst>
              </a:tr>
              <a:tr h="792480">
                <a:tc>
                  <a:txBody>
                    <a:bodyPr/>
                    <a:lstStyle/>
                    <a:p>
                      <a:r>
                        <a:rPr sz="1050" b="1" i="0">
                          <a:solidFill>
                            <a:srgbClr val="1B2A4A"/>
                          </a:solidFill>
                          <a:latin typeface="Calibri"/>
                        </a:rPr>
                        <a:t>/etc/passwd</a:t>
                      </a:r>
                    </a:p>
                  </a:txBody>
                  <a:tcPr marL="82296" marR="82296" marT="27432" marB="27432" anchor="ctr">
                    <a:solidFill>
                      <a:srgbClr val="E8EEF7"/>
                    </a:solidFill>
                  </a:tcPr>
                </a:tc>
                <a:tc>
                  <a:txBody>
                    <a:bodyPr/>
                    <a:lstStyle/>
                    <a:p>
                      <a:r>
                        <a:rPr sz="1050" b="0" i="0">
                          <a:solidFill>
                            <a:srgbClr val="3D5A80"/>
                          </a:solidFill>
                          <a:latin typeface="Calibri"/>
                        </a:rPr>
                        <a:t>Password field shows 'x'</a:t>
                      </a:r>
                    </a:p>
                  </a:txBody>
                  <a:tcPr marL="82296" marR="82296" marT="27432" marB="27432" anchor="ctr">
                    <a:solidFill>
                      <a:srgbClr val="E8EEF7"/>
                    </a:solidFill>
                  </a:tcPr>
                </a:tc>
                <a:tc>
                  <a:txBody>
                    <a:bodyPr/>
                    <a:lstStyle/>
                    <a:p>
                      <a:r>
                        <a:rPr sz="1050" b="0" i="0">
                          <a:solidFill>
                            <a:srgbClr val="3D5A80"/>
                          </a:solidFill>
                          <a:latin typeface="Calibri"/>
                        </a:rPr>
                        <a:t>The real hash lives in /etc/shadow - passwd itself is world-readable by design</a:t>
                      </a:r>
                    </a:p>
                  </a:txBody>
                  <a:tcPr marL="82296" marR="82296" marT="27432" marB="27432" anchor="ctr">
                    <a:solidFill>
                      <a:srgbClr val="E8EEF7"/>
                    </a:solidFill>
                  </a:tcPr>
                </a:tc>
                <a:extLst>
                  <a:ext uri="{0D108BD9-81ED-4DB2-BD59-A6C34878D82A}">
                    <a16:rowId xmlns:a16="http://schemas.microsoft.com/office/drawing/2014/main" val="10002"/>
                  </a:ext>
                </a:extLst>
              </a:tr>
              <a:tr h="792480">
                <a:tc>
                  <a:txBody>
                    <a:bodyPr/>
                    <a:lstStyle/>
                    <a:p>
                      <a:r>
                        <a:rPr sz="1050" b="1" i="0">
                          <a:solidFill>
                            <a:srgbClr val="1B2A4A"/>
                          </a:solidFill>
                          <a:latin typeface="Calibri"/>
                        </a:rPr>
                        <a:t>/etc/shadow</a:t>
                      </a:r>
                    </a:p>
                  </a:txBody>
                  <a:tcPr marL="82296" marR="82296" marT="27432" marB="27432" anchor="ctr">
                    <a:solidFill>
                      <a:srgbClr val="FFFFFF"/>
                    </a:solidFill>
                  </a:tcPr>
                </a:tc>
                <a:tc>
                  <a:txBody>
                    <a:bodyPr/>
                    <a:lstStyle/>
                    <a:p>
                      <a:r>
                        <a:rPr sz="1050" b="0" i="0">
                          <a:solidFill>
                            <a:srgbClr val="3D5A80"/>
                          </a:solidFill>
                          <a:latin typeface="Calibri"/>
                        </a:rPr>
                        <a:t>Password hash field</a:t>
                      </a:r>
                    </a:p>
                  </a:txBody>
                  <a:tcPr marL="82296" marR="82296" marT="27432" marB="27432" anchor="ctr">
                    <a:solidFill>
                      <a:srgbClr val="FFFFFF"/>
                    </a:solidFill>
                  </a:tcPr>
                </a:tc>
                <a:tc>
                  <a:txBody>
                    <a:bodyPr/>
                    <a:lstStyle/>
                    <a:p>
                      <a:r>
                        <a:rPr sz="1050" b="0" i="0">
                          <a:solidFill>
                            <a:srgbClr val="3D5A80"/>
                          </a:solidFill>
                          <a:latin typeface="Calibri"/>
                        </a:rPr>
                        <a:t>Empty means no password at all, not "disabled" - that's ! or * instead (empty_password)</a:t>
                      </a:r>
                    </a:p>
                  </a:txBody>
                  <a:tcPr marL="82296" marR="82296" marT="27432" marB="27432" anchor="ctr">
                    <a:solidFill>
                      <a:srgbClr val="FFFFFF"/>
                    </a:solidFill>
                  </a:tcPr>
                </a:tc>
                <a:extLst>
                  <a:ext uri="{0D108BD9-81ED-4DB2-BD59-A6C34878D82A}">
                    <a16:rowId xmlns:a16="http://schemas.microsoft.com/office/drawing/2014/main" val="10003"/>
                  </a:ext>
                </a:extLst>
              </a:tr>
              <a:tr h="792480">
                <a:tc>
                  <a:txBody>
                    <a:bodyPr/>
                    <a:lstStyle/>
                    <a:p>
                      <a:r>
                        <a:rPr sz="1050" b="1" i="0">
                          <a:solidFill>
                            <a:srgbClr val="1B2A4A"/>
                          </a:solidFill>
                          <a:latin typeface="Calibri"/>
                        </a:rPr>
                        <a:t>/etc/group (wheel)</a:t>
                      </a:r>
                    </a:p>
                  </a:txBody>
                  <a:tcPr marL="82296" marR="82296" marT="27432" marB="27432" anchor="ctr">
                    <a:solidFill>
                      <a:srgbClr val="E8EEF7"/>
                    </a:solidFill>
                  </a:tcPr>
                </a:tc>
                <a:tc>
                  <a:txBody>
                    <a:bodyPr/>
                    <a:lstStyle/>
                    <a:p>
                      <a:r>
                        <a:rPr sz="1050" b="0" i="0">
                          <a:solidFill>
                            <a:srgbClr val="3D5A80"/>
                          </a:solidFill>
                          <a:latin typeface="Calibri"/>
                        </a:rPr>
                        <a:t>Supplementary membership</a:t>
                      </a:r>
                    </a:p>
                  </a:txBody>
                  <a:tcPr marL="82296" marR="82296" marT="27432" marB="27432" anchor="ctr">
                    <a:solidFill>
                      <a:srgbClr val="E8EEF7"/>
                    </a:solidFill>
                  </a:tcPr>
                </a:tc>
                <a:tc>
                  <a:txBody>
                    <a:bodyPr/>
                    <a:lstStyle/>
                    <a:p>
                      <a:r>
                        <a:rPr sz="1050" b="0" i="0">
                          <a:solidFill>
                            <a:srgbClr val="3D5A80"/>
                          </a:solidFill>
                          <a:latin typeface="Calibri"/>
                        </a:rPr>
                        <a:t>Sudo-eligible only - sudoers.d policy (Section 2) decides what that membership can run</a:t>
                      </a:r>
                    </a:p>
                  </a:txBody>
                  <a:tcPr marL="82296" marR="82296" marT="27432" marB="27432" anchor="ctr">
                    <a:solidFill>
                      <a:srgbClr val="E8EEF7"/>
                    </a:solidFill>
                  </a:tcPr>
                </a:tc>
                <a:extLst>
                  <a:ext uri="{0D108BD9-81ED-4DB2-BD59-A6C34878D82A}">
                    <a16:rowId xmlns:a16="http://schemas.microsoft.com/office/drawing/2014/main" val="10004"/>
                  </a:ext>
                </a:extLst>
              </a:tr>
              <a:tr h="792480">
                <a:tc>
                  <a:txBody>
                    <a:bodyPr/>
                    <a:lstStyle/>
                    <a:p>
                      <a:r>
                        <a:rPr sz="1050" b="1" i="0">
                          <a:solidFill>
                            <a:srgbClr val="1B2A4A"/>
                          </a:solidFill>
                          <a:latin typeface="Calibri"/>
                        </a:rPr>
                        <a:t>lastlog -b 90</a:t>
                      </a:r>
                    </a:p>
                  </a:txBody>
                  <a:tcPr marL="82296" marR="82296" marT="27432" marB="27432" anchor="ctr">
                    <a:solidFill>
                      <a:srgbClr val="FFFFFF"/>
                    </a:solidFill>
                  </a:tcPr>
                </a:tc>
                <a:tc>
                  <a:txBody>
                    <a:bodyPr/>
                    <a:lstStyle/>
                    <a:p>
                      <a:r>
                        <a:rPr sz="1050" b="0" i="0">
                          <a:solidFill>
                            <a:srgbClr val="3D5A80"/>
                          </a:solidFill>
                          <a:latin typeface="Calibri"/>
                        </a:rPr>
                        <a:t>Last-login timestamp</a:t>
                      </a:r>
                    </a:p>
                  </a:txBody>
                  <a:tcPr marL="82296" marR="82296" marT="27432" marB="27432" anchor="ctr">
                    <a:solidFill>
                      <a:srgbClr val="FFFFFF"/>
                    </a:solidFill>
                  </a:tcPr>
                </a:tc>
                <a:tc>
                  <a:txBody>
                    <a:bodyPr/>
                    <a:lstStyle/>
                    <a:p>
                      <a:r>
                        <a:rPr sz="1050" b="0" i="0">
                          <a:solidFill>
                            <a:srgbClr val="3D5A80"/>
                          </a:solidFill>
                          <a:latin typeface="Calibri"/>
                        </a:rPr>
                        <a:t>What stale_privileged_account checks: a wheel member idle 90+ days</a:t>
                      </a:r>
                    </a:p>
                  </a:txBody>
                  <a:tcPr marL="82296" marR="82296" marT="27432" marB="27432" anchor="ctr">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10908792" cy="777240"/>
          </a:xfrm>
          <a:prstGeom prst="rect">
            <a:avLst/>
          </a:prstGeom>
          <a:noFill/>
        </p:spPr>
        <p:txBody>
          <a:bodyPr wrap="square" lIns="0" tIns="0" rIns="0" bIns="0" anchor="t">
            <a:spAutoFit/>
          </a:bodyPr>
          <a:lstStyle/>
          <a:p>
            <a:r>
              <a:rPr sz="2900" b="1" i="0">
                <a:solidFill>
                  <a:srgbClr val="1B2A4A"/>
                </a:solidFill>
                <a:latin typeface="Cambria"/>
              </a:rPr>
              <a:t>Users, Groups &amp; Permissions</a:t>
            </a:r>
          </a:p>
        </p:txBody>
      </p:sp>
      <p:sp>
        <p:nvSpPr>
          <p:cNvPr id="3" name="TextBox 2"/>
          <p:cNvSpPr txBox="1"/>
          <p:nvPr/>
        </p:nvSpPr>
        <p:spPr>
          <a:xfrm>
            <a:off x="640080" y="1243584"/>
            <a:ext cx="10908792" cy="365760"/>
          </a:xfrm>
          <a:prstGeom prst="rect">
            <a:avLst/>
          </a:prstGeom>
          <a:noFill/>
        </p:spPr>
        <p:txBody>
          <a:bodyPr wrap="square" lIns="0" tIns="0" rIns="0" bIns="0" anchor="t">
            <a:spAutoFit/>
          </a:bodyPr>
          <a:lstStyle/>
          <a:p>
            <a:r>
              <a:rPr sz="1250" b="0" i="0">
                <a:solidFill>
                  <a:srgbClr val="3D5A80"/>
                </a:solidFill>
                <a:latin typeface="Calibri"/>
              </a:rPr>
              <a:t>Every file carries three permission sets - owner, group, everyone else - expressed as a 10-character mode string.</a:t>
            </a:r>
          </a:p>
        </p:txBody>
      </p:sp>
      <p:sp>
        <p:nvSpPr>
          <p:cNvPr id="4" name="Rounded Rectangle 3"/>
          <p:cNvSpPr/>
          <p:nvPr/>
        </p:nvSpPr>
        <p:spPr>
          <a:xfrm>
            <a:off x="2418588" y="1874519"/>
            <a:ext cx="822960" cy="777240"/>
          </a:xfrm>
          <a:prstGeom prst="roundRect">
            <a:avLst/>
          </a:prstGeom>
          <a:solidFill>
            <a:srgbClr val="6B748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2200" b="1" i="0">
                <a:solidFill>
                  <a:srgbClr val="FFFFFF"/>
                </a:solidFill>
                <a:latin typeface="Calibri"/>
              </a:rPr>
              <a:t>-</a:t>
            </a:r>
          </a:p>
        </p:txBody>
      </p:sp>
      <p:sp>
        <p:nvSpPr>
          <p:cNvPr id="5" name="TextBox 4"/>
          <p:cNvSpPr txBox="1"/>
          <p:nvPr/>
        </p:nvSpPr>
        <p:spPr>
          <a:xfrm>
            <a:off x="2418588" y="2724911"/>
            <a:ext cx="822960" cy="274320"/>
          </a:xfrm>
          <a:prstGeom prst="rect">
            <a:avLst/>
          </a:prstGeom>
          <a:noFill/>
        </p:spPr>
        <p:txBody>
          <a:bodyPr wrap="square" lIns="0" tIns="0" rIns="0" bIns="0" anchor="ctr">
            <a:spAutoFit/>
          </a:bodyPr>
          <a:lstStyle/>
          <a:p>
            <a:pPr algn="ctr"/>
            <a:r>
              <a:rPr sz="1200" b="1" i="0">
                <a:solidFill>
                  <a:srgbClr val="3D5A80"/>
                </a:solidFill>
                <a:latin typeface="Calibri"/>
              </a:rPr>
              <a:t>type</a:t>
            </a:r>
          </a:p>
        </p:txBody>
      </p:sp>
      <p:sp>
        <p:nvSpPr>
          <p:cNvPr id="6" name="Rounded Rectangle 5"/>
          <p:cNvSpPr/>
          <p:nvPr/>
        </p:nvSpPr>
        <p:spPr>
          <a:xfrm>
            <a:off x="3406140" y="1874519"/>
            <a:ext cx="2011680" cy="777240"/>
          </a:xfrm>
          <a:prstGeom prst="round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2200" b="1" i="0">
                <a:solidFill>
                  <a:srgbClr val="FFFFFF"/>
                </a:solidFill>
                <a:latin typeface="Calibri"/>
              </a:rPr>
              <a:t>rwx</a:t>
            </a:r>
          </a:p>
        </p:txBody>
      </p:sp>
      <p:sp>
        <p:nvSpPr>
          <p:cNvPr id="7" name="TextBox 6"/>
          <p:cNvSpPr txBox="1"/>
          <p:nvPr/>
        </p:nvSpPr>
        <p:spPr>
          <a:xfrm>
            <a:off x="3406140" y="2724911"/>
            <a:ext cx="2011680" cy="274320"/>
          </a:xfrm>
          <a:prstGeom prst="rect">
            <a:avLst/>
          </a:prstGeom>
          <a:noFill/>
        </p:spPr>
        <p:txBody>
          <a:bodyPr wrap="square" lIns="0" tIns="0" rIns="0" bIns="0" anchor="ctr">
            <a:spAutoFit/>
          </a:bodyPr>
          <a:lstStyle/>
          <a:p>
            <a:pPr algn="ctr"/>
            <a:r>
              <a:rPr sz="1200" b="1" i="0">
                <a:solidFill>
                  <a:srgbClr val="3D5A80"/>
                </a:solidFill>
                <a:latin typeface="Calibri"/>
              </a:rPr>
              <a:t>owner</a:t>
            </a:r>
          </a:p>
        </p:txBody>
      </p:sp>
      <p:sp>
        <p:nvSpPr>
          <p:cNvPr id="8" name="Rounded Rectangle 7"/>
          <p:cNvSpPr/>
          <p:nvPr/>
        </p:nvSpPr>
        <p:spPr>
          <a:xfrm>
            <a:off x="5582412" y="1874519"/>
            <a:ext cx="2011680" cy="777240"/>
          </a:xfrm>
          <a:prstGeom prst="round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2200" b="1" i="0">
                <a:solidFill>
                  <a:srgbClr val="FFFFFF"/>
                </a:solidFill>
                <a:latin typeface="Calibri"/>
              </a:rPr>
              <a:t>r-x</a:t>
            </a:r>
          </a:p>
        </p:txBody>
      </p:sp>
      <p:sp>
        <p:nvSpPr>
          <p:cNvPr id="9" name="TextBox 8"/>
          <p:cNvSpPr txBox="1"/>
          <p:nvPr/>
        </p:nvSpPr>
        <p:spPr>
          <a:xfrm>
            <a:off x="5582412" y="2724911"/>
            <a:ext cx="2011680" cy="274320"/>
          </a:xfrm>
          <a:prstGeom prst="rect">
            <a:avLst/>
          </a:prstGeom>
          <a:noFill/>
        </p:spPr>
        <p:txBody>
          <a:bodyPr wrap="square" lIns="0" tIns="0" rIns="0" bIns="0" anchor="ctr">
            <a:spAutoFit/>
          </a:bodyPr>
          <a:lstStyle/>
          <a:p>
            <a:pPr algn="ctr"/>
            <a:r>
              <a:rPr sz="1200" b="1" i="0">
                <a:solidFill>
                  <a:srgbClr val="3D5A80"/>
                </a:solidFill>
                <a:latin typeface="Calibri"/>
              </a:rPr>
              <a:t>group</a:t>
            </a:r>
          </a:p>
        </p:txBody>
      </p:sp>
      <p:sp>
        <p:nvSpPr>
          <p:cNvPr id="10" name="Rounded Rectangle 9"/>
          <p:cNvSpPr/>
          <p:nvPr/>
        </p:nvSpPr>
        <p:spPr>
          <a:xfrm>
            <a:off x="7758684" y="1874519"/>
            <a:ext cx="2011680" cy="777240"/>
          </a:xfrm>
          <a:prstGeom prst="roundRect">
            <a:avLst/>
          </a:prstGeom>
          <a:solidFill>
            <a:srgbClr val="3D5A8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2200" b="1" i="0">
                <a:solidFill>
                  <a:srgbClr val="FFFFFF"/>
                </a:solidFill>
                <a:latin typeface="Calibri"/>
              </a:rPr>
              <a:t>r--</a:t>
            </a:r>
          </a:p>
        </p:txBody>
      </p:sp>
      <p:sp>
        <p:nvSpPr>
          <p:cNvPr id="11" name="TextBox 10"/>
          <p:cNvSpPr txBox="1"/>
          <p:nvPr/>
        </p:nvSpPr>
        <p:spPr>
          <a:xfrm>
            <a:off x="7758684" y="2724911"/>
            <a:ext cx="2011680" cy="274320"/>
          </a:xfrm>
          <a:prstGeom prst="rect">
            <a:avLst/>
          </a:prstGeom>
          <a:noFill/>
        </p:spPr>
        <p:txBody>
          <a:bodyPr wrap="square" lIns="0" tIns="0" rIns="0" bIns="0" anchor="ctr">
            <a:spAutoFit/>
          </a:bodyPr>
          <a:lstStyle/>
          <a:p>
            <a:pPr algn="ctr"/>
            <a:r>
              <a:rPr sz="1200" b="1" i="0">
                <a:solidFill>
                  <a:srgbClr val="3D5A80"/>
                </a:solidFill>
                <a:latin typeface="Calibri"/>
              </a:rPr>
              <a:t>other</a:t>
            </a:r>
          </a:p>
        </p:txBody>
      </p:sp>
      <p:graphicFrame>
        <p:nvGraphicFramePr>
          <p:cNvPr id="12" name="Table 11"/>
          <p:cNvGraphicFramePr>
            <a:graphicFrameLocks noGrp="1"/>
          </p:cNvGraphicFramePr>
          <p:nvPr/>
        </p:nvGraphicFramePr>
        <p:xfrm>
          <a:off x="640080" y="3291839"/>
          <a:ext cx="10908791" cy="3291840"/>
        </p:xfrm>
        <a:graphic>
          <a:graphicData uri="http://schemas.openxmlformats.org/drawingml/2006/table">
            <a:tbl>
              <a:tblPr/>
              <a:tblGrid>
                <a:gridCol w="2651760">
                  <a:extLst>
                    <a:ext uri="{9D8B030D-6E8A-4147-A177-3AD203B41FA5}">
                      <a16:colId xmlns:a16="http://schemas.microsoft.com/office/drawing/2014/main" val="20000"/>
                    </a:ext>
                  </a:extLst>
                </a:gridCol>
                <a:gridCol w="8257031">
                  <a:extLst>
                    <a:ext uri="{9D8B030D-6E8A-4147-A177-3AD203B41FA5}">
                      <a16:colId xmlns:a16="http://schemas.microsoft.com/office/drawing/2014/main" val="20001"/>
                    </a:ext>
                  </a:extLst>
                </a:gridCol>
              </a:tblGrid>
              <a:tr h="658368">
                <a:tc>
                  <a:txBody>
                    <a:bodyPr/>
                    <a:lstStyle/>
                    <a:p>
                      <a:r>
                        <a:rPr sz="1250" b="1" i="0">
                          <a:solidFill>
                            <a:srgbClr val="FFFFFF"/>
                          </a:solidFill>
                          <a:latin typeface="Calibri"/>
                        </a:rPr>
                        <a:t>Concept</a:t>
                      </a:r>
                    </a:p>
                  </a:txBody>
                  <a:tcPr marL="82296" marR="82296" marT="27432" marB="27432" anchor="ctr">
                    <a:solidFill>
                      <a:srgbClr val="1B2A4A"/>
                    </a:solidFill>
                  </a:tcPr>
                </a:tc>
                <a:tc>
                  <a:txBody>
                    <a:bodyPr/>
                    <a:lstStyle/>
                    <a:p>
                      <a:r>
                        <a:rPr sz="1250" b="1" i="0">
                          <a:solidFill>
                            <a:srgbClr val="FFFFFF"/>
                          </a:solidFill>
                          <a:latin typeface="Calibri"/>
                        </a:rPr>
                        <a:t>Meaning</a:t>
                      </a:r>
                    </a:p>
                  </a:txBody>
                  <a:tcPr marL="82296" marR="82296" marT="27432" marB="27432" anchor="ctr">
                    <a:solidFill>
                      <a:srgbClr val="1B2A4A"/>
                    </a:solidFill>
                  </a:tcPr>
                </a:tc>
                <a:extLst>
                  <a:ext uri="{0D108BD9-81ED-4DB2-BD59-A6C34878D82A}">
                    <a16:rowId xmlns:a16="http://schemas.microsoft.com/office/drawing/2014/main" val="10000"/>
                  </a:ext>
                </a:extLst>
              </a:tr>
              <a:tr h="658368">
                <a:tc>
                  <a:txBody>
                    <a:bodyPr/>
                    <a:lstStyle/>
                    <a:p>
                      <a:r>
                        <a:rPr sz="1100" b="1" i="0">
                          <a:solidFill>
                            <a:srgbClr val="1B2A4A"/>
                          </a:solidFill>
                          <a:latin typeface="Calibri"/>
                        </a:rPr>
                        <a:t>rwx (files)</a:t>
                      </a:r>
                    </a:p>
                  </a:txBody>
                  <a:tcPr marL="82296" marR="82296" marT="27432" marB="27432" anchor="ctr">
                    <a:solidFill>
                      <a:srgbClr val="FFFFFF"/>
                    </a:solidFill>
                  </a:tcPr>
                </a:tc>
                <a:tc>
                  <a:txBody>
                    <a:bodyPr/>
                    <a:lstStyle/>
                    <a:p>
                      <a:r>
                        <a:rPr sz="1100" b="0" i="0">
                          <a:solidFill>
                            <a:srgbClr val="3D5A80"/>
                          </a:solidFill>
                          <a:latin typeface="Calibri"/>
                        </a:rPr>
                        <a:t>read = view contents, write = modify contents, execute = run as a program</a:t>
                      </a:r>
                    </a:p>
                  </a:txBody>
                  <a:tcPr marL="82296" marR="82296" marT="27432" marB="27432" anchor="ctr">
                    <a:solidFill>
                      <a:srgbClr val="FFFFFF"/>
                    </a:solidFill>
                  </a:tcPr>
                </a:tc>
                <a:extLst>
                  <a:ext uri="{0D108BD9-81ED-4DB2-BD59-A6C34878D82A}">
                    <a16:rowId xmlns:a16="http://schemas.microsoft.com/office/drawing/2014/main" val="10001"/>
                  </a:ext>
                </a:extLst>
              </a:tr>
              <a:tr h="658368">
                <a:tc>
                  <a:txBody>
                    <a:bodyPr/>
                    <a:lstStyle/>
                    <a:p>
                      <a:r>
                        <a:rPr sz="1100" b="1" i="0">
                          <a:solidFill>
                            <a:srgbClr val="1B2A4A"/>
                          </a:solidFill>
                          <a:latin typeface="Calibri"/>
                        </a:rPr>
                        <a:t>rwx (directories)</a:t>
                      </a:r>
                    </a:p>
                  </a:txBody>
                  <a:tcPr marL="82296" marR="82296" marT="27432" marB="27432" anchor="ctr">
                    <a:solidFill>
                      <a:srgbClr val="E8EEF7"/>
                    </a:solidFill>
                  </a:tcPr>
                </a:tc>
                <a:tc>
                  <a:txBody>
                    <a:bodyPr/>
                    <a:lstStyle/>
                    <a:p>
                      <a:r>
                        <a:rPr sz="1100" b="0" i="0">
                          <a:solidFill>
                            <a:srgbClr val="3D5A80"/>
                          </a:solidFill>
                          <a:latin typeface="Calibri"/>
                        </a:rPr>
                        <a:t>read = list contents, write = create/delete entries, execute = enter/traverse</a:t>
                      </a:r>
                    </a:p>
                  </a:txBody>
                  <a:tcPr marL="82296" marR="82296" marT="27432" marB="27432" anchor="ctr">
                    <a:solidFill>
                      <a:srgbClr val="E8EEF7"/>
                    </a:solidFill>
                  </a:tcPr>
                </a:tc>
                <a:extLst>
                  <a:ext uri="{0D108BD9-81ED-4DB2-BD59-A6C34878D82A}">
                    <a16:rowId xmlns:a16="http://schemas.microsoft.com/office/drawing/2014/main" val="10002"/>
                  </a:ext>
                </a:extLst>
              </a:tr>
              <a:tr h="658368">
                <a:tc>
                  <a:txBody>
                    <a:bodyPr/>
                    <a:lstStyle/>
                    <a:p>
                      <a:r>
                        <a:rPr sz="1100" b="1" i="0">
                          <a:solidFill>
                            <a:srgbClr val="1B2A4A"/>
                          </a:solidFill>
                          <a:latin typeface="Calibri"/>
                        </a:rPr>
                        <a:t>umask</a:t>
                      </a:r>
                    </a:p>
                  </a:txBody>
                  <a:tcPr marL="82296" marR="82296" marT="27432" marB="27432" anchor="ctr">
                    <a:solidFill>
                      <a:srgbClr val="FFFFFF"/>
                    </a:solidFill>
                  </a:tcPr>
                </a:tc>
                <a:tc>
                  <a:txBody>
                    <a:bodyPr/>
                    <a:lstStyle/>
                    <a:p>
                      <a:r>
                        <a:rPr sz="1100" b="0" i="0" dirty="0">
                          <a:solidFill>
                            <a:srgbClr val="3D5A80"/>
                          </a:solidFill>
                          <a:latin typeface="Calibri"/>
                        </a:rPr>
                        <a:t>subtracted from 666 (files) / 777 (</a:t>
                      </a:r>
                      <a:r>
                        <a:rPr sz="1100" b="0" i="0" dirty="0" err="1">
                          <a:solidFill>
                            <a:srgbClr val="3D5A80"/>
                          </a:solidFill>
                          <a:latin typeface="Calibri"/>
                        </a:rPr>
                        <a:t>dirs</a:t>
                      </a:r>
                      <a:r>
                        <a:rPr sz="1100" b="0" i="0" dirty="0">
                          <a:solidFill>
                            <a:srgbClr val="3D5A80"/>
                          </a:solidFill>
                          <a:latin typeface="Calibri"/>
                        </a:rPr>
                        <a:t>) - </a:t>
                      </a:r>
                      <a:r>
                        <a:rPr sz="1100" b="0" i="0" dirty="0" err="1">
                          <a:solidFill>
                            <a:srgbClr val="3D5A80"/>
                          </a:solidFill>
                          <a:latin typeface="Calibri"/>
                        </a:rPr>
                        <a:t>umask</a:t>
                      </a:r>
                      <a:r>
                        <a:rPr sz="1100" b="0" i="0" dirty="0">
                          <a:solidFill>
                            <a:srgbClr val="3D5A80"/>
                          </a:solidFill>
                          <a:latin typeface="Calibri"/>
                        </a:rPr>
                        <a:t> 022 gives 644 files, 755 </a:t>
                      </a:r>
                      <a:r>
                        <a:rPr sz="1100" b="0" i="0" dirty="0" err="1">
                          <a:solidFill>
                            <a:srgbClr val="3D5A80"/>
                          </a:solidFill>
                          <a:latin typeface="Calibri"/>
                        </a:rPr>
                        <a:t>dirs</a:t>
                      </a:r>
                      <a:endParaRPr sz="1100" b="0" i="0" dirty="0">
                        <a:solidFill>
                          <a:srgbClr val="3D5A80"/>
                        </a:solidFill>
                        <a:latin typeface="Calibri"/>
                      </a:endParaRPr>
                    </a:p>
                  </a:txBody>
                  <a:tcPr marL="82296" marR="82296" marT="27432" marB="27432" anchor="ctr">
                    <a:solidFill>
                      <a:srgbClr val="FFFFFF"/>
                    </a:solidFill>
                  </a:tcPr>
                </a:tc>
                <a:extLst>
                  <a:ext uri="{0D108BD9-81ED-4DB2-BD59-A6C34878D82A}">
                    <a16:rowId xmlns:a16="http://schemas.microsoft.com/office/drawing/2014/main" val="10003"/>
                  </a:ext>
                </a:extLst>
              </a:tr>
              <a:tr h="658368">
                <a:tc>
                  <a:txBody>
                    <a:bodyPr/>
                    <a:lstStyle/>
                    <a:p>
                      <a:r>
                        <a:rPr sz="1100" b="1" i="0">
                          <a:solidFill>
                            <a:srgbClr val="1B2A4A"/>
                          </a:solidFill>
                          <a:latin typeface="Calibri"/>
                        </a:rPr>
                        <a:t>chmod / chown / chgrp</a:t>
                      </a:r>
                    </a:p>
                  </a:txBody>
                  <a:tcPr marL="82296" marR="82296" marT="27432" marB="27432" anchor="ctr">
                    <a:solidFill>
                      <a:srgbClr val="E8EEF7"/>
                    </a:solidFill>
                  </a:tcPr>
                </a:tc>
                <a:tc>
                  <a:txBody>
                    <a:bodyPr/>
                    <a:lstStyle/>
                    <a:p>
                      <a:r>
                        <a:rPr sz="1100" b="0" i="0" dirty="0">
                          <a:solidFill>
                            <a:srgbClr val="3D5A80"/>
                          </a:solidFill>
                          <a:latin typeface="Calibri"/>
                        </a:rPr>
                        <a:t>change mode / owner / group - numeric (</a:t>
                      </a:r>
                      <a:r>
                        <a:rPr sz="1100" b="0" i="0" dirty="0" err="1">
                          <a:solidFill>
                            <a:srgbClr val="3D5A80"/>
                          </a:solidFill>
                          <a:latin typeface="Calibri"/>
                        </a:rPr>
                        <a:t>chmod</a:t>
                      </a:r>
                      <a:r>
                        <a:rPr sz="1100" b="0" i="0" dirty="0">
                          <a:solidFill>
                            <a:srgbClr val="3D5A80"/>
                          </a:solidFill>
                          <a:latin typeface="Calibri"/>
                        </a:rPr>
                        <a:t> 750) or symbolic (</a:t>
                      </a:r>
                      <a:r>
                        <a:rPr sz="1100" b="0" i="0" dirty="0" err="1">
                          <a:solidFill>
                            <a:srgbClr val="3D5A80"/>
                          </a:solidFill>
                          <a:latin typeface="Calibri"/>
                        </a:rPr>
                        <a:t>chmod</a:t>
                      </a:r>
                      <a:r>
                        <a:rPr sz="1100" b="0" i="0" dirty="0">
                          <a:solidFill>
                            <a:srgbClr val="3D5A80"/>
                          </a:solidFill>
                          <a:latin typeface="Calibri"/>
                        </a:rPr>
                        <a:t> </a:t>
                      </a:r>
                      <a:r>
                        <a:rPr sz="1100" b="0" i="0" dirty="0" err="1">
                          <a:solidFill>
                            <a:srgbClr val="3D5A80"/>
                          </a:solidFill>
                          <a:latin typeface="Calibri"/>
                        </a:rPr>
                        <a:t>u+x</a:t>
                      </a:r>
                      <a:r>
                        <a:rPr sz="1100" b="0" i="0" dirty="0">
                          <a:solidFill>
                            <a:srgbClr val="3D5A80"/>
                          </a:solidFill>
                          <a:latin typeface="Calibri"/>
                        </a:rPr>
                        <a:t>)</a:t>
                      </a:r>
                    </a:p>
                  </a:txBody>
                  <a:tcPr marL="82296" marR="82296" marT="27432" marB="27432" anchor="ctr">
                    <a:solidFill>
                      <a:srgbClr val="E8EEF7"/>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10908792" cy="777240"/>
          </a:xfrm>
          <a:prstGeom prst="rect">
            <a:avLst/>
          </a:prstGeom>
          <a:noFill/>
        </p:spPr>
        <p:txBody>
          <a:bodyPr wrap="square" lIns="0" tIns="0" rIns="0" bIns="0" anchor="t">
            <a:spAutoFit/>
          </a:bodyPr>
          <a:lstStyle/>
          <a:p>
            <a:r>
              <a:rPr sz="2900" b="1" i="0">
                <a:solidFill>
                  <a:srgbClr val="1B2A4A"/>
                </a:solidFill>
                <a:latin typeface="Cambria"/>
              </a:rPr>
              <a:t>POSIX ACLs for Role-Based Access</a:t>
            </a:r>
          </a:p>
        </p:txBody>
      </p:sp>
      <p:sp>
        <p:nvSpPr>
          <p:cNvPr id="3" name="TextBox 2"/>
          <p:cNvSpPr txBox="1"/>
          <p:nvPr/>
        </p:nvSpPr>
        <p:spPr>
          <a:xfrm>
            <a:off x="640080" y="1243584"/>
            <a:ext cx="10908792" cy="365760"/>
          </a:xfrm>
          <a:prstGeom prst="rect">
            <a:avLst/>
          </a:prstGeom>
          <a:noFill/>
        </p:spPr>
        <p:txBody>
          <a:bodyPr wrap="square" lIns="0" tIns="0" rIns="0" bIns="0" anchor="t">
            <a:spAutoFit/>
          </a:bodyPr>
          <a:lstStyle/>
          <a:p>
            <a:r>
              <a:rPr sz="1250" b="0" i="0">
                <a:solidFill>
                  <a:srgbClr val="3D5A80"/>
                </a:solidFill>
                <a:latin typeface="Calibri"/>
              </a:rPr>
              <a:t>Plain owner/group/other can only express one non-owner role - ACLs grant different access to different users on the same path.</a:t>
            </a:r>
          </a:p>
        </p:txBody>
      </p:sp>
      <p:sp>
        <p:nvSpPr>
          <p:cNvPr id="4" name="Rounded Rectangle 3"/>
          <p:cNvSpPr/>
          <p:nvPr/>
        </p:nvSpPr>
        <p:spPr>
          <a:xfrm>
            <a:off x="2071116" y="1783080"/>
            <a:ext cx="2377440" cy="713232"/>
          </a:xfrm>
          <a:prstGeom prst="round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300" b="1" i="0">
                <a:solidFill>
                  <a:srgbClr val="FFFFFF"/>
                </a:solidFill>
                <a:latin typeface="Calibri"/>
              </a:rPr>
              <a:t>Sysadmin</a:t>
            </a:r>
          </a:p>
          <a:p>
            <a:pPr algn="ctr"/>
            <a:r>
              <a:rPr sz="1050" b="0" i="0">
                <a:solidFill>
                  <a:srgbClr val="FFFFFF"/>
                </a:solidFill>
                <a:latin typeface="Calibri"/>
              </a:rPr>
              <a:t>(alice)</a:t>
            </a:r>
          </a:p>
        </p:txBody>
      </p:sp>
      <p:cxnSp>
        <p:nvCxnSpPr>
          <p:cNvPr id="5" name="Connector 4"/>
          <p:cNvCxnSpPr/>
          <p:nvPr/>
        </p:nvCxnSpPr>
        <p:spPr>
          <a:xfrm>
            <a:off x="3259836" y="2496312"/>
            <a:ext cx="2834640" cy="868680"/>
          </a:xfrm>
          <a:prstGeom prst="line">
            <a:avLst/>
          </a:prstGeom>
          <a:ln w="22225">
            <a:solidFill>
              <a:srgbClr val="00B4D8"/>
            </a:solidFill>
            <a:tailEnd type="triangle" w="med" len="med"/>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796796" y="2679192"/>
            <a:ext cx="2926080" cy="274320"/>
          </a:xfrm>
          <a:prstGeom prst="rect">
            <a:avLst/>
          </a:prstGeom>
          <a:noFill/>
        </p:spPr>
        <p:txBody>
          <a:bodyPr wrap="square" lIns="0" tIns="0" rIns="0" bIns="0" anchor="ctr">
            <a:spAutoFit/>
          </a:bodyPr>
          <a:lstStyle/>
          <a:p>
            <a:pPr algn="ctr"/>
            <a:r>
              <a:rPr sz="1000" b="0" i="1">
                <a:solidFill>
                  <a:srgbClr val="3D5A80"/>
                </a:solidFill>
                <a:latin typeface="Calibri"/>
              </a:rPr>
              <a:t>rwx</a:t>
            </a:r>
          </a:p>
        </p:txBody>
      </p:sp>
      <p:sp>
        <p:nvSpPr>
          <p:cNvPr id="7" name="Rounded Rectangle 6"/>
          <p:cNvSpPr/>
          <p:nvPr/>
        </p:nvSpPr>
        <p:spPr>
          <a:xfrm>
            <a:off x="4905756" y="1783080"/>
            <a:ext cx="2377440" cy="713232"/>
          </a:xfrm>
          <a:prstGeom prst="round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300" b="1" i="0">
                <a:solidFill>
                  <a:srgbClr val="FFFFFF"/>
                </a:solidFill>
                <a:latin typeface="Calibri"/>
              </a:rPr>
              <a:t>DNS Operator</a:t>
            </a:r>
          </a:p>
          <a:p>
            <a:pPr algn="ctr"/>
            <a:r>
              <a:rPr sz="1050" b="0" i="0">
                <a:solidFill>
                  <a:srgbClr val="FFFFFF"/>
                </a:solidFill>
                <a:latin typeface="Calibri"/>
              </a:rPr>
              <a:t>(bob)</a:t>
            </a:r>
          </a:p>
        </p:txBody>
      </p:sp>
      <p:cxnSp>
        <p:nvCxnSpPr>
          <p:cNvPr id="8" name="Connector 7"/>
          <p:cNvCxnSpPr/>
          <p:nvPr/>
        </p:nvCxnSpPr>
        <p:spPr>
          <a:xfrm>
            <a:off x="6094476" y="2496312"/>
            <a:ext cx="0" cy="868680"/>
          </a:xfrm>
          <a:prstGeom prst="line">
            <a:avLst/>
          </a:prstGeom>
          <a:ln w="22225">
            <a:solidFill>
              <a:srgbClr val="00B4D8"/>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3899916" y="2679192"/>
            <a:ext cx="2926080" cy="274320"/>
          </a:xfrm>
          <a:prstGeom prst="rect">
            <a:avLst/>
          </a:prstGeom>
          <a:noFill/>
        </p:spPr>
        <p:txBody>
          <a:bodyPr wrap="square" lIns="0" tIns="0" rIns="0" bIns="0" anchor="ctr">
            <a:spAutoFit/>
          </a:bodyPr>
          <a:lstStyle/>
          <a:p>
            <a:pPr algn="ctr"/>
            <a:r>
              <a:rPr sz="1000" b="0" i="1">
                <a:solidFill>
                  <a:srgbClr val="3D5A80"/>
                </a:solidFill>
                <a:latin typeface="Calibri"/>
              </a:rPr>
              <a:t>rwx (zones only)</a:t>
            </a:r>
          </a:p>
        </p:txBody>
      </p:sp>
      <p:sp>
        <p:nvSpPr>
          <p:cNvPr id="10" name="Rounded Rectangle 9"/>
          <p:cNvSpPr/>
          <p:nvPr/>
        </p:nvSpPr>
        <p:spPr>
          <a:xfrm>
            <a:off x="7740396" y="1783080"/>
            <a:ext cx="2377440" cy="713232"/>
          </a:xfrm>
          <a:prstGeom prst="round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300" b="1" i="0">
                <a:solidFill>
                  <a:srgbClr val="FFFFFF"/>
                </a:solidFill>
                <a:latin typeface="Calibri"/>
              </a:rPr>
              <a:t>Auditor</a:t>
            </a:r>
          </a:p>
          <a:p>
            <a:pPr algn="ctr"/>
            <a:r>
              <a:rPr sz="1050" b="0" i="0">
                <a:solidFill>
                  <a:srgbClr val="FFFFFF"/>
                </a:solidFill>
                <a:latin typeface="Calibri"/>
              </a:rPr>
              <a:t>(carol)</a:t>
            </a:r>
          </a:p>
        </p:txBody>
      </p:sp>
      <p:cxnSp>
        <p:nvCxnSpPr>
          <p:cNvPr id="11" name="Connector 10"/>
          <p:cNvCxnSpPr/>
          <p:nvPr/>
        </p:nvCxnSpPr>
        <p:spPr>
          <a:xfrm flipH="1">
            <a:off x="6094476" y="2496312"/>
            <a:ext cx="2834640" cy="868680"/>
          </a:xfrm>
          <a:prstGeom prst="line">
            <a:avLst/>
          </a:prstGeom>
          <a:ln w="22225">
            <a:solidFill>
              <a:srgbClr val="00B4D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466076" y="2679192"/>
            <a:ext cx="2926080" cy="274320"/>
          </a:xfrm>
          <a:prstGeom prst="rect">
            <a:avLst/>
          </a:prstGeom>
          <a:noFill/>
        </p:spPr>
        <p:txBody>
          <a:bodyPr wrap="square" lIns="0" tIns="0" rIns="0" bIns="0" anchor="ctr">
            <a:spAutoFit/>
          </a:bodyPr>
          <a:lstStyle/>
          <a:p>
            <a:pPr algn="ctr"/>
            <a:r>
              <a:rPr sz="1000" b="0" i="1">
                <a:solidFill>
                  <a:srgbClr val="3D5A80"/>
                </a:solidFill>
                <a:latin typeface="Calibri"/>
              </a:rPr>
              <a:t>r-x</a:t>
            </a:r>
          </a:p>
        </p:txBody>
      </p:sp>
      <p:sp>
        <p:nvSpPr>
          <p:cNvPr id="13" name="Rounded Rectangle 12"/>
          <p:cNvSpPr/>
          <p:nvPr/>
        </p:nvSpPr>
        <p:spPr>
          <a:xfrm>
            <a:off x="4448556" y="3364992"/>
            <a:ext cx="3291840" cy="685800"/>
          </a:xfrm>
          <a:prstGeom prst="round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300" b="1" i="0">
                <a:solidFill>
                  <a:srgbClr val="FFFFFF"/>
                </a:solidFill>
                <a:latin typeface="Calibri"/>
              </a:rPr>
              <a:t>/var/named + /data/shared</a:t>
            </a:r>
          </a:p>
        </p:txBody>
      </p:sp>
      <p:graphicFrame>
        <p:nvGraphicFramePr>
          <p:cNvPr id="14" name="Table 13"/>
          <p:cNvGraphicFramePr>
            <a:graphicFrameLocks noGrp="1"/>
          </p:cNvGraphicFramePr>
          <p:nvPr/>
        </p:nvGraphicFramePr>
        <p:xfrm>
          <a:off x="640080" y="4325112"/>
          <a:ext cx="10908792" cy="2258568"/>
        </p:xfrm>
        <a:graphic>
          <a:graphicData uri="http://schemas.openxmlformats.org/drawingml/2006/table">
            <a:tbl>
              <a:tblPr/>
              <a:tblGrid>
                <a:gridCol w="237744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4325112">
                  <a:extLst>
                    <a:ext uri="{9D8B030D-6E8A-4147-A177-3AD203B41FA5}">
                      <a16:colId xmlns:a16="http://schemas.microsoft.com/office/drawing/2014/main" val="20002"/>
                    </a:ext>
                  </a:extLst>
                </a:gridCol>
              </a:tblGrid>
              <a:tr h="564642">
                <a:tc>
                  <a:txBody>
                    <a:bodyPr/>
                    <a:lstStyle/>
                    <a:p>
                      <a:r>
                        <a:rPr sz="1200" b="1" i="0">
                          <a:solidFill>
                            <a:srgbClr val="FFFFFF"/>
                          </a:solidFill>
                          <a:latin typeface="Calibri"/>
                        </a:rPr>
                        <a:t>Layer</a:t>
                      </a:r>
                    </a:p>
                  </a:txBody>
                  <a:tcPr marL="82296" marR="82296" marT="27432" marB="27432" anchor="ctr">
                    <a:solidFill>
                      <a:srgbClr val="1B2A4A"/>
                    </a:solidFill>
                  </a:tcPr>
                </a:tc>
                <a:tc>
                  <a:txBody>
                    <a:bodyPr/>
                    <a:lstStyle/>
                    <a:p>
                      <a:r>
                        <a:rPr sz="1200" b="1" i="0">
                          <a:solidFill>
                            <a:srgbClr val="FFFFFF"/>
                          </a:solidFill>
                          <a:latin typeface="Calibri"/>
                        </a:rPr>
                        <a:t>Strength</a:t>
                      </a:r>
                    </a:p>
                  </a:txBody>
                  <a:tcPr marL="82296" marR="82296" marT="27432" marB="27432" anchor="ctr">
                    <a:solidFill>
                      <a:srgbClr val="1B2A4A"/>
                    </a:solidFill>
                  </a:tcPr>
                </a:tc>
                <a:tc>
                  <a:txBody>
                    <a:bodyPr/>
                    <a:lstStyle/>
                    <a:p>
                      <a:r>
                        <a:rPr sz="1200" b="1" i="0">
                          <a:solidFill>
                            <a:srgbClr val="FFFFFF"/>
                          </a:solidFill>
                          <a:latin typeface="Calibri"/>
                        </a:rPr>
                        <a:t>Weakness</a:t>
                      </a:r>
                    </a:p>
                  </a:txBody>
                  <a:tcPr marL="82296" marR="82296" marT="27432" marB="27432" anchor="ctr">
                    <a:solidFill>
                      <a:srgbClr val="1B2A4A"/>
                    </a:solidFill>
                  </a:tcPr>
                </a:tc>
                <a:extLst>
                  <a:ext uri="{0D108BD9-81ED-4DB2-BD59-A6C34878D82A}">
                    <a16:rowId xmlns:a16="http://schemas.microsoft.com/office/drawing/2014/main" val="10000"/>
                  </a:ext>
                </a:extLst>
              </a:tr>
              <a:tr h="564642">
                <a:tc>
                  <a:txBody>
                    <a:bodyPr/>
                    <a:lstStyle/>
                    <a:p>
                      <a:r>
                        <a:rPr sz="1050" b="1" i="0">
                          <a:solidFill>
                            <a:srgbClr val="1B2A4A"/>
                          </a:solidFill>
                          <a:latin typeface="Calibri"/>
                        </a:rPr>
                        <a:t>Plain Unix permissions</a:t>
                      </a:r>
                    </a:p>
                  </a:txBody>
                  <a:tcPr marL="82296" marR="82296" marT="27432" marB="27432" anchor="ctr">
                    <a:solidFill>
                      <a:srgbClr val="FFFFFF"/>
                    </a:solidFill>
                  </a:tcPr>
                </a:tc>
                <a:tc>
                  <a:txBody>
                    <a:bodyPr/>
                    <a:lstStyle/>
                    <a:p>
                      <a:r>
                        <a:rPr sz="1050" b="0" i="0">
                          <a:solidFill>
                            <a:srgbClr val="3D5A80"/>
                          </a:solidFill>
                          <a:latin typeface="Calibri"/>
                        </a:rPr>
                        <a:t>Universal, zero extra tooling</a:t>
                      </a:r>
                    </a:p>
                  </a:txBody>
                  <a:tcPr marL="82296" marR="82296" marT="27432" marB="27432" anchor="ctr">
                    <a:solidFill>
                      <a:srgbClr val="FFFFFF"/>
                    </a:solidFill>
                  </a:tcPr>
                </a:tc>
                <a:tc>
                  <a:txBody>
                    <a:bodyPr/>
                    <a:lstStyle/>
                    <a:p>
                      <a:r>
                        <a:rPr sz="1050" b="0" i="0">
                          <a:solidFill>
                            <a:srgbClr val="3D5A80"/>
                          </a:solidFill>
                          <a:latin typeface="Calibri"/>
                        </a:rPr>
                        <a:t>Only one non-owner role (the group)</a:t>
                      </a:r>
                    </a:p>
                  </a:txBody>
                  <a:tcPr marL="82296" marR="82296" marT="27432" marB="27432" anchor="ctr">
                    <a:solidFill>
                      <a:srgbClr val="FFFFFF"/>
                    </a:solidFill>
                  </a:tcPr>
                </a:tc>
                <a:extLst>
                  <a:ext uri="{0D108BD9-81ED-4DB2-BD59-A6C34878D82A}">
                    <a16:rowId xmlns:a16="http://schemas.microsoft.com/office/drawing/2014/main" val="10001"/>
                  </a:ext>
                </a:extLst>
              </a:tr>
              <a:tr h="564642">
                <a:tc>
                  <a:txBody>
                    <a:bodyPr/>
                    <a:lstStyle/>
                    <a:p>
                      <a:r>
                        <a:rPr sz="1050" b="1" i="0">
                          <a:solidFill>
                            <a:srgbClr val="1B2A4A"/>
                          </a:solidFill>
                          <a:latin typeface="Calibri"/>
                        </a:rPr>
                        <a:t>POSIX ACLs (this lab)</a:t>
                      </a:r>
                    </a:p>
                  </a:txBody>
                  <a:tcPr marL="82296" marR="82296" marT="27432" marB="27432" anchor="ctr">
                    <a:solidFill>
                      <a:srgbClr val="E8EEF7"/>
                    </a:solidFill>
                  </a:tcPr>
                </a:tc>
                <a:tc>
                  <a:txBody>
                    <a:bodyPr/>
                    <a:lstStyle/>
                    <a:p>
                      <a:r>
                        <a:rPr sz="1050" b="0" i="0">
                          <a:solidFill>
                            <a:srgbClr val="3D5A80"/>
                          </a:solidFill>
                          <a:latin typeface="Calibri"/>
                        </a:rPr>
                        <a:t>Per-user/group grants without restructuring paths</a:t>
                      </a:r>
                    </a:p>
                  </a:txBody>
                  <a:tcPr marL="82296" marR="82296" marT="27432" marB="27432" anchor="ctr">
                    <a:solidFill>
                      <a:srgbClr val="E8EEF7"/>
                    </a:solidFill>
                  </a:tcPr>
                </a:tc>
                <a:tc>
                  <a:txBody>
                    <a:bodyPr/>
                    <a:lstStyle/>
                    <a:p>
                      <a:r>
                        <a:rPr sz="1050" b="0" i="0">
                          <a:solidFill>
                            <a:srgbClr val="3D5A80"/>
                          </a:solidFill>
                          <a:latin typeface="Calibri"/>
                        </a:rPr>
                        <a:t>Still discretionary - owner/root can override</a:t>
                      </a:r>
                    </a:p>
                  </a:txBody>
                  <a:tcPr marL="82296" marR="82296" marT="27432" marB="27432" anchor="ctr">
                    <a:solidFill>
                      <a:srgbClr val="E8EEF7"/>
                    </a:solidFill>
                  </a:tcPr>
                </a:tc>
                <a:extLst>
                  <a:ext uri="{0D108BD9-81ED-4DB2-BD59-A6C34878D82A}">
                    <a16:rowId xmlns:a16="http://schemas.microsoft.com/office/drawing/2014/main" val="10002"/>
                  </a:ext>
                </a:extLst>
              </a:tr>
              <a:tr h="564642">
                <a:tc>
                  <a:txBody>
                    <a:bodyPr/>
                    <a:lstStyle/>
                    <a:p>
                      <a:r>
                        <a:rPr sz="1050" b="1" i="0">
                          <a:solidFill>
                            <a:srgbClr val="1B2A4A"/>
                          </a:solidFill>
                          <a:latin typeface="Calibri"/>
                        </a:rPr>
                        <a:t>SELinux (MAC)</a:t>
                      </a:r>
                    </a:p>
                  </a:txBody>
                  <a:tcPr marL="82296" marR="82296" marT="27432" marB="27432" anchor="ctr">
                    <a:solidFill>
                      <a:srgbClr val="FFFFFF"/>
                    </a:solidFill>
                  </a:tcPr>
                </a:tc>
                <a:tc>
                  <a:txBody>
                    <a:bodyPr/>
                    <a:lstStyle/>
                    <a:p>
                      <a:r>
                        <a:rPr sz="1050" b="0" i="0">
                          <a:solidFill>
                            <a:srgbClr val="3D5A80"/>
                          </a:solidFill>
                          <a:latin typeface="Calibri"/>
                        </a:rPr>
                        <a:t>Enforced by policy, even against the owner</a:t>
                      </a:r>
                    </a:p>
                  </a:txBody>
                  <a:tcPr marL="82296" marR="82296" marT="27432" marB="27432" anchor="ctr">
                    <a:solidFill>
                      <a:srgbClr val="FFFFFF"/>
                    </a:solidFill>
                  </a:tcPr>
                </a:tc>
                <a:tc>
                  <a:txBody>
                    <a:bodyPr/>
                    <a:lstStyle/>
                    <a:p>
                      <a:r>
                        <a:rPr sz="1050" b="0" i="0">
                          <a:solidFill>
                            <a:srgbClr val="3D5A80"/>
                          </a:solidFill>
                          <a:latin typeface="Calibri"/>
                        </a:rPr>
                        <a:t>Real authoring overhead, steep learning curve</a:t>
                      </a:r>
                    </a:p>
                  </a:txBody>
                  <a:tcPr marL="82296" marR="82296" marT="27432" marB="27432" anchor="ctr">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2"/>
          <p:cNvSpPr txBox="1"/>
          <p:nvPr/>
        </p:nvSpPr>
        <p:spPr>
          <a:xfrm>
            <a:off x="640080" y="457200"/>
            <a:ext cx="10908792" cy="777240"/>
          </a:xfrm>
          <a:prstGeom prst="rect">
            <a:avLst/>
          </a:prstGeom>
          <a:noFill/>
        </p:spPr>
        <p:txBody>
          <a:bodyPr wrap="square" anchor="t" lIns="0" rIns="0" tIns="0" bIns="0">
            <a:spAutoFit/>
          </a:bodyPr>
          <a:lstStyle/>
          <a:p>
            <a:r>
              <a:rPr sz="2900" b="1" i="0">
                <a:solidFill>
                  <a:srgbClr val="1B2A4A"/>
                </a:solidFill>
                <a:latin typeface="Cambria"/>
              </a:rPr>
              <a:t>Attacks &amp; Defenses: Local Access Control</a:t>
            </a:r>
          </a:p>
        </p:txBody>
      </p:sp>
      <p:sp>
        <p:nvSpPr>
          <p:cNvPr id="3" name="TextBox 3"/>
          <p:cNvSpPr txBox="1"/>
          <p:nvPr/>
        </p:nvSpPr>
        <p:spPr>
          <a:xfrm>
            <a:off x="640080" y="1243584"/>
            <a:ext cx="10908792" cy="365760"/>
          </a:xfrm>
          <a:prstGeom prst="rect">
            <a:avLst/>
          </a:prstGeom>
          <a:noFill/>
        </p:spPr>
        <p:txBody>
          <a:bodyPr wrap="square" anchor="t" lIns="0" rIns="0" tIns="0" bIns="0">
            <a:spAutoFit/>
          </a:bodyPr>
          <a:lstStyle/>
          <a:p>
            <a:r>
              <a:rPr sz="1250" b="0" i="0">
                <a:solidFill>
                  <a:srgbClr val="3D5A80"/>
                </a:solidFill>
                <a:latin typeface="Calibri"/>
              </a:rPr>
              <a:t>Every row below is something the FHS, permissions, and ACL model from this section either enables or stops.</a:t>
            </a:r>
          </a:p>
        </p:txBody>
      </p:sp>
      <p:graphicFrame>
        <p:nvGraphicFramePr>
          <p:cNvPr id="4" name="Table 4"/>
          <p:cNvGraphicFramePr>
            <a:graphicFrameLocks noGrp="1"/>
          </p:cNvGraphicFramePr>
          <p:nvPr/>
        </p:nvGraphicFramePr>
        <p:xfrm>
          <a:off x="640080" y="1828800"/>
          <a:ext cx="10908792" cy="4754880"/>
        </p:xfrm>
        <a:graphic>
          <a:graphicData uri="http://schemas.openxmlformats.org/drawingml/2006/table">
            <a:tbl>
              <a:tblPr firstRow="0" bandRow="0"/>
              <a:tblGrid>
                <a:gridCol w="2600000"/>
                <a:gridCol w="4200000"/>
                <a:gridCol w="4108792"/>
              </a:tblGrid>
              <a:tr h="792480">
                <a:tc>
                  <a:txBody>
                    <a:bodyPr wrap="square"/>
                    <a:lstStyle/>
                    <a:p>
                      <a:r>
                        <a:rPr sz="1200" b="1" i="0">
                          <a:solidFill>
                            <a:srgbClr val="FFFFFF"/>
                          </a:solidFill>
                          <a:latin typeface="Calibri"/>
                        </a:rPr>
                        <a:t>Attack</a:t>
                      </a:r>
                    </a:p>
                  </a:txBody>
                  <a:tcPr anchor="ctr" marL="82296" marR="82296" marT="27432" marB="27432">
                    <a:solidFill>
                      <a:srgbClr val="1B2A4A"/>
                    </a:solidFill>
                  </a:tcPr>
                </a:tc>
                <a:tc>
                  <a:txBody>
                    <a:bodyPr wrap="square"/>
                    <a:lstStyle/>
                    <a:p>
                      <a:r>
                        <a:rPr sz="1200" b="1" i="0">
                          <a:solidFill>
                            <a:srgbClr val="FFFFFF"/>
                          </a:solidFill>
                          <a:latin typeface="Calibri"/>
                        </a:rPr>
                        <a:t>How It Works</a:t>
                      </a:r>
                    </a:p>
                  </a:txBody>
                  <a:tcPr anchor="ctr" marL="82296" marR="82296" marT="27432" marB="27432">
                    <a:solidFill>
                      <a:srgbClr val="1B2A4A"/>
                    </a:solidFill>
                  </a:tcPr>
                </a:tc>
                <a:tc>
                  <a:txBody>
                    <a:bodyPr wrap="square"/>
                    <a:lstStyle/>
                    <a:p>
                      <a:r>
                        <a:rPr sz="1200" b="1" i="0">
                          <a:solidFill>
                            <a:srgbClr val="FFFFFF"/>
                          </a:solidFill>
                          <a:latin typeface="Calibri"/>
                        </a:rPr>
                        <a:t>Defense</a:t>
                      </a:r>
                    </a:p>
                  </a:txBody>
                  <a:tcPr anchor="ctr" marL="82296" marR="82296" marT="27432" marB="27432">
                    <a:solidFill>
                      <a:srgbClr val="1B2A4A"/>
                    </a:solidFill>
                  </a:tcPr>
                </a:tc>
              </a:tr>
              <a:tr h="792480">
                <a:tc>
                  <a:txBody>
                    <a:bodyPr wrap="square"/>
                    <a:lstStyle/>
                    <a:p>
                      <a:r>
                        <a:rPr sz="1050" b="1" i="0">
                          <a:solidFill>
                            <a:srgbClr val="1B2A4A"/>
                          </a:solidFill>
                          <a:latin typeface="Calibri"/>
                        </a:rPr>
                        <a:t>SUID/SGID binary abuse</a:t>
                      </a:r>
                    </a:p>
                  </a:txBody>
                  <a:tcPr anchor="ctr" marL="82296" marR="82296" marT="27432" marB="27432">
                    <a:solidFill>
                      <a:srgbClr val="FFFFFF"/>
                    </a:solidFill>
                  </a:tcPr>
                </a:tc>
                <a:tc>
                  <a:txBody>
                    <a:bodyPr wrap="square"/>
                    <a:lstStyle/>
                    <a:p>
                      <a:r>
                        <a:rPr sz="1050" b="0" i="0">
                          <a:solidFill>
                            <a:srgbClr val="3D5A80"/>
                          </a:solidFill>
                          <a:latin typeface="Calibri"/>
                        </a:rPr>
                        <a:t>Attacker-writable or unexpected SUID binary executes attacker code with the file owner's privileges (often root)</a:t>
                      </a:r>
                    </a:p>
                  </a:txBody>
                  <a:tcPr anchor="ctr" marL="82296" marR="82296" marT="27432" marB="27432">
                    <a:solidFill>
                      <a:srgbClr val="FFFFFF"/>
                    </a:solidFill>
                  </a:tcPr>
                </a:tc>
                <a:tc>
                  <a:txBody>
                    <a:bodyPr wrap="square"/>
                    <a:lstStyle/>
                    <a:p>
                      <a:r>
                        <a:rPr sz="1050" b="0" i="0">
                          <a:solidFill>
                            <a:srgbClr val="3D5A80"/>
                          </a:solidFill>
                          <a:latin typeface="Calibri"/>
                        </a:rPr>
                        <a:t>Whitelist expected SUID/SGID binaries; flag anything new (unexpected_suid)</a:t>
                      </a:r>
                    </a:p>
                  </a:txBody>
                  <a:tcPr anchor="ctr" marL="82296" marR="82296" marT="27432" marB="27432">
                    <a:solidFill>
                      <a:srgbClr val="FFFFFF"/>
                    </a:solidFill>
                  </a:tcPr>
                </a:tc>
              </a:tr>
              <a:tr h="792480">
                <a:tc>
                  <a:txBody>
                    <a:bodyPr wrap="square"/>
                    <a:lstStyle/>
                    <a:p>
                      <a:r>
                        <a:rPr sz="1050" b="1" i="0">
                          <a:solidFill>
                            <a:srgbClr val="1B2A4A"/>
                          </a:solidFill>
                          <a:latin typeface="Calibri"/>
                        </a:rPr>
                        <a:t>World-writable files</a:t>
                      </a:r>
                    </a:p>
                  </a:txBody>
                  <a:tcPr anchor="ctr" marL="82296" marR="82296" marT="27432" marB="27432">
                    <a:solidFill>
                      <a:srgbClr val="E8EEF7"/>
                    </a:solidFill>
                  </a:tcPr>
                </a:tc>
                <a:tc>
                  <a:txBody>
                    <a:bodyPr wrap="square"/>
                    <a:lstStyle/>
                    <a:p>
                      <a:r>
                        <a:rPr sz="1050" b="0" i="0">
                          <a:solidFill>
                            <a:srgbClr val="3D5A80"/>
                          </a:solidFill>
                          <a:latin typeface="Calibri"/>
                        </a:rPr>
                        <a:t>A world-writable file a privileged process reads or runs lets any local user plant malicious content</a:t>
                      </a:r>
                    </a:p>
                  </a:txBody>
                  <a:tcPr anchor="ctr" marL="82296" marR="82296" marT="27432" marB="27432">
                    <a:solidFill>
                      <a:srgbClr val="E8EEF7"/>
                    </a:solidFill>
                  </a:tcPr>
                </a:tc>
                <a:tc>
                  <a:txBody>
                    <a:bodyPr wrap="square"/>
                    <a:lstStyle/>
                    <a:p>
                      <a:r>
                        <a:rPr sz="1050" b="0" i="0">
                          <a:solidFill>
                            <a:srgbClr val="3D5A80"/>
                          </a:solidFill>
                          <a:latin typeface="Calibri"/>
                        </a:rPr>
                        <a:t>Regular permission audits (world_writable); keep /etc, /usr, service dirs non-writable by group/other</a:t>
                      </a:r>
                    </a:p>
                  </a:txBody>
                  <a:tcPr anchor="ctr" marL="82296" marR="82296" marT="27432" marB="27432">
                    <a:solidFill>
                      <a:srgbClr val="E8EEF7"/>
                    </a:solidFill>
                  </a:tcPr>
                </a:tc>
              </a:tr>
              <a:tr h="792480">
                <a:tc>
                  <a:txBody>
                    <a:bodyPr wrap="square"/>
                    <a:lstStyle/>
                    <a:p>
                      <a:r>
                        <a:rPr sz="1050" b="1" i="0">
                          <a:solidFill>
                            <a:srgbClr val="1B2A4A"/>
                          </a:solidFill>
                          <a:latin typeface="Calibri"/>
                        </a:rPr>
                        <a:t>Bad permissions on identity files</a:t>
                      </a:r>
                    </a:p>
                  </a:txBody>
                  <a:tcPr anchor="ctr" marL="82296" marR="82296" marT="27432" marB="27432">
                    <a:solidFill>
                      <a:srgbClr val="FFFFFF"/>
                    </a:solidFill>
                  </a:tcPr>
                </a:tc>
                <a:tc>
                  <a:txBody>
                    <a:bodyPr wrap="square"/>
                    <a:lstStyle/>
                    <a:p>
                      <a:r>
                        <a:rPr sz="1050" b="0" i="0">
                          <a:solidFill>
                            <a:srgbClr val="3D5A80"/>
                          </a:solidFill>
                          <a:latin typeface="Calibri"/>
                        </a:rPr>
                        <a:t>Wrong owner/mode on /etc/shadow or /etc/sudoers exposes password hashes or lets a user edit privilege policy</a:t>
                      </a:r>
                    </a:p>
                  </a:txBody>
                  <a:tcPr anchor="ctr" marL="82296" marR="82296" marT="27432" marB="27432">
                    <a:solidFill>
                      <a:srgbClr val="FFFFFF"/>
                    </a:solidFill>
                  </a:tcPr>
                </a:tc>
                <a:tc>
                  <a:txBody>
                    <a:bodyPr wrap="square"/>
                    <a:lstStyle/>
                    <a:p>
                      <a:r>
                        <a:rPr sz="1050" b="0" i="0">
                          <a:solidFill>
                            <a:srgbClr val="3D5A80"/>
                          </a:solidFill>
                          <a:latin typeface="Calibri"/>
                        </a:rPr>
                        <a:t>Enforce exact owner/mode (bad_permissions): shadow root:root 000, sudoers root:root 440</a:t>
                      </a:r>
                    </a:p>
                  </a:txBody>
                  <a:tcPr anchor="ctr" marL="82296" marR="82296" marT="27432" marB="27432">
                    <a:solidFill>
                      <a:srgbClr val="FFFFFF"/>
                    </a:solidFill>
                  </a:tcPr>
                </a:tc>
              </a:tr>
              <a:tr h="792480">
                <a:tc>
                  <a:txBody>
                    <a:bodyPr wrap="square"/>
                    <a:lstStyle/>
                    <a:p>
                      <a:r>
                        <a:rPr sz="1050" b="1" i="0">
                          <a:solidFill>
                            <a:srgbClr val="1B2A4A"/>
                          </a:solidFill>
                          <a:latin typeface="Calibri"/>
                        </a:rPr>
                        <a:t>ACL drift</a:t>
                      </a:r>
                    </a:p>
                  </a:txBody>
                  <a:tcPr anchor="ctr" marL="82296" marR="82296" marT="27432" marB="27432">
                    <a:solidFill>
                      <a:srgbClr val="E8EEF7"/>
                    </a:solidFill>
                  </a:tcPr>
                </a:tc>
                <a:tc>
                  <a:txBody>
                    <a:bodyPr wrap="square"/>
                    <a:lstStyle/>
                    <a:p>
                      <a:r>
                        <a:rPr sz="1050" b="0" i="0">
                          <a:solidFill>
                            <a:srgbClr val="3D5A80"/>
                          </a:solidFill>
                          <a:latin typeface="Calibri"/>
                        </a:rPr>
                        <a:t>An ACL set once and never re-verified silently grants stale access as roles change</a:t>
                      </a:r>
                    </a:p>
                  </a:txBody>
                  <a:tcPr anchor="ctr" marL="82296" marR="82296" marT="27432" marB="27432">
                    <a:solidFill>
                      <a:srgbClr val="E8EEF7"/>
                    </a:solidFill>
                  </a:tcPr>
                </a:tc>
                <a:tc>
                  <a:txBody>
                    <a:bodyPr wrap="square"/>
                    <a:lstStyle/>
                    <a:p>
                      <a:r>
                        <a:rPr sz="1050" b="0" i="0">
                          <a:solidFill>
                            <a:srgbClr val="3D5A80"/>
                          </a:solidFill>
                          <a:latin typeface="Calibri"/>
                        </a:rPr>
                        <a:t>Periodic getfacl audits against a documented access matrix, not "set and forget"</a:t>
                      </a:r>
                    </a:p>
                  </a:txBody>
                  <a:tcPr anchor="ctr" marL="82296" marR="82296" marT="27432" marB="27432">
                    <a:solidFill>
                      <a:srgbClr val="E8EEF7"/>
                    </a:solidFill>
                  </a:tcPr>
                </a:tc>
              </a:tr>
              <a:tr h="792480">
                <a:tc>
                  <a:txBody>
                    <a:bodyPr wrap="square"/>
                    <a:lstStyle/>
                    <a:p>
                      <a:r>
                        <a:rPr sz="1050" b="1" i="0">
                          <a:solidFill>
                            <a:srgbClr val="1B2A4A"/>
                          </a:solidFill>
                          <a:latin typeface="Calibri"/>
                        </a:rPr>
                        <a:t>Orphaned/unowned files</a:t>
                      </a:r>
                    </a:p>
                  </a:txBody>
                  <a:tcPr anchor="ctr" marL="82296" marR="82296" marT="27432" marB="27432">
                    <a:solidFill>
                      <a:srgbClr val="FFFFFF"/>
                    </a:solidFill>
                  </a:tcPr>
                </a:tc>
                <a:tc>
                  <a:txBody>
                    <a:bodyPr wrap="square"/>
                    <a:lstStyle/>
                    <a:p>
                      <a:r>
                        <a:rPr sz="1050" b="0" i="0">
                          <a:solidFill>
                            <a:srgbClr val="3D5A80"/>
                          </a:solidFill>
                          <a:latin typeface="Calibri"/>
                        </a:rPr>
                        <a:t>A deleted account's UID left on disk can be silently inherited if a new account reuses that UID</a:t>
                      </a:r>
                    </a:p>
                  </a:txBody>
                  <a:tcPr anchor="ctr" marL="82296" marR="82296" marT="27432" marB="27432">
                    <a:solidFill>
                      <a:srgbClr val="FFFFFF"/>
                    </a:solidFill>
                  </a:tcPr>
                </a:tc>
                <a:tc>
                  <a:txBody>
                    <a:bodyPr wrap="square"/>
                    <a:lstStyle/>
                    <a:p>
                      <a:r>
                        <a:rPr sz="1050" b="0" i="0">
                          <a:solidFill>
                            <a:srgbClr val="3D5A80"/>
                          </a:solidFill>
                          <a:latin typeface="Calibri"/>
                        </a:rPr>
                        <a:t>unowned_file flags files owned by a UID/GID with no matching account; clean up before reassigning UIDs</a:t>
                      </a:r>
                    </a:p>
                  </a:txBody>
                  <a:tcPr anchor="ctr" marL="82296" marR="82296" marT="27432" marB="27432">
                    <a:solidFill>
                      <a:srgbClr val="FFFFFF"/>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B2A4A"/>
        </a:solidFill>
        <a:effectLst/>
      </p:bgPr>
    </p:bg>
    <p:spTree>
      <p:nvGrpSpPr>
        <p:cNvPr id="1" name=""/>
        <p:cNvGrpSpPr/>
        <p:nvPr/>
      </p:nvGrpSpPr>
      <p:grpSpPr>
        <a:xfrm>
          <a:off x="0" y="0"/>
          <a:ext cx="0" cy="0"/>
          <a:chOff x="0" y="0"/>
          <a:chExt cx="0" cy="0"/>
        </a:xfrm>
      </p:grpSpPr>
      <p:sp>
        <p:nvSpPr>
          <p:cNvPr id="2" name="Rectangle 1"/>
          <p:cNvSpPr/>
          <p:nvPr/>
        </p:nvSpPr>
        <p:spPr>
          <a:xfrm>
            <a:off x="822960" y="2962656"/>
            <a:ext cx="1005840" cy="100584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3000" b="1" i="0">
                <a:solidFill>
                  <a:srgbClr val="1B2A4A"/>
                </a:solidFill>
                <a:latin typeface="Cambria"/>
              </a:rPr>
              <a:t>02</a:t>
            </a:r>
          </a:p>
        </p:txBody>
      </p:sp>
      <p:sp>
        <p:nvSpPr>
          <p:cNvPr id="3" name="TextBox 2"/>
          <p:cNvSpPr txBox="1"/>
          <p:nvPr/>
        </p:nvSpPr>
        <p:spPr>
          <a:xfrm>
            <a:off x="2103120" y="3008376"/>
            <a:ext cx="9235440" cy="914400"/>
          </a:xfrm>
          <a:prstGeom prst="rect">
            <a:avLst/>
          </a:prstGeom>
          <a:noFill/>
        </p:spPr>
        <p:txBody>
          <a:bodyPr wrap="square" lIns="0" tIns="0" rIns="0" bIns="0" anchor="ctr">
            <a:spAutoFit/>
          </a:bodyPr>
          <a:lstStyle/>
          <a:p>
            <a:pPr algn="l"/>
            <a:r>
              <a:rPr sz="3600" b="1" i="0">
                <a:solidFill>
                  <a:srgbClr val="FFFFFF"/>
                </a:solidFill>
                <a:latin typeface="Cambria"/>
              </a:rPr>
              <a:t>Least-Privilege Sudo Design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10908792" cy="777240"/>
          </a:xfrm>
          <a:prstGeom prst="rect">
            <a:avLst/>
          </a:prstGeom>
          <a:noFill/>
        </p:spPr>
        <p:txBody>
          <a:bodyPr wrap="square" lIns="0" tIns="0" rIns="0" bIns="0" anchor="t">
            <a:spAutoFit/>
          </a:bodyPr>
          <a:lstStyle/>
          <a:p>
            <a:r>
              <a:rPr sz="2900" b="1" i="0">
                <a:solidFill>
                  <a:srgbClr val="1B2A4A"/>
                </a:solidFill>
                <a:latin typeface="Cambria"/>
              </a:rPr>
              <a:t>Designing a Sudo Policy: sudoers.d &amp; Cmnd_Alias</a:t>
            </a:r>
          </a:p>
        </p:txBody>
      </p:sp>
      <p:sp>
        <p:nvSpPr>
          <p:cNvPr id="3" name="TextBox 2"/>
          <p:cNvSpPr txBox="1"/>
          <p:nvPr/>
        </p:nvSpPr>
        <p:spPr>
          <a:xfrm>
            <a:off x="640080" y="1243584"/>
            <a:ext cx="10908792" cy="365760"/>
          </a:xfrm>
          <a:prstGeom prst="rect">
            <a:avLst/>
          </a:prstGeom>
          <a:noFill/>
        </p:spPr>
        <p:txBody>
          <a:bodyPr wrap="square" lIns="0" tIns="0" rIns="0" bIns="0" anchor="t">
            <a:spAutoFit/>
          </a:bodyPr>
          <a:lstStyle/>
          <a:p>
            <a:r>
              <a:rPr sz="1250" b="0" i="0">
                <a:solidFill>
                  <a:srgbClr val="3D5A80"/>
                </a:solidFill>
                <a:latin typeface="Calibri"/>
              </a:rPr>
              <a:t>Never edit /etc/sudoers directly - drop numbered, role-scoped files into /etc/sudoers.d/ instead.</a:t>
            </a:r>
          </a:p>
        </p:txBody>
      </p:sp>
      <p:sp>
        <p:nvSpPr>
          <p:cNvPr id="4" name="Rounded Rectangle 3"/>
          <p:cNvSpPr/>
          <p:nvPr/>
        </p:nvSpPr>
        <p:spPr>
          <a:xfrm>
            <a:off x="640080" y="1783080"/>
            <a:ext cx="10908792" cy="1691640"/>
          </a:xfrm>
          <a:prstGeom prst="roundRect">
            <a:avLst/>
          </a:prstGeom>
          <a:solidFill>
            <a:srgbClr val="111B30"/>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91440" rIns="137160" bIns="91440" rtlCol="0" anchor="ctr"/>
          <a:lstStyle/>
          <a:p>
            <a:pPr algn="l"/>
            <a:r>
              <a:rPr sz="1300" b="0" i="0">
                <a:solidFill>
                  <a:srgbClr val="00B4D8"/>
                </a:solidFill>
                <a:latin typeface="Courier New"/>
              </a:rPr>
              <a:t># /etc/sudoers.d/20-operators</a:t>
            </a:r>
          </a:p>
          <a:p>
            <a:pPr algn="l"/>
            <a:r>
              <a:rPr sz="1300" b="0" i="0">
                <a:solidFill>
                  <a:srgbClr val="FFFFFF"/>
                </a:solidFill>
                <a:latin typeface="Courier New"/>
              </a:rPr>
              <a:t>Cmnd_Alias DNSCTL = /usr/bin/systemctl restart named, \</a:t>
            </a:r>
          </a:p>
          <a:p>
            <a:pPr algn="l"/>
            <a:r>
              <a:rPr sz="1300" b="0" i="0">
                <a:solidFill>
                  <a:srgbClr val="FFFFFF"/>
                </a:solidFill>
                <a:latin typeface="Courier New"/>
              </a:rPr>
              <a:t>                    /usr/bin/systemctl status named, \</a:t>
            </a:r>
          </a:p>
          <a:p>
            <a:pPr algn="l"/>
            <a:r>
              <a:rPr sz="1300" b="0" i="0">
                <a:solidFill>
                  <a:srgbClr val="FFFFFF"/>
                </a:solidFill>
                <a:latin typeface="Courier New"/>
              </a:rPr>
              <a:t>                    /usr/bin/systemctl reload named</a:t>
            </a:r>
          </a:p>
          <a:p>
            <a:pPr algn="l"/>
            <a:r>
              <a:rPr sz="1300" b="0" i="0">
                <a:solidFill>
                  <a:srgbClr val="FFFFFF"/>
                </a:solidFill>
                <a:latin typeface="Courier New"/>
              </a:rPr>
              <a:t>bob ALL=(root) NOPASSWD: DNSCTL</a:t>
            </a:r>
          </a:p>
        </p:txBody>
      </p:sp>
      <p:graphicFrame>
        <p:nvGraphicFramePr>
          <p:cNvPr id="5" name="Table 4"/>
          <p:cNvGraphicFramePr>
            <a:graphicFrameLocks noGrp="1"/>
          </p:cNvGraphicFramePr>
          <p:nvPr/>
        </p:nvGraphicFramePr>
        <p:xfrm>
          <a:off x="640080" y="3749040"/>
          <a:ext cx="10908792" cy="2834640"/>
        </p:xfrm>
        <a:graphic>
          <a:graphicData uri="http://schemas.openxmlformats.org/drawingml/2006/table">
            <a:tbl>
              <a:tblPr/>
              <a:tblGrid>
                <a:gridCol w="237744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6428232">
                  <a:extLst>
                    <a:ext uri="{9D8B030D-6E8A-4147-A177-3AD203B41FA5}">
                      <a16:colId xmlns:a16="http://schemas.microsoft.com/office/drawing/2014/main" val="20002"/>
                    </a:ext>
                  </a:extLst>
                </a:gridCol>
              </a:tblGrid>
              <a:tr h="708660">
                <a:tc>
                  <a:txBody>
                    <a:bodyPr/>
                    <a:lstStyle/>
                    <a:p>
                      <a:r>
                        <a:rPr sz="1250" b="1" i="0">
                          <a:solidFill>
                            <a:srgbClr val="FFFFFF"/>
                          </a:solidFill>
                          <a:latin typeface="Calibri"/>
                        </a:rPr>
                        <a:t>Role</a:t>
                      </a:r>
                    </a:p>
                  </a:txBody>
                  <a:tcPr marL="82296" marR="82296" marT="27432" marB="27432" anchor="ctr">
                    <a:solidFill>
                      <a:srgbClr val="1B2A4A"/>
                    </a:solidFill>
                  </a:tcPr>
                </a:tc>
                <a:tc>
                  <a:txBody>
                    <a:bodyPr/>
                    <a:lstStyle/>
                    <a:p>
                      <a:r>
                        <a:rPr sz="1250" b="1" i="0">
                          <a:solidFill>
                            <a:srgbClr val="FFFFFF"/>
                          </a:solidFill>
                          <a:latin typeface="Calibri"/>
                        </a:rPr>
                        <a:t>sudoers.d file</a:t>
                      </a:r>
                    </a:p>
                  </a:txBody>
                  <a:tcPr marL="82296" marR="82296" marT="27432" marB="27432" anchor="ctr">
                    <a:solidFill>
                      <a:srgbClr val="1B2A4A"/>
                    </a:solidFill>
                  </a:tcPr>
                </a:tc>
                <a:tc>
                  <a:txBody>
                    <a:bodyPr/>
                    <a:lstStyle/>
                    <a:p>
                      <a:r>
                        <a:rPr sz="1250" b="1" i="0">
                          <a:solidFill>
                            <a:srgbClr val="FFFFFF"/>
                          </a:solidFill>
                          <a:latin typeface="Calibri"/>
                        </a:rPr>
                        <a:t>Access granted</a:t>
                      </a:r>
                    </a:p>
                  </a:txBody>
                  <a:tcPr marL="82296" marR="82296" marT="27432" marB="27432" anchor="ctr">
                    <a:solidFill>
                      <a:srgbClr val="1B2A4A"/>
                    </a:solidFill>
                  </a:tcPr>
                </a:tc>
                <a:extLst>
                  <a:ext uri="{0D108BD9-81ED-4DB2-BD59-A6C34878D82A}">
                    <a16:rowId xmlns:a16="http://schemas.microsoft.com/office/drawing/2014/main" val="10000"/>
                  </a:ext>
                </a:extLst>
              </a:tr>
              <a:tr h="708660">
                <a:tc>
                  <a:txBody>
                    <a:bodyPr/>
                    <a:lstStyle/>
                    <a:p>
                      <a:r>
                        <a:rPr sz="1100" b="1" i="0">
                          <a:solidFill>
                            <a:srgbClr val="1B2A4A"/>
                          </a:solidFill>
                          <a:latin typeface="Calibri"/>
                        </a:rPr>
                        <a:t>alice - sysadmin</a:t>
                      </a:r>
                    </a:p>
                  </a:txBody>
                  <a:tcPr marL="82296" marR="82296" marT="27432" marB="27432" anchor="ctr">
                    <a:solidFill>
                      <a:srgbClr val="FFFFFF"/>
                    </a:solidFill>
                  </a:tcPr>
                </a:tc>
                <a:tc>
                  <a:txBody>
                    <a:bodyPr/>
                    <a:lstStyle/>
                    <a:p>
                      <a:r>
                        <a:rPr sz="1100" b="0" i="0">
                          <a:solidFill>
                            <a:srgbClr val="3D5A80"/>
                          </a:solidFill>
                          <a:latin typeface="Calibri"/>
                        </a:rPr>
                        <a:t>10-sysadmins</a:t>
                      </a:r>
                    </a:p>
                  </a:txBody>
                  <a:tcPr marL="82296" marR="82296" marT="27432" marB="27432" anchor="ctr">
                    <a:solidFill>
                      <a:srgbClr val="FFFFFF"/>
                    </a:solidFill>
                  </a:tcPr>
                </a:tc>
                <a:tc>
                  <a:txBody>
                    <a:bodyPr/>
                    <a:lstStyle/>
                    <a:p>
                      <a:r>
                        <a:rPr sz="1100" b="0" i="0">
                          <a:solidFill>
                            <a:srgbClr val="3D5A80"/>
                          </a:solidFill>
                          <a:latin typeface="Calibri"/>
                        </a:rPr>
                        <a:t>ALL=(ALL:ALL) ALL, password required (no NOPASSWD)</a:t>
                      </a:r>
                    </a:p>
                  </a:txBody>
                  <a:tcPr marL="82296" marR="82296" marT="27432" marB="27432" anchor="ctr">
                    <a:solidFill>
                      <a:srgbClr val="FFFFFF"/>
                    </a:solidFill>
                  </a:tcPr>
                </a:tc>
                <a:extLst>
                  <a:ext uri="{0D108BD9-81ED-4DB2-BD59-A6C34878D82A}">
                    <a16:rowId xmlns:a16="http://schemas.microsoft.com/office/drawing/2014/main" val="10001"/>
                  </a:ext>
                </a:extLst>
              </a:tr>
              <a:tr h="708660">
                <a:tc>
                  <a:txBody>
                    <a:bodyPr/>
                    <a:lstStyle/>
                    <a:p>
                      <a:r>
                        <a:rPr sz="1100" b="1" i="0">
                          <a:solidFill>
                            <a:srgbClr val="1B2A4A"/>
                          </a:solidFill>
                          <a:latin typeface="Calibri"/>
                        </a:rPr>
                        <a:t>bob - DNS operator</a:t>
                      </a:r>
                    </a:p>
                  </a:txBody>
                  <a:tcPr marL="82296" marR="82296" marT="27432" marB="27432" anchor="ctr">
                    <a:solidFill>
                      <a:srgbClr val="E8EEF7"/>
                    </a:solidFill>
                  </a:tcPr>
                </a:tc>
                <a:tc>
                  <a:txBody>
                    <a:bodyPr/>
                    <a:lstStyle/>
                    <a:p>
                      <a:r>
                        <a:rPr sz="1100" b="0" i="0">
                          <a:solidFill>
                            <a:srgbClr val="3D5A80"/>
                          </a:solidFill>
                          <a:latin typeface="Calibri"/>
                        </a:rPr>
                        <a:t>20-operators</a:t>
                      </a:r>
                    </a:p>
                  </a:txBody>
                  <a:tcPr marL="82296" marR="82296" marT="27432" marB="27432" anchor="ctr">
                    <a:solidFill>
                      <a:srgbClr val="E8EEF7"/>
                    </a:solidFill>
                  </a:tcPr>
                </a:tc>
                <a:tc>
                  <a:txBody>
                    <a:bodyPr/>
                    <a:lstStyle/>
                    <a:p>
                      <a:r>
                        <a:rPr sz="1100" b="0" i="0">
                          <a:solidFill>
                            <a:srgbClr val="3D5A80"/>
                          </a:solidFill>
                          <a:latin typeface="Calibri"/>
                        </a:rPr>
                        <a:t>NOPASSWD, but only the 3 DNSCTL commands - no shell escape</a:t>
                      </a:r>
                    </a:p>
                  </a:txBody>
                  <a:tcPr marL="82296" marR="82296" marT="27432" marB="27432" anchor="ctr">
                    <a:solidFill>
                      <a:srgbClr val="E8EEF7"/>
                    </a:solidFill>
                  </a:tcPr>
                </a:tc>
                <a:extLst>
                  <a:ext uri="{0D108BD9-81ED-4DB2-BD59-A6C34878D82A}">
                    <a16:rowId xmlns:a16="http://schemas.microsoft.com/office/drawing/2014/main" val="10002"/>
                  </a:ext>
                </a:extLst>
              </a:tr>
              <a:tr h="708660">
                <a:tc>
                  <a:txBody>
                    <a:bodyPr/>
                    <a:lstStyle/>
                    <a:p>
                      <a:r>
                        <a:rPr sz="1100" b="1" i="0">
                          <a:solidFill>
                            <a:srgbClr val="1B2A4A"/>
                          </a:solidFill>
                          <a:latin typeface="Calibri"/>
                        </a:rPr>
                        <a:t>carol - auditor</a:t>
                      </a:r>
                    </a:p>
                  </a:txBody>
                  <a:tcPr marL="82296" marR="82296" marT="27432" marB="27432" anchor="ctr">
                    <a:solidFill>
                      <a:srgbClr val="FFFFFF"/>
                    </a:solidFill>
                  </a:tcPr>
                </a:tc>
                <a:tc>
                  <a:txBody>
                    <a:bodyPr/>
                    <a:lstStyle/>
                    <a:p>
                      <a:r>
                        <a:rPr sz="1100" b="0" i="0">
                          <a:solidFill>
                            <a:srgbClr val="3D5A80"/>
                          </a:solidFill>
                          <a:latin typeface="Calibri"/>
                        </a:rPr>
                        <a:t>30-auditors</a:t>
                      </a:r>
                    </a:p>
                  </a:txBody>
                  <a:tcPr marL="82296" marR="82296" marT="27432" marB="27432" anchor="ctr">
                    <a:solidFill>
                      <a:srgbClr val="FFFFFF"/>
                    </a:solidFill>
                  </a:tcPr>
                </a:tc>
                <a:tc>
                  <a:txBody>
                    <a:bodyPr/>
                    <a:lstStyle/>
                    <a:p>
                      <a:r>
                        <a:rPr sz="1100" b="0" i="0">
                          <a:solidFill>
                            <a:srgbClr val="3D5A80"/>
                          </a:solidFill>
                          <a:latin typeface="Calibri"/>
                        </a:rPr>
                        <a:t>No entry at all = no sudo access</a:t>
                      </a:r>
                    </a:p>
                  </a:txBody>
                  <a:tcPr marL="82296" marR="82296" marT="27432" marB="27432" anchor="ctr">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10908792" cy="777240"/>
          </a:xfrm>
          <a:prstGeom prst="rect">
            <a:avLst/>
          </a:prstGeom>
          <a:noFill/>
        </p:spPr>
        <p:txBody>
          <a:bodyPr wrap="square" lIns="0" tIns="0" rIns="0" bIns="0" anchor="t">
            <a:spAutoFit/>
          </a:bodyPr>
          <a:lstStyle/>
          <a:p>
            <a:r>
              <a:rPr sz="2900" b="1" i="0">
                <a:solidFill>
                  <a:srgbClr val="1B2A4A"/>
                </a:solidFill>
                <a:latin typeface="Cambria"/>
              </a:rPr>
              <a:t>Beyond sudoers: Alternatives at Scale</a:t>
            </a:r>
          </a:p>
        </p:txBody>
      </p:sp>
      <p:sp>
        <p:nvSpPr>
          <p:cNvPr id="3" name="TextBox 2"/>
          <p:cNvSpPr txBox="1"/>
          <p:nvPr/>
        </p:nvSpPr>
        <p:spPr>
          <a:xfrm>
            <a:off x="640080" y="1243584"/>
            <a:ext cx="10908792" cy="365760"/>
          </a:xfrm>
          <a:prstGeom prst="rect">
            <a:avLst/>
          </a:prstGeom>
          <a:noFill/>
        </p:spPr>
        <p:txBody>
          <a:bodyPr wrap="square" lIns="0" tIns="0" rIns="0" bIns="0" anchor="t">
            <a:spAutoFit/>
          </a:bodyPr>
          <a:lstStyle/>
          <a:p>
            <a:r>
              <a:rPr sz="1250" b="0" i="0">
                <a:solidFill>
                  <a:srgbClr val="3D5A80"/>
                </a:solidFill>
                <a:latin typeface="Calibri"/>
              </a:rPr>
              <a:t>Per-host sudoers.d is the right tool for one box - here's what you reach for as fleet size or risk profile changes.</a:t>
            </a:r>
          </a:p>
        </p:txBody>
      </p:sp>
      <p:graphicFrame>
        <p:nvGraphicFramePr>
          <p:cNvPr id="4" name="Table 3"/>
          <p:cNvGraphicFramePr>
            <a:graphicFrameLocks noGrp="1"/>
          </p:cNvGraphicFramePr>
          <p:nvPr/>
        </p:nvGraphicFramePr>
        <p:xfrm>
          <a:off x="640080" y="1828800"/>
          <a:ext cx="10908792" cy="4754880"/>
        </p:xfrm>
        <a:graphic>
          <a:graphicData uri="http://schemas.openxmlformats.org/drawingml/2006/table">
            <a:tbl>
              <a:tblPr/>
              <a:tblGrid>
                <a:gridCol w="22860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3593592">
                  <a:extLst>
                    <a:ext uri="{9D8B030D-6E8A-4147-A177-3AD203B41FA5}">
                      <a16:colId xmlns:a16="http://schemas.microsoft.com/office/drawing/2014/main" val="20002"/>
                    </a:ext>
                  </a:extLst>
                </a:gridCol>
                <a:gridCol w="3657600">
                  <a:extLst>
                    <a:ext uri="{9D8B030D-6E8A-4147-A177-3AD203B41FA5}">
                      <a16:colId xmlns:a16="http://schemas.microsoft.com/office/drawing/2014/main" val="20003"/>
                    </a:ext>
                  </a:extLst>
                </a:gridCol>
              </a:tblGrid>
              <a:tr h="792480">
                <a:tc>
                  <a:txBody>
                    <a:bodyPr/>
                    <a:lstStyle/>
                    <a:p>
                      <a:r>
                        <a:rPr sz="1200" b="1" i="0">
                          <a:solidFill>
                            <a:srgbClr val="FFFFFF"/>
                          </a:solidFill>
                          <a:latin typeface="Calibri"/>
                        </a:rPr>
                        <a:t>Approach</a:t>
                      </a:r>
                    </a:p>
                  </a:txBody>
                  <a:tcPr marL="82296" marR="82296" marT="27432" marB="27432" anchor="ctr">
                    <a:solidFill>
                      <a:srgbClr val="1B2A4A"/>
                    </a:solidFill>
                  </a:tcPr>
                </a:tc>
                <a:tc>
                  <a:txBody>
                    <a:bodyPr/>
                    <a:lstStyle/>
                    <a:p>
                      <a:r>
                        <a:rPr sz="1200" b="1" i="0">
                          <a:solidFill>
                            <a:srgbClr val="FFFFFF"/>
                          </a:solidFill>
                          <a:latin typeface="Calibri"/>
                        </a:rPr>
                        <a:t>Scope</a:t>
                      </a:r>
                    </a:p>
                  </a:txBody>
                  <a:tcPr marL="82296" marR="82296" marT="27432" marB="27432" anchor="ctr">
                    <a:solidFill>
                      <a:srgbClr val="1B2A4A"/>
                    </a:solidFill>
                  </a:tcPr>
                </a:tc>
                <a:tc>
                  <a:txBody>
                    <a:bodyPr/>
                    <a:lstStyle/>
                    <a:p>
                      <a:r>
                        <a:rPr sz="1200" b="1" i="0">
                          <a:solidFill>
                            <a:srgbClr val="FFFFFF"/>
                          </a:solidFill>
                          <a:latin typeface="Calibri"/>
                        </a:rPr>
                        <a:t>Strength</a:t>
                      </a:r>
                    </a:p>
                  </a:txBody>
                  <a:tcPr marL="82296" marR="82296" marT="27432" marB="27432" anchor="ctr">
                    <a:solidFill>
                      <a:srgbClr val="1B2A4A"/>
                    </a:solidFill>
                  </a:tcPr>
                </a:tc>
                <a:tc>
                  <a:txBody>
                    <a:bodyPr/>
                    <a:lstStyle/>
                    <a:p>
                      <a:r>
                        <a:rPr sz="1200" b="1" i="0">
                          <a:solidFill>
                            <a:srgbClr val="FFFFFF"/>
                          </a:solidFill>
                          <a:latin typeface="Calibri"/>
                        </a:rPr>
                        <a:t>Weakness</a:t>
                      </a:r>
                    </a:p>
                  </a:txBody>
                  <a:tcPr marL="82296" marR="82296" marT="27432" marB="27432" anchor="ctr">
                    <a:solidFill>
                      <a:srgbClr val="1B2A4A"/>
                    </a:solidFill>
                  </a:tcPr>
                </a:tc>
                <a:extLst>
                  <a:ext uri="{0D108BD9-81ED-4DB2-BD59-A6C34878D82A}">
                    <a16:rowId xmlns:a16="http://schemas.microsoft.com/office/drawing/2014/main" val="10000"/>
                  </a:ext>
                </a:extLst>
              </a:tr>
              <a:tr h="792480">
                <a:tc>
                  <a:txBody>
                    <a:bodyPr/>
                    <a:lstStyle/>
                    <a:p>
                      <a:r>
                        <a:rPr sz="1050" b="1" i="0">
                          <a:solidFill>
                            <a:srgbClr val="1B2A4A"/>
                          </a:solidFill>
                          <a:latin typeface="Calibri"/>
                        </a:rPr>
                        <a:t>sudoers.d (this lab)</a:t>
                      </a:r>
                    </a:p>
                  </a:txBody>
                  <a:tcPr marL="82296" marR="82296" marT="27432" marB="27432" anchor="ctr">
                    <a:solidFill>
                      <a:srgbClr val="FFFFFF"/>
                    </a:solidFill>
                  </a:tcPr>
                </a:tc>
                <a:tc>
                  <a:txBody>
                    <a:bodyPr/>
                    <a:lstStyle/>
                    <a:p>
                      <a:r>
                        <a:rPr sz="1050" b="0" i="0">
                          <a:solidFill>
                            <a:srgbClr val="3D5A80"/>
                          </a:solidFill>
                          <a:latin typeface="Calibri"/>
                        </a:rPr>
                        <a:t>Per-host</a:t>
                      </a:r>
                    </a:p>
                  </a:txBody>
                  <a:tcPr marL="82296" marR="82296" marT="27432" marB="27432" anchor="ctr">
                    <a:solidFill>
                      <a:srgbClr val="FFFFFF"/>
                    </a:solidFill>
                  </a:tcPr>
                </a:tc>
                <a:tc>
                  <a:txBody>
                    <a:bodyPr/>
                    <a:lstStyle/>
                    <a:p>
                      <a:r>
                        <a:rPr sz="1050" b="0" i="0">
                          <a:solidFill>
                            <a:srgbClr val="3D5A80"/>
                          </a:solidFill>
                          <a:latin typeface="Calibri"/>
                        </a:rPr>
                        <a:t>Simple, plain-text, diffable, no dependencies</a:t>
                      </a:r>
                    </a:p>
                  </a:txBody>
                  <a:tcPr marL="82296" marR="82296" marT="27432" marB="27432" anchor="ctr">
                    <a:solidFill>
                      <a:srgbClr val="FFFFFF"/>
                    </a:solidFill>
                  </a:tcPr>
                </a:tc>
                <a:tc>
                  <a:txBody>
                    <a:bodyPr/>
                    <a:lstStyle/>
                    <a:p>
                      <a:r>
                        <a:rPr sz="1050" b="0" i="0">
                          <a:solidFill>
                            <a:srgbClr val="3D5A80"/>
                          </a:solidFill>
                          <a:latin typeface="Calibri"/>
                        </a:rPr>
                        <a:t>Policy drifts host-to-host, nothing keeps them in sync</a:t>
                      </a:r>
                    </a:p>
                  </a:txBody>
                  <a:tcPr marL="82296" marR="82296" marT="27432" marB="27432" anchor="ctr">
                    <a:solidFill>
                      <a:srgbClr val="FFFFFF"/>
                    </a:solidFill>
                  </a:tcPr>
                </a:tc>
                <a:extLst>
                  <a:ext uri="{0D108BD9-81ED-4DB2-BD59-A6C34878D82A}">
                    <a16:rowId xmlns:a16="http://schemas.microsoft.com/office/drawing/2014/main" val="10001"/>
                  </a:ext>
                </a:extLst>
              </a:tr>
              <a:tr h="792480">
                <a:tc>
                  <a:txBody>
                    <a:bodyPr/>
                    <a:lstStyle/>
                    <a:p>
                      <a:r>
                        <a:rPr sz="1050" b="1" i="0">
                          <a:solidFill>
                            <a:srgbClr val="1B2A4A"/>
                          </a:solidFill>
                          <a:latin typeface="Calibri"/>
                        </a:rPr>
                        <a:t>doas / opendoas</a:t>
                      </a:r>
                    </a:p>
                  </a:txBody>
                  <a:tcPr marL="82296" marR="82296" marT="27432" marB="27432" anchor="ctr">
                    <a:solidFill>
                      <a:srgbClr val="E8EEF7"/>
                    </a:solidFill>
                  </a:tcPr>
                </a:tc>
                <a:tc>
                  <a:txBody>
                    <a:bodyPr/>
                    <a:lstStyle/>
                    <a:p>
                      <a:r>
                        <a:rPr sz="1050" b="0" i="0">
                          <a:solidFill>
                            <a:srgbClr val="3D5A80"/>
                          </a:solidFill>
                          <a:latin typeface="Calibri"/>
                        </a:rPr>
                        <a:t>Per-host</a:t>
                      </a:r>
                    </a:p>
                  </a:txBody>
                  <a:tcPr marL="82296" marR="82296" marT="27432" marB="27432" anchor="ctr">
                    <a:solidFill>
                      <a:srgbClr val="E8EEF7"/>
                    </a:solidFill>
                  </a:tcPr>
                </a:tc>
                <a:tc>
                  <a:txBody>
                    <a:bodyPr/>
                    <a:lstStyle/>
                    <a:p>
                      <a:r>
                        <a:rPr sz="1050" b="0" i="0">
                          <a:solidFill>
                            <a:srgbClr val="3D5A80"/>
                          </a:solidFill>
                          <a:latin typeface="Calibri"/>
                        </a:rPr>
                        <a:t>Tiny codebase, much smaller attack surface</a:t>
                      </a:r>
                    </a:p>
                  </a:txBody>
                  <a:tcPr marL="82296" marR="82296" marT="27432" marB="27432" anchor="ctr">
                    <a:solidFill>
                      <a:srgbClr val="E8EEF7"/>
                    </a:solidFill>
                  </a:tcPr>
                </a:tc>
                <a:tc>
                  <a:txBody>
                    <a:bodyPr/>
                    <a:lstStyle/>
                    <a:p>
                      <a:r>
                        <a:rPr sz="1050" b="0" i="0">
                          <a:solidFill>
                            <a:srgbClr val="3D5A80"/>
                          </a:solidFill>
                          <a:latin typeface="Calibri"/>
                        </a:rPr>
                        <a:t>Fewer features, not in RHEL/Rocky default repos</a:t>
                      </a:r>
                    </a:p>
                  </a:txBody>
                  <a:tcPr marL="82296" marR="82296" marT="27432" marB="27432" anchor="ctr">
                    <a:solidFill>
                      <a:srgbClr val="E8EEF7"/>
                    </a:solidFill>
                  </a:tcPr>
                </a:tc>
                <a:extLst>
                  <a:ext uri="{0D108BD9-81ED-4DB2-BD59-A6C34878D82A}">
                    <a16:rowId xmlns:a16="http://schemas.microsoft.com/office/drawing/2014/main" val="10002"/>
                  </a:ext>
                </a:extLst>
              </a:tr>
              <a:tr h="792480">
                <a:tc>
                  <a:txBody>
                    <a:bodyPr/>
                    <a:lstStyle/>
                    <a:p>
                      <a:r>
                        <a:rPr sz="1050" b="1" i="0">
                          <a:solidFill>
                            <a:srgbClr val="1B2A4A"/>
                          </a:solidFill>
                          <a:latin typeface="Calibri"/>
                        </a:rPr>
                        <a:t>FreeIPA / Red Hat IdM</a:t>
                      </a:r>
                    </a:p>
                  </a:txBody>
                  <a:tcPr marL="82296" marR="82296" marT="27432" marB="27432" anchor="ctr">
                    <a:solidFill>
                      <a:srgbClr val="FFFFFF"/>
                    </a:solidFill>
                  </a:tcPr>
                </a:tc>
                <a:tc>
                  <a:txBody>
                    <a:bodyPr/>
                    <a:lstStyle/>
                    <a:p>
                      <a:r>
                        <a:rPr sz="1050" b="0" i="0">
                          <a:solidFill>
                            <a:srgbClr val="3D5A80"/>
                          </a:solidFill>
                          <a:latin typeface="Calibri"/>
                        </a:rPr>
                        <a:t>Fleet-wide</a:t>
                      </a:r>
                    </a:p>
                  </a:txBody>
                  <a:tcPr marL="82296" marR="82296" marT="27432" marB="27432" anchor="ctr">
                    <a:solidFill>
                      <a:srgbClr val="FFFFFF"/>
                    </a:solidFill>
                  </a:tcPr>
                </a:tc>
                <a:tc>
                  <a:txBody>
                    <a:bodyPr/>
                    <a:lstStyle/>
                    <a:p>
                      <a:r>
                        <a:rPr sz="1050" b="0" i="0">
                          <a:solidFill>
                            <a:srgbClr val="3D5A80"/>
                          </a:solidFill>
                          <a:latin typeface="Calibri"/>
                        </a:rPr>
                        <a:t>Sudo rules live in LDAP, apply consistently everywhere</a:t>
                      </a:r>
                    </a:p>
                  </a:txBody>
                  <a:tcPr marL="82296" marR="82296" marT="27432" marB="27432" anchor="ctr">
                    <a:solidFill>
                      <a:srgbClr val="FFFFFF"/>
                    </a:solidFill>
                  </a:tcPr>
                </a:tc>
                <a:tc>
                  <a:txBody>
                    <a:bodyPr/>
                    <a:lstStyle/>
                    <a:p>
                      <a:r>
                        <a:rPr sz="1050" b="0" i="0">
                          <a:solidFill>
                            <a:srgbClr val="3D5A80"/>
                          </a:solidFill>
                          <a:latin typeface="Calibri"/>
                        </a:rPr>
                        <a:t>Hard dependency on directory-service availability</a:t>
                      </a:r>
                    </a:p>
                  </a:txBody>
                  <a:tcPr marL="82296" marR="82296" marT="27432" marB="27432" anchor="ctr">
                    <a:solidFill>
                      <a:srgbClr val="FFFFFF"/>
                    </a:solidFill>
                  </a:tcPr>
                </a:tc>
                <a:extLst>
                  <a:ext uri="{0D108BD9-81ED-4DB2-BD59-A6C34878D82A}">
                    <a16:rowId xmlns:a16="http://schemas.microsoft.com/office/drawing/2014/main" val="10003"/>
                  </a:ext>
                </a:extLst>
              </a:tr>
              <a:tr h="792480">
                <a:tc>
                  <a:txBody>
                    <a:bodyPr/>
                    <a:lstStyle/>
                    <a:p>
                      <a:r>
                        <a:rPr sz="1050" b="1" i="0">
                          <a:solidFill>
                            <a:srgbClr val="1B2A4A"/>
                          </a:solidFill>
                          <a:latin typeface="Calibri"/>
                        </a:rPr>
                        <a:t>PAM-gated sudo (MFA)</a:t>
                      </a:r>
                    </a:p>
                  </a:txBody>
                  <a:tcPr marL="82296" marR="82296" marT="27432" marB="27432" anchor="ctr">
                    <a:solidFill>
                      <a:srgbClr val="E8EEF7"/>
                    </a:solidFill>
                  </a:tcPr>
                </a:tc>
                <a:tc>
                  <a:txBody>
                    <a:bodyPr/>
                    <a:lstStyle/>
                    <a:p>
                      <a:r>
                        <a:rPr sz="1050" b="0" i="0">
                          <a:solidFill>
                            <a:srgbClr val="3D5A80"/>
                          </a:solidFill>
                          <a:latin typeface="Calibri"/>
                        </a:rPr>
                        <a:t>Per-host or fleet</a:t>
                      </a:r>
                    </a:p>
                  </a:txBody>
                  <a:tcPr marL="82296" marR="82296" marT="27432" marB="27432" anchor="ctr">
                    <a:solidFill>
                      <a:srgbClr val="E8EEF7"/>
                    </a:solidFill>
                  </a:tcPr>
                </a:tc>
                <a:tc>
                  <a:txBody>
                    <a:bodyPr/>
                    <a:lstStyle/>
                    <a:p>
                      <a:r>
                        <a:rPr sz="1050" b="0" i="0">
                          <a:solidFill>
                            <a:srgbClr val="3D5A80"/>
                          </a:solidFill>
                          <a:latin typeface="Calibri"/>
                        </a:rPr>
                        <a:t>A second factor meaningfully raises the bar</a:t>
                      </a:r>
                    </a:p>
                  </a:txBody>
                  <a:tcPr marL="82296" marR="82296" marT="27432" marB="27432" anchor="ctr">
                    <a:solidFill>
                      <a:srgbClr val="E8EEF7"/>
                    </a:solidFill>
                  </a:tcPr>
                </a:tc>
                <a:tc>
                  <a:txBody>
                    <a:bodyPr/>
                    <a:lstStyle/>
                    <a:p>
                      <a:r>
                        <a:rPr sz="1050" b="0" i="0">
                          <a:solidFill>
                            <a:srgbClr val="3D5A80"/>
                          </a:solidFill>
                          <a:latin typeface="Calibri"/>
                        </a:rPr>
                        <a:t>Enrollment/recovery overhead, a new lockout mode</a:t>
                      </a:r>
                    </a:p>
                  </a:txBody>
                  <a:tcPr marL="82296" marR="82296" marT="27432" marB="27432" anchor="ctr">
                    <a:solidFill>
                      <a:srgbClr val="E8EEF7"/>
                    </a:solidFill>
                  </a:tcPr>
                </a:tc>
                <a:extLst>
                  <a:ext uri="{0D108BD9-81ED-4DB2-BD59-A6C34878D82A}">
                    <a16:rowId xmlns:a16="http://schemas.microsoft.com/office/drawing/2014/main" val="10004"/>
                  </a:ext>
                </a:extLst>
              </a:tr>
              <a:tr h="792480">
                <a:tc>
                  <a:txBody>
                    <a:bodyPr/>
                    <a:lstStyle/>
                    <a:p>
                      <a:r>
                        <a:rPr sz="1050" b="1" i="0">
                          <a:solidFill>
                            <a:srgbClr val="1B2A4A"/>
                          </a:solidFill>
                          <a:latin typeface="Calibri"/>
                        </a:rPr>
                        <a:t>Commercial PAM/PIM</a:t>
                      </a:r>
                    </a:p>
                  </a:txBody>
                  <a:tcPr marL="82296" marR="82296" marT="27432" marB="27432" anchor="ctr">
                    <a:solidFill>
                      <a:srgbClr val="FFFFFF"/>
                    </a:solidFill>
                  </a:tcPr>
                </a:tc>
                <a:tc>
                  <a:txBody>
                    <a:bodyPr/>
                    <a:lstStyle/>
                    <a:p>
                      <a:r>
                        <a:rPr sz="1050" b="0" i="0">
                          <a:solidFill>
                            <a:srgbClr val="3D5A80"/>
                          </a:solidFill>
                          <a:latin typeface="Calibri"/>
                        </a:rPr>
                        <a:t>Fleet-wide</a:t>
                      </a:r>
                    </a:p>
                  </a:txBody>
                  <a:tcPr marL="82296" marR="82296" marT="27432" marB="27432" anchor="ctr">
                    <a:solidFill>
                      <a:srgbClr val="FFFFFF"/>
                    </a:solidFill>
                  </a:tcPr>
                </a:tc>
                <a:tc>
                  <a:txBody>
                    <a:bodyPr/>
                    <a:lstStyle/>
                    <a:p>
                      <a:r>
                        <a:rPr sz="1050" b="0" i="0">
                          <a:solidFill>
                            <a:srgbClr val="3D5A80"/>
                          </a:solidFill>
                          <a:latin typeface="Calibri"/>
                        </a:rPr>
                        <a:t>Session recording, JIT elevation, credential vaulting</a:t>
                      </a:r>
                    </a:p>
                  </a:txBody>
                  <a:tcPr marL="82296" marR="82296" marT="27432" marB="27432" anchor="ctr">
                    <a:solidFill>
                      <a:srgbClr val="FFFFFF"/>
                    </a:solidFill>
                  </a:tcPr>
                </a:tc>
                <a:tc>
                  <a:txBody>
                    <a:bodyPr/>
                    <a:lstStyle/>
                    <a:p>
                      <a:r>
                        <a:rPr sz="1050" b="0" i="0">
                          <a:solidFill>
                            <a:srgbClr val="3D5A80"/>
                          </a:solidFill>
                          <a:latin typeface="Calibri"/>
                        </a:rPr>
                        <a:t>Cost and complexity hard to justify below a certain size</a:t>
                      </a:r>
                    </a:p>
                  </a:txBody>
                  <a:tcPr marL="82296" marR="82296" marT="27432" marB="27432" anchor="ctr">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2"/>
          <p:cNvSpPr txBox="1"/>
          <p:nvPr/>
        </p:nvSpPr>
        <p:spPr>
          <a:xfrm>
            <a:off x="640080" y="457200"/>
            <a:ext cx="10908792" cy="777240"/>
          </a:xfrm>
          <a:prstGeom prst="rect">
            <a:avLst/>
          </a:prstGeom>
          <a:noFill/>
        </p:spPr>
        <p:txBody>
          <a:bodyPr wrap="square" anchor="t" lIns="0" rIns="0" tIns="0" bIns="0">
            <a:spAutoFit/>
          </a:bodyPr>
          <a:lstStyle/>
          <a:p>
            <a:r>
              <a:rPr sz="2900" b="1" i="0">
                <a:solidFill>
                  <a:srgbClr val="1B2A4A"/>
                </a:solidFill>
                <a:latin typeface="Cambria"/>
              </a:rPr>
              <a:t>Attacks &amp; Defenses: Sudo &amp; Privilege Escalation</a:t>
            </a:r>
          </a:p>
        </p:txBody>
      </p:sp>
      <p:sp>
        <p:nvSpPr>
          <p:cNvPr id="3" name="TextBox 3"/>
          <p:cNvSpPr txBox="1"/>
          <p:nvPr/>
        </p:nvSpPr>
        <p:spPr>
          <a:xfrm>
            <a:off x="640080" y="1243584"/>
            <a:ext cx="10908792" cy="365760"/>
          </a:xfrm>
          <a:prstGeom prst="rect">
            <a:avLst/>
          </a:prstGeom>
          <a:noFill/>
        </p:spPr>
        <p:txBody>
          <a:bodyPr wrap="square" anchor="t" lIns="0" rIns="0" tIns="0" bIns="0">
            <a:spAutoFit/>
          </a:bodyPr>
          <a:lstStyle/>
          <a:p>
            <a:r>
              <a:rPr sz="1250" b="0" i="0">
                <a:solidFill>
                  <a:srgbClr val="3D5A80"/>
                </a:solidFill>
                <a:latin typeface="Calibri"/>
              </a:rPr>
              <a:t>A least-privilege sudo policy is only as good as the specific ways it can be bypassed.</a:t>
            </a:r>
          </a:p>
        </p:txBody>
      </p:sp>
      <p:graphicFrame>
        <p:nvGraphicFramePr>
          <p:cNvPr id="4" name="Table 4"/>
          <p:cNvGraphicFramePr>
            <a:graphicFrameLocks noGrp="1"/>
          </p:cNvGraphicFramePr>
          <p:nvPr/>
        </p:nvGraphicFramePr>
        <p:xfrm>
          <a:off x="640080" y="1828800"/>
          <a:ext cx="10908792" cy="4754880"/>
        </p:xfrm>
        <a:graphic>
          <a:graphicData uri="http://schemas.openxmlformats.org/drawingml/2006/table">
            <a:tbl>
              <a:tblPr firstRow="0" bandRow="0"/>
              <a:tblGrid>
                <a:gridCol w="2600000"/>
                <a:gridCol w="4200000"/>
                <a:gridCol w="4108792"/>
              </a:tblGrid>
              <a:tr h="792480">
                <a:tc>
                  <a:txBody>
                    <a:bodyPr wrap="square"/>
                    <a:lstStyle/>
                    <a:p>
                      <a:r>
                        <a:rPr sz="1200" b="1" i="0">
                          <a:solidFill>
                            <a:srgbClr val="FFFFFF"/>
                          </a:solidFill>
                          <a:latin typeface="Calibri"/>
                        </a:rPr>
                        <a:t>Attack</a:t>
                      </a:r>
                    </a:p>
                  </a:txBody>
                  <a:tcPr anchor="ctr" marL="82296" marR="82296" marT="27432" marB="27432">
                    <a:solidFill>
                      <a:srgbClr val="1B2A4A"/>
                    </a:solidFill>
                  </a:tcPr>
                </a:tc>
                <a:tc>
                  <a:txBody>
                    <a:bodyPr wrap="square"/>
                    <a:lstStyle/>
                    <a:p>
                      <a:r>
                        <a:rPr sz="1200" b="1" i="0">
                          <a:solidFill>
                            <a:srgbClr val="FFFFFF"/>
                          </a:solidFill>
                          <a:latin typeface="Calibri"/>
                        </a:rPr>
                        <a:t>How It Works</a:t>
                      </a:r>
                    </a:p>
                  </a:txBody>
                  <a:tcPr anchor="ctr" marL="82296" marR="82296" marT="27432" marB="27432">
                    <a:solidFill>
                      <a:srgbClr val="1B2A4A"/>
                    </a:solidFill>
                  </a:tcPr>
                </a:tc>
                <a:tc>
                  <a:txBody>
                    <a:bodyPr wrap="square"/>
                    <a:lstStyle/>
                    <a:p>
                      <a:r>
                        <a:rPr sz="1200" b="1" i="0">
                          <a:solidFill>
                            <a:srgbClr val="FFFFFF"/>
                          </a:solidFill>
                          <a:latin typeface="Calibri"/>
                        </a:rPr>
                        <a:t>Defense</a:t>
                      </a:r>
                    </a:p>
                  </a:txBody>
                  <a:tcPr anchor="ctr" marL="82296" marR="82296" marT="27432" marB="27432">
                    <a:solidFill>
                      <a:srgbClr val="1B2A4A"/>
                    </a:solidFill>
                  </a:tcPr>
                </a:tc>
              </a:tr>
              <a:tr h="792480">
                <a:tc>
                  <a:txBody>
                    <a:bodyPr wrap="square"/>
                    <a:lstStyle/>
                    <a:p>
                      <a:r>
                        <a:rPr sz="1050" b="1" i="0">
                          <a:solidFill>
                            <a:srgbClr val="1B2A4A"/>
                          </a:solidFill>
                          <a:latin typeface="Calibri"/>
                        </a:rPr>
                        <a:t>Shell escape via allowed command</a:t>
                      </a:r>
                    </a:p>
                  </a:txBody>
                  <a:tcPr anchor="ctr" marL="82296" marR="82296" marT="27432" marB="27432">
                    <a:solidFill>
                      <a:srgbClr val="FFFFFF"/>
                    </a:solidFill>
                  </a:tcPr>
                </a:tc>
                <a:tc>
                  <a:txBody>
                    <a:bodyPr wrap="square"/>
                    <a:lstStyle/>
                    <a:p>
                      <a:r>
                        <a:rPr sz="1050" b="0" i="0">
                          <a:solidFill>
                            <a:srgbClr val="3D5A80"/>
                          </a:solidFill>
                          <a:latin typeface="Calibri"/>
                        </a:rPr>
                        <a:t>A sudo grant on a command that can shell out (editor, pager, some systemctl forms) spawns a root shell</a:t>
                      </a:r>
                    </a:p>
                  </a:txBody>
                  <a:tcPr anchor="ctr" marL="82296" marR="82296" marT="27432" marB="27432">
                    <a:solidFill>
                      <a:srgbClr val="FFFFFF"/>
                    </a:solidFill>
                  </a:tcPr>
                </a:tc>
                <a:tc>
                  <a:txBody>
                    <a:bodyPr wrap="square"/>
                    <a:lstStyle/>
                    <a:p>
                      <a:r>
                        <a:rPr sz="1050" b="0" i="0">
                          <a:solidFill>
                            <a:srgbClr val="3D5A80"/>
                          </a:solidFill>
                          <a:latin typeface="Calibri"/>
                        </a:rPr>
                        <a:t>Cmnd_Alias to the exact subcommands needed only; check escape potential before granting any command</a:t>
                      </a:r>
                    </a:p>
                  </a:txBody>
                  <a:tcPr anchor="ctr" marL="82296" marR="82296" marT="27432" marB="27432">
                    <a:solidFill>
                      <a:srgbClr val="FFFFFF"/>
                    </a:solidFill>
                  </a:tcPr>
                </a:tc>
              </a:tr>
              <a:tr h="792480">
                <a:tc>
                  <a:txBody>
                    <a:bodyPr wrap="square"/>
                    <a:lstStyle/>
                    <a:p>
                      <a:r>
                        <a:rPr sz="1050" b="1" i="0">
                          <a:solidFill>
                            <a:srgbClr val="1B2A4A"/>
                          </a:solidFill>
                          <a:latin typeface="Calibri"/>
                        </a:rPr>
                        <a:t>NOPASSWD overreach</a:t>
                      </a:r>
                    </a:p>
                  </a:txBody>
                  <a:tcPr anchor="ctr" marL="82296" marR="82296" marT="27432" marB="27432">
                    <a:solidFill>
                      <a:srgbClr val="E8EEF7"/>
                    </a:solidFill>
                  </a:tcPr>
                </a:tc>
                <a:tc>
                  <a:txBody>
                    <a:bodyPr wrap="square"/>
                    <a:lstStyle/>
                    <a:p>
                      <a:r>
                        <a:rPr sz="1050" b="0" i="0">
                          <a:solidFill>
                            <a:srgbClr val="3D5A80"/>
                          </a:solidFill>
                          <a:latin typeface="Calibri"/>
                        </a:rPr>
                        <a:t>NOPASSWD plus a broad command set removes the only speed bump between a hijacked session and root</a:t>
                      </a:r>
                    </a:p>
                  </a:txBody>
                  <a:tcPr anchor="ctr" marL="82296" marR="82296" marT="27432" marB="27432">
                    <a:solidFill>
                      <a:srgbClr val="E8EEF7"/>
                    </a:solidFill>
                  </a:tcPr>
                </a:tc>
                <a:tc>
                  <a:txBody>
                    <a:bodyPr wrap="square"/>
                    <a:lstStyle/>
                    <a:p>
                      <a:r>
                        <a:rPr sz="1050" b="0" i="0">
                          <a:solidFill>
                            <a:srgbClr val="3D5A80"/>
                          </a:solidFill>
                          <a:latin typeface="Calibri"/>
                        </a:rPr>
                        <a:t>Reserve NOPASSWD for narrow, non-destructive commands (as in this lab's DNSCTL alias)</a:t>
                      </a:r>
                    </a:p>
                  </a:txBody>
                  <a:tcPr anchor="ctr" marL="82296" marR="82296" marT="27432" marB="27432">
                    <a:solidFill>
                      <a:srgbClr val="E8EEF7"/>
                    </a:solidFill>
                  </a:tcPr>
                </a:tc>
              </a:tr>
              <a:tr h="792480">
                <a:tc>
                  <a:txBody>
                    <a:bodyPr wrap="square"/>
                    <a:lstStyle/>
                    <a:p>
                      <a:r>
                        <a:rPr sz="1050" b="1" i="0">
                          <a:solidFill>
                            <a:srgbClr val="1B2A4A"/>
                          </a:solidFill>
                          <a:latin typeface="Calibri"/>
                        </a:rPr>
                        <a:t>sudoers syntax error</a:t>
                      </a:r>
                    </a:p>
                  </a:txBody>
                  <a:tcPr anchor="ctr" marL="82296" marR="82296" marT="27432" marB="27432">
                    <a:solidFill>
                      <a:srgbClr val="FFFFFF"/>
                    </a:solidFill>
                  </a:tcPr>
                </a:tc>
                <a:tc>
                  <a:txBody>
                    <a:bodyPr wrap="square"/>
                    <a:lstStyle/>
                    <a:p>
                      <a:r>
                        <a:rPr sz="1050" b="0" i="0">
                          <a:solidFill>
                            <a:srgbClr val="3D5A80"/>
                          </a:solidFill>
                          <a:latin typeface="Calibri"/>
                        </a:rPr>
                        <a:t>A bad direct edit to /etc/sudoers can lock out every admin or silently grant unintended access</a:t>
                      </a:r>
                    </a:p>
                  </a:txBody>
                  <a:tcPr anchor="ctr" marL="82296" marR="82296" marT="27432" marB="27432">
                    <a:solidFill>
                      <a:srgbClr val="FFFFFF"/>
                    </a:solidFill>
                  </a:tcPr>
                </a:tc>
                <a:tc>
                  <a:txBody>
                    <a:bodyPr wrap="square"/>
                    <a:lstStyle/>
                    <a:p>
                      <a:r>
                        <a:rPr sz="1050" b="0" i="0">
                          <a:solidFill>
                            <a:srgbClr val="3D5A80"/>
                          </a:solidFill>
                          <a:latin typeface="Calibri"/>
                        </a:rPr>
                        <a:t>Never edit /etc/sudoers directly; always visudo -c -f a sudoers.d file before saving</a:t>
                      </a:r>
                    </a:p>
                  </a:txBody>
                  <a:tcPr anchor="ctr" marL="82296" marR="82296" marT="27432" marB="27432">
                    <a:solidFill>
                      <a:srgbClr val="FFFFFF"/>
                    </a:solidFill>
                  </a:tcPr>
                </a:tc>
              </a:tr>
              <a:tr h="792480">
                <a:tc>
                  <a:txBody>
                    <a:bodyPr wrap="square"/>
                    <a:lstStyle/>
                    <a:p>
                      <a:r>
                        <a:rPr sz="1050" b="1" i="0">
                          <a:solidFill>
                            <a:srgbClr val="1B2A4A"/>
                          </a:solidFill>
                          <a:latin typeface="Calibri"/>
                        </a:rPr>
                        <a:t>Stale privileged accounts</a:t>
                      </a:r>
                    </a:p>
                  </a:txBody>
                  <a:tcPr anchor="ctr" marL="82296" marR="82296" marT="27432" marB="27432">
                    <a:solidFill>
                      <a:srgbClr val="E8EEF7"/>
                    </a:solidFill>
                  </a:tcPr>
                </a:tc>
                <a:tc>
                  <a:txBody>
                    <a:bodyPr wrap="square"/>
                    <a:lstStyle/>
                    <a:p>
                      <a:r>
                        <a:rPr sz="1050" b="0" i="0">
                          <a:solidFill>
                            <a:srgbClr val="3D5A80"/>
                          </a:solidFill>
                          <a:latin typeface="Calibri"/>
                        </a:rPr>
                        <a:t>An account kept in wheel long after it should be revoked is a lingering attack surface</a:t>
                      </a:r>
                    </a:p>
                  </a:txBody>
                  <a:tcPr anchor="ctr" marL="82296" marR="82296" marT="27432" marB="27432">
                    <a:solidFill>
                      <a:srgbClr val="E8EEF7"/>
                    </a:solidFill>
                  </a:tcPr>
                </a:tc>
                <a:tc>
                  <a:txBody>
                    <a:bodyPr wrap="square"/>
                    <a:lstStyle/>
                    <a:p>
                      <a:r>
                        <a:rPr sz="1050" b="0" i="0">
                          <a:solidFill>
                            <a:srgbClr val="3D5A80"/>
                          </a:solidFill>
                          <a:latin typeface="Calibri"/>
                        </a:rPr>
                        <a:t>stale_privileged_account (90-day lastlog threshold); deprovision promptly when a role changes</a:t>
                      </a:r>
                    </a:p>
                  </a:txBody>
                  <a:tcPr anchor="ctr" marL="82296" marR="82296" marT="27432" marB="27432">
                    <a:solidFill>
                      <a:srgbClr val="E8EEF7"/>
                    </a:solidFill>
                  </a:tcPr>
                </a:tc>
              </a:tr>
              <a:tr h="792480">
                <a:tc>
                  <a:txBody>
                    <a:bodyPr wrap="square"/>
                    <a:lstStyle/>
                    <a:p>
                      <a:r>
                        <a:rPr sz="1050" b="1" i="0">
                          <a:solidFill>
                            <a:srgbClr val="1B2A4A"/>
                          </a:solidFill>
                          <a:latin typeface="Calibri"/>
                        </a:rPr>
                        <a:t>Credential theft</a:t>
                      </a:r>
                    </a:p>
                  </a:txBody>
                  <a:tcPr anchor="ctr" marL="82296" marR="82296" marT="27432" marB="27432">
                    <a:solidFill>
                      <a:srgbClr val="FFFFFF"/>
                    </a:solidFill>
                  </a:tcPr>
                </a:tc>
                <a:tc>
                  <a:txBody>
                    <a:bodyPr wrap="square"/>
                    <a:lstStyle/>
                    <a:p>
                      <a:r>
                        <a:rPr sz="1050" b="0" i="0">
                          <a:solidFill>
                            <a:srgbClr val="3D5A80"/>
                          </a:solidFill>
                          <a:latin typeface="Calibri"/>
                        </a:rPr>
                        <a:t>A stolen password alone is enough to use any sudo grant without a second factor</a:t>
                      </a:r>
                    </a:p>
                  </a:txBody>
                  <a:tcPr anchor="ctr" marL="82296" marR="82296" marT="27432" marB="27432">
                    <a:solidFill>
                      <a:srgbClr val="FFFFFF"/>
                    </a:solidFill>
                  </a:tcPr>
                </a:tc>
                <a:tc>
                  <a:txBody>
                    <a:bodyPr wrap="square"/>
                    <a:lstStyle/>
                    <a:p>
                      <a:r>
                        <a:rPr sz="1050" b="0" i="0">
                          <a:solidFill>
                            <a:srgbClr val="3D5A80"/>
                          </a:solidFill>
                          <a:latin typeface="Calibri"/>
                        </a:rPr>
                        <a:t>PAM-gated MFA on sudo raises the bar beyond one stolen credential</a:t>
                      </a:r>
                    </a:p>
                  </a:txBody>
                  <a:tcPr anchor="ctr" marL="82296" marR="82296" marT="27432" marB="27432">
                    <a:solidFill>
                      <a:srgbClr val="FFFFFF"/>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B2A4A"/>
        </a:solidFill>
        <a:effectLst/>
      </p:bgPr>
    </p:bg>
    <p:spTree>
      <p:nvGrpSpPr>
        <p:cNvPr id="1" name=""/>
        <p:cNvGrpSpPr/>
        <p:nvPr/>
      </p:nvGrpSpPr>
      <p:grpSpPr>
        <a:xfrm>
          <a:off x="0" y="0"/>
          <a:ext cx="0" cy="0"/>
          <a:chOff x="0" y="0"/>
          <a:chExt cx="0" cy="0"/>
        </a:xfrm>
      </p:grpSpPr>
      <p:sp>
        <p:nvSpPr>
          <p:cNvPr id="2" name="Rectangle 1"/>
          <p:cNvSpPr/>
          <p:nvPr/>
        </p:nvSpPr>
        <p:spPr>
          <a:xfrm>
            <a:off x="822960" y="2962656"/>
            <a:ext cx="1005840" cy="100584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3000" b="1" i="0">
                <a:solidFill>
                  <a:srgbClr val="1B2A4A"/>
                </a:solidFill>
                <a:latin typeface="Cambria"/>
              </a:rPr>
              <a:t>03</a:t>
            </a:r>
          </a:p>
        </p:txBody>
      </p:sp>
      <p:sp>
        <p:nvSpPr>
          <p:cNvPr id="3" name="TextBox 2"/>
          <p:cNvSpPr txBox="1"/>
          <p:nvPr/>
        </p:nvSpPr>
        <p:spPr>
          <a:xfrm>
            <a:off x="2103120" y="3008376"/>
            <a:ext cx="9235440" cy="914400"/>
          </a:xfrm>
          <a:prstGeom prst="rect">
            <a:avLst/>
          </a:prstGeom>
          <a:noFill/>
        </p:spPr>
        <p:txBody>
          <a:bodyPr wrap="square" lIns="0" tIns="0" rIns="0" bIns="0" anchor="ctr">
            <a:spAutoFit/>
          </a:bodyPr>
          <a:lstStyle/>
          <a:p>
            <a:pPr algn="l"/>
            <a:r>
              <a:rPr sz="3600" b="1" i="0">
                <a:solidFill>
                  <a:srgbClr val="FFFFFF"/>
                </a:solidFill>
                <a:latin typeface="Cambria"/>
              </a:rPr>
              <a:t>Linux Network Services: DNS, DHCP &amp; NFS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10908792" cy="777240"/>
          </a:xfrm>
          <a:prstGeom prst="rect">
            <a:avLst/>
          </a:prstGeom>
          <a:noFill/>
        </p:spPr>
        <p:txBody>
          <a:bodyPr wrap="square" lIns="0" tIns="0" rIns="0" bIns="0" anchor="t">
            <a:spAutoFit/>
          </a:bodyPr>
          <a:lstStyle/>
          <a:p>
            <a:r>
              <a:rPr sz="2900" b="1" i="0">
                <a:solidFill>
                  <a:srgbClr val="1B2A4A"/>
                </a:solidFill>
                <a:latin typeface="Cambria"/>
              </a:rPr>
              <a:t>DNS with BIND: Record Types Cheat Sheet</a:t>
            </a:r>
          </a:p>
        </p:txBody>
      </p:sp>
      <p:sp>
        <p:nvSpPr>
          <p:cNvPr id="3" name="Rounded Rectangle 2"/>
          <p:cNvSpPr/>
          <p:nvPr/>
        </p:nvSpPr>
        <p:spPr>
          <a:xfrm>
            <a:off x="640080" y="1325880"/>
            <a:ext cx="1463040" cy="566928"/>
          </a:xfrm>
          <a:prstGeom prst="round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200" b="1" i="0">
                <a:solidFill>
                  <a:srgbClr val="FFFFFF"/>
                </a:solidFill>
                <a:latin typeface="Calibri"/>
              </a:rPr>
              <a:t>Client</a:t>
            </a:r>
          </a:p>
        </p:txBody>
      </p:sp>
      <p:sp>
        <p:nvSpPr>
          <p:cNvPr id="4" name="Rounded Rectangle 3"/>
          <p:cNvSpPr/>
          <p:nvPr/>
        </p:nvSpPr>
        <p:spPr>
          <a:xfrm>
            <a:off x="2560320" y="1325880"/>
            <a:ext cx="4023360" cy="566928"/>
          </a:xfrm>
          <a:prstGeom prst="round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200" b="1" i="0">
                <a:solidFill>
                  <a:srgbClr val="FFFFFF"/>
                </a:solidFill>
                <a:latin typeface="Calibri"/>
              </a:rPr>
              <a:t>BIND ns1.lab.internal</a:t>
            </a:r>
          </a:p>
          <a:p>
            <a:pPr algn="ctr"/>
            <a:r>
              <a:rPr sz="950" b="0" i="0">
                <a:solidFill>
                  <a:srgbClr val="FFFFFF"/>
                </a:solidFill>
                <a:latin typeface="Calibri"/>
              </a:rPr>
              <a:t>(authoritative, recursion no)</a:t>
            </a:r>
          </a:p>
        </p:txBody>
      </p:sp>
      <p:sp>
        <p:nvSpPr>
          <p:cNvPr id="5" name="Rounded Rectangle 4"/>
          <p:cNvSpPr/>
          <p:nvPr/>
        </p:nvSpPr>
        <p:spPr>
          <a:xfrm>
            <a:off x="7040880" y="1325880"/>
            <a:ext cx="1463040" cy="566928"/>
          </a:xfrm>
          <a:prstGeom prst="round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200" b="1" i="0">
                <a:solidFill>
                  <a:srgbClr val="FFFFFF"/>
                </a:solidFill>
                <a:latin typeface="Calibri"/>
              </a:rPr>
              <a:t>Answer</a:t>
            </a:r>
          </a:p>
        </p:txBody>
      </p:sp>
      <p:cxnSp>
        <p:nvCxnSpPr>
          <p:cNvPr id="6" name="Connector 5"/>
          <p:cNvCxnSpPr/>
          <p:nvPr/>
        </p:nvCxnSpPr>
        <p:spPr>
          <a:xfrm>
            <a:off x="2103120" y="1609344"/>
            <a:ext cx="457200" cy="0"/>
          </a:xfrm>
          <a:prstGeom prst="line">
            <a:avLst/>
          </a:prstGeom>
          <a:ln w="25400">
            <a:solidFill>
              <a:srgbClr val="00B4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583680" y="1609344"/>
            <a:ext cx="457200" cy="0"/>
          </a:xfrm>
          <a:prstGeom prst="line">
            <a:avLst/>
          </a:prstGeom>
          <a:ln w="25400">
            <a:solidFill>
              <a:srgbClr val="00B4D8"/>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8641080" y="1325880"/>
            <a:ext cx="2651760" cy="566928"/>
          </a:xfrm>
          <a:prstGeom prst="rect">
            <a:avLst/>
          </a:prstGeom>
          <a:noFill/>
        </p:spPr>
        <p:txBody>
          <a:bodyPr wrap="square" lIns="0" tIns="0" rIns="0" bIns="0" anchor="ctr">
            <a:spAutoFit/>
          </a:bodyPr>
          <a:lstStyle/>
          <a:p>
            <a:pPr algn="l"/>
            <a:r>
              <a:rPr sz="900" b="0" i="1">
                <a:solidFill>
                  <a:srgbClr val="3D5A80"/>
                </a:solidFill>
                <a:latin typeface="Calibri"/>
              </a:rPr>
              <a:t>recursion no splits authoritative from recursive-resolver duty</a:t>
            </a:r>
          </a:p>
        </p:txBody>
      </p:sp>
      <p:graphicFrame>
        <p:nvGraphicFramePr>
          <p:cNvPr id="9" name="Table 8"/>
          <p:cNvGraphicFramePr>
            <a:graphicFrameLocks noGrp="1"/>
          </p:cNvGraphicFramePr>
          <p:nvPr/>
        </p:nvGraphicFramePr>
        <p:xfrm>
          <a:off x="640080" y="2212848"/>
          <a:ext cx="10908792" cy="4370832"/>
        </p:xfrm>
        <a:graphic>
          <a:graphicData uri="http://schemas.openxmlformats.org/drawingml/2006/table">
            <a:tbl>
              <a:tblPr/>
              <a:tblGrid>
                <a:gridCol w="13716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5879592">
                  <a:extLst>
                    <a:ext uri="{9D8B030D-6E8A-4147-A177-3AD203B41FA5}">
                      <a16:colId xmlns:a16="http://schemas.microsoft.com/office/drawing/2014/main" val="20002"/>
                    </a:ext>
                  </a:extLst>
                </a:gridCol>
              </a:tblGrid>
              <a:tr h="546354">
                <a:tc>
                  <a:txBody>
                    <a:bodyPr/>
                    <a:lstStyle/>
                    <a:p>
                      <a:r>
                        <a:rPr sz="1200" b="1" i="0">
                          <a:solidFill>
                            <a:srgbClr val="FFFFFF"/>
                          </a:solidFill>
                          <a:latin typeface="Calibri"/>
                        </a:rPr>
                        <a:t>Record</a:t>
                      </a:r>
                    </a:p>
                  </a:txBody>
                  <a:tcPr marL="82296" marR="82296" marT="27432" marB="27432" anchor="ctr">
                    <a:solidFill>
                      <a:srgbClr val="1B2A4A"/>
                    </a:solidFill>
                  </a:tcPr>
                </a:tc>
                <a:tc>
                  <a:txBody>
                    <a:bodyPr/>
                    <a:lstStyle/>
                    <a:p>
                      <a:r>
                        <a:rPr sz="1200" b="1" i="0">
                          <a:solidFill>
                            <a:srgbClr val="FFFFFF"/>
                          </a:solidFill>
                          <a:latin typeface="Calibri"/>
                        </a:rPr>
                        <a:t>Purpose</a:t>
                      </a:r>
                    </a:p>
                  </a:txBody>
                  <a:tcPr marL="82296" marR="82296" marT="27432" marB="27432" anchor="ctr">
                    <a:solidFill>
                      <a:srgbClr val="1B2A4A"/>
                    </a:solidFill>
                  </a:tcPr>
                </a:tc>
                <a:tc>
                  <a:txBody>
                    <a:bodyPr/>
                    <a:lstStyle/>
                    <a:p>
                      <a:r>
                        <a:rPr sz="1200" b="1" i="0">
                          <a:solidFill>
                            <a:srgbClr val="FFFFFF"/>
                          </a:solidFill>
                          <a:latin typeface="Calibri"/>
                        </a:rPr>
                        <a:t>Example (lab.internal.zone)</a:t>
                      </a:r>
                    </a:p>
                  </a:txBody>
                  <a:tcPr marL="82296" marR="82296" marT="27432" marB="27432" anchor="ctr">
                    <a:solidFill>
                      <a:srgbClr val="1B2A4A"/>
                    </a:solidFill>
                  </a:tcPr>
                </a:tc>
                <a:extLst>
                  <a:ext uri="{0D108BD9-81ED-4DB2-BD59-A6C34878D82A}">
                    <a16:rowId xmlns:a16="http://schemas.microsoft.com/office/drawing/2014/main" val="10000"/>
                  </a:ext>
                </a:extLst>
              </a:tr>
              <a:tr h="546354">
                <a:tc>
                  <a:txBody>
                    <a:bodyPr/>
                    <a:lstStyle/>
                    <a:p>
                      <a:r>
                        <a:rPr sz="1000" b="1" i="0">
                          <a:solidFill>
                            <a:srgbClr val="1B2A4A"/>
                          </a:solidFill>
                          <a:latin typeface="Calibri"/>
                        </a:rPr>
                        <a:t>SOA</a:t>
                      </a:r>
                    </a:p>
                  </a:txBody>
                  <a:tcPr marL="82296" marR="82296" marT="27432" marB="27432" anchor="ctr">
                    <a:solidFill>
                      <a:srgbClr val="FFFFFF"/>
                    </a:solidFill>
                  </a:tcPr>
                </a:tc>
                <a:tc>
                  <a:txBody>
                    <a:bodyPr/>
                    <a:lstStyle/>
                    <a:p>
                      <a:r>
                        <a:rPr sz="1000" b="0" i="0">
                          <a:solidFill>
                            <a:srgbClr val="3D5A80"/>
                          </a:solidFill>
                          <a:latin typeface="Calibri"/>
                        </a:rPr>
                        <a:t>Zone authority + refresh/retry/expire timers</a:t>
                      </a:r>
                    </a:p>
                  </a:txBody>
                  <a:tcPr marL="82296" marR="82296" marT="27432" marB="27432" anchor="ctr">
                    <a:solidFill>
                      <a:srgbClr val="FFFFFF"/>
                    </a:solidFill>
                  </a:tcPr>
                </a:tc>
                <a:tc>
                  <a:txBody>
                    <a:bodyPr/>
                    <a:lstStyle/>
                    <a:p>
                      <a:r>
                        <a:rPr sz="1000" b="0" i="0">
                          <a:solidFill>
                            <a:srgbClr val="3D5A80"/>
                          </a:solidFill>
                          <a:latin typeface="Calibri"/>
                        </a:rPr>
                        <a:t>ns1.lab.internal. admin.lab.internal. (2024010101 ...)</a:t>
                      </a:r>
                    </a:p>
                  </a:txBody>
                  <a:tcPr marL="82296" marR="82296" marT="27432" marB="27432" anchor="ctr">
                    <a:solidFill>
                      <a:srgbClr val="FFFFFF"/>
                    </a:solidFill>
                  </a:tcPr>
                </a:tc>
                <a:extLst>
                  <a:ext uri="{0D108BD9-81ED-4DB2-BD59-A6C34878D82A}">
                    <a16:rowId xmlns:a16="http://schemas.microsoft.com/office/drawing/2014/main" val="10001"/>
                  </a:ext>
                </a:extLst>
              </a:tr>
              <a:tr h="546354">
                <a:tc>
                  <a:txBody>
                    <a:bodyPr/>
                    <a:lstStyle/>
                    <a:p>
                      <a:r>
                        <a:rPr sz="1000" b="1" i="0">
                          <a:solidFill>
                            <a:srgbClr val="1B2A4A"/>
                          </a:solidFill>
                          <a:latin typeface="Calibri"/>
                        </a:rPr>
                        <a:t>NS</a:t>
                      </a:r>
                    </a:p>
                  </a:txBody>
                  <a:tcPr marL="82296" marR="82296" marT="27432" marB="27432" anchor="ctr">
                    <a:solidFill>
                      <a:srgbClr val="E8EEF7"/>
                    </a:solidFill>
                  </a:tcPr>
                </a:tc>
                <a:tc>
                  <a:txBody>
                    <a:bodyPr/>
                    <a:lstStyle/>
                    <a:p>
                      <a:r>
                        <a:rPr sz="1000" b="0" i="0">
                          <a:solidFill>
                            <a:srgbClr val="3D5A80"/>
                          </a:solidFill>
                          <a:latin typeface="Calibri"/>
                        </a:rPr>
                        <a:t>Authoritative nameserver for the zone</a:t>
                      </a:r>
                    </a:p>
                  </a:txBody>
                  <a:tcPr marL="82296" marR="82296" marT="27432" marB="27432" anchor="ctr">
                    <a:solidFill>
                      <a:srgbClr val="E8EEF7"/>
                    </a:solidFill>
                  </a:tcPr>
                </a:tc>
                <a:tc>
                  <a:txBody>
                    <a:bodyPr/>
                    <a:lstStyle/>
                    <a:p>
                      <a:r>
                        <a:rPr sz="1000" b="0" i="0">
                          <a:solidFill>
                            <a:srgbClr val="3D5A80"/>
                          </a:solidFill>
                          <a:latin typeface="Calibri"/>
                        </a:rPr>
                        <a:t>IN NS ns1.lab.internal.</a:t>
                      </a:r>
                    </a:p>
                  </a:txBody>
                  <a:tcPr marL="82296" marR="82296" marT="27432" marB="27432" anchor="ctr">
                    <a:solidFill>
                      <a:srgbClr val="E8EEF7"/>
                    </a:solidFill>
                  </a:tcPr>
                </a:tc>
                <a:extLst>
                  <a:ext uri="{0D108BD9-81ED-4DB2-BD59-A6C34878D82A}">
                    <a16:rowId xmlns:a16="http://schemas.microsoft.com/office/drawing/2014/main" val="10002"/>
                  </a:ext>
                </a:extLst>
              </a:tr>
              <a:tr h="546354">
                <a:tc>
                  <a:txBody>
                    <a:bodyPr/>
                    <a:lstStyle/>
                    <a:p>
                      <a:r>
                        <a:rPr sz="1000" b="1" i="0">
                          <a:solidFill>
                            <a:srgbClr val="1B2A4A"/>
                          </a:solidFill>
                          <a:latin typeface="Calibri"/>
                        </a:rPr>
                        <a:t>A</a:t>
                      </a:r>
                    </a:p>
                  </a:txBody>
                  <a:tcPr marL="82296" marR="82296" marT="27432" marB="27432" anchor="ctr">
                    <a:solidFill>
                      <a:srgbClr val="FFFFFF"/>
                    </a:solidFill>
                  </a:tcPr>
                </a:tc>
                <a:tc>
                  <a:txBody>
                    <a:bodyPr/>
                    <a:lstStyle/>
                    <a:p>
                      <a:r>
                        <a:rPr sz="1000" b="0" i="0">
                          <a:solidFill>
                            <a:srgbClr val="3D5A80"/>
                          </a:solidFill>
                          <a:latin typeface="Calibri"/>
                        </a:rPr>
                        <a:t>Hostname -&gt; IPv4 address</a:t>
                      </a:r>
                    </a:p>
                  </a:txBody>
                  <a:tcPr marL="82296" marR="82296" marT="27432" marB="27432" anchor="ctr">
                    <a:solidFill>
                      <a:srgbClr val="FFFFFF"/>
                    </a:solidFill>
                  </a:tcPr>
                </a:tc>
                <a:tc>
                  <a:txBody>
                    <a:bodyPr/>
                    <a:lstStyle/>
                    <a:p>
                      <a:r>
                        <a:rPr sz="1000" b="0" i="0">
                          <a:solidFill>
                            <a:srgbClr val="3D5A80"/>
                          </a:solidFill>
                          <a:latin typeface="Calibri"/>
                        </a:rPr>
                        <a:t>www IN A 10.0.0.10</a:t>
                      </a:r>
                    </a:p>
                  </a:txBody>
                  <a:tcPr marL="82296" marR="82296" marT="27432" marB="27432" anchor="ctr">
                    <a:solidFill>
                      <a:srgbClr val="FFFFFF"/>
                    </a:solidFill>
                  </a:tcPr>
                </a:tc>
                <a:extLst>
                  <a:ext uri="{0D108BD9-81ED-4DB2-BD59-A6C34878D82A}">
                    <a16:rowId xmlns:a16="http://schemas.microsoft.com/office/drawing/2014/main" val="10003"/>
                  </a:ext>
                </a:extLst>
              </a:tr>
              <a:tr h="546354">
                <a:tc>
                  <a:txBody>
                    <a:bodyPr/>
                    <a:lstStyle/>
                    <a:p>
                      <a:r>
                        <a:rPr sz="1000" b="1" i="0">
                          <a:solidFill>
                            <a:srgbClr val="1B2A4A"/>
                          </a:solidFill>
                          <a:latin typeface="Calibri"/>
                        </a:rPr>
                        <a:t>MX</a:t>
                      </a:r>
                    </a:p>
                  </a:txBody>
                  <a:tcPr marL="82296" marR="82296" marT="27432" marB="27432" anchor="ctr">
                    <a:solidFill>
                      <a:srgbClr val="E8EEF7"/>
                    </a:solidFill>
                  </a:tcPr>
                </a:tc>
                <a:tc>
                  <a:txBody>
                    <a:bodyPr/>
                    <a:lstStyle/>
                    <a:p>
                      <a:r>
                        <a:rPr sz="1000" b="0" i="0">
                          <a:solidFill>
                            <a:srgbClr val="3D5A80"/>
                          </a:solidFill>
                          <a:latin typeface="Calibri"/>
                        </a:rPr>
                        <a:t>Mail exchange, with priority</a:t>
                      </a:r>
                    </a:p>
                  </a:txBody>
                  <a:tcPr marL="82296" marR="82296" marT="27432" marB="27432" anchor="ctr">
                    <a:solidFill>
                      <a:srgbClr val="E8EEF7"/>
                    </a:solidFill>
                  </a:tcPr>
                </a:tc>
                <a:tc>
                  <a:txBody>
                    <a:bodyPr/>
                    <a:lstStyle/>
                    <a:p>
                      <a:r>
                        <a:rPr sz="1000" b="0" i="0">
                          <a:solidFill>
                            <a:srgbClr val="3D5A80"/>
                          </a:solidFill>
                          <a:latin typeface="Calibri"/>
                        </a:rPr>
                        <a:t>IN MX 10 mail.lab.internal.</a:t>
                      </a:r>
                    </a:p>
                  </a:txBody>
                  <a:tcPr marL="82296" marR="82296" marT="27432" marB="27432" anchor="ctr">
                    <a:solidFill>
                      <a:srgbClr val="E8EEF7"/>
                    </a:solidFill>
                  </a:tcPr>
                </a:tc>
                <a:extLst>
                  <a:ext uri="{0D108BD9-81ED-4DB2-BD59-A6C34878D82A}">
                    <a16:rowId xmlns:a16="http://schemas.microsoft.com/office/drawing/2014/main" val="10004"/>
                  </a:ext>
                </a:extLst>
              </a:tr>
              <a:tr h="546354">
                <a:tc>
                  <a:txBody>
                    <a:bodyPr/>
                    <a:lstStyle/>
                    <a:p>
                      <a:r>
                        <a:rPr sz="1000" b="1" i="0">
                          <a:solidFill>
                            <a:srgbClr val="1B2A4A"/>
                          </a:solidFill>
                          <a:latin typeface="Calibri"/>
                        </a:rPr>
                        <a:t>CNAME</a:t>
                      </a:r>
                    </a:p>
                  </a:txBody>
                  <a:tcPr marL="82296" marR="82296" marT="27432" marB="27432" anchor="ctr">
                    <a:solidFill>
                      <a:srgbClr val="FFFFFF"/>
                    </a:solidFill>
                  </a:tcPr>
                </a:tc>
                <a:tc>
                  <a:txBody>
                    <a:bodyPr/>
                    <a:lstStyle/>
                    <a:p>
                      <a:r>
                        <a:rPr sz="1000" b="0" i="0">
                          <a:solidFill>
                            <a:srgbClr val="3D5A80"/>
                          </a:solidFill>
                          <a:latin typeface="Calibri"/>
                        </a:rPr>
                        <a:t>Alias to another hostname</a:t>
                      </a:r>
                    </a:p>
                  </a:txBody>
                  <a:tcPr marL="82296" marR="82296" marT="27432" marB="27432" anchor="ctr">
                    <a:solidFill>
                      <a:srgbClr val="FFFFFF"/>
                    </a:solidFill>
                  </a:tcPr>
                </a:tc>
                <a:tc>
                  <a:txBody>
                    <a:bodyPr/>
                    <a:lstStyle/>
                    <a:p>
                      <a:r>
                        <a:rPr sz="1000" b="0" i="0">
                          <a:solidFill>
                            <a:srgbClr val="3D5A80"/>
                          </a:solidFill>
                          <a:latin typeface="Calibri"/>
                        </a:rPr>
                        <a:t>ftp IN CNAME www.lab.internal.</a:t>
                      </a:r>
                    </a:p>
                  </a:txBody>
                  <a:tcPr marL="82296" marR="82296" marT="27432" marB="27432" anchor="ctr">
                    <a:solidFill>
                      <a:srgbClr val="FFFFFF"/>
                    </a:solidFill>
                  </a:tcPr>
                </a:tc>
                <a:extLst>
                  <a:ext uri="{0D108BD9-81ED-4DB2-BD59-A6C34878D82A}">
                    <a16:rowId xmlns:a16="http://schemas.microsoft.com/office/drawing/2014/main" val="10005"/>
                  </a:ext>
                </a:extLst>
              </a:tr>
              <a:tr h="546354">
                <a:tc>
                  <a:txBody>
                    <a:bodyPr/>
                    <a:lstStyle/>
                    <a:p>
                      <a:r>
                        <a:rPr sz="1000" b="1" i="0">
                          <a:solidFill>
                            <a:srgbClr val="1B2A4A"/>
                          </a:solidFill>
                          <a:latin typeface="Calibri"/>
                        </a:rPr>
                        <a:t>TXT</a:t>
                      </a:r>
                    </a:p>
                  </a:txBody>
                  <a:tcPr marL="82296" marR="82296" marT="27432" marB="27432" anchor="ctr">
                    <a:solidFill>
                      <a:srgbClr val="E8EEF7"/>
                    </a:solidFill>
                  </a:tcPr>
                </a:tc>
                <a:tc>
                  <a:txBody>
                    <a:bodyPr/>
                    <a:lstStyle/>
                    <a:p>
                      <a:r>
                        <a:rPr sz="1000" b="0" i="0">
                          <a:solidFill>
                            <a:srgbClr val="3D5A80"/>
                          </a:solidFill>
                          <a:latin typeface="Calibri"/>
                        </a:rPr>
                        <a:t>Free text - SPF/DMARC, verification</a:t>
                      </a:r>
                    </a:p>
                  </a:txBody>
                  <a:tcPr marL="82296" marR="82296" marT="27432" marB="27432" anchor="ctr">
                    <a:solidFill>
                      <a:srgbClr val="E8EEF7"/>
                    </a:solidFill>
                  </a:tcPr>
                </a:tc>
                <a:tc>
                  <a:txBody>
                    <a:bodyPr/>
                    <a:lstStyle/>
                    <a:p>
                      <a:r>
                        <a:rPr sz="1000" b="0" i="0">
                          <a:solidFill>
                            <a:srgbClr val="3D5A80"/>
                          </a:solidFill>
                          <a:latin typeface="Calibri"/>
                        </a:rPr>
                        <a:t>@ IN TXT "v=spf1 mx ~all"</a:t>
                      </a:r>
                    </a:p>
                  </a:txBody>
                  <a:tcPr marL="82296" marR="82296" marT="27432" marB="27432" anchor="ctr">
                    <a:solidFill>
                      <a:srgbClr val="E8EEF7"/>
                    </a:solidFill>
                  </a:tcPr>
                </a:tc>
                <a:extLst>
                  <a:ext uri="{0D108BD9-81ED-4DB2-BD59-A6C34878D82A}">
                    <a16:rowId xmlns:a16="http://schemas.microsoft.com/office/drawing/2014/main" val="10006"/>
                  </a:ext>
                </a:extLst>
              </a:tr>
              <a:tr h="546354">
                <a:tc>
                  <a:txBody>
                    <a:bodyPr/>
                    <a:lstStyle/>
                    <a:p>
                      <a:r>
                        <a:rPr sz="1000" b="1" i="0">
                          <a:solidFill>
                            <a:srgbClr val="1B2A4A"/>
                          </a:solidFill>
                          <a:latin typeface="Calibri"/>
                        </a:rPr>
                        <a:t>PTR</a:t>
                      </a:r>
                    </a:p>
                  </a:txBody>
                  <a:tcPr marL="82296" marR="82296" marT="27432" marB="27432" anchor="ctr">
                    <a:solidFill>
                      <a:srgbClr val="FFFFFF"/>
                    </a:solidFill>
                  </a:tcPr>
                </a:tc>
                <a:tc>
                  <a:txBody>
                    <a:bodyPr/>
                    <a:lstStyle/>
                    <a:p>
                      <a:r>
                        <a:rPr sz="1000" b="0" i="0">
                          <a:solidFill>
                            <a:srgbClr val="3D5A80"/>
                          </a:solidFill>
                          <a:latin typeface="Calibri"/>
                        </a:rPr>
                        <a:t>IP -&gt; hostname (reverse zone)</a:t>
                      </a:r>
                    </a:p>
                  </a:txBody>
                  <a:tcPr marL="82296" marR="82296" marT="27432" marB="27432" anchor="ctr">
                    <a:solidFill>
                      <a:srgbClr val="FFFFFF"/>
                    </a:solidFill>
                  </a:tcPr>
                </a:tc>
                <a:tc>
                  <a:txBody>
                    <a:bodyPr/>
                    <a:lstStyle/>
                    <a:p>
                      <a:r>
                        <a:rPr sz="1000" b="0" i="0">
                          <a:solidFill>
                            <a:srgbClr val="3D5A80"/>
                          </a:solidFill>
                          <a:latin typeface="Calibri"/>
                        </a:rPr>
                        <a:t>10 IN PTR www.lab.internal.</a:t>
                      </a:r>
                    </a:p>
                  </a:txBody>
                  <a:tcPr marL="82296" marR="82296" marT="27432" marB="27432" anchor="ctr">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2"/>
          <p:cNvSpPr txBox="1"/>
          <p:nvPr/>
        </p:nvSpPr>
        <p:spPr>
          <a:xfrm>
            <a:off x="640080" y="457200"/>
            <a:ext cx="10908792" cy="777240"/>
          </a:xfrm>
          <a:prstGeom prst="rect">
            <a:avLst/>
          </a:prstGeom>
          <a:noFill/>
        </p:spPr>
        <p:txBody>
          <a:bodyPr wrap="square" anchor="t" lIns="0" rIns="0" tIns="0" bIns="0">
            <a:spAutoFit/>
          </a:bodyPr>
          <a:lstStyle/>
          <a:p>
            <a:r>
              <a:rPr sz="2900" b="1" i="0">
                <a:solidFill>
                  <a:srgbClr val="1B2A4A"/>
                </a:solidFill>
                <a:latin typeface="Cambria"/>
              </a:rPr>
              <a:t>Attacks &amp; Defenses: DNS</a:t>
            </a:r>
          </a:p>
        </p:txBody>
      </p:sp>
      <p:sp>
        <p:nvSpPr>
          <p:cNvPr id="3" name="TextBox 3"/>
          <p:cNvSpPr txBox="1"/>
          <p:nvPr/>
        </p:nvSpPr>
        <p:spPr>
          <a:xfrm>
            <a:off x="640080" y="1243584"/>
            <a:ext cx="10908792" cy="365760"/>
          </a:xfrm>
          <a:prstGeom prst="rect">
            <a:avLst/>
          </a:prstGeom>
          <a:noFill/>
        </p:spPr>
        <p:txBody>
          <a:bodyPr wrap="square" anchor="t" lIns="0" rIns="0" tIns="0" bIns="0">
            <a:spAutoFit/>
          </a:bodyPr>
          <a:lstStyle/>
          <a:p>
            <a:r>
              <a:rPr sz="1250" b="0" i="0">
                <a:solidFill>
                  <a:srgbClr val="3D5A80"/>
                </a:solidFill>
                <a:latin typeface="Calibri"/>
              </a:rPr>
              <a:t>This lab's named.conf already makes several of these defensive choices - know which attack each one answers.</a:t>
            </a:r>
          </a:p>
        </p:txBody>
      </p:sp>
      <p:graphicFrame>
        <p:nvGraphicFramePr>
          <p:cNvPr id="4" name="Table 4"/>
          <p:cNvGraphicFramePr>
            <a:graphicFrameLocks noGrp="1"/>
          </p:cNvGraphicFramePr>
          <p:nvPr/>
        </p:nvGraphicFramePr>
        <p:xfrm>
          <a:off x="640080" y="1828800"/>
          <a:ext cx="10908792" cy="4754880"/>
        </p:xfrm>
        <a:graphic>
          <a:graphicData uri="http://schemas.openxmlformats.org/drawingml/2006/table">
            <a:tbl>
              <a:tblPr firstRow="0" bandRow="0"/>
              <a:tblGrid>
                <a:gridCol w="2600000"/>
                <a:gridCol w="4200000"/>
                <a:gridCol w="4108792"/>
              </a:tblGrid>
              <a:tr h="792480">
                <a:tc>
                  <a:txBody>
                    <a:bodyPr wrap="square"/>
                    <a:lstStyle/>
                    <a:p>
                      <a:r>
                        <a:rPr sz="1200" b="1" i="0">
                          <a:solidFill>
                            <a:srgbClr val="FFFFFF"/>
                          </a:solidFill>
                          <a:latin typeface="Calibri"/>
                        </a:rPr>
                        <a:t>Attack</a:t>
                      </a:r>
                    </a:p>
                  </a:txBody>
                  <a:tcPr anchor="ctr" marL="82296" marR="82296" marT="27432" marB="27432">
                    <a:solidFill>
                      <a:srgbClr val="1B2A4A"/>
                    </a:solidFill>
                  </a:tcPr>
                </a:tc>
                <a:tc>
                  <a:txBody>
                    <a:bodyPr wrap="square"/>
                    <a:lstStyle/>
                    <a:p>
                      <a:r>
                        <a:rPr sz="1200" b="1" i="0">
                          <a:solidFill>
                            <a:srgbClr val="FFFFFF"/>
                          </a:solidFill>
                          <a:latin typeface="Calibri"/>
                        </a:rPr>
                        <a:t>How It Works</a:t>
                      </a:r>
                    </a:p>
                  </a:txBody>
                  <a:tcPr anchor="ctr" marL="82296" marR="82296" marT="27432" marB="27432">
                    <a:solidFill>
                      <a:srgbClr val="1B2A4A"/>
                    </a:solidFill>
                  </a:tcPr>
                </a:tc>
                <a:tc>
                  <a:txBody>
                    <a:bodyPr wrap="square"/>
                    <a:lstStyle/>
                    <a:p>
                      <a:r>
                        <a:rPr sz="1200" b="1" i="0">
                          <a:solidFill>
                            <a:srgbClr val="FFFFFF"/>
                          </a:solidFill>
                          <a:latin typeface="Calibri"/>
                        </a:rPr>
                        <a:t>Defense</a:t>
                      </a:r>
                    </a:p>
                  </a:txBody>
                  <a:tcPr anchor="ctr" marL="82296" marR="82296" marT="27432" marB="27432">
                    <a:solidFill>
                      <a:srgbClr val="1B2A4A"/>
                    </a:solidFill>
                  </a:tcPr>
                </a:tc>
              </a:tr>
              <a:tr h="792480">
                <a:tc>
                  <a:txBody>
                    <a:bodyPr wrap="square"/>
                    <a:lstStyle/>
                    <a:p>
                      <a:r>
                        <a:rPr sz="1050" b="1" i="0">
                          <a:solidFill>
                            <a:srgbClr val="1B2A4A"/>
                          </a:solidFill>
                          <a:latin typeface="Calibri"/>
                        </a:rPr>
                        <a:t>Zone transfer leakage</a:t>
                      </a:r>
                    </a:p>
                  </a:txBody>
                  <a:tcPr anchor="ctr" marL="82296" marR="82296" marT="27432" marB="27432">
                    <a:solidFill>
                      <a:srgbClr val="FFFFFF"/>
                    </a:solidFill>
                  </a:tcPr>
                </a:tc>
                <a:tc>
                  <a:txBody>
                    <a:bodyPr wrap="square"/>
                    <a:lstStyle/>
                    <a:p>
                      <a:r>
                        <a:rPr sz="1050" b="0" i="0">
                          <a:solidFill>
                            <a:srgbClr val="3D5A80"/>
                          </a:solidFill>
                          <a:latin typeface="Calibri"/>
                        </a:rPr>
                        <a:t>allow-transfer left open (or any) lets an attacker pull the entire zone, mapping every host</a:t>
                      </a:r>
                    </a:p>
                  </a:txBody>
                  <a:tcPr anchor="ctr" marL="82296" marR="82296" marT="27432" marB="27432">
                    <a:solidFill>
                      <a:srgbClr val="FFFFFF"/>
                    </a:solidFill>
                  </a:tcPr>
                </a:tc>
                <a:tc>
                  <a:txBody>
                    <a:bodyPr wrap="square"/>
                    <a:lstStyle/>
                    <a:p>
                      <a:r>
                        <a:rPr sz="1050" b="0" i="0">
                          <a:solidFill>
                            <a:srgbClr val="3D5A80"/>
                          </a:solidFill>
                          <a:latin typeface="Calibri"/>
                        </a:rPr>
                        <a:t>Restrict allow-transfer to specific secondary IPs only, never any</a:t>
                      </a:r>
                    </a:p>
                  </a:txBody>
                  <a:tcPr anchor="ctr" marL="82296" marR="82296" marT="27432" marB="27432">
                    <a:solidFill>
                      <a:srgbClr val="FFFFFF"/>
                    </a:solidFill>
                  </a:tcPr>
                </a:tc>
              </a:tr>
              <a:tr h="792480">
                <a:tc>
                  <a:txBody>
                    <a:bodyPr wrap="square"/>
                    <a:lstStyle/>
                    <a:p>
                      <a:r>
                        <a:rPr sz="1050" b="1" i="0">
                          <a:solidFill>
                            <a:srgbClr val="1B2A4A"/>
                          </a:solidFill>
                          <a:latin typeface="Calibri"/>
                        </a:rPr>
                        <a:t>Cache poisoning</a:t>
                      </a:r>
                    </a:p>
                  </a:txBody>
                  <a:tcPr anchor="ctr" marL="82296" marR="82296" marT="27432" marB="27432">
                    <a:solidFill>
                      <a:srgbClr val="E8EEF7"/>
                    </a:solidFill>
                  </a:tcPr>
                </a:tc>
                <a:tc>
                  <a:txBody>
                    <a:bodyPr wrap="square"/>
                    <a:lstStyle/>
                    <a:p>
                      <a:r>
                        <a:rPr sz="1050" b="0" i="0">
                          <a:solidFill>
                            <a:srgbClr val="3D5A80"/>
                          </a:solidFill>
                          <a:latin typeface="Calibri"/>
                        </a:rPr>
                        <a:t>A resolver that accepts forged responses can redirect users to attacker-controlled hosts</a:t>
                      </a:r>
                    </a:p>
                  </a:txBody>
                  <a:tcPr anchor="ctr" marL="82296" marR="82296" marT="27432" marB="27432">
                    <a:solidFill>
                      <a:srgbClr val="E8EEF7"/>
                    </a:solidFill>
                  </a:tcPr>
                </a:tc>
                <a:tc>
                  <a:txBody>
                    <a:bodyPr wrap="square"/>
                    <a:lstStyle/>
                    <a:p>
                      <a:r>
                        <a:rPr sz="1050" b="0" i="0">
                          <a:solidFill>
                            <a:srgbClr val="3D5A80"/>
                          </a:solidFill>
                          <a:latin typeface="Calibri"/>
                        </a:rPr>
                        <a:t>This server's recursion no removes the caching surface; a real resolver needs DNSSEC validation</a:t>
                      </a:r>
                    </a:p>
                  </a:txBody>
                  <a:tcPr anchor="ctr" marL="82296" marR="82296" marT="27432" marB="27432">
                    <a:solidFill>
                      <a:srgbClr val="E8EEF7"/>
                    </a:solidFill>
                  </a:tcPr>
                </a:tc>
              </a:tr>
              <a:tr h="792480">
                <a:tc>
                  <a:txBody>
                    <a:bodyPr wrap="square"/>
                    <a:lstStyle/>
                    <a:p>
                      <a:r>
                        <a:rPr sz="1050" b="1" i="0">
                          <a:solidFill>
                            <a:srgbClr val="1B2A4A"/>
                          </a:solidFill>
                          <a:latin typeface="Calibri"/>
                        </a:rPr>
                        <a:t>DNS amplification (DDoS)</a:t>
                      </a:r>
                    </a:p>
                  </a:txBody>
                  <a:tcPr anchor="ctr" marL="82296" marR="82296" marT="27432" marB="27432">
                    <a:solidFill>
                      <a:srgbClr val="FFFFFF"/>
                    </a:solidFill>
                  </a:tcPr>
                </a:tc>
                <a:tc>
                  <a:txBody>
                    <a:bodyPr wrap="square"/>
                    <a:lstStyle/>
                    <a:p>
                      <a:r>
                        <a:rPr sz="1050" b="0" i="0">
                          <a:solidFill>
                            <a:srgbClr val="3D5A80"/>
                          </a:solidFill>
                          <a:latin typeface="Calibri"/>
                        </a:rPr>
                        <a:t>An open recursive resolver can be abused to reflect and amplify traffic at a third party</a:t>
                      </a:r>
                    </a:p>
                  </a:txBody>
                  <a:tcPr anchor="ctr" marL="82296" marR="82296" marT="27432" marB="27432">
                    <a:solidFill>
                      <a:srgbClr val="FFFFFF"/>
                    </a:solidFill>
                  </a:tcPr>
                </a:tc>
                <a:tc>
                  <a:txBody>
                    <a:bodyPr wrap="square"/>
                    <a:lstStyle/>
                    <a:p>
                      <a:r>
                        <a:rPr sz="1050" b="0" i="0">
                          <a:solidFill>
                            <a:srgbClr val="3D5A80"/>
                          </a:solidFill>
                          <a:latin typeface="Calibri"/>
                        </a:rPr>
                        <a:t>recursion no plus a scoped allow-query prevents this server being used as a reflector</a:t>
                      </a:r>
                    </a:p>
                  </a:txBody>
                  <a:tcPr anchor="ctr" marL="82296" marR="82296" marT="27432" marB="27432">
                    <a:solidFill>
                      <a:srgbClr val="FFFFFF"/>
                    </a:solidFill>
                  </a:tcPr>
                </a:tc>
              </a:tr>
              <a:tr h="792480">
                <a:tc>
                  <a:txBody>
                    <a:bodyPr wrap="square"/>
                    <a:lstStyle/>
                    <a:p>
                      <a:r>
                        <a:rPr sz="1050" b="1" i="0">
                          <a:solidFill>
                            <a:srgbClr val="1B2A4A"/>
                          </a:solidFill>
                          <a:latin typeface="Calibri"/>
                        </a:rPr>
                        <a:t>Response spoofing</a:t>
                      </a:r>
                    </a:p>
                  </a:txBody>
                  <a:tcPr anchor="ctr" marL="82296" marR="82296" marT="27432" marB="27432">
                    <a:solidFill>
                      <a:srgbClr val="E8EEF7"/>
                    </a:solidFill>
                  </a:tcPr>
                </a:tc>
                <a:tc>
                  <a:txBody>
                    <a:bodyPr wrap="square"/>
                    <a:lstStyle/>
                    <a:p>
                      <a:r>
                        <a:rPr sz="1050" b="0" i="0">
                          <a:solidFill>
                            <a:srgbClr val="3D5A80"/>
                          </a:solidFill>
                          <a:latin typeface="Calibri"/>
                        </a:rPr>
                        <a:t>Without DNSSEC, a forged response looks identical to a real one to the client</a:t>
                      </a:r>
                    </a:p>
                  </a:txBody>
                  <a:tcPr anchor="ctr" marL="82296" marR="82296" marT="27432" marB="27432">
                    <a:solidFill>
                      <a:srgbClr val="E8EEF7"/>
                    </a:solidFill>
                  </a:tcPr>
                </a:tc>
                <a:tc>
                  <a:txBody>
                    <a:bodyPr wrap="square"/>
                    <a:lstStyle/>
                    <a:p>
                      <a:r>
                        <a:rPr sz="1050" b="0" i="0">
                          <a:solidFill>
                            <a:srgbClr val="3D5A80"/>
                          </a:solidFill>
                          <a:latin typeface="Calibri"/>
                        </a:rPr>
                        <a:t>dnssec-validation auto (already in this config) cryptographically verifies responses</a:t>
                      </a:r>
                    </a:p>
                  </a:txBody>
                  <a:tcPr anchor="ctr" marL="82296" marR="82296" marT="27432" marB="27432">
                    <a:solidFill>
                      <a:srgbClr val="E8EEF7"/>
                    </a:solidFill>
                  </a:tcPr>
                </a:tc>
              </a:tr>
              <a:tr h="792480">
                <a:tc>
                  <a:txBody>
                    <a:bodyPr wrap="square"/>
                    <a:lstStyle/>
                    <a:p>
                      <a:r>
                        <a:rPr sz="1050" b="1" i="0">
                          <a:solidFill>
                            <a:srgbClr val="1B2A4A"/>
                          </a:solidFill>
                          <a:latin typeface="Calibri"/>
                        </a:rPr>
                        <a:t>Version disclosure</a:t>
                      </a:r>
                    </a:p>
                  </a:txBody>
                  <a:tcPr anchor="ctr" marL="82296" marR="82296" marT="27432" marB="27432">
                    <a:solidFill>
                      <a:srgbClr val="FFFFFF"/>
                    </a:solidFill>
                  </a:tcPr>
                </a:tc>
                <a:tc>
                  <a:txBody>
                    <a:bodyPr wrap="square"/>
                    <a:lstStyle/>
                    <a:p>
                      <a:r>
                        <a:rPr sz="1050" b="0" i="0">
                          <a:solidFill>
                            <a:srgbClr val="3D5A80"/>
                          </a:solidFill>
                          <a:latin typeface="Calibri"/>
                        </a:rPr>
                        <a:t>A server reporting its exact BIND version hands an attacker a list of CVEs to try</a:t>
                      </a:r>
                    </a:p>
                  </a:txBody>
                  <a:tcPr anchor="ctr" marL="82296" marR="82296" marT="27432" marB="27432">
                    <a:solidFill>
                      <a:srgbClr val="FFFFFF"/>
                    </a:solidFill>
                  </a:tcPr>
                </a:tc>
                <a:tc>
                  <a:txBody>
                    <a:bodyPr wrap="square"/>
                    <a:lstStyle/>
                    <a:p>
                      <a:r>
                        <a:rPr sz="1050" b="0" i="0">
                          <a:solidFill>
                            <a:srgbClr val="3D5A80"/>
                          </a:solidFill>
                          <a:latin typeface="Calibri"/>
                        </a:rPr>
                        <a:t>version "not disclosed" (already in this config) hides the specific version</a:t>
                      </a:r>
                    </a:p>
                  </a:txBody>
                  <a:tcPr anchor="ctr" marL="82296" marR="82296" marT="27432" marB="27432">
                    <a:solidFill>
                      <a:srgbClr val="FFFFFF"/>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10908792" cy="777240"/>
          </a:xfrm>
          <a:prstGeom prst="rect">
            <a:avLst/>
          </a:prstGeom>
          <a:noFill/>
        </p:spPr>
        <p:txBody>
          <a:bodyPr wrap="square" lIns="0" tIns="0" rIns="0" bIns="0" anchor="t">
            <a:spAutoFit/>
          </a:bodyPr>
          <a:lstStyle/>
          <a:p>
            <a:r>
              <a:rPr sz="2900" b="1" i="0">
                <a:solidFill>
                  <a:srgbClr val="1B2A4A"/>
                </a:solidFill>
                <a:latin typeface="Cambria"/>
              </a:rPr>
              <a:t>DHCP: The DORA Lease Process</a:t>
            </a:r>
          </a:p>
        </p:txBody>
      </p:sp>
      <p:sp>
        <p:nvSpPr>
          <p:cNvPr id="3" name="TextBox 2"/>
          <p:cNvSpPr txBox="1"/>
          <p:nvPr/>
        </p:nvSpPr>
        <p:spPr>
          <a:xfrm>
            <a:off x="640080" y="1243584"/>
            <a:ext cx="10908792" cy="365760"/>
          </a:xfrm>
          <a:prstGeom prst="rect">
            <a:avLst/>
          </a:prstGeom>
          <a:noFill/>
        </p:spPr>
        <p:txBody>
          <a:bodyPr wrap="square" lIns="0" tIns="0" rIns="0" bIns="0" anchor="t">
            <a:spAutoFit/>
          </a:bodyPr>
          <a:lstStyle/>
          <a:p>
            <a:r>
              <a:rPr sz="1250" b="0" i="0">
                <a:solidFill>
                  <a:srgbClr val="3D5A80"/>
                </a:solidFill>
                <a:latin typeface="Calibri"/>
              </a:rPr>
              <a:t>A client with no IP yet can't unicast - DORA is built entirely on broadcast until the lease is confirmed.</a:t>
            </a:r>
          </a:p>
        </p:txBody>
      </p:sp>
      <p:sp>
        <p:nvSpPr>
          <p:cNvPr id="4" name="Oval 3"/>
          <p:cNvSpPr/>
          <p:nvPr/>
        </p:nvSpPr>
        <p:spPr>
          <a:xfrm>
            <a:off x="1674495" y="1609344"/>
            <a:ext cx="384048" cy="384048"/>
          </a:xfrm>
          <a:prstGeom prst="ellipse">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300" b="1" i="0">
                <a:solidFill>
                  <a:srgbClr val="FFFFFF"/>
                </a:solidFill>
                <a:latin typeface="Calibri"/>
              </a:rPr>
              <a:t>1</a:t>
            </a:r>
          </a:p>
        </p:txBody>
      </p:sp>
      <p:sp>
        <p:nvSpPr>
          <p:cNvPr id="5" name="Rounded Rectangle 4"/>
          <p:cNvSpPr/>
          <p:nvPr/>
        </p:nvSpPr>
        <p:spPr>
          <a:xfrm>
            <a:off x="640080" y="2103120"/>
            <a:ext cx="2452878" cy="960120"/>
          </a:xfrm>
          <a:prstGeom prst="round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400" b="1" i="0">
                <a:solidFill>
                  <a:srgbClr val="FFFFFF"/>
                </a:solidFill>
                <a:latin typeface="Calibri"/>
              </a:rPr>
              <a:t>Discover</a:t>
            </a:r>
          </a:p>
          <a:p>
            <a:pPr algn="ctr"/>
            <a:r>
              <a:rPr sz="1000" b="0" i="0">
                <a:solidFill>
                  <a:srgbClr val="FFFFFF"/>
                </a:solidFill>
                <a:latin typeface="Calibri"/>
              </a:rPr>
              <a:t>client broadcasts for any server</a:t>
            </a:r>
          </a:p>
        </p:txBody>
      </p:sp>
      <p:sp>
        <p:nvSpPr>
          <p:cNvPr id="6" name="Oval 5"/>
          <p:cNvSpPr/>
          <p:nvPr/>
        </p:nvSpPr>
        <p:spPr>
          <a:xfrm>
            <a:off x="4493133" y="1609344"/>
            <a:ext cx="384048" cy="384048"/>
          </a:xfrm>
          <a:prstGeom prst="ellipse">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300" b="1" i="0">
                <a:solidFill>
                  <a:srgbClr val="FFFFFF"/>
                </a:solidFill>
                <a:latin typeface="Calibri"/>
              </a:rPr>
              <a:t>2</a:t>
            </a:r>
          </a:p>
        </p:txBody>
      </p:sp>
      <p:sp>
        <p:nvSpPr>
          <p:cNvPr id="7" name="Rounded Rectangle 6"/>
          <p:cNvSpPr/>
          <p:nvPr/>
        </p:nvSpPr>
        <p:spPr>
          <a:xfrm>
            <a:off x="3458718" y="2103120"/>
            <a:ext cx="2452878" cy="960120"/>
          </a:xfrm>
          <a:prstGeom prst="round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400" b="1" i="0">
                <a:solidFill>
                  <a:srgbClr val="FFFFFF"/>
                </a:solidFill>
                <a:latin typeface="Calibri"/>
              </a:rPr>
              <a:t>Offer</a:t>
            </a:r>
          </a:p>
          <a:p>
            <a:pPr algn="ctr"/>
            <a:r>
              <a:rPr sz="1000" b="0" i="0">
                <a:solidFill>
                  <a:srgbClr val="FFFFFF"/>
                </a:solidFill>
                <a:latin typeface="Calibri"/>
              </a:rPr>
              <a:t>a server proposes an address</a:t>
            </a:r>
          </a:p>
        </p:txBody>
      </p:sp>
      <p:sp>
        <p:nvSpPr>
          <p:cNvPr id="8" name="Oval 7"/>
          <p:cNvSpPr/>
          <p:nvPr/>
        </p:nvSpPr>
        <p:spPr>
          <a:xfrm>
            <a:off x="7311771" y="1609344"/>
            <a:ext cx="384048" cy="384048"/>
          </a:xfrm>
          <a:prstGeom prst="ellipse">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300" b="1" i="0">
                <a:solidFill>
                  <a:srgbClr val="FFFFFF"/>
                </a:solidFill>
                <a:latin typeface="Calibri"/>
              </a:rPr>
              <a:t>3</a:t>
            </a:r>
          </a:p>
        </p:txBody>
      </p:sp>
      <p:sp>
        <p:nvSpPr>
          <p:cNvPr id="9" name="Rounded Rectangle 8"/>
          <p:cNvSpPr/>
          <p:nvPr/>
        </p:nvSpPr>
        <p:spPr>
          <a:xfrm>
            <a:off x="6277356" y="2103120"/>
            <a:ext cx="2452878" cy="960120"/>
          </a:xfrm>
          <a:prstGeom prst="round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400" b="1" i="0">
                <a:solidFill>
                  <a:srgbClr val="FFFFFF"/>
                </a:solidFill>
                <a:latin typeface="Calibri"/>
              </a:rPr>
              <a:t>Request</a:t>
            </a:r>
          </a:p>
          <a:p>
            <a:pPr algn="ctr"/>
            <a:r>
              <a:rPr sz="1000" b="0" i="0">
                <a:solidFill>
                  <a:srgbClr val="FFFFFF"/>
                </a:solidFill>
                <a:latin typeface="Calibri"/>
              </a:rPr>
              <a:t>client broadcasts which offer it accepts</a:t>
            </a:r>
          </a:p>
        </p:txBody>
      </p:sp>
      <p:sp>
        <p:nvSpPr>
          <p:cNvPr id="10" name="Oval 9"/>
          <p:cNvSpPr/>
          <p:nvPr/>
        </p:nvSpPr>
        <p:spPr>
          <a:xfrm>
            <a:off x="10130409" y="1609344"/>
            <a:ext cx="384048" cy="384048"/>
          </a:xfrm>
          <a:prstGeom prst="ellipse">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300" b="1" i="0">
                <a:solidFill>
                  <a:srgbClr val="FFFFFF"/>
                </a:solidFill>
                <a:latin typeface="Calibri"/>
              </a:rPr>
              <a:t>4</a:t>
            </a:r>
          </a:p>
        </p:txBody>
      </p:sp>
      <p:sp>
        <p:nvSpPr>
          <p:cNvPr id="11" name="Rounded Rectangle 10"/>
          <p:cNvSpPr/>
          <p:nvPr/>
        </p:nvSpPr>
        <p:spPr>
          <a:xfrm>
            <a:off x="9095994" y="2103120"/>
            <a:ext cx="2452878" cy="960120"/>
          </a:xfrm>
          <a:prstGeom prst="round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400" b="1" i="0">
                <a:solidFill>
                  <a:srgbClr val="FFFFFF"/>
                </a:solidFill>
                <a:latin typeface="Calibri"/>
              </a:rPr>
              <a:t>Ack</a:t>
            </a:r>
          </a:p>
          <a:p>
            <a:pPr algn="ctr"/>
            <a:r>
              <a:rPr sz="1000" b="0" i="0">
                <a:solidFill>
                  <a:srgbClr val="FFFFFF"/>
                </a:solidFill>
                <a:latin typeface="Calibri"/>
              </a:rPr>
              <a:t>server confirms the lease</a:t>
            </a:r>
          </a:p>
        </p:txBody>
      </p:sp>
      <p:cxnSp>
        <p:nvCxnSpPr>
          <p:cNvPr id="12" name="Connector 11"/>
          <p:cNvCxnSpPr/>
          <p:nvPr/>
        </p:nvCxnSpPr>
        <p:spPr>
          <a:xfrm>
            <a:off x="3056382" y="2583180"/>
            <a:ext cx="438912" cy="0"/>
          </a:xfrm>
          <a:prstGeom prst="line">
            <a:avLst/>
          </a:prstGeom>
          <a:ln w="28575">
            <a:solidFill>
              <a:srgbClr val="00B4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5875020" y="2583180"/>
            <a:ext cx="438912" cy="0"/>
          </a:xfrm>
          <a:prstGeom prst="line">
            <a:avLst/>
          </a:prstGeom>
          <a:ln w="28575">
            <a:solidFill>
              <a:srgbClr val="00B4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8693658" y="2583180"/>
            <a:ext cx="438912" cy="0"/>
          </a:xfrm>
          <a:prstGeom prst="line">
            <a:avLst/>
          </a:prstGeom>
          <a:ln w="28575">
            <a:solidFill>
              <a:srgbClr val="00B4D8"/>
            </a:solidFill>
            <a:tailEnd type="triangle" w="med" len="med"/>
          </a:ln>
        </p:spPr>
        <p:style>
          <a:lnRef idx="2">
            <a:schemeClr val="accent1"/>
          </a:lnRef>
          <a:fillRef idx="0">
            <a:schemeClr val="accent1"/>
          </a:fillRef>
          <a:effectRef idx="1">
            <a:schemeClr val="accent1"/>
          </a:effectRef>
          <a:fontRef idx="minor">
            <a:schemeClr val="tx1"/>
          </a:fontRef>
        </p:style>
      </p:cxnSp>
      <p:graphicFrame>
        <p:nvGraphicFramePr>
          <p:cNvPr id="15" name="Table 14"/>
          <p:cNvGraphicFramePr>
            <a:graphicFrameLocks noGrp="1"/>
          </p:cNvGraphicFramePr>
          <p:nvPr/>
        </p:nvGraphicFramePr>
        <p:xfrm>
          <a:off x="640080" y="3429000"/>
          <a:ext cx="10908792" cy="3154680"/>
        </p:xfrm>
        <a:graphic>
          <a:graphicData uri="http://schemas.openxmlformats.org/drawingml/2006/table">
            <a:tbl>
              <a:tblPr/>
              <a:tblGrid>
                <a:gridCol w="2377440">
                  <a:extLst>
                    <a:ext uri="{9D8B030D-6E8A-4147-A177-3AD203B41FA5}">
                      <a16:colId xmlns:a16="http://schemas.microsoft.com/office/drawing/2014/main" val="20000"/>
                    </a:ext>
                  </a:extLst>
                </a:gridCol>
                <a:gridCol w="8531352">
                  <a:extLst>
                    <a:ext uri="{9D8B030D-6E8A-4147-A177-3AD203B41FA5}">
                      <a16:colId xmlns:a16="http://schemas.microsoft.com/office/drawing/2014/main" val="20001"/>
                    </a:ext>
                  </a:extLst>
                </a:gridCol>
              </a:tblGrid>
              <a:tr h="630936">
                <a:tc>
                  <a:txBody>
                    <a:bodyPr/>
                    <a:lstStyle/>
                    <a:p>
                      <a:r>
                        <a:rPr sz="1250" b="1" i="0">
                          <a:solidFill>
                            <a:srgbClr val="FFFFFF"/>
                          </a:solidFill>
                          <a:latin typeface="Calibri"/>
                        </a:rPr>
                        <a:t>Concept</a:t>
                      </a:r>
                    </a:p>
                  </a:txBody>
                  <a:tcPr marL="82296" marR="82296" marT="27432" marB="27432" anchor="ctr">
                    <a:solidFill>
                      <a:srgbClr val="1B2A4A"/>
                    </a:solidFill>
                  </a:tcPr>
                </a:tc>
                <a:tc>
                  <a:txBody>
                    <a:bodyPr/>
                    <a:lstStyle/>
                    <a:p>
                      <a:r>
                        <a:rPr sz="1250" b="1" i="0">
                          <a:solidFill>
                            <a:srgbClr val="FFFFFF"/>
                          </a:solidFill>
                          <a:latin typeface="Calibri"/>
                        </a:rPr>
                        <a:t>Meaning</a:t>
                      </a:r>
                    </a:p>
                  </a:txBody>
                  <a:tcPr marL="82296" marR="82296" marT="27432" marB="27432" anchor="ctr">
                    <a:solidFill>
                      <a:srgbClr val="1B2A4A"/>
                    </a:solidFill>
                  </a:tcPr>
                </a:tc>
                <a:extLst>
                  <a:ext uri="{0D108BD9-81ED-4DB2-BD59-A6C34878D82A}">
                    <a16:rowId xmlns:a16="http://schemas.microsoft.com/office/drawing/2014/main" val="10000"/>
                  </a:ext>
                </a:extLst>
              </a:tr>
              <a:tr h="630936">
                <a:tc>
                  <a:txBody>
                    <a:bodyPr/>
                    <a:lstStyle/>
                    <a:p>
                      <a:r>
                        <a:rPr sz="1100" b="1" i="0">
                          <a:solidFill>
                            <a:srgbClr val="1B2A4A"/>
                          </a:solidFill>
                          <a:latin typeface="Calibri"/>
                        </a:rPr>
                        <a:t>Lease time</a:t>
                      </a:r>
                    </a:p>
                  </a:txBody>
                  <a:tcPr marL="82296" marR="82296" marT="27432" marB="27432" anchor="ctr">
                    <a:solidFill>
                      <a:srgbClr val="FFFFFF"/>
                    </a:solidFill>
                  </a:tcPr>
                </a:tc>
                <a:tc>
                  <a:txBody>
                    <a:bodyPr/>
                    <a:lstStyle/>
                    <a:p>
                      <a:r>
                        <a:rPr sz="1100" b="0" i="0">
                          <a:solidFill>
                            <a:srgbClr val="3D5A80"/>
                          </a:solidFill>
                          <a:latin typeface="Calibri"/>
                        </a:rPr>
                        <a:t>How long a client may keep an address before renewing</a:t>
                      </a:r>
                    </a:p>
                  </a:txBody>
                  <a:tcPr marL="82296" marR="82296" marT="27432" marB="27432" anchor="ctr">
                    <a:solidFill>
                      <a:srgbClr val="FFFFFF"/>
                    </a:solidFill>
                  </a:tcPr>
                </a:tc>
                <a:extLst>
                  <a:ext uri="{0D108BD9-81ED-4DB2-BD59-A6C34878D82A}">
                    <a16:rowId xmlns:a16="http://schemas.microsoft.com/office/drawing/2014/main" val="10001"/>
                  </a:ext>
                </a:extLst>
              </a:tr>
              <a:tr h="630936">
                <a:tc>
                  <a:txBody>
                    <a:bodyPr/>
                    <a:lstStyle/>
                    <a:p>
                      <a:r>
                        <a:rPr sz="1100" b="1" i="0">
                          <a:solidFill>
                            <a:srgbClr val="1B2A4A"/>
                          </a:solidFill>
                          <a:latin typeface="Calibri"/>
                        </a:rPr>
                        <a:t>Scope / pool range</a:t>
                      </a:r>
                    </a:p>
                  </a:txBody>
                  <a:tcPr marL="82296" marR="82296" marT="27432" marB="27432" anchor="ctr">
                    <a:solidFill>
                      <a:srgbClr val="E8EEF7"/>
                    </a:solidFill>
                  </a:tcPr>
                </a:tc>
                <a:tc>
                  <a:txBody>
                    <a:bodyPr/>
                    <a:lstStyle/>
                    <a:p>
                      <a:r>
                        <a:rPr sz="1100" b="0" i="0">
                          <a:solidFill>
                            <a:srgbClr val="3D5A80"/>
                          </a:solidFill>
                          <a:latin typeface="Calibri"/>
                        </a:rPr>
                        <a:t>The block of addresses a DHCP server is allowed to hand out</a:t>
                      </a:r>
                    </a:p>
                  </a:txBody>
                  <a:tcPr marL="82296" marR="82296" marT="27432" marB="27432" anchor="ctr">
                    <a:solidFill>
                      <a:srgbClr val="E8EEF7"/>
                    </a:solidFill>
                  </a:tcPr>
                </a:tc>
                <a:extLst>
                  <a:ext uri="{0D108BD9-81ED-4DB2-BD59-A6C34878D82A}">
                    <a16:rowId xmlns:a16="http://schemas.microsoft.com/office/drawing/2014/main" val="10002"/>
                  </a:ext>
                </a:extLst>
              </a:tr>
              <a:tr h="630936">
                <a:tc>
                  <a:txBody>
                    <a:bodyPr/>
                    <a:lstStyle/>
                    <a:p>
                      <a:r>
                        <a:rPr sz="1100" b="1" i="0">
                          <a:solidFill>
                            <a:srgbClr val="1B2A4A"/>
                          </a:solidFill>
                          <a:latin typeface="Calibri"/>
                        </a:rPr>
                        <a:t>Reservation</a:t>
                      </a:r>
                    </a:p>
                  </a:txBody>
                  <a:tcPr marL="82296" marR="82296" marT="27432" marB="27432" anchor="ctr">
                    <a:solidFill>
                      <a:srgbClr val="FFFFFF"/>
                    </a:solidFill>
                  </a:tcPr>
                </a:tc>
                <a:tc>
                  <a:txBody>
                    <a:bodyPr/>
                    <a:lstStyle/>
                    <a:p>
                      <a:r>
                        <a:rPr sz="1100" b="0" i="0">
                          <a:solidFill>
                            <a:srgbClr val="3D5A80"/>
                          </a:solidFill>
                          <a:latin typeface="Calibri"/>
                        </a:rPr>
                        <a:t>A static IP tied to a specific MAC address within the scope</a:t>
                      </a:r>
                    </a:p>
                  </a:txBody>
                  <a:tcPr marL="82296" marR="82296" marT="27432" marB="27432" anchor="ctr">
                    <a:solidFill>
                      <a:srgbClr val="FFFFFF"/>
                    </a:solidFill>
                  </a:tcPr>
                </a:tc>
                <a:extLst>
                  <a:ext uri="{0D108BD9-81ED-4DB2-BD59-A6C34878D82A}">
                    <a16:rowId xmlns:a16="http://schemas.microsoft.com/office/drawing/2014/main" val="10003"/>
                  </a:ext>
                </a:extLst>
              </a:tr>
              <a:tr h="630936">
                <a:tc>
                  <a:txBody>
                    <a:bodyPr/>
                    <a:lstStyle/>
                    <a:p>
                      <a:r>
                        <a:rPr sz="1100" b="1" i="0">
                          <a:solidFill>
                            <a:srgbClr val="1B2A4A"/>
                          </a:solidFill>
                          <a:latin typeface="Calibri"/>
                        </a:rPr>
                        <a:t>Options</a:t>
                      </a:r>
                    </a:p>
                  </a:txBody>
                  <a:tcPr marL="82296" marR="82296" marT="27432" marB="27432" anchor="ctr">
                    <a:solidFill>
                      <a:srgbClr val="E8EEF7"/>
                    </a:solidFill>
                  </a:tcPr>
                </a:tc>
                <a:tc>
                  <a:txBody>
                    <a:bodyPr/>
                    <a:lstStyle/>
                    <a:p>
                      <a:r>
                        <a:rPr sz="1100" b="0" i="0">
                          <a:solidFill>
                            <a:srgbClr val="3D5A80"/>
                          </a:solidFill>
                          <a:latin typeface="Calibri"/>
                        </a:rPr>
                        <a:t>Extra config sent with the lease - DNS servers, gateway, domain name</a:t>
                      </a:r>
                    </a:p>
                  </a:txBody>
                  <a:tcPr marL="82296" marR="82296" marT="27432" marB="27432" anchor="ctr">
                    <a:solidFill>
                      <a:srgbClr val="E8EEF7"/>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40080" y="457200"/>
            <a:ext cx="10908792" cy="777240"/>
          </a:xfrm>
          <a:prstGeom prst="rect">
            <a:avLst/>
          </a:prstGeom>
          <a:noFill/>
        </p:spPr>
        <p:txBody>
          <a:bodyPr wrap="square" lIns="0" tIns="0" rIns="0" bIns="0" anchor="t">
            <a:spAutoFit/>
          </a:bodyPr>
          <a:lstStyle/>
          <a:p>
            <a:r>
              <a:rPr sz="2900" b="1" i="0">
                <a:solidFill>
                  <a:srgbClr val="1B2A4A"/>
                </a:solidFill>
                <a:latin typeface="Cambria"/>
              </a:rPr>
              <a:t>DHCP: Reading dhcpd.conf</a:t>
            </a:r>
          </a:p>
        </p:txBody>
      </p:sp>
      <p:sp>
        <p:nvSpPr>
          <p:cNvPr id="3" name="TextBox 3"/>
          <p:cNvSpPr txBox="1"/>
          <p:nvPr/>
        </p:nvSpPr>
        <p:spPr>
          <a:xfrm>
            <a:off x="640080" y="1243584"/>
            <a:ext cx="10908792" cy="365760"/>
          </a:xfrm>
          <a:prstGeom prst="rect">
            <a:avLst/>
          </a:prstGeom>
          <a:noFill/>
        </p:spPr>
        <p:txBody>
          <a:bodyPr wrap="square" lIns="0" tIns="0" rIns="0" bIns="0" anchor="t">
            <a:spAutoFit/>
          </a:bodyPr>
          <a:lstStyle/>
          <a:p>
            <a:r>
              <a:rPr sz="1250" b="0" i="0">
                <a:solidFill>
                  <a:srgbClr val="3D5A80"/>
                </a:solidFill>
                <a:latin typeface="Calibri"/>
              </a:rPr>
              <a:t>Same DORA concepts, now as the directives that implement them - and the shape of mistakes IT HW 2 asks you to catch.</a:t>
            </a:r>
          </a:p>
        </p:txBody>
      </p:sp>
      <p:graphicFrame>
        <p:nvGraphicFramePr>
          <p:cNvPr id="4" name="Table 4"/>
          <p:cNvGraphicFramePr>
            <a:graphicFrameLocks noGrp="1"/>
          </p:cNvGraphicFramePr>
          <p:nvPr/>
        </p:nvGraphicFramePr>
        <p:xfrm>
          <a:off x="640080" y="1828800"/>
          <a:ext cx="10908792" cy="4754880"/>
        </p:xfrm>
        <a:graphic>
          <a:graphicData uri="http://schemas.openxmlformats.org/drawingml/2006/table">
            <a:tbl>
              <a:tblPr/>
              <a:tblGrid>
                <a:gridCol w="3200000">
                  <a:extLst>
                    <a:ext uri="{9D8B030D-6E8A-4147-A177-3AD203B41FA5}">
                      <a16:colId xmlns:a16="http://schemas.microsoft.com/office/drawing/2014/main" val="20000"/>
                    </a:ext>
                  </a:extLst>
                </a:gridCol>
                <a:gridCol w="2400000">
                  <a:extLst>
                    <a:ext uri="{9D8B030D-6E8A-4147-A177-3AD203B41FA5}">
                      <a16:colId xmlns:a16="http://schemas.microsoft.com/office/drawing/2014/main" val="20001"/>
                    </a:ext>
                  </a:extLst>
                </a:gridCol>
                <a:gridCol w="5308792">
                  <a:extLst>
                    <a:ext uri="{9D8B030D-6E8A-4147-A177-3AD203B41FA5}">
                      <a16:colId xmlns:a16="http://schemas.microsoft.com/office/drawing/2014/main" val="20002"/>
                    </a:ext>
                  </a:extLst>
                </a:gridCol>
              </a:tblGrid>
              <a:tr h="792480">
                <a:tc>
                  <a:txBody>
                    <a:bodyPr/>
                    <a:lstStyle/>
                    <a:p>
                      <a:r>
                        <a:rPr sz="1200" b="1" i="0">
                          <a:solidFill>
                            <a:srgbClr val="FFFFFF"/>
                          </a:solidFill>
                          <a:latin typeface="Calibri"/>
                        </a:rPr>
                        <a:t>Directive</a:t>
                      </a:r>
                    </a:p>
                  </a:txBody>
                  <a:tcPr marL="82296" marR="82296" marT="27432" marB="27432" anchor="ctr">
                    <a:solidFill>
                      <a:srgbClr val="1B2A4A"/>
                    </a:solidFill>
                  </a:tcPr>
                </a:tc>
                <a:tc>
                  <a:txBody>
                    <a:bodyPr/>
                    <a:lstStyle/>
                    <a:p>
                      <a:r>
                        <a:rPr sz="1200" b="1" i="0">
                          <a:solidFill>
                            <a:srgbClr val="FFFFFF"/>
                          </a:solidFill>
                          <a:latin typeface="Calibri"/>
                        </a:rPr>
                        <a:t>Example</a:t>
                      </a:r>
                    </a:p>
                  </a:txBody>
                  <a:tcPr marL="82296" marR="82296" marT="27432" marB="27432" anchor="ctr">
                    <a:solidFill>
                      <a:srgbClr val="1B2A4A"/>
                    </a:solidFill>
                  </a:tcPr>
                </a:tc>
                <a:tc>
                  <a:txBody>
                    <a:bodyPr/>
                    <a:lstStyle/>
                    <a:p>
                      <a:r>
                        <a:rPr sz="1200" b="1" i="0">
                          <a:solidFill>
                            <a:srgbClr val="FFFFFF"/>
                          </a:solidFill>
                          <a:latin typeface="Calibri"/>
                        </a:rPr>
                        <a:t>Meaning</a:t>
                      </a:r>
                    </a:p>
                  </a:txBody>
                  <a:tcPr marL="82296" marR="82296" marT="27432" marB="27432" anchor="ctr">
                    <a:solidFill>
                      <a:srgbClr val="1B2A4A"/>
                    </a:solidFill>
                  </a:tcPr>
                </a:tc>
                <a:extLst>
                  <a:ext uri="{0D108BD9-81ED-4DB2-BD59-A6C34878D82A}">
                    <a16:rowId xmlns:a16="http://schemas.microsoft.com/office/drawing/2014/main" val="10000"/>
                  </a:ext>
                </a:extLst>
              </a:tr>
              <a:tr h="792480">
                <a:tc>
                  <a:txBody>
                    <a:bodyPr/>
                    <a:lstStyle/>
                    <a:p>
                      <a:r>
                        <a:rPr sz="1050" b="1" i="0">
                          <a:solidFill>
                            <a:srgbClr val="1B2A4A"/>
                          </a:solidFill>
                          <a:latin typeface="Calibri"/>
                        </a:rPr>
                        <a:t>authoritative;</a:t>
                      </a:r>
                    </a:p>
                  </a:txBody>
                  <a:tcPr marL="82296" marR="82296" marT="27432" marB="27432" anchor="ctr">
                    <a:solidFill>
                      <a:srgbClr val="FFFFFF"/>
                    </a:solidFill>
                  </a:tcPr>
                </a:tc>
                <a:tc>
                  <a:txBody>
                    <a:bodyPr/>
                    <a:lstStyle/>
                    <a:p>
                      <a:r>
                        <a:rPr sz="1050" b="0" i="0">
                          <a:solidFill>
                            <a:srgbClr val="3D5A80"/>
                          </a:solidFill>
                          <a:latin typeface="Calibri"/>
                        </a:rPr>
                        <a:t>(global, in the config file)</a:t>
                      </a:r>
                    </a:p>
                  </a:txBody>
                  <a:tcPr marL="82296" marR="82296" marT="27432" marB="27432" anchor="ctr">
                    <a:solidFill>
                      <a:srgbClr val="FFFFFF"/>
                    </a:solidFill>
                  </a:tcPr>
                </a:tc>
                <a:tc>
                  <a:txBody>
                    <a:bodyPr/>
                    <a:lstStyle/>
                    <a:p>
                      <a:r>
                        <a:rPr sz="1050" b="0" i="0">
                          <a:solidFill>
                            <a:srgbClr val="3D5A80"/>
                          </a:solidFill>
                          <a:latin typeface="Calibri"/>
                        </a:rPr>
                        <a:t>This server is the source of truth for its declared subnets - omit it and a rogue DHCP server's conflicting answers go unchallenged</a:t>
                      </a:r>
                    </a:p>
                  </a:txBody>
                  <a:tcPr marL="82296" marR="82296" marT="27432" marB="27432" anchor="ctr">
                    <a:solidFill>
                      <a:srgbClr val="FFFFFF"/>
                    </a:solidFill>
                  </a:tcPr>
                </a:tc>
                <a:extLst>
                  <a:ext uri="{0D108BD9-81ED-4DB2-BD59-A6C34878D82A}">
                    <a16:rowId xmlns:a16="http://schemas.microsoft.com/office/drawing/2014/main" val="10001"/>
                  </a:ext>
                </a:extLst>
              </a:tr>
              <a:tr h="792480">
                <a:tc>
                  <a:txBody>
                    <a:bodyPr/>
                    <a:lstStyle/>
                    <a:p>
                      <a:r>
                        <a:rPr sz="1050" b="1" i="0">
                          <a:solidFill>
                            <a:srgbClr val="1B2A4A"/>
                          </a:solidFill>
                          <a:latin typeface="Calibri"/>
                        </a:rPr>
                        <a:t>default-lease-time / max-lease-time</a:t>
                      </a:r>
                    </a:p>
                  </a:txBody>
                  <a:tcPr marL="82296" marR="82296" marT="27432" marB="27432" anchor="ctr">
                    <a:solidFill>
                      <a:srgbClr val="E8EEF7"/>
                    </a:solidFill>
                  </a:tcPr>
                </a:tc>
                <a:tc>
                  <a:txBody>
                    <a:bodyPr/>
                    <a:lstStyle/>
                    <a:p>
                      <a:r>
                        <a:rPr sz="1050" b="0" i="0">
                          <a:solidFill>
                            <a:srgbClr val="3D5A80"/>
                          </a:solidFill>
                          <a:latin typeface="Calibri"/>
                        </a:rPr>
                        <a:t>3600; / 86400;</a:t>
                      </a:r>
                    </a:p>
                  </a:txBody>
                  <a:tcPr marL="82296" marR="82296" marT="27432" marB="27432" anchor="ctr">
                    <a:solidFill>
                      <a:srgbClr val="E8EEF7"/>
                    </a:solidFill>
                  </a:tcPr>
                </a:tc>
                <a:tc>
                  <a:txBody>
                    <a:bodyPr/>
                    <a:lstStyle/>
                    <a:p>
                      <a:r>
                        <a:rPr sz="1050" b="0" i="0">
                          <a:solidFill>
                            <a:srgbClr val="3D5A80"/>
                          </a:solidFill>
                          <a:latin typeface="Calibri"/>
                        </a:rPr>
                        <a:t>Client-requested lease length vs. the hard ceiling this server will ever grant</a:t>
                      </a:r>
                    </a:p>
                  </a:txBody>
                  <a:tcPr marL="82296" marR="82296" marT="27432" marB="27432" anchor="ctr">
                    <a:solidFill>
                      <a:srgbClr val="E8EEF7"/>
                    </a:solidFill>
                  </a:tcPr>
                </a:tc>
                <a:extLst>
                  <a:ext uri="{0D108BD9-81ED-4DB2-BD59-A6C34878D82A}">
                    <a16:rowId xmlns:a16="http://schemas.microsoft.com/office/drawing/2014/main" val="10002"/>
                  </a:ext>
                </a:extLst>
              </a:tr>
              <a:tr h="792480">
                <a:tc>
                  <a:txBody>
                    <a:bodyPr/>
                    <a:lstStyle/>
                    <a:p>
                      <a:r>
                        <a:rPr sz="1050" b="1" i="0">
                          <a:solidFill>
                            <a:srgbClr val="1B2A4A"/>
                          </a:solidFill>
                          <a:latin typeface="Calibri"/>
                        </a:rPr>
                        <a:t>subnet { range ... }</a:t>
                      </a:r>
                    </a:p>
                  </a:txBody>
                  <a:tcPr marL="82296" marR="82296" marT="27432" marB="27432" anchor="ctr">
                    <a:solidFill>
                      <a:srgbClr val="FFFFFF"/>
                    </a:solidFill>
                  </a:tcPr>
                </a:tc>
                <a:tc>
                  <a:txBody>
                    <a:bodyPr/>
                    <a:lstStyle/>
                    <a:p>
                      <a:r>
                        <a:rPr sz="1050" b="0" i="0">
                          <a:solidFill>
                            <a:srgbClr val="3D5A80"/>
                          </a:solidFill>
                          <a:latin typeface="Calibri"/>
                        </a:rPr>
                        <a:t>10.0.0.100 10.0.0.200</a:t>
                      </a:r>
                    </a:p>
                  </a:txBody>
                  <a:tcPr marL="82296" marR="82296" marT="27432" marB="27432" anchor="ctr">
                    <a:solidFill>
                      <a:srgbClr val="FFFFFF"/>
                    </a:solidFill>
                  </a:tcPr>
                </a:tc>
                <a:tc>
                  <a:txBody>
                    <a:bodyPr/>
                    <a:lstStyle/>
                    <a:p>
                      <a:r>
                        <a:rPr sz="1050" b="0" i="0">
                          <a:solidFill>
                            <a:srgbClr val="3D5A80"/>
                          </a:solidFill>
                          <a:latin typeface="Calibri"/>
                        </a:rPr>
                        <a:t>The pool of addresses this subnet may hand out</a:t>
                      </a:r>
                    </a:p>
                  </a:txBody>
                  <a:tcPr marL="82296" marR="82296" marT="27432" marB="27432" anchor="ctr">
                    <a:solidFill>
                      <a:srgbClr val="FFFFFF"/>
                    </a:solidFill>
                  </a:tcPr>
                </a:tc>
                <a:extLst>
                  <a:ext uri="{0D108BD9-81ED-4DB2-BD59-A6C34878D82A}">
                    <a16:rowId xmlns:a16="http://schemas.microsoft.com/office/drawing/2014/main" val="10003"/>
                  </a:ext>
                </a:extLst>
              </a:tr>
              <a:tr h="792480">
                <a:tc>
                  <a:txBody>
                    <a:bodyPr/>
                    <a:lstStyle/>
                    <a:p>
                      <a:r>
                        <a:rPr sz="1050" b="1" i="0">
                          <a:solidFill>
                            <a:srgbClr val="1B2A4A"/>
                          </a:solidFill>
                          <a:latin typeface="Calibri"/>
                        </a:rPr>
                        <a:t>option routers / option broadcast-address</a:t>
                      </a:r>
                    </a:p>
                  </a:txBody>
                  <a:tcPr marL="82296" marR="82296" marT="27432" marB="27432" anchor="ctr">
                    <a:solidFill>
                      <a:srgbClr val="E8EEF7"/>
                    </a:solidFill>
                  </a:tcPr>
                </a:tc>
                <a:tc>
                  <a:txBody>
                    <a:bodyPr/>
                    <a:lstStyle/>
                    <a:p>
                      <a:r>
                        <a:rPr sz="1050" b="0" i="0">
                          <a:solidFill>
                            <a:srgbClr val="3D5A80"/>
                          </a:solidFill>
                          <a:latin typeface="Calibri"/>
                        </a:rPr>
                        <a:t>10.0.0.254 / 10.0.0.255</a:t>
                      </a:r>
                    </a:p>
                  </a:txBody>
                  <a:tcPr marL="82296" marR="82296" marT="27432" marB="27432" anchor="ctr">
                    <a:solidFill>
                      <a:srgbClr val="E8EEF7"/>
                    </a:solidFill>
                  </a:tcPr>
                </a:tc>
                <a:tc>
                  <a:txBody>
                    <a:bodyPr/>
                    <a:lstStyle/>
                    <a:p>
                      <a:r>
                        <a:rPr sz="1050" b="0" i="0">
                          <a:solidFill>
                            <a:srgbClr val="3D5A80"/>
                          </a:solidFill>
                          <a:latin typeface="Calibri"/>
                        </a:rPr>
                        <a:t>Gateway sent to clients; broadcast-address must actually match the subnet/netmask or clients misbehave silently</a:t>
                      </a:r>
                    </a:p>
                  </a:txBody>
                  <a:tcPr marL="82296" marR="82296" marT="27432" marB="27432" anchor="ctr">
                    <a:solidFill>
                      <a:srgbClr val="E8EEF7"/>
                    </a:solidFill>
                  </a:tcPr>
                </a:tc>
                <a:extLst>
                  <a:ext uri="{0D108BD9-81ED-4DB2-BD59-A6C34878D82A}">
                    <a16:rowId xmlns:a16="http://schemas.microsoft.com/office/drawing/2014/main" val="10004"/>
                  </a:ext>
                </a:extLst>
              </a:tr>
              <a:tr h="792480">
                <a:tc>
                  <a:txBody>
                    <a:bodyPr/>
                    <a:lstStyle/>
                    <a:p>
                      <a:r>
                        <a:rPr sz="1050" b="1" i="0">
                          <a:solidFill>
                            <a:srgbClr val="1B2A4A"/>
                          </a:solidFill>
                          <a:latin typeface="Calibri"/>
                        </a:rPr>
                        <a:t>host { hardware ethernet ...; fixed-address ...; }</a:t>
                      </a:r>
                    </a:p>
                  </a:txBody>
                  <a:tcPr marL="82296" marR="82296" marT="27432" marB="27432" anchor="ctr">
                    <a:solidFill>
                      <a:srgbClr val="FFFFFF"/>
                    </a:solidFill>
                  </a:tcPr>
                </a:tc>
                <a:tc>
                  <a:txBody>
                    <a:bodyPr/>
                    <a:lstStyle/>
                    <a:p>
                      <a:r>
                        <a:rPr sz="1050" b="0" i="0">
                          <a:solidFill>
                            <a:srgbClr val="3D5A80"/>
                          </a:solidFill>
                          <a:latin typeface="Calibri"/>
                        </a:rPr>
                        <a:t>00:50:56:aa:bb:01 -&gt; 10.0.0.10</a:t>
                      </a:r>
                    </a:p>
                  </a:txBody>
                  <a:tcPr marL="82296" marR="82296" marT="27432" marB="27432" anchor="ctr">
                    <a:solidFill>
                      <a:srgbClr val="FFFFFF"/>
                    </a:solidFill>
                  </a:tcPr>
                </a:tc>
                <a:tc>
                  <a:txBody>
                    <a:bodyPr/>
                    <a:lstStyle/>
                    <a:p>
                      <a:r>
                        <a:rPr sz="1050" b="0" i="0">
                          <a:solidFill>
                            <a:srgbClr val="3D5A80"/>
                          </a:solidFill>
                          <a:latin typeface="Calibri"/>
                        </a:rPr>
                        <a:t>A reservation - one fixed IP tied to one MAC, independent of the range</a:t>
                      </a:r>
                    </a:p>
                  </a:txBody>
                  <a:tcPr marL="82296" marR="82296" marT="27432" marB="27432" anchor="ctr">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2"/>
          <p:cNvSpPr txBox="1"/>
          <p:nvPr/>
        </p:nvSpPr>
        <p:spPr>
          <a:xfrm>
            <a:off x="640080" y="457200"/>
            <a:ext cx="10908792" cy="777240"/>
          </a:xfrm>
          <a:prstGeom prst="rect">
            <a:avLst/>
          </a:prstGeom>
          <a:noFill/>
        </p:spPr>
        <p:txBody>
          <a:bodyPr wrap="square" anchor="t" lIns="0" rIns="0" tIns="0" bIns="0">
            <a:spAutoFit/>
          </a:bodyPr>
          <a:lstStyle/>
          <a:p>
            <a:r>
              <a:rPr sz="2900" b="1" i="0">
                <a:solidFill>
                  <a:srgbClr val="1B2A4A"/>
                </a:solidFill>
                <a:latin typeface="Cambria"/>
              </a:rPr>
              <a:t>Attacks &amp; Defenses: DHCP</a:t>
            </a:r>
          </a:p>
        </p:txBody>
      </p:sp>
      <p:sp>
        <p:nvSpPr>
          <p:cNvPr id="3" name="TextBox 3"/>
          <p:cNvSpPr txBox="1"/>
          <p:nvPr/>
        </p:nvSpPr>
        <p:spPr>
          <a:xfrm>
            <a:off x="640080" y="1243584"/>
            <a:ext cx="10908792" cy="365760"/>
          </a:xfrm>
          <a:prstGeom prst="rect">
            <a:avLst/>
          </a:prstGeom>
          <a:noFill/>
        </p:spPr>
        <p:txBody>
          <a:bodyPr wrap="square" anchor="t" lIns="0" rIns="0" tIns="0" bIns="0">
            <a:spAutoFit/>
          </a:bodyPr>
          <a:lstStyle/>
          <a:p>
            <a:r>
              <a:rPr sz="1250" b="0" i="0">
                <a:solidFill>
                  <a:srgbClr val="3D5A80"/>
                </a:solidFill>
                <a:latin typeface="Calibri"/>
              </a:rPr>
              <a:t>DORA's biggest weakness is structural - it has no authentication, so the mitigations live at the network layer.</a:t>
            </a:r>
          </a:p>
        </p:txBody>
      </p:sp>
      <p:graphicFrame>
        <p:nvGraphicFramePr>
          <p:cNvPr id="4" name="Table 4"/>
          <p:cNvGraphicFramePr>
            <a:graphicFrameLocks noGrp="1"/>
          </p:cNvGraphicFramePr>
          <p:nvPr/>
        </p:nvGraphicFramePr>
        <p:xfrm>
          <a:off x="640080" y="1828800"/>
          <a:ext cx="10908792" cy="4754880"/>
        </p:xfrm>
        <a:graphic>
          <a:graphicData uri="http://schemas.openxmlformats.org/drawingml/2006/table">
            <a:tbl>
              <a:tblPr firstRow="0" bandRow="0"/>
              <a:tblGrid>
                <a:gridCol w="2600000"/>
                <a:gridCol w="4200000"/>
                <a:gridCol w="4108792"/>
              </a:tblGrid>
              <a:tr h="792480">
                <a:tc>
                  <a:txBody>
                    <a:bodyPr wrap="square"/>
                    <a:lstStyle/>
                    <a:p>
                      <a:r>
                        <a:rPr sz="1200" b="1" i="0">
                          <a:solidFill>
                            <a:srgbClr val="FFFFFF"/>
                          </a:solidFill>
                          <a:latin typeface="Calibri"/>
                        </a:rPr>
                        <a:t>Attack</a:t>
                      </a:r>
                    </a:p>
                  </a:txBody>
                  <a:tcPr anchor="ctr" marL="82296" marR="82296" marT="27432" marB="27432">
                    <a:solidFill>
                      <a:srgbClr val="1B2A4A"/>
                    </a:solidFill>
                  </a:tcPr>
                </a:tc>
                <a:tc>
                  <a:txBody>
                    <a:bodyPr wrap="square"/>
                    <a:lstStyle/>
                    <a:p>
                      <a:r>
                        <a:rPr sz="1200" b="1" i="0">
                          <a:solidFill>
                            <a:srgbClr val="FFFFFF"/>
                          </a:solidFill>
                          <a:latin typeface="Calibri"/>
                        </a:rPr>
                        <a:t>How It Works</a:t>
                      </a:r>
                    </a:p>
                  </a:txBody>
                  <a:tcPr anchor="ctr" marL="82296" marR="82296" marT="27432" marB="27432">
                    <a:solidFill>
                      <a:srgbClr val="1B2A4A"/>
                    </a:solidFill>
                  </a:tcPr>
                </a:tc>
                <a:tc>
                  <a:txBody>
                    <a:bodyPr wrap="square"/>
                    <a:lstStyle/>
                    <a:p>
                      <a:r>
                        <a:rPr sz="1200" b="1" i="0">
                          <a:solidFill>
                            <a:srgbClr val="FFFFFF"/>
                          </a:solidFill>
                          <a:latin typeface="Calibri"/>
                        </a:rPr>
                        <a:t>Defense</a:t>
                      </a:r>
                    </a:p>
                  </a:txBody>
                  <a:tcPr anchor="ctr" marL="82296" marR="82296" marT="27432" marB="27432">
                    <a:solidFill>
                      <a:srgbClr val="1B2A4A"/>
                    </a:solidFill>
                  </a:tcPr>
                </a:tc>
              </a:tr>
              <a:tr h="792480">
                <a:tc>
                  <a:txBody>
                    <a:bodyPr wrap="square"/>
                    <a:lstStyle/>
                    <a:p>
                      <a:r>
                        <a:rPr sz="1050" b="1" i="0">
                          <a:solidFill>
                            <a:srgbClr val="1B2A4A"/>
                          </a:solidFill>
                          <a:latin typeface="Calibri"/>
                        </a:rPr>
                        <a:t>Rogue DHCP server</a:t>
                      </a:r>
                    </a:p>
                  </a:txBody>
                  <a:tcPr anchor="ctr" marL="82296" marR="82296" marT="27432" marB="27432">
                    <a:solidFill>
                      <a:srgbClr val="FFFFFF"/>
                    </a:solidFill>
                  </a:tcPr>
                </a:tc>
                <a:tc>
                  <a:txBody>
                    <a:bodyPr wrap="square"/>
                    <a:lstStyle/>
                    <a:p>
                      <a:r>
                        <a:rPr sz="1050" b="0" i="0">
                          <a:solidFill>
                            <a:srgbClr val="3D5A80"/>
                          </a:solidFill>
                          <a:latin typeface="Calibri"/>
                        </a:rPr>
                        <a:t>An unauthorized server hands out a malicious gateway/DNS, silently routing client traffic through an attacker</a:t>
                      </a:r>
                    </a:p>
                  </a:txBody>
                  <a:tcPr anchor="ctr" marL="82296" marR="82296" marT="27432" marB="27432">
                    <a:solidFill>
                      <a:srgbClr val="FFFFFF"/>
                    </a:solidFill>
                  </a:tcPr>
                </a:tc>
                <a:tc>
                  <a:txBody>
                    <a:bodyPr wrap="square"/>
                    <a:lstStyle/>
                    <a:p>
                      <a:r>
                        <a:rPr sz="1050" b="0" i="0">
                          <a:solidFill>
                            <a:srgbClr val="3D5A80"/>
                          </a:solidFill>
                          <a:latin typeface="Calibri"/>
                        </a:rPr>
                        <a:t>DHCP snooping on managed switches (trusted vs. untrusted ports)</a:t>
                      </a:r>
                    </a:p>
                  </a:txBody>
                  <a:tcPr anchor="ctr" marL="82296" marR="82296" marT="27432" marB="27432">
                    <a:solidFill>
                      <a:srgbClr val="FFFFFF"/>
                    </a:solidFill>
                  </a:tcPr>
                </a:tc>
              </a:tr>
              <a:tr h="792480">
                <a:tc>
                  <a:txBody>
                    <a:bodyPr wrap="square"/>
                    <a:lstStyle/>
                    <a:p>
                      <a:r>
                        <a:rPr sz="1050" b="1" i="0">
                          <a:solidFill>
                            <a:srgbClr val="1B2A4A"/>
                          </a:solidFill>
                          <a:latin typeface="Calibri"/>
                        </a:rPr>
                        <a:t>DHCP starvation</a:t>
                      </a:r>
                    </a:p>
                  </a:txBody>
                  <a:tcPr anchor="ctr" marL="82296" marR="82296" marT="27432" marB="27432">
                    <a:solidFill>
                      <a:srgbClr val="E8EEF7"/>
                    </a:solidFill>
                  </a:tcPr>
                </a:tc>
                <a:tc>
                  <a:txBody>
                    <a:bodyPr wrap="square"/>
                    <a:lstStyle/>
                    <a:p>
                      <a:r>
                        <a:rPr sz="1050" b="0" i="0">
                          <a:solidFill>
                            <a:srgbClr val="3D5A80"/>
                          </a:solidFill>
                          <a:latin typeface="Calibri"/>
                        </a:rPr>
                        <a:t>Rapid spoofed-MAC requests exhaust the address pool so legitimate clients can't get a lease</a:t>
                      </a:r>
                    </a:p>
                  </a:txBody>
                  <a:tcPr anchor="ctr" marL="82296" marR="82296" marT="27432" marB="27432">
                    <a:solidFill>
                      <a:srgbClr val="E8EEF7"/>
                    </a:solidFill>
                  </a:tcPr>
                </a:tc>
                <a:tc>
                  <a:txBody>
                    <a:bodyPr wrap="square"/>
                    <a:lstStyle/>
                    <a:p>
                      <a:r>
                        <a:rPr sz="1050" b="0" i="0">
                          <a:solidFill>
                            <a:srgbClr val="3D5A80"/>
                          </a:solidFill>
                          <a:latin typeface="Calibri"/>
                        </a:rPr>
                        <a:t>Port security / MAC-limiting on switches; monitor pool exhaustion as an availability signal</a:t>
                      </a:r>
                    </a:p>
                  </a:txBody>
                  <a:tcPr anchor="ctr" marL="82296" marR="82296" marT="27432" marB="27432">
                    <a:solidFill>
                      <a:srgbClr val="E8EEF7"/>
                    </a:solidFill>
                  </a:tcPr>
                </a:tc>
              </a:tr>
              <a:tr h="792480">
                <a:tc>
                  <a:txBody>
                    <a:bodyPr wrap="square"/>
                    <a:lstStyle/>
                    <a:p>
                      <a:r>
                        <a:rPr sz="1050" b="1" i="0">
                          <a:solidFill>
                            <a:srgbClr val="1B2A4A"/>
                          </a:solidFill>
                          <a:latin typeface="Calibri"/>
                        </a:rPr>
                        <a:t>Reservation theft via MAC spoofing</a:t>
                      </a:r>
                    </a:p>
                  </a:txBody>
                  <a:tcPr anchor="ctr" marL="82296" marR="82296" marT="27432" marB="27432">
                    <a:solidFill>
                      <a:srgbClr val="FFFFFF"/>
                    </a:solidFill>
                  </a:tcPr>
                </a:tc>
                <a:tc>
                  <a:txBody>
                    <a:bodyPr wrap="square"/>
                    <a:lstStyle/>
                    <a:p>
                      <a:r>
                        <a:rPr sz="1050" b="0" i="0">
                          <a:solidFill>
                            <a:srgbClr val="3D5A80"/>
                          </a:solidFill>
                          <a:latin typeface="Calibri"/>
                        </a:rPr>
                        <a:t>An attacker who knows a reserved MAC can spoof it to receive that host's fixed address</a:t>
                      </a:r>
                    </a:p>
                  </a:txBody>
                  <a:tcPr anchor="ctr" marL="82296" marR="82296" marT="27432" marB="27432">
                    <a:solidFill>
                      <a:srgbClr val="FFFFFF"/>
                    </a:solidFill>
                  </a:tcPr>
                </a:tc>
                <a:tc>
                  <a:txBody>
                    <a:bodyPr wrap="square"/>
                    <a:lstStyle/>
                    <a:p>
                      <a:r>
                        <a:rPr sz="1050" b="0" i="0">
                          <a:solidFill>
                            <a:srgbClr val="3D5A80"/>
                          </a:solidFill>
                          <a:latin typeface="Calibri"/>
                        </a:rPr>
                        <a:t>Reservations aren't identity control alone - pair with 802.1X or port security for sensitive hosts</a:t>
                      </a:r>
                    </a:p>
                  </a:txBody>
                  <a:tcPr anchor="ctr" marL="82296" marR="82296" marT="27432" marB="27432">
                    <a:solidFill>
                      <a:srgbClr val="FFFFFF"/>
                    </a:solidFill>
                  </a:tcPr>
                </a:tc>
              </a:tr>
              <a:tr h="792480">
                <a:tc>
                  <a:txBody>
                    <a:bodyPr wrap="square"/>
                    <a:lstStyle/>
                    <a:p>
                      <a:r>
                        <a:rPr sz="1050" b="1" i="0">
                          <a:solidFill>
                            <a:srgbClr val="1B2A4A"/>
                          </a:solidFill>
                          <a:latin typeface="Calibri"/>
                        </a:rPr>
                        <a:t>Malicious option injection</a:t>
                      </a:r>
                    </a:p>
                  </a:txBody>
                  <a:tcPr anchor="ctr" marL="82296" marR="82296" marT="27432" marB="27432">
                    <a:solidFill>
                      <a:srgbClr val="E8EEF7"/>
                    </a:solidFill>
                  </a:tcPr>
                </a:tc>
                <a:tc>
                  <a:txBody>
                    <a:bodyPr wrap="square"/>
                    <a:lstStyle/>
                    <a:p>
                      <a:r>
                        <a:rPr sz="1050" b="0" i="0">
                          <a:solidFill>
                            <a:srgbClr val="3D5A80"/>
                          </a:solidFill>
                          <a:latin typeface="Calibri"/>
                        </a:rPr>
                        <a:t>A rogue server can push a malicious NTP/DNS server via options, chaining into further attacks</a:t>
                      </a:r>
                    </a:p>
                  </a:txBody>
                  <a:tcPr anchor="ctr" marL="82296" marR="82296" marT="27432" marB="27432">
                    <a:solidFill>
                      <a:srgbClr val="E8EEF7"/>
                    </a:solidFill>
                  </a:tcPr>
                </a:tc>
                <a:tc>
                  <a:txBody>
                    <a:bodyPr wrap="square"/>
                    <a:lstStyle/>
                    <a:p>
                      <a:r>
                        <a:rPr sz="1050" b="0" i="0">
                          <a:solidFill>
                            <a:srgbClr val="3D5A80"/>
                          </a:solidFill>
                          <a:latin typeface="Calibri"/>
                        </a:rPr>
                        <a:t>Validate server identity via snooping; DHCP-provided DNS/NTP is only as trustworthy as the DHCP server</a:t>
                      </a:r>
                    </a:p>
                  </a:txBody>
                  <a:tcPr anchor="ctr" marL="82296" marR="82296" marT="27432" marB="27432">
                    <a:solidFill>
                      <a:srgbClr val="E8EEF7"/>
                    </a:solidFill>
                  </a:tcPr>
                </a:tc>
              </a:tr>
              <a:tr h="792480">
                <a:tc>
                  <a:txBody>
                    <a:bodyPr wrap="square"/>
                    <a:lstStyle/>
                    <a:p>
                      <a:r>
                        <a:rPr sz="1050" b="1" i="0">
                          <a:solidFill>
                            <a:srgbClr val="1B2A4A"/>
                          </a:solidFill>
                          <a:latin typeface="Calibri"/>
                        </a:rPr>
                        <a:t>No built-in authentication</a:t>
                      </a:r>
                    </a:p>
                  </a:txBody>
                  <a:tcPr anchor="ctr" marL="82296" marR="82296" marT="27432" marB="27432">
                    <a:solidFill>
                      <a:srgbClr val="FFFFFF"/>
                    </a:solidFill>
                  </a:tcPr>
                </a:tc>
                <a:tc>
                  <a:txBody>
                    <a:bodyPr wrap="square"/>
                    <a:lstStyle/>
                    <a:p>
                      <a:r>
                        <a:rPr sz="1050" b="0" i="0">
                          <a:solidFill>
                            <a:srgbClr val="3D5A80"/>
                          </a:solidFill>
                          <a:latin typeface="Calibri"/>
                        </a:rPr>
                        <a:t>DORA has no authentication - whichever server answers first, wins</a:t>
                      </a:r>
                    </a:p>
                  </a:txBody>
                  <a:tcPr anchor="ctr" marL="82296" marR="82296" marT="27432" marB="27432">
                    <a:solidFill>
                      <a:srgbClr val="FFFFFF"/>
                    </a:solidFill>
                  </a:tcPr>
                </a:tc>
                <a:tc>
                  <a:txBody>
                    <a:bodyPr wrap="square"/>
                    <a:lstStyle/>
                    <a:p>
                      <a:r>
                        <a:rPr sz="1050" b="0" i="0">
                          <a:solidFill>
                            <a:srgbClr val="3D5A80"/>
                          </a:solidFill>
                          <a:latin typeface="Calibri"/>
                        </a:rPr>
                        <a:t>A protocol-level limitation, not a misconfiguration; switch/physical controls are the real mitigation</a:t>
                      </a:r>
                    </a:p>
                  </a:txBody>
                  <a:tcPr anchor="ctr" marL="82296" marR="82296" marT="27432" marB="27432">
                    <a:solidFill>
                      <a:srgbClr val="FFFFFF"/>
                    </a:solidFill>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10908792" cy="777240"/>
          </a:xfrm>
          <a:prstGeom prst="rect">
            <a:avLst/>
          </a:prstGeom>
          <a:noFill/>
        </p:spPr>
        <p:txBody>
          <a:bodyPr wrap="square" lIns="0" tIns="0" rIns="0" bIns="0" anchor="t">
            <a:spAutoFit/>
          </a:bodyPr>
          <a:lstStyle/>
          <a:p>
            <a:r>
              <a:rPr sz="2900" b="1" i="0">
                <a:solidFill>
                  <a:srgbClr val="1B2A4A"/>
                </a:solidFill>
                <a:latin typeface="Cambria"/>
              </a:rPr>
              <a:t>NFS: Exporting &amp; Mounting Shared Storage</a:t>
            </a:r>
          </a:p>
        </p:txBody>
      </p:sp>
      <p:sp>
        <p:nvSpPr>
          <p:cNvPr id="3" name="TextBox 2"/>
          <p:cNvSpPr txBox="1"/>
          <p:nvPr/>
        </p:nvSpPr>
        <p:spPr>
          <a:xfrm>
            <a:off x="640080" y="1243584"/>
            <a:ext cx="10908792" cy="457200"/>
          </a:xfrm>
          <a:prstGeom prst="rect">
            <a:avLst/>
          </a:prstGeom>
          <a:noFill/>
        </p:spPr>
        <p:txBody>
          <a:bodyPr wrap="square" lIns="0" tIns="0" rIns="0" bIns="0" anchor="t">
            <a:spAutoFit/>
          </a:bodyPr>
          <a:lstStyle/>
          <a:p>
            <a:r>
              <a:rPr sz="1250" b="0" i="0">
                <a:solidFill>
                  <a:srgbClr val="3D5A80"/>
                </a:solidFill>
                <a:latin typeface="Calibri"/>
              </a:rPr>
              <a:t>The server decides what to share and who may mount it (/etc/exports); the client attaches that share into its own filesystem tree.</a:t>
            </a:r>
          </a:p>
        </p:txBody>
      </p:sp>
      <p:sp>
        <p:nvSpPr>
          <p:cNvPr id="4" name="Rounded Rectangle 3"/>
          <p:cNvSpPr/>
          <p:nvPr/>
        </p:nvSpPr>
        <p:spPr>
          <a:xfrm>
            <a:off x="640080" y="1965960"/>
            <a:ext cx="2926080" cy="777240"/>
          </a:xfrm>
          <a:prstGeom prst="round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300" b="1" i="0">
                <a:solidFill>
                  <a:srgbClr val="FFFFFF"/>
                </a:solidFill>
                <a:latin typeface="Calibri"/>
              </a:rPr>
              <a:t>NFS Server</a:t>
            </a:r>
          </a:p>
          <a:p>
            <a:pPr algn="ctr"/>
            <a:r>
              <a:rPr sz="1050" b="0" i="0">
                <a:solidFill>
                  <a:srgbClr val="FFFFFF"/>
                </a:solidFill>
                <a:latin typeface="Calibri"/>
              </a:rPr>
              <a:t>/exports/shared</a:t>
            </a:r>
          </a:p>
        </p:txBody>
      </p:sp>
      <p:sp>
        <p:nvSpPr>
          <p:cNvPr id="5" name="Rounded Rectangle 4"/>
          <p:cNvSpPr/>
          <p:nvPr/>
        </p:nvSpPr>
        <p:spPr>
          <a:xfrm>
            <a:off x="4846320" y="1463040"/>
            <a:ext cx="2651760" cy="621792"/>
          </a:xfrm>
          <a:prstGeom prst="round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150" b="1" i="0">
                <a:solidFill>
                  <a:srgbClr val="FFFFFF"/>
                </a:solidFill>
                <a:latin typeface="Calibri"/>
              </a:rPr>
              <a:t>Client A</a:t>
            </a:r>
          </a:p>
          <a:p>
            <a:pPr algn="ctr"/>
            <a:r>
              <a:rPr sz="950" b="0" i="0">
                <a:solidFill>
                  <a:srgbClr val="FFFFFF"/>
                </a:solidFill>
                <a:latin typeface="Calibri"/>
              </a:rPr>
              <a:t>mounts /exports/shared</a:t>
            </a:r>
          </a:p>
        </p:txBody>
      </p:sp>
      <p:sp>
        <p:nvSpPr>
          <p:cNvPr id="6" name="Rounded Rectangle 5"/>
          <p:cNvSpPr/>
          <p:nvPr/>
        </p:nvSpPr>
        <p:spPr>
          <a:xfrm>
            <a:off x="4846320" y="2468880"/>
            <a:ext cx="2651760" cy="621792"/>
          </a:xfrm>
          <a:prstGeom prst="round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150" b="1" i="0">
                <a:solidFill>
                  <a:srgbClr val="FFFFFF"/>
                </a:solidFill>
                <a:latin typeface="Calibri"/>
              </a:rPr>
              <a:t>Client B</a:t>
            </a:r>
          </a:p>
          <a:p>
            <a:pPr algn="ctr"/>
            <a:r>
              <a:rPr sz="950" b="0" i="0">
                <a:solidFill>
                  <a:srgbClr val="FFFFFF"/>
                </a:solidFill>
                <a:latin typeface="Calibri"/>
              </a:rPr>
              <a:t>mounts /exports/shared</a:t>
            </a:r>
          </a:p>
        </p:txBody>
      </p:sp>
      <p:cxnSp>
        <p:nvCxnSpPr>
          <p:cNvPr id="7" name="Connector 6"/>
          <p:cNvCxnSpPr/>
          <p:nvPr/>
        </p:nvCxnSpPr>
        <p:spPr>
          <a:xfrm flipV="1">
            <a:off x="3566160" y="1773936"/>
            <a:ext cx="1280160" cy="374904"/>
          </a:xfrm>
          <a:prstGeom prst="line">
            <a:avLst/>
          </a:prstGeom>
          <a:ln w="22225">
            <a:solidFill>
              <a:srgbClr val="1B2A4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566160" y="2560320"/>
            <a:ext cx="1280160" cy="219456"/>
          </a:xfrm>
          <a:prstGeom prst="line">
            <a:avLst/>
          </a:prstGeom>
          <a:ln w="22225">
            <a:solidFill>
              <a:srgbClr val="1B2A4A"/>
            </a:solidFill>
            <a:tailEnd type="triangle" w="med" len="med"/>
          </a:ln>
        </p:spPr>
        <p:style>
          <a:lnRef idx="2">
            <a:schemeClr val="accent1"/>
          </a:lnRef>
          <a:fillRef idx="0">
            <a:schemeClr val="accent1"/>
          </a:fillRef>
          <a:effectRef idx="1">
            <a:schemeClr val="accent1"/>
          </a:effectRef>
          <a:fontRef idx="minor">
            <a:schemeClr val="tx1"/>
          </a:fontRef>
        </p:style>
      </p:cxnSp>
      <p:graphicFrame>
        <p:nvGraphicFramePr>
          <p:cNvPr id="9" name="Table 8"/>
          <p:cNvGraphicFramePr>
            <a:graphicFrameLocks noGrp="1"/>
          </p:cNvGraphicFramePr>
          <p:nvPr/>
        </p:nvGraphicFramePr>
        <p:xfrm>
          <a:off x="640080" y="3410712"/>
          <a:ext cx="10908792" cy="3172968"/>
        </p:xfrm>
        <a:graphic>
          <a:graphicData uri="http://schemas.openxmlformats.org/drawingml/2006/table">
            <a:tbl>
              <a:tblPr/>
              <a:tblGrid>
                <a:gridCol w="1371600">
                  <a:extLst>
                    <a:ext uri="{9D8B030D-6E8A-4147-A177-3AD203B41FA5}">
                      <a16:colId xmlns:a16="http://schemas.microsoft.com/office/drawing/2014/main" val="20000"/>
                    </a:ext>
                  </a:extLst>
                </a:gridCol>
                <a:gridCol w="4754880">
                  <a:extLst>
                    <a:ext uri="{9D8B030D-6E8A-4147-A177-3AD203B41FA5}">
                      <a16:colId xmlns:a16="http://schemas.microsoft.com/office/drawing/2014/main" val="20001"/>
                    </a:ext>
                  </a:extLst>
                </a:gridCol>
                <a:gridCol w="4782312">
                  <a:extLst>
                    <a:ext uri="{9D8B030D-6E8A-4147-A177-3AD203B41FA5}">
                      <a16:colId xmlns:a16="http://schemas.microsoft.com/office/drawing/2014/main" val="20002"/>
                    </a:ext>
                  </a:extLst>
                </a:gridCol>
              </a:tblGrid>
              <a:tr h="793242">
                <a:tc>
                  <a:txBody>
                    <a:bodyPr/>
                    <a:lstStyle/>
                    <a:p>
                      <a:endParaRPr/>
                    </a:p>
                  </a:txBody>
                  <a:tcPr marL="82296" marR="82296" marT="27432" marB="27432" anchor="ctr">
                    <a:solidFill>
                      <a:srgbClr val="1B2A4A"/>
                    </a:solidFill>
                  </a:tcPr>
                </a:tc>
                <a:tc>
                  <a:txBody>
                    <a:bodyPr/>
                    <a:lstStyle/>
                    <a:p>
                      <a:r>
                        <a:rPr sz="1250" b="1" i="0">
                          <a:solidFill>
                            <a:srgbClr val="FFFFFF"/>
                          </a:solidFill>
                          <a:latin typeface="Calibri"/>
                        </a:rPr>
                        <a:t>NFSv3</a:t>
                      </a:r>
                    </a:p>
                  </a:txBody>
                  <a:tcPr marL="82296" marR="82296" marT="27432" marB="27432" anchor="ctr">
                    <a:solidFill>
                      <a:srgbClr val="1B2A4A"/>
                    </a:solidFill>
                  </a:tcPr>
                </a:tc>
                <a:tc>
                  <a:txBody>
                    <a:bodyPr/>
                    <a:lstStyle/>
                    <a:p>
                      <a:r>
                        <a:rPr sz="1250" b="1" i="0">
                          <a:solidFill>
                            <a:srgbClr val="FFFFFF"/>
                          </a:solidFill>
                          <a:latin typeface="Calibri"/>
                        </a:rPr>
                        <a:t>NFSv4</a:t>
                      </a:r>
                    </a:p>
                  </a:txBody>
                  <a:tcPr marL="82296" marR="82296" marT="27432" marB="27432" anchor="ctr">
                    <a:solidFill>
                      <a:srgbClr val="1B2A4A"/>
                    </a:solidFill>
                  </a:tcPr>
                </a:tc>
                <a:extLst>
                  <a:ext uri="{0D108BD9-81ED-4DB2-BD59-A6C34878D82A}">
                    <a16:rowId xmlns:a16="http://schemas.microsoft.com/office/drawing/2014/main" val="10000"/>
                  </a:ext>
                </a:extLst>
              </a:tr>
              <a:tr h="793242">
                <a:tc>
                  <a:txBody>
                    <a:bodyPr/>
                    <a:lstStyle/>
                    <a:p>
                      <a:r>
                        <a:rPr sz="1050" b="1" i="0">
                          <a:solidFill>
                            <a:srgbClr val="1B2A4A"/>
                          </a:solidFill>
                          <a:latin typeface="Calibri"/>
                        </a:rPr>
                        <a:t>State</a:t>
                      </a:r>
                    </a:p>
                  </a:txBody>
                  <a:tcPr marL="82296" marR="82296" marT="27432" marB="27432" anchor="ctr">
                    <a:solidFill>
                      <a:srgbClr val="FFFFFF"/>
                    </a:solidFill>
                  </a:tcPr>
                </a:tc>
                <a:tc>
                  <a:txBody>
                    <a:bodyPr/>
                    <a:lstStyle/>
                    <a:p>
                      <a:r>
                        <a:rPr sz="1050" b="0" i="0">
                          <a:solidFill>
                            <a:srgbClr val="3D5A80"/>
                          </a:solidFill>
                          <a:latin typeface="Calibri"/>
                        </a:rPr>
                        <a:t>Stateless - relies on a separate lock manager</a:t>
                      </a:r>
                    </a:p>
                  </a:txBody>
                  <a:tcPr marL="82296" marR="82296" marT="27432" marB="27432" anchor="ctr">
                    <a:solidFill>
                      <a:srgbClr val="FFFFFF"/>
                    </a:solidFill>
                  </a:tcPr>
                </a:tc>
                <a:tc>
                  <a:txBody>
                    <a:bodyPr/>
                    <a:lstStyle/>
                    <a:p>
                      <a:r>
                        <a:rPr sz="1050" b="0" i="0">
                          <a:solidFill>
                            <a:srgbClr val="3D5A80"/>
                          </a:solidFill>
                          <a:latin typeface="Calibri"/>
                        </a:rPr>
                        <a:t>Stateful - locking is built into the protocol</a:t>
                      </a:r>
                    </a:p>
                  </a:txBody>
                  <a:tcPr marL="82296" marR="82296" marT="27432" marB="27432" anchor="ctr">
                    <a:solidFill>
                      <a:srgbClr val="FFFFFF"/>
                    </a:solidFill>
                  </a:tcPr>
                </a:tc>
                <a:extLst>
                  <a:ext uri="{0D108BD9-81ED-4DB2-BD59-A6C34878D82A}">
                    <a16:rowId xmlns:a16="http://schemas.microsoft.com/office/drawing/2014/main" val="10001"/>
                  </a:ext>
                </a:extLst>
              </a:tr>
              <a:tr h="793242">
                <a:tc>
                  <a:txBody>
                    <a:bodyPr/>
                    <a:lstStyle/>
                    <a:p>
                      <a:r>
                        <a:rPr sz="1050" b="1" i="0">
                          <a:solidFill>
                            <a:srgbClr val="1B2A4A"/>
                          </a:solidFill>
                          <a:latin typeface="Calibri"/>
                        </a:rPr>
                        <a:t>Ports</a:t>
                      </a:r>
                    </a:p>
                  </a:txBody>
                  <a:tcPr marL="82296" marR="82296" marT="27432" marB="27432" anchor="ctr">
                    <a:solidFill>
                      <a:srgbClr val="E8EEF7"/>
                    </a:solidFill>
                  </a:tcPr>
                </a:tc>
                <a:tc>
                  <a:txBody>
                    <a:bodyPr/>
                    <a:lstStyle/>
                    <a:p>
                      <a:r>
                        <a:rPr sz="1050" b="0" i="0">
                          <a:solidFill>
                            <a:srgbClr val="3D5A80"/>
                          </a:solidFill>
                          <a:latin typeface="Calibri"/>
                        </a:rPr>
                        <a:t>Multiple ports via portmapper/rpcbind</a:t>
                      </a:r>
                    </a:p>
                  </a:txBody>
                  <a:tcPr marL="82296" marR="82296" marT="27432" marB="27432" anchor="ctr">
                    <a:solidFill>
                      <a:srgbClr val="E8EEF7"/>
                    </a:solidFill>
                  </a:tcPr>
                </a:tc>
                <a:tc>
                  <a:txBody>
                    <a:bodyPr/>
                    <a:lstStyle/>
                    <a:p>
                      <a:r>
                        <a:rPr sz="1050" b="0" i="0">
                          <a:solidFill>
                            <a:srgbClr val="3D5A80"/>
                          </a:solidFill>
                          <a:latin typeface="Calibri"/>
                        </a:rPr>
                        <a:t>Single port (2049) - simpler to firewall</a:t>
                      </a:r>
                    </a:p>
                  </a:txBody>
                  <a:tcPr marL="82296" marR="82296" marT="27432" marB="27432" anchor="ctr">
                    <a:solidFill>
                      <a:srgbClr val="E8EEF7"/>
                    </a:solidFill>
                  </a:tcPr>
                </a:tc>
                <a:extLst>
                  <a:ext uri="{0D108BD9-81ED-4DB2-BD59-A6C34878D82A}">
                    <a16:rowId xmlns:a16="http://schemas.microsoft.com/office/drawing/2014/main" val="10002"/>
                  </a:ext>
                </a:extLst>
              </a:tr>
              <a:tr h="793242">
                <a:tc>
                  <a:txBody>
                    <a:bodyPr/>
                    <a:lstStyle/>
                    <a:p>
                      <a:r>
                        <a:rPr sz="1050" b="1" i="0">
                          <a:solidFill>
                            <a:srgbClr val="1B2A4A"/>
                          </a:solidFill>
                          <a:latin typeface="Calibri"/>
                        </a:rPr>
                        <a:t>Security</a:t>
                      </a:r>
                    </a:p>
                  </a:txBody>
                  <a:tcPr marL="82296" marR="82296" marT="27432" marB="27432" anchor="ctr">
                    <a:solidFill>
                      <a:srgbClr val="FFFFFF"/>
                    </a:solidFill>
                  </a:tcPr>
                </a:tc>
                <a:tc>
                  <a:txBody>
                    <a:bodyPr/>
                    <a:lstStyle/>
                    <a:p>
                      <a:r>
                        <a:rPr sz="1050" b="0" i="0">
                          <a:solidFill>
                            <a:srgbClr val="3D5A80"/>
                          </a:solidFill>
                          <a:latin typeface="Calibri"/>
                        </a:rPr>
                        <a:t>AUTH_SYS (trusts client-supplied UID/GID)</a:t>
                      </a:r>
                    </a:p>
                  </a:txBody>
                  <a:tcPr marL="82296" marR="82296" marT="27432" marB="27432" anchor="ctr">
                    <a:solidFill>
                      <a:srgbClr val="FFFFFF"/>
                    </a:solidFill>
                  </a:tcPr>
                </a:tc>
                <a:tc>
                  <a:txBody>
                    <a:bodyPr/>
                    <a:lstStyle/>
                    <a:p>
                      <a:r>
                        <a:rPr sz="1050" b="0" i="0">
                          <a:solidFill>
                            <a:srgbClr val="3D5A80"/>
                          </a:solidFill>
                          <a:latin typeface="Calibri"/>
                        </a:rPr>
                        <a:t>Supports Kerberos (krb5) for real authentication</a:t>
                      </a:r>
                    </a:p>
                  </a:txBody>
                  <a:tcPr marL="82296" marR="82296" marT="27432" marB="27432" anchor="ctr">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40080" y="457200"/>
            <a:ext cx="10908792" cy="777240"/>
          </a:xfrm>
          <a:prstGeom prst="rect">
            <a:avLst/>
          </a:prstGeom>
          <a:noFill/>
        </p:spPr>
        <p:txBody>
          <a:bodyPr wrap="square" lIns="0" tIns="0" rIns="0" bIns="0" anchor="t">
            <a:spAutoFit/>
          </a:bodyPr>
          <a:lstStyle/>
          <a:p>
            <a:r>
              <a:rPr sz="2900" b="1" i="0">
                <a:solidFill>
                  <a:srgbClr val="1B2A4A"/>
                </a:solidFill>
                <a:latin typeface="Cambria"/>
              </a:rPr>
              <a:t>NFS: Reading /etc/exports</a:t>
            </a:r>
          </a:p>
        </p:txBody>
      </p:sp>
      <p:sp>
        <p:nvSpPr>
          <p:cNvPr id="3" name="TextBox 3"/>
          <p:cNvSpPr txBox="1"/>
          <p:nvPr/>
        </p:nvSpPr>
        <p:spPr>
          <a:xfrm>
            <a:off x="640080" y="1243584"/>
            <a:ext cx="10908792" cy="365760"/>
          </a:xfrm>
          <a:prstGeom prst="rect">
            <a:avLst/>
          </a:prstGeom>
          <a:noFill/>
        </p:spPr>
        <p:txBody>
          <a:bodyPr wrap="square" lIns="0" tIns="0" rIns="0" bIns="0" anchor="t">
            <a:spAutoFit/>
          </a:bodyPr>
          <a:lstStyle/>
          <a:p>
            <a:r>
              <a:rPr sz="1250" b="0" i="0">
                <a:solidFill>
                  <a:srgbClr val="3D5A80"/>
                </a:solidFill>
                <a:latin typeface="Calibri"/>
              </a:rPr>
              <a:t>The server decides access here, before a client ever mounts anything - these options are the actual security boundary.</a:t>
            </a:r>
          </a:p>
        </p:txBody>
      </p:sp>
      <p:graphicFrame>
        <p:nvGraphicFramePr>
          <p:cNvPr id="4" name="Table 4"/>
          <p:cNvGraphicFramePr>
            <a:graphicFrameLocks noGrp="1"/>
          </p:cNvGraphicFramePr>
          <p:nvPr/>
        </p:nvGraphicFramePr>
        <p:xfrm>
          <a:off x="640080" y="1828800"/>
          <a:ext cx="10908792" cy="4754880"/>
        </p:xfrm>
        <a:graphic>
          <a:graphicData uri="http://schemas.openxmlformats.org/drawingml/2006/table">
            <a:tbl>
              <a:tblPr/>
              <a:tblGrid>
                <a:gridCol w="3200000">
                  <a:extLst>
                    <a:ext uri="{9D8B030D-6E8A-4147-A177-3AD203B41FA5}">
                      <a16:colId xmlns:a16="http://schemas.microsoft.com/office/drawing/2014/main" val="20000"/>
                    </a:ext>
                  </a:extLst>
                </a:gridCol>
                <a:gridCol w="2400000">
                  <a:extLst>
                    <a:ext uri="{9D8B030D-6E8A-4147-A177-3AD203B41FA5}">
                      <a16:colId xmlns:a16="http://schemas.microsoft.com/office/drawing/2014/main" val="20001"/>
                    </a:ext>
                  </a:extLst>
                </a:gridCol>
                <a:gridCol w="5308792">
                  <a:extLst>
                    <a:ext uri="{9D8B030D-6E8A-4147-A177-3AD203B41FA5}">
                      <a16:colId xmlns:a16="http://schemas.microsoft.com/office/drawing/2014/main" val="20002"/>
                    </a:ext>
                  </a:extLst>
                </a:gridCol>
              </a:tblGrid>
              <a:tr h="792480">
                <a:tc>
                  <a:txBody>
                    <a:bodyPr/>
                    <a:lstStyle/>
                    <a:p>
                      <a:r>
                        <a:rPr sz="1200" b="1" i="0">
                          <a:solidFill>
                            <a:srgbClr val="FFFFFF"/>
                          </a:solidFill>
                          <a:latin typeface="Calibri"/>
                        </a:rPr>
                        <a:t>Option</a:t>
                      </a:r>
                    </a:p>
                  </a:txBody>
                  <a:tcPr marL="82296" marR="82296" marT="27432" marB="27432" anchor="ctr">
                    <a:solidFill>
                      <a:srgbClr val="1B2A4A"/>
                    </a:solidFill>
                  </a:tcPr>
                </a:tc>
                <a:tc>
                  <a:txBody>
                    <a:bodyPr/>
                    <a:lstStyle/>
                    <a:p>
                      <a:r>
                        <a:rPr sz="1200" b="1" i="0">
                          <a:solidFill>
                            <a:srgbClr val="FFFFFF"/>
                          </a:solidFill>
                          <a:latin typeface="Calibri"/>
                        </a:rPr>
                        <a:t>Meaning</a:t>
                      </a:r>
                    </a:p>
                  </a:txBody>
                  <a:tcPr marL="82296" marR="82296" marT="27432" marB="27432" anchor="ctr">
                    <a:solidFill>
                      <a:srgbClr val="1B2A4A"/>
                    </a:solidFill>
                  </a:tcPr>
                </a:tc>
                <a:tc>
                  <a:txBody>
                    <a:bodyPr/>
                    <a:lstStyle/>
                    <a:p>
                      <a:r>
                        <a:rPr sz="1200" b="1" i="0">
                          <a:solidFill>
                            <a:srgbClr val="FFFFFF"/>
                          </a:solidFill>
                          <a:latin typeface="Calibri"/>
                        </a:rPr>
                        <a:t>Watch for</a:t>
                      </a:r>
                    </a:p>
                  </a:txBody>
                  <a:tcPr marL="82296" marR="82296" marT="27432" marB="27432" anchor="ctr">
                    <a:solidFill>
                      <a:srgbClr val="1B2A4A"/>
                    </a:solidFill>
                  </a:tcPr>
                </a:tc>
                <a:extLst>
                  <a:ext uri="{0D108BD9-81ED-4DB2-BD59-A6C34878D82A}">
                    <a16:rowId xmlns:a16="http://schemas.microsoft.com/office/drawing/2014/main" val="10000"/>
                  </a:ext>
                </a:extLst>
              </a:tr>
              <a:tr h="792480">
                <a:tc>
                  <a:txBody>
                    <a:bodyPr/>
                    <a:lstStyle/>
                    <a:p>
                      <a:r>
                        <a:rPr sz="1050" b="1" i="0">
                          <a:solidFill>
                            <a:srgbClr val="1B2A4A"/>
                          </a:solidFill>
                          <a:latin typeface="Calibri"/>
                        </a:rPr>
                        <a:t>rw / ro</a:t>
                      </a:r>
                    </a:p>
                  </a:txBody>
                  <a:tcPr marL="82296" marR="82296" marT="27432" marB="27432" anchor="ctr">
                    <a:solidFill>
                      <a:srgbClr val="FFFFFF"/>
                    </a:solidFill>
                  </a:tcPr>
                </a:tc>
                <a:tc>
                  <a:txBody>
                    <a:bodyPr/>
                    <a:lstStyle/>
                    <a:p>
                      <a:r>
                        <a:rPr sz="1050" b="0" i="0">
                          <a:solidFill>
                            <a:srgbClr val="3D5A80"/>
                          </a:solidFill>
                          <a:latin typeface="Calibri"/>
                        </a:rPr>
                        <a:t>Read-write vs. read-only</a:t>
                      </a:r>
                    </a:p>
                  </a:txBody>
                  <a:tcPr marL="82296" marR="82296" marT="27432" marB="27432" anchor="ctr">
                    <a:solidFill>
                      <a:srgbClr val="FFFFFF"/>
                    </a:solidFill>
                  </a:tcPr>
                </a:tc>
                <a:tc>
                  <a:txBody>
                    <a:bodyPr/>
                    <a:lstStyle/>
                    <a:p>
                      <a:r>
                        <a:rPr sz="1050" b="0" i="0">
                          <a:solidFill>
                            <a:srgbClr val="3D5A80"/>
                          </a:solidFill>
                          <a:latin typeface="Calibri"/>
                        </a:rPr>
                        <a:t>Applies per client spec, not globally to the path</a:t>
                      </a:r>
                    </a:p>
                  </a:txBody>
                  <a:tcPr marL="82296" marR="82296" marT="27432" marB="27432" anchor="ctr">
                    <a:solidFill>
                      <a:srgbClr val="FFFFFF"/>
                    </a:solidFill>
                  </a:tcPr>
                </a:tc>
                <a:extLst>
                  <a:ext uri="{0D108BD9-81ED-4DB2-BD59-A6C34878D82A}">
                    <a16:rowId xmlns:a16="http://schemas.microsoft.com/office/drawing/2014/main" val="10001"/>
                  </a:ext>
                </a:extLst>
              </a:tr>
              <a:tr h="792480">
                <a:tc>
                  <a:txBody>
                    <a:bodyPr/>
                    <a:lstStyle/>
                    <a:p>
                      <a:r>
                        <a:rPr sz="1050" b="1" i="0">
                          <a:solidFill>
                            <a:srgbClr val="1B2A4A"/>
                          </a:solidFill>
                          <a:latin typeface="Calibri"/>
                        </a:rPr>
                        <a:t>sync / async</a:t>
                      </a:r>
                    </a:p>
                  </a:txBody>
                  <a:tcPr marL="82296" marR="82296" marT="27432" marB="27432" anchor="ctr">
                    <a:solidFill>
                      <a:srgbClr val="E8EEF7"/>
                    </a:solidFill>
                  </a:tcPr>
                </a:tc>
                <a:tc>
                  <a:txBody>
                    <a:bodyPr/>
                    <a:lstStyle/>
                    <a:p>
                      <a:r>
                        <a:rPr sz="1050" b="0" i="0">
                          <a:solidFill>
                            <a:srgbClr val="3D5A80"/>
                          </a:solidFill>
                          <a:latin typeface="Calibri"/>
                        </a:rPr>
                        <a:t>Acknowledge after disk vs. after cache</a:t>
                      </a:r>
                    </a:p>
                  </a:txBody>
                  <a:tcPr marL="82296" marR="82296" marT="27432" marB="27432" anchor="ctr">
                    <a:solidFill>
                      <a:srgbClr val="E8EEF7"/>
                    </a:solidFill>
                  </a:tcPr>
                </a:tc>
                <a:tc>
                  <a:txBody>
                    <a:bodyPr/>
                    <a:lstStyle/>
                    <a:p>
                      <a:r>
                        <a:rPr sz="1050" b="0" i="0">
                          <a:solidFill>
                            <a:srgbClr val="3D5A80"/>
                          </a:solidFill>
                          <a:latin typeface="Calibri"/>
                        </a:rPr>
                        <a:t>async is faster but can silently lose data the client believes was already saved if the server crashes mid-write</a:t>
                      </a:r>
                    </a:p>
                  </a:txBody>
                  <a:tcPr marL="82296" marR="82296" marT="27432" marB="27432" anchor="ctr">
                    <a:solidFill>
                      <a:srgbClr val="E8EEF7"/>
                    </a:solidFill>
                  </a:tcPr>
                </a:tc>
                <a:extLst>
                  <a:ext uri="{0D108BD9-81ED-4DB2-BD59-A6C34878D82A}">
                    <a16:rowId xmlns:a16="http://schemas.microsoft.com/office/drawing/2014/main" val="10002"/>
                  </a:ext>
                </a:extLst>
              </a:tr>
              <a:tr h="792480">
                <a:tc>
                  <a:txBody>
                    <a:bodyPr/>
                    <a:lstStyle/>
                    <a:p>
                      <a:r>
                        <a:rPr sz="1050" b="1" i="0">
                          <a:solidFill>
                            <a:srgbClr val="1B2A4A"/>
                          </a:solidFill>
                          <a:latin typeface="Calibri"/>
                        </a:rPr>
                        <a:t>root_squash / no_root_squash</a:t>
                      </a:r>
                    </a:p>
                  </a:txBody>
                  <a:tcPr marL="82296" marR="82296" marT="27432" marB="27432" anchor="ctr">
                    <a:solidFill>
                      <a:srgbClr val="FFFFFF"/>
                    </a:solidFill>
                  </a:tcPr>
                </a:tc>
                <a:tc>
                  <a:txBody>
                    <a:bodyPr/>
                    <a:lstStyle/>
                    <a:p>
                      <a:r>
                        <a:rPr sz="1050" b="0" i="0">
                          <a:solidFill>
                            <a:srgbClr val="3D5A80"/>
                          </a:solidFill>
                          <a:latin typeface="Calibri"/>
                        </a:rPr>
                        <a:t>Map client root to unprivileged, or don't</a:t>
                      </a:r>
                    </a:p>
                  </a:txBody>
                  <a:tcPr marL="82296" marR="82296" marT="27432" marB="27432" anchor="ctr">
                    <a:solidFill>
                      <a:srgbClr val="FFFFFF"/>
                    </a:solidFill>
                  </a:tcPr>
                </a:tc>
                <a:tc>
                  <a:txBody>
                    <a:bodyPr/>
                    <a:lstStyle/>
                    <a:p>
                      <a:r>
                        <a:rPr sz="1050" b="0" i="0">
                          <a:solidFill>
                            <a:srgbClr val="3D5A80"/>
                          </a:solidFill>
                          <a:latin typeface="Calibri"/>
                        </a:rPr>
                        <a:t>no_root_squash means root on any client that can mount the share is root on the server's filesystem too</a:t>
                      </a:r>
                    </a:p>
                  </a:txBody>
                  <a:tcPr marL="82296" marR="82296" marT="27432" marB="27432" anchor="ctr">
                    <a:solidFill>
                      <a:srgbClr val="FFFFFF"/>
                    </a:solidFill>
                  </a:tcPr>
                </a:tc>
                <a:extLst>
                  <a:ext uri="{0D108BD9-81ED-4DB2-BD59-A6C34878D82A}">
                    <a16:rowId xmlns:a16="http://schemas.microsoft.com/office/drawing/2014/main" val="10003"/>
                  </a:ext>
                </a:extLst>
              </a:tr>
              <a:tr h="792480">
                <a:tc>
                  <a:txBody>
                    <a:bodyPr/>
                    <a:lstStyle/>
                    <a:p>
                      <a:r>
                        <a:rPr sz="1050" b="1" i="0">
                          <a:solidFill>
                            <a:srgbClr val="1B2A4A"/>
                          </a:solidFill>
                          <a:latin typeface="Calibri"/>
                        </a:rPr>
                        <a:t>subtree_check / no_subtree_check</a:t>
                      </a:r>
                    </a:p>
                  </a:txBody>
                  <a:tcPr marL="82296" marR="82296" marT="27432" marB="27432" anchor="ctr">
                    <a:solidFill>
                      <a:srgbClr val="E8EEF7"/>
                    </a:solidFill>
                  </a:tcPr>
                </a:tc>
                <a:tc>
                  <a:txBody>
                    <a:bodyPr/>
                    <a:lstStyle/>
                    <a:p>
                      <a:r>
                        <a:rPr sz="1050" b="0" i="0">
                          <a:solidFill>
                            <a:srgbClr val="3D5A80"/>
                          </a:solidFill>
                          <a:latin typeface="Calibri"/>
                        </a:rPr>
                        <a:t>Extra checks when exporting a subdirectory</a:t>
                      </a:r>
                    </a:p>
                  </a:txBody>
                  <a:tcPr marL="82296" marR="82296" marT="27432" marB="27432" anchor="ctr">
                    <a:solidFill>
                      <a:srgbClr val="E8EEF7"/>
                    </a:solidFill>
                  </a:tcPr>
                </a:tc>
                <a:tc>
                  <a:txBody>
                    <a:bodyPr/>
                    <a:lstStyle/>
                    <a:p>
                      <a:r>
                        <a:rPr sz="1050" b="0" i="0">
                          <a:solidFill>
                            <a:srgbClr val="3D5A80"/>
                          </a:solidFill>
                          <a:latin typeface="Calibri"/>
                        </a:rPr>
                        <a:t>Adds overhead and edge cases - often disabled deliberately, not by accident</a:t>
                      </a:r>
                    </a:p>
                  </a:txBody>
                  <a:tcPr marL="82296" marR="82296" marT="27432" marB="27432" anchor="ctr">
                    <a:solidFill>
                      <a:srgbClr val="E8EEF7"/>
                    </a:solidFill>
                  </a:tcPr>
                </a:tc>
                <a:extLst>
                  <a:ext uri="{0D108BD9-81ED-4DB2-BD59-A6C34878D82A}">
                    <a16:rowId xmlns:a16="http://schemas.microsoft.com/office/drawing/2014/main" val="10004"/>
                  </a:ext>
                </a:extLst>
              </a:tr>
              <a:tr h="792480">
                <a:tc>
                  <a:txBody>
                    <a:bodyPr/>
                    <a:lstStyle/>
                    <a:p>
                      <a:r>
                        <a:rPr sz="1050" b="1" i="0">
                          <a:solidFill>
                            <a:srgbClr val="1B2A4A"/>
                          </a:solidFill>
                          <a:latin typeface="Calibri"/>
                        </a:rPr>
                        <a:t>Client spec: CIDR / host / *</a:t>
                      </a:r>
                    </a:p>
                  </a:txBody>
                  <a:tcPr marL="82296" marR="82296" marT="27432" marB="27432" anchor="ctr">
                    <a:solidFill>
                      <a:srgbClr val="FFFFFF"/>
                    </a:solidFill>
                  </a:tcPr>
                </a:tc>
                <a:tc>
                  <a:txBody>
                    <a:bodyPr/>
                    <a:lstStyle/>
                    <a:p>
                      <a:r>
                        <a:rPr sz="1050" b="0" i="0">
                          <a:solidFill>
                            <a:srgbClr val="3D5A80"/>
                          </a:solidFill>
                          <a:latin typeface="Calibri"/>
                        </a:rPr>
                        <a:t>Which hosts may mount this export</a:t>
                      </a:r>
                    </a:p>
                  </a:txBody>
                  <a:tcPr marL="82296" marR="82296" marT="27432" marB="27432" anchor="ctr">
                    <a:solidFill>
                      <a:srgbClr val="FFFFFF"/>
                    </a:solidFill>
                  </a:tcPr>
                </a:tc>
                <a:tc>
                  <a:txBody>
                    <a:bodyPr/>
                    <a:lstStyle/>
                    <a:p>
                      <a:r>
                        <a:rPr sz="1050" b="0" i="0">
                          <a:solidFill>
                            <a:srgbClr val="3D5A80"/>
                          </a:solidFill>
                          <a:latin typeface="Calibri"/>
                        </a:rPr>
                        <a:t>A bare * means any host that can route here; the same path listed twice is worth questioning, not assumed additive</a:t>
                      </a:r>
                    </a:p>
                  </a:txBody>
                  <a:tcPr marL="82296" marR="82296" marT="27432" marB="27432" anchor="ctr">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2"/>
          <p:cNvSpPr txBox="1"/>
          <p:nvPr/>
        </p:nvSpPr>
        <p:spPr>
          <a:xfrm>
            <a:off x="640080" y="457200"/>
            <a:ext cx="10908792" cy="777240"/>
          </a:xfrm>
          <a:prstGeom prst="rect">
            <a:avLst/>
          </a:prstGeom>
          <a:noFill/>
        </p:spPr>
        <p:txBody>
          <a:bodyPr wrap="square" anchor="t" lIns="0" rIns="0" tIns="0" bIns="0">
            <a:spAutoFit/>
          </a:bodyPr>
          <a:lstStyle/>
          <a:p>
            <a:r>
              <a:rPr sz="2900" b="1" i="0">
                <a:solidFill>
                  <a:srgbClr val="1B2A4A"/>
                </a:solidFill>
                <a:latin typeface="Cambria"/>
              </a:rPr>
              <a:t>Attacks &amp; Defenses: NFS</a:t>
            </a:r>
          </a:p>
        </p:txBody>
      </p:sp>
      <p:sp>
        <p:nvSpPr>
          <p:cNvPr id="3" name="TextBox 3"/>
          <p:cNvSpPr txBox="1"/>
          <p:nvPr/>
        </p:nvSpPr>
        <p:spPr>
          <a:xfrm>
            <a:off x="640080" y="1243584"/>
            <a:ext cx="10908792" cy="365760"/>
          </a:xfrm>
          <a:prstGeom prst="rect">
            <a:avLst/>
          </a:prstGeom>
          <a:noFill/>
        </p:spPr>
        <p:txBody>
          <a:bodyPr wrap="square" anchor="t" lIns="0" rIns="0" tIns="0" bIns="0">
            <a:spAutoFit/>
          </a:bodyPr>
          <a:lstStyle/>
          <a:p>
            <a:r>
              <a:rPr sz="1250" b="0" i="0">
                <a:solidFill>
                  <a:srgbClr val="3D5A80"/>
                </a:solidFill>
                <a:latin typeface="Calibri"/>
              </a:rPr>
              <a:t>Most of these trace back to one fact: NFS access control lives entirely on the server side.</a:t>
            </a:r>
          </a:p>
        </p:txBody>
      </p:sp>
      <p:graphicFrame>
        <p:nvGraphicFramePr>
          <p:cNvPr id="4" name="Table 4"/>
          <p:cNvGraphicFramePr>
            <a:graphicFrameLocks noGrp="1"/>
          </p:cNvGraphicFramePr>
          <p:nvPr/>
        </p:nvGraphicFramePr>
        <p:xfrm>
          <a:off x="640080" y="1828800"/>
          <a:ext cx="10908792" cy="4754880"/>
        </p:xfrm>
        <a:graphic>
          <a:graphicData uri="http://schemas.openxmlformats.org/drawingml/2006/table">
            <a:tbl>
              <a:tblPr firstRow="0" bandRow="0"/>
              <a:tblGrid>
                <a:gridCol w="2600000"/>
                <a:gridCol w="4200000"/>
                <a:gridCol w="4108792"/>
              </a:tblGrid>
              <a:tr h="792480">
                <a:tc>
                  <a:txBody>
                    <a:bodyPr wrap="square"/>
                    <a:lstStyle/>
                    <a:p>
                      <a:r>
                        <a:rPr sz="1200" b="1" i="0">
                          <a:solidFill>
                            <a:srgbClr val="FFFFFF"/>
                          </a:solidFill>
                          <a:latin typeface="Calibri"/>
                        </a:rPr>
                        <a:t>Attack</a:t>
                      </a:r>
                    </a:p>
                  </a:txBody>
                  <a:tcPr anchor="ctr" marL="82296" marR="82296" marT="27432" marB="27432">
                    <a:solidFill>
                      <a:srgbClr val="1B2A4A"/>
                    </a:solidFill>
                  </a:tcPr>
                </a:tc>
                <a:tc>
                  <a:txBody>
                    <a:bodyPr wrap="square"/>
                    <a:lstStyle/>
                    <a:p>
                      <a:r>
                        <a:rPr sz="1200" b="1" i="0">
                          <a:solidFill>
                            <a:srgbClr val="FFFFFF"/>
                          </a:solidFill>
                          <a:latin typeface="Calibri"/>
                        </a:rPr>
                        <a:t>How It Works</a:t>
                      </a:r>
                    </a:p>
                  </a:txBody>
                  <a:tcPr anchor="ctr" marL="82296" marR="82296" marT="27432" marB="27432">
                    <a:solidFill>
                      <a:srgbClr val="1B2A4A"/>
                    </a:solidFill>
                  </a:tcPr>
                </a:tc>
                <a:tc>
                  <a:txBody>
                    <a:bodyPr wrap="square"/>
                    <a:lstStyle/>
                    <a:p>
                      <a:r>
                        <a:rPr sz="1200" b="1" i="0">
                          <a:solidFill>
                            <a:srgbClr val="FFFFFF"/>
                          </a:solidFill>
                          <a:latin typeface="Calibri"/>
                        </a:rPr>
                        <a:t>Defense</a:t>
                      </a:r>
                    </a:p>
                  </a:txBody>
                  <a:tcPr anchor="ctr" marL="82296" marR="82296" marT="27432" marB="27432">
                    <a:solidFill>
                      <a:srgbClr val="1B2A4A"/>
                    </a:solidFill>
                  </a:tcPr>
                </a:tc>
              </a:tr>
              <a:tr h="792480">
                <a:tc>
                  <a:txBody>
                    <a:bodyPr wrap="square"/>
                    <a:lstStyle/>
                    <a:p>
                      <a:r>
                        <a:rPr sz="1050" b="1" i="0">
                          <a:solidFill>
                            <a:srgbClr val="1B2A4A"/>
                          </a:solidFill>
                          <a:latin typeface="Calibri"/>
                        </a:rPr>
                        <a:t>AUTH_SYS UID/GID spoofing</a:t>
                      </a:r>
                    </a:p>
                  </a:txBody>
                  <a:tcPr anchor="ctr" marL="82296" marR="82296" marT="27432" marB="27432">
                    <a:solidFill>
                      <a:srgbClr val="FFFFFF"/>
                    </a:solidFill>
                  </a:tcPr>
                </a:tc>
                <a:tc>
                  <a:txBody>
                    <a:bodyPr wrap="square"/>
                    <a:lstStyle/>
                    <a:p>
                      <a:r>
                        <a:rPr sz="1050" b="0" i="0">
                          <a:solidFill>
                            <a:srgbClr val="3D5A80"/>
                          </a:solidFill>
                          <a:latin typeface="Calibri"/>
                        </a:rPr>
                        <a:t>AUTH_SYS trusts whatever UID/GID the client claims; root on a permitted client can present as anyone</a:t>
                      </a:r>
                    </a:p>
                  </a:txBody>
                  <a:tcPr anchor="ctr" marL="82296" marR="82296" marT="27432" marB="27432">
                    <a:solidFill>
                      <a:srgbClr val="FFFFFF"/>
                    </a:solidFill>
                  </a:tcPr>
                </a:tc>
                <a:tc>
                  <a:txBody>
                    <a:bodyPr wrap="square"/>
                    <a:lstStyle/>
                    <a:p>
                      <a:r>
                        <a:rPr sz="1050" b="0" i="0">
                          <a:solidFill>
                            <a:srgbClr val="3D5A80"/>
                          </a:solidFill>
                          <a:latin typeface="Calibri"/>
                        </a:rPr>
                        <a:t>Prefer NFSv4 with Kerberos (krb5) authentication over AUTH_SYS where it matters</a:t>
                      </a:r>
                    </a:p>
                  </a:txBody>
                  <a:tcPr anchor="ctr" marL="82296" marR="82296" marT="27432" marB="27432">
                    <a:solidFill>
                      <a:srgbClr val="FFFFFF"/>
                    </a:solidFill>
                  </a:tcPr>
                </a:tc>
              </a:tr>
              <a:tr h="792480">
                <a:tc>
                  <a:txBody>
                    <a:bodyPr wrap="square"/>
                    <a:lstStyle/>
                    <a:p>
                      <a:r>
                        <a:rPr sz="1050" b="1" i="0">
                          <a:solidFill>
                            <a:srgbClr val="1B2A4A"/>
                          </a:solidFill>
                          <a:latin typeface="Calibri"/>
                        </a:rPr>
                        <a:t>no_root_squash escalation</a:t>
                      </a:r>
                    </a:p>
                  </a:txBody>
                  <a:tcPr anchor="ctr" marL="82296" marR="82296" marT="27432" marB="27432">
                    <a:solidFill>
                      <a:srgbClr val="E8EEF7"/>
                    </a:solidFill>
                  </a:tcPr>
                </a:tc>
                <a:tc>
                  <a:txBody>
                    <a:bodyPr wrap="square"/>
                    <a:lstStyle/>
                    <a:p>
                      <a:r>
                        <a:rPr sz="1050" b="0" i="0">
                          <a:solidFill>
                            <a:srgbClr val="3D5A80"/>
                          </a:solidFill>
                          <a:latin typeface="Calibri"/>
                        </a:rPr>
                        <a:t>A client's root becomes root on the server's export, able to read/write/chown anything in it</a:t>
                      </a:r>
                    </a:p>
                  </a:txBody>
                  <a:tcPr anchor="ctr" marL="82296" marR="82296" marT="27432" marB="27432">
                    <a:solidFill>
                      <a:srgbClr val="E8EEF7"/>
                    </a:solidFill>
                  </a:tcPr>
                </a:tc>
                <a:tc>
                  <a:txBody>
                    <a:bodyPr wrap="square"/>
                    <a:lstStyle/>
                    <a:p>
                      <a:r>
                        <a:rPr sz="1050" b="0" i="0">
                          <a:solidFill>
                            <a:srgbClr val="3D5A80"/>
                          </a:solidFill>
                          <a:latin typeface="Calibri"/>
                        </a:rPr>
                        <a:t>root_squash by default; scope no_root_squash tightly to the rare case that needs it</a:t>
                      </a:r>
                    </a:p>
                  </a:txBody>
                  <a:tcPr anchor="ctr" marL="82296" marR="82296" marT="27432" marB="27432">
                    <a:solidFill>
                      <a:srgbClr val="E8EEF7"/>
                    </a:solidFill>
                  </a:tcPr>
                </a:tc>
              </a:tr>
              <a:tr h="792480">
                <a:tc>
                  <a:txBody>
                    <a:bodyPr wrap="square"/>
                    <a:lstStyle/>
                    <a:p>
                      <a:r>
                        <a:rPr sz="1050" b="1" i="0">
                          <a:solidFill>
                            <a:srgbClr val="1B2A4A"/>
                          </a:solidFill>
                          <a:latin typeface="Calibri"/>
                        </a:rPr>
                        <a:t>Overly permissive client spec</a:t>
                      </a:r>
                    </a:p>
                  </a:txBody>
                  <a:tcPr anchor="ctr" marL="82296" marR="82296" marT="27432" marB="27432">
                    <a:solidFill>
                      <a:srgbClr val="FFFFFF"/>
                    </a:solidFill>
                  </a:tcPr>
                </a:tc>
                <a:tc>
                  <a:txBody>
                    <a:bodyPr wrap="square"/>
                    <a:lstStyle/>
                    <a:p>
                      <a:r>
                        <a:rPr sz="1050" b="0" i="0">
                          <a:solidFill>
                            <a:srgbClr val="3D5A80"/>
                          </a:solidFill>
                          <a:latin typeface="Calibri"/>
                        </a:rPr>
                        <a:t>A bare * or broad CIDR lets any routable host mount the export</a:t>
                      </a:r>
                    </a:p>
                  </a:txBody>
                  <a:tcPr anchor="ctr" marL="82296" marR="82296" marT="27432" marB="27432">
                    <a:solidFill>
                      <a:srgbClr val="FFFFFF"/>
                    </a:solidFill>
                  </a:tcPr>
                </a:tc>
                <a:tc>
                  <a:txBody>
                    <a:bodyPr wrap="square"/>
                    <a:lstStyle/>
                    <a:p>
                      <a:r>
                        <a:rPr sz="1050" b="0" i="0">
                          <a:solidFill>
                            <a:srgbClr val="3D5A80"/>
                          </a:solidFill>
                          <a:latin typeface="Calibri"/>
                        </a:rPr>
                        <a:t>Scope exports to exact hosts/subnets that need access - never a bare wildcard</a:t>
                      </a:r>
                    </a:p>
                  </a:txBody>
                  <a:tcPr anchor="ctr" marL="82296" marR="82296" marT="27432" marB="27432">
                    <a:solidFill>
                      <a:srgbClr val="FFFFFF"/>
                    </a:solidFill>
                  </a:tcPr>
                </a:tc>
              </a:tr>
              <a:tr h="792480">
                <a:tc>
                  <a:txBody>
                    <a:bodyPr wrap="square"/>
                    <a:lstStyle/>
                    <a:p>
                      <a:r>
                        <a:rPr sz="1050" b="1" i="0">
                          <a:solidFill>
                            <a:srgbClr val="1B2A4A"/>
                          </a:solidFill>
                          <a:latin typeface="Calibri"/>
                        </a:rPr>
                        <a:t>Data loss from async writes</a:t>
                      </a:r>
                    </a:p>
                  </a:txBody>
                  <a:tcPr anchor="ctr" marL="82296" marR="82296" marT="27432" marB="27432">
                    <a:solidFill>
                      <a:srgbClr val="E8EEF7"/>
                    </a:solidFill>
                  </a:tcPr>
                </a:tc>
                <a:tc>
                  <a:txBody>
                    <a:bodyPr wrap="square"/>
                    <a:lstStyle/>
                    <a:p>
                      <a:r>
                        <a:rPr sz="1050" b="0" i="0">
                          <a:solidFill>
                            <a:srgbClr val="3D5A80"/>
                          </a:solidFill>
                          <a:latin typeface="Calibri"/>
                        </a:rPr>
                        <a:t>async acknowledges writes before they're durable; a crash mid-write silently loses data</a:t>
                      </a:r>
                    </a:p>
                  </a:txBody>
                  <a:tcPr anchor="ctr" marL="82296" marR="82296" marT="27432" marB="27432">
                    <a:solidFill>
                      <a:srgbClr val="E8EEF7"/>
                    </a:solidFill>
                  </a:tcPr>
                </a:tc>
                <a:tc>
                  <a:txBody>
                    <a:bodyPr wrap="square"/>
                    <a:lstStyle/>
                    <a:p>
                      <a:r>
                        <a:rPr sz="1050" b="0" i="0">
                          <a:solidFill>
                            <a:srgbClr val="3D5A80"/>
                          </a:solidFill>
                          <a:latin typeface="Calibri"/>
                        </a:rPr>
                        <a:t>Use sync wherever durability matters more than raw throughput</a:t>
                      </a:r>
                    </a:p>
                  </a:txBody>
                  <a:tcPr anchor="ctr" marL="82296" marR="82296" marT="27432" marB="27432">
                    <a:solidFill>
                      <a:srgbClr val="E8EEF7"/>
                    </a:solidFill>
                  </a:tcPr>
                </a:tc>
              </a:tr>
              <a:tr h="792480">
                <a:tc>
                  <a:txBody>
                    <a:bodyPr wrap="square"/>
                    <a:lstStyle/>
                    <a:p>
                      <a:r>
                        <a:rPr sz="1050" b="1" i="0">
                          <a:solidFill>
                            <a:srgbClr val="1B2A4A"/>
                          </a:solidFill>
                          <a:latin typeface="Calibri"/>
                        </a:rPr>
                        <a:t>Lateral movement via shared mounts</a:t>
                      </a:r>
                    </a:p>
                  </a:txBody>
                  <a:tcPr anchor="ctr" marL="82296" marR="82296" marT="27432" marB="27432">
                    <a:solidFill>
                      <a:srgbClr val="FFFFFF"/>
                    </a:solidFill>
                  </a:tcPr>
                </a:tc>
                <a:tc>
                  <a:txBody>
                    <a:bodyPr wrap="square"/>
                    <a:lstStyle/>
                    <a:p>
                      <a:r>
                        <a:rPr sz="1050" b="0" i="0">
                          <a:solidFill>
                            <a:srgbClr val="3D5A80"/>
                          </a:solidFill>
                          <a:latin typeface="Calibri"/>
                        </a:rPr>
                        <a:t>A compromised client with a mounted share can tamper with files every other client trusts</a:t>
                      </a:r>
                    </a:p>
                  </a:txBody>
                  <a:tcPr anchor="ctr" marL="82296" marR="82296" marT="27432" marB="27432">
                    <a:solidFill>
                      <a:srgbClr val="FFFFFF"/>
                    </a:solidFill>
                  </a:tcPr>
                </a:tc>
                <a:tc>
                  <a:txBody>
                    <a:bodyPr wrap="square"/>
                    <a:lstStyle/>
                    <a:p>
                      <a:r>
                        <a:rPr sz="1050" b="0" i="0">
                          <a:solidFill>
                            <a:srgbClr val="3D5A80"/>
                          </a:solidFill>
                          <a:latin typeface="Calibri"/>
                        </a:rPr>
                        <a:t>Treat exported paths as a trust boundary - exports is a security control, not just convenience</a:t>
                      </a:r>
                    </a:p>
                  </a:txBody>
                  <a:tcPr anchor="ctr" marL="82296" marR="82296" marT="27432" marB="27432">
                    <a:solidFill>
                      <a:srgbClr val="FFFFFF"/>
                    </a:solidFill>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40080" y="457200"/>
            <a:ext cx="10908792" cy="777240"/>
          </a:xfrm>
          <a:prstGeom prst="rect">
            <a:avLst/>
          </a:prstGeom>
          <a:noFill/>
        </p:spPr>
        <p:txBody>
          <a:bodyPr wrap="square" lIns="0" tIns="0" rIns="0" bIns="0" anchor="t">
            <a:spAutoFit/>
          </a:bodyPr>
          <a:lstStyle/>
          <a:p>
            <a:r>
              <a:rPr sz="2900" b="1" i="0">
                <a:solidFill>
                  <a:srgbClr val="1B2A4A"/>
                </a:solidFill>
                <a:latin typeface="Cambria"/>
              </a:rPr>
              <a:t>LVM Basics: Why Storage Choices Matter</a:t>
            </a:r>
          </a:p>
        </p:txBody>
      </p:sp>
      <p:sp>
        <p:nvSpPr>
          <p:cNvPr id="3" name="TextBox 3"/>
          <p:cNvSpPr txBox="1"/>
          <p:nvPr/>
        </p:nvSpPr>
        <p:spPr>
          <a:xfrm>
            <a:off x="640080" y="1243584"/>
            <a:ext cx="10908792" cy="365760"/>
          </a:xfrm>
          <a:prstGeom prst="rect">
            <a:avLst/>
          </a:prstGeom>
          <a:noFill/>
        </p:spPr>
        <p:txBody>
          <a:bodyPr wrap="square" lIns="0" tIns="0" rIns="0" bIns="0" anchor="t">
            <a:spAutoFit/>
          </a:bodyPr>
          <a:lstStyle/>
          <a:p>
            <a:r>
              <a:rPr sz="1250" b="0" i="0">
                <a:solidFill>
                  <a:srgbClr val="3D5A80"/>
                </a:solidFill>
                <a:latin typeface="Calibri"/>
              </a:rPr>
              <a:t>IT HW 2's working environment puts /exports on a dedicated LVM volume, not plain disk space - here's the mechanism behind that choice.</a:t>
            </a:r>
          </a:p>
        </p:txBody>
      </p:sp>
      <p:graphicFrame>
        <p:nvGraphicFramePr>
          <p:cNvPr id="4" name="Table 4"/>
          <p:cNvGraphicFramePr>
            <a:graphicFrameLocks noGrp="1"/>
          </p:cNvGraphicFramePr>
          <p:nvPr/>
        </p:nvGraphicFramePr>
        <p:xfrm>
          <a:off x="640080" y="1828800"/>
          <a:ext cx="10908792" cy="4754880"/>
        </p:xfrm>
        <a:graphic>
          <a:graphicData uri="http://schemas.openxmlformats.org/drawingml/2006/table">
            <a:tbl>
              <a:tblPr/>
              <a:tblGrid>
                <a:gridCol w="3200000">
                  <a:extLst>
                    <a:ext uri="{9D8B030D-6E8A-4147-A177-3AD203B41FA5}">
                      <a16:colId xmlns:a16="http://schemas.microsoft.com/office/drawing/2014/main" val="20000"/>
                    </a:ext>
                  </a:extLst>
                </a:gridCol>
                <a:gridCol w="2400000">
                  <a:extLst>
                    <a:ext uri="{9D8B030D-6E8A-4147-A177-3AD203B41FA5}">
                      <a16:colId xmlns:a16="http://schemas.microsoft.com/office/drawing/2014/main" val="20001"/>
                    </a:ext>
                  </a:extLst>
                </a:gridCol>
                <a:gridCol w="5308792">
                  <a:extLst>
                    <a:ext uri="{9D8B030D-6E8A-4147-A177-3AD203B41FA5}">
                      <a16:colId xmlns:a16="http://schemas.microsoft.com/office/drawing/2014/main" val="20002"/>
                    </a:ext>
                  </a:extLst>
                </a:gridCol>
              </a:tblGrid>
              <a:tr h="792480">
                <a:tc>
                  <a:txBody>
                    <a:bodyPr/>
                    <a:lstStyle/>
                    <a:p>
                      <a:r>
                        <a:rPr sz="1200" b="1" i="0">
                          <a:solidFill>
                            <a:srgbClr val="FFFFFF"/>
                          </a:solidFill>
                          <a:latin typeface="Calibri"/>
                        </a:rPr>
                        <a:t>Layer</a:t>
                      </a:r>
                    </a:p>
                  </a:txBody>
                  <a:tcPr marL="82296" marR="82296" marT="27432" marB="27432" anchor="ctr">
                    <a:solidFill>
                      <a:srgbClr val="1B2A4A"/>
                    </a:solidFill>
                  </a:tcPr>
                </a:tc>
                <a:tc>
                  <a:txBody>
                    <a:bodyPr/>
                    <a:lstStyle/>
                    <a:p>
                      <a:r>
                        <a:rPr sz="1200" b="1" i="0">
                          <a:solidFill>
                            <a:srgbClr val="FFFFFF"/>
                          </a:solidFill>
                          <a:latin typeface="Calibri"/>
                        </a:rPr>
                        <a:t>Command</a:t>
                      </a:r>
                    </a:p>
                  </a:txBody>
                  <a:tcPr marL="82296" marR="82296" marT="27432" marB="27432" anchor="ctr">
                    <a:solidFill>
                      <a:srgbClr val="1B2A4A"/>
                    </a:solidFill>
                  </a:tcPr>
                </a:tc>
                <a:tc>
                  <a:txBody>
                    <a:bodyPr/>
                    <a:lstStyle/>
                    <a:p>
                      <a:r>
                        <a:rPr sz="1200" b="1" i="0">
                          <a:solidFill>
                            <a:srgbClr val="FFFFFF"/>
                          </a:solidFill>
                          <a:latin typeface="Calibri"/>
                        </a:rPr>
                        <a:t>What it gives you</a:t>
                      </a:r>
                    </a:p>
                  </a:txBody>
                  <a:tcPr marL="82296" marR="82296" marT="27432" marB="27432" anchor="ctr">
                    <a:solidFill>
                      <a:srgbClr val="1B2A4A"/>
                    </a:solidFill>
                  </a:tcPr>
                </a:tc>
                <a:extLst>
                  <a:ext uri="{0D108BD9-81ED-4DB2-BD59-A6C34878D82A}">
                    <a16:rowId xmlns:a16="http://schemas.microsoft.com/office/drawing/2014/main" val="10000"/>
                  </a:ext>
                </a:extLst>
              </a:tr>
              <a:tr h="792480">
                <a:tc>
                  <a:txBody>
                    <a:bodyPr/>
                    <a:lstStyle/>
                    <a:p>
                      <a:r>
                        <a:rPr sz="1050" b="1" i="0">
                          <a:solidFill>
                            <a:srgbClr val="1B2A4A"/>
                          </a:solidFill>
                          <a:latin typeface="Calibri"/>
                        </a:rPr>
                        <a:t>Physical Volume (PV)</a:t>
                      </a:r>
                    </a:p>
                  </a:txBody>
                  <a:tcPr marL="82296" marR="82296" marT="27432" marB="27432" anchor="ctr">
                    <a:solidFill>
                      <a:srgbClr val="FFFFFF"/>
                    </a:solidFill>
                  </a:tcPr>
                </a:tc>
                <a:tc>
                  <a:txBody>
                    <a:bodyPr/>
                    <a:lstStyle/>
                    <a:p>
                      <a:r>
                        <a:rPr sz="1050" b="0" i="0">
                          <a:solidFill>
                            <a:srgbClr val="3D5A80"/>
                          </a:solidFill>
                          <a:latin typeface="Calibri"/>
                        </a:rPr>
                        <a:t>pvcreate /dev/sdb1</a:t>
                      </a:r>
                    </a:p>
                  </a:txBody>
                  <a:tcPr marL="82296" marR="82296" marT="27432" marB="27432" anchor="ctr">
                    <a:solidFill>
                      <a:srgbClr val="FFFFFF"/>
                    </a:solidFill>
                  </a:tcPr>
                </a:tc>
                <a:tc>
                  <a:txBody>
                    <a:bodyPr/>
                    <a:lstStyle/>
                    <a:p>
                      <a:r>
                        <a:rPr sz="1050" b="0" i="0">
                          <a:solidFill>
                            <a:srgbClr val="3D5A80"/>
                          </a:solidFill>
                          <a:latin typeface="Calibri"/>
                        </a:rPr>
                        <a:t>A disk or partition made available to LVM</a:t>
                      </a:r>
                    </a:p>
                  </a:txBody>
                  <a:tcPr marL="82296" marR="82296" marT="27432" marB="27432" anchor="ctr">
                    <a:solidFill>
                      <a:srgbClr val="FFFFFF"/>
                    </a:solidFill>
                  </a:tcPr>
                </a:tc>
                <a:extLst>
                  <a:ext uri="{0D108BD9-81ED-4DB2-BD59-A6C34878D82A}">
                    <a16:rowId xmlns:a16="http://schemas.microsoft.com/office/drawing/2014/main" val="10001"/>
                  </a:ext>
                </a:extLst>
              </a:tr>
              <a:tr h="792480">
                <a:tc>
                  <a:txBody>
                    <a:bodyPr/>
                    <a:lstStyle/>
                    <a:p>
                      <a:r>
                        <a:rPr sz="1050" b="1" i="0">
                          <a:solidFill>
                            <a:srgbClr val="1B2A4A"/>
                          </a:solidFill>
                          <a:latin typeface="Calibri"/>
                        </a:rPr>
                        <a:t>Volume Group (VG)</a:t>
                      </a:r>
                    </a:p>
                  </a:txBody>
                  <a:tcPr marL="82296" marR="82296" marT="27432" marB="27432" anchor="ctr">
                    <a:solidFill>
                      <a:srgbClr val="E8EEF7"/>
                    </a:solidFill>
                  </a:tcPr>
                </a:tc>
                <a:tc>
                  <a:txBody>
                    <a:bodyPr/>
                    <a:lstStyle/>
                    <a:p>
                      <a:r>
                        <a:rPr sz="1050" b="0" i="0">
                          <a:solidFill>
                            <a:srgbClr val="3D5A80"/>
                          </a:solidFill>
                          <a:latin typeface="Calibri"/>
                        </a:rPr>
                        <a:t>vgcreate vg_lab2 /dev/sdb1</a:t>
                      </a:r>
                    </a:p>
                  </a:txBody>
                  <a:tcPr marL="82296" marR="82296" marT="27432" marB="27432" anchor="ctr">
                    <a:solidFill>
                      <a:srgbClr val="E8EEF7"/>
                    </a:solidFill>
                  </a:tcPr>
                </a:tc>
                <a:tc>
                  <a:txBody>
                    <a:bodyPr/>
                    <a:lstStyle/>
                    <a:p>
                      <a:r>
                        <a:rPr sz="1050" b="0" i="0">
                          <a:solidFill>
                            <a:srgbClr val="3D5A80"/>
                          </a:solidFill>
                          <a:latin typeface="Calibri"/>
                        </a:rPr>
                        <a:t>A pool combining one or more PVs into shared free space</a:t>
                      </a:r>
                    </a:p>
                  </a:txBody>
                  <a:tcPr marL="82296" marR="82296" marT="27432" marB="27432" anchor="ctr">
                    <a:solidFill>
                      <a:srgbClr val="E8EEF7"/>
                    </a:solidFill>
                  </a:tcPr>
                </a:tc>
                <a:extLst>
                  <a:ext uri="{0D108BD9-81ED-4DB2-BD59-A6C34878D82A}">
                    <a16:rowId xmlns:a16="http://schemas.microsoft.com/office/drawing/2014/main" val="10002"/>
                  </a:ext>
                </a:extLst>
              </a:tr>
              <a:tr h="792480">
                <a:tc>
                  <a:txBody>
                    <a:bodyPr/>
                    <a:lstStyle/>
                    <a:p>
                      <a:r>
                        <a:rPr sz="1050" b="1" i="0">
                          <a:solidFill>
                            <a:srgbClr val="1B2A4A"/>
                          </a:solidFill>
                          <a:latin typeface="Calibri"/>
                        </a:rPr>
                        <a:t>Logical Volume (LV)</a:t>
                      </a:r>
                    </a:p>
                  </a:txBody>
                  <a:tcPr marL="82296" marR="82296" marT="27432" marB="27432" anchor="ctr">
                    <a:solidFill>
                      <a:srgbClr val="FFFFFF"/>
                    </a:solidFill>
                  </a:tcPr>
                </a:tc>
                <a:tc>
                  <a:txBody>
                    <a:bodyPr/>
                    <a:lstStyle/>
                    <a:p>
                      <a:r>
                        <a:rPr sz="1050" b="0" i="0">
                          <a:solidFill>
                            <a:srgbClr val="3D5A80"/>
                          </a:solidFill>
                          <a:latin typeface="Calibri"/>
                        </a:rPr>
                        <a:t>lvcreate -L 3G -n lv_exports vg_lab2</a:t>
                      </a:r>
                    </a:p>
                  </a:txBody>
                  <a:tcPr marL="82296" marR="82296" marT="27432" marB="27432" anchor="ctr">
                    <a:solidFill>
                      <a:srgbClr val="FFFFFF"/>
                    </a:solidFill>
                  </a:tcPr>
                </a:tc>
                <a:tc>
                  <a:txBody>
                    <a:bodyPr/>
                    <a:lstStyle/>
                    <a:p>
                      <a:r>
                        <a:rPr sz="1050" b="0" i="0">
                          <a:solidFill>
                            <a:srgbClr val="3D5A80"/>
                          </a:solidFill>
                          <a:latin typeface="Calibri"/>
                        </a:rPr>
                        <a:t>A resizable slice of the VG - this is what actually gets formatted and mounted</a:t>
                      </a:r>
                    </a:p>
                  </a:txBody>
                  <a:tcPr marL="82296" marR="82296" marT="27432" marB="27432" anchor="ctr">
                    <a:solidFill>
                      <a:srgbClr val="FFFFFF"/>
                    </a:solidFill>
                  </a:tcPr>
                </a:tc>
                <a:extLst>
                  <a:ext uri="{0D108BD9-81ED-4DB2-BD59-A6C34878D82A}">
                    <a16:rowId xmlns:a16="http://schemas.microsoft.com/office/drawing/2014/main" val="10003"/>
                  </a:ext>
                </a:extLst>
              </a:tr>
              <a:tr h="792480">
                <a:tc>
                  <a:txBody>
                    <a:bodyPr/>
                    <a:lstStyle/>
                    <a:p>
                      <a:r>
                        <a:rPr sz="1050" b="1" i="0">
                          <a:solidFill>
                            <a:srgbClr val="1B2A4A"/>
                          </a:solidFill>
                          <a:latin typeface="Calibri"/>
                        </a:rPr>
                        <a:t>Growing it later</a:t>
                      </a:r>
                    </a:p>
                  </a:txBody>
                  <a:tcPr marL="82296" marR="82296" marT="27432" marB="27432" anchor="ctr">
                    <a:solidFill>
                      <a:srgbClr val="E8EEF7"/>
                    </a:solidFill>
                  </a:tcPr>
                </a:tc>
                <a:tc>
                  <a:txBody>
                    <a:bodyPr/>
                    <a:lstStyle/>
                    <a:p>
                      <a:r>
                        <a:rPr sz="1050" b="0" i="0">
                          <a:solidFill>
                            <a:srgbClr val="3D5A80"/>
                          </a:solidFill>
                          <a:latin typeface="Calibri"/>
                        </a:rPr>
                        <a:t>lvextend -L +2G ... &amp;&amp; xfs_growfs / resize2fs</a:t>
                      </a:r>
                    </a:p>
                  </a:txBody>
                  <a:tcPr marL="82296" marR="82296" marT="27432" marB="27432" anchor="ctr">
                    <a:solidFill>
                      <a:srgbClr val="E8EEF7"/>
                    </a:solidFill>
                  </a:tcPr>
                </a:tc>
                <a:tc>
                  <a:txBody>
                    <a:bodyPr/>
                    <a:lstStyle/>
                    <a:p>
                      <a:r>
                        <a:rPr sz="1050" b="0" i="0" dirty="0">
                          <a:solidFill>
                            <a:srgbClr val="3D5A80"/>
                          </a:solidFill>
                          <a:latin typeface="Calibri"/>
                        </a:rPr>
                        <a:t>Expands the LV and its filesystem online, live, with the service still running</a:t>
                      </a:r>
                    </a:p>
                  </a:txBody>
                  <a:tcPr marL="82296" marR="82296" marT="27432" marB="27432" anchor="ctr">
                    <a:solidFill>
                      <a:srgbClr val="E8EEF7"/>
                    </a:solidFill>
                  </a:tcPr>
                </a:tc>
                <a:extLst>
                  <a:ext uri="{0D108BD9-81ED-4DB2-BD59-A6C34878D82A}">
                    <a16:rowId xmlns:a16="http://schemas.microsoft.com/office/drawing/2014/main" val="10004"/>
                  </a:ext>
                </a:extLst>
              </a:tr>
              <a:tr h="792480">
                <a:tc>
                  <a:txBody>
                    <a:bodyPr/>
                    <a:lstStyle/>
                    <a:p>
                      <a:r>
                        <a:rPr sz="1050" b="1" i="0">
                          <a:solidFill>
                            <a:srgbClr val="1B2A4A"/>
                          </a:solidFill>
                          <a:latin typeface="Calibri"/>
                        </a:rPr>
                        <a:t>Plain partition (the alternative)</a:t>
                      </a:r>
                    </a:p>
                  </a:txBody>
                  <a:tcPr marL="82296" marR="82296" marT="27432" marB="27432" anchor="ctr">
                    <a:solidFill>
                      <a:srgbClr val="FFFFFF"/>
                    </a:solidFill>
                  </a:tcPr>
                </a:tc>
                <a:tc>
                  <a:txBody>
                    <a:bodyPr/>
                    <a:lstStyle/>
                    <a:p>
                      <a:r>
                        <a:rPr sz="1050" b="0" i="0">
                          <a:solidFill>
                            <a:srgbClr val="3D5A80"/>
                          </a:solidFill>
                          <a:latin typeface="Calibri"/>
                        </a:rPr>
                        <a:t>fdisk / parted, then repartition</a:t>
                      </a:r>
                    </a:p>
                  </a:txBody>
                  <a:tcPr marL="82296" marR="82296" marT="27432" marB="27432" anchor="ctr">
                    <a:solidFill>
                      <a:srgbClr val="FFFFFF"/>
                    </a:solidFill>
                  </a:tcPr>
                </a:tc>
                <a:tc>
                  <a:txBody>
                    <a:bodyPr/>
                    <a:lstStyle/>
                    <a:p>
                      <a:r>
                        <a:rPr sz="1050" b="0" i="0" dirty="0">
                          <a:solidFill>
                            <a:srgbClr val="3D5A80"/>
                          </a:solidFill>
                          <a:latin typeface="Calibri"/>
                        </a:rPr>
                        <a:t>Growing it usually means backup, unmount, recreate, restore - real downtime</a:t>
                      </a:r>
                    </a:p>
                  </a:txBody>
                  <a:tcPr marL="82296" marR="82296" marT="27432" marB="27432" anchor="ctr">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1B2A4A"/>
        </a:solidFill>
        <a:effectLst/>
      </p:bgPr>
    </p:bg>
    <p:spTree>
      <p:nvGrpSpPr>
        <p:cNvPr id="1" name=""/>
        <p:cNvGrpSpPr/>
        <p:nvPr/>
      </p:nvGrpSpPr>
      <p:grpSpPr>
        <a:xfrm>
          <a:off x="0" y="0"/>
          <a:ext cx="0" cy="0"/>
          <a:chOff x="0" y="0"/>
          <a:chExt cx="0" cy="0"/>
        </a:xfrm>
      </p:grpSpPr>
      <p:sp>
        <p:nvSpPr>
          <p:cNvPr id="2" name="Rectangle 1"/>
          <p:cNvSpPr/>
          <p:nvPr/>
        </p:nvSpPr>
        <p:spPr>
          <a:xfrm>
            <a:off x="822960" y="2962656"/>
            <a:ext cx="1005840" cy="100584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3000" b="1" i="0">
                <a:solidFill>
                  <a:srgbClr val="1B2A4A"/>
                </a:solidFill>
                <a:latin typeface="Cambria"/>
              </a:rPr>
              <a:t>04</a:t>
            </a:r>
          </a:p>
        </p:txBody>
      </p:sp>
      <p:sp>
        <p:nvSpPr>
          <p:cNvPr id="3" name="TextBox 2"/>
          <p:cNvSpPr txBox="1"/>
          <p:nvPr/>
        </p:nvSpPr>
        <p:spPr>
          <a:xfrm>
            <a:off x="2103120" y="3008376"/>
            <a:ext cx="9235440" cy="914400"/>
          </a:xfrm>
          <a:prstGeom prst="rect">
            <a:avLst/>
          </a:prstGeom>
          <a:noFill/>
        </p:spPr>
        <p:txBody>
          <a:bodyPr wrap="square" lIns="0" tIns="0" rIns="0" bIns="0" anchor="ctr">
            <a:spAutoFit/>
          </a:bodyPr>
          <a:lstStyle/>
          <a:p>
            <a:pPr algn="l"/>
            <a:r>
              <a:rPr sz="3600" b="1" i="0">
                <a:solidFill>
                  <a:srgbClr val="FFFFFF"/>
                </a:solidFill>
                <a:latin typeface="Cambria"/>
              </a:rPr>
              <a:t>Time Synchronization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10908792" cy="777240"/>
          </a:xfrm>
          <a:prstGeom prst="rect">
            <a:avLst/>
          </a:prstGeom>
          <a:noFill/>
        </p:spPr>
        <p:txBody>
          <a:bodyPr wrap="square" lIns="0" tIns="0" rIns="0" bIns="0" anchor="t">
            <a:spAutoFit/>
          </a:bodyPr>
          <a:lstStyle/>
          <a:p>
            <a:r>
              <a:rPr sz="2900" b="1" i="0">
                <a:solidFill>
                  <a:srgbClr val="1B2A4A"/>
                </a:solidFill>
                <a:latin typeface="Cambria"/>
              </a:rPr>
              <a:t>Chrony: Client &amp; Internal Stratum-2 Server</a:t>
            </a:r>
          </a:p>
        </p:txBody>
      </p:sp>
      <p:sp>
        <p:nvSpPr>
          <p:cNvPr id="3" name="TextBox 2"/>
          <p:cNvSpPr txBox="1"/>
          <p:nvPr/>
        </p:nvSpPr>
        <p:spPr>
          <a:xfrm>
            <a:off x="640080" y="1243584"/>
            <a:ext cx="10908792" cy="457200"/>
          </a:xfrm>
          <a:prstGeom prst="rect">
            <a:avLst/>
          </a:prstGeom>
          <a:noFill/>
        </p:spPr>
        <p:txBody>
          <a:bodyPr wrap="square" lIns="0" tIns="0" rIns="0" bIns="0" anchor="t">
            <a:spAutoFit/>
          </a:bodyPr>
          <a:lstStyle/>
          <a:p>
            <a:r>
              <a:rPr sz="1250" b="0" i="0">
                <a:solidFill>
                  <a:srgbClr val="3D5A80"/>
                </a:solidFill>
                <a:latin typeface="Calibri"/>
              </a:rPr>
              <a:t>This host syncs from the internet, then re-serves that time internally - one upstream dependency instead of every client reaching the internet directly.</a:t>
            </a:r>
          </a:p>
        </p:txBody>
      </p:sp>
      <p:sp>
        <p:nvSpPr>
          <p:cNvPr id="4" name="Rounded Rectangle 3"/>
          <p:cNvSpPr/>
          <p:nvPr/>
        </p:nvSpPr>
        <p:spPr>
          <a:xfrm>
            <a:off x="1202436" y="2148840"/>
            <a:ext cx="2926080" cy="777240"/>
          </a:xfrm>
          <a:prstGeom prst="round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300" b="1" i="0">
                <a:solidFill>
                  <a:srgbClr val="FFFFFF"/>
                </a:solidFill>
                <a:latin typeface="Calibri"/>
              </a:rPr>
              <a:t>Upstream NTP Pool</a:t>
            </a:r>
          </a:p>
          <a:p>
            <a:pPr algn="ctr"/>
            <a:r>
              <a:rPr sz="1050" b="0" i="0">
                <a:solidFill>
                  <a:srgbClr val="FFFFFF"/>
                </a:solidFill>
                <a:latin typeface="Calibri"/>
              </a:rPr>
              <a:t>(stratum 1, internet)</a:t>
            </a:r>
          </a:p>
        </p:txBody>
      </p:sp>
      <p:sp>
        <p:nvSpPr>
          <p:cNvPr id="5" name="Rounded Rectangle 4"/>
          <p:cNvSpPr/>
          <p:nvPr/>
        </p:nvSpPr>
        <p:spPr>
          <a:xfrm>
            <a:off x="4768596" y="2148840"/>
            <a:ext cx="2651760" cy="777240"/>
          </a:xfrm>
          <a:prstGeom prst="round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300" b="1" i="0">
                <a:solidFill>
                  <a:srgbClr val="FFFFFF"/>
                </a:solidFill>
                <a:latin typeface="Calibri"/>
              </a:rPr>
              <a:t>This Host</a:t>
            </a:r>
          </a:p>
          <a:p>
            <a:pPr algn="ctr"/>
            <a:r>
              <a:rPr sz="1050" b="0" i="0">
                <a:solidFill>
                  <a:srgbClr val="FFFFFF"/>
                </a:solidFill>
                <a:latin typeface="Calibri"/>
              </a:rPr>
              <a:t>chrony, stratum 2</a:t>
            </a:r>
          </a:p>
        </p:txBody>
      </p:sp>
      <p:sp>
        <p:nvSpPr>
          <p:cNvPr id="6" name="Rounded Rectangle 5"/>
          <p:cNvSpPr/>
          <p:nvPr/>
        </p:nvSpPr>
        <p:spPr>
          <a:xfrm>
            <a:off x="8060436" y="2148840"/>
            <a:ext cx="2926080" cy="777240"/>
          </a:xfrm>
          <a:prstGeom prst="round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300" b="1" i="0">
                <a:solidFill>
                  <a:srgbClr val="FFFFFF"/>
                </a:solidFill>
                <a:latin typeface="Calibri"/>
              </a:rPr>
              <a:t>Internal Clients</a:t>
            </a:r>
          </a:p>
          <a:p>
            <a:pPr algn="ctr"/>
            <a:r>
              <a:rPr sz="1050" b="0" i="0">
                <a:solidFill>
                  <a:srgbClr val="FFFFFF"/>
                </a:solidFill>
                <a:latin typeface="Calibri"/>
              </a:rPr>
              <a:t>(stratum 3)</a:t>
            </a:r>
          </a:p>
        </p:txBody>
      </p:sp>
      <p:cxnSp>
        <p:nvCxnSpPr>
          <p:cNvPr id="7" name="Connector 6"/>
          <p:cNvCxnSpPr/>
          <p:nvPr/>
        </p:nvCxnSpPr>
        <p:spPr>
          <a:xfrm>
            <a:off x="4128516" y="2537460"/>
            <a:ext cx="640080" cy="0"/>
          </a:xfrm>
          <a:prstGeom prst="line">
            <a:avLst/>
          </a:prstGeom>
          <a:ln w="28575">
            <a:solidFill>
              <a:srgbClr val="00B4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7420356" y="2537460"/>
            <a:ext cx="640080" cy="0"/>
          </a:xfrm>
          <a:prstGeom prst="line">
            <a:avLst/>
          </a:prstGeom>
          <a:ln w="28575">
            <a:solidFill>
              <a:srgbClr val="00B4D8"/>
            </a:solidFill>
            <a:tailEnd type="triangle" w="med" len="med"/>
          </a:ln>
        </p:spPr>
        <p:style>
          <a:lnRef idx="2">
            <a:schemeClr val="accent1"/>
          </a:lnRef>
          <a:fillRef idx="0">
            <a:schemeClr val="accent1"/>
          </a:fillRef>
          <a:effectRef idx="1">
            <a:schemeClr val="accent1"/>
          </a:effectRef>
          <a:fontRef idx="minor">
            <a:schemeClr val="tx1"/>
          </a:fontRef>
        </p:style>
      </p:cxnSp>
      <p:graphicFrame>
        <p:nvGraphicFramePr>
          <p:cNvPr id="9" name="Table 8"/>
          <p:cNvGraphicFramePr>
            <a:graphicFrameLocks noGrp="1"/>
          </p:cNvGraphicFramePr>
          <p:nvPr/>
        </p:nvGraphicFramePr>
        <p:xfrm>
          <a:off x="640080" y="3291840"/>
          <a:ext cx="10908792" cy="3291840"/>
        </p:xfrm>
        <a:graphic>
          <a:graphicData uri="http://schemas.openxmlformats.org/drawingml/2006/table">
            <a:tbl>
              <a:tblPr/>
              <a:tblGrid>
                <a:gridCol w="3017520">
                  <a:extLst>
                    <a:ext uri="{9D8B030D-6E8A-4147-A177-3AD203B41FA5}">
                      <a16:colId xmlns:a16="http://schemas.microsoft.com/office/drawing/2014/main" val="20000"/>
                    </a:ext>
                  </a:extLst>
                </a:gridCol>
                <a:gridCol w="7891272">
                  <a:extLst>
                    <a:ext uri="{9D8B030D-6E8A-4147-A177-3AD203B41FA5}">
                      <a16:colId xmlns:a16="http://schemas.microsoft.com/office/drawing/2014/main" val="20001"/>
                    </a:ext>
                  </a:extLst>
                </a:gridCol>
              </a:tblGrid>
              <a:tr h="658368">
                <a:tc>
                  <a:txBody>
                    <a:bodyPr/>
                    <a:lstStyle/>
                    <a:p>
                      <a:r>
                        <a:rPr sz="1250" b="1" i="0">
                          <a:solidFill>
                            <a:srgbClr val="FFFFFF"/>
                          </a:solidFill>
                          <a:latin typeface="Calibri"/>
                        </a:rPr>
                        <a:t>Directive</a:t>
                      </a:r>
                    </a:p>
                  </a:txBody>
                  <a:tcPr marL="82296" marR="82296" marT="27432" marB="27432" anchor="ctr">
                    <a:solidFill>
                      <a:srgbClr val="1B2A4A"/>
                    </a:solidFill>
                  </a:tcPr>
                </a:tc>
                <a:tc>
                  <a:txBody>
                    <a:bodyPr/>
                    <a:lstStyle/>
                    <a:p>
                      <a:r>
                        <a:rPr sz="1250" b="1" i="0">
                          <a:solidFill>
                            <a:srgbClr val="FFFFFF"/>
                          </a:solidFill>
                          <a:latin typeface="Calibri"/>
                        </a:rPr>
                        <a:t>What it does</a:t>
                      </a:r>
                    </a:p>
                  </a:txBody>
                  <a:tcPr marL="82296" marR="82296" marT="27432" marB="27432" anchor="ctr">
                    <a:solidFill>
                      <a:srgbClr val="1B2A4A"/>
                    </a:solidFill>
                  </a:tcPr>
                </a:tc>
                <a:extLst>
                  <a:ext uri="{0D108BD9-81ED-4DB2-BD59-A6C34878D82A}">
                    <a16:rowId xmlns:a16="http://schemas.microsoft.com/office/drawing/2014/main" val="10000"/>
                  </a:ext>
                </a:extLst>
              </a:tr>
              <a:tr h="658368">
                <a:tc>
                  <a:txBody>
                    <a:bodyPr/>
                    <a:lstStyle/>
                    <a:p>
                      <a:r>
                        <a:rPr sz="1050" b="1" i="0">
                          <a:solidFill>
                            <a:srgbClr val="1B2A4A"/>
                          </a:solidFill>
                          <a:latin typeface="Calibri"/>
                        </a:rPr>
                        <a:t>pool ... iburst maxsources 2</a:t>
                      </a:r>
                    </a:p>
                  </a:txBody>
                  <a:tcPr marL="82296" marR="82296" marT="27432" marB="27432" anchor="ctr">
                    <a:solidFill>
                      <a:srgbClr val="FFFFFF"/>
                    </a:solidFill>
                  </a:tcPr>
                </a:tc>
                <a:tc>
                  <a:txBody>
                    <a:bodyPr/>
                    <a:lstStyle/>
                    <a:p>
                      <a:r>
                        <a:rPr sz="1050" b="0" i="0">
                          <a:solidFill>
                            <a:srgbClr val="3D5A80"/>
                          </a:solidFill>
                          <a:latin typeface="Calibri"/>
                        </a:rPr>
                        <a:t>Upstream NTP pool servers, with fast initial sync</a:t>
                      </a:r>
                    </a:p>
                  </a:txBody>
                  <a:tcPr marL="82296" marR="82296" marT="27432" marB="27432" anchor="ctr">
                    <a:solidFill>
                      <a:srgbClr val="FFFFFF"/>
                    </a:solidFill>
                  </a:tcPr>
                </a:tc>
                <a:extLst>
                  <a:ext uri="{0D108BD9-81ED-4DB2-BD59-A6C34878D82A}">
                    <a16:rowId xmlns:a16="http://schemas.microsoft.com/office/drawing/2014/main" val="10001"/>
                  </a:ext>
                </a:extLst>
              </a:tr>
              <a:tr h="658368">
                <a:tc>
                  <a:txBody>
                    <a:bodyPr/>
                    <a:lstStyle/>
                    <a:p>
                      <a:r>
                        <a:rPr sz="1050" b="1" i="0">
                          <a:solidFill>
                            <a:srgbClr val="1B2A4A"/>
                          </a:solidFill>
                          <a:latin typeface="Calibri"/>
                        </a:rPr>
                        <a:t>allow 10.0.0.0/24</a:t>
                      </a:r>
                    </a:p>
                  </a:txBody>
                  <a:tcPr marL="82296" marR="82296" marT="27432" marB="27432" anchor="ctr">
                    <a:solidFill>
                      <a:srgbClr val="E8EEF7"/>
                    </a:solidFill>
                  </a:tcPr>
                </a:tc>
                <a:tc>
                  <a:txBody>
                    <a:bodyPr/>
                    <a:lstStyle/>
                    <a:p>
                      <a:r>
                        <a:rPr sz="1050" b="0" i="0">
                          <a:solidFill>
                            <a:srgbClr val="3D5A80"/>
                          </a:solidFill>
                          <a:latin typeface="Calibri"/>
                        </a:rPr>
                        <a:t>Permits the internal network to sync from this server</a:t>
                      </a:r>
                    </a:p>
                  </a:txBody>
                  <a:tcPr marL="82296" marR="82296" marT="27432" marB="27432" anchor="ctr">
                    <a:solidFill>
                      <a:srgbClr val="E8EEF7"/>
                    </a:solidFill>
                  </a:tcPr>
                </a:tc>
                <a:extLst>
                  <a:ext uri="{0D108BD9-81ED-4DB2-BD59-A6C34878D82A}">
                    <a16:rowId xmlns:a16="http://schemas.microsoft.com/office/drawing/2014/main" val="10002"/>
                  </a:ext>
                </a:extLst>
              </a:tr>
              <a:tr h="658368">
                <a:tc>
                  <a:txBody>
                    <a:bodyPr/>
                    <a:lstStyle/>
                    <a:p>
                      <a:r>
                        <a:rPr sz="1050" b="1" i="0">
                          <a:solidFill>
                            <a:srgbClr val="1B2A4A"/>
                          </a:solidFill>
                          <a:latin typeface="Calibri"/>
                        </a:rPr>
                        <a:t>local stratum 2</a:t>
                      </a:r>
                    </a:p>
                  </a:txBody>
                  <a:tcPr marL="82296" marR="82296" marT="27432" marB="27432" anchor="ctr">
                    <a:solidFill>
                      <a:srgbClr val="FFFFFF"/>
                    </a:solidFill>
                  </a:tcPr>
                </a:tc>
                <a:tc>
                  <a:txBody>
                    <a:bodyPr/>
                    <a:lstStyle/>
                    <a:p>
                      <a:r>
                        <a:rPr sz="1050" b="0" i="0">
                          <a:solidFill>
                            <a:srgbClr val="3D5A80"/>
                          </a:solidFill>
                          <a:latin typeface="Calibri"/>
                        </a:rPr>
                        <a:t>Keep serving time even if upstream is unreachable</a:t>
                      </a:r>
                    </a:p>
                  </a:txBody>
                  <a:tcPr marL="82296" marR="82296" marT="27432" marB="27432" anchor="ctr">
                    <a:solidFill>
                      <a:srgbClr val="FFFFFF"/>
                    </a:solidFill>
                  </a:tcPr>
                </a:tc>
                <a:extLst>
                  <a:ext uri="{0D108BD9-81ED-4DB2-BD59-A6C34878D82A}">
                    <a16:rowId xmlns:a16="http://schemas.microsoft.com/office/drawing/2014/main" val="10003"/>
                  </a:ext>
                </a:extLst>
              </a:tr>
              <a:tr h="658368">
                <a:tc>
                  <a:txBody>
                    <a:bodyPr/>
                    <a:lstStyle/>
                    <a:p>
                      <a:r>
                        <a:rPr sz="1050" b="1" i="0">
                          <a:solidFill>
                            <a:srgbClr val="1B2A4A"/>
                          </a:solidFill>
                          <a:latin typeface="Calibri"/>
                        </a:rPr>
                        <a:t>makestep 1.0 3</a:t>
                      </a:r>
                    </a:p>
                  </a:txBody>
                  <a:tcPr marL="82296" marR="82296" marT="27432" marB="27432" anchor="ctr">
                    <a:solidFill>
                      <a:srgbClr val="E8EEF7"/>
                    </a:solidFill>
                  </a:tcPr>
                </a:tc>
                <a:tc>
                  <a:txBody>
                    <a:bodyPr/>
                    <a:lstStyle/>
                    <a:p>
                      <a:r>
                        <a:rPr sz="1050" b="0" i="0">
                          <a:solidFill>
                            <a:srgbClr val="3D5A80"/>
                          </a:solidFill>
                          <a:latin typeface="Calibri"/>
                        </a:rPr>
                        <a:t>Step (not slew) the clock if off by &gt;1s, for the first 3 updates</a:t>
                      </a:r>
                    </a:p>
                  </a:txBody>
                  <a:tcPr marL="82296" marR="82296" marT="27432" marB="27432" anchor="ctr">
                    <a:solidFill>
                      <a:srgbClr val="E8EEF7"/>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10908792" cy="777240"/>
          </a:xfrm>
          <a:prstGeom prst="rect">
            <a:avLst/>
          </a:prstGeom>
          <a:noFill/>
        </p:spPr>
        <p:txBody>
          <a:bodyPr wrap="square" lIns="0" tIns="0" rIns="0" bIns="0" anchor="t">
            <a:spAutoFit/>
          </a:bodyPr>
          <a:lstStyle/>
          <a:p>
            <a:r>
              <a:rPr sz="2900" b="1" i="0">
                <a:solidFill>
                  <a:srgbClr val="1B2A4A"/>
                </a:solidFill>
                <a:latin typeface="Cambria"/>
              </a:rPr>
              <a:t>NTP vs PTP</a:t>
            </a:r>
          </a:p>
        </p:txBody>
      </p:sp>
      <p:sp>
        <p:nvSpPr>
          <p:cNvPr id="3" name="TextBox 2"/>
          <p:cNvSpPr txBox="1"/>
          <p:nvPr/>
        </p:nvSpPr>
        <p:spPr>
          <a:xfrm>
            <a:off x="640080" y="1243584"/>
            <a:ext cx="10908792" cy="365760"/>
          </a:xfrm>
          <a:prstGeom prst="rect">
            <a:avLst/>
          </a:prstGeom>
          <a:noFill/>
        </p:spPr>
        <p:txBody>
          <a:bodyPr wrap="square" lIns="0" tIns="0" rIns="0" bIns="0" anchor="t">
            <a:spAutoFit/>
          </a:bodyPr>
          <a:lstStyle/>
          <a:p>
            <a:r>
              <a:rPr sz="1250" b="0" i="0">
                <a:solidFill>
                  <a:srgbClr val="3D5A80"/>
                </a:solidFill>
                <a:latin typeface="Calibri"/>
              </a:rPr>
              <a:t>Chrony covers this lab's Kerberos/log-correlation/TLS needs - PTP solves a different, much more precise problem.</a:t>
            </a:r>
          </a:p>
        </p:txBody>
      </p:sp>
      <p:graphicFrame>
        <p:nvGraphicFramePr>
          <p:cNvPr id="4" name="Table 3"/>
          <p:cNvGraphicFramePr>
            <a:graphicFrameLocks noGrp="1"/>
          </p:cNvGraphicFramePr>
          <p:nvPr/>
        </p:nvGraphicFramePr>
        <p:xfrm>
          <a:off x="640080" y="1874519"/>
          <a:ext cx="10908792" cy="4709160"/>
        </p:xfrm>
        <a:graphic>
          <a:graphicData uri="http://schemas.openxmlformats.org/drawingml/2006/table">
            <a:tbl>
              <a:tblPr/>
              <a:tblGrid>
                <a:gridCol w="1920240">
                  <a:extLst>
                    <a:ext uri="{9D8B030D-6E8A-4147-A177-3AD203B41FA5}">
                      <a16:colId xmlns:a16="http://schemas.microsoft.com/office/drawing/2014/main" val="20000"/>
                    </a:ext>
                  </a:extLst>
                </a:gridCol>
                <a:gridCol w="4480560">
                  <a:extLst>
                    <a:ext uri="{9D8B030D-6E8A-4147-A177-3AD203B41FA5}">
                      <a16:colId xmlns:a16="http://schemas.microsoft.com/office/drawing/2014/main" val="20001"/>
                    </a:ext>
                  </a:extLst>
                </a:gridCol>
                <a:gridCol w="4507992">
                  <a:extLst>
                    <a:ext uri="{9D8B030D-6E8A-4147-A177-3AD203B41FA5}">
                      <a16:colId xmlns:a16="http://schemas.microsoft.com/office/drawing/2014/main" val="20002"/>
                    </a:ext>
                  </a:extLst>
                </a:gridCol>
              </a:tblGrid>
              <a:tr h="784860">
                <a:tc>
                  <a:txBody>
                    <a:bodyPr/>
                    <a:lstStyle/>
                    <a:p>
                      <a:endParaRPr/>
                    </a:p>
                  </a:txBody>
                  <a:tcPr marL="82296" marR="82296" marT="27432" marB="27432" anchor="ctr">
                    <a:solidFill>
                      <a:srgbClr val="1B2A4A"/>
                    </a:solidFill>
                  </a:tcPr>
                </a:tc>
                <a:tc>
                  <a:txBody>
                    <a:bodyPr/>
                    <a:lstStyle/>
                    <a:p>
                      <a:r>
                        <a:rPr sz="1250" b="1" i="0">
                          <a:solidFill>
                            <a:srgbClr val="FFFFFF"/>
                          </a:solidFill>
                          <a:latin typeface="Calibri"/>
                        </a:rPr>
                        <a:t>NTP (chrony)</a:t>
                      </a:r>
                    </a:p>
                  </a:txBody>
                  <a:tcPr marL="82296" marR="82296" marT="27432" marB="27432" anchor="ctr">
                    <a:solidFill>
                      <a:srgbClr val="1B2A4A"/>
                    </a:solidFill>
                  </a:tcPr>
                </a:tc>
                <a:tc>
                  <a:txBody>
                    <a:bodyPr/>
                    <a:lstStyle/>
                    <a:p>
                      <a:r>
                        <a:rPr sz="1250" b="1" i="0">
                          <a:solidFill>
                            <a:srgbClr val="FFFFFF"/>
                          </a:solidFill>
                          <a:latin typeface="Calibri"/>
                        </a:rPr>
                        <a:t>PTP (IEEE 1588)</a:t>
                      </a:r>
                    </a:p>
                  </a:txBody>
                  <a:tcPr marL="82296" marR="82296" marT="27432" marB="27432" anchor="ctr">
                    <a:solidFill>
                      <a:srgbClr val="1B2A4A"/>
                    </a:solidFill>
                  </a:tcPr>
                </a:tc>
                <a:extLst>
                  <a:ext uri="{0D108BD9-81ED-4DB2-BD59-A6C34878D82A}">
                    <a16:rowId xmlns:a16="http://schemas.microsoft.com/office/drawing/2014/main" val="10000"/>
                  </a:ext>
                </a:extLst>
              </a:tr>
              <a:tr h="784860">
                <a:tc>
                  <a:txBody>
                    <a:bodyPr/>
                    <a:lstStyle/>
                    <a:p>
                      <a:r>
                        <a:rPr sz="1050" b="1" i="0">
                          <a:solidFill>
                            <a:srgbClr val="1B2A4A"/>
                          </a:solidFill>
                          <a:latin typeface="Calibri"/>
                        </a:rPr>
                        <a:t>Typical accuracy</a:t>
                      </a:r>
                    </a:p>
                  </a:txBody>
                  <a:tcPr marL="82296" marR="82296" marT="27432" marB="27432" anchor="ctr">
                    <a:solidFill>
                      <a:srgbClr val="FFFFFF"/>
                    </a:solidFill>
                  </a:tcPr>
                </a:tc>
                <a:tc>
                  <a:txBody>
                    <a:bodyPr/>
                    <a:lstStyle/>
                    <a:p>
                      <a:r>
                        <a:rPr sz="1050" b="0" i="0">
                          <a:solidFill>
                            <a:srgbClr val="3D5A80"/>
                          </a:solidFill>
                          <a:latin typeface="Calibri"/>
                        </a:rPr>
                        <a:t>Low single-digit ms over a WAN, sub-ms on a clean LAN</a:t>
                      </a:r>
                    </a:p>
                  </a:txBody>
                  <a:tcPr marL="82296" marR="82296" marT="27432" marB="27432" anchor="ctr">
                    <a:solidFill>
                      <a:srgbClr val="FFFFFF"/>
                    </a:solidFill>
                  </a:tcPr>
                </a:tc>
                <a:tc>
                  <a:txBody>
                    <a:bodyPr/>
                    <a:lstStyle/>
                    <a:p>
                      <a:r>
                        <a:rPr sz="1050" b="0" i="0">
                          <a:solidFill>
                            <a:srgbClr val="3D5A80"/>
                          </a:solidFill>
                          <a:latin typeface="Calibri"/>
                        </a:rPr>
                        <a:t>Sub-microsecond, even nanosecond, with hardware timestamping</a:t>
                      </a:r>
                    </a:p>
                  </a:txBody>
                  <a:tcPr marL="82296" marR="82296" marT="27432" marB="27432" anchor="ctr">
                    <a:solidFill>
                      <a:srgbClr val="FFFFFF"/>
                    </a:solidFill>
                  </a:tcPr>
                </a:tc>
                <a:extLst>
                  <a:ext uri="{0D108BD9-81ED-4DB2-BD59-A6C34878D82A}">
                    <a16:rowId xmlns:a16="http://schemas.microsoft.com/office/drawing/2014/main" val="10001"/>
                  </a:ext>
                </a:extLst>
              </a:tr>
              <a:tr h="784860">
                <a:tc>
                  <a:txBody>
                    <a:bodyPr/>
                    <a:lstStyle/>
                    <a:p>
                      <a:r>
                        <a:rPr sz="1050" b="1" i="0">
                          <a:solidFill>
                            <a:srgbClr val="1B2A4A"/>
                          </a:solidFill>
                          <a:latin typeface="Calibri"/>
                        </a:rPr>
                        <a:t>Timestamping</a:t>
                      </a:r>
                    </a:p>
                  </a:txBody>
                  <a:tcPr marL="82296" marR="82296" marT="27432" marB="27432" anchor="ctr">
                    <a:solidFill>
                      <a:srgbClr val="E8EEF7"/>
                    </a:solidFill>
                  </a:tcPr>
                </a:tc>
                <a:tc>
                  <a:txBody>
                    <a:bodyPr/>
                    <a:lstStyle/>
                    <a:p>
                      <a:r>
                        <a:rPr sz="1050" b="0" i="0">
                          <a:solidFill>
                            <a:srgbClr val="3D5A80"/>
                          </a:solidFill>
                          <a:latin typeface="Calibri"/>
                        </a:rPr>
                        <a:t>Software, taken in the OS network stack</a:t>
                      </a:r>
                    </a:p>
                  </a:txBody>
                  <a:tcPr marL="82296" marR="82296" marT="27432" marB="27432" anchor="ctr">
                    <a:solidFill>
                      <a:srgbClr val="E8EEF7"/>
                    </a:solidFill>
                  </a:tcPr>
                </a:tc>
                <a:tc>
                  <a:txBody>
                    <a:bodyPr/>
                    <a:lstStyle/>
                    <a:p>
                      <a:r>
                        <a:rPr sz="1050" b="0" i="0">
                          <a:solidFill>
                            <a:srgbClr val="3D5A80"/>
                          </a:solidFill>
                          <a:latin typeface="Calibri"/>
                        </a:rPr>
                        <a:t>Hardware, taken at the NIC as the packet crosses the wire</a:t>
                      </a:r>
                    </a:p>
                  </a:txBody>
                  <a:tcPr marL="82296" marR="82296" marT="27432" marB="27432" anchor="ctr">
                    <a:solidFill>
                      <a:srgbClr val="E8EEF7"/>
                    </a:solidFill>
                  </a:tcPr>
                </a:tc>
                <a:extLst>
                  <a:ext uri="{0D108BD9-81ED-4DB2-BD59-A6C34878D82A}">
                    <a16:rowId xmlns:a16="http://schemas.microsoft.com/office/drawing/2014/main" val="10002"/>
                  </a:ext>
                </a:extLst>
              </a:tr>
              <a:tr h="784860">
                <a:tc>
                  <a:txBody>
                    <a:bodyPr/>
                    <a:lstStyle/>
                    <a:p>
                      <a:r>
                        <a:rPr sz="1050" b="1" i="0">
                          <a:solidFill>
                            <a:srgbClr val="1B2A4A"/>
                          </a:solidFill>
                          <a:latin typeface="Calibri"/>
                        </a:rPr>
                        <a:t>Topology</a:t>
                      </a:r>
                    </a:p>
                  </a:txBody>
                  <a:tcPr marL="82296" marR="82296" marT="27432" marB="27432" anchor="ctr">
                    <a:solidFill>
                      <a:srgbClr val="FFFFFF"/>
                    </a:solidFill>
                  </a:tcPr>
                </a:tc>
                <a:tc>
                  <a:txBody>
                    <a:bodyPr/>
                    <a:lstStyle/>
                    <a:p>
                      <a:r>
                        <a:rPr sz="1050" b="0" i="0">
                          <a:solidFill>
                            <a:srgbClr val="3D5A80"/>
                          </a:solidFill>
                          <a:latin typeface="Calibri"/>
                        </a:rPr>
                        <a:t>Client-server (or peer) polling against pool servers</a:t>
                      </a:r>
                    </a:p>
                  </a:txBody>
                  <a:tcPr marL="82296" marR="82296" marT="27432" marB="27432" anchor="ctr">
                    <a:solidFill>
                      <a:srgbClr val="FFFFFF"/>
                    </a:solidFill>
                  </a:tcPr>
                </a:tc>
                <a:tc>
                  <a:txBody>
                    <a:bodyPr/>
                    <a:lstStyle/>
                    <a:p>
                      <a:r>
                        <a:rPr sz="1050" b="0" i="0">
                          <a:solidFill>
                            <a:srgbClr val="3D5A80"/>
                          </a:solidFill>
                          <a:latin typeface="Calibri"/>
                        </a:rPr>
                        <a:t>Master-slave within a single administrative LAN/PTP domain</a:t>
                      </a:r>
                    </a:p>
                  </a:txBody>
                  <a:tcPr marL="82296" marR="82296" marT="27432" marB="27432" anchor="ctr">
                    <a:solidFill>
                      <a:srgbClr val="FFFFFF"/>
                    </a:solidFill>
                  </a:tcPr>
                </a:tc>
                <a:extLst>
                  <a:ext uri="{0D108BD9-81ED-4DB2-BD59-A6C34878D82A}">
                    <a16:rowId xmlns:a16="http://schemas.microsoft.com/office/drawing/2014/main" val="10003"/>
                  </a:ext>
                </a:extLst>
              </a:tr>
              <a:tr h="784860">
                <a:tc>
                  <a:txBody>
                    <a:bodyPr/>
                    <a:lstStyle/>
                    <a:p>
                      <a:r>
                        <a:rPr sz="1050" b="1" i="0">
                          <a:solidFill>
                            <a:srgbClr val="1B2A4A"/>
                          </a:solidFill>
                          <a:latin typeface="Calibri"/>
                        </a:rPr>
                        <a:t>Hardware needs</a:t>
                      </a:r>
                    </a:p>
                  </a:txBody>
                  <a:tcPr marL="82296" marR="82296" marT="27432" marB="27432" anchor="ctr">
                    <a:solidFill>
                      <a:srgbClr val="E8EEF7"/>
                    </a:solidFill>
                  </a:tcPr>
                </a:tc>
                <a:tc>
                  <a:txBody>
                    <a:bodyPr/>
                    <a:lstStyle/>
                    <a:p>
                      <a:r>
                        <a:rPr sz="1050" b="0" i="0">
                          <a:solidFill>
                            <a:srgbClr val="3D5A80"/>
                          </a:solidFill>
                          <a:latin typeface="Calibri"/>
                        </a:rPr>
                        <a:t>None - runs on any NIC</a:t>
                      </a:r>
                    </a:p>
                  </a:txBody>
                  <a:tcPr marL="82296" marR="82296" marT="27432" marB="27432" anchor="ctr">
                    <a:solidFill>
                      <a:srgbClr val="E8EEF7"/>
                    </a:solidFill>
                  </a:tcPr>
                </a:tc>
                <a:tc>
                  <a:txBody>
                    <a:bodyPr/>
                    <a:lstStyle/>
                    <a:p>
                      <a:r>
                        <a:rPr sz="1050" b="0" i="0">
                          <a:solidFill>
                            <a:srgbClr val="3D5A80"/>
                          </a:solidFill>
                          <a:latin typeface="Calibri"/>
                        </a:rPr>
                        <a:t>PTP-aware NICs/switches to realize the accuracy advantage</a:t>
                      </a:r>
                    </a:p>
                  </a:txBody>
                  <a:tcPr marL="82296" marR="82296" marT="27432" marB="27432" anchor="ctr">
                    <a:solidFill>
                      <a:srgbClr val="E8EEF7"/>
                    </a:solidFill>
                  </a:tcPr>
                </a:tc>
                <a:extLst>
                  <a:ext uri="{0D108BD9-81ED-4DB2-BD59-A6C34878D82A}">
                    <a16:rowId xmlns:a16="http://schemas.microsoft.com/office/drawing/2014/main" val="10004"/>
                  </a:ext>
                </a:extLst>
              </a:tr>
              <a:tr h="784860">
                <a:tc>
                  <a:txBody>
                    <a:bodyPr/>
                    <a:lstStyle/>
                    <a:p>
                      <a:r>
                        <a:rPr sz="1050" b="1" i="0">
                          <a:solidFill>
                            <a:srgbClr val="1B2A4A"/>
                          </a:solidFill>
                          <a:latin typeface="Calibri"/>
                        </a:rPr>
                        <a:t>Common use</a:t>
                      </a:r>
                    </a:p>
                  </a:txBody>
                  <a:tcPr marL="82296" marR="82296" marT="27432" marB="27432" anchor="ctr">
                    <a:solidFill>
                      <a:srgbClr val="FFFFFF"/>
                    </a:solidFill>
                  </a:tcPr>
                </a:tc>
                <a:tc>
                  <a:txBody>
                    <a:bodyPr/>
                    <a:lstStyle/>
                    <a:p>
                      <a:r>
                        <a:rPr sz="1050" b="0" i="0">
                          <a:solidFill>
                            <a:srgbClr val="3D5A80"/>
                          </a:solidFill>
                          <a:latin typeface="Calibri"/>
                        </a:rPr>
                        <a:t>Kerberos, TLS validity, log correlation, cron</a:t>
                      </a:r>
                    </a:p>
                  </a:txBody>
                  <a:tcPr marL="82296" marR="82296" marT="27432" marB="27432" anchor="ctr">
                    <a:solidFill>
                      <a:srgbClr val="FFFFFF"/>
                    </a:solidFill>
                  </a:tcPr>
                </a:tc>
                <a:tc>
                  <a:txBody>
                    <a:bodyPr/>
                    <a:lstStyle/>
                    <a:p>
                      <a:r>
                        <a:rPr sz="1050" b="0" i="0">
                          <a:solidFill>
                            <a:srgbClr val="3D5A80"/>
                          </a:solidFill>
                          <a:latin typeface="Calibri"/>
                        </a:rPr>
                        <a:t>Financial trading, telecom (5G), industrial control, broadcast</a:t>
                      </a:r>
                    </a:p>
                  </a:txBody>
                  <a:tcPr marL="82296" marR="82296" marT="27432" marB="27432" anchor="ctr">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2"/>
          <p:cNvSpPr txBox="1"/>
          <p:nvPr/>
        </p:nvSpPr>
        <p:spPr>
          <a:xfrm>
            <a:off x="640080" y="457200"/>
            <a:ext cx="10908792" cy="777240"/>
          </a:xfrm>
          <a:prstGeom prst="rect">
            <a:avLst/>
          </a:prstGeom>
          <a:noFill/>
        </p:spPr>
        <p:txBody>
          <a:bodyPr wrap="square" anchor="t" lIns="0" rIns="0" tIns="0" bIns="0">
            <a:spAutoFit/>
          </a:bodyPr>
          <a:lstStyle/>
          <a:p>
            <a:r>
              <a:rPr sz="2900" b="1" i="0">
                <a:solidFill>
                  <a:srgbClr val="1B2A4A"/>
                </a:solidFill>
                <a:latin typeface="Cambria"/>
              </a:rPr>
              <a:t>Attacks &amp; Defenses: Time Synchronization</a:t>
            </a:r>
          </a:p>
        </p:txBody>
      </p:sp>
      <p:sp>
        <p:nvSpPr>
          <p:cNvPr id="3" name="TextBox 3"/>
          <p:cNvSpPr txBox="1"/>
          <p:nvPr/>
        </p:nvSpPr>
        <p:spPr>
          <a:xfrm>
            <a:off x="640080" y="1243584"/>
            <a:ext cx="10908792" cy="365760"/>
          </a:xfrm>
          <a:prstGeom prst="rect">
            <a:avLst/>
          </a:prstGeom>
          <a:noFill/>
        </p:spPr>
        <p:txBody>
          <a:bodyPr wrap="square" anchor="t" lIns="0" rIns="0" tIns="0" bIns="0">
            <a:spAutoFit/>
          </a:bodyPr>
          <a:lstStyle/>
          <a:p>
            <a:r>
              <a:rPr sz="1250" b="0" i="0">
                <a:solidFill>
                  <a:srgbClr val="3D5A80"/>
                </a:solidFill>
                <a:latin typeface="Calibri"/>
              </a:rPr>
              <a:t>chrony's own config already answers two of these - the rest are why NTP is worth watching, not just setting and forgetting.</a:t>
            </a:r>
          </a:p>
        </p:txBody>
      </p:sp>
      <p:graphicFrame>
        <p:nvGraphicFramePr>
          <p:cNvPr id="4" name="Table 4"/>
          <p:cNvGraphicFramePr>
            <a:graphicFrameLocks noGrp="1"/>
          </p:cNvGraphicFramePr>
          <p:nvPr/>
        </p:nvGraphicFramePr>
        <p:xfrm>
          <a:off x="640080" y="1828800"/>
          <a:ext cx="10908792" cy="4754880"/>
        </p:xfrm>
        <a:graphic>
          <a:graphicData uri="http://schemas.openxmlformats.org/drawingml/2006/table">
            <a:tbl>
              <a:tblPr firstRow="0" bandRow="0"/>
              <a:tblGrid>
                <a:gridCol w="2600000"/>
                <a:gridCol w="4200000"/>
                <a:gridCol w="4108792"/>
              </a:tblGrid>
              <a:tr h="792480">
                <a:tc>
                  <a:txBody>
                    <a:bodyPr wrap="square"/>
                    <a:lstStyle/>
                    <a:p>
                      <a:r>
                        <a:rPr sz="1200" b="1" i="0">
                          <a:solidFill>
                            <a:srgbClr val="FFFFFF"/>
                          </a:solidFill>
                          <a:latin typeface="Calibri"/>
                        </a:rPr>
                        <a:t>Attack</a:t>
                      </a:r>
                    </a:p>
                  </a:txBody>
                  <a:tcPr anchor="ctr" marL="82296" marR="82296" marT="27432" marB="27432">
                    <a:solidFill>
                      <a:srgbClr val="1B2A4A"/>
                    </a:solidFill>
                  </a:tcPr>
                </a:tc>
                <a:tc>
                  <a:txBody>
                    <a:bodyPr wrap="square"/>
                    <a:lstStyle/>
                    <a:p>
                      <a:r>
                        <a:rPr sz="1200" b="1" i="0">
                          <a:solidFill>
                            <a:srgbClr val="FFFFFF"/>
                          </a:solidFill>
                          <a:latin typeface="Calibri"/>
                        </a:rPr>
                        <a:t>How It Works</a:t>
                      </a:r>
                    </a:p>
                  </a:txBody>
                  <a:tcPr anchor="ctr" marL="82296" marR="82296" marT="27432" marB="27432">
                    <a:solidFill>
                      <a:srgbClr val="1B2A4A"/>
                    </a:solidFill>
                  </a:tcPr>
                </a:tc>
                <a:tc>
                  <a:txBody>
                    <a:bodyPr wrap="square"/>
                    <a:lstStyle/>
                    <a:p>
                      <a:r>
                        <a:rPr sz="1200" b="1" i="0">
                          <a:solidFill>
                            <a:srgbClr val="FFFFFF"/>
                          </a:solidFill>
                          <a:latin typeface="Calibri"/>
                        </a:rPr>
                        <a:t>Defense</a:t>
                      </a:r>
                    </a:p>
                  </a:txBody>
                  <a:tcPr anchor="ctr" marL="82296" marR="82296" marT="27432" marB="27432">
                    <a:solidFill>
                      <a:srgbClr val="1B2A4A"/>
                    </a:solidFill>
                  </a:tcPr>
                </a:tc>
              </a:tr>
              <a:tr h="792480">
                <a:tc>
                  <a:txBody>
                    <a:bodyPr wrap="square"/>
                    <a:lstStyle/>
                    <a:p>
                      <a:r>
                        <a:rPr sz="1050" b="1" i="0">
                          <a:solidFill>
                            <a:srgbClr val="1B2A4A"/>
                          </a:solidFill>
                          <a:latin typeface="Calibri"/>
                        </a:rPr>
                        <a:t>NTP spoofing</a:t>
                      </a:r>
                    </a:p>
                  </a:txBody>
                  <a:tcPr anchor="ctr" marL="82296" marR="82296" marT="27432" marB="27432">
                    <a:solidFill>
                      <a:srgbClr val="FFFFFF"/>
                    </a:solidFill>
                  </a:tcPr>
                </a:tc>
                <a:tc>
                  <a:txBody>
                    <a:bodyPr wrap="square"/>
                    <a:lstStyle/>
                    <a:p>
                      <a:r>
                        <a:rPr sz="1050" b="0" i="0">
                          <a:solidFill>
                            <a:srgbClr val="3D5A80"/>
                          </a:solidFill>
                          <a:latin typeface="Calibri"/>
                        </a:rPr>
                        <a:t>An attacker sends forged time responses, skewing a clock with no authentication to detect it</a:t>
                      </a:r>
                    </a:p>
                  </a:txBody>
                  <a:tcPr anchor="ctr" marL="82296" marR="82296" marT="27432" marB="27432">
                    <a:solidFill>
                      <a:srgbClr val="FFFFFF"/>
                    </a:solidFill>
                  </a:tcPr>
                </a:tc>
                <a:tc>
                  <a:txBody>
                    <a:bodyPr wrap="square"/>
                    <a:lstStyle/>
                    <a:p>
                      <a:r>
                        <a:rPr sz="1050" b="0" i="0">
                          <a:solidFill>
                            <a:srgbClr val="3D5A80"/>
                          </a:solidFill>
                          <a:latin typeface="Calibri"/>
                        </a:rPr>
                        <a:t>NTS (Network Time Security) authenticates the source - parallel to TSIG for DNS</a:t>
                      </a:r>
                    </a:p>
                  </a:txBody>
                  <a:tcPr anchor="ctr" marL="82296" marR="82296" marT="27432" marB="27432">
                    <a:solidFill>
                      <a:srgbClr val="FFFFFF"/>
                    </a:solidFill>
                  </a:tcPr>
                </a:tc>
              </a:tr>
              <a:tr h="792480">
                <a:tc>
                  <a:txBody>
                    <a:bodyPr wrap="square"/>
                    <a:lstStyle/>
                    <a:p>
                      <a:r>
                        <a:rPr sz="1050" b="1" i="0">
                          <a:solidFill>
                            <a:srgbClr val="1B2A4A"/>
                          </a:solidFill>
                          <a:latin typeface="Calibri"/>
                        </a:rPr>
                        <a:t>Clock-skew auth bypass/DoS</a:t>
                      </a:r>
                    </a:p>
                  </a:txBody>
                  <a:tcPr anchor="ctr" marL="82296" marR="82296" marT="27432" marB="27432">
                    <a:solidFill>
                      <a:srgbClr val="E8EEF7"/>
                    </a:solidFill>
                  </a:tcPr>
                </a:tc>
                <a:tc>
                  <a:txBody>
                    <a:bodyPr wrap="square"/>
                    <a:lstStyle/>
                    <a:p>
                      <a:r>
                        <a:rPr sz="1050" b="0" i="0">
                          <a:solidFill>
                            <a:srgbClr val="3D5A80"/>
                          </a:solidFill>
                          <a:latin typeface="Calibri"/>
                        </a:rPr>
                        <a:t>Kerberos and TLS depend on synced clocks; enough drift breaks authentication outright</a:t>
                      </a:r>
                    </a:p>
                  </a:txBody>
                  <a:tcPr anchor="ctr" marL="82296" marR="82296" marT="27432" marB="27432">
                    <a:solidFill>
                      <a:srgbClr val="E8EEF7"/>
                    </a:solidFill>
                  </a:tcPr>
                </a:tc>
                <a:tc>
                  <a:txBody>
                    <a:bodyPr wrap="square"/>
                    <a:lstStyle/>
                    <a:p>
                      <a:r>
                        <a:rPr sz="1050" b="0" i="0">
                          <a:solidFill>
                            <a:srgbClr val="3D5A80"/>
                          </a:solidFill>
                          <a:latin typeface="Calibri"/>
                        </a:rPr>
                        <a:t>Monitor chronyc tracking drift; alert on a host falling out of sync</a:t>
                      </a:r>
                    </a:p>
                  </a:txBody>
                  <a:tcPr anchor="ctr" marL="82296" marR="82296" marT="27432" marB="27432">
                    <a:solidFill>
                      <a:srgbClr val="E8EEF7"/>
                    </a:solidFill>
                  </a:tcPr>
                </a:tc>
              </a:tr>
              <a:tr h="792480">
                <a:tc>
                  <a:txBody>
                    <a:bodyPr wrap="square"/>
                    <a:lstStyle/>
                    <a:p>
                      <a:r>
                        <a:rPr sz="1050" b="1" i="0">
                          <a:solidFill>
                            <a:srgbClr val="1B2A4A"/>
                          </a:solidFill>
                          <a:latin typeface="Calibri"/>
                        </a:rPr>
                        <a:t>NTP amplification (DDoS)</a:t>
                      </a:r>
                    </a:p>
                  </a:txBody>
                  <a:tcPr anchor="ctr" marL="82296" marR="82296" marT="27432" marB="27432">
                    <a:solidFill>
                      <a:srgbClr val="FFFFFF"/>
                    </a:solidFill>
                  </a:tcPr>
                </a:tc>
                <a:tc>
                  <a:txBody>
                    <a:bodyPr wrap="square"/>
                    <a:lstStyle/>
                    <a:p>
                      <a:r>
                        <a:rPr sz="1050" b="0" i="0">
                          <a:solidFill>
                            <a:srgbClr val="3D5A80"/>
                          </a:solidFill>
                          <a:latin typeface="Calibri"/>
                        </a:rPr>
                        <a:t>Legacy query modes (e.g. monlist) return a response much larger than the request, ideal for reflection</a:t>
                      </a:r>
                    </a:p>
                  </a:txBody>
                  <a:tcPr anchor="ctr" marL="82296" marR="82296" marT="27432" marB="27432">
                    <a:solidFill>
                      <a:srgbClr val="FFFFFF"/>
                    </a:solidFill>
                  </a:tcPr>
                </a:tc>
                <a:tc>
                  <a:txBody>
                    <a:bodyPr wrap="square"/>
                    <a:lstStyle/>
                    <a:p>
                      <a:r>
                        <a:rPr sz="1050" b="0" i="0">
                          <a:solidFill>
                            <a:srgbClr val="3D5A80"/>
                          </a:solidFill>
                          <a:latin typeface="Calibri"/>
                        </a:rPr>
                        <a:t>Disable legacy modes; chrony doesn't implement the vulnerable monlist command by default</a:t>
                      </a:r>
                    </a:p>
                  </a:txBody>
                  <a:tcPr anchor="ctr" marL="82296" marR="82296" marT="27432" marB="27432">
                    <a:solidFill>
                      <a:srgbClr val="FFFFFF"/>
                    </a:solidFill>
                  </a:tcPr>
                </a:tc>
              </a:tr>
              <a:tr h="792480">
                <a:tc>
                  <a:txBody>
                    <a:bodyPr wrap="square"/>
                    <a:lstStyle/>
                    <a:p>
                      <a:r>
                        <a:rPr sz="1050" b="1" i="0">
                          <a:solidFill>
                            <a:srgbClr val="1B2A4A"/>
                          </a:solidFill>
                          <a:latin typeface="Calibri"/>
                        </a:rPr>
                        <a:t>Malicious upstream source</a:t>
                      </a:r>
                    </a:p>
                  </a:txBody>
                  <a:tcPr anchor="ctr" marL="82296" marR="82296" marT="27432" marB="27432">
                    <a:solidFill>
                      <a:srgbClr val="E8EEF7"/>
                    </a:solidFill>
                  </a:tcPr>
                </a:tc>
                <a:tc>
                  <a:txBody>
                    <a:bodyPr wrap="square"/>
                    <a:lstStyle/>
                    <a:p>
                      <a:r>
                        <a:rPr sz="1050" b="0" i="0">
                          <a:solidFill>
                            <a:srgbClr val="3D5A80"/>
                          </a:solidFill>
                          <a:latin typeface="Calibri"/>
                        </a:rPr>
                        <a:t>An attacker who controls or spoofs an allowed upstream pool controls every downstream client's clock</a:t>
                      </a:r>
                    </a:p>
                  </a:txBody>
                  <a:tcPr anchor="ctr" marL="82296" marR="82296" marT="27432" marB="27432">
                    <a:solidFill>
                      <a:srgbClr val="E8EEF7"/>
                    </a:solidFill>
                  </a:tcPr>
                </a:tc>
                <a:tc>
                  <a:txBody>
                    <a:bodyPr wrap="square"/>
                    <a:lstStyle/>
                    <a:p>
                      <a:r>
                        <a:rPr sz="1050" b="0" i="0">
                          <a:solidFill>
                            <a:srgbClr val="3D5A80"/>
                          </a:solidFill>
                          <a:latin typeface="Calibri"/>
                        </a:rPr>
                        <a:t>Use a small, trusted set of upstream pools</a:t>
                      </a:r>
                    </a:p>
                  </a:txBody>
                  <a:tcPr anchor="ctr" marL="82296" marR="82296" marT="27432" marB="27432">
                    <a:solidFill>
                      <a:srgbClr val="E8EEF7"/>
                    </a:solidFill>
                  </a:tcPr>
                </a:tc>
              </a:tr>
              <a:tr h="792480">
                <a:tc>
                  <a:txBody>
                    <a:bodyPr wrap="square"/>
                    <a:lstStyle/>
                    <a:p>
                      <a:r>
                        <a:rPr sz="1050" b="1" i="0">
                          <a:solidFill>
                            <a:srgbClr val="1B2A4A"/>
                          </a:solidFill>
                          <a:latin typeface="Calibri"/>
                        </a:rPr>
                        <a:t>Overbroad allow range</a:t>
                      </a:r>
                    </a:p>
                  </a:txBody>
                  <a:tcPr anchor="ctr" marL="82296" marR="82296" marT="27432" marB="27432">
                    <a:solidFill>
                      <a:srgbClr val="FFFFFF"/>
                    </a:solidFill>
                  </a:tcPr>
                </a:tc>
                <a:tc>
                  <a:txBody>
                    <a:bodyPr wrap="square"/>
                    <a:lstStyle/>
                    <a:p>
                      <a:r>
                        <a:rPr sz="1050" b="0" i="0">
                          <a:solidFill>
                            <a:srgbClr val="3D5A80"/>
                          </a:solidFill>
                          <a:latin typeface="Calibri"/>
                        </a:rPr>
                        <a:t>allow 10.0.0.0/24 grants sync access without authenticating who's asking</a:t>
                      </a:r>
                    </a:p>
                  </a:txBody>
                  <a:tcPr anchor="ctr" marL="82296" marR="82296" marT="27432" marB="27432">
                    <a:solidFill>
                      <a:srgbClr val="FFFFFF"/>
                    </a:solidFill>
                  </a:tcPr>
                </a:tc>
                <a:tc>
                  <a:txBody>
                    <a:bodyPr wrap="square"/>
                    <a:lstStyle/>
                    <a:p>
                      <a:r>
                        <a:rPr sz="1050" b="0" i="0">
                          <a:solidFill>
                            <a:srgbClr val="3D5A80"/>
                          </a:solidFill>
                          <a:latin typeface="Calibri"/>
                        </a:rPr>
                        <a:t>Scope allow as tightly as the actual client subnet, never wider</a:t>
                      </a:r>
                    </a:p>
                  </a:txBody>
                  <a:tcPr anchor="ctr" marL="82296" marR="82296" marT="27432" marB="27432">
                    <a:solidFill>
                      <a:srgbClr val="FFFFFF"/>
                    </a:solidFill>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1B2A4A"/>
        </a:solidFill>
        <a:effectLst/>
      </p:bgPr>
    </p:bg>
    <p:spTree>
      <p:nvGrpSpPr>
        <p:cNvPr id="1" name=""/>
        <p:cNvGrpSpPr/>
        <p:nvPr/>
      </p:nvGrpSpPr>
      <p:grpSpPr>
        <a:xfrm>
          <a:off x="0" y="0"/>
          <a:ext cx="0" cy="0"/>
          <a:chOff x="0" y="0"/>
          <a:chExt cx="0" cy="0"/>
        </a:xfrm>
      </p:grpSpPr>
      <p:sp>
        <p:nvSpPr>
          <p:cNvPr id="2" name="Rectangle 1"/>
          <p:cNvSpPr/>
          <p:nvPr/>
        </p:nvSpPr>
        <p:spPr>
          <a:xfrm>
            <a:off x="822960" y="2962656"/>
            <a:ext cx="1005840" cy="100584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3000" b="1" i="0">
                <a:solidFill>
                  <a:srgbClr val="1B2A4A"/>
                </a:solidFill>
                <a:latin typeface="Cambria"/>
              </a:rPr>
              <a:t>05</a:t>
            </a:r>
          </a:p>
        </p:txBody>
      </p:sp>
      <p:sp>
        <p:nvSpPr>
          <p:cNvPr id="3" name="TextBox 2"/>
          <p:cNvSpPr txBox="1"/>
          <p:nvPr/>
        </p:nvSpPr>
        <p:spPr>
          <a:xfrm>
            <a:off x="2103120" y="3008376"/>
            <a:ext cx="9235440" cy="914400"/>
          </a:xfrm>
          <a:prstGeom prst="rect">
            <a:avLst/>
          </a:prstGeom>
          <a:noFill/>
        </p:spPr>
        <p:txBody>
          <a:bodyPr wrap="square" lIns="0" tIns="0" rIns="0" bIns="0" anchor="ctr">
            <a:spAutoFit/>
          </a:bodyPr>
          <a:lstStyle/>
          <a:p>
            <a:pPr algn="l"/>
            <a:r>
              <a:rPr sz="3600" b="1" i="0">
                <a:solidFill>
                  <a:srgbClr val="FFFFFF"/>
                </a:solidFill>
                <a:latin typeface="Cambria"/>
              </a:rPr>
              <a:t>Firewall Scoping &amp; Security Auditing</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10908792" cy="777240"/>
          </a:xfrm>
          <a:prstGeom prst="rect">
            <a:avLst/>
          </a:prstGeom>
          <a:noFill/>
        </p:spPr>
        <p:txBody>
          <a:bodyPr wrap="square" lIns="0" tIns="0" rIns="0" bIns="0" anchor="t">
            <a:spAutoFit/>
          </a:bodyPr>
          <a:lstStyle/>
          <a:p>
            <a:r>
              <a:rPr sz="2900" b="1" i="0">
                <a:solidFill>
                  <a:srgbClr val="1B2A4A"/>
                </a:solidFill>
                <a:latin typeface="Cambria"/>
              </a:rPr>
              <a:t>firewalld: Zones &amp; Services</a:t>
            </a:r>
          </a:p>
        </p:txBody>
      </p:sp>
      <p:sp>
        <p:nvSpPr>
          <p:cNvPr id="3" name="TextBox 2"/>
          <p:cNvSpPr txBox="1"/>
          <p:nvPr/>
        </p:nvSpPr>
        <p:spPr>
          <a:xfrm>
            <a:off x="640080" y="1243584"/>
            <a:ext cx="10908792" cy="457200"/>
          </a:xfrm>
          <a:prstGeom prst="rect">
            <a:avLst/>
          </a:prstGeom>
          <a:noFill/>
        </p:spPr>
        <p:txBody>
          <a:bodyPr wrap="square" lIns="0" tIns="0" rIns="0" bIns="0" anchor="t">
            <a:spAutoFit/>
          </a:bodyPr>
          <a:lstStyle/>
          <a:p>
            <a:r>
              <a:rPr sz="1250" b="0" i="0">
                <a:solidFill>
                  <a:srgbClr val="3D5A80"/>
                </a:solidFill>
                <a:latin typeface="Calibri"/>
              </a:rPr>
              <a:t>Default-deny by zone: a service is reachable only if you explicitly add it - everything else is blocked without writing a single rule by hand.</a:t>
            </a:r>
          </a:p>
        </p:txBody>
      </p:sp>
      <p:sp>
        <p:nvSpPr>
          <p:cNvPr id="4" name="Rounded Rectangle 3"/>
          <p:cNvSpPr/>
          <p:nvPr/>
        </p:nvSpPr>
        <p:spPr>
          <a:xfrm>
            <a:off x="640080" y="1965960"/>
            <a:ext cx="6309360" cy="2514600"/>
          </a:xfrm>
          <a:prstGeom prst="roundRect">
            <a:avLst/>
          </a:prstGeom>
          <a:solidFill>
            <a:srgbClr val="E8EEF7"/>
          </a:solidFill>
          <a:ln w="19050">
            <a:solidFill>
              <a:srgbClr val="1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2103120"/>
            <a:ext cx="3657600" cy="320040"/>
          </a:xfrm>
          <a:prstGeom prst="rect">
            <a:avLst/>
          </a:prstGeom>
          <a:noFill/>
        </p:spPr>
        <p:txBody>
          <a:bodyPr wrap="square" lIns="0" tIns="0" rIns="0" bIns="0" anchor="t">
            <a:spAutoFit/>
          </a:bodyPr>
          <a:lstStyle/>
          <a:p>
            <a:pPr algn="l"/>
            <a:r>
              <a:rPr sz="1500" b="1" i="0">
                <a:solidFill>
                  <a:srgbClr val="1B2A4A"/>
                </a:solidFill>
                <a:latin typeface="Cambria"/>
              </a:rPr>
              <a:t>public zone</a:t>
            </a:r>
          </a:p>
        </p:txBody>
      </p:sp>
      <p:sp>
        <p:nvSpPr>
          <p:cNvPr id="6" name="Rounded Rectangle 5"/>
          <p:cNvSpPr/>
          <p:nvPr/>
        </p:nvSpPr>
        <p:spPr>
          <a:xfrm>
            <a:off x="960120" y="2651760"/>
            <a:ext cx="1554480" cy="457200"/>
          </a:xfrm>
          <a:prstGeom prst="round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300" b="1" i="0">
                <a:solidFill>
                  <a:srgbClr val="FFFFFF"/>
                </a:solidFill>
                <a:latin typeface="Calibri"/>
              </a:rPr>
              <a:t>dns</a:t>
            </a:r>
          </a:p>
        </p:txBody>
      </p:sp>
      <p:sp>
        <p:nvSpPr>
          <p:cNvPr id="7" name="Rounded Rectangle 6"/>
          <p:cNvSpPr/>
          <p:nvPr/>
        </p:nvSpPr>
        <p:spPr>
          <a:xfrm>
            <a:off x="2743200" y="2651760"/>
            <a:ext cx="1554480" cy="457200"/>
          </a:xfrm>
          <a:prstGeom prst="round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300" b="1" i="0">
                <a:solidFill>
                  <a:srgbClr val="FFFFFF"/>
                </a:solidFill>
                <a:latin typeface="Calibri"/>
              </a:rPr>
              <a:t>ntp</a:t>
            </a:r>
          </a:p>
        </p:txBody>
      </p:sp>
      <p:sp>
        <p:nvSpPr>
          <p:cNvPr id="8" name="Rounded Rectangle 7"/>
          <p:cNvSpPr/>
          <p:nvPr/>
        </p:nvSpPr>
        <p:spPr>
          <a:xfrm>
            <a:off x="4526280" y="2651760"/>
            <a:ext cx="1554480" cy="457200"/>
          </a:xfrm>
          <a:prstGeom prst="round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300" b="1" i="0">
                <a:solidFill>
                  <a:srgbClr val="FFFFFF"/>
                </a:solidFill>
                <a:latin typeface="Calibri"/>
              </a:rPr>
              <a:t>ssh</a:t>
            </a:r>
          </a:p>
        </p:txBody>
      </p:sp>
      <p:sp>
        <p:nvSpPr>
          <p:cNvPr id="9" name="Rounded Rectangle 8"/>
          <p:cNvSpPr/>
          <p:nvPr/>
        </p:nvSpPr>
        <p:spPr>
          <a:xfrm>
            <a:off x="960120" y="3383280"/>
            <a:ext cx="1554480" cy="457200"/>
          </a:xfrm>
          <a:prstGeom prst="roundRect">
            <a:avLst/>
          </a:prstGeom>
          <a:solidFill>
            <a:srgbClr val="6B748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300" b="1" i="0">
                <a:solidFill>
                  <a:srgbClr val="FFFFFF"/>
                </a:solidFill>
                <a:latin typeface="Calibri"/>
              </a:rPr>
              <a:t>http</a:t>
            </a:r>
          </a:p>
        </p:txBody>
      </p:sp>
      <p:sp>
        <p:nvSpPr>
          <p:cNvPr id="10" name="Rounded Rectangle 9"/>
          <p:cNvSpPr/>
          <p:nvPr/>
        </p:nvSpPr>
        <p:spPr>
          <a:xfrm>
            <a:off x="2743200" y="3383280"/>
            <a:ext cx="1554480" cy="457200"/>
          </a:xfrm>
          <a:prstGeom prst="roundRect">
            <a:avLst/>
          </a:prstGeom>
          <a:solidFill>
            <a:srgbClr val="6B748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300" b="1" i="0">
                <a:solidFill>
                  <a:srgbClr val="FFFFFF"/>
                </a:solidFill>
                <a:latin typeface="Calibri"/>
              </a:rPr>
              <a:t>samba</a:t>
            </a:r>
          </a:p>
        </p:txBody>
      </p:sp>
      <p:sp>
        <p:nvSpPr>
          <p:cNvPr id="11" name="Rounded Rectangle 10"/>
          <p:cNvSpPr/>
          <p:nvPr/>
        </p:nvSpPr>
        <p:spPr>
          <a:xfrm>
            <a:off x="4526280" y="3383280"/>
            <a:ext cx="1554480" cy="457200"/>
          </a:xfrm>
          <a:prstGeom prst="roundRect">
            <a:avLst/>
          </a:prstGeom>
          <a:solidFill>
            <a:srgbClr val="6B748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300" b="1" i="0">
                <a:solidFill>
                  <a:srgbClr val="FFFFFF"/>
                </a:solidFill>
                <a:latin typeface="Calibri"/>
              </a:rPr>
              <a:t>telnet</a:t>
            </a:r>
          </a:p>
        </p:txBody>
      </p:sp>
      <p:sp>
        <p:nvSpPr>
          <p:cNvPr id="12" name="TextBox 11"/>
          <p:cNvSpPr txBox="1"/>
          <p:nvPr/>
        </p:nvSpPr>
        <p:spPr>
          <a:xfrm>
            <a:off x="868680" y="3977640"/>
            <a:ext cx="5852160" cy="457200"/>
          </a:xfrm>
          <a:prstGeom prst="rect">
            <a:avLst/>
          </a:prstGeom>
          <a:noFill/>
        </p:spPr>
        <p:txBody>
          <a:bodyPr wrap="square" lIns="0" tIns="0" rIns="0" bIns="0" anchor="ctr">
            <a:spAutoFit/>
          </a:bodyPr>
          <a:lstStyle/>
          <a:p>
            <a:pPr algn="l"/>
            <a:r>
              <a:rPr sz="1000" b="0" i="1">
                <a:solidFill>
                  <a:srgbClr val="3D5A80"/>
                </a:solidFill>
                <a:latin typeface="Calibri"/>
              </a:rPr>
              <a:t>green = added to the zone, reachable | gray = never added, dropped</a:t>
            </a:r>
          </a:p>
        </p:txBody>
      </p:sp>
      <p:sp>
        <p:nvSpPr>
          <p:cNvPr id="13" name="Rounded Rectangle 12"/>
          <p:cNvSpPr/>
          <p:nvPr/>
        </p:nvSpPr>
        <p:spPr>
          <a:xfrm>
            <a:off x="7269480" y="1965960"/>
            <a:ext cx="4279392" cy="2514600"/>
          </a:xfrm>
          <a:prstGeom prst="roundRect">
            <a:avLst/>
          </a:prstGeom>
          <a:solidFill>
            <a:srgbClr val="111B30"/>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91440" rIns="137160" bIns="91440" rtlCol="0" anchor="ctr"/>
          <a:lstStyle/>
          <a:p>
            <a:pPr algn="l"/>
            <a:r>
              <a:rPr sz="1150" b="0" i="0">
                <a:solidFill>
                  <a:srgbClr val="00B4D8"/>
                </a:solidFill>
                <a:latin typeface="Courier New"/>
              </a:rPr>
              <a:t>$ firewall-cmd --permanent \</a:t>
            </a:r>
          </a:p>
          <a:p>
            <a:pPr algn="l"/>
            <a:r>
              <a:rPr sz="1150" b="0" i="0">
                <a:solidFill>
                  <a:srgbClr val="FFFFFF"/>
                </a:solidFill>
                <a:latin typeface="Courier New"/>
              </a:rPr>
              <a:t>    --add-service=dns</a:t>
            </a:r>
          </a:p>
          <a:p>
            <a:pPr algn="l"/>
            <a:r>
              <a:rPr sz="1150" b="0" i="0">
                <a:solidFill>
                  <a:srgbClr val="00B4D8"/>
                </a:solidFill>
                <a:latin typeface="Courier New"/>
              </a:rPr>
              <a:t>$ firewall-cmd --permanent \</a:t>
            </a:r>
          </a:p>
          <a:p>
            <a:pPr algn="l"/>
            <a:r>
              <a:rPr sz="1150" b="0" i="0">
                <a:solidFill>
                  <a:srgbClr val="FFFFFF"/>
                </a:solidFill>
                <a:latin typeface="Courier New"/>
              </a:rPr>
              <a:t>    --add-service=ntp</a:t>
            </a:r>
          </a:p>
          <a:p>
            <a:pPr algn="l"/>
            <a:r>
              <a:rPr sz="1150" b="0" i="0">
                <a:solidFill>
                  <a:srgbClr val="00B4D8"/>
                </a:solidFill>
                <a:latin typeface="Courier New"/>
              </a:rPr>
              <a:t>$ firewall-cmd --reload</a:t>
            </a:r>
          </a:p>
          <a:p>
            <a:pPr algn="l"/>
            <a:r>
              <a:rPr sz="1150" b="0" i="0">
                <a:solidFill>
                  <a:srgbClr val="00B4D8"/>
                </a:solidFill>
                <a:latin typeface="Courier New"/>
              </a:rPr>
              <a:t>$ firewall-cmd --list-services</a:t>
            </a:r>
          </a:p>
          <a:p>
            <a:pPr algn="l"/>
            <a:r>
              <a:rPr sz="1150" b="0" i="0">
                <a:solidFill>
                  <a:srgbClr val="FFFFFF"/>
                </a:solidFill>
                <a:latin typeface="Courier New"/>
              </a:rPr>
              <a:t>dns ntp ssh</a:t>
            </a:r>
          </a:p>
        </p:txBody>
      </p:sp>
      <p:graphicFrame>
        <p:nvGraphicFramePr>
          <p:cNvPr id="14" name="Table 13"/>
          <p:cNvGraphicFramePr>
            <a:graphicFrameLocks noGrp="1"/>
          </p:cNvGraphicFramePr>
          <p:nvPr/>
        </p:nvGraphicFramePr>
        <p:xfrm>
          <a:off x="640080" y="4800600"/>
          <a:ext cx="10908792" cy="1783080"/>
        </p:xfrm>
        <a:graphic>
          <a:graphicData uri="http://schemas.openxmlformats.org/drawingml/2006/table">
            <a:tbl>
              <a:tblPr/>
              <a:tblGrid>
                <a:gridCol w="2103120">
                  <a:extLst>
                    <a:ext uri="{9D8B030D-6E8A-4147-A177-3AD203B41FA5}">
                      <a16:colId xmlns:a16="http://schemas.microsoft.com/office/drawing/2014/main" val="20000"/>
                    </a:ext>
                  </a:extLst>
                </a:gridCol>
                <a:gridCol w="8805672">
                  <a:extLst>
                    <a:ext uri="{9D8B030D-6E8A-4147-A177-3AD203B41FA5}">
                      <a16:colId xmlns:a16="http://schemas.microsoft.com/office/drawing/2014/main" val="20001"/>
                    </a:ext>
                  </a:extLst>
                </a:gridCol>
              </a:tblGrid>
              <a:tr h="594360">
                <a:tc>
                  <a:txBody>
                    <a:bodyPr/>
                    <a:lstStyle/>
                    <a:p>
                      <a:r>
                        <a:rPr sz="1200" b="1" i="0">
                          <a:solidFill>
                            <a:srgbClr val="FFFFFF"/>
                          </a:solidFill>
                          <a:latin typeface="Calibri"/>
                        </a:rPr>
                        <a:t>Concept</a:t>
                      </a:r>
                    </a:p>
                  </a:txBody>
                  <a:tcPr marL="82296" marR="82296" marT="27432" marB="27432" anchor="ctr">
                    <a:solidFill>
                      <a:srgbClr val="1B2A4A"/>
                    </a:solidFill>
                  </a:tcPr>
                </a:tc>
                <a:tc>
                  <a:txBody>
                    <a:bodyPr/>
                    <a:lstStyle/>
                    <a:p>
                      <a:r>
                        <a:rPr sz="1200" b="1" i="0">
                          <a:solidFill>
                            <a:srgbClr val="FFFFFF"/>
                          </a:solidFill>
                          <a:latin typeface="Calibri"/>
                        </a:rPr>
                        <a:t>Meaning</a:t>
                      </a:r>
                    </a:p>
                  </a:txBody>
                  <a:tcPr marL="82296" marR="82296" marT="27432" marB="27432" anchor="ctr">
                    <a:solidFill>
                      <a:srgbClr val="1B2A4A"/>
                    </a:solidFill>
                  </a:tcPr>
                </a:tc>
                <a:extLst>
                  <a:ext uri="{0D108BD9-81ED-4DB2-BD59-A6C34878D82A}">
                    <a16:rowId xmlns:a16="http://schemas.microsoft.com/office/drawing/2014/main" val="10000"/>
                  </a:ext>
                </a:extLst>
              </a:tr>
              <a:tr h="594360">
                <a:tc>
                  <a:txBody>
                    <a:bodyPr/>
                    <a:lstStyle/>
                    <a:p>
                      <a:r>
                        <a:rPr sz="1100" b="1" i="0">
                          <a:solidFill>
                            <a:srgbClr val="1B2A4A"/>
                          </a:solidFill>
                          <a:latin typeface="Calibri"/>
                        </a:rPr>
                        <a:t>Zone</a:t>
                      </a:r>
                    </a:p>
                  </a:txBody>
                  <a:tcPr marL="82296" marR="82296" marT="27432" marB="27432" anchor="ctr">
                    <a:solidFill>
                      <a:srgbClr val="FFFFFF"/>
                    </a:solidFill>
                  </a:tcPr>
                </a:tc>
                <a:tc>
                  <a:txBody>
                    <a:bodyPr/>
                    <a:lstStyle/>
                    <a:p>
                      <a:r>
                        <a:rPr sz="1100" b="0" i="0">
                          <a:solidFill>
                            <a:srgbClr val="3D5A80"/>
                          </a:solidFill>
                          <a:latin typeface="Calibri"/>
                        </a:rPr>
                        <a:t>A named trust level (public, internal, trusted...) applied to an interface</a:t>
                      </a:r>
                    </a:p>
                  </a:txBody>
                  <a:tcPr marL="82296" marR="82296" marT="27432" marB="27432" anchor="ctr">
                    <a:solidFill>
                      <a:srgbClr val="FFFFFF"/>
                    </a:solidFill>
                  </a:tcPr>
                </a:tc>
                <a:extLst>
                  <a:ext uri="{0D108BD9-81ED-4DB2-BD59-A6C34878D82A}">
                    <a16:rowId xmlns:a16="http://schemas.microsoft.com/office/drawing/2014/main" val="10001"/>
                  </a:ext>
                </a:extLst>
              </a:tr>
              <a:tr h="594360">
                <a:tc>
                  <a:txBody>
                    <a:bodyPr/>
                    <a:lstStyle/>
                    <a:p>
                      <a:r>
                        <a:rPr sz="1100" b="1" i="0">
                          <a:solidFill>
                            <a:srgbClr val="1B2A4A"/>
                          </a:solidFill>
                          <a:latin typeface="Calibri"/>
                        </a:rPr>
                        <a:t>--permanent</a:t>
                      </a:r>
                    </a:p>
                  </a:txBody>
                  <a:tcPr marL="82296" marR="82296" marT="27432" marB="27432" anchor="ctr">
                    <a:solidFill>
                      <a:srgbClr val="E8EEF7"/>
                    </a:solidFill>
                  </a:tcPr>
                </a:tc>
                <a:tc>
                  <a:txBody>
                    <a:bodyPr/>
                    <a:lstStyle/>
                    <a:p>
                      <a:r>
                        <a:rPr sz="1100" b="0" i="0">
                          <a:solidFill>
                            <a:srgbClr val="3D5A80"/>
                          </a:solidFill>
                          <a:latin typeface="Calibri"/>
                        </a:rPr>
                        <a:t>Persists the change across reboots (still needs --reload to take effect now)</a:t>
                      </a:r>
                    </a:p>
                  </a:txBody>
                  <a:tcPr marL="82296" marR="82296" marT="27432" marB="27432" anchor="ctr">
                    <a:solidFill>
                      <a:srgbClr val="E8EEF7"/>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2"/>
          <p:cNvSpPr txBox="1"/>
          <p:nvPr/>
        </p:nvSpPr>
        <p:spPr>
          <a:xfrm>
            <a:off x="640080" y="457200"/>
            <a:ext cx="10908792" cy="777240"/>
          </a:xfrm>
          <a:prstGeom prst="rect">
            <a:avLst/>
          </a:prstGeom>
          <a:noFill/>
        </p:spPr>
        <p:txBody>
          <a:bodyPr wrap="square" anchor="t" lIns="0" rIns="0" tIns="0" bIns="0">
            <a:spAutoFit/>
          </a:bodyPr>
          <a:lstStyle/>
          <a:p>
            <a:r>
              <a:rPr sz="2900" b="1" i="0">
                <a:solidFill>
                  <a:srgbClr val="1B2A4A"/>
                </a:solidFill>
                <a:latin typeface="Cambria"/>
              </a:rPr>
              <a:t>Attacks &amp; Defenses: firewalld &amp; Network Exposure</a:t>
            </a:r>
          </a:p>
        </p:txBody>
      </p:sp>
      <p:sp>
        <p:nvSpPr>
          <p:cNvPr id="3" name="TextBox 3"/>
          <p:cNvSpPr txBox="1"/>
          <p:nvPr/>
        </p:nvSpPr>
        <p:spPr>
          <a:xfrm>
            <a:off x="640080" y="1243584"/>
            <a:ext cx="10908792" cy="365760"/>
          </a:xfrm>
          <a:prstGeom prst="rect">
            <a:avLst/>
          </a:prstGeom>
          <a:noFill/>
        </p:spPr>
        <p:txBody>
          <a:bodyPr wrap="square" anchor="t" lIns="0" rIns="0" tIns="0" bIns="0">
            <a:spAutoFit/>
          </a:bodyPr>
          <a:lstStyle/>
          <a:p>
            <a:r>
              <a:rPr sz="1250" b="0" i="0">
                <a:solidFill>
                  <a:srgbClr val="3D5A80"/>
                </a:solidFill>
                <a:latin typeface="Calibri"/>
              </a:rPr>
              <a:t>A firewall is one layer - these are the ways that layer gets undermined even when the rules look correct on paper.</a:t>
            </a:r>
          </a:p>
        </p:txBody>
      </p:sp>
      <p:graphicFrame>
        <p:nvGraphicFramePr>
          <p:cNvPr id="4" name="Table 4"/>
          <p:cNvGraphicFramePr>
            <a:graphicFrameLocks noGrp="1"/>
          </p:cNvGraphicFramePr>
          <p:nvPr/>
        </p:nvGraphicFramePr>
        <p:xfrm>
          <a:off x="640080" y="1828800"/>
          <a:ext cx="10908792" cy="4754880"/>
        </p:xfrm>
        <a:graphic>
          <a:graphicData uri="http://schemas.openxmlformats.org/drawingml/2006/table">
            <a:tbl>
              <a:tblPr firstRow="0" bandRow="0"/>
              <a:tblGrid>
                <a:gridCol w="2600000"/>
                <a:gridCol w="4200000"/>
                <a:gridCol w="4108792"/>
              </a:tblGrid>
              <a:tr h="792480">
                <a:tc>
                  <a:txBody>
                    <a:bodyPr wrap="square"/>
                    <a:lstStyle/>
                    <a:p>
                      <a:r>
                        <a:rPr sz="1200" b="1" i="0">
                          <a:solidFill>
                            <a:srgbClr val="FFFFFF"/>
                          </a:solidFill>
                          <a:latin typeface="Calibri"/>
                        </a:rPr>
                        <a:t>Attack</a:t>
                      </a:r>
                    </a:p>
                  </a:txBody>
                  <a:tcPr anchor="ctr" marL="82296" marR="82296" marT="27432" marB="27432">
                    <a:solidFill>
                      <a:srgbClr val="1B2A4A"/>
                    </a:solidFill>
                  </a:tcPr>
                </a:tc>
                <a:tc>
                  <a:txBody>
                    <a:bodyPr wrap="square"/>
                    <a:lstStyle/>
                    <a:p>
                      <a:r>
                        <a:rPr sz="1200" b="1" i="0">
                          <a:solidFill>
                            <a:srgbClr val="FFFFFF"/>
                          </a:solidFill>
                          <a:latin typeface="Calibri"/>
                        </a:rPr>
                        <a:t>How It Works</a:t>
                      </a:r>
                    </a:p>
                  </a:txBody>
                  <a:tcPr anchor="ctr" marL="82296" marR="82296" marT="27432" marB="27432">
                    <a:solidFill>
                      <a:srgbClr val="1B2A4A"/>
                    </a:solidFill>
                  </a:tcPr>
                </a:tc>
                <a:tc>
                  <a:txBody>
                    <a:bodyPr wrap="square"/>
                    <a:lstStyle/>
                    <a:p>
                      <a:r>
                        <a:rPr sz="1200" b="1" i="0">
                          <a:solidFill>
                            <a:srgbClr val="FFFFFF"/>
                          </a:solidFill>
                          <a:latin typeface="Calibri"/>
                        </a:rPr>
                        <a:t>Defense</a:t>
                      </a:r>
                    </a:p>
                  </a:txBody>
                  <a:tcPr anchor="ctr" marL="82296" marR="82296" marT="27432" marB="27432">
                    <a:solidFill>
                      <a:srgbClr val="1B2A4A"/>
                    </a:solidFill>
                  </a:tcPr>
                </a:tc>
              </a:tr>
              <a:tr h="792480">
                <a:tc>
                  <a:txBody>
                    <a:bodyPr wrap="square"/>
                    <a:lstStyle/>
                    <a:p>
                      <a:r>
                        <a:rPr sz="1050" b="1" i="0">
                          <a:solidFill>
                            <a:srgbClr val="1B2A4A"/>
                          </a:solidFill>
                          <a:latin typeface="Calibri"/>
                        </a:rPr>
                        <a:t>Forgotten --reload</a:t>
                      </a:r>
                    </a:p>
                  </a:txBody>
                  <a:tcPr anchor="ctr" marL="82296" marR="82296" marT="27432" marB="27432">
                    <a:solidFill>
                      <a:srgbClr val="FFFFFF"/>
                    </a:solidFill>
                  </a:tcPr>
                </a:tc>
                <a:tc>
                  <a:txBody>
                    <a:bodyPr wrap="square"/>
                    <a:lstStyle/>
                    <a:p>
                      <a:r>
                        <a:rPr sz="1050" b="0" i="0">
                          <a:solidFill>
                            <a:srgbClr val="3D5A80"/>
                          </a:solidFill>
                          <a:latin typeface="Calibri"/>
                        </a:rPr>
                        <a:t>A --permanent rule never reloaded gives a false sense of security - running config doesn't match saved</a:t>
                      </a:r>
                    </a:p>
                  </a:txBody>
                  <a:tcPr anchor="ctr" marL="82296" marR="82296" marT="27432" marB="27432">
                    <a:solidFill>
                      <a:srgbClr val="FFFFFF"/>
                    </a:solidFill>
                  </a:tcPr>
                </a:tc>
                <a:tc>
                  <a:txBody>
                    <a:bodyPr wrap="square"/>
                    <a:lstStyle/>
                    <a:p>
                      <a:r>
                        <a:rPr sz="1050" b="0" i="0">
                          <a:solidFill>
                            <a:srgbClr val="3D5A80"/>
                          </a:solidFill>
                          <a:latin typeface="Calibri"/>
                        </a:rPr>
                        <a:t>Always pair --permanent with --reload; verify with --list-services after</a:t>
                      </a:r>
                    </a:p>
                  </a:txBody>
                  <a:tcPr anchor="ctr" marL="82296" marR="82296" marT="27432" marB="27432">
                    <a:solidFill>
                      <a:srgbClr val="FFFFFF"/>
                    </a:solidFill>
                  </a:tcPr>
                </a:tc>
              </a:tr>
              <a:tr h="792480">
                <a:tc>
                  <a:txBody>
                    <a:bodyPr wrap="square"/>
                    <a:lstStyle/>
                    <a:p>
                      <a:r>
                        <a:rPr sz="1050" b="1" i="0">
                          <a:solidFill>
                            <a:srgbClr val="1B2A4A"/>
                          </a:solidFill>
                          <a:latin typeface="Calibri"/>
                        </a:rPr>
                        <a:t>Overly broad zone assignment</a:t>
                      </a:r>
                    </a:p>
                  </a:txBody>
                  <a:tcPr anchor="ctr" marL="82296" marR="82296" marT="27432" marB="27432">
                    <a:solidFill>
                      <a:srgbClr val="E8EEF7"/>
                    </a:solidFill>
                  </a:tcPr>
                </a:tc>
                <a:tc>
                  <a:txBody>
                    <a:bodyPr wrap="square"/>
                    <a:lstStyle/>
                    <a:p>
                      <a:r>
                        <a:rPr sz="1050" b="0" i="0">
                          <a:solidFill>
                            <a:srgbClr val="3D5A80"/>
                          </a:solidFill>
                          <a:latin typeface="Calibri"/>
                        </a:rPr>
                        <a:t>A host's interface in a permissive zone exposes more than intended</a:t>
                      </a:r>
                    </a:p>
                  </a:txBody>
                  <a:tcPr anchor="ctr" marL="82296" marR="82296" marT="27432" marB="27432">
                    <a:solidFill>
                      <a:srgbClr val="E8EEF7"/>
                    </a:solidFill>
                  </a:tcPr>
                </a:tc>
                <a:tc>
                  <a:txBody>
                    <a:bodyPr wrap="square"/>
                    <a:lstStyle/>
                    <a:p>
                      <a:r>
                        <a:rPr sz="1050" b="0" i="0">
                          <a:solidFill>
                            <a:srgbClr val="3D5A80"/>
                          </a:solidFill>
                          <a:latin typeface="Calibri"/>
                        </a:rPr>
                        <a:t>Start default-deny, add only services this host actually provides</a:t>
                      </a:r>
                    </a:p>
                  </a:txBody>
                  <a:tcPr anchor="ctr" marL="82296" marR="82296" marT="27432" marB="27432">
                    <a:solidFill>
                      <a:srgbClr val="E8EEF7"/>
                    </a:solidFill>
                  </a:tcPr>
                </a:tc>
              </a:tr>
              <a:tr h="792480">
                <a:tc>
                  <a:txBody>
                    <a:bodyPr wrap="square"/>
                    <a:lstStyle/>
                    <a:p>
                      <a:r>
                        <a:rPr sz="1050" b="1" i="0">
                          <a:solidFill>
                            <a:srgbClr val="1B2A4A"/>
                          </a:solidFill>
                          <a:latin typeface="Calibri"/>
                        </a:rPr>
                        <a:t>Service added, never removed</a:t>
                      </a:r>
                    </a:p>
                  </a:txBody>
                  <a:tcPr anchor="ctr" marL="82296" marR="82296" marT="27432" marB="27432">
                    <a:solidFill>
                      <a:srgbClr val="FFFFFF"/>
                    </a:solidFill>
                  </a:tcPr>
                </a:tc>
                <a:tc>
                  <a:txBody>
                    <a:bodyPr wrap="square"/>
                    <a:lstStyle/>
                    <a:p>
                      <a:r>
                        <a:rPr sz="1050" b="0" i="0">
                          <a:solidFill>
                            <a:srgbClr val="3D5A80"/>
                          </a:solidFill>
                          <a:latin typeface="Calibri"/>
                        </a:rPr>
                        <a:t>A service enabled for a temporary need and left on becomes unnecessary attack surface</a:t>
                      </a:r>
                    </a:p>
                  </a:txBody>
                  <a:tcPr anchor="ctr" marL="82296" marR="82296" marT="27432" marB="27432">
                    <a:solidFill>
                      <a:srgbClr val="FFFFFF"/>
                    </a:solidFill>
                  </a:tcPr>
                </a:tc>
                <a:tc>
                  <a:txBody>
                    <a:bodyPr wrap="square"/>
                    <a:lstStyle/>
                    <a:p>
                      <a:r>
                        <a:rPr sz="1050" b="0" i="0">
                          <a:solidFill>
                            <a:srgbClr val="3D5A80"/>
                          </a:solidFill>
                          <a:latin typeface="Calibri"/>
                        </a:rPr>
                        <a:t>Review firewalld changes like any config change - clean up, don't just accrete</a:t>
                      </a:r>
                    </a:p>
                  </a:txBody>
                  <a:tcPr anchor="ctr" marL="82296" marR="82296" marT="27432" marB="27432">
                    <a:solidFill>
                      <a:srgbClr val="FFFFFF"/>
                    </a:solidFill>
                  </a:tcPr>
                </a:tc>
              </a:tr>
              <a:tr h="792480">
                <a:tc>
                  <a:txBody>
                    <a:bodyPr wrap="square"/>
                    <a:lstStyle/>
                    <a:p>
                      <a:r>
                        <a:rPr sz="1050" b="1" i="0">
                          <a:solidFill>
                            <a:srgbClr val="1B2A4A"/>
                          </a:solidFill>
                          <a:latin typeface="Calibri"/>
                        </a:rPr>
                        <a:t>Port-scan reconnaissance</a:t>
                      </a:r>
                    </a:p>
                  </a:txBody>
                  <a:tcPr anchor="ctr" marL="82296" marR="82296" marT="27432" marB="27432">
                    <a:solidFill>
                      <a:srgbClr val="E8EEF7"/>
                    </a:solidFill>
                  </a:tcPr>
                </a:tc>
                <a:tc>
                  <a:txBody>
                    <a:bodyPr wrap="square"/>
                    <a:lstStyle/>
                    <a:p>
                      <a:r>
                        <a:rPr sz="1050" b="0" i="0">
                          <a:solidFill>
                            <a:srgbClr val="3D5A80"/>
                          </a:solidFill>
                          <a:latin typeface="Calibri"/>
                        </a:rPr>
                        <a:t>An external scan reveals exactly which services are reachable, informing an attacker's next move</a:t>
                      </a:r>
                    </a:p>
                  </a:txBody>
                  <a:tcPr anchor="ctr" marL="82296" marR="82296" marT="27432" marB="27432">
                    <a:solidFill>
                      <a:srgbClr val="E8EEF7"/>
                    </a:solidFill>
                  </a:tcPr>
                </a:tc>
                <a:tc>
                  <a:txBody>
                    <a:bodyPr wrap="square"/>
                    <a:lstStyle/>
                    <a:p>
                      <a:r>
                        <a:rPr sz="1050" b="0" i="0">
                          <a:solidFill>
                            <a:srgbClr val="3D5A80"/>
                          </a:solidFill>
                          <a:latin typeface="Calibri"/>
                        </a:rPr>
                        <a:t>Minimizing the exposed service list directly shrinks what a scan finds</a:t>
                      </a:r>
                    </a:p>
                  </a:txBody>
                  <a:tcPr anchor="ctr" marL="82296" marR="82296" marT="27432" marB="27432">
                    <a:solidFill>
                      <a:srgbClr val="E8EEF7"/>
                    </a:solidFill>
                  </a:tcPr>
                </a:tc>
              </a:tr>
              <a:tr h="792480">
                <a:tc>
                  <a:txBody>
                    <a:bodyPr wrap="square"/>
                    <a:lstStyle/>
                    <a:p>
                      <a:r>
                        <a:rPr sz="1050" b="1" i="0">
                          <a:solidFill>
                            <a:srgbClr val="1B2A4A"/>
                          </a:solidFill>
                          <a:latin typeface="Calibri"/>
                        </a:rPr>
                        <a:t>Firewall as the only layer</a:t>
                      </a:r>
                    </a:p>
                  </a:txBody>
                  <a:tcPr anchor="ctr" marL="82296" marR="82296" marT="27432" marB="27432">
                    <a:solidFill>
                      <a:srgbClr val="FFFFFF"/>
                    </a:solidFill>
                  </a:tcPr>
                </a:tc>
                <a:tc>
                  <a:txBody>
                    <a:bodyPr wrap="square"/>
                    <a:lstStyle/>
                    <a:p>
                      <a:r>
                        <a:rPr sz="1050" b="0" i="0">
                          <a:solidFill>
                            <a:srgbClr val="3D5A80"/>
                          </a:solidFill>
                          <a:latin typeface="Calibri"/>
                        </a:rPr>
                        <a:t>A host firewall doesn't stop an attacker already authenticated to an exposed service</a:t>
                      </a:r>
                    </a:p>
                  </a:txBody>
                  <a:tcPr anchor="ctr" marL="82296" marR="82296" marT="27432" marB="27432">
                    <a:solidFill>
                      <a:srgbClr val="FFFFFF"/>
                    </a:solidFill>
                  </a:tcPr>
                </a:tc>
                <a:tc>
                  <a:txBody>
                    <a:bodyPr wrap="square"/>
                    <a:lstStyle/>
                    <a:p>
                      <a:r>
                        <a:rPr sz="1050" b="0" i="0">
                          <a:solidFill>
                            <a:srgbClr val="3D5A80"/>
                          </a:solidFill>
                          <a:latin typeface="Calibri"/>
                        </a:rPr>
                        <a:t>Scopes what's reachable, not what's secure once reached - one layer, not the whole defense</a:t>
                      </a:r>
                    </a:p>
                  </a:txBody>
                  <a:tcPr anchor="ctr" marL="82296" marR="82296" marT="27432" marB="27432">
                    <a:solidFill>
                      <a:srgbClr val="FFFFFF"/>
                    </a:solidFill>
                  </a:tcPr>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10908792" cy="777240"/>
          </a:xfrm>
          <a:prstGeom prst="rect">
            <a:avLst/>
          </a:prstGeom>
          <a:noFill/>
        </p:spPr>
        <p:txBody>
          <a:bodyPr wrap="square" lIns="0" tIns="0" rIns="0" bIns="0" anchor="t">
            <a:spAutoFit/>
          </a:bodyPr>
          <a:lstStyle/>
          <a:p>
            <a:r>
              <a:rPr sz="2900" b="1" i="0">
                <a:solidFill>
                  <a:srgbClr val="1B2A4A"/>
                </a:solidFill>
                <a:latin typeface="Cambria"/>
              </a:rPr>
              <a:t>Interpreting Automated Security Audit Output</a:t>
            </a:r>
          </a:p>
        </p:txBody>
      </p:sp>
      <p:sp>
        <p:nvSpPr>
          <p:cNvPr id="3" name="TextBox 2"/>
          <p:cNvSpPr txBox="1"/>
          <p:nvPr/>
        </p:nvSpPr>
        <p:spPr>
          <a:xfrm>
            <a:off x="640080" y="1243584"/>
            <a:ext cx="10908792" cy="365760"/>
          </a:xfrm>
          <a:prstGeom prst="rect">
            <a:avLst/>
          </a:prstGeom>
          <a:noFill/>
        </p:spPr>
        <p:txBody>
          <a:bodyPr wrap="square" lIns="0" tIns="0" rIns="0" bIns="0" anchor="t">
            <a:spAutoFit/>
          </a:bodyPr>
          <a:lstStyle/>
          <a:p>
            <a:r>
              <a:rPr sz="1250" b="0" i="0">
                <a:solidFill>
                  <a:srgbClr val="3D5A80"/>
                </a:solidFill>
                <a:latin typeface="Calibri"/>
              </a:rPr>
              <a:t>This week's Cyber HW doesn't ask you to write an audit script - it asks you to read one's output like an incident responder would.</a:t>
            </a:r>
          </a:p>
        </p:txBody>
      </p:sp>
      <p:sp>
        <p:nvSpPr>
          <p:cNvPr id="4" name="Rectangle 3"/>
          <p:cNvSpPr/>
          <p:nvPr/>
        </p:nvSpPr>
        <p:spPr>
          <a:xfrm>
            <a:off x="640080" y="1828800"/>
            <a:ext cx="10908792" cy="45720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1828800"/>
            <a:ext cx="1554480" cy="457200"/>
          </a:xfrm>
          <a:prstGeom prst="rect">
            <a:avLst/>
          </a:prstGeom>
          <a:noFill/>
        </p:spPr>
        <p:txBody>
          <a:bodyPr wrap="square" lIns="0" tIns="0" rIns="0" bIns="0" anchor="ctr">
            <a:spAutoFit/>
          </a:bodyPr>
          <a:lstStyle/>
          <a:p>
            <a:pPr algn="l"/>
            <a:r>
              <a:rPr sz="1250" b="1" i="0">
                <a:solidFill>
                  <a:srgbClr val="FFFFFF"/>
                </a:solidFill>
                <a:latin typeface="Calibri"/>
              </a:rPr>
              <a:t>Category</a:t>
            </a:r>
          </a:p>
        </p:txBody>
      </p:sp>
      <p:sp>
        <p:nvSpPr>
          <p:cNvPr id="6" name="TextBox 5"/>
          <p:cNvSpPr txBox="1"/>
          <p:nvPr/>
        </p:nvSpPr>
        <p:spPr>
          <a:xfrm>
            <a:off x="2377440" y="1828800"/>
            <a:ext cx="6035040" cy="457200"/>
          </a:xfrm>
          <a:prstGeom prst="rect">
            <a:avLst/>
          </a:prstGeom>
          <a:noFill/>
        </p:spPr>
        <p:txBody>
          <a:bodyPr wrap="square" lIns="0" tIns="0" rIns="0" bIns="0" anchor="ctr">
            <a:spAutoFit/>
          </a:bodyPr>
          <a:lstStyle/>
          <a:p>
            <a:pPr algn="l"/>
            <a:r>
              <a:rPr sz="1250" b="1" i="0">
                <a:solidFill>
                  <a:srgbClr val="FFFFFF"/>
                </a:solidFill>
                <a:latin typeface="Calibri"/>
              </a:rPr>
              <a:t>Example finding</a:t>
            </a:r>
          </a:p>
        </p:txBody>
      </p:sp>
      <p:sp>
        <p:nvSpPr>
          <p:cNvPr id="7" name="TextBox 6"/>
          <p:cNvSpPr txBox="1"/>
          <p:nvPr/>
        </p:nvSpPr>
        <p:spPr>
          <a:xfrm>
            <a:off x="9875520" y="1828800"/>
            <a:ext cx="1645920" cy="457200"/>
          </a:xfrm>
          <a:prstGeom prst="rect">
            <a:avLst/>
          </a:prstGeom>
          <a:noFill/>
        </p:spPr>
        <p:txBody>
          <a:bodyPr wrap="square" lIns="0" tIns="0" rIns="0" bIns="0" anchor="ctr">
            <a:spAutoFit/>
          </a:bodyPr>
          <a:lstStyle/>
          <a:p>
            <a:pPr algn="l"/>
            <a:r>
              <a:rPr sz="1250" b="1" i="0">
                <a:solidFill>
                  <a:srgbClr val="FFFFFF"/>
                </a:solidFill>
                <a:latin typeface="Calibri"/>
              </a:rPr>
              <a:t>Severity</a:t>
            </a:r>
          </a:p>
        </p:txBody>
      </p:sp>
      <p:sp>
        <p:nvSpPr>
          <p:cNvPr id="8" name="Rectangle 7"/>
          <p:cNvSpPr/>
          <p:nvPr/>
        </p:nvSpPr>
        <p:spPr>
          <a:xfrm>
            <a:off x="640080" y="2286000"/>
            <a:ext cx="10908792" cy="685800"/>
          </a:xfrm>
          <a:prstGeom prst="rect">
            <a:avLst/>
          </a:prstGeom>
          <a:solidFill>
            <a:srgbClr val="E8EEF7"/>
          </a:solidFill>
          <a:ln w="9525">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2286000"/>
            <a:ext cx="1554480" cy="685800"/>
          </a:xfrm>
          <a:prstGeom prst="rect">
            <a:avLst/>
          </a:prstGeom>
          <a:noFill/>
        </p:spPr>
        <p:txBody>
          <a:bodyPr wrap="square" lIns="0" tIns="0" rIns="0" bIns="0" anchor="ctr">
            <a:spAutoFit/>
          </a:bodyPr>
          <a:lstStyle/>
          <a:p>
            <a:pPr algn="l"/>
            <a:r>
              <a:rPr sz="1150" b="1" i="0">
                <a:solidFill>
                  <a:srgbClr val="1B2A4A"/>
                </a:solidFill>
                <a:latin typeface="Calibri"/>
              </a:rPr>
              <a:t>filesystem</a:t>
            </a:r>
          </a:p>
        </p:txBody>
      </p:sp>
      <p:sp>
        <p:nvSpPr>
          <p:cNvPr id="10" name="TextBox 9"/>
          <p:cNvSpPr txBox="1"/>
          <p:nvPr/>
        </p:nvSpPr>
        <p:spPr>
          <a:xfrm>
            <a:off x="2377440" y="2286000"/>
            <a:ext cx="7223760" cy="685800"/>
          </a:xfrm>
          <a:prstGeom prst="rect">
            <a:avLst/>
          </a:prstGeom>
          <a:noFill/>
        </p:spPr>
        <p:txBody>
          <a:bodyPr wrap="square" lIns="0" tIns="0" rIns="0" bIns="0" anchor="ctr">
            <a:spAutoFit/>
          </a:bodyPr>
          <a:lstStyle/>
          <a:p>
            <a:pPr algn="l"/>
            <a:r>
              <a:rPr sz="1050" b="0" i="0">
                <a:solidFill>
                  <a:srgbClr val="3D5A80"/>
                </a:solidFill>
                <a:latin typeface="Calibri"/>
              </a:rPr>
              <a:t>bad_permissions - Wrong owner/mode on /etc/passwd, /etc/shadow, or /etc/sudoers</a:t>
            </a:r>
          </a:p>
        </p:txBody>
      </p:sp>
      <p:sp>
        <p:nvSpPr>
          <p:cNvPr id="11" name="Rounded Rectangle 10"/>
          <p:cNvSpPr/>
          <p:nvPr/>
        </p:nvSpPr>
        <p:spPr>
          <a:xfrm>
            <a:off x="9921240" y="2482596"/>
            <a:ext cx="1371600" cy="292608"/>
          </a:xfrm>
          <a:prstGeom prst="roundRect">
            <a:avLst/>
          </a:prstGeom>
          <a:solidFill>
            <a:srgbClr val="B02A2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50" b="1" i="0">
                <a:solidFill>
                  <a:srgbClr val="FFFFFF"/>
                </a:solidFill>
                <a:latin typeface="Calibri"/>
              </a:rPr>
              <a:t>CRITICAL</a:t>
            </a:r>
          </a:p>
        </p:txBody>
      </p:sp>
      <p:sp>
        <p:nvSpPr>
          <p:cNvPr id="12" name="Rectangle 11"/>
          <p:cNvSpPr/>
          <p:nvPr/>
        </p:nvSpPr>
        <p:spPr>
          <a:xfrm>
            <a:off x="640080" y="2971800"/>
            <a:ext cx="10908792" cy="685800"/>
          </a:xfrm>
          <a:prstGeom prst="rect">
            <a:avLst/>
          </a:prstGeom>
          <a:solidFill>
            <a:srgbClr val="FFFFFF"/>
          </a:solidFill>
          <a:ln w="9525">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77240" y="2971800"/>
            <a:ext cx="1554480" cy="685800"/>
          </a:xfrm>
          <a:prstGeom prst="rect">
            <a:avLst/>
          </a:prstGeom>
          <a:noFill/>
        </p:spPr>
        <p:txBody>
          <a:bodyPr wrap="square" lIns="0" tIns="0" rIns="0" bIns="0" anchor="ctr">
            <a:spAutoFit/>
          </a:bodyPr>
          <a:lstStyle/>
          <a:p>
            <a:pPr algn="l"/>
            <a:r>
              <a:rPr sz="1150" b="1" i="0">
                <a:solidFill>
                  <a:srgbClr val="1B2A4A"/>
                </a:solidFill>
                <a:latin typeface="Calibri"/>
              </a:rPr>
              <a:t>accounts</a:t>
            </a:r>
          </a:p>
        </p:txBody>
      </p:sp>
      <p:sp>
        <p:nvSpPr>
          <p:cNvPr id="14" name="TextBox 13"/>
          <p:cNvSpPr txBox="1"/>
          <p:nvPr/>
        </p:nvSpPr>
        <p:spPr>
          <a:xfrm>
            <a:off x="2377440" y="2971800"/>
            <a:ext cx="7223760" cy="685800"/>
          </a:xfrm>
          <a:prstGeom prst="rect">
            <a:avLst/>
          </a:prstGeom>
          <a:noFill/>
        </p:spPr>
        <p:txBody>
          <a:bodyPr wrap="square" lIns="0" tIns="0" rIns="0" bIns="0" anchor="ctr">
            <a:spAutoFit/>
          </a:bodyPr>
          <a:lstStyle/>
          <a:p>
            <a:pPr algn="l"/>
            <a:r>
              <a:rPr sz="1050" b="0" i="0">
                <a:solidFill>
                  <a:srgbClr val="3D5A80"/>
                </a:solidFill>
                <a:latin typeface="Calibri"/>
              </a:rPr>
              <a:t>duplicate_uid0 - An account other than root has UID 0</a:t>
            </a:r>
          </a:p>
        </p:txBody>
      </p:sp>
      <p:sp>
        <p:nvSpPr>
          <p:cNvPr id="15" name="Rounded Rectangle 14"/>
          <p:cNvSpPr/>
          <p:nvPr/>
        </p:nvSpPr>
        <p:spPr>
          <a:xfrm>
            <a:off x="9921240" y="3168396"/>
            <a:ext cx="1371600" cy="292608"/>
          </a:xfrm>
          <a:prstGeom prst="roundRect">
            <a:avLst/>
          </a:prstGeom>
          <a:solidFill>
            <a:srgbClr val="B02A2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50" b="1" i="0">
                <a:solidFill>
                  <a:srgbClr val="FFFFFF"/>
                </a:solidFill>
                <a:latin typeface="Calibri"/>
              </a:rPr>
              <a:t>CRITICAL</a:t>
            </a:r>
          </a:p>
        </p:txBody>
      </p:sp>
      <p:sp>
        <p:nvSpPr>
          <p:cNvPr id="16" name="Rectangle 15"/>
          <p:cNvSpPr/>
          <p:nvPr/>
        </p:nvSpPr>
        <p:spPr>
          <a:xfrm>
            <a:off x="640080" y="3657600"/>
            <a:ext cx="10908792" cy="685800"/>
          </a:xfrm>
          <a:prstGeom prst="rect">
            <a:avLst/>
          </a:prstGeom>
          <a:solidFill>
            <a:srgbClr val="E8EEF7"/>
          </a:solidFill>
          <a:ln w="9525">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77240" y="3657600"/>
            <a:ext cx="1554480" cy="685800"/>
          </a:xfrm>
          <a:prstGeom prst="rect">
            <a:avLst/>
          </a:prstGeom>
          <a:noFill/>
        </p:spPr>
        <p:txBody>
          <a:bodyPr wrap="square" lIns="0" tIns="0" rIns="0" bIns="0" anchor="ctr">
            <a:spAutoFit/>
          </a:bodyPr>
          <a:lstStyle/>
          <a:p>
            <a:pPr algn="l"/>
            <a:r>
              <a:rPr sz="1150" b="1" i="0">
                <a:solidFill>
                  <a:srgbClr val="1B2A4A"/>
                </a:solidFill>
                <a:latin typeface="Calibri"/>
              </a:rPr>
              <a:t>accounts</a:t>
            </a:r>
          </a:p>
        </p:txBody>
      </p:sp>
      <p:sp>
        <p:nvSpPr>
          <p:cNvPr id="18" name="TextBox 17"/>
          <p:cNvSpPr txBox="1"/>
          <p:nvPr/>
        </p:nvSpPr>
        <p:spPr>
          <a:xfrm>
            <a:off x="2377440" y="3657600"/>
            <a:ext cx="7223760" cy="685800"/>
          </a:xfrm>
          <a:prstGeom prst="rect">
            <a:avLst/>
          </a:prstGeom>
          <a:noFill/>
        </p:spPr>
        <p:txBody>
          <a:bodyPr wrap="square" lIns="0" tIns="0" rIns="0" bIns="0" anchor="ctr">
            <a:spAutoFit/>
          </a:bodyPr>
          <a:lstStyle/>
          <a:p>
            <a:pPr algn="l"/>
            <a:r>
              <a:rPr sz="1050" b="0" i="0">
                <a:solidFill>
                  <a:srgbClr val="3D5A80"/>
                </a:solidFill>
                <a:latin typeface="Calibri"/>
              </a:rPr>
              <a:t>stale_privileged_account - A wheel-group member hasn't logged in within 90 days</a:t>
            </a:r>
          </a:p>
        </p:txBody>
      </p:sp>
      <p:sp>
        <p:nvSpPr>
          <p:cNvPr id="19" name="Rounded Rectangle 18"/>
          <p:cNvSpPr/>
          <p:nvPr/>
        </p:nvSpPr>
        <p:spPr>
          <a:xfrm>
            <a:off x="9921240" y="3854196"/>
            <a:ext cx="1371600" cy="292608"/>
          </a:xfrm>
          <a:prstGeom prst="roundRect">
            <a:avLst/>
          </a:prstGeom>
          <a:solidFill>
            <a:srgbClr val="B86A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50" b="1" i="0">
                <a:solidFill>
                  <a:srgbClr val="FFFFFF"/>
                </a:solidFill>
                <a:latin typeface="Calibri"/>
              </a:rPr>
              <a:t>WARNING</a:t>
            </a:r>
          </a:p>
        </p:txBody>
      </p:sp>
      <p:sp>
        <p:nvSpPr>
          <p:cNvPr id="20" name="Rectangle 19"/>
          <p:cNvSpPr/>
          <p:nvPr/>
        </p:nvSpPr>
        <p:spPr>
          <a:xfrm>
            <a:off x="640080" y="4343400"/>
            <a:ext cx="10908792" cy="685800"/>
          </a:xfrm>
          <a:prstGeom prst="rect">
            <a:avLst/>
          </a:prstGeom>
          <a:solidFill>
            <a:srgbClr val="FFFFFF"/>
          </a:solidFill>
          <a:ln w="9525">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77240" y="4343400"/>
            <a:ext cx="1554480" cy="685800"/>
          </a:xfrm>
          <a:prstGeom prst="rect">
            <a:avLst/>
          </a:prstGeom>
          <a:noFill/>
        </p:spPr>
        <p:txBody>
          <a:bodyPr wrap="square" lIns="0" tIns="0" rIns="0" bIns="0" anchor="ctr">
            <a:spAutoFit/>
          </a:bodyPr>
          <a:lstStyle/>
          <a:p>
            <a:pPr algn="l"/>
            <a:r>
              <a:rPr sz="1150" b="1" i="0">
                <a:solidFill>
                  <a:srgbClr val="1B2A4A"/>
                </a:solidFill>
                <a:latin typeface="Calibri"/>
              </a:rPr>
              <a:t>network</a:t>
            </a:r>
          </a:p>
        </p:txBody>
      </p:sp>
      <p:sp>
        <p:nvSpPr>
          <p:cNvPr id="22" name="TextBox 21"/>
          <p:cNvSpPr txBox="1"/>
          <p:nvPr/>
        </p:nvSpPr>
        <p:spPr>
          <a:xfrm>
            <a:off x="2377440" y="4343400"/>
            <a:ext cx="7223760" cy="685800"/>
          </a:xfrm>
          <a:prstGeom prst="rect">
            <a:avLst/>
          </a:prstGeom>
          <a:noFill/>
        </p:spPr>
        <p:txBody>
          <a:bodyPr wrap="square" lIns="0" tIns="0" rIns="0" bIns="0" anchor="ctr">
            <a:spAutoFit/>
          </a:bodyPr>
          <a:lstStyle/>
          <a:p>
            <a:pPr algn="l"/>
            <a:r>
              <a:rPr sz="1050" b="0" i="0">
                <a:solidFill>
                  <a:srgbClr val="3D5A80"/>
                </a:solidFill>
                <a:latin typeface="Calibri"/>
              </a:rPr>
              <a:t>external_connection - Established outbound connection to a non-private address</a:t>
            </a:r>
          </a:p>
        </p:txBody>
      </p:sp>
      <p:sp>
        <p:nvSpPr>
          <p:cNvPr id="23" name="Rounded Rectangle 22"/>
          <p:cNvSpPr/>
          <p:nvPr/>
        </p:nvSpPr>
        <p:spPr>
          <a:xfrm>
            <a:off x="9921240" y="4539996"/>
            <a:ext cx="1371600" cy="292608"/>
          </a:xfrm>
          <a:prstGeom prst="roundRect">
            <a:avLst/>
          </a:prstGeom>
          <a:solidFill>
            <a:srgbClr val="6B748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50" b="1" i="0">
                <a:solidFill>
                  <a:srgbClr val="FFFFFF"/>
                </a:solidFill>
                <a:latin typeface="Calibri"/>
              </a:rPr>
              <a:t>INFO</a:t>
            </a:r>
          </a:p>
        </p:txBody>
      </p:sp>
      <p:sp>
        <p:nvSpPr>
          <p:cNvPr id="24" name="Rectangle 23"/>
          <p:cNvSpPr/>
          <p:nvPr/>
        </p:nvSpPr>
        <p:spPr>
          <a:xfrm>
            <a:off x="640080" y="5029200"/>
            <a:ext cx="10908792" cy="685800"/>
          </a:xfrm>
          <a:prstGeom prst="rect">
            <a:avLst/>
          </a:prstGeom>
          <a:solidFill>
            <a:srgbClr val="E8EEF7"/>
          </a:solidFill>
          <a:ln w="9525">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77240" y="5029200"/>
            <a:ext cx="1554480" cy="685800"/>
          </a:xfrm>
          <a:prstGeom prst="rect">
            <a:avLst/>
          </a:prstGeom>
          <a:noFill/>
        </p:spPr>
        <p:txBody>
          <a:bodyPr wrap="square" lIns="0" tIns="0" rIns="0" bIns="0" anchor="ctr">
            <a:spAutoFit/>
          </a:bodyPr>
          <a:lstStyle/>
          <a:p>
            <a:pPr algn="l"/>
            <a:r>
              <a:rPr sz="1150" b="1" i="0">
                <a:solidFill>
                  <a:srgbClr val="1B2A4A"/>
                </a:solidFill>
                <a:latin typeface="Calibri"/>
              </a:rPr>
              <a:t>ssh</a:t>
            </a:r>
          </a:p>
        </p:txBody>
      </p:sp>
      <p:sp>
        <p:nvSpPr>
          <p:cNvPr id="26" name="TextBox 25"/>
          <p:cNvSpPr txBox="1"/>
          <p:nvPr/>
        </p:nvSpPr>
        <p:spPr>
          <a:xfrm>
            <a:off x="2377440" y="5029200"/>
            <a:ext cx="7223760" cy="685800"/>
          </a:xfrm>
          <a:prstGeom prst="rect">
            <a:avLst/>
          </a:prstGeom>
          <a:noFill/>
        </p:spPr>
        <p:txBody>
          <a:bodyPr wrap="square" lIns="0" tIns="0" rIns="0" bIns="0" anchor="ctr">
            <a:spAutoFit/>
          </a:bodyPr>
          <a:lstStyle/>
          <a:p>
            <a:pPr algn="l"/>
            <a:r>
              <a:rPr sz="1050" b="0" i="0">
                <a:solidFill>
                  <a:srgbClr val="3D5A80"/>
                </a:solidFill>
                <a:latin typeface="Calibri"/>
              </a:rPr>
              <a:t>ssh_root_login_enabled - PermitRootLogin yes in sshd_config</a:t>
            </a:r>
          </a:p>
        </p:txBody>
      </p:sp>
      <p:sp>
        <p:nvSpPr>
          <p:cNvPr id="27" name="Rounded Rectangle 26"/>
          <p:cNvSpPr/>
          <p:nvPr/>
        </p:nvSpPr>
        <p:spPr>
          <a:xfrm>
            <a:off x="9921240" y="5225796"/>
            <a:ext cx="1371600" cy="292608"/>
          </a:xfrm>
          <a:prstGeom prst="roundRect">
            <a:avLst/>
          </a:prstGeom>
          <a:solidFill>
            <a:srgbClr val="B02A2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50" b="1" i="0">
                <a:solidFill>
                  <a:srgbClr val="FFFFFF"/>
                </a:solidFill>
                <a:latin typeface="Calibri"/>
              </a:rPr>
              <a:t>CRITICAL</a:t>
            </a:r>
          </a:p>
        </p:txBody>
      </p:sp>
      <p:sp>
        <p:nvSpPr>
          <p:cNvPr id="28" name="Rectangle 27"/>
          <p:cNvSpPr/>
          <p:nvPr/>
        </p:nvSpPr>
        <p:spPr>
          <a:xfrm>
            <a:off x="640080" y="5715000"/>
            <a:ext cx="10908792" cy="685800"/>
          </a:xfrm>
          <a:prstGeom prst="rect">
            <a:avLst/>
          </a:prstGeom>
          <a:solidFill>
            <a:srgbClr val="FFFFFF"/>
          </a:solidFill>
          <a:ln w="9525">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77240" y="5715000"/>
            <a:ext cx="1554480" cy="685800"/>
          </a:xfrm>
          <a:prstGeom prst="rect">
            <a:avLst/>
          </a:prstGeom>
          <a:noFill/>
        </p:spPr>
        <p:txBody>
          <a:bodyPr wrap="square" lIns="0" tIns="0" rIns="0" bIns="0" anchor="ctr">
            <a:spAutoFit/>
          </a:bodyPr>
          <a:lstStyle/>
          <a:p>
            <a:pPr algn="l"/>
            <a:r>
              <a:rPr sz="1150" b="1" i="0">
                <a:solidFill>
                  <a:srgbClr val="1B2A4A"/>
                </a:solidFill>
                <a:latin typeface="Calibri"/>
              </a:rPr>
              <a:t>cron</a:t>
            </a:r>
          </a:p>
        </p:txBody>
      </p:sp>
      <p:sp>
        <p:nvSpPr>
          <p:cNvPr id="30" name="TextBox 29"/>
          <p:cNvSpPr txBox="1"/>
          <p:nvPr/>
        </p:nvSpPr>
        <p:spPr>
          <a:xfrm>
            <a:off x="2377440" y="5715000"/>
            <a:ext cx="7223760" cy="685800"/>
          </a:xfrm>
          <a:prstGeom prst="rect">
            <a:avLst/>
          </a:prstGeom>
          <a:noFill/>
        </p:spPr>
        <p:txBody>
          <a:bodyPr wrap="square" lIns="0" tIns="0" rIns="0" bIns="0" anchor="ctr">
            <a:spAutoFit/>
          </a:bodyPr>
          <a:lstStyle/>
          <a:p>
            <a:pPr algn="l"/>
            <a:r>
              <a:rPr sz="1050" b="0" i="0">
                <a:solidFill>
                  <a:srgbClr val="3D5A80"/>
                </a:solidFill>
                <a:latin typeface="Calibri"/>
              </a:rPr>
              <a:t>cron_writable_script - A root-run scheduled script is group/other-writable</a:t>
            </a:r>
          </a:p>
        </p:txBody>
      </p:sp>
      <p:sp>
        <p:nvSpPr>
          <p:cNvPr id="31" name="Rounded Rectangle 30"/>
          <p:cNvSpPr/>
          <p:nvPr/>
        </p:nvSpPr>
        <p:spPr>
          <a:xfrm>
            <a:off x="9921240" y="5911596"/>
            <a:ext cx="1371600" cy="292608"/>
          </a:xfrm>
          <a:prstGeom prst="roundRect">
            <a:avLst/>
          </a:prstGeom>
          <a:solidFill>
            <a:srgbClr val="B02A2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50" b="1" i="0">
                <a:solidFill>
                  <a:srgbClr val="FFFFFF"/>
                </a:solidFill>
                <a:latin typeface="Calibri"/>
              </a:rPr>
              <a:t>CRITICAL</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40080" y="457200"/>
            <a:ext cx="10908792" cy="777240"/>
          </a:xfrm>
          <a:prstGeom prst="rect">
            <a:avLst/>
          </a:prstGeom>
          <a:noFill/>
        </p:spPr>
        <p:txBody>
          <a:bodyPr wrap="square" lIns="0" tIns="0" rIns="0" bIns="0" anchor="t">
            <a:spAutoFit/>
          </a:bodyPr>
          <a:lstStyle/>
          <a:p>
            <a:r>
              <a:rPr sz="2900" b="1" i="0">
                <a:solidFill>
                  <a:srgbClr val="1B2A4A"/>
                </a:solidFill>
                <a:latin typeface="Cambria"/>
              </a:rPr>
              <a:t>Prioritizing Remediation: Risk, Not Just Count</a:t>
            </a:r>
          </a:p>
        </p:txBody>
      </p:sp>
      <p:sp>
        <p:nvSpPr>
          <p:cNvPr id="3" name="TextBox 3"/>
          <p:cNvSpPr txBox="1"/>
          <p:nvPr/>
        </p:nvSpPr>
        <p:spPr>
          <a:xfrm>
            <a:off x="640080" y="1243584"/>
            <a:ext cx="10908792" cy="365760"/>
          </a:xfrm>
          <a:prstGeom prst="rect">
            <a:avLst/>
          </a:prstGeom>
          <a:noFill/>
        </p:spPr>
        <p:txBody>
          <a:bodyPr wrap="square" lIns="0" tIns="0" rIns="0" bIns="0" anchor="t">
            <a:spAutoFit/>
          </a:bodyPr>
          <a:lstStyle/>
          <a:p>
            <a:r>
              <a:rPr sz="1250" b="0" i="0">
                <a:solidFill>
                  <a:srgbClr val="3D5A80"/>
                </a:solidFill>
                <a:latin typeface="Calibri"/>
              </a:rPr>
              <a:t>Severity is a per-finding label. Risk is a judgment - and Cyber HW 2 grades the judgment, not just the label.</a:t>
            </a:r>
          </a:p>
        </p:txBody>
      </p:sp>
      <p:graphicFrame>
        <p:nvGraphicFramePr>
          <p:cNvPr id="4" name="Table 4"/>
          <p:cNvGraphicFramePr>
            <a:graphicFrameLocks noGrp="1"/>
          </p:cNvGraphicFramePr>
          <p:nvPr/>
        </p:nvGraphicFramePr>
        <p:xfrm>
          <a:off x="640080" y="1828800"/>
          <a:ext cx="10908792" cy="4754880"/>
        </p:xfrm>
        <a:graphic>
          <a:graphicData uri="http://schemas.openxmlformats.org/drawingml/2006/table">
            <a:tbl>
              <a:tblPr/>
              <a:tblGrid>
                <a:gridCol w="3200000">
                  <a:extLst>
                    <a:ext uri="{9D8B030D-6E8A-4147-A177-3AD203B41FA5}">
                      <a16:colId xmlns:a16="http://schemas.microsoft.com/office/drawing/2014/main" val="20000"/>
                    </a:ext>
                  </a:extLst>
                </a:gridCol>
                <a:gridCol w="2400000">
                  <a:extLst>
                    <a:ext uri="{9D8B030D-6E8A-4147-A177-3AD203B41FA5}">
                      <a16:colId xmlns:a16="http://schemas.microsoft.com/office/drawing/2014/main" val="20001"/>
                    </a:ext>
                  </a:extLst>
                </a:gridCol>
                <a:gridCol w="5308792">
                  <a:extLst>
                    <a:ext uri="{9D8B030D-6E8A-4147-A177-3AD203B41FA5}">
                      <a16:colId xmlns:a16="http://schemas.microsoft.com/office/drawing/2014/main" val="20002"/>
                    </a:ext>
                  </a:extLst>
                </a:gridCol>
              </a:tblGrid>
              <a:tr h="792480">
                <a:tc>
                  <a:txBody>
                    <a:bodyPr/>
                    <a:lstStyle/>
                    <a:p>
                      <a:r>
                        <a:rPr sz="1200" b="1" i="0">
                          <a:solidFill>
                            <a:srgbClr val="FFFFFF"/>
                          </a:solidFill>
                          <a:latin typeface="Calibri"/>
                        </a:rPr>
                        <a:t>Ask</a:t>
                      </a:r>
                    </a:p>
                  </a:txBody>
                  <a:tcPr marL="82296" marR="82296" marT="27432" marB="27432" anchor="ctr">
                    <a:solidFill>
                      <a:srgbClr val="1B2A4A"/>
                    </a:solidFill>
                  </a:tcPr>
                </a:tc>
                <a:tc>
                  <a:txBody>
                    <a:bodyPr/>
                    <a:lstStyle/>
                    <a:p>
                      <a:r>
                        <a:rPr sz="1200" b="1" i="0">
                          <a:solidFill>
                            <a:srgbClr val="FFFFFF"/>
                          </a:solidFill>
                          <a:latin typeface="Calibri"/>
                        </a:rPr>
                        <a:t>Why it matters</a:t>
                      </a:r>
                    </a:p>
                  </a:txBody>
                  <a:tcPr marL="82296" marR="82296" marT="27432" marB="27432" anchor="ctr">
                    <a:solidFill>
                      <a:srgbClr val="1B2A4A"/>
                    </a:solidFill>
                  </a:tcPr>
                </a:tc>
                <a:tc>
                  <a:txBody>
                    <a:bodyPr/>
                    <a:lstStyle/>
                    <a:p>
                      <a:r>
                        <a:rPr sz="1200" b="1" i="0">
                          <a:solidFill>
                            <a:srgbClr val="FFFFFF"/>
                          </a:solidFill>
                          <a:latin typeface="Calibri"/>
                        </a:rPr>
                        <a:t>Example</a:t>
                      </a:r>
                    </a:p>
                  </a:txBody>
                  <a:tcPr marL="82296" marR="82296" marT="27432" marB="27432" anchor="ctr">
                    <a:solidFill>
                      <a:srgbClr val="1B2A4A"/>
                    </a:solidFill>
                  </a:tcPr>
                </a:tc>
                <a:extLst>
                  <a:ext uri="{0D108BD9-81ED-4DB2-BD59-A6C34878D82A}">
                    <a16:rowId xmlns:a16="http://schemas.microsoft.com/office/drawing/2014/main" val="10000"/>
                  </a:ext>
                </a:extLst>
              </a:tr>
              <a:tr h="792480">
                <a:tc>
                  <a:txBody>
                    <a:bodyPr/>
                    <a:lstStyle/>
                    <a:p>
                      <a:r>
                        <a:rPr sz="1050" b="1" i="0">
                          <a:solidFill>
                            <a:srgbClr val="1B2A4A"/>
                          </a:solidFill>
                          <a:latin typeface="Calibri"/>
                        </a:rPr>
                        <a:t>Reachable without already being on the box?</a:t>
                      </a:r>
                    </a:p>
                  </a:txBody>
                  <a:tcPr marL="82296" marR="82296" marT="27432" marB="27432" anchor="ctr">
                    <a:solidFill>
                      <a:srgbClr val="FFFFFF"/>
                    </a:solidFill>
                  </a:tcPr>
                </a:tc>
                <a:tc>
                  <a:txBody>
                    <a:bodyPr/>
                    <a:lstStyle/>
                    <a:p>
                      <a:r>
                        <a:rPr sz="1050" b="0" i="0">
                          <a:solidFill>
                            <a:srgbClr val="3D5A80"/>
                          </a:solidFill>
                          <a:latin typeface="Calibri"/>
                        </a:rPr>
                        <a:t>An exposed WARNING can outrank a CRITICAL that needs existing local access</a:t>
                      </a:r>
                    </a:p>
                  </a:txBody>
                  <a:tcPr marL="82296" marR="82296" marT="27432" marB="27432" anchor="ctr">
                    <a:solidFill>
                      <a:srgbClr val="FFFFFF"/>
                    </a:solidFill>
                  </a:tcPr>
                </a:tc>
                <a:tc>
                  <a:txBody>
                    <a:bodyPr/>
                    <a:lstStyle/>
                    <a:p>
                      <a:r>
                        <a:rPr sz="1050" b="0" i="0">
                          <a:solidFill>
                            <a:srgbClr val="3D5A80"/>
                          </a:solidFill>
                          <a:latin typeface="Calibri"/>
                        </a:rPr>
                        <a:t>unexpected_listener on a public interface vs. cron_writable_script on a root-only path</a:t>
                      </a:r>
                    </a:p>
                  </a:txBody>
                  <a:tcPr marL="82296" marR="82296" marT="27432" marB="27432" anchor="ctr">
                    <a:solidFill>
                      <a:srgbClr val="FFFFFF"/>
                    </a:solidFill>
                  </a:tcPr>
                </a:tc>
                <a:extLst>
                  <a:ext uri="{0D108BD9-81ED-4DB2-BD59-A6C34878D82A}">
                    <a16:rowId xmlns:a16="http://schemas.microsoft.com/office/drawing/2014/main" val="10001"/>
                  </a:ext>
                </a:extLst>
              </a:tr>
              <a:tr h="792480">
                <a:tc>
                  <a:txBody>
                    <a:bodyPr/>
                    <a:lstStyle/>
                    <a:p>
                      <a:r>
                        <a:rPr sz="1050" b="1" i="0">
                          <a:solidFill>
                            <a:srgbClr val="1B2A4A"/>
                          </a:solidFill>
                          <a:latin typeface="Calibri"/>
                        </a:rPr>
                        <a:t>Leads directly to root or full data access?</a:t>
                      </a:r>
                    </a:p>
                  </a:txBody>
                  <a:tcPr marL="82296" marR="82296" marT="27432" marB="27432" anchor="ctr">
                    <a:solidFill>
                      <a:srgbClr val="E8EEF7"/>
                    </a:solidFill>
                  </a:tcPr>
                </a:tc>
                <a:tc>
                  <a:txBody>
                    <a:bodyPr/>
                    <a:lstStyle/>
                    <a:p>
                      <a:r>
                        <a:rPr sz="1050" b="0" i="0">
                          <a:solidFill>
                            <a:srgbClr val="3D5A80"/>
                          </a:solidFill>
                          <a:latin typeface="Calibri"/>
                        </a:rPr>
                        <a:t>Some findings are one step from full compromise; others need a second flaw to matter</a:t>
                      </a:r>
                    </a:p>
                  </a:txBody>
                  <a:tcPr marL="82296" marR="82296" marT="27432" marB="27432" anchor="ctr">
                    <a:solidFill>
                      <a:srgbClr val="E8EEF7"/>
                    </a:solidFill>
                  </a:tcPr>
                </a:tc>
                <a:tc>
                  <a:txBody>
                    <a:bodyPr/>
                    <a:lstStyle/>
                    <a:p>
                      <a:r>
                        <a:rPr sz="1050" b="0" i="0">
                          <a:solidFill>
                            <a:srgbClr val="3D5A80"/>
                          </a:solidFill>
                          <a:latin typeface="Calibri"/>
                        </a:rPr>
                        <a:t>duplicate_uid0 vs. excessive_authorized_keys</a:t>
                      </a:r>
                    </a:p>
                  </a:txBody>
                  <a:tcPr marL="82296" marR="82296" marT="27432" marB="27432" anchor="ctr">
                    <a:solidFill>
                      <a:srgbClr val="E8EEF7"/>
                    </a:solidFill>
                  </a:tcPr>
                </a:tc>
                <a:extLst>
                  <a:ext uri="{0D108BD9-81ED-4DB2-BD59-A6C34878D82A}">
                    <a16:rowId xmlns:a16="http://schemas.microsoft.com/office/drawing/2014/main" val="10002"/>
                  </a:ext>
                </a:extLst>
              </a:tr>
              <a:tr h="792480">
                <a:tc>
                  <a:txBody>
                    <a:bodyPr/>
                    <a:lstStyle/>
                    <a:p>
                      <a:r>
                        <a:rPr sz="1050" b="1" i="0">
                          <a:solidFill>
                            <a:srgbClr val="1B2A4A"/>
                          </a:solidFill>
                          <a:latin typeface="Calibri"/>
                        </a:rPr>
                        <a:t>Affects one account/service, or the whole host?</a:t>
                      </a:r>
                    </a:p>
                  </a:txBody>
                  <a:tcPr marL="82296" marR="82296" marT="27432" marB="27432" anchor="ctr">
                    <a:solidFill>
                      <a:srgbClr val="FFFFFF"/>
                    </a:solidFill>
                  </a:tcPr>
                </a:tc>
                <a:tc>
                  <a:txBody>
                    <a:bodyPr/>
                    <a:lstStyle/>
                    <a:p>
                      <a:r>
                        <a:rPr sz="1050" b="0" i="0">
                          <a:solidFill>
                            <a:srgbClr val="3D5A80"/>
                          </a:solidFill>
                          <a:latin typeface="Calibri"/>
                        </a:rPr>
                        <a:t>Blast radius changes the ranking even at equal severity</a:t>
                      </a:r>
                    </a:p>
                  </a:txBody>
                  <a:tcPr marL="82296" marR="82296" marT="27432" marB="27432" anchor="ctr">
                    <a:solidFill>
                      <a:srgbClr val="FFFFFF"/>
                    </a:solidFill>
                  </a:tcPr>
                </a:tc>
                <a:tc>
                  <a:txBody>
                    <a:bodyPr/>
                    <a:lstStyle/>
                    <a:p>
                      <a:r>
                        <a:rPr sz="1050" b="0" i="0">
                          <a:solidFill>
                            <a:srgbClr val="3D5A80"/>
                          </a:solidFill>
                          <a:latin typeface="Calibri"/>
                        </a:rPr>
                        <a:t>a stale wheel member vs. bad_permissions on /etc/shadow</a:t>
                      </a:r>
                    </a:p>
                  </a:txBody>
                  <a:tcPr marL="82296" marR="82296" marT="27432" marB="27432" anchor="ctr">
                    <a:solidFill>
                      <a:srgbClr val="FFFFFF"/>
                    </a:solidFill>
                  </a:tcPr>
                </a:tc>
                <a:extLst>
                  <a:ext uri="{0D108BD9-81ED-4DB2-BD59-A6C34878D82A}">
                    <a16:rowId xmlns:a16="http://schemas.microsoft.com/office/drawing/2014/main" val="10003"/>
                  </a:ext>
                </a:extLst>
              </a:tr>
              <a:tr h="792480">
                <a:tc>
                  <a:txBody>
                    <a:bodyPr/>
                    <a:lstStyle/>
                    <a:p>
                      <a:r>
                        <a:rPr sz="1050" b="1" i="0">
                          <a:solidFill>
                            <a:srgbClr val="1B2A4A"/>
                          </a:solidFill>
                          <a:latin typeface="Calibri"/>
                        </a:rPr>
                        <a:t>Would this category get noisier as the fleet grows?</a:t>
                      </a:r>
                    </a:p>
                  </a:txBody>
                  <a:tcPr marL="82296" marR="82296" marT="27432" marB="27432" anchor="ctr">
                    <a:solidFill>
                      <a:srgbClr val="E8EEF7"/>
                    </a:solidFill>
                  </a:tcPr>
                </a:tc>
                <a:tc>
                  <a:txBody>
                    <a:bodyPr/>
                    <a:lstStyle/>
                    <a:p>
                      <a:r>
                        <a:rPr sz="1050" b="0" i="0">
                          <a:solidFill>
                            <a:srgbClr val="3D5A80"/>
                          </a:solidFill>
                          <a:latin typeface="Calibri"/>
                        </a:rPr>
                        <a:t>A whitelist- or threshold-based check needs a scaling plan or it gets tuned off entirely</a:t>
                      </a:r>
                    </a:p>
                  </a:txBody>
                  <a:tcPr marL="82296" marR="82296" marT="27432" marB="27432" anchor="ctr">
                    <a:solidFill>
                      <a:srgbClr val="E8EEF7"/>
                    </a:solidFill>
                  </a:tcPr>
                </a:tc>
                <a:tc>
                  <a:txBody>
                    <a:bodyPr/>
                    <a:lstStyle/>
                    <a:p>
                      <a:r>
                        <a:rPr sz="1050" b="0" i="0">
                          <a:solidFill>
                            <a:srgbClr val="3D5A80"/>
                          </a:solidFill>
                          <a:latin typeface="Calibri"/>
                        </a:rPr>
                        <a:t>Part 3 asks you to propose that plan for one category</a:t>
                      </a:r>
                    </a:p>
                  </a:txBody>
                  <a:tcPr marL="82296" marR="82296" marT="27432" marB="27432" anchor="ctr">
                    <a:solidFill>
                      <a:srgbClr val="E8EEF7"/>
                    </a:solidFill>
                  </a:tcPr>
                </a:tc>
                <a:extLst>
                  <a:ext uri="{0D108BD9-81ED-4DB2-BD59-A6C34878D82A}">
                    <a16:rowId xmlns:a16="http://schemas.microsoft.com/office/drawing/2014/main" val="10004"/>
                  </a:ext>
                </a:extLst>
              </a:tr>
              <a:tr h="792480">
                <a:tc>
                  <a:txBody>
                    <a:bodyPr/>
                    <a:lstStyle/>
                    <a:p>
                      <a:r>
                        <a:rPr sz="1050" b="1" i="0">
                          <a:solidFill>
                            <a:srgbClr val="1B2A4A"/>
                          </a:solidFill>
                          <a:latin typeface="Calibri"/>
                        </a:rPr>
                        <a:t>Where do you look up a technique this script wouldn't catch?</a:t>
                      </a:r>
                    </a:p>
                  </a:txBody>
                  <a:tcPr marL="82296" marR="82296" marT="27432" marB="27432" anchor="ctr">
                    <a:solidFill>
                      <a:srgbClr val="FFFFFF"/>
                    </a:solidFill>
                  </a:tcPr>
                </a:tc>
                <a:tc>
                  <a:txBody>
                    <a:bodyPr/>
                    <a:lstStyle/>
                    <a:p>
                      <a:r>
                        <a:rPr sz="1050" b="0" i="0">
                          <a:solidFill>
                            <a:srgbClr val="3D5A80"/>
                          </a:solidFill>
                          <a:latin typeface="Calibri"/>
                        </a:rPr>
                        <a:t>MITRE ATT&amp;CK (attack.mitre.org) is the standard vocabulary for naming techniques</a:t>
                      </a:r>
                    </a:p>
                  </a:txBody>
                  <a:tcPr marL="82296" marR="82296" marT="27432" marB="27432" anchor="ctr">
                    <a:solidFill>
                      <a:srgbClr val="FFFFFF"/>
                    </a:solidFill>
                  </a:tcPr>
                </a:tc>
                <a:tc>
                  <a:txBody>
                    <a:bodyPr/>
                    <a:lstStyle/>
                    <a:p>
                      <a:r>
                        <a:rPr sz="1050" b="0" i="0">
                          <a:solidFill>
                            <a:srgbClr val="3D5A80"/>
                          </a:solidFill>
                          <a:latin typeface="Calibri"/>
                        </a:rPr>
                        <a:t>Part 3.2 asks for a specific technique ID</a:t>
                      </a:r>
                    </a:p>
                  </a:txBody>
                  <a:tcPr marL="82296" marR="82296" marT="27432" marB="27432" anchor="ctr">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1B2A4A"/>
        </a:solidFill>
        <a:effectLst/>
      </p:bgPr>
    </p:bg>
    <p:spTree>
      <p:nvGrpSpPr>
        <p:cNvPr id="1" name=""/>
        <p:cNvGrpSpPr/>
        <p:nvPr/>
      </p:nvGrpSpPr>
      <p:grpSpPr>
        <a:xfrm>
          <a:off x="0" y="0"/>
          <a:ext cx="0" cy="0"/>
          <a:chOff x="0" y="0"/>
          <a:chExt cx="0" cy="0"/>
        </a:xfrm>
      </p:grpSpPr>
      <p:sp>
        <p:nvSpPr>
          <p:cNvPr id="2" name="Rectangle 1"/>
          <p:cNvSpPr/>
          <p:nvPr/>
        </p:nvSpPr>
        <p:spPr>
          <a:xfrm>
            <a:off x="822960" y="2962656"/>
            <a:ext cx="1005840" cy="100584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3000" b="1" i="0">
                <a:solidFill>
                  <a:srgbClr val="1B2A4A"/>
                </a:solidFill>
                <a:latin typeface="Cambria"/>
              </a:rPr>
              <a:t>06</a:t>
            </a:r>
          </a:p>
        </p:txBody>
      </p:sp>
      <p:sp>
        <p:nvSpPr>
          <p:cNvPr id="3" name="TextBox 2"/>
          <p:cNvSpPr txBox="1"/>
          <p:nvPr/>
        </p:nvSpPr>
        <p:spPr>
          <a:xfrm>
            <a:off x="2103120" y="3008376"/>
            <a:ext cx="9235440" cy="914400"/>
          </a:xfrm>
          <a:prstGeom prst="rect">
            <a:avLst/>
          </a:prstGeom>
          <a:noFill/>
        </p:spPr>
        <p:txBody>
          <a:bodyPr wrap="square" lIns="0" tIns="0" rIns="0" bIns="0" anchor="ctr">
            <a:spAutoFit/>
          </a:bodyPr>
          <a:lstStyle/>
          <a:p>
            <a:pPr algn="l"/>
            <a:r>
              <a:rPr sz="3600" b="1" i="0">
                <a:solidFill>
                  <a:srgbClr val="FFFFFF"/>
                </a:solidFill>
                <a:latin typeface="Cambria"/>
              </a:rPr>
              <a:t>This Week's Work</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10908792" cy="777240"/>
          </a:xfrm>
          <a:prstGeom prst="rect">
            <a:avLst/>
          </a:prstGeom>
          <a:noFill/>
        </p:spPr>
        <p:txBody>
          <a:bodyPr wrap="square" lIns="0" tIns="0" rIns="0" bIns="0" anchor="t">
            <a:spAutoFit/>
          </a:bodyPr>
          <a:lstStyle/>
          <a:p>
            <a:r>
              <a:rPr sz="2900" b="1" i="0">
                <a:solidFill>
                  <a:srgbClr val="1B2A4A"/>
                </a:solidFill>
                <a:latin typeface="Cambria"/>
              </a:rPr>
              <a:t>Lab 2 - Linux Network Services &amp; Privilege Management</a:t>
            </a:r>
          </a:p>
        </p:txBody>
      </p:sp>
      <p:sp>
        <p:nvSpPr>
          <p:cNvPr id="3" name="Rounded Rectangle 2"/>
          <p:cNvSpPr/>
          <p:nvPr/>
        </p:nvSpPr>
        <p:spPr>
          <a:xfrm>
            <a:off x="640080" y="1600200"/>
            <a:ext cx="6400800" cy="352044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41248" y="1709928"/>
            <a:ext cx="5998464" cy="320040"/>
          </a:xfrm>
          <a:prstGeom prst="rect">
            <a:avLst/>
          </a:prstGeom>
          <a:noFill/>
        </p:spPr>
        <p:txBody>
          <a:bodyPr wrap="square" lIns="0" tIns="0" rIns="0" bIns="0" anchor="t">
            <a:spAutoFit/>
          </a:bodyPr>
          <a:lstStyle/>
          <a:p>
            <a:pPr algn="l"/>
            <a:r>
              <a:rPr sz="1500" b="1" i="0">
                <a:solidFill>
                  <a:srgbClr val="1B2A4A"/>
                </a:solidFill>
                <a:latin typeface="Cambria"/>
              </a:rPr>
              <a:t>Objectives</a:t>
            </a:r>
          </a:p>
        </p:txBody>
      </p:sp>
      <p:sp>
        <p:nvSpPr>
          <p:cNvPr id="5" name="TextBox 4"/>
          <p:cNvSpPr txBox="1"/>
          <p:nvPr/>
        </p:nvSpPr>
        <p:spPr>
          <a:xfrm>
            <a:off x="841248" y="2103120"/>
            <a:ext cx="5998464" cy="2926080"/>
          </a:xfrm>
          <a:prstGeom prst="rect">
            <a:avLst/>
          </a:prstGeom>
          <a:noFill/>
        </p:spPr>
        <p:txBody>
          <a:bodyPr wrap="square" lIns="0" tIns="0" rIns="0" bIns="0" anchor="t">
            <a:spAutoFit/>
          </a:bodyPr>
          <a:lstStyle/>
          <a:p>
            <a:pPr>
              <a:spcAft>
                <a:spcPts val="600"/>
              </a:spcAft>
            </a:pPr>
            <a:r>
              <a:rPr sz="1150" b="0" i="0">
                <a:solidFill>
                  <a:srgbClr val="3D5A80"/>
                </a:solidFill>
                <a:latin typeface="Calibri"/>
              </a:rPr>
              <a:t>-  Configure BIND authoritative DNS - forward + reverse zones, CNAME/MX/TXT/PTR</a:t>
            </a:r>
          </a:p>
          <a:p>
            <a:pPr>
              <a:spcAft>
                <a:spcPts val="600"/>
              </a:spcAft>
            </a:pPr>
            <a:r>
              <a:rPr sz="1150" b="0" i="0">
                <a:solidFill>
                  <a:srgbClr val="3D5A80"/>
                </a:solidFill>
                <a:latin typeface="Calibri"/>
              </a:rPr>
              <a:t>-  Deploy chrony as a client and internal stratum-2 server; compare NTP vs PTP</a:t>
            </a:r>
          </a:p>
          <a:p>
            <a:pPr>
              <a:spcAft>
                <a:spcPts val="600"/>
              </a:spcAft>
            </a:pPr>
            <a:r>
              <a:rPr sz="1150" b="0" i="0">
                <a:solidFill>
                  <a:srgbClr val="3D5A80"/>
                </a:solidFill>
                <a:latin typeface="Calibri"/>
              </a:rPr>
              <a:t>-  Design a least-privilege sudo policy scoping who may administer DNS</a:t>
            </a:r>
          </a:p>
          <a:p>
            <a:pPr>
              <a:spcAft>
                <a:spcPts val="600"/>
              </a:spcAft>
            </a:pPr>
            <a:r>
              <a:rPr sz="1150" b="0" i="0">
                <a:solidFill>
                  <a:srgbClr val="3D5A80"/>
                </a:solidFill>
                <a:latin typeface="Calibri"/>
              </a:rPr>
              <a:t>-  Layer POSIX ACLs on shared paths and verify every control with an unauthorized-action test</a:t>
            </a:r>
          </a:p>
          <a:p>
            <a:pPr>
              <a:spcAft>
                <a:spcPts val="600"/>
              </a:spcAft>
            </a:pPr>
            <a:r>
              <a:rPr sz="1150" b="0" i="0">
                <a:solidFill>
                  <a:srgbClr val="3D5A80"/>
                </a:solidFill>
                <a:latin typeface="Calibri"/>
              </a:rPr>
              <a:t>-  Scope firewalld to expose only the services this host actually provides</a:t>
            </a:r>
          </a:p>
        </p:txBody>
      </p:sp>
      <p:sp>
        <p:nvSpPr>
          <p:cNvPr id="6" name="Rounded Rectangle 5"/>
          <p:cNvSpPr/>
          <p:nvPr/>
        </p:nvSpPr>
        <p:spPr>
          <a:xfrm>
            <a:off x="7315200" y="1600200"/>
            <a:ext cx="4233672" cy="352044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516368" y="1709928"/>
            <a:ext cx="3831336" cy="320040"/>
          </a:xfrm>
          <a:prstGeom prst="rect">
            <a:avLst/>
          </a:prstGeom>
          <a:noFill/>
        </p:spPr>
        <p:txBody>
          <a:bodyPr wrap="square" lIns="0" tIns="0" rIns="0" bIns="0" anchor="t">
            <a:spAutoFit/>
          </a:bodyPr>
          <a:lstStyle/>
          <a:p>
            <a:pPr algn="l"/>
            <a:r>
              <a:rPr sz="1500" b="1" i="0">
                <a:solidFill>
                  <a:srgbClr val="1B2A4A"/>
                </a:solidFill>
                <a:latin typeface="Cambria"/>
              </a:rPr>
              <a:t>Tools &amp; Accounts</a:t>
            </a:r>
          </a:p>
        </p:txBody>
      </p:sp>
      <p:sp>
        <p:nvSpPr>
          <p:cNvPr id="8" name="TextBox 7"/>
          <p:cNvSpPr txBox="1"/>
          <p:nvPr/>
        </p:nvSpPr>
        <p:spPr>
          <a:xfrm>
            <a:off x="7516368" y="2103120"/>
            <a:ext cx="3831336" cy="2926080"/>
          </a:xfrm>
          <a:prstGeom prst="rect">
            <a:avLst/>
          </a:prstGeom>
          <a:noFill/>
        </p:spPr>
        <p:txBody>
          <a:bodyPr wrap="square" lIns="0" tIns="0" rIns="0" bIns="0" anchor="t">
            <a:spAutoFit/>
          </a:bodyPr>
          <a:lstStyle/>
          <a:p>
            <a:pPr>
              <a:spcAft>
                <a:spcPts val="600"/>
              </a:spcAft>
            </a:pPr>
            <a:r>
              <a:rPr sz="1150" b="0" i="0">
                <a:solidFill>
                  <a:srgbClr val="3D5A80"/>
                </a:solidFill>
                <a:latin typeface="Calibri"/>
              </a:rPr>
              <a:t>-  bind, bind-utils, chrony, acl (dnf install)</a:t>
            </a:r>
          </a:p>
          <a:p>
            <a:pPr>
              <a:spcAft>
                <a:spcPts val="600"/>
              </a:spcAft>
            </a:pPr>
            <a:r>
              <a:rPr sz="1150" b="0" i="0">
                <a:solidFill>
                  <a:srgbClr val="3D5A80"/>
                </a:solidFill>
                <a:latin typeface="Calibri"/>
              </a:rPr>
              <a:t>-  firewalld - already enabled on Rocky 9</a:t>
            </a:r>
          </a:p>
          <a:p>
            <a:pPr>
              <a:spcAft>
                <a:spcPts val="600"/>
              </a:spcAft>
            </a:pPr>
            <a:r>
              <a:rPr sz="1150" b="0" i="0">
                <a:solidFill>
                  <a:srgbClr val="3D5A80"/>
                </a:solidFill>
                <a:latin typeface="Calibri"/>
              </a:rPr>
              <a:t>-  alice - sysadmin</a:t>
            </a:r>
          </a:p>
          <a:p>
            <a:pPr>
              <a:spcAft>
                <a:spcPts val="600"/>
              </a:spcAft>
            </a:pPr>
            <a:r>
              <a:rPr sz="1150" b="0" i="0">
                <a:solidFill>
                  <a:srgbClr val="3D5A80"/>
                </a:solidFill>
                <a:latin typeface="Calibri"/>
              </a:rPr>
              <a:t>-  bob - DNS operator</a:t>
            </a:r>
          </a:p>
          <a:p>
            <a:pPr>
              <a:spcAft>
                <a:spcPts val="600"/>
              </a:spcAft>
            </a:pPr>
            <a:r>
              <a:rPr sz="1150" b="0" i="0">
                <a:solidFill>
                  <a:srgbClr val="3D5A80"/>
                </a:solidFill>
                <a:latin typeface="Calibri"/>
              </a:rPr>
              <a:t>-  carol - read-only auditor</a:t>
            </a:r>
          </a:p>
        </p:txBody>
      </p:sp>
      <p:sp>
        <p:nvSpPr>
          <p:cNvPr id="9" name="Rounded Rectangle 8"/>
          <p:cNvSpPr/>
          <p:nvPr/>
        </p:nvSpPr>
        <p:spPr>
          <a:xfrm>
            <a:off x="640080" y="5394960"/>
            <a:ext cx="10908792" cy="868680"/>
          </a:xfrm>
          <a:prstGeom prst="round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60120" y="5394960"/>
            <a:ext cx="10268712" cy="868680"/>
          </a:xfrm>
          <a:prstGeom prst="rect">
            <a:avLst/>
          </a:prstGeom>
          <a:noFill/>
        </p:spPr>
        <p:txBody>
          <a:bodyPr wrap="square" lIns="0" tIns="0" rIns="0" bIns="0" anchor="ctr">
            <a:spAutoFit/>
          </a:bodyPr>
          <a:lstStyle/>
          <a:p>
            <a:pPr algn="l"/>
            <a:r>
              <a:rPr sz="1350" b="1" i="0">
                <a:solidFill>
                  <a:srgbClr val="FFFFFF"/>
                </a:solidFill>
                <a:latin typeface="Calibri"/>
              </a:rPr>
              <a:t>Both Tracks - deliverable is a single notes file; access controls are graded by attempting the denied action and confirming it fails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10908792" cy="777240"/>
          </a:xfrm>
          <a:prstGeom prst="rect">
            <a:avLst/>
          </a:prstGeom>
          <a:noFill/>
        </p:spPr>
        <p:txBody>
          <a:bodyPr wrap="square" lIns="0" tIns="0" rIns="0" bIns="0" anchor="t">
            <a:spAutoFit/>
          </a:bodyPr>
          <a:lstStyle/>
          <a:p>
            <a:r>
              <a:rPr sz="2900" b="1" i="0">
                <a:solidFill>
                  <a:srgbClr val="1B2A4A"/>
                </a:solidFill>
                <a:latin typeface="Cambria"/>
              </a:rPr>
              <a:t>Homework 2: Cyber vs. IT Track</a:t>
            </a:r>
          </a:p>
        </p:txBody>
      </p:sp>
      <p:sp>
        <p:nvSpPr>
          <p:cNvPr id="3" name="Rounded Rectangle 2"/>
          <p:cNvSpPr/>
          <p:nvPr/>
        </p:nvSpPr>
        <p:spPr>
          <a:xfrm>
            <a:off x="640080" y="1600200"/>
            <a:ext cx="5317236" cy="448056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41248" y="1709928"/>
            <a:ext cx="4914900" cy="320040"/>
          </a:xfrm>
          <a:prstGeom prst="rect">
            <a:avLst/>
          </a:prstGeom>
          <a:noFill/>
        </p:spPr>
        <p:txBody>
          <a:bodyPr wrap="square" lIns="0" tIns="0" rIns="0" bIns="0" anchor="t">
            <a:spAutoFit/>
          </a:bodyPr>
          <a:lstStyle/>
          <a:p>
            <a:pPr algn="l"/>
            <a:r>
              <a:rPr sz="1400" b="1" i="0">
                <a:solidFill>
                  <a:srgbClr val="1B2A4A"/>
                </a:solidFill>
                <a:latin typeface="Cambria"/>
              </a:rPr>
              <a:t>CYBER HW 2 - Security Audit Script Suite</a:t>
            </a:r>
          </a:p>
        </p:txBody>
      </p:sp>
      <p:sp>
        <p:nvSpPr>
          <p:cNvPr id="5" name="TextBox 4"/>
          <p:cNvSpPr txBox="1"/>
          <p:nvPr/>
        </p:nvSpPr>
        <p:spPr>
          <a:xfrm>
            <a:off x="841248" y="2103120"/>
            <a:ext cx="4914900" cy="3886200"/>
          </a:xfrm>
          <a:prstGeom prst="rect">
            <a:avLst/>
          </a:prstGeom>
          <a:noFill/>
        </p:spPr>
        <p:txBody>
          <a:bodyPr wrap="square" lIns="0" tIns="0" rIns="0" bIns="0" anchor="t">
            <a:spAutoFit/>
          </a:bodyPr>
          <a:lstStyle/>
          <a:p>
            <a:pPr>
              <a:spcAft>
                <a:spcPts val="600"/>
              </a:spcAft>
            </a:pPr>
            <a:r>
              <a:rPr sz="1050" b="0" i="0">
                <a:solidFill>
                  <a:srgbClr val="3D5A80"/>
                </a:solidFill>
                <a:latin typeface="Calibri"/>
              </a:rPr>
              <a:t>-  Run a provided 5-category audit script against 3 unknown target VMs</a:t>
            </a:r>
          </a:p>
          <a:p>
            <a:pPr>
              <a:spcAft>
                <a:spcPts val="600"/>
              </a:spcAft>
            </a:pPr>
            <a:r>
              <a:rPr sz="1050" b="0" i="0">
                <a:solidFill>
                  <a:srgbClr val="3D5A80"/>
                </a:solidFill>
                <a:latin typeface="Calibri"/>
              </a:rPr>
              <a:t>-  Part 1 (20 pts) - collect valid, schema-correct JSON reports</a:t>
            </a:r>
          </a:p>
          <a:p>
            <a:pPr>
              <a:spcAft>
                <a:spcPts val="600"/>
              </a:spcAft>
            </a:pPr>
            <a:r>
              <a:rPr sz="1050" b="0" i="0">
                <a:solidFill>
                  <a:srgbClr val="3D5A80"/>
                </a:solidFill>
                <a:latin typeface="Calibri"/>
              </a:rPr>
              <a:t>-  Part 2 (45 pts) - findings by severity, urgency justification, specific remediation, cross-machine risk ranking</a:t>
            </a:r>
          </a:p>
          <a:p>
            <a:pPr>
              <a:spcAft>
                <a:spcPts val="600"/>
              </a:spcAft>
            </a:pPr>
            <a:r>
              <a:rPr sz="1050" b="0" i="0">
                <a:solidFill>
                  <a:srgbClr val="3D5A80"/>
                </a:solidFill>
                <a:latin typeface="Calibri"/>
              </a:rPr>
              <a:t>-  Part 3 (35 pts) - whitelist scaling, an undetected MITRE ATT&amp;CK technique, false-positive tuning</a:t>
            </a:r>
          </a:p>
          <a:p>
            <a:pPr>
              <a:spcAft>
                <a:spcPts val="600"/>
              </a:spcAft>
            </a:pPr>
            <a:r>
              <a:rPr sz="1050" b="0" i="0">
                <a:solidFill>
                  <a:srgbClr val="3D5A80"/>
                </a:solidFill>
                <a:latin typeface="Calibri"/>
              </a:rPr>
              <a:t>-  Grad extension: CVSS v3.1 Environmental scoring in bash (30 pts)</a:t>
            </a:r>
          </a:p>
        </p:txBody>
      </p:sp>
      <p:sp>
        <p:nvSpPr>
          <p:cNvPr id="6" name="Rounded Rectangle 5"/>
          <p:cNvSpPr/>
          <p:nvPr/>
        </p:nvSpPr>
        <p:spPr>
          <a:xfrm>
            <a:off x="6231636" y="1600200"/>
            <a:ext cx="5317236" cy="448056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32804" y="1709928"/>
            <a:ext cx="4914900" cy="320040"/>
          </a:xfrm>
          <a:prstGeom prst="rect">
            <a:avLst/>
          </a:prstGeom>
          <a:noFill/>
        </p:spPr>
        <p:txBody>
          <a:bodyPr wrap="square" lIns="0" tIns="0" rIns="0" bIns="0" anchor="t">
            <a:spAutoFit/>
          </a:bodyPr>
          <a:lstStyle/>
          <a:p>
            <a:pPr algn="l"/>
            <a:r>
              <a:rPr sz="1300" b="1" i="0">
                <a:solidFill>
                  <a:srgbClr val="1B2A4A"/>
                </a:solidFill>
                <a:latin typeface="Cambria"/>
              </a:rPr>
              <a:t>IT HW 2 - Network Services: Design, Audit &amp; Failure Analysis</a:t>
            </a:r>
          </a:p>
        </p:txBody>
      </p:sp>
      <p:sp>
        <p:nvSpPr>
          <p:cNvPr id="8" name="TextBox 7"/>
          <p:cNvSpPr txBox="1"/>
          <p:nvPr/>
        </p:nvSpPr>
        <p:spPr>
          <a:xfrm>
            <a:off x="6432804" y="2103120"/>
            <a:ext cx="4914900" cy="3886200"/>
          </a:xfrm>
          <a:prstGeom prst="rect">
            <a:avLst/>
          </a:prstGeom>
          <a:noFill/>
        </p:spPr>
        <p:txBody>
          <a:bodyPr wrap="square" lIns="0" tIns="0" rIns="0" bIns="0" anchor="t">
            <a:spAutoFit/>
          </a:bodyPr>
          <a:lstStyle/>
          <a:p>
            <a:pPr>
              <a:spcAft>
                <a:spcPts val="600"/>
              </a:spcAft>
            </a:pPr>
            <a:r>
              <a:rPr sz="1000" b="0" i="0">
                <a:solidFill>
                  <a:srgbClr val="3D5A80"/>
                </a:solidFill>
                <a:latin typeface="Calibri"/>
              </a:rPr>
              <a:t>-  Audit 3 intentionally broken configs: named.conf, dhcpd.conf, exports</a:t>
            </a:r>
          </a:p>
          <a:p>
            <a:pPr>
              <a:spcAft>
                <a:spcPts val="600"/>
              </a:spcAft>
            </a:pPr>
            <a:r>
              <a:rPr sz="1000" b="0" i="0">
                <a:solidFill>
                  <a:srgbClr val="3D5A80"/>
                </a:solidFill>
                <a:latin typeface="Calibri"/>
              </a:rPr>
              <a:t>-  Part 1 (40 pts) - 8+ issues found, severity rated, production impact explained</a:t>
            </a:r>
          </a:p>
          <a:p>
            <a:pPr>
              <a:spcAft>
                <a:spcPts val="600"/>
              </a:spcAft>
            </a:pPr>
            <a:r>
              <a:rPr sz="1000" b="0" i="0">
                <a:solidFill>
                  <a:srgbClr val="3D5A80"/>
                </a:solidFill>
                <a:latin typeface="Calibri"/>
              </a:rPr>
              <a:t>-  Part 2 (45 pts) - handoff doc for a working deployment: ADRs, annotated configs, verification runbooks, hardening, failure-mode analysis</a:t>
            </a:r>
          </a:p>
          <a:p>
            <a:pPr>
              <a:spcAft>
                <a:spcPts val="600"/>
              </a:spcAft>
            </a:pPr>
            <a:r>
              <a:rPr sz="1000" b="0" i="0">
                <a:solidFill>
                  <a:srgbClr val="3D5A80"/>
                </a:solidFill>
                <a:latin typeface="Calibri"/>
              </a:rPr>
              <a:t>-  Part 3 (15 pts) - DHCP/DNS/NFS co-location risk and service-placement strategy</a:t>
            </a:r>
          </a:p>
          <a:p>
            <a:pPr>
              <a:spcAft>
                <a:spcPts val="600"/>
              </a:spcAft>
            </a:pPr>
            <a:r>
              <a:rPr sz="1000" b="0" i="0">
                <a:solidFill>
                  <a:srgbClr val="3D5A80"/>
                </a:solidFill>
                <a:latin typeface="Calibri"/>
              </a:rPr>
              <a:t>-  Grad extension: DNS HA architecture + a formal ADR (30 pts)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Oval 1"/>
          <p:cNvSpPr/>
          <p:nvPr/>
        </p:nvSpPr>
        <p:spPr>
          <a:xfrm>
            <a:off x="5591556" y="2194560"/>
            <a:ext cx="1005840" cy="1005840"/>
          </a:xfrm>
          <a:prstGeom prst="ellipse">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3400" b="1" i="0">
                <a:solidFill>
                  <a:srgbClr val="FFFFFF"/>
                </a:solidFill>
                <a:latin typeface="Cambria"/>
              </a:rPr>
              <a:t>?</a:t>
            </a:r>
          </a:p>
        </p:txBody>
      </p:sp>
      <p:sp>
        <p:nvSpPr>
          <p:cNvPr id="3" name="TextBox 2"/>
          <p:cNvSpPr txBox="1"/>
          <p:nvPr/>
        </p:nvSpPr>
        <p:spPr>
          <a:xfrm>
            <a:off x="914400" y="3520440"/>
            <a:ext cx="10360152" cy="731520"/>
          </a:xfrm>
          <a:prstGeom prst="rect">
            <a:avLst/>
          </a:prstGeom>
          <a:noFill/>
        </p:spPr>
        <p:txBody>
          <a:bodyPr wrap="square" lIns="0" tIns="0" rIns="0" bIns="0" anchor="ctr">
            <a:spAutoFit/>
          </a:bodyPr>
          <a:lstStyle/>
          <a:p>
            <a:pPr algn="ctr"/>
            <a:r>
              <a:rPr sz="3600" b="1" i="0">
                <a:solidFill>
                  <a:srgbClr val="1B2A4A"/>
                </a:solidFill>
                <a:latin typeface="Cambria"/>
              </a:rPr>
              <a:t>Questions?</a:t>
            </a:r>
          </a:p>
        </p:txBody>
      </p:sp>
      <p:sp>
        <p:nvSpPr>
          <p:cNvPr id="4" name="TextBox 3"/>
          <p:cNvSpPr txBox="1"/>
          <p:nvPr/>
        </p:nvSpPr>
        <p:spPr>
          <a:xfrm>
            <a:off x="914400" y="4343400"/>
            <a:ext cx="10360152" cy="457200"/>
          </a:xfrm>
          <a:prstGeom prst="rect">
            <a:avLst/>
          </a:prstGeom>
          <a:noFill/>
        </p:spPr>
        <p:txBody>
          <a:bodyPr wrap="square" lIns="0" tIns="0" rIns="0" bIns="0" anchor="ctr">
            <a:spAutoFit/>
          </a:bodyPr>
          <a:lstStyle/>
          <a:p>
            <a:pPr algn="ctr"/>
            <a:r>
              <a:rPr sz="1400" b="0" i="0">
                <a:solidFill>
                  <a:srgbClr val="3D5A80"/>
                </a:solidFill>
                <a:latin typeface="Calibri"/>
              </a:rPr>
              <a:t>Sebastian Hayes  ·  sebastian.hayes@byu.edu  ·  Discord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61</TotalTime>
  <Words>6632</Words>
  <Application>Microsoft Office PowerPoint</Application>
  <PresentationFormat>Widescreen</PresentationFormat>
  <Paragraphs>441</Paragraphs>
  <Slides>27</Slides>
  <Notes>27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Sebastian Hayes</cp:lastModifiedBy>
  <cp:revision>2</cp:revision>
  <dcterms:created xsi:type="dcterms:W3CDTF">2013-01-27T09:14:16Z</dcterms:created>
  <dcterms:modified xsi:type="dcterms:W3CDTF">2026-09-08T17:49:26Z</dcterms:modified>
  <cp:category/>
</cp:coreProperties>
</file>