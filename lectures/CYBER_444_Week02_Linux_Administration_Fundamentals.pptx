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317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B2A4A"/>
                </a:solidFill>
                <a:latin typeface="Cambria"/>
              </a:rPr>
              <a:t>Linux Administration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77639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D5A80"/>
                </a:solidFill>
                <a:latin typeface="Calibri"/>
              </a:rPr>
              <a:t>CYBER 444  ·  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D5A80"/>
                </a:solidFill>
                <a:latin typeface="Calibri"/>
              </a:rPr>
              <a:t>Sept 8 &amp; 10  ·  Tuesdays &amp; Thursdays, 4:00–5:50 PM  ·  CTB 350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962656"/>
            <a:ext cx="1005840" cy="10058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000" b="1" i="0">
                <a:solidFill>
                  <a:srgbClr val="1B2A4A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008376"/>
            <a:ext cx="9235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Filesystem, Users &amp; Access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The Linux Filesystem Hierarchy (FHS)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Every Rocky/RHEL system follows the same top-level layout - knowing what lives where is the first skill any admin needs before touching permissions.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00116" y="1810512"/>
            <a:ext cx="1188720" cy="5486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/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522476" y="2359152"/>
            <a:ext cx="4572000" cy="50292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22376" y="2862072"/>
            <a:ext cx="1600200" cy="56692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/etc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351276" y="2359152"/>
            <a:ext cx="2743200" cy="50292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51176" y="2862072"/>
            <a:ext cx="1600200" cy="56692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/var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5180076" y="2359152"/>
            <a:ext cx="914400" cy="50292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79976" y="2862072"/>
            <a:ext cx="1600200" cy="56692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/home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4476" y="2359152"/>
            <a:ext cx="914400" cy="50292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08776" y="2862072"/>
            <a:ext cx="1600200" cy="56692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/usr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4476" y="2359152"/>
            <a:ext cx="2743200" cy="50292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37576" y="2862072"/>
            <a:ext cx="1600200" cy="56692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/opt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4476" y="2359152"/>
            <a:ext cx="4572000" cy="502920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66376" y="2862072"/>
            <a:ext cx="1600200" cy="56692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/srv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" y="3703320"/>
          <a:ext cx="10908792" cy="288036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907999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lives there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/etc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System-wide configuration - named.conf, chrony.conf, sudoers.d/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/var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Variable/runtime data - logs (/var/log), zone data (/var/named)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/home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Per-user home directories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/usr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Installed software - binaries, libraries, shared docs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/opt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Third-party / add-on software packages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/srv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Data this host serves to others (site/service data)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Users, Groups &amp;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Every file carries three permission sets - owner, group, everyone else - expressed as a 10-character mode string.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8588" y="1874519"/>
            <a:ext cx="822960" cy="777240"/>
          </a:xfrm>
          <a:prstGeom prst="round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8588" y="2724911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D5A80"/>
                </a:solidFill>
                <a:latin typeface="Calibri"/>
              </a:rPr>
              <a:t>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6140" y="1874519"/>
            <a:ext cx="2011680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rwx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6140" y="2724911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D5A80"/>
                </a:solidFill>
                <a:latin typeface="Calibri"/>
              </a:rPr>
              <a:t>owner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2412" y="1874519"/>
            <a:ext cx="2011680" cy="77724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2412" y="2724911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D5A80"/>
                </a:solidFill>
                <a:latin typeface="Calibri"/>
              </a:rPr>
              <a:t>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58684" y="1874519"/>
            <a:ext cx="2011680" cy="777240"/>
          </a:xfrm>
          <a:prstGeom prst="round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r--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684" y="2724911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D5A80"/>
                </a:solidFill>
                <a:latin typeface="Calibri"/>
              </a:rPr>
              <a:t>other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291839"/>
          <a:ext cx="10908791" cy="329184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8257031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rwx (files)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read = view contents, write = modify contents, execute = run as a program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rwx (directories)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read = list contents, write = create/delete entries, execute = enter/traverse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umask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subtracted from 666 (files) / 777 (dirs) - umask 022 gives 644 files, 755 dirs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chmod / chown / chgrp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change mode / owner / group - numeric (chmod 750) or symbolic (chmod u+x)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POSIX ACLs for Role-Based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Plain owner/group/other can only express one non-owner role - ACLs grant different access to different users on the same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1116" y="1783080"/>
            <a:ext cx="2377440" cy="713232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Sysadmin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(alice)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59836" y="2496312"/>
            <a:ext cx="2834640" cy="868680"/>
          </a:xfrm>
          <a:prstGeom prst="line">
            <a:avLst/>
          </a:prstGeom>
          <a:ln w="2222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96796" y="2679192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3D5A80"/>
                </a:solidFill>
                <a:latin typeface="Calibri"/>
              </a:rPr>
              <a:t>rwx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5756" y="1783080"/>
            <a:ext cx="2377440" cy="713232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DNS Operator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(bob)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4476" y="2496312"/>
            <a:ext cx="0" cy="868680"/>
          </a:xfrm>
          <a:prstGeom prst="line">
            <a:avLst/>
          </a:prstGeom>
          <a:ln w="2222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99916" y="2679192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3D5A80"/>
                </a:solidFill>
                <a:latin typeface="Calibri"/>
              </a:rPr>
              <a:t>rwx (zones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0396" y="1783080"/>
            <a:ext cx="2377440" cy="713232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Auditor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(carol)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6094476" y="2496312"/>
            <a:ext cx="2834640" cy="868680"/>
          </a:xfrm>
          <a:prstGeom prst="line">
            <a:avLst/>
          </a:prstGeom>
          <a:ln w="2222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66076" y="2679192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3D5A80"/>
                </a:solidFill>
                <a:latin typeface="Calibri"/>
              </a:rPr>
              <a:t>r-x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8556" y="3364992"/>
            <a:ext cx="3291840" cy="6858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/var/named + /data/shared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4325112"/>
          <a:ext cx="10908792" cy="2258568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4206240"/>
                <a:gridCol w="4325112"/>
              </a:tblGrid>
              <a:tr h="56464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Weakness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</a:tr>
              <a:tr h="56464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Plain Unix permissions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Universal, zero extra tooling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Only one non-owner role (the group)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56464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POSIX ACLs (this lab)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Per-user/group grants without restructuring paths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Still discretionary - owner/root can override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56464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SELinux (MAC)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Enforced by policy, even against the owner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Real authoring overhead, steep learning curve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962656"/>
            <a:ext cx="1005840" cy="10058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000" b="1" i="0">
                <a:solidFill>
                  <a:srgbClr val="1B2A4A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008376"/>
            <a:ext cx="9235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Least-Privilege Sudo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Designing a Sudo Policy: sudoers.d &amp; Cmnd_Alias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Never edit /etc/sudoers directly - drop numbered, role-scoped files into /etc/sudoers.d/ instead.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1691640"/>
          </a:xfrm>
          <a:prstGeom prst="roundRect">
            <a:avLst/>
          </a:prstGeom>
          <a:solidFill>
            <a:srgbClr val="11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 i="0">
                <a:solidFill>
                  <a:srgbClr val="00B4D8"/>
                </a:solidFill>
                <a:latin typeface="Courier New"/>
              </a:rPr>
              <a:t># /etc/sudoers.d/20-operators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Cmnd_Alias DNSCTL = /usr/bin/systemctl restart named, \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                    /usr/bin/systemctl status named, \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                    /usr/bin/systemctl reload named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bob ALL=(root) NOPASSWD: DNSCTL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749040"/>
          <a:ext cx="10908792" cy="283464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2103120"/>
                <a:gridCol w="6428232"/>
              </a:tblGrid>
              <a:tr h="7086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sudoers.d file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Access granted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alice - sysadmin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10-sysadmins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ALL=(ALL:ALL) ALL, password required (no NOPASSWD)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bob - DNS operator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20-operators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NOPASSWD, but only the 3 DNSCTL commands - no shell escape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7086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carol - auditor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30-auditors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No entry at all = no sudo access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Beyond sudoers: Alternatives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Per-host sudoers.d is the right tool for one box - here's what you reach for as fleet size or risk profile changes.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08792" cy="475488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1371600"/>
                <a:gridCol w="3593592"/>
                <a:gridCol w="3657600"/>
              </a:tblGrid>
              <a:tr h="7924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Weakness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sudoers.d (this lab)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Per-host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Simple, plain-text, diffable, no dependencies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Policy drifts host-to-host, nothing keeps them in sync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doas / opendoas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Per-host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Tiny codebase, much smaller attack surface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Fewer features, not in RHEL/Rocky default repos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FreeIPA / Red Hat IdM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Fleet-wide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Sudo rules live in LDAP, apply consistently everywhere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Hard dependency on directory-service availability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PAM-gated sudo (MFA)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Per-host or fleet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A second factor meaningfully raises the bar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Enrollment/recovery overhead, a new lockout mode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Commercial PAM/PIM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Fleet-wide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Session recording, JIT elevation, credential vaulting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Cost and complexity hard to justify below a certain size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962656"/>
            <a:ext cx="1005840" cy="10058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000" b="1" i="0">
                <a:solidFill>
                  <a:srgbClr val="1B2A4A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008376"/>
            <a:ext cx="9235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Linux Network Services: DNS, DHCP &amp; NFS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DNS with BIND: Record Types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463040" cy="566928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325880"/>
            <a:ext cx="4023360" cy="56692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BIND ns1.lab.internal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(authoritative, recursion no)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325880"/>
            <a:ext cx="1463040" cy="566928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1609344"/>
            <a:ext cx="457200" cy="0"/>
          </a:xfrm>
          <a:prstGeom prst="line">
            <a:avLst/>
          </a:prstGeom>
          <a:ln w="2540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0" y="1609344"/>
            <a:ext cx="457200" cy="0"/>
          </a:xfrm>
          <a:prstGeom prst="line">
            <a:avLst/>
          </a:prstGeom>
          <a:ln w="2540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41080" y="1325880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3D5A80"/>
                </a:solidFill>
                <a:latin typeface="Calibri"/>
              </a:rPr>
              <a:t>recursion no splits authoritative from recursive-resolver duty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212848"/>
          <a:ext cx="10908792" cy="4370832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3657600"/>
                <a:gridCol w="5879592"/>
              </a:tblGrid>
              <a:tr h="54635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Record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Example (lab.internal.zone)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</a:tr>
              <a:tr h="54635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B2A4A"/>
                          </a:solidFill>
                          <a:latin typeface="Calibri"/>
                        </a:rPr>
                        <a:t>SOA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Zone authority + refresh/retry/expire timers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ns1.lab.internal. admin.lab.internal. (2024010101 ...)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B2A4A"/>
                          </a:solidFill>
                          <a:latin typeface="Calibri"/>
                        </a:rPr>
                        <a:t>NS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Authoritative nameserver for the zone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IN NS ns1.lab.internal.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54635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B2A4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Hostname -&gt; IPv4 address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www IN A 10.0.0.10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B2A4A"/>
                          </a:solidFill>
                          <a:latin typeface="Calibri"/>
                        </a:rPr>
                        <a:t>MX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Mail exchange, with priority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IN MX 10 mail.lab.internal.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54635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B2A4A"/>
                          </a:solidFill>
                          <a:latin typeface="Calibri"/>
                        </a:rPr>
                        <a:t>CNAME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Alias to another hostname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ftp IN CNAME www.lab.internal.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B2A4A"/>
                          </a:solidFill>
                          <a:latin typeface="Calibri"/>
                        </a:rPr>
                        <a:t>TXT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Free text - SPF/DMARC, verification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@ IN TXT "v=spf1 mx ~all"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54635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B2A4A"/>
                          </a:solidFill>
                          <a:latin typeface="Calibri"/>
                        </a:rPr>
                        <a:t>PTR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IP -&gt; hostname (reverse zone)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D5A80"/>
                          </a:solidFill>
                          <a:latin typeface="Calibri"/>
                        </a:rPr>
                        <a:t>10 IN PTR www.lab.internal.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DHCP: The DORA Lease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A client with no IP yet can't unicast - DORA is built entirely on broadcast until the lease is confirmed.</a:t>
            </a:r>
          </a:p>
        </p:txBody>
      </p:sp>
      <p:sp>
        <p:nvSpPr>
          <p:cNvPr id="4" name="Oval 3"/>
          <p:cNvSpPr/>
          <p:nvPr/>
        </p:nvSpPr>
        <p:spPr>
          <a:xfrm>
            <a:off x="1674495" y="1609344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452878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Discover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client broadcasts for any server</a:t>
            </a:r>
          </a:p>
        </p:txBody>
      </p:sp>
      <p:sp>
        <p:nvSpPr>
          <p:cNvPr id="6" name="Oval 5"/>
          <p:cNvSpPr/>
          <p:nvPr/>
        </p:nvSpPr>
        <p:spPr>
          <a:xfrm>
            <a:off x="4493133" y="1609344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8718" y="2103120"/>
            <a:ext cx="2452878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Offer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 server proposes an address</a:t>
            </a:r>
          </a:p>
        </p:txBody>
      </p:sp>
      <p:sp>
        <p:nvSpPr>
          <p:cNvPr id="8" name="Oval 7"/>
          <p:cNvSpPr/>
          <p:nvPr/>
        </p:nvSpPr>
        <p:spPr>
          <a:xfrm>
            <a:off x="7311771" y="1609344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7356" y="2103120"/>
            <a:ext cx="2452878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Request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client broadcasts which offer it accepts</a:t>
            </a:r>
          </a:p>
        </p:txBody>
      </p:sp>
      <p:sp>
        <p:nvSpPr>
          <p:cNvPr id="10" name="Oval 9"/>
          <p:cNvSpPr/>
          <p:nvPr/>
        </p:nvSpPr>
        <p:spPr>
          <a:xfrm>
            <a:off x="10130409" y="1609344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5994" y="2103120"/>
            <a:ext cx="2452878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Ack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server confirms the lease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56382" y="2583180"/>
            <a:ext cx="438912" cy="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75020" y="2583180"/>
            <a:ext cx="438912" cy="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93658" y="2583180"/>
            <a:ext cx="438912" cy="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3429000"/>
          <a:ext cx="10908792" cy="315468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8531352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Lease time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How long a client may keep an address before renewing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Scope / pool range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The block of addresses a DHCP server is allowed to hand out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Reservation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A static IP tied to a specific MAC address within the scope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Options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Extra config sent with the lease - DNS servers, gateway, domain name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NFS: Exporting &amp; Mounting Shared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The server decides what to share and who may mount it (/etc/exports); the client attaches that share into its own filesystem tree.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2926080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NFS Server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/exports/shared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463040"/>
            <a:ext cx="2651760" cy="621792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Client A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mounts /exports/shared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468880"/>
            <a:ext cx="2651760" cy="621792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Client B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mounts /exports/shared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566160" y="1773936"/>
            <a:ext cx="1280160" cy="374904"/>
          </a:xfrm>
          <a:prstGeom prst="line">
            <a:avLst/>
          </a:prstGeom>
          <a:ln w="22225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66160" y="2560320"/>
            <a:ext cx="1280160" cy="219456"/>
          </a:xfrm>
          <a:prstGeom prst="line">
            <a:avLst/>
          </a:prstGeom>
          <a:ln w="22225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410712"/>
          <a:ext cx="10908792" cy="3172968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4754880"/>
                <a:gridCol w="4782312"/>
              </a:tblGrid>
              <a:tr h="793242">
                <a:tc>
                  <a:txBody>
                    <a:bodyPr wrap="square"/>
                    <a:lstStyle/>
                    <a:p/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NFSv3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NFSv4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</a:tr>
              <a:tr h="79324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Stateless - relies on a separate lock manager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Stateful - locking is built into the protocol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79324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Ports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Multiple ports via portmapper/rpcbind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Single port (2049) - simpler to firewall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79324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AUTH_SYS (trusts client-supplied UID/GID)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Supports Kerberos (krb5) for real authentication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962656"/>
            <a:ext cx="1005840" cy="10058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000" b="1" i="0">
                <a:solidFill>
                  <a:srgbClr val="1B2A4A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008376"/>
            <a:ext cx="9235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Time Synchronization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Chrony: Client &amp; Internal Stratum-2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This host syncs from the internet, then re-serves that time internally - one upstream dependency instead of every client reaching the internet directly.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2436" y="2148840"/>
            <a:ext cx="2926080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Upstream NTP Pool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(stratum 1, internet)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68596" y="2148840"/>
            <a:ext cx="2651760" cy="77724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This Host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chrony, stratum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0436" y="2148840"/>
            <a:ext cx="2926080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Internal Clients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(stratum 3)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28516" y="2537460"/>
            <a:ext cx="640080" cy="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20356" y="2537460"/>
            <a:ext cx="640080" cy="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291840"/>
          <a:ext cx="10908792" cy="3291840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7891272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Directive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pool ... iburst maxsources 2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Upstream NTP pool servers, with fast initial sync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allow 10.0.0.0/24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Permits the internal network to sync from this server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local stratum 2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Keep serving time even if upstream is unreachable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makestep 1.0 3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Step (not slew) the clock if off by &gt;1s, for the first 3 updates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NTP vs PTP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Chrony covers this lab's Kerberos/log-correlation/TLS needs - PTP solves a different, much more precise problem.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74519"/>
          <a:ext cx="10908792" cy="4709160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4480560"/>
                <a:gridCol w="4507992"/>
              </a:tblGrid>
              <a:tr h="784860">
                <a:tc>
                  <a:txBody>
                    <a:bodyPr wrap="square"/>
                    <a:lstStyle/>
                    <a:p/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NTP (chrony)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PTP (IEEE 1588)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Typical accuracy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Low single-digit ms over a WAN, sub-ms on a clean LAN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Sub-microsecond, even nanosecond, with hardware timestamping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Timestamping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Software, taken in the OS network stack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Hardware, taken at the NIC as the packet crosses the wire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Topology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Client-server (or peer) polling against pool servers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Master-slave within a single administrative LAN/PTP domain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Hardware needs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None - runs on any NIC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PTP-aware NICs/switches to realize the accuracy advantage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Common use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Kerberos, TLS validity, log correlation, cron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Financial trading, telecom (5G), industrial control, broadcast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962656"/>
            <a:ext cx="1005840" cy="10058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000" b="1" i="0">
                <a:solidFill>
                  <a:srgbClr val="1B2A4A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008376"/>
            <a:ext cx="9235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Firewall Scoping &amp; Security Auditing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firewalld: Zones &amp;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Default-deny by zone: a service is reachable only if you explicitly add it - everything else is blocked without writing a single rule by hand.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6309360" cy="25146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public zone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651760"/>
            <a:ext cx="155448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651760"/>
            <a:ext cx="155448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651760"/>
            <a:ext cx="155448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383280"/>
            <a:ext cx="1554480" cy="457200"/>
          </a:xfrm>
          <a:prstGeom prst="round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http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383280"/>
            <a:ext cx="1554480" cy="457200"/>
          </a:xfrm>
          <a:prstGeom prst="round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samba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383280"/>
            <a:ext cx="1554480" cy="457200"/>
          </a:xfrm>
          <a:prstGeom prst="round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telnet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7640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D5A80"/>
                </a:solidFill>
                <a:latin typeface="Calibri"/>
              </a:rPr>
              <a:t>green = added to the zone, reachable | gray = never added, dropped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965960"/>
            <a:ext cx="4279392" cy="2514600"/>
          </a:xfrm>
          <a:prstGeom prst="roundRect">
            <a:avLst/>
          </a:prstGeom>
          <a:solidFill>
            <a:srgbClr val="11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50" b="0" i="0">
                <a:solidFill>
                  <a:srgbClr val="00B4D8"/>
                </a:solidFill>
                <a:latin typeface="Courier New"/>
              </a:rPr>
              <a:t>$ firewall-cmd --permanent \</a:t>
            </a:r>
          </a:p>
          <a:p>
            <a:pPr algn="l"/>
            <a:r>
              <a:rPr sz="1150" b="0" i="0">
                <a:solidFill>
                  <a:srgbClr val="FFFFFF"/>
                </a:solidFill>
                <a:latin typeface="Courier New"/>
              </a:rPr>
              <a:t>    --add-service=dns</a:t>
            </a:r>
          </a:p>
          <a:p>
            <a:pPr algn="l"/>
            <a:r>
              <a:rPr sz="1150" b="0" i="0">
                <a:solidFill>
                  <a:srgbClr val="00B4D8"/>
                </a:solidFill>
                <a:latin typeface="Courier New"/>
              </a:rPr>
              <a:t>$ firewall-cmd --permanent \</a:t>
            </a:r>
          </a:p>
          <a:p>
            <a:pPr algn="l"/>
            <a:r>
              <a:rPr sz="1150" b="0" i="0">
                <a:solidFill>
                  <a:srgbClr val="FFFFFF"/>
                </a:solidFill>
                <a:latin typeface="Courier New"/>
              </a:rPr>
              <a:t>    --add-service=ntp</a:t>
            </a:r>
          </a:p>
          <a:p>
            <a:pPr algn="l"/>
            <a:r>
              <a:rPr sz="1150" b="0" i="0">
                <a:solidFill>
                  <a:srgbClr val="00B4D8"/>
                </a:solidFill>
                <a:latin typeface="Courier New"/>
              </a:rPr>
              <a:t>$ firewall-cmd --reload</a:t>
            </a:r>
          </a:p>
          <a:p>
            <a:pPr algn="l"/>
            <a:r>
              <a:rPr sz="1150" b="0" i="0">
                <a:solidFill>
                  <a:srgbClr val="00B4D8"/>
                </a:solidFill>
                <a:latin typeface="Courier New"/>
              </a:rPr>
              <a:t>$ firewall-cmd --list-services</a:t>
            </a:r>
          </a:p>
          <a:p>
            <a:pPr algn="l"/>
            <a:r>
              <a:rPr sz="1150" b="0" i="0">
                <a:solidFill>
                  <a:srgbClr val="FFFFFF"/>
                </a:solidFill>
                <a:latin typeface="Courier New"/>
              </a:rPr>
              <a:t>dns ntp ssh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4800600"/>
          <a:ext cx="10908792" cy="178308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8805672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82296" marR="82296" marT="27432" marB="27432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A named trust level (public, internal, trusted...) applied to an interface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--permanent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Persists the change across reboots (still needs --reload to take effect now)</a:t>
                      </a:r>
                    </a:p>
                  </a:txBody>
                  <a:tcPr anchor="ctr" marL="82296" marR="82296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Interpreting Automated Security Audit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This week's Cyber HW doesn't ask you to write an audit script - it asks you to read one's output like an incident responder would.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08792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828800"/>
            <a:ext cx="6035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Example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8288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08792" cy="685800"/>
          </a:xfrm>
          <a:prstGeom prst="rect">
            <a:avLst/>
          </a:prstGeom>
          <a:solidFill>
            <a:srgbClr val="E8EEF7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554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filesystem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286000"/>
            <a:ext cx="722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D5A80"/>
                </a:solidFill>
                <a:latin typeface="Calibri"/>
              </a:rPr>
              <a:t>bad_permissions - Wrong owner/mode on /etc/passwd, /etc/shadow, or /etc/sudoers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21240" y="2482596"/>
            <a:ext cx="1371600" cy="292608"/>
          </a:xfrm>
          <a:prstGeom prst="round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090879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554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971800"/>
            <a:ext cx="722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D5A80"/>
                </a:solidFill>
                <a:latin typeface="Calibri"/>
              </a:rPr>
              <a:t>duplicate_uid0 - An account other than root has UID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3168396"/>
            <a:ext cx="1371600" cy="292608"/>
          </a:xfrm>
          <a:prstGeom prst="round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10908792" cy="685800"/>
          </a:xfrm>
          <a:prstGeom prst="rect">
            <a:avLst/>
          </a:prstGeom>
          <a:solidFill>
            <a:srgbClr val="E8EEF7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1554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accounts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657600"/>
            <a:ext cx="722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D5A80"/>
                </a:solidFill>
                <a:latin typeface="Calibri"/>
              </a:rPr>
              <a:t>stale_privileged_account - A wheel-group member hasn't logged in within 90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3854196"/>
            <a:ext cx="1371600" cy="292608"/>
          </a:xfrm>
          <a:prstGeom prst="round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43400"/>
            <a:ext cx="1090879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1554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343400"/>
            <a:ext cx="722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D5A80"/>
                </a:solidFill>
                <a:latin typeface="Calibri"/>
              </a:rPr>
              <a:t>external_connection - Established outbound connection to a non-private 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4539996"/>
            <a:ext cx="1371600" cy="292608"/>
          </a:xfrm>
          <a:prstGeom prst="round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INFO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29200"/>
            <a:ext cx="10908792" cy="685800"/>
          </a:xfrm>
          <a:prstGeom prst="rect">
            <a:avLst/>
          </a:prstGeom>
          <a:solidFill>
            <a:srgbClr val="E8EEF7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1554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ssh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029200"/>
            <a:ext cx="722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D5A80"/>
                </a:solidFill>
                <a:latin typeface="Calibri"/>
              </a:rPr>
              <a:t>ssh_root_login_enabled - PermitRootLogin yes in sshd_config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5225796"/>
            <a:ext cx="1371600" cy="292608"/>
          </a:xfrm>
          <a:prstGeom prst="round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15000"/>
            <a:ext cx="1090879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1554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cron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715000"/>
            <a:ext cx="722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D5A80"/>
                </a:solidFill>
                <a:latin typeface="Calibri"/>
              </a:rPr>
              <a:t>cron_writable_script - A root-run scheduled script is group/other-writable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40" y="5911596"/>
            <a:ext cx="1371600" cy="292608"/>
          </a:xfrm>
          <a:prstGeom prst="round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962656"/>
            <a:ext cx="1005840" cy="10058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000" b="1" i="0">
                <a:solidFill>
                  <a:srgbClr val="1B2A4A"/>
                </a:solidFill>
                <a:latin typeface="Cambr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008376"/>
            <a:ext cx="9235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This Week's 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Lab 2 - Linux Network Services &amp; Privilege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6400800" cy="3520440"/>
          </a:xfrm>
          <a:prstGeom prst="round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709928"/>
            <a:ext cx="5998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5998464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3D5A80"/>
                </a:solidFill>
                <a:latin typeface="Calibri"/>
              </a:rPr>
              <a:t>-  Configure BIND authoritative DNS - forward + reverse zones, CNAME/MX/TXT/PTR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5A80"/>
                </a:solidFill>
                <a:latin typeface="Calibri"/>
              </a:rPr>
              <a:t>-  Deploy chrony as a client and internal stratum-2 server; compare NTP vs PTP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5A80"/>
                </a:solidFill>
                <a:latin typeface="Calibri"/>
              </a:rPr>
              <a:t>-  Design a least-privilege sudo policy scoping who may administer DNS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5A80"/>
                </a:solidFill>
                <a:latin typeface="Calibri"/>
              </a:rPr>
              <a:t>-  Layer POSIX ACLs on shared paths and verify every control with an unauthorized-action test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5A80"/>
                </a:solidFill>
                <a:latin typeface="Calibri"/>
              </a:rPr>
              <a:t>-  Scope firewalld to expose only the services this host actually provides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00200"/>
            <a:ext cx="4233672" cy="3520440"/>
          </a:xfrm>
          <a:prstGeom prst="round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6368" y="1709928"/>
            <a:ext cx="3831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Tools &amp;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2103120"/>
            <a:ext cx="3831336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3D5A80"/>
                </a:solidFill>
                <a:latin typeface="Calibri"/>
              </a:rPr>
              <a:t>-  bind, bind-utils, chrony, acl (dnf install)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5A80"/>
                </a:solidFill>
                <a:latin typeface="Calibri"/>
              </a:rPr>
              <a:t>-  firewalld - already enabled on Rocky 9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5A80"/>
                </a:solidFill>
                <a:latin typeface="Calibri"/>
              </a:rPr>
              <a:t>-  alice - sysadmin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5A80"/>
                </a:solidFill>
                <a:latin typeface="Calibri"/>
              </a:rPr>
              <a:t>-  bob - DNS operator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D5A80"/>
                </a:solidFill>
                <a:latin typeface="Calibri"/>
              </a:rPr>
              <a:t>-  carol - read-only auditor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94960"/>
            <a:ext cx="10908792" cy="8686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94960"/>
            <a:ext cx="102687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Both Tracks - deliverable is a single notes file; access controls are graded by attempting the denied action and confirming it fails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Homework 2: Cyber vs. IT Track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5317236" cy="4480560"/>
          </a:xfrm>
          <a:prstGeom prst="round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709928"/>
            <a:ext cx="49149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CYBER HW 2 - Security Audit Script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4914900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-  Run a provided 5-category audit script against 3 unknown target VMs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-  Part 1 (20 pts) - collect valid, schema-correct JSON reports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-  Part 2 (45 pts) - findings by severity, urgency justification, specific remediation, cross-machine risk ranking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-  Part 3 (35 pts) - whitelist scaling, an undetected MITRE ATT&amp;CK technique, false-positive tuning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-  Grad extension: CVSS v3.1 Environmental scoring in bash (30 pts)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600200"/>
            <a:ext cx="5317236" cy="4480560"/>
          </a:xfrm>
          <a:prstGeom prst="round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2804" y="1709928"/>
            <a:ext cx="49149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IT HW 2 - Network Services: Design, Audit &amp; Failure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2804" y="2103120"/>
            <a:ext cx="4914900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0" i="0">
                <a:solidFill>
                  <a:srgbClr val="3D5A80"/>
                </a:solidFill>
                <a:latin typeface="Calibri"/>
              </a:rPr>
              <a:t>-  Audit 3 intentionally broken configs: named.conf, dhcpd.conf, exports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3D5A80"/>
                </a:solidFill>
                <a:latin typeface="Calibri"/>
              </a:rPr>
              <a:t>-  Part 1 (40 pts) - 8+ issues found, severity rated, production impact explained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3D5A80"/>
                </a:solidFill>
                <a:latin typeface="Calibri"/>
              </a:rPr>
              <a:t>-  Part 2 (45 pts) - handoff doc for a working deployment: ADRs, annotated configs, verification runbooks, hardening, failure-mode analysis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3D5A80"/>
                </a:solidFill>
                <a:latin typeface="Calibri"/>
              </a:rPr>
              <a:t>-  Part 3 (15 pts) - DHCP/DNS/NFS co-location risk and service-placement strategy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3D5A80"/>
                </a:solidFill>
                <a:latin typeface="Calibri"/>
              </a:rPr>
              <a:t>-  Grad extension: DNS HA architecture + a formal ADR (30 pts)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1556" y="2194560"/>
            <a:ext cx="1005840" cy="100584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20440"/>
            <a:ext cx="1036015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1B2A4A"/>
                </a:solidFill>
                <a:latin typeface="Cambria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D5A80"/>
                </a:solidFill>
                <a:latin typeface="Calibri"/>
              </a:rPr>
              <a:t>Sebastian Hayes  ·  sebastian.hayes@byu.edu  ·  Discord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