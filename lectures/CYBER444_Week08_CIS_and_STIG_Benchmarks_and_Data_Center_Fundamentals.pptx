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final-project launch before the Week 8 technical topics. The published proposal deadline remains the end of Week 9.
Citations:
- /opt/byu-cyber-444.github.io/schedule/week-08.md
- /opt/byu-cyber-444.github.io/final-project-cyber/index.md
- /opt/byu-cyber-444.github.io/final-project-it/index.md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the project here in Week 8. Both tracks allow individual or pair work with the same scope. The passing proposal is required. Final documentation and a recorded presentation/demo of 10 minutes or less are due December 10 at 11:59 PM in Learning Suite, each worth 5% of the course grade. No graded checkpoints occur between proposal and final submission. Project assistance restrictions are stated on both track overviews.
Citations:
- /opt/byu-cyber-444.github.io/final-project-cyber/index.md
- /opt/byu-cyber-444.github.io/final-project-it/index.md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identify which option best uses the skills and infrastructure they already have. The Cyber overview lists all six options. Every Cyber project includes at least one Linux system and one Windows Server system doing real work; both appear in automation, diagram, documentation, and demo.
Citations:
- /opt/byu-cyber-444.github.io/final-project-cyber/index.md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students to compare operational value, resource load, and evidence burden. The IT overview says these projects can run in the student’s own Proxmox lab; no cloud account is required. Most options use Valley Medical Group as the scenario organization.
Citations:
- /opt/byu-cyber-444.github.io/final-project-it/index.md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proposal pages require all five sections and specific answers. Week 13 is Thanksgiving break with no deliverable. The Cyber proposal additionally requires at least one Linux and one Windows Server system and the Windows role. A failed proposal must be revised and passed before project credit can be received. Do not imply the Week 8 launch changes the deadline.
Citations:
- /opt/byu-cyber-444.github.io/final-project-cyber/proposal.md
- /opt/byu-cyber-444.github.io/final-project-it/proposal.md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two halves of Week 8 around evidence. Cyber students inspect a control result and prove a fix. IT students inspect a facility design and justify a risk roadmap. Ask what a single compliance percentage cannot tell an operator.
Citations:
- /opt/byu-cyber-444.github.io/schedule/week-08.md
- /opt/byu-cyber-444.github.io/labs/copies/cyber-lab-08.md
- /opt/byu-cyber-444.github.io/labs/copies/it-lab-08.md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program controls from system configuration guidance. Do not imply a benchmark score proves the whole organization is secure. The schedule names CIS Controls v8. This slide uses the course wording while the CIS site is the authority for current descriptions.
Citations:
- /opt/byu-cyber-444.github.io/schedule/week-08.md
- CIS Controls, https://www.cisecurity.org/controls
- CIS Benchmarks FAQ, https://www.cisecurity.org/cis-benchmarks/cis-benchmarks-faq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 describes Level 1 as base guidance and Level 2 as defense in depth that may affect functionality. Some CIS Benchmarks include a STIG profile; do not confuse that profile with the authoritative DISA STIG for a DoD requirement. Test in a representative environment.
Citations:
- CIS Benchmarks FAQ, https://www.cisecurity.org/cis-benchmarks/cis-benchmarks-faq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overlapping hardening intent without saying CIS and STIG are interchangeable. A contract or authorizing body determines the required baseline. STIG Viewer and SCAP content help inspect and assess controls, but tool output does not replace understanding a finding.
Citations:
- /opt/byu-cyber-444.github.io/schedule/week-08.md
- CIS Benchmarks FAQ, https://www.cisecurity.org/cis-benchmarks/cis-benchmarks-faq
- DoD Cyber Exchange STIG library, https://public.cyber.mil/stigs/downloads/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 8 schedule names SCAP and STIG Viewer. The DoD Cyber Exchange hosts current STIGs, benchmarks, and Viewer downloads. Automation can collect observations, but applicability, operational impact, and any exception require review. Do not claim every STIG control can be fully automated.
Citations:
- /opt/byu-cyber-444.github.io/schedule/week-08.md
- DoD Cyber Exchange STIG library, https://public.cyber.mil/stigs/downloads/
- NIST SP 800-70 Rev. 5, https://csrc.nist.gov/pubs/sp/800/70/r5/final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NIST checklist guidance to explain why provenance matters. A scan result is about a specific host at a specific time. Ask whether two percentages are comparable when the profiles or content versions differ.
Citations:
- NIST SP 800-70 Rev. 5, https://csrc.nist.gov/pubs/sp/800/70/r5/final
- /opt/byu-cyber-444.github.io/schedule/week-08.md
- /opt/byu-cyber-444.github.io/labs/copies/cyber-lab-08.md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detailed Cyber lab states that CIS-CAT Pro for Rocky Linux is limited to CIS SecureSuite members. OpenSCAP with SCAP Security Guide content is a teaching measurement derived from RHEL content and is not CIS-certified. The homework separately provides a synthetic Ubuntu 22.04 CIS-CAT-style report. Keep these hosts, tools, and datasets distinct.
Citations:
- /opt/byu-cyber-444.github.io/labs/copies/cyber-lab-08.md
- /opt/byu-cyber-444.github.io/homework/cyber-hw-08.md
- /opt/byu-cyber-444.github.io/homework/description-files/cyber-hw-08-sample-report.md
- DoD Cyber Exchange STIG library, https://public.cyber.mil/stigs/downloads/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supplied synthetic report is for cyber-hw08-sample01, Ubuntu 22.04.3 LTS, 48 controls, 21 FAIL and 27 PASS. Do not present its percentage as a real scan of the Rocky lab VM. Let students name what a score omits: exploit path, exposure, asset role, breakage risk, and evidence quality.
Citations:
- /opt/byu-cyber-444.github.io/homework/description-files/cyber-hw-08-sample-report.md
- /opt/byu-cyber-444.github.io/homework/cyber-hw-08.md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homework asks students to rank all 21 failures and document the top 15. Its three tiers are immediate, 30 days, and 90 days, each justified with a concrete attacker path. Emphasize that this is the assignment framework, not a universal remediation SLA.
Citations:
- /opt/byu-cyber-444.github.io/homework/cyber-hw-08.md
- /opt/byu-cyber-444.github.io/homework/description-files/cyber-hw-08-sample-report.md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Cyber lab asks students to map their 10 highest-impact failing controls to ATT&amp;CK techniques. The same control may contribute to multiple mitigations, and mappings must be argued, not guessed from a title. Do not give a complete mapping table in visible text.
Citations:
- /opt/byu-cyber-444.github.io/labs/copies/cyber-lab-08.md
- MITRE ATT&amp;CK, https://attack.mitre.org/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organizational baseline is more than a downloaded checklist. Identify role, owner, version, applicable settings, test environment, and review cadence. Ask what happens when a benchmark updates or a service changes role.
Citations:
- /opt/byu-cyber-444.github.io/schedule/week-08.md
- NIST SP 800-70 Rev. 5, https://csrc.nist.gov/pubs/sp/800/70/r5/final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hypothetical application compatibility exception, not a real institutional policy. An exception is not a silent PASS. Ask how a scanner can preserve visibility of the gap while operational leaders accept it for a bounded period.
Citations:
- /opt/byu-cyber-444.github.io/schedule/week-08.md
- NIST SP 800-70 Rev. 5, https://csrc.nist.gov/pubs/sp/800/70/r5/final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VM is cyber-lab08-cis01. Students install openscap-scanner, scap-security-guide, and AIDE. The lab says oscap exit code 2 when a rule fails is normal. Students export baseline and post-remediation reports, verify five manual fixes, and demonstrate AIDE detection. Avoid telling them to run a generated fix script, which the lab explicitly prohibits.
Citations:
- /opt/byu-cyber-444.github.io/labs/copies/cyber-lab-08.md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homework demands this runbook for every Tier 1 and Tier 2 finding and at least five Tier 3 controls. The lab requires five manual remediations with verification and rollback. Explain why merely editing a file is not proof the daemon loaded the setting.
Citations:
- /opt/byu-cyber-444.github.io/homework/cyber-hw-08.md
- /opt/byu-cyber-444.github.io/labs/copies/cyber-lab-08.md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worked SSH MaxAuthTries example already present in the Cyber lab. The intended value is 4. Syntax validation should be silent on success; the effective output should show maxauthtries 4. The second session is an access test before closing the first.
Citations:
- /opt/byu-cyber-444.github.io/labs/copies/cyber-lab-08.md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names AIDE and Tripwire as filesystem integrity monitoring examples. The lab uses AIDE: students plant a simulated hidden SUID binary under /usr/local/bin, check that AIDE detects it, remove it, and repeat the check. A directory mtime change may still appear after cleanup. The slide does not display the exact attack command; the lab page supplies the procedure.
Citations:
- /opt/byu-cyber-444.github.io/labs/copies/cyber-lab-08.md
- /opt/byu-cyber-444.github.io/schedule/week-08.md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discussion case. Look for a concrete failure state, service owner, test in staging, verified backup or rollback, monitoring and second-session access test if authentication is affected. An exception needs compensating controls, owner, and expiry. Accept several defensible choices if grounded in evidence; do not require an immediate production change.
Citations:
- /opt/byu-cyber-444.github.io/schedule/week-08.md
- /opt/byu-cyber-444.github.io/labs/copies/cyber-lab-08.md
- NIST SP 800-70 Rev. 5, https://csrc.nist.gov/pubs/sp/800/70/r5/final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host controls to facility risk. Draw attention to full-path behavior, not just the count of devices. The Week 8 schedule includes tier design, power, cooling, physical security, cabling, and out-of-band access.
Citations:
- /opt/byu-cyber-444.github.io/schedule/week-08.md
- /opt/byu-cyber-444.github.io/labs/copies/it-lab-08.md
- Uptime Institute Tier Certification, https://uptimeinstitute.com/tier-certification/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Uptime Institute descriptions. Tier III means every capacity component and distribution path can be removed on a planned basis without affecting operations. Tier IV adds fault tolerance. Uptime states no direct relationship between a Tier and a number of nines. A service SLA is a separate contractual promise that depends on scope and operations. Course homework percentages are exercise inputs only, not official certification targets.
Citations:
- Uptime Institute Tier Certification, https://uptimeinstitute.com/tier-certification/
- Uptime Institute, 99 Red Flags, https://journal.uptimeinstitute.com/99-red-flags/
- Uptime Institute Tier Classifications, https://uptimeinstitute.com/tiers
- /opt/byu-cyber-444.github.io/homework/it-hw-08.md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Meridian has 350 employees and $2.1B AUM in the supplied scenario. IT load is 180 kW and facility draw is 306 kW. Its facility assessment should be presented as a student analysis, not a certified Tier determination. Do not invent specifications beyond the site survey.
Citations:
- /opt/byu-cyber-444.github.io/labs/copies/it-lab-08.md
- /opt/byu-cyber-444.github.io/homework/description-files/it-hw-08-survey-findings.md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Mermaid-like flow is deliberately linear for one representative power path; it does not imply the two UPS or PDUs are serial. The site survey says two UPS units and two PDUs per rack row but single-corded servers. Ask students to state the missing distribution and load details before estimating a precise percentage of affected servers.
Citations:
- /opt/byu-cyber-444.github.io/labs/copies/it-lab-08.md
- /opt/byu-cyber-444.github.io/homework/description-files/it-hw-08-survey-findings.md
- Uptime Institute Tier Certification, https://uptimeinstitute.com/tier-certification/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compare the three common UPS operating designs: standby switches to battery after a failure, line-interactive adds voltage regulation, and double-conversion normally supplies the load through an inverter. Do not infer transfer behavior from the scenario label alone. Worked values from lab data: each 80 kVA UPS at 0.9 power factor is 72 kW; combined 144 kW, 36 kW below the 180 kW IT load. One UPS leaves 72 kW, 108 kW below IT load. At 80% loading, each supports 57.6 kW. The supplied lab itself gives the 144 kW value; keep answers in notes here to preserve the exercise.
Citations:
- /opt/byu-cyber-444.github.io/labs/copies/it-lab-08.md
- /opt/byu-cyber-444.github.io/homework/description-files/it-hw-08-survey-findings.md
- /opt/byu-cyber-444.github.io/schedule/week-08.md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examine source independence, UPS capacity, PDU topology, maintenance bypass, breakers, transfer devices, and server PSU connections. Meridian’s single-corded servers create a dependency on one PDU even with two PDUs per row.
Citations:
- /opt/byu-cyber-444.github.io/labs/copies/it-lab-08.md
- /opt/byu-cyber-444.github.io/homework/description-files/it-hw-08-survey-findings.md
- Uptime Institute Tier Certification, https://uptimeinstitute.com/tier-certification/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shortfall is 106 kW before derating or startup transients. The lab asks for a five-item load shedding list and notes a 72-hour tank and approximate 14.5 gallons/hour fuel consumption at 200 kW. A 72-hour fuel rating is not proof the full 306 kW facility can be carried. Do not imply a reliable runtime without usable fuel quantity and actual load curve.
Citations:
- /opt/byu-cyber-444.github.io/labs/copies/it-lab-08.md
- /opt/byu-cyber-444.github.io/homework/description-files/it-hw-08-survey-findings.md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explicitly includes 2N+1 design. Teach the notation as capacity topology shorthand, not an automatic claim of Tier III or IV. Uptime evaluates the whole site behavior, including all components and paths.
Citations:
- /opt/byu-cyber-444.github.io/schedule/week-08.md
- Uptime Institute Tier Certification, https://uptimeinstitute.com/tier-certification/
- Uptime Institute Tier Classifications, https://uptimeinstitute.com/tiers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Meridian’s average inlet temperature is 75°F. Partial containment can create hot spots even when an average is in range. The lab asks students to assess the 75°F value against the provided ASHRAE A2 envelope and to analyze rows 5–8. Avoid inventing site-specific humidity thresholds.
Citations:
- /opt/byu-cyber-444.github.io/labs/copies/it-lab-08.md
- /opt/byu-cyber-444.github.io/homework/description-files/it-hw-08-survey-findings.md
- /opt/byu-cyber-444.github.io/schedule/week-08.md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PUE 1.70. Compared with 1.4 at fixed 180 kW IT load and $0.12/kWh, annual difference is (1.70-1.4)×180×8760×0.12 = $56,764.80. This is a course exercise estimate, not a measured savings guarantee. The lab provides the PUE benchmark comparison and assumes $0.12/kWh.
Citations:
- /opt/byu-cyber-444.github.io/labs/copies/it-lab-08.md
- /opt/byu-cyber-444.github.io/homework/description-files/it-hw-08-survey-findings.md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includes environmental monitoring, hot/cold aisles, and DCIM. Treat thresholds as site-specific engineering choices rather than inventing a universal number. Meridian’s staffing is weekday 7 AM–7 PM, with an on-call vendor’s four-hour on-site response SLA after hours; students should account for that delay.
Citations:
- /opt/byu-cyber-444.github.io/schedule/week-08.md
- /opt/byu-cyber-444.github.io/homework/description-files/it-hw-08-survey-findings.md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Meridian has a card-access double-door entrance and badge plus PIN server-room access, but no cameras inside the server room. Any badged employee may escort visitors, racks are open-frame, and media destruction lacks a chain-of-custody log. Ask students to separate prevention, detection, and accountability.
Citations:
- /opt/byu-cyber-444.github.io/schedule/week-08.md
- /opt/byu-cyber-444.github.io/labs/copies/it-lab-08.md
- /opt/byu-cyber-444.github.io/homework/description-files/it-hw-08-survey-findings.md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finding grounded in Meridian’s survey, which includes a mantrap, any-badged-employee escorting, no internal server-room CCTV, and open-frame racks. A strong response avoids claiming that the visitor actually touched equipment, since that is not in the prompt; it identifies evidence gaps and plausible controls.
Citations:
- /opt/byu-cyber-444.github.io/labs/copies/it-lab-08.md
- /opt/byu-cyber-444.github.io/homework/description-files/it-hw-08-survey-findings.md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 8 schedule lists rack management, TIA-568 structured cabling, and colocation agreements. Discuss these as design and documentation considerations. Do not imply a particular colocation provider, contract term, or standard clause for Meridian, which is an on-premises scenario.
Citations:
- /opt/byu-cyber-444.github.io/schedule/week-08.md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survey includes an iDRAC at 10.0.0.50 on the same VLAN as production servers, default credentials, SNMP v1 public, an old firmware version, and a self-signed factory certificate. Do not show credentials on the student slide. The lab’s required path is a security assessment; driving a simulated BMC is optional.
Citations:
- /opt/byu-cyber-444.github.io/schedule/week-08.md
- /opt/byu-cyber-444.github.io/labs/copies/it-lab-08.md
- /opt/byu-cyber-444.github.io/homework/description-files/it-hw-08-survey-findings.md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 homework requires a risk register with at least 12 risks and an immediate, short-term, and long-term roadmap. It asks for Tier analysis. Treat the provided percentage table in homework as exercise inputs only: Uptime says Tier classification does not map directly to an availability percentage. Discuss the gap without changing the assigned calculations.
Citations:
- /opt/byu-cyber-444.github.io/homework/it-hw-08.md
- /opt/byu-cyber-444.github.io/labs/copies/it-lab-08.md
- /opt/byu-cyber-444.github.io/homework/description-files/it-hw-08-survey-findings.md
- Uptime Institute Tier Certification, https://uptimeinstitute.com/tier-certification/
- Uptime Institute, 99 Red Flags, https://journal.uptimeinstitute.com/99-red-flags/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the detailed Cyber lab deliverables exactly. Students must retain baseline and post-remediation HTML, mapping table, five-entry log, comparison table, and AIDE detection output. OpenSCAP is not a CIS-certified score. The lab page linked by the schedule is a stub, so the agreed source is the detailed copy.
Citations:
- /opt/byu-cyber-444.github.io/labs/copies/cyber-lab-08.md
- /opt/byu-cyber-444.github.io/schedule/week-08.md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homework uses the supplied synthetic CIS-CAT-style Ubuntu report; students do not need to run a scanner to obtain findings. The assignment calls for verified commands for every Tier 1 and Tier 2 control and at least five Tier 3 controls, with before-and-after evidence for at least five. Avoid copying any editorial notes or hidden web-page text into the deck.
Citations:
- /opt/byu-cyber-444.github.io/homework/cyber-hw-08.md
- /opt/byu-cyber-444.github.io/homework/description-files/cyber-hw-08-sample-report.md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 lab requires the out-of-band security assessment even if the hands-on simulated BMC path is skipped. Students should base findings on the provided facility specifications, not a generic data center. The schedule-linked lab page is a stub; the agreed source is the detailed copy.
Citations:
- /opt/byu-cyber-444.github.io/labs/copies/it-lab-08.md
- /opt/byu-cyber-444.github.io/homework/description-files/it-hw-08-survey-findings.md
- /opt/byu-cyber-444.github.io/schedule/week-08.md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 homework requires a formal report, at least 12 risks, and reliability calculations for two power risks and one cooling risk. Its Tier availability figures are exercise assumptions; do not attribute them to Uptime Institute as current official targets. Use the separate site survey source for facts and submit the Markdown report and requested PR.
Citations:
- /opt/byu-cyber-444.github.io/homework/it-hw-08.md
- /opt/byu-cyber-444.github.io/homework/description-files/it-hw-08-survey-findings.md
- Uptime Institute Tier Certification, https://uptimeinstitute.com/tier-certification/
- Uptime Institute, 99 Red Flags, https://journal.uptimeinstitute.com/99-red-flags/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an independent exit discussion. Look for both control effectiveness and operational consequences. Cyber answer examples: live-state verification and rescan. IT answer examples: capacity/path test, facility evidence, or a measured risk reduction. Do not require one answer or reveal it in the visible prompt.
Citations:
- /opt/byu-cyber-444.github.io/labs/copies/cyber-lab-08.md
- /opt/byu-cyber-444.github.io/labs/copies/it-lab-08.md
- /opt/byu-cyber-444.github.io/homework/cyber-hw-08.md
- /opt/byu-cyber-444.github.io/homework/it-hw-08.md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sources: Week 8 schedule, detailed Cyber and IT lab copies, homework briefs and supplied datasets, and both final-project tracks. External primary sources: CIS Benchmarks FAQ, NIST SP 800-70 Rev. 5, DoD Cyber Exchange STIG library, MITRE ATT&amp;CK, and Uptime Institute Tier descriptions. The Uptime Institute 99 Red Flags article explicitly rejects a direct Tier-to-nines mapping.
Citations:
- /opt/byu-cyber-444.github.io/schedule/week-08.md
- /opt/byu-cyber-444.github.io/labs/copies/cyber-lab-08.md
- /opt/byu-cyber-444.github.io/labs/copies/it-lab-08.md
- /opt/byu-cyber-444.github.io/homework/cyber-hw-08.md
- /opt/byu-cyber-444.github.io/homework/it-hw-08.md
- /opt/byu-cyber-444.github.io/final-project-cyber/index.md
- /opt/byu-cyber-444.github.io/final-project-it/index.md
- CIS Benchmarks FAQ, https://www.cisecurity.org/cis-benchmarks/cis-benchmarks-faq
- NIST SP 800-70 Rev. 5, https://csrc.nist.gov/pubs/sp/800/70/r5/final
- DoD Cyber Exchange STIG library, https://public.cyber.mil/stigs/downloads/
- Uptime Institute Tier Certification, https://uptimeinstitute.com/tier-certification/
- Uptime Institute, 99 Red Flags, https://journal.uptimeinstitute.com/99-red-flags/
- MITRE ATT&amp;CK, https://attack.mitre.org/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YBER444_W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97D"/>
          </a:solidFill>
          <a:ln w="12700">
            <a:solidFill>
              <a:srgbClr val="1F497D"/>
            </a:solidFill>
            <a:prstDash val="solid"/>
          </a:ln>
        </p:spPr>
      </p:sp>
      <p:sp>
        <p:nvSpPr>
          <p:cNvPr id="3" name="Text 1"/>
          <p:cNvSpPr/>
          <p:nvPr/>
        </p:nvSpPr>
        <p:spPr>
          <a:xfrm>
            <a:off x="411480" y="65653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CYBER 444  ·  ASSESS / DESIGN / VERIFY</a:t>
            </a:r>
            <a:endParaRPr lang="en-US" sz="800" dirty="0"/>
          </a:p>
        </p:txBody>
      </p:sp>
      <p:sp>
        <p:nvSpPr>
          <p:cNvPr id="4" name="Text 2"/>
          <p:cNvSpPr/>
          <p:nvPr/>
        </p:nvSpPr>
        <p:spPr>
          <a:xfrm>
            <a:off x="10561320" y="6565392"/>
            <a:ext cx="114300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Fall 2026</a:t>
            </a:r>
            <a:endParaRPr lang="en-US" sz="8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97D"/>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gd name="adj" fmla="val 53333"/>
            </a:avLst>
          </a:prstGeom>
          <a:solidFill>
            <a:srgbClr val="4BACC6"/>
          </a:solidFill>
          <a:ln w="12700">
            <a:solidFill>
              <a:srgbClr val="4BACC6"/>
            </a:solidFill>
            <a:prstDash val="solid"/>
          </a:ln>
        </p:spPr>
      </p:sp>
      <p:sp>
        <p:nvSpPr>
          <p:cNvPr id="3" name="Text 1"/>
          <p:cNvSpPr txBox="1"/>
          <p:nvPr/>
        </p:nvSpPr>
        <p:spPr>
          <a:xfrm>
            <a:off x="621792" y="566928"/>
            <a:ext cx="2286000" cy="256032"/>
          </a:xfrm>
          <a:prstGeom prst="rect">
            <a:avLst/>
          </a:prstGeom>
          <a:noFill/>
          <a:ln/>
        </p:spPr>
        <p:txBody>
          <a:bodyPr wrap="square" lIns="508" tIns="508" rIns="508" bIns="508" rtlCol="0" anchor="ctr">
            <a:normAutofit/>
          </a:bodyPr>
          <a:lstStyle/>
          <a:p>
            <a:pPr algn="l" indent="0" marL="0">
              <a:buNone/>
            </a:pPr>
            <a:r>
              <a:rPr lang="en-US" sz="1400" b="1" spc="200" kern="0" dirty="0">
                <a:solidFill>
                  <a:srgbClr val="BFE4EE"/>
                </a:solidFill>
                <a:latin typeface="Calibri" pitchFamily="34" charset="0"/>
                <a:ea typeface="Calibri" pitchFamily="34" charset="-122"/>
                <a:cs typeface="Calibri" pitchFamily="34" charset="-120"/>
              </a:rPr>
              <a:t>WEEK 8</a:t>
            </a:r>
            <a:endParaRPr lang="en-US" sz="1400" dirty="0"/>
          </a:p>
        </p:txBody>
      </p:sp>
      <p:sp>
        <p:nvSpPr>
          <p:cNvPr id="4" name="Text 2"/>
          <p:cNvSpPr txBox="1"/>
          <p:nvPr/>
        </p:nvSpPr>
        <p:spPr>
          <a:xfrm>
            <a:off x="621792" y="1097280"/>
            <a:ext cx="10698480" cy="1325880"/>
          </a:xfrm>
          <a:prstGeom prst="rect">
            <a:avLst/>
          </a:prstGeom>
          <a:noFill/>
          <a:ln/>
        </p:spPr>
        <p:txBody>
          <a:bodyPr wrap="square" lIns="508" tIns="508" rIns="508" bIns="508" rtlCol="0" anchor="ctr">
            <a:normAutofit/>
          </a:bodyPr>
          <a:lstStyle/>
          <a:p>
            <a:pPr algn="l" indent="0" marL="0">
              <a:buNone/>
            </a:pPr>
            <a:r>
              <a:rPr lang="en-US" sz="3300" b="1" dirty="0">
                <a:solidFill>
                  <a:srgbClr val="FFFFFF"/>
                </a:solidFill>
                <a:latin typeface="Calibri" pitchFamily="34" charset="0"/>
                <a:ea typeface="Calibri" pitchFamily="34" charset="-122"/>
                <a:cs typeface="Calibri" pitchFamily="34" charset="-120"/>
              </a:rPr>
              <a:t>CIS &amp; STIG Benchmarks</a:t>
            </a:r>
            <a:endParaRPr lang="en-US" sz="3300" dirty="0"/>
          </a:p>
          <a:p>
            <a:pPr algn="l" indent="0" marL="0">
              <a:buNone/>
            </a:pPr>
            <a:r>
              <a:rPr lang="en-US" sz="3300" b="1" dirty="0">
                <a:solidFill>
                  <a:srgbClr val="FFFFFF"/>
                </a:solidFill>
                <a:latin typeface="Calibri" pitchFamily="34" charset="0"/>
                <a:ea typeface="Calibri" pitchFamily="34" charset="-122"/>
                <a:cs typeface="Calibri" pitchFamily="34" charset="-120"/>
              </a:rPr>
              <a:t>and Data Center Fundamentals</a:t>
            </a:r>
            <a:endParaRPr lang="en-US" sz="3300" dirty="0"/>
          </a:p>
        </p:txBody>
      </p:sp>
      <p:sp>
        <p:nvSpPr>
          <p:cNvPr id="5" name="Text 3"/>
          <p:cNvSpPr txBox="1"/>
          <p:nvPr/>
        </p:nvSpPr>
        <p:spPr>
          <a:xfrm>
            <a:off x="658368" y="2761488"/>
            <a:ext cx="9875520" cy="384048"/>
          </a:xfrm>
          <a:prstGeom prst="rect">
            <a:avLst/>
          </a:prstGeom>
          <a:noFill/>
          <a:ln/>
        </p:spPr>
        <p:txBody>
          <a:bodyPr wrap="square" lIns="508" tIns="508" rIns="508" bIns="508" rtlCol="0" anchor="ctr">
            <a:normAutofit/>
          </a:bodyPr>
          <a:lstStyle/>
          <a:p>
            <a:pPr algn="l" indent="0" marL="0">
              <a:buNone/>
            </a:pPr>
            <a:r>
              <a:rPr lang="en-US" sz="1800" dirty="0">
                <a:solidFill>
                  <a:srgbClr val="DCEAF5"/>
                </a:solidFill>
                <a:latin typeface="Calibri" pitchFamily="34" charset="0"/>
                <a:ea typeface="Calibri" pitchFamily="34" charset="-122"/>
                <a:cs typeface="Calibri" pitchFamily="34" charset="-120"/>
              </a:rPr>
              <a:t>Assess controls · design resilience · verify risk reduction</a:t>
            </a:r>
            <a:endParaRPr lang="en-US" sz="1800" dirty="0"/>
          </a:p>
        </p:txBody>
      </p:sp>
      <p:sp>
        <p:nvSpPr>
          <p:cNvPr id="6" name="Shape 4"/>
          <p:cNvSpPr/>
          <p:nvPr/>
        </p:nvSpPr>
        <p:spPr>
          <a:xfrm>
            <a:off x="658368" y="3374136"/>
            <a:ext cx="3776472" cy="0"/>
          </a:xfrm>
          <a:prstGeom prst="line">
            <a:avLst/>
          </a:prstGeom>
          <a:noFill/>
          <a:ln w="38100">
            <a:solidFill>
              <a:srgbClr val="4BACC6"/>
            </a:solidFill>
            <a:prstDash val="solid"/>
            <a:tailEnd type="none"/>
          </a:ln>
        </p:spPr>
      </p:sp>
      <p:sp>
        <p:nvSpPr>
          <p:cNvPr id="7" name="Text 5"/>
          <p:cNvSpPr txBox="1"/>
          <p:nvPr/>
        </p:nvSpPr>
        <p:spPr>
          <a:xfrm>
            <a:off x="658368" y="5349240"/>
            <a:ext cx="5943600" cy="256032"/>
          </a:xfrm>
          <a:prstGeom prst="rect">
            <a:avLst/>
          </a:prstGeom>
          <a:noFill/>
          <a:ln/>
        </p:spPr>
        <p:txBody>
          <a:bodyPr wrap="square" lIns="508" tIns="508" rIns="508" bIns="508" rtlCol="0" anchor="ctr">
            <a:normAutofit/>
          </a:bodyPr>
          <a:lstStyle/>
          <a:p>
            <a:pPr algn="l" indent="0" marL="0">
              <a:buNone/>
            </a:pPr>
            <a:r>
              <a:rPr lang="en-US" sz="1300" dirty="0">
                <a:solidFill>
                  <a:srgbClr val="DCEAF5"/>
                </a:solidFill>
                <a:latin typeface="Calibri" pitchFamily="34" charset="0"/>
                <a:ea typeface="Calibri" pitchFamily="34" charset="-122"/>
                <a:cs typeface="Calibri" pitchFamily="34" charset="-120"/>
              </a:rPr>
              <a:t>CYBER 444  ·  Systems &amp; Network Administration</a:t>
            </a:r>
            <a:endParaRPr lang="en-US" sz="1300" dirty="0"/>
          </a:p>
        </p:txBody>
      </p:sp>
      <p:sp>
        <p:nvSpPr>
          <p:cNvPr id="8" name="Text 6"/>
          <p:cNvSpPr txBox="1"/>
          <p:nvPr/>
        </p:nvSpPr>
        <p:spPr>
          <a:xfrm>
            <a:off x="658368" y="5669280"/>
            <a:ext cx="4572000" cy="228600"/>
          </a:xfrm>
          <a:prstGeom prst="rect">
            <a:avLst/>
          </a:prstGeom>
          <a:noFill/>
          <a:ln/>
        </p:spPr>
        <p:txBody>
          <a:bodyPr wrap="square" lIns="508" tIns="508" rIns="508" bIns="508" rtlCol="0" anchor="ctr">
            <a:normAutofit/>
          </a:bodyPr>
          <a:lstStyle/>
          <a:p>
            <a:pPr algn="l" indent="0" marL="0">
              <a:buNone/>
            </a:pPr>
            <a:r>
              <a:rPr lang="en-US" sz="1200" dirty="0">
                <a:solidFill>
                  <a:srgbClr val="BFE4EE"/>
                </a:solidFill>
                <a:latin typeface="Calibri" pitchFamily="34" charset="0"/>
                <a:ea typeface="Calibri" pitchFamily="34" charset="-122"/>
                <a:cs typeface="Calibri" pitchFamily="34" charset="-120"/>
              </a:rPr>
              <a:t>October 20 &amp; 22, 2026</a:t>
            </a:r>
            <a:endParaRPr lang="en-US" sz="1200" dirty="0"/>
          </a:p>
        </p:txBody>
      </p:sp>
      <p:sp>
        <p:nvSpPr>
          <p:cNvPr id="9" name="Shape 7"/>
          <p:cNvSpPr/>
          <p:nvPr/>
        </p:nvSpPr>
        <p:spPr>
          <a:xfrm>
            <a:off x="7772400" y="3703320"/>
            <a:ext cx="475488" cy="475488"/>
          </a:xfrm>
          <a:prstGeom prst="ellipse">
            <a:avLst/>
          </a:prstGeom>
          <a:solidFill>
            <a:srgbClr val="C0504D"/>
          </a:solidFill>
          <a:ln w="12700">
            <a:solidFill>
              <a:srgbClr val="C0504D"/>
            </a:solidFill>
            <a:prstDash val="solid"/>
          </a:ln>
        </p:spPr>
      </p:sp>
      <p:sp>
        <p:nvSpPr>
          <p:cNvPr id="10" name="Shape 8"/>
          <p:cNvSpPr/>
          <p:nvPr/>
        </p:nvSpPr>
        <p:spPr>
          <a:xfrm>
            <a:off x="8558784" y="3447288"/>
            <a:ext cx="475488" cy="475488"/>
          </a:xfrm>
          <a:prstGeom prst="ellipse">
            <a:avLst/>
          </a:prstGeom>
          <a:solidFill>
            <a:srgbClr val="F79646"/>
          </a:solidFill>
          <a:ln w="12700">
            <a:solidFill>
              <a:srgbClr val="F79646"/>
            </a:solidFill>
            <a:prstDash val="solid"/>
          </a:ln>
        </p:spPr>
      </p:sp>
      <p:sp>
        <p:nvSpPr>
          <p:cNvPr id="11" name="Shape 9"/>
          <p:cNvSpPr/>
          <p:nvPr/>
        </p:nvSpPr>
        <p:spPr>
          <a:xfrm>
            <a:off x="9345168" y="3703320"/>
            <a:ext cx="475488" cy="475488"/>
          </a:xfrm>
          <a:prstGeom prst="ellipse">
            <a:avLst/>
          </a:prstGeom>
          <a:solidFill>
            <a:srgbClr val="4BACC6"/>
          </a:solidFill>
          <a:ln w="12700">
            <a:solidFill>
              <a:srgbClr val="4BACC6"/>
            </a:solidFill>
            <a:prstDash val="solid"/>
          </a:ln>
        </p:spPr>
      </p:sp>
      <p:sp>
        <p:nvSpPr>
          <p:cNvPr id="12" name="Shape 10"/>
          <p:cNvSpPr/>
          <p:nvPr/>
        </p:nvSpPr>
        <p:spPr>
          <a:xfrm>
            <a:off x="10131552" y="3447288"/>
            <a:ext cx="475488" cy="475488"/>
          </a:xfrm>
          <a:prstGeom prst="ellipse">
            <a:avLst/>
          </a:prstGeom>
          <a:solidFill>
            <a:srgbClr val="70AD47"/>
          </a:solidFill>
          <a:ln w="12700">
            <a:solidFill>
              <a:srgbClr val="70AD4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FINAL PROJECT</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Choose one capstone; build evidence you can defend</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Either track is open to every student, regardless of weekly track.</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CHOOSE</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One Cyber or IT option</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3493694" y="1965960"/>
            <a:ext cx="2350694"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PROPOSE</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PDF due end of Week 9</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6347308" y="1965960"/>
            <a:ext cx="2350694"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BUILD</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Weeks 9–15 in your lab</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sp>
      <p:sp>
        <p:nvSpPr>
          <p:cNvPr id="22" name="Shape 19"/>
          <p:cNvSpPr/>
          <p:nvPr/>
        </p:nvSpPr>
        <p:spPr>
          <a:xfrm>
            <a:off x="9200921" y="1965960"/>
            <a:ext cx="2350694" cy="329184"/>
          </a:xfrm>
          <a:prstGeom prst="roundRect">
            <a:avLst>
              <a:gd name="adj" fmla="val 22222"/>
            </a:avLst>
          </a:prstGeom>
          <a:solidFill>
            <a:srgbClr val="70AD47"/>
          </a:solidFill>
          <a:ln w="12700">
            <a:solidFill>
              <a:srgbClr val="70AD47"/>
            </a:solidFill>
            <a:prstDash val="solid"/>
          </a:ln>
        </p:spPr>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DEFEND</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Docs + recorded demo ≤10 min</a:t>
            </a:r>
            <a:endParaRPr lang="en-US" sz="1400" dirty="0"/>
          </a:p>
          <a:p>
            <a:pPr algn="ctr" indent="0" marL="0">
              <a:buNone/>
            </a:pPr>
            <a:r>
              <a:rPr lang="en-US" sz="1400" dirty="0">
                <a:solidFill>
                  <a:srgbClr val="203040"/>
                </a:solidFill>
                <a:latin typeface="Calibri" pitchFamily="34" charset="0"/>
                <a:ea typeface="Calibri" pitchFamily="34" charset="-122"/>
                <a:cs typeface="Calibri" pitchFamily="34" charset="-120"/>
              </a:rPr>
              <a:t>Dec 10, 11:59 PM</a:t>
            </a:r>
            <a:endParaRPr lang="en-US" sz="1400" dirty="0"/>
          </a:p>
        </p:txBody>
      </p:sp>
      <p:sp>
        <p:nvSpPr>
          <p:cNvPr id="25" name="Shape 22"/>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26" name="Shape 23"/>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7" name="Text 24"/>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Course rules</a:t>
            </a:r>
            <a:endParaRPr lang="en-US" sz="1320" dirty="0"/>
          </a:p>
        </p:txBody>
      </p:sp>
      <p:sp>
        <p:nvSpPr>
          <p:cNvPr id="28" name="Text 25"/>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Work alone or in a pair. The project is the final exam; ask staff about scope or grading, not project implementation.</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CYBER OPTIONS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Six Cyber projects: choose a system to secure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Each option requires meaningful Linux and Windows Server roles.</a:t>
            </a:r>
            <a:endParaRPr lang="en-US" sz="1300" dirty="0"/>
          </a:p>
        </p:txBody>
      </p:sp>
      <p:sp>
        <p:nvSpPr>
          <p:cNvPr id="6" name="Shape 3"/>
          <p:cNvSpPr/>
          <p:nvPr/>
        </p:nvSpPr>
        <p:spPr>
          <a:xfrm>
            <a:off x="749808" y="1737360"/>
            <a:ext cx="2231136" cy="521208"/>
          </a:xfrm>
          <a:prstGeom prst="roundRect">
            <a:avLst>
              <a:gd name="adj" fmla="val 14035"/>
            </a:avLst>
          </a:prstGeom>
          <a:solidFill>
            <a:srgbClr val="4BACC6"/>
          </a:solidFill>
          <a:ln w="12700">
            <a:solidFill>
              <a:srgbClr val="4BACC6"/>
            </a:solidFill>
            <a:prstDash val="solid"/>
          </a:ln>
        </p:spPr>
      </p:sp>
      <p:sp>
        <p:nvSpPr>
          <p:cNvPr id="7" name="Text 4"/>
          <p:cNvSpPr txBox="1"/>
          <p:nvPr/>
        </p:nvSpPr>
        <p:spPr>
          <a:xfrm>
            <a:off x="841248" y="1801368"/>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C1</a:t>
            </a:r>
            <a:endParaRPr lang="en-US" sz="1300" dirty="0"/>
          </a:p>
        </p:txBody>
      </p:sp>
      <p:sp>
        <p:nvSpPr>
          <p:cNvPr id="8" name="Shape 5"/>
          <p:cNvSpPr/>
          <p:nvPr/>
        </p:nvSpPr>
        <p:spPr>
          <a:xfrm>
            <a:off x="3182112" y="1737360"/>
            <a:ext cx="8247888" cy="521208"/>
          </a:xfrm>
          <a:prstGeom prst="roundRect">
            <a:avLst>
              <a:gd name="adj" fmla="val 14035"/>
            </a:avLst>
          </a:prstGeom>
          <a:solidFill>
            <a:srgbClr val="FFFFFF"/>
          </a:solidFill>
          <a:ln w="12700">
            <a:solidFill>
              <a:srgbClr val="CBD5E1"/>
            </a:solidFill>
            <a:prstDash val="solid"/>
          </a:ln>
        </p:spPr>
      </p:sp>
      <p:sp>
        <p:nvSpPr>
          <p:cNvPr id="9" name="Text 6"/>
          <p:cNvSpPr txBox="1"/>
          <p:nvPr/>
        </p:nvSpPr>
        <p:spPr>
          <a:xfrm>
            <a:off x="3328416" y="1801368"/>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Hardened infrastructure — CIS Level 2 or DISA STIG</a:t>
            </a:r>
            <a:endParaRPr lang="en-US" sz="1320" dirty="0"/>
          </a:p>
        </p:txBody>
      </p:sp>
      <p:sp>
        <p:nvSpPr>
          <p:cNvPr id="10" name="Shape 7"/>
          <p:cNvSpPr/>
          <p:nvPr/>
        </p:nvSpPr>
        <p:spPr>
          <a:xfrm>
            <a:off x="749808" y="2350008"/>
            <a:ext cx="2231136" cy="521208"/>
          </a:xfrm>
          <a:prstGeom prst="roundRect">
            <a:avLst>
              <a:gd name="adj" fmla="val 14035"/>
            </a:avLst>
          </a:prstGeom>
          <a:solidFill>
            <a:srgbClr val="4F81BD"/>
          </a:solidFill>
          <a:ln w="12700">
            <a:solidFill>
              <a:srgbClr val="4F81BD"/>
            </a:solidFill>
            <a:prstDash val="solid"/>
          </a:ln>
        </p:spPr>
      </p:sp>
      <p:sp>
        <p:nvSpPr>
          <p:cNvPr id="11" name="Text 8"/>
          <p:cNvSpPr txBox="1"/>
          <p:nvPr/>
        </p:nvSpPr>
        <p:spPr>
          <a:xfrm>
            <a:off x="841248" y="2414016"/>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C2</a:t>
            </a:r>
            <a:endParaRPr lang="en-US" sz="1300" dirty="0"/>
          </a:p>
        </p:txBody>
      </p:sp>
      <p:sp>
        <p:nvSpPr>
          <p:cNvPr id="12" name="Shape 9"/>
          <p:cNvSpPr/>
          <p:nvPr/>
        </p:nvSpPr>
        <p:spPr>
          <a:xfrm>
            <a:off x="3182112" y="2350008"/>
            <a:ext cx="8247888" cy="521208"/>
          </a:xfrm>
          <a:prstGeom prst="roundRect">
            <a:avLst>
              <a:gd name="adj" fmla="val 14035"/>
            </a:avLst>
          </a:prstGeom>
          <a:solidFill>
            <a:srgbClr val="FFFFFF"/>
          </a:solidFill>
          <a:ln w="12700">
            <a:solidFill>
              <a:srgbClr val="CBD5E1"/>
            </a:solidFill>
            <a:prstDash val="solid"/>
          </a:ln>
        </p:spPr>
      </p:sp>
      <p:sp>
        <p:nvSpPr>
          <p:cNvPr id="13" name="Text 10"/>
          <p:cNvSpPr txBox="1"/>
          <p:nvPr/>
        </p:nvSpPr>
        <p:spPr>
          <a:xfrm>
            <a:off x="3328416" y="2414016"/>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Zero-trust identity and PKI platform</a:t>
            </a:r>
            <a:endParaRPr lang="en-US" sz="1320" dirty="0"/>
          </a:p>
        </p:txBody>
      </p:sp>
      <p:sp>
        <p:nvSpPr>
          <p:cNvPr id="14" name="Shape 11"/>
          <p:cNvSpPr/>
          <p:nvPr/>
        </p:nvSpPr>
        <p:spPr>
          <a:xfrm>
            <a:off x="749808" y="2962656"/>
            <a:ext cx="2231136" cy="521208"/>
          </a:xfrm>
          <a:prstGeom prst="roundRect">
            <a:avLst>
              <a:gd name="adj" fmla="val 14035"/>
            </a:avLst>
          </a:prstGeom>
          <a:solidFill>
            <a:srgbClr val="F79646"/>
          </a:solidFill>
          <a:ln w="12700">
            <a:solidFill>
              <a:srgbClr val="F79646"/>
            </a:solidFill>
            <a:prstDash val="solid"/>
          </a:ln>
        </p:spPr>
      </p:sp>
      <p:sp>
        <p:nvSpPr>
          <p:cNvPr id="15" name="Text 12"/>
          <p:cNvSpPr txBox="1"/>
          <p:nvPr/>
        </p:nvSpPr>
        <p:spPr>
          <a:xfrm>
            <a:off x="841248" y="3026664"/>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C3</a:t>
            </a:r>
            <a:endParaRPr lang="en-US" sz="1300" dirty="0"/>
          </a:p>
        </p:txBody>
      </p:sp>
      <p:sp>
        <p:nvSpPr>
          <p:cNvPr id="16" name="Shape 13"/>
          <p:cNvSpPr/>
          <p:nvPr/>
        </p:nvSpPr>
        <p:spPr>
          <a:xfrm>
            <a:off x="3182112" y="2962656"/>
            <a:ext cx="8247888" cy="521208"/>
          </a:xfrm>
          <a:prstGeom prst="roundRect">
            <a:avLst>
              <a:gd name="adj" fmla="val 14035"/>
            </a:avLst>
          </a:prstGeom>
          <a:solidFill>
            <a:srgbClr val="FFFFFF"/>
          </a:solidFill>
          <a:ln w="12700">
            <a:solidFill>
              <a:srgbClr val="CBD5E1"/>
            </a:solidFill>
            <a:prstDash val="solid"/>
          </a:ln>
        </p:spPr>
      </p:sp>
      <p:sp>
        <p:nvSpPr>
          <p:cNvPr id="17" name="Text 14"/>
          <p:cNvSpPr txBox="1"/>
          <p:nvPr/>
        </p:nvSpPr>
        <p:spPr>
          <a:xfrm>
            <a:off x="3328416" y="3026664"/>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Detection engineering / SOC-in-a-Box</a:t>
            </a:r>
            <a:endParaRPr lang="en-US" sz="1320" dirty="0"/>
          </a:p>
        </p:txBody>
      </p:sp>
      <p:sp>
        <p:nvSpPr>
          <p:cNvPr id="18" name="Shape 15"/>
          <p:cNvSpPr/>
          <p:nvPr/>
        </p:nvSpPr>
        <p:spPr>
          <a:xfrm>
            <a:off x="749808" y="3575304"/>
            <a:ext cx="2231136" cy="521208"/>
          </a:xfrm>
          <a:prstGeom prst="roundRect">
            <a:avLst>
              <a:gd name="adj" fmla="val 14035"/>
            </a:avLst>
          </a:prstGeom>
          <a:solidFill>
            <a:srgbClr val="8064A2"/>
          </a:solidFill>
          <a:ln w="12700">
            <a:solidFill>
              <a:srgbClr val="8064A2"/>
            </a:solidFill>
            <a:prstDash val="solid"/>
          </a:ln>
        </p:spPr>
      </p:sp>
      <p:sp>
        <p:nvSpPr>
          <p:cNvPr id="19" name="Text 16"/>
          <p:cNvSpPr txBox="1"/>
          <p:nvPr/>
        </p:nvSpPr>
        <p:spPr>
          <a:xfrm>
            <a:off x="841248" y="3639312"/>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C4</a:t>
            </a:r>
            <a:endParaRPr lang="en-US" sz="1300" dirty="0"/>
          </a:p>
        </p:txBody>
      </p:sp>
      <p:sp>
        <p:nvSpPr>
          <p:cNvPr id="20" name="Shape 17"/>
          <p:cNvSpPr/>
          <p:nvPr/>
        </p:nvSpPr>
        <p:spPr>
          <a:xfrm>
            <a:off x="3182112" y="3575304"/>
            <a:ext cx="8247888" cy="521208"/>
          </a:xfrm>
          <a:prstGeom prst="roundRect">
            <a:avLst>
              <a:gd name="adj" fmla="val 14035"/>
            </a:avLst>
          </a:prstGeom>
          <a:solidFill>
            <a:srgbClr val="FFFFFF"/>
          </a:solidFill>
          <a:ln w="12700">
            <a:solidFill>
              <a:srgbClr val="CBD5E1"/>
            </a:solidFill>
            <a:prstDash val="solid"/>
          </a:ln>
        </p:spPr>
      </p:sp>
      <p:sp>
        <p:nvSpPr>
          <p:cNvPr id="21" name="Text 18"/>
          <p:cNvSpPr txBox="1"/>
          <p:nvPr/>
        </p:nvSpPr>
        <p:spPr>
          <a:xfrm>
            <a:off x="3328416" y="3639312"/>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Compliance-as-Code pipeline</a:t>
            </a:r>
            <a:endParaRPr lang="en-US" sz="1320" dirty="0"/>
          </a:p>
        </p:txBody>
      </p:sp>
      <p:sp>
        <p:nvSpPr>
          <p:cNvPr id="22" name="Shape 19"/>
          <p:cNvSpPr/>
          <p:nvPr/>
        </p:nvSpPr>
        <p:spPr>
          <a:xfrm>
            <a:off x="749808" y="4187952"/>
            <a:ext cx="2231136" cy="521208"/>
          </a:xfrm>
          <a:prstGeom prst="roundRect">
            <a:avLst>
              <a:gd name="adj" fmla="val 14035"/>
            </a:avLst>
          </a:prstGeom>
          <a:solidFill>
            <a:srgbClr val="70AD47"/>
          </a:solidFill>
          <a:ln w="12700">
            <a:solidFill>
              <a:srgbClr val="70AD47"/>
            </a:solidFill>
            <a:prstDash val="solid"/>
          </a:ln>
        </p:spPr>
      </p:sp>
      <p:sp>
        <p:nvSpPr>
          <p:cNvPr id="23" name="Text 20"/>
          <p:cNvSpPr txBox="1"/>
          <p:nvPr/>
        </p:nvSpPr>
        <p:spPr>
          <a:xfrm>
            <a:off x="841248" y="4251960"/>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C5</a:t>
            </a:r>
            <a:endParaRPr lang="en-US" sz="1300" dirty="0"/>
          </a:p>
        </p:txBody>
      </p:sp>
      <p:sp>
        <p:nvSpPr>
          <p:cNvPr id="24" name="Shape 21"/>
          <p:cNvSpPr/>
          <p:nvPr/>
        </p:nvSpPr>
        <p:spPr>
          <a:xfrm>
            <a:off x="3182112" y="4187952"/>
            <a:ext cx="8247888" cy="521208"/>
          </a:xfrm>
          <a:prstGeom prst="roundRect">
            <a:avLst>
              <a:gd name="adj" fmla="val 14035"/>
            </a:avLst>
          </a:prstGeom>
          <a:solidFill>
            <a:srgbClr val="FFFFFF"/>
          </a:solidFill>
          <a:ln w="12700">
            <a:solidFill>
              <a:srgbClr val="CBD5E1"/>
            </a:solidFill>
            <a:prstDash val="solid"/>
          </a:ln>
        </p:spPr>
      </p:sp>
      <p:sp>
        <p:nvSpPr>
          <p:cNvPr id="25" name="Text 22"/>
          <p:cNvSpPr txBox="1"/>
          <p:nvPr/>
        </p:nvSpPr>
        <p:spPr>
          <a:xfrm>
            <a:off x="3328416" y="4251960"/>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Secure container platform</a:t>
            </a:r>
            <a:endParaRPr lang="en-US" sz="1320" dirty="0"/>
          </a:p>
        </p:txBody>
      </p:sp>
      <p:sp>
        <p:nvSpPr>
          <p:cNvPr id="26" name="Shape 23"/>
          <p:cNvSpPr/>
          <p:nvPr/>
        </p:nvSpPr>
        <p:spPr>
          <a:xfrm>
            <a:off x="749808" y="4800600"/>
            <a:ext cx="2231136" cy="521208"/>
          </a:xfrm>
          <a:prstGeom prst="roundRect">
            <a:avLst>
              <a:gd name="adj" fmla="val 14035"/>
            </a:avLst>
          </a:prstGeom>
          <a:solidFill>
            <a:srgbClr val="C0504D"/>
          </a:solidFill>
          <a:ln w="12700">
            <a:solidFill>
              <a:srgbClr val="C0504D"/>
            </a:solidFill>
            <a:prstDash val="solid"/>
          </a:ln>
        </p:spPr>
      </p:sp>
      <p:sp>
        <p:nvSpPr>
          <p:cNvPr id="27" name="Text 24"/>
          <p:cNvSpPr txBox="1"/>
          <p:nvPr/>
        </p:nvSpPr>
        <p:spPr>
          <a:xfrm>
            <a:off x="841248" y="4864608"/>
            <a:ext cx="2048256" cy="39319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C6</a:t>
            </a:r>
            <a:endParaRPr lang="en-US" sz="1300" dirty="0"/>
          </a:p>
        </p:txBody>
      </p:sp>
      <p:sp>
        <p:nvSpPr>
          <p:cNvPr id="28" name="Shape 25"/>
          <p:cNvSpPr/>
          <p:nvPr/>
        </p:nvSpPr>
        <p:spPr>
          <a:xfrm>
            <a:off x="3182112" y="4800600"/>
            <a:ext cx="8247888" cy="521208"/>
          </a:xfrm>
          <a:prstGeom prst="roundRect">
            <a:avLst>
              <a:gd name="adj" fmla="val 14035"/>
            </a:avLst>
          </a:prstGeom>
          <a:solidFill>
            <a:srgbClr val="FFFFFF"/>
          </a:solidFill>
          <a:ln w="12700">
            <a:solidFill>
              <a:srgbClr val="CBD5E1"/>
            </a:solidFill>
            <a:prstDash val="solid"/>
          </a:ln>
        </p:spPr>
      </p:sp>
      <p:sp>
        <p:nvSpPr>
          <p:cNvPr id="29" name="Text 26"/>
          <p:cNvSpPr txBox="1"/>
          <p:nvPr/>
        </p:nvSpPr>
        <p:spPr>
          <a:xfrm>
            <a:off x="3328416" y="4864608"/>
            <a:ext cx="7955280" cy="393192"/>
          </a:xfrm>
          <a:prstGeom prst="rect">
            <a:avLst/>
          </a:prstGeom>
          <a:noFill/>
          <a:ln/>
        </p:spPr>
        <p:txBody>
          <a:bodyPr wrap="square" lIns="508" tIns="508" rIns="508" bIns="508" rtlCol="0" anchor="ctr">
            <a:normAutofit/>
          </a:bodyPr>
          <a:lstStyle/>
          <a:p>
            <a:pPr algn="l" indent="0" marL="0">
              <a:buNone/>
            </a:pPr>
            <a:r>
              <a:rPr lang="en-US" sz="1320" dirty="0">
                <a:solidFill>
                  <a:srgbClr val="203040"/>
                </a:solidFill>
                <a:latin typeface="Calibri" pitchFamily="34" charset="0"/>
                <a:ea typeface="Calibri" pitchFamily="34" charset="-122"/>
                <a:cs typeface="Calibri" pitchFamily="34" charset="-120"/>
              </a:rPr>
              <a:t>Patch and vulnerability management program</a:t>
            </a:r>
            <a:endParaRPr lang="en-US" sz="13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IT OPTIONS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Five IT projects: choose an operations problem</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All IT options run in the student’s own Proxmox environment.</a:t>
            </a:r>
            <a:endParaRPr lang="en-US" sz="1300" dirty="0"/>
          </a:p>
        </p:txBody>
      </p:sp>
      <p:sp>
        <p:nvSpPr>
          <p:cNvPr id="6" name="Shape 3"/>
          <p:cNvSpPr/>
          <p:nvPr/>
        </p:nvSpPr>
        <p:spPr>
          <a:xfrm>
            <a:off x="749808" y="1737360"/>
            <a:ext cx="2231136" cy="603504"/>
          </a:xfrm>
          <a:prstGeom prst="roundRect">
            <a:avLst>
              <a:gd name="adj" fmla="val 12121"/>
            </a:avLst>
          </a:prstGeom>
          <a:solidFill>
            <a:srgbClr val="4BACC6"/>
          </a:solidFill>
          <a:ln w="12700">
            <a:solidFill>
              <a:srgbClr val="4BACC6"/>
            </a:solidFill>
            <a:prstDash val="solid"/>
          </a:ln>
        </p:spPr>
      </p:sp>
      <p:sp>
        <p:nvSpPr>
          <p:cNvPr id="7" name="Text 4"/>
          <p:cNvSpPr txBox="1"/>
          <p:nvPr/>
        </p:nvSpPr>
        <p:spPr>
          <a:xfrm>
            <a:off x="841248" y="1801368"/>
            <a:ext cx="2048256" cy="475488"/>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I1</a:t>
            </a:r>
            <a:endParaRPr lang="en-US" sz="1300" dirty="0"/>
          </a:p>
        </p:txBody>
      </p:sp>
      <p:sp>
        <p:nvSpPr>
          <p:cNvPr id="8" name="Shape 5"/>
          <p:cNvSpPr/>
          <p:nvPr/>
        </p:nvSpPr>
        <p:spPr>
          <a:xfrm>
            <a:off x="3182112" y="1737360"/>
            <a:ext cx="8247888" cy="603504"/>
          </a:xfrm>
          <a:prstGeom prst="roundRect">
            <a:avLst>
              <a:gd name="adj" fmla="val 12121"/>
            </a:avLst>
          </a:prstGeom>
          <a:solidFill>
            <a:srgbClr val="FFFFFF"/>
          </a:solidFill>
          <a:ln w="12700">
            <a:solidFill>
              <a:srgbClr val="CBD5E1"/>
            </a:solidFill>
            <a:prstDash val="solid"/>
          </a:ln>
        </p:spPr>
      </p:sp>
      <p:sp>
        <p:nvSpPr>
          <p:cNvPr id="9" name="Text 6"/>
          <p:cNvSpPr txBox="1"/>
          <p:nvPr/>
        </p:nvSpPr>
        <p:spPr>
          <a:xfrm>
            <a:off x="3328416" y="1801368"/>
            <a:ext cx="7955280" cy="475488"/>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HA platform with backup and disaster recovery</a:t>
            </a:r>
            <a:endParaRPr lang="en-US" sz="1350" dirty="0"/>
          </a:p>
        </p:txBody>
      </p:sp>
      <p:sp>
        <p:nvSpPr>
          <p:cNvPr id="10" name="Shape 7"/>
          <p:cNvSpPr/>
          <p:nvPr/>
        </p:nvSpPr>
        <p:spPr>
          <a:xfrm>
            <a:off x="749808" y="2487168"/>
            <a:ext cx="2231136" cy="603504"/>
          </a:xfrm>
          <a:prstGeom prst="roundRect">
            <a:avLst>
              <a:gd name="adj" fmla="val 12121"/>
            </a:avLst>
          </a:prstGeom>
          <a:solidFill>
            <a:srgbClr val="4F81BD"/>
          </a:solidFill>
          <a:ln w="12700">
            <a:solidFill>
              <a:srgbClr val="4F81BD"/>
            </a:solidFill>
            <a:prstDash val="solid"/>
          </a:ln>
        </p:spPr>
      </p:sp>
      <p:sp>
        <p:nvSpPr>
          <p:cNvPr id="11" name="Text 8"/>
          <p:cNvSpPr txBox="1"/>
          <p:nvPr/>
        </p:nvSpPr>
        <p:spPr>
          <a:xfrm>
            <a:off x="841248" y="2551176"/>
            <a:ext cx="2048256" cy="475488"/>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I2</a:t>
            </a:r>
            <a:endParaRPr lang="en-US" sz="1300" dirty="0"/>
          </a:p>
        </p:txBody>
      </p:sp>
      <p:sp>
        <p:nvSpPr>
          <p:cNvPr id="12" name="Shape 9"/>
          <p:cNvSpPr/>
          <p:nvPr/>
        </p:nvSpPr>
        <p:spPr>
          <a:xfrm>
            <a:off x="3182112" y="2487168"/>
            <a:ext cx="8247888" cy="603504"/>
          </a:xfrm>
          <a:prstGeom prst="roundRect">
            <a:avLst>
              <a:gd name="adj" fmla="val 12121"/>
            </a:avLst>
          </a:prstGeom>
          <a:solidFill>
            <a:srgbClr val="FFFFFF"/>
          </a:solidFill>
          <a:ln w="12700">
            <a:solidFill>
              <a:srgbClr val="CBD5E1"/>
            </a:solidFill>
            <a:prstDash val="solid"/>
          </a:ln>
        </p:spPr>
      </p:sp>
      <p:sp>
        <p:nvSpPr>
          <p:cNvPr id="13" name="Text 10"/>
          <p:cNvSpPr txBox="1"/>
          <p:nvPr/>
        </p:nvSpPr>
        <p:spPr>
          <a:xfrm>
            <a:off x="3328416" y="2551176"/>
            <a:ext cx="7955280" cy="475488"/>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Monitoring and service desk</a:t>
            </a:r>
            <a:endParaRPr lang="en-US" sz="1350" dirty="0"/>
          </a:p>
        </p:txBody>
      </p:sp>
      <p:sp>
        <p:nvSpPr>
          <p:cNvPr id="14" name="Shape 11"/>
          <p:cNvSpPr/>
          <p:nvPr/>
        </p:nvSpPr>
        <p:spPr>
          <a:xfrm>
            <a:off x="749808" y="3236976"/>
            <a:ext cx="2231136" cy="603504"/>
          </a:xfrm>
          <a:prstGeom prst="roundRect">
            <a:avLst>
              <a:gd name="adj" fmla="val 12121"/>
            </a:avLst>
          </a:prstGeom>
          <a:solidFill>
            <a:srgbClr val="F79646"/>
          </a:solidFill>
          <a:ln w="12700">
            <a:solidFill>
              <a:srgbClr val="F79646"/>
            </a:solidFill>
            <a:prstDash val="solid"/>
          </a:ln>
        </p:spPr>
      </p:sp>
      <p:sp>
        <p:nvSpPr>
          <p:cNvPr id="15" name="Text 12"/>
          <p:cNvSpPr txBox="1"/>
          <p:nvPr/>
        </p:nvSpPr>
        <p:spPr>
          <a:xfrm>
            <a:off x="841248" y="3300984"/>
            <a:ext cx="2048256" cy="475488"/>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I3</a:t>
            </a:r>
            <a:endParaRPr lang="en-US" sz="1300" dirty="0"/>
          </a:p>
        </p:txBody>
      </p:sp>
      <p:sp>
        <p:nvSpPr>
          <p:cNvPr id="16" name="Shape 13"/>
          <p:cNvSpPr/>
          <p:nvPr/>
        </p:nvSpPr>
        <p:spPr>
          <a:xfrm>
            <a:off x="3182112" y="3236976"/>
            <a:ext cx="8247888" cy="603504"/>
          </a:xfrm>
          <a:prstGeom prst="roundRect">
            <a:avLst>
              <a:gd name="adj" fmla="val 12121"/>
            </a:avLst>
          </a:prstGeom>
          <a:solidFill>
            <a:srgbClr val="FFFFFF"/>
          </a:solidFill>
          <a:ln w="12700">
            <a:solidFill>
              <a:srgbClr val="CBD5E1"/>
            </a:solidFill>
            <a:prstDash val="solid"/>
          </a:ln>
        </p:spPr>
      </p:sp>
      <p:sp>
        <p:nvSpPr>
          <p:cNvPr id="17" name="Text 14"/>
          <p:cNvSpPr txBox="1"/>
          <p:nvPr/>
        </p:nvSpPr>
        <p:spPr>
          <a:xfrm>
            <a:off x="3328416" y="3300984"/>
            <a:ext cx="7955280" cy="475488"/>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On-prem AI inference service</a:t>
            </a:r>
            <a:endParaRPr lang="en-US" sz="1350" dirty="0"/>
          </a:p>
        </p:txBody>
      </p:sp>
      <p:sp>
        <p:nvSpPr>
          <p:cNvPr id="18" name="Shape 15"/>
          <p:cNvSpPr/>
          <p:nvPr/>
        </p:nvSpPr>
        <p:spPr>
          <a:xfrm>
            <a:off x="749808" y="3986784"/>
            <a:ext cx="2231136" cy="603504"/>
          </a:xfrm>
          <a:prstGeom prst="roundRect">
            <a:avLst>
              <a:gd name="adj" fmla="val 12121"/>
            </a:avLst>
          </a:prstGeom>
          <a:solidFill>
            <a:srgbClr val="8064A2"/>
          </a:solidFill>
          <a:ln w="12700">
            <a:solidFill>
              <a:srgbClr val="8064A2"/>
            </a:solidFill>
            <a:prstDash val="solid"/>
          </a:ln>
        </p:spPr>
      </p:sp>
      <p:sp>
        <p:nvSpPr>
          <p:cNvPr id="19" name="Text 16"/>
          <p:cNvSpPr txBox="1"/>
          <p:nvPr/>
        </p:nvSpPr>
        <p:spPr>
          <a:xfrm>
            <a:off x="841248" y="4050792"/>
            <a:ext cx="2048256" cy="475488"/>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I4</a:t>
            </a:r>
            <a:endParaRPr lang="en-US" sz="1300" dirty="0"/>
          </a:p>
        </p:txBody>
      </p:sp>
      <p:sp>
        <p:nvSpPr>
          <p:cNvPr id="20" name="Shape 17"/>
          <p:cNvSpPr/>
          <p:nvPr/>
        </p:nvSpPr>
        <p:spPr>
          <a:xfrm>
            <a:off x="3182112" y="3986784"/>
            <a:ext cx="8247888" cy="603504"/>
          </a:xfrm>
          <a:prstGeom prst="roundRect">
            <a:avLst>
              <a:gd name="adj" fmla="val 12121"/>
            </a:avLst>
          </a:prstGeom>
          <a:solidFill>
            <a:srgbClr val="FFFFFF"/>
          </a:solidFill>
          <a:ln w="12700">
            <a:solidFill>
              <a:srgbClr val="CBD5E1"/>
            </a:solidFill>
            <a:prstDash val="solid"/>
          </a:ln>
        </p:spPr>
      </p:sp>
      <p:sp>
        <p:nvSpPr>
          <p:cNvPr id="21" name="Text 18"/>
          <p:cNvSpPr txBox="1"/>
          <p:nvPr/>
        </p:nvSpPr>
        <p:spPr>
          <a:xfrm>
            <a:off x="3328416" y="4050792"/>
            <a:ext cx="7955280" cy="475488"/>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Identity and endpoint lifecycle</a:t>
            </a:r>
            <a:endParaRPr lang="en-US" sz="1350" dirty="0"/>
          </a:p>
        </p:txBody>
      </p:sp>
      <p:sp>
        <p:nvSpPr>
          <p:cNvPr id="22" name="Shape 19"/>
          <p:cNvSpPr/>
          <p:nvPr/>
        </p:nvSpPr>
        <p:spPr>
          <a:xfrm>
            <a:off x="749808" y="4736592"/>
            <a:ext cx="2231136" cy="603504"/>
          </a:xfrm>
          <a:prstGeom prst="roundRect">
            <a:avLst>
              <a:gd name="adj" fmla="val 12121"/>
            </a:avLst>
          </a:prstGeom>
          <a:solidFill>
            <a:srgbClr val="70AD47"/>
          </a:solidFill>
          <a:ln w="12700">
            <a:solidFill>
              <a:srgbClr val="70AD47"/>
            </a:solidFill>
            <a:prstDash val="solid"/>
          </a:ln>
        </p:spPr>
      </p:sp>
      <p:sp>
        <p:nvSpPr>
          <p:cNvPr id="23" name="Text 20"/>
          <p:cNvSpPr txBox="1"/>
          <p:nvPr/>
        </p:nvSpPr>
        <p:spPr>
          <a:xfrm>
            <a:off x="841248" y="4800600"/>
            <a:ext cx="2048256" cy="475488"/>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I5</a:t>
            </a:r>
            <a:endParaRPr lang="en-US" sz="1300" dirty="0"/>
          </a:p>
        </p:txBody>
      </p:sp>
      <p:sp>
        <p:nvSpPr>
          <p:cNvPr id="24" name="Shape 21"/>
          <p:cNvSpPr/>
          <p:nvPr/>
        </p:nvSpPr>
        <p:spPr>
          <a:xfrm>
            <a:off x="3182112" y="4736592"/>
            <a:ext cx="8247888" cy="603504"/>
          </a:xfrm>
          <a:prstGeom prst="roundRect">
            <a:avLst>
              <a:gd name="adj" fmla="val 12121"/>
            </a:avLst>
          </a:prstGeom>
          <a:solidFill>
            <a:srgbClr val="FFFFFF"/>
          </a:solidFill>
          <a:ln w="12700">
            <a:solidFill>
              <a:srgbClr val="CBD5E1"/>
            </a:solidFill>
            <a:prstDash val="solid"/>
          </a:ln>
        </p:spPr>
      </p:sp>
      <p:sp>
        <p:nvSpPr>
          <p:cNvPr id="25" name="Text 22"/>
          <p:cNvSpPr txBox="1"/>
          <p:nvPr/>
        </p:nvSpPr>
        <p:spPr>
          <a:xfrm>
            <a:off x="3328416" y="4800600"/>
            <a:ext cx="7955280" cy="475488"/>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Self-service provisioning and golden images</a:t>
            </a:r>
            <a:endParaRPr lang="en-US" sz="1350" dirty="0"/>
          </a:p>
        </p:txBody>
      </p:sp>
      <p:sp>
        <p:nvSpPr>
          <p:cNvPr id="26" name="Shape 23"/>
          <p:cNvSpPr/>
          <p:nvPr/>
        </p:nvSpPr>
        <p:spPr>
          <a:xfrm>
            <a:off x="960120" y="5303520"/>
            <a:ext cx="10195560" cy="713232"/>
          </a:xfrm>
          <a:prstGeom prst="roundRect">
            <a:avLst>
              <a:gd name="adj" fmla="val 10256"/>
            </a:avLst>
          </a:prstGeom>
          <a:solidFill>
            <a:srgbClr val="FFFFFF"/>
          </a:solidFill>
          <a:ln w="12700">
            <a:solidFill>
              <a:srgbClr val="1F497D"/>
            </a:solidFill>
            <a:prstDash val="solid"/>
          </a:ln>
        </p:spPr>
      </p:sp>
      <p:sp>
        <p:nvSpPr>
          <p:cNvPr id="27" name="Shape 24"/>
          <p:cNvSpPr/>
          <p:nvPr/>
        </p:nvSpPr>
        <p:spPr>
          <a:xfrm>
            <a:off x="960120" y="5303520"/>
            <a:ext cx="91440" cy="713232"/>
          </a:xfrm>
          <a:prstGeom prst="rect">
            <a:avLst>
              <a:gd name="adj" fmla="val 80000"/>
            </a:avLst>
          </a:prstGeom>
          <a:solidFill>
            <a:srgbClr val="1F497D"/>
          </a:solidFill>
          <a:ln w="12700">
            <a:solidFill>
              <a:srgbClr val="1F497D"/>
            </a:solidFill>
            <a:prstDash val="solid"/>
          </a:ln>
        </p:spPr>
      </p:sp>
      <p:sp>
        <p:nvSpPr>
          <p:cNvPr id="28" name="Text 25"/>
          <p:cNvSpPr txBox="1"/>
          <p:nvPr/>
        </p:nvSpPr>
        <p:spPr>
          <a:xfrm>
            <a:off x="1188720" y="5385816"/>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Selection lens</a:t>
            </a:r>
            <a:endParaRPr lang="en-US" sz="1320" dirty="0"/>
          </a:p>
        </p:txBody>
      </p:sp>
      <p:sp>
        <p:nvSpPr>
          <p:cNvPr id="29" name="Text 26"/>
          <p:cNvSpPr txBox="1"/>
          <p:nvPr/>
        </p:nvSpPr>
        <p:spPr>
          <a:xfrm>
            <a:off x="1188720" y="5650992"/>
            <a:ext cx="9784080" cy="31089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Which option fits your available RAM, time, and evidence you can capture?</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PROPOSAL</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 passing proposal makes the build concrete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Submit one PDF in Learning Suite by the end of Week 9.</a:t>
            </a:r>
            <a:endParaRPr lang="en-US" sz="1300" dirty="0"/>
          </a:p>
        </p:txBody>
      </p:sp>
      <p:sp>
        <p:nvSpPr>
          <p:cNvPr id="6" name="Shape 3"/>
          <p:cNvSpPr/>
          <p:nvPr/>
        </p:nvSpPr>
        <p:spPr>
          <a:xfrm>
            <a:off x="749808" y="1737360"/>
            <a:ext cx="2231136" cy="539496"/>
          </a:xfrm>
          <a:prstGeom prst="roundRect">
            <a:avLst>
              <a:gd name="adj" fmla="val 13559"/>
            </a:avLst>
          </a:prstGeom>
          <a:solidFill>
            <a:srgbClr val="4BACC6"/>
          </a:solidFill>
          <a:ln w="12700">
            <a:solidFill>
              <a:srgbClr val="4BACC6"/>
            </a:solidFill>
            <a:prstDash val="solid"/>
          </a:ln>
        </p:spPr>
      </p:sp>
      <p:sp>
        <p:nvSpPr>
          <p:cNvPr id="7" name="Text 4"/>
          <p:cNvSpPr txBox="1"/>
          <p:nvPr/>
        </p:nvSpPr>
        <p:spPr>
          <a:xfrm>
            <a:off x="841248" y="1801368"/>
            <a:ext cx="2048256" cy="411480"/>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Option + team</a:t>
            </a:r>
            <a:endParaRPr lang="en-US" sz="1300" dirty="0"/>
          </a:p>
        </p:txBody>
      </p:sp>
      <p:sp>
        <p:nvSpPr>
          <p:cNvPr id="8" name="Shape 5"/>
          <p:cNvSpPr/>
          <p:nvPr/>
        </p:nvSpPr>
        <p:spPr>
          <a:xfrm>
            <a:off x="3182112" y="1737360"/>
            <a:ext cx="8247888" cy="539496"/>
          </a:xfrm>
          <a:prstGeom prst="roundRect">
            <a:avLst>
              <a:gd name="adj" fmla="val 13559"/>
            </a:avLst>
          </a:prstGeom>
          <a:solidFill>
            <a:srgbClr val="FFFFFF"/>
          </a:solidFill>
          <a:ln w="12700">
            <a:solidFill>
              <a:srgbClr val="CBD5E1"/>
            </a:solidFill>
            <a:prstDash val="solid"/>
          </a:ln>
        </p:spPr>
      </p:sp>
      <p:sp>
        <p:nvSpPr>
          <p:cNvPr id="9" name="Text 6"/>
          <p:cNvSpPr txBox="1"/>
          <p:nvPr/>
        </p:nvSpPr>
        <p:spPr>
          <a:xfrm>
            <a:off x="3328416" y="1801368"/>
            <a:ext cx="7955280" cy="411480"/>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Name the option; pairs identify each person’s ownership</a:t>
            </a:r>
            <a:endParaRPr lang="en-US" sz="1350" dirty="0"/>
          </a:p>
        </p:txBody>
      </p:sp>
      <p:sp>
        <p:nvSpPr>
          <p:cNvPr id="10" name="Shape 7"/>
          <p:cNvSpPr/>
          <p:nvPr/>
        </p:nvSpPr>
        <p:spPr>
          <a:xfrm>
            <a:off x="749808" y="2414016"/>
            <a:ext cx="2231136" cy="539496"/>
          </a:xfrm>
          <a:prstGeom prst="roundRect">
            <a:avLst>
              <a:gd name="adj" fmla="val 13559"/>
            </a:avLst>
          </a:prstGeom>
          <a:solidFill>
            <a:srgbClr val="4F81BD"/>
          </a:solidFill>
          <a:ln w="12700">
            <a:solidFill>
              <a:srgbClr val="4F81BD"/>
            </a:solidFill>
            <a:prstDash val="solid"/>
          </a:ln>
        </p:spPr>
      </p:sp>
      <p:sp>
        <p:nvSpPr>
          <p:cNvPr id="11" name="Text 8"/>
          <p:cNvSpPr txBox="1"/>
          <p:nvPr/>
        </p:nvSpPr>
        <p:spPr>
          <a:xfrm>
            <a:off x="841248" y="2478024"/>
            <a:ext cx="2048256" cy="411480"/>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Scope</a:t>
            </a:r>
            <a:endParaRPr lang="en-US" sz="1300" dirty="0"/>
          </a:p>
        </p:txBody>
      </p:sp>
      <p:sp>
        <p:nvSpPr>
          <p:cNvPr id="12" name="Shape 9"/>
          <p:cNvSpPr/>
          <p:nvPr/>
        </p:nvSpPr>
        <p:spPr>
          <a:xfrm>
            <a:off x="3182112" y="2414016"/>
            <a:ext cx="8247888" cy="539496"/>
          </a:xfrm>
          <a:prstGeom prst="roundRect">
            <a:avLst>
              <a:gd name="adj" fmla="val 13559"/>
            </a:avLst>
          </a:prstGeom>
          <a:solidFill>
            <a:srgbClr val="FFFFFF"/>
          </a:solidFill>
          <a:ln w="12700">
            <a:solidFill>
              <a:srgbClr val="CBD5E1"/>
            </a:solidFill>
            <a:prstDash val="solid"/>
          </a:ln>
        </p:spPr>
      </p:sp>
      <p:sp>
        <p:nvSpPr>
          <p:cNvPr id="13" name="Text 10"/>
          <p:cNvSpPr txBox="1"/>
          <p:nvPr/>
        </p:nvSpPr>
        <p:spPr>
          <a:xfrm>
            <a:off x="3328416" y="2478024"/>
            <a:ext cx="7955280" cy="411480"/>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Answer every checklist item on the chosen option page</a:t>
            </a:r>
            <a:endParaRPr lang="en-US" sz="1350" dirty="0"/>
          </a:p>
        </p:txBody>
      </p:sp>
      <p:sp>
        <p:nvSpPr>
          <p:cNvPr id="14" name="Shape 11"/>
          <p:cNvSpPr/>
          <p:nvPr/>
        </p:nvSpPr>
        <p:spPr>
          <a:xfrm>
            <a:off x="749808" y="3090672"/>
            <a:ext cx="2231136" cy="539496"/>
          </a:xfrm>
          <a:prstGeom prst="roundRect">
            <a:avLst>
              <a:gd name="adj" fmla="val 13559"/>
            </a:avLst>
          </a:prstGeom>
          <a:solidFill>
            <a:srgbClr val="F79646"/>
          </a:solidFill>
          <a:ln w="12700">
            <a:solidFill>
              <a:srgbClr val="F79646"/>
            </a:solidFill>
            <a:prstDash val="solid"/>
          </a:ln>
        </p:spPr>
      </p:sp>
      <p:sp>
        <p:nvSpPr>
          <p:cNvPr id="15" name="Text 12"/>
          <p:cNvSpPr txBox="1"/>
          <p:nvPr/>
        </p:nvSpPr>
        <p:spPr>
          <a:xfrm>
            <a:off x="841248" y="3154680"/>
            <a:ext cx="2048256" cy="411480"/>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Infrastructure</a:t>
            </a:r>
            <a:endParaRPr lang="en-US" sz="1300" dirty="0"/>
          </a:p>
        </p:txBody>
      </p:sp>
      <p:sp>
        <p:nvSpPr>
          <p:cNvPr id="16" name="Shape 13"/>
          <p:cNvSpPr/>
          <p:nvPr/>
        </p:nvSpPr>
        <p:spPr>
          <a:xfrm>
            <a:off x="3182112" y="3090672"/>
            <a:ext cx="8247888" cy="539496"/>
          </a:xfrm>
          <a:prstGeom prst="roundRect">
            <a:avLst>
              <a:gd name="adj" fmla="val 13559"/>
            </a:avLst>
          </a:prstGeom>
          <a:solidFill>
            <a:srgbClr val="FFFFFF"/>
          </a:solidFill>
          <a:ln w="12700">
            <a:solidFill>
              <a:srgbClr val="CBD5E1"/>
            </a:solidFill>
            <a:prstDash val="solid"/>
          </a:ln>
        </p:spPr>
      </p:sp>
      <p:sp>
        <p:nvSpPr>
          <p:cNvPr id="17" name="Text 14"/>
          <p:cNvSpPr txBox="1"/>
          <p:nvPr/>
        </p:nvSpPr>
        <p:spPr>
          <a:xfrm>
            <a:off x="3328416" y="3154680"/>
            <a:ext cx="7955280" cy="411480"/>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Hostnames, OS, roles, addresses, RAM, disk, and heaviest service</a:t>
            </a:r>
            <a:endParaRPr lang="en-US" sz="1350" dirty="0"/>
          </a:p>
        </p:txBody>
      </p:sp>
      <p:sp>
        <p:nvSpPr>
          <p:cNvPr id="18" name="Shape 15"/>
          <p:cNvSpPr/>
          <p:nvPr/>
        </p:nvSpPr>
        <p:spPr>
          <a:xfrm>
            <a:off x="749808" y="3767328"/>
            <a:ext cx="2231136" cy="539496"/>
          </a:xfrm>
          <a:prstGeom prst="roundRect">
            <a:avLst>
              <a:gd name="adj" fmla="val 13559"/>
            </a:avLst>
          </a:prstGeom>
          <a:solidFill>
            <a:srgbClr val="8064A2"/>
          </a:solidFill>
          <a:ln w="12700">
            <a:solidFill>
              <a:srgbClr val="8064A2"/>
            </a:solidFill>
            <a:prstDash val="solid"/>
          </a:ln>
        </p:spPr>
      </p:sp>
      <p:sp>
        <p:nvSpPr>
          <p:cNvPr id="19" name="Text 16"/>
          <p:cNvSpPr txBox="1"/>
          <p:nvPr/>
        </p:nvSpPr>
        <p:spPr>
          <a:xfrm>
            <a:off x="841248" y="3831336"/>
            <a:ext cx="2048256" cy="411480"/>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Tools</a:t>
            </a:r>
            <a:endParaRPr lang="en-US" sz="1300" dirty="0"/>
          </a:p>
        </p:txBody>
      </p:sp>
      <p:sp>
        <p:nvSpPr>
          <p:cNvPr id="20" name="Shape 17"/>
          <p:cNvSpPr/>
          <p:nvPr/>
        </p:nvSpPr>
        <p:spPr>
          <a:xfrm>
            <a:off x="3182112" y="3767328"/>
            <a:ext cx="8247888" cy="539496"/>
          </a:xfrm>
          <a:prstGeom prst="roundRect">
            <a:avLst>
              <a:gd name="adj" fmla="val 13559"/>
            </a:avLst>
          </a:prstGeom>
          <a:solidFill>
            <a:srgbClr val="FFFFFF"/>
          </a:solidFill>
          <a:ln w="12700">
            <a:solidFill>
              <a:srgbClr val="CBD5E1"/>
            </a:solidFill>
            <a:prstDash val="solid"/>
          </a:ln>
        </p:spPr>
      </p:sp>
      <p:sp>
        <p:nvSpPr>
          <p:cNvPr id="21" name="Text 18"/>
          <p:cNvSpPr txBox="1"/>
          <p:nvPr/>
        </p:nvSpPr>
        <p:spPr>
          <a:xfrm>
            <a:off x="3328416" y="3831336"/>
            <a:ext cx="7955280" cy="411480"/>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Name and justify automation, test/scan, and evidence tools</a:t>
            </a:r>
            <a:endParaRPr lang="en-US" sz="1350" dirty="0"/>
          </a:p>
        </p:txBody>
      </p:sp>
      <p:sp>
        <p:nvSpPr>
          <p:cNvPr id="22" name="Shape 19"/>
          <p:cNvSpPr/>
          <p:nvPr/>
        </p:nvSpPr>
        <p:spPr>
          <a:xfrm>
            <a:off x="749808" y="4443984"/>
            <a:ext cx="2231136" cy="539496"/>
          </a:xfrm>
          <a:prstGeom prst="roundRect">
            <a:avLst>
              <a:gd name="adj" fmla="val 13559"/>
            </a:avLst>
          </a:prstGeom>
          <a:solidFill>
            <a:srgbClr val="70AD47"/>
          </a:solidFill>
          <a:ln w="12700">
            <a:solidFill>
              <a:srgbClr val="70AD47"/>
            </a:solidFill>
            <a:prstDash val="solid"/>
          </a:ln>
        </p:spPr>
      </p:sp>
      <p:sp>
        <p:nvSpPr>
          <p:cNvPr id="23" name="Text 20"/>
          <p:cNvSpPr txBox="1"/>
          <p:nvPr/>
        </p:nvSpPr>
        <p:spPr>
          <a:xfrm>
            <a:off x="841248" y="4507992"/>
            <a:ext cx="2048256" cy="411480"/>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Milestones</a:t>
            </a:r>
            <a:endParaRPr lang="en-US" sz="1300" dirty="0"/>
          </a:p>
        </p:txBody>
      </p:sp>
      <p:sp>
        <p:nvSpPr>
          <p:cNvPr id="24" name="Shape 21"/>
          <p:cNvSpPr/>
          <p:nvPr/>
        </p:nvSpPr>
        <p:spPr>
          <a:xfrm>
            <a:off x="3182112" y="4443984"/>
            <a:ext cx="8247888" cy="539496"/>
          </a:xfrm>
          <a:prstGeom prst="roundRect">
            <a:avLst>
              <a:gd name="adj" fmla="val 13559"/>
            </a:avLst>
          </a:prstGeom>
          <a:solidFill>
            <a:srgbClr val="FFFFFF"/>
          </a:solidFill>
          <a:ln w="12700">
            <a:solidFill>
              <a:srgbClr val="CBD5E1"/>
            </a:solidFill>
            <a:prstDash val="solid"/>
          </a:ln>
        </p:spPr>
      </p:sp>
      <p:sp>
        <p:nvSpPr>
          <p:cNvPr id="25" name="Text 22"/>
          <p:cNvSpPr txBox="1"/>
          <p:nvPr/>
        </p:nvSpPr>
        <p:spPr>
          <a:xfrm>
            <a:off x="3328416" y="4507992"/>
            <a:ext cx="7955280" cy="411480"/>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Specific outputs for Weeks 10, 11, 12, and 14</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OBJECTIVES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From checklist result to defensible decision</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The same reasoning links a failed control and a weak data center design.</a:t>
            </a:r>
            <a:endParaRPr lang="en-US" sz="1300" dirty="0"/>
          </a:p>
        </p:txBody>
      </p:sp>
      <p:sp>
        <p:nvSpPr>
          <p:cNvPr id="6" name="Shape 3"/>
          <p:cNvSpPr/>
          <p:nvPr/>
        </p:nvSpPr>
        <p:spPr>
          <a:xfrm>
            <a:off x="640080" y="1965960"/>
            <a:ext cx="1779971" cy="1874520"/>
          </a:xfrm>
          <a:prstGeom prst="roundRect">
            <a:avLst>
              <a:gd name="adj" fmla="val 4110"/>
            </a:avLst>
          </a:prstGeom>
          <a:solidFill>
            <a:srgbClr val="FFFFFF"/>
          </a:solidFill>
          <a:ln w="12700">
            <a:solidFill>
              <a:srgbClr val="CBD5E1"/>
            </a:solidFill>
            <a:prstDash val="solid"/>
          </a:ln>
        </p:spPr>
      </p:sp>
      <p:sp>
        <p:nvSpPr>
          <p:cNvPr id="7" name="Shape 4"/>
          <p:cNvSpPr/>
          <p:nvPr/>
        </p:nvSpPr>
        <p:spPr>
          <a:xfrm>
            <a:off x="640080" y="1965960"/>
            <a:ext cx="1779971"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ASSESS</a:t>
            </a:r>
            <a:endParaRPr lang="en-US" sz="1150" dirty="0"/>
          </a:p>
        </p:txBody>
      </p:sp>
      <p:sp>
        <p:nvSpPr>
          <p:cNvPr id="9" name="Text 6"/>
          <p:cNvSpPr txBox="1"/>
          <p:nvPr/>
        </p:nvSpPr>
        <p:spPr>
          <a:xfrm>
            <a:off x="777240"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Use the right profile and evidence</a:t>
            </a:r>
            <a:endParaRPr lang="en-US" sz="1400" dirty="0"/>
          </a:p>
        </p:txBody>
      </p:sp>
      <p:sp>
        <p:nvSpPr>
          <p:cNvPr id="10" name="Shape 7"/>
          <p:cNvSpPr/>
          <p:nvPr/>
        </p:nvSpPr>
        <p:spPr>
          <a:xfrm>
            <a:off x="2474915" y="2903220"/>
            <a:ext cx="393192" cy="0"/>
          </a:xfrm>
          <a:prstGeom prst="line">
            <a:avLst/>
          </a:prstGeom>
          <a:noFill/>
          <a:ln w="25400">
            <a:solidFill>
              <a:srgbClr val="94A3B8"/>
            </a:solidFill>
            <a:prstDash val="solid"/>
            <a:tailEnd type="triangle"/>
          </a:ln>
        </p:spPr>
      </p:sp>
      <p:sp>
        <p:nvSpPr>
          <p:cNvPr id="11" name="Shape 8"/>
          <p:cNvSpPr/>
          <p:nvPr/>
        </p:nvSpPr>
        <p:spPr>
          <a:xfrm>
            <a:off x="2922971" y="1965960"/>
            <a:ext cx="1779971" cy="1874520"/>
          </a:xfrm>
          <a:prstGeom prst="roundRect">
            <a:avLst>
              <a:gd name="adj" fmla="val 4110"/>
            </a:avLst>
          </a:prstGeom>
          <a:solidFill>
            <a:srgbClr val="FFFFFF"/>
          </a:solidFill>
          <a:ln w="12700">
            <a:solidFill>
              <a:srgbClr val="CBD5E1"/>
            </a:solidFill>
            <a:prstDash val="solid"/>
          </a:ln>
        </p:spPr>
      </p:sp>
      <p:sp>
        <p:nvSpPr>
          <p:cNvPr id="12" name="Shape 9"/>
          <p:cNvSpPr/>
          <p:nvPr/>
        </p:nvSpPr>
        <p:spPr>
          <a:xfrm>
            <a:off x="2922971" y="1965960"/>
            <a:ext cx="1779971"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3014411"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PRIORITIZE</a:t>
            </a:r>
            <a:endParaRPr lang="en-US" sz="1150" dirty="0"/>
          </a:p>
        </p:txBody>
      </p:sp>
      <p:sp>
        <p:nvSpPr>
          <p:cNvPr id="14" name="Text 11"/>
          <p:cNvSpPr txBox="1"/>
          <p:nvPr/>
        </p:nvSpPr>
        <p:spPr>
          <a:xfrm>
            <a:off x="3060131"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Explain impact and dependencies</a:t>
            </a:r>
            <a:endParaRPr lang="en-US" sz="1400" dirty="0"/>
          </a:p>
        </p:txBody>
      </p:sp>
      <p:sp>
        <p:nvSpPr>
          <p:cNvPr id="15" name="Shape 12"/>
          <p:cNvSpPr/>
          <p:nvPr/>
        </p:nvSpPr>
        <p:spPr>
          <a:xfrm>
            <a:off x="4757806" y="2903220"/>
            <a:ext cx="393192" cy="0"/>
          </a:xfrm>
          <a:prstGeom prst="line">
            <a:avLst/>
          </a:prstGeom>
          <a:noFill/>
          <a:ln w="25400">
            <a:solidFill>
              <a:srgbClr val="94A3B8"/>
            </a:solidFill>
            <a:prstDash val="solid"/>
            <a:tailEnd type="triangle"/>
          </a:ln>
        </p:spPr>
      </p:sp>
      <p:sp>
        <p:nvSpPr>
          <p:cNvPr id="16" name="Shape 13"/>
          <p:cNvSpPr/>
          <p:nvPr/>
        </p:nvSpPr>
        <p:spPr>
          <a:xfrm>
            <a:off x="5205862" y="1965960"/>
            <a:ext cx="1779971" cy="1874520"/>
          </a:xfrm>
          <a:prstGeom prst="roundRect">
            <a:avLst>
              <a:gd name="adj" fmla="val 4110"/>
            </a:avLst>
          </a:prstGeom>
          <a:solidFill>
            <a:srgbClr val="FFFFFF"/>
          </a:solidFill>
          <a:ln w="12700">
            <a:solidFill>
              <a:srgbClr val="CBD5E1"/>
            </a:solidFill>
            <a:prstDash val="solid"/>
          </a:ln>
        </p:spPr>
      </p:sp>
      <p:sp>
        <p:nvSpPr>
          <p:cNvPr id="17" name="Shape 14"/>
          <p:cNvSpPr/>
          <p:nvPr/>
        </p:nvSpPr>
        <p:spPr>
          <a:xfrm>
            <a:off x="5205862" y="1965960"/>
            <a:ext cx="1779971"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5297302"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REMEDIATE</a:t>
            </a:r>
            <a:endParaRPr lang="en-US" sz="1150" dirty="0"/>
          </a:p>
        </p:txBody>
      </p:sp>
      <p:sp>
        <p:nvSpPr>
          <p:cNvPr id="19" name="Text 16"/>
          <p:cNvSpPr txBox="1"/>
          <p:nvPr/>
        </p:nvSpPr>
        <p:spPr>
          <a:xfrm>
            <a:off x="5343022"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Change safely and verify</a:t>
            </a:r>
            <a:endParaRPr lang="en-US" sz="1400" dirty="0"/>
          </a:p>
        </p:txBody>
      </p:sp>
      <p:sp>
        <p:nvSpPr>
          <p:cNvPr id="20" name="Shape 17"/>
          <p:cNvSpPr/>
          <p:nvPr/>
        </p:nvSpPr>
        <p:spPr>
          <a:xfrm>
            <a:off x="7040697" y="2903220"/>
            <a:ext cx="393192" cy="0"/>
          </a:xfrm>
          <a:prstGeom prst="line">
            <a:avLst/>
          </a:prstGeom>
          <a:noFill/>
          <a:ln w="25400">
            <a:solidFill>
              <a:srgbClr val="94A3B8"/>
            </a:solidFill>
            <a:prstDash val="solid"/>
            <a:tailEnd type="triangle"/>
          </a:ln>
        </p:spPr>
      </p:sp>
      <p:sp>
        <p:nvSpPr>
          <p:cNvPr id="21" name="Shape 18"/>
          <p:cNvSpPr/>
          <p:nvPr/>
        </p:nvSpPr>
        <p:spPr>
          <a:xfrm>
            <a:off x="7488753" y="1965960"/>
            <a:ext cx="1779971" cy="1874520"/>
          </a:xfrm>
          <a:prstGeom prst="roundRect">
            <a:avLst>
              <a:gd name="adj" fmla="val 4110"/>
            </a:avLst>
          </a:prstGeom>
          <a:solidFill>
            <a:srgbClr val="FFFFFF"/>
          </a:solidFill>
          <a:ln w="12700">
            <a:solidFill>
              <a:srgbClr val="CBD5E1"/>
            </a:solidFill>
            <a:prstDash val="solid"/>
          </a:ln>
        </p:spPr>
      </p:sp>
      <p:sp>
        <p:nvSpPr>
          <p:cNvPr id="22" name="Shape 19"/>
          <p:cNvSpPr/>
          <p:nvPr/>
        </p:nvSpPr>
        <p:spPr>
          <a:xfrm>
            <a:off x="7488753" y="1965960"/>
            <a:ext cx="1779971" cy="329184"/>
          </a:xfrm>
          <a:prstGeom prst="roundRect">
            <a:avLst>
              <a:gd name="adj" fmla="val 22222"/>
            </a:avLst>
          </a:prstGeom>
          <a:solidFill>
            <a:srgbClr val="8064A2"/>
          </a:solidFill>
          <a:ln w="12700">
            <a:solidFill>
              <a:srgbClr val="8064A2"/>
            </a:solidFill>
            <a:prstDash val="solid"/>
          </a:ln>
        </p:spPr>
      </p:sp>
      <p:sp>
        <p:nvSpPr>
          <p:cNvPr id="23" name="Text 20"/>
          <p:cNvSpPr txBox="1"/>
          <p:nvPr/>
        </p:nvSpPr>
        <p:spPr>
          <a:xfrm>
            <a:off x="7580193"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DESIGN</a:t>
            </a:r>
            <a:endParaRPr lang="en-US" sz="1150" dirty="0"/>
          </a:p>
        </p:txBody>
      </p:sp>
      <p:sp>
        <p:nvSpPr>
          <p:cNvPr id="24" name="Text 21"/>
          <p:cNvSpPr txBox="1"/>
          <p:nvPr/>
        </p:nvSpPr>
        <p:spPr>
          <a:xfrm>
            <a:off x="7625913"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Reduce facility failure paths</a:t>
            </a:r>
            <a:endParaRPr lang="en-US" sz="1400" dirty="0"/>
          </a:p>
        </p:txBody>
      </p:sp>
      <p:sp>
        <p:nvSpPr>
          <p:cNvPr id="25" name="Shape 22"/>
          <p:cNvSpPr/>
          <p:nvPr/>
        </p:nvSpPr>
        <p:spPr>
          <a:xfrm>
            <a:off x="9323588" y="2903220"/>
            <a:ext cx="393192" cy="0"/>
          </a:xfrm>
          <a:prstGeom prst="line">
            <a:avLst/>
          </a:prstGeom>
          <a:noFill/>
          <a:ln w="25400">
            <a:solidFill>
              <a:srgbClr val="94A3B8"/>
            </a:solidFill>
            <a:prstDash val="solid"/>
            <a:tailEnd type="triangle"/>
          </a:ln>
        </p:spPr>
      </p:sp>
      <p:sp>
        <p:nvSpPr>
          <p:cNvPr id="26" name="Shape 23"/>
          <p:cNvSpPr/>
          <p:nvPr/>
        </p:nvSpPr>
        <p:spPr>
          <a:xfrm>
            <a:off x="9771644" y="1965960"/>
            <a:ext cx="1779971" cy="1874520"/>
          </a:xfrm>
          <a:prstGeom prst="roundRect">
            <a:avLst>
              <a:gd name="adj" fmla="val 4110"/>
            </a:avLst>
          </a:prstGeom>
          <a:solidFill>
            <a:srgbClr val="FFFFFF"/>
          </a:solidFill>
          <a:ln w="12700">
            <a:solidFill>
              <a:srgbClr val="CBD5E1"/>
            </a:solidFill>
            <a:prstDash val="solid"/>
          </a:ln>
        </p:spPr>
      </p:sp>
      <p:sp>
        <p:nvSpPr>
          <p:cNvPr id="27" name="Shape 24"/>
          <p:cNvSpPr/>
          <p:nvPr/>
        </p:nvSpPr>
        <p:spPr>
          <a:xfrm>
            <a:off x="9771644" y="1965960"/>
            <a:ext cx="1779971" cy="329184"/>
          </a:xfrm>
          <a:prstGeom prst="roundRect">
            <a:avLst>
              <a:gd name="adj" fmla="val 22222"/>
            </a:avLst>
          </a:prstGeom>
          <a:solidFill>
            <a:srgbClr val="70AD47"/>
          </a:solidFill>
          <a:ln w="12700">
            <a:solidFill>
              <a:srgbClr val="70AD47"/>
            </a:solidFill>
            <a:prstDash val="solid"/>
          </a:ln>
        </p:spPr>
      </p:sp>
      <p:sp>
        <p:nvSpPr>
          <p:cNvPr id="28" name="Text 25"/>
          <p:cNvSpPr txBox="1"/>
          <p:nvPr/>
        </p:nvSpPr>
        <p:spPr>
          <a:xfrm>
            <a:off x="9863084"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DOCUMENT</a:t>
            </a:r>
            <a:endParaRPr lang="en-US" sz="1150" dirty="0"/>
          </a:p>
        </p:txBody>
      </p:sp>
      <p:sp>
        <p:nvSpPr>
          <p:cNvPr id="29" name="Text 26"/>
          <p:cNvSpPr txBox="1"/>
          <p:nvPr/>
        </p:nvSpPr>
        <p:spPr>
          <a:xfrm>
            <a:off x="9908804"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Make risk and exceptions explicit</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FOUNDATIONS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CIS Controls and CIS Benchmarks do different jobs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One organizes safeguards; the other specifies configurations for a technology.</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CIS CONTROLS v8</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Program-level safeguards and priorities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CIS BENCHMARK</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Product-specific settings and assessment rules</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EVIDENCE</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Observed state, exceptions, and verification</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Question</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If a host passes a Benchmark, what organization-level risk could still remain?</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PROFILES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Level 1 and Level 2 express different tradeoffs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Select a profile for the system role, then test its operational impact.</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LEVEL 1</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Base hardening with broad usability</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8064A2"/>
          </a:solidFill>
          <a:ln w="12700">
            <a:solidFill>
              <a:srgbClr val="8064A2"/>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LEVEL 2</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Defense in depth where security is paramount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CIS STIG PROFILE</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STIG-specific recommendations where provided</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Decision</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A production service breaks under a Level 2 setting. What evidence belongs in the exception?</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STIG VS CIS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Control intent can overlap; authority still matters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federal or DoD requirement may specify an exact STIG and version.</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CIS BENCHMARK</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Consensus configuration guidance</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DISA STIG</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Defense security requirements for a platform</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CONTRACT</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Determines required baseline and evidence</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C0504D"/>
            </a:solidFill>
            <a:prstDash val="solid"/>
          </a:ln>
        </p:spPr>
      </p:sp>
      <p:sp>
        <p:nvSpPr>
          <p:cNvPr id="19" name="Shape 16"/>
          <p:cNvSpPr/>
          <p:nvPr/>
        </p:nvSpPr>
        <p:spPr>
          <a:xfrm>
            <a:off x="960120" y="4736592"/>
            <a:ext cx="91440" cy="758952"/>
          </a:xfrm>
          <a:prstGeom prst="rect">
            <a:avLst>
              <a:gd name="adj" fmla="val 80000"/>
            </a:avLst>
          </a:prstGeom>
          <a:solidFill>
            <a:srgbClr val="C0504D"/>
          </a:solidFill>
          <a:ln w="12700">
            <a:solidFill>
              <a:srgbClr val="C0504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C0504D"/>
                </a:solidFill>
                <a:latin typeface="Calibri" pitchFamily="34" charset="0"/>
                <a:ea typeface="Calibri" pitchFamily="34" charset="-122"/>
                <a:cs typeface="Calibri" pitchFamily="34" charset="-120"/>
              </a:rPr>
              <a:t>Prompt</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Which document governs when a contract explicitly names a DISA STIG?</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STIG WORKFLOW</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STIG tooling helps record each control decision</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Use the applicable content and keep the evidence tied to its exact version.</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SELECT</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Platform STIG + version</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3493694" y="1965960"/>
            <a:ext cx="2350694"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ASSESS</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SCAP checks where supported</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6347308" y="1965960"/>
            <a:ext cx="2350694"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REVIEW</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STIG Viewer findings</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sp>
      <p:sp>
        <p:nvSpPr>
          <p:cNvPr id="22" name="Shape 19"/>
          <p:cNvSpPr/>
          <p:nvPr/>
        </p:nvSpPr>
        <p:spPr>
          <a:xfrm>
            <a:off x="9200921" y="1965960"/>
            <a:ext cx="2350694" cy="329184"/>
          </a:xfrm>
          <a:prstGeom prst="roundRect">
            <a:avLst>
              <a:gd name="adj" fmla="val 22222"/>
            </a:avLst>
          </a:prstGeom>
          <a:solidFill>
            <a:srgbClr val="8064A2"/>
          </a:solidFill>
          <a:ln w="12700">
            <a:solidFill>
              <a:srgbClr val="8064A2"/>
            </a:solidFill>
            <a:prstDash val="solid"/>
          </a:ln>
        </p:spPr>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RECORD</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Status, evidence, and exception</a:t>
            </a:r>
            <a:endParaRPr lang="en-US" sz="1400" dirty="0"/>
          </a:p>
        </p:txBody>
      </p:sp>
      <p:sp>
        <p:nvSpPr>
          <p:cNvPr id="25" name="Shape 22"/>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26" name="Shape 23"/>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7" name="Text 24"/>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Question</a:t>
            </a:r>
            <a:endParaRPr lang="en-US" sz="1320" dirty="0"/>
          </a:p>
        </p:txBody>
      </p:sp>
      <p:sp>
        <p:nvSpPr>
          <p:cNvPr id="28" name="Text 25"/>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Which checks still need human judgment after an automated scan?</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ASSESSMENT</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Assessment is a versioned evidence pipeline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Record the product, benchmark, profile, content version, scanner, and scan date.</a:t>
            </a:r>
            <a:endParaRPr lang="en-US" sz="1300" dirty="0"/>
          </a:p>
        </p:txBody>
      </p:sp>
      <p:sp>
        <p:nvSpPr>
          <p:cNvPr id="6" name="Shape 3"/>
          <p:cNvSpPr/>
          <p:nvPr/>
        </p:nvSpPr>
        <p:spPr>
          <a:xfrm>
            <a:off x="640080" y="1965960"/>
            <a:ext cx="1779971" cy="1874520"/>
          </a:xfrm>
          <a:prstGeom prst="roundRect">
            <a:avLst>
              <a:gd name="adj" fmla="val 4110"/>
            </a:avLst>
          </a:prstGeom>
          <a:solidFill>
            <a:srgbClr val="FFFFFF"/>
          </a:solidFill>
          <a:ln w="12700">
            <a:solidFill>
              <a:srgbClr val="CBD5E1"/>
            </a:solidFill>
            <a:prstDash val="solid"/>
          </a:ln>
        </p:spPr>
      </p:sp>
      <p:sp>
        <p:nvSpPr>
          <p:cNvPr id="7" name="Shape 4"/>
          <p:cNvSpPr/>
          <p:nvPr/>
        </p:nvSpPr>
        <p:spPr>
          <a:xfrm>
            <a:off x="640080" y="1965960"/>
            <a:ext cx="1779971"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SCOPE</a:t>
            </a:r>
            <a:endParaRPr lang="en-US" sz="1150" dirty="0"/>
          </a:p>
        </p:txBody>
      </p:sp>
      <p:sp>
        <p:nvSpPr>
          <p:cNvPr id="9" name="Text 6"/>
          <p:cNvSpPr txBox="1"/>
          <p:nvPr/>
        </p:nvSpPr>
        <p:spPr>
          <a:xfrm>
            <a:off x="777240"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Host and system role</a:t>
            </a:r>
            <a:endParaRPr lang="en-US" sz="1400" dirty="0"/>
          </a:p>
        </p:txBody>
      </p:sp>
      <p:sp>
        <p:nvSpPr>
          <p:cNvPr id="10" name="Shape 7"/>
          <p:cNvSpPr/>
          <p:nvPr/>
        </p:nvSpPr>
        <p:spPr>
          <a:xfrm>
            <a:off x="2474915" y="2903220"/>
            <a:ext cx="393192" cy="0"/>
          </a:xfrm>
          <a:prstGeom prst="line">
            <a:avLst/>
          </a:prstGeom>
          <a:noFill/>
          <a:ln w="25400">
            <a:solidFill>
              <a:srgbClr val="94A3B8"/>
            </a:solidFill>
            <a:prstDash val="solid"/>
            <a:tailEnd type="triangle"/>
          </a:ln>
        </p:spPr>
      </p:sp>
      <p:sp>
        <p:nvSpPr>
          <p:cNvPr id="11" name="Shape 8"/>
          <p:cNvSpPr/>
          <p:nvPr/>
        </p:nvSpPr>
        <p:spPr>
          <a:xfrm>
            <a:off x="2922971" y="1965960"/>
            <a:ext cx="1779971" cy="1874520"/>
          </a:xfrm>
          <a:prstGeom prst="roundRect">
            <a:avLst>
              <a:gd name="adj" fmla="val 4110"/>
            </a:avLst>
          </a:prstGeom>
          <a:solidFill>
            <a:srgbClr val="FFFFFF"/>
          </a:solidFill>
          <a:ln w="12700">
            <a:solidFill>
              <a:srgbClr val="CBD5E1"/>
            </a:solidFill>
            <a:prstDash val="solid"/>
          </a:ln>
        </p:spPr>
      </p:sp>
      <p:sp>
        <p:nvSpPr>
          <p:cNvPr id="12" name="Shape 9"/>
          <p:cNvSpPr/>
          <p:nvPr/>
        </p:nvSpPr>
        <p:spPr>
          <a:xfrm>
            <a:off x="2922971" y="1965960"/>
            <a:ext cx="1779971"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3014411"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PROFILE</a:t>
            </a:r>
            <a:endParaRPr lang="en-US" sz="1150" dirty="0"/>
          </a:p>
        </p:txBody>
      </p:sp>
      <p:sp>
        <p:nvSpPr>
          <p:cNvPr id="14" name="Text 11"/>
          <p:cNvSpPr txBox="1"/>
          <p:nvPr/>
        </p:nvSpPr>
        <p:spPr>
          <a:xfrm>
            <a:off x="3060131"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Benchmark + version</a:t>
            </a:r>
            <a:endParaRPr lang="en-US" sz="1400" dirty="0"/>
          </a:p>
        </p:txBody>
      </p:sp>
      <p:sp>
        <p:nvSpPr>
          <p:cNvPr id="15" name="Shape 12"/>
          <p:cNvSpPr/>
          <p:nvPr/>
        </p:nvSpPr>
        <p:spPr>
          <a:xfrm>
            <a:off x="4757806" y="2903220"/>
            <a:ext cx="393192" cy="0"/>
          </a:xfrm>
          <a:prstGeom prst="line">
            <a:avLst/>
          </a:prstGeom>
          <a:noFill/>
          <a:ln w="25400">
            <a:solidFill>
              <a:srgbClr val="94A3B8"/>
            </a:solidFill>
            <a:prstDash val="solid"/>
            <a:tailEnd type="triangle"/>
          </a:ln>
        </p:spPr>
      </p:sp>
      <p:sp>
        <p:nvSpPr>
          <p:cNvPr id="16" name="Shape 13"/>
          <p:cNvSpPr/>
          <p:nvPr/>
        </p:nvSpPr>
        <p:spPr>
          <a:xfrm>
            <a:off x="5205862" y="1965960"/>
            <a:ext cx="1779971" cy="1874520"/>
          </a:xfrm>
          <a:prstGeom prst="roundRect">
            <a:avLst>
              <a:gd name="adj" fmla="val 4110"/>
            </a:avLst>
          </a:prstGeom>
          <a:solidFill>
            <a:srgbClr val="FFFFFF"/>
          </a:solidFill>
          <a:ln w="12700">
            <a:solidFill>
              <a:srgbClr val="CBD5E1"/>
            </a:solidFill>
            <a:prstDash val="solid"/>
          </a:ln>
        </p:spPr>
      </p:sp>
      <p:sp>
        <p:nvSpPr>
          <p:cNvPr id="17" name="Shape 14"/>
          <p:cNvSpPr/>
          <p:nvPr/>
        </p:nvSpPr>
        <p:spPr>
          <a:xfrm>
            <a:off x="5205862" y="1965960"/>
            <a:ext cx="1779971"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5297302"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SCAN</a:t>
            </a:r>
            <a:endParaRPr lang="en-US" sz="1150" dirty="0"/>
          </a:p>
        </p:txBody>
      </p:sp>
      <p:sp>
        <p:nvSpPr>
          <p:cNvPr id="19" name="Text 16"/>
          <p:cNvSpPr txBox="1"/>
          <p:nvPr/>
        </p:nvSpPr>
        <p:spPr>
          <a:xfrm>
            <a:off x="5343022"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Tool + content version</a:t>
            </a:r>
            <a:endParaRPr lang="en-US" sz="1400" dirty="0"/>
          </a:p>
        </p:txBody>
      </p:sp>
      <p:sp>
        <p:nvSpPr>
          <p:cNvPr id="20" name="Shape 17"/>
          <p:cNvSpPr/>
          <p:nvPr/>
        </p:nvSpPr>
        <p:spPr>
          <a:xfrm>
            <a:off x="7040697" y="2903220"/>
            <a:ext cx="393192" cy="0"/>
          </a:xfrm>
          <a:prstGeom prst="line">
            <a:avLst/>
          </a:prstGeom>
          <a:noFill/>
          <a:ln w="25400">
            <a:solidFill>
              <a:srgbClr val="94A3B8"/>
            </a:solidFill>
            <a:prstDash val="solid"/>
            <a:tailEnd type="triangle"/>
          </a:ln>
        </p:spPr>
      </p:sp>
      <p:sp>
        <p:nvSpPr>
          <p:cNvPr id="21" name="Shape 18"/>
          <p:cNvSpPr/>
          <p:nvPr/>
        </p:nvSpPr>
        <p:spPr>
          <a:xfrm>
            <a:off x="7488753" y="1965960"/>
            <a:ext cx="1779971" cy="1874520"/>
          </a:xfrm>
          <a:prstGeom prst="roundRect">
            <a:avLst>
              <a:gd name="adj" fmla="val 4110"/>
            </a:avLst>
          </a:prstGeom>
          <a:solidFill>
            <a:srgbClr val="FFFFFF"/>
          </a:solidFill>
          <a:ln w="12700">
            <a:solidFill>
              <a:srgbClr val="CBD5E1"/>
            </a:solidFill>
            <a:prstDash val="solid"/>
          </a:ln>
        </p:spPr>
      </p:sp>
      <p:sp>
        <p:nvSpPr>
          <p:cNvPr id="22" name="Shape 19"/>
          <p:cNvSpPr/>
          <p:nvPr/>
        </p:nvSpPr>
        <p:spPr>
          <a:xfrm>
            <a:off x="7488753" y="1965960"/>
            <a:ext cx="1779971" cy="329184"/>
          </a:xfrm>
          <a:prstGeom prst="roundRect">
            <a:avLst>
              <a:gd name="adj" fmla="val 22222"/>
            </a:avLst>
          </a:prstGeom>
          <a:solidFill>
            <a:srgbClr val="8064A2"/>
          </a:solidFill>
          <a:ln w="12700">
            <a:solidFill>
              <a:srgbClr val="8064A2"/>
            </a:solidFill>
            <a:prstDash val="solid"/>
          </a:ln>
        </p:spPr>
      </p:sp>
      <p:sp>
        <p:nvSpPr>
          <p:cNvPr id="23" name="Text 20"/>
          <p:cNvSpPr txBox="1"/>
          <p:nvPr/>
        </p:nvSpPr>
        <p:spPr>
          <a:xfrm>
            <a:off x="7580193"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REVIEW</a:t>
            </a:r>
            <a:endParaRPr lang="en-US" sz="1150" dirty="0"/>
          </a:p>
        </p:txBody>
      </p:sp>
      <p:sp>
        <p:nvSpPr>
          <p:cNvPr id="24" name="Text 21"/>
          <p:cNvSpPr txBox="1"/>
          <p:nvPr/>
        </p:nvSpPr>
        <p:spPr>
          <a:xfrm>
            <a:off x="7625913"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Pass / fail / N.A.</a:t>
            </a:r>
            <a:endParaRPr lang="en-US" sz="1400" dirty="0"/>
          </a:p>
        </p:txBody>
      </p:sp>
      <p:sp>
        <p:nvSpPr>
          <p:cNvPr id="25" name="Shape 22"/>
          <p:cNvSpPr/>
          <p:nvPr/>
        </p:nvSpPr>
        <p:spPr>
          <a:xfrm>
            <a:off x="9323588" y="2903220"/>
            <a:ext cx="393192" cy="0"/>
          </a:xfrm>
          <a:prstGeom prst="line">
            <a:avLst/>
          </a:prstGeom>
          <a:noFill/>
          <a:ln w="25400">
            <a:solidFill>
              <a:srgbClr val="94A3B8"/>
            </a:solidFill>
            <a:prstDash val="solid"/>
            <a:tailEnd type="triangle"/>
          </a:ln>
        </p:spPr>
      </p:sp>
      <p:sp>
        <p:nvSpPr>
          <p:cNvPr id="26" name="Shape 23"/>
          <p:cNvSpPr/>
          <p:nvPr/>
        </p:nvSpPr>
        <p:spPr>
          <a:xfrm>
            <a:off x="9771644" y="1965960"/>
            <a:ext cx="1779971" cy="1874520"/>
          </a:xfrm>
          <a:prstGeom prst="roundRect">
            <a:avLst>
              <a:gd name="adj" fmla="val 4110"/>
            </a:avLst>
          </a:prstGeom>
          <a:solidFill>
            <a:srgbClr val="FFFFFF"/>
          </a:solidFill>
          <a:ln w="12700">
            <a:solidFill>
              <a:srgbClr val="CBD5E1"/>
            </a:solidFill>
            <a:prstDash val="solid"/>
          </a:ln>
        </p:spPr>
      </p:sp>
      <p:sp>
        <p:nvSpPr>
          <p:cNvPr id="27" name="Shape 24"/>
          <p:cNvSpPr/>
          <p:nvPr/>
        </p:nvSpPr>
        <p:spPr>
          <a:xfrm>
            <a:off x="9771644" y="1965960"/>
            <a:ext cx="1779971" cy="329184"/>
          </a:xfrm>
          <a:prstGeom prst="roundRect">
            <a:avLst>
              <a:gd name="adj" fmla="val 22222"/>
            </a:avLst>
          </a:prstGeom>
          <a:solidFill>
            <a:srgbClr val="70AD47"/>
          </a:solidFill>
          <a:ln w="12700">
            <a:solidFill>
              <a:srgbClr val="70AD47"/>
            </a:solidFill>
            <a:prstDash val="solid"/>
          </a:ln>
        </p:spPr>
      </p:sp>
      <p:sp>
        <p:nvSpPr>
          <p:cNvPr id="28" name="Text 25"/>
          <p:cNvSpPr txBox="1"/>
          <p:nvPr/>
        </p:nvSpPr>
        <p:spPr>
          <a:xfrm>
            <a:off x="9863084"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DECIDE</a:t>
            </a:r>
            <a:endParaRPr lang="en-US" sz="1150" dirty="0"/>
          </a:p>
        </p:txBody>
      </p:sp>
      <p:sp>
        <p:nvSpPr>
          <p:cNvPr id="29" name="Text 26"/>
          <p:cNvSpPr txBox="1"/>
          <p:nvPr/>
        </p:nvSpPr>
        <p:spPr>
          <a:xfrm>
            <a:off x="9908804"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Fix, investigate, or except</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TOOLS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Know what the scanner actually assessed</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The Cyber lab uses OpenSCAP on Rocky Linux 9; homework uses a supplied Ubuntu report.</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CIS-CAT PRO</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CIS assessment tooling; membership limits apply</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OPENSCAP</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Lab assessment with SCAP Security Guide content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STIG VIEWER / SCAP</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Review or assess applicable STIG content</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C0504D"/>
            </a:solidFill>
            <a:prstDash val="solid"/>
          </a:ln>
        </p:spPr>
      </p:sp>
      <p:sp>
        <p:nvSpPr>
          <p:cNvPr id="19" name="Shape 16"/>
          <p:cNvSpPr/>
          <p:nvPr/>
        </p:nvSpPr>
        <p:spPr>
          <a:xfrm>
            <a:off x="960120" y="4736592"/>
            <a:ext cx="91440" cy="758952"/>
          </a:xfrm>
          <a:prstGeom prst="rect">
            <a:avLst>
              <a:gd name="adj" fmla="val 80000"/>
            </a:avLst>
          </a:prstGeom>
          <a:solidFill>
            <a:srgbClr val="C0504D"/>
          </a:solidFill>
          <a:ln w="12700">
            <a:solidFill>
              <a:srgbClr val="C0504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C0504D"/>
                </a:solidFill>
                <a:latin typeface="Calibri" pitchFamily="34" charset="0"/>
                <a:ea typeface="Calibri" pitchFamily="34" charset="-122"/>
                <a:cs typeface="Calibri" pitchFamily="34" charset="-120"/>
              </a:rPr>
              <a:t>Important distinction</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The lab’s OpenSCAP percentage is not an official CIS-certified score.</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READ THE REPORT</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 score is a starting point, not a remediation queue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Homework report: 27 of 48 controls pass; 21 fail on a fictional Ubuntu host.</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70AD47"/>
          </a:solidFill>
          <a:ln w="12700">
            <a:solidFill>
              <a:srgbClr val="70AD47"/>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PASS</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27 controls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C0504D"/>
          </a:solidFill>
          <a:ln w="12700">
            <a:solidFill>
              <a:srgbClr val="C0504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FAIL</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21 controls to analyze</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4F81BD"/>
          </a:solidFill>
          <a:ln w="12700">
            <a:solidFill>
              <a:srgbClr val="4F81BD"/>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CONTEXT</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Different failures carry different risk</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Discuss</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Which failure could be urgent even if the overall score barely changes?</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PRIORITY</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Rank a failed control by plausible harm</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Control severity, exploit path, exposure, and operational cost all matter.</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Finding</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Exact control ID and observed failing state</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Threat</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Attack technique or failure mode it permits</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Exposure</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Can an attacker reach or influence this host?</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Impact</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Privilege, data, service, and business effect</a:t>
            </a:r>
            <a:endParaRPr lang="en-US" sz="1350" dirty="0"/>
          </a:p>
        </p:txBody>
      </p:sp>
      <p:sp>
        <p:nvSpPr>
          <p:cNvPr id="22" name="Shape 19"/>
          <p:cNvSpPr/>
          <p:nvPr/>
        </p:nvSpPr>
        <p:spPr>
          <a:xfrm>
            <a:off x="749808" y="4443984"/>
            <a:ext cx="2231136" cy="566928"/>
          </a:xfrm>
          <a:prstGeom prst="roundRect">
            <a:avLst>
              <a:gd name="adj" fmla="val 12903"/>
            </a:avLst>
          </a:prstGeom>
          <a:solidFill>
            <a:srgbClr val="70AD47"/>
          </a:solidFill>
          <a:ln w="12700">
            <a:solidFill>
              <a:srgbClr val="70AD47"/>
            </a:solidFill>
            <a:prstDash val="solid"/>
          </a:ln>
        </p:spPr>
      </p:sp>
      <p:sp>
        <p:nvSpPr>
          <p:cNvPr id="23" name="Text 20"/>
          <p:cNvSpPr txBox="1"/>
          <p:nvPr/>
        </p:nvSpPr>
        <p:spPr>
          <a:xfrm>
            <a:off x="841248" y="4507992"/>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p>
        </p:txBody>
      </p:sp>
      <p:sp>
        <p:nvSpPr>
          <p:cNvPr id="24" name="Shape 21"/>
          <p:cNvSpPr/>
          <p:nvPr/>
        </p:nvSpPr>
        <p:spPr>
          <a:xfrm>
            <a:off x="3182112" y="4443984"/>
            <a:ext cx="8247888" cy="566928"/>
          </a:xfrm>
          <a:prstGeom prst="roundRect">
            <a:avLst>
              <a:gd name="adj" fmla="val 12903"/>
            </a:avLst>
          </a:prstGeom>
          <a:solidFill>
            <a:srgbClr val="FFFFFF"/>
          </a:solidFill>
          <a:ln w="12700">
            <a:solidFill>
              <a:srgbClr val="CBD5E1"/>
            </a:solidFill>
            <a:prstDash val="solid"/>
          </a:ln>
        </p:spPr>
      </p:sp>
      <p:sp>
        <p:nvSpPr>
          <p:cNvPr id="25" name="Text 22"/>
          <p:cNvSpPr txBox="1"/>
          <p:nvPr/>
        </p:nvSpPr>
        <p:spPr>
          <a:xfrm>
            <a:off x="3328416" y="4507992"/>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Fix window, test plan, owner, or exception</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ATT&amp;CK</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 control is meaningful when its attack path is clear</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Map the failing control to the technique it is intended to frustrate.</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CONTROL</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Exact ID + title</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3493694" y="1965960"/>
            <a:ext cx="2350694"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WEAK STATE</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What the scan found</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6347308" y="1965960"/>
            <a:ext cx="2350694"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TECHNIQUE</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ATT&amp;CK ID + name</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sp>
      <p:sp>
        <p:nvSpPr>
          <p:cNvPr id="22" name="Shape 19"/>
          <p:cNvSpPr/>
          <p:nvPr/>
        </p:nvSpPr>
        <p:spPr>
          <a:xfrm>
            <a:off x="9200921" y="1965960"/>
            <a:ext cx="2350694" cy="329184"/>
          </a:xfrm>
          <a:prstGeom prst="roundRect">
            <a:avLst>
              <a:gd name="adj" fmla="val 22222"/>
            </a:avLst>
          </a:prstGeom>
          <a:solidFill>
            <a:srgbClr val="C0504D"/>
          </a:solidFill>
          <a:ln w="12700">
            <a:solidFill>
              <a:srgbClr val="C0504D"/>
            </a:solidFill>
            <a:prstDash val="solid"/>
          </a:ln>
        </p:spPr>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What becomes easier</a:t>
            </a:r>
            <a:endParaRPr lang="en-US" sz="1400" dirty="0"/>
          </a:p>
        </p:txBody>
      </p:sp>
      <p:sp>
        <p:nvSpPr>
          <p:cNvPr id="25" name="Shape 22"/>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26" name="Shape 23"/>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7" name="Text 24"/>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Lab task</a:t>
            </a:r>
            <a:endParaRPr lang="en-US" sz="1320" dirty="0"/>
          </a:p>
        </p:txBody>
      </p:sp>
      <p:sp>
        <p:nvSpPr>
          <p:cNvPr id="28" name="Text 25"/>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Map 10 failing controls; defend the link rather than matching words.</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BASELINE</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An organizational baseline is a controlled profile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Define where a setting applies and how deviations are approved.</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STANDARD</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Benchmark version, profile, and scope</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TAILORING</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Role-specific applicability and tests</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DRIFT</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Recurring scan and change review</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Prompt</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Would you give a domain controller and a web server the same exception list?</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EXCEPTIONS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An exception records accepted residual risk</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It needs a reason, owner, compensating control, and review date.</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Control</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ID, benchmark version, and required state</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Reason</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Specific breakage or non-applicability evidence</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Risk</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Exposure and likely consequence</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Approval</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Named risk owner and acceptance decision</a:t>
            </a:r>
            <a:endParaRPr lang="en-US" sz="1350" dirty="0"/>
          </a:p>
        </p:txBody>
      </p:sp>
      <p:sp>
        <p:nvSpPr>
          <p:cNvPr id="22" name="Shape 19"/>
          <p:cNvSpPr/>
          <p:nvPr/>
        </p:nvSpPr>
        <p:spPr>
          <a:xfrm>
            <a:off x="749808" y="4443984"/>
            <a:ext cx="2231136" cy="566928"/>
          </a:xfrm>
          <a:prstGeom prst="roundRect">
            <a:avLst>
              <a:gd name="adj" fmla="val 12903"/>
            </a:avLst>
          </a:prstGeom>
          <a:solidFill>
            <a:srgbClr val="70AD47"/>
          </a:solidFill>
          <a:ln w="12700">
            <a:solidFill>
              <a:srgbClr val="70AD47"/>
            </a:solidFill>
            <a:prstDash val="solid"/>
          </a:ln>
        </p:spPr>
      </p:sp>
      <p:sp>
        <p:nvSpPr>
          <p:cNvPr id="23" name="Text 20"/>
          <p:cNvSpPr txBox="1"/>
          <p:nvPr/>
        </p:nvSpPr>
        <p:spPr>
          <a:xfrm>
            <a:off x="841248" y="4507992"/>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Expiry</a:t>
            </a:r>
            <a:endParaRPr lang="en-US" sz="1300" dirty="0"/>
          </a:p>
        </p:txBody>
      </p:sp>
      <p:sp>
        <p:nvSpPr>
          <p:cNvPr id="24" name="Shape 21"/>
          <p:cNvSpPr/>
          <p:nvPr/>
        </p:nvSpPr>
        <p:spPr>
          <a:xfrm>
            <a:off x="3182112" y="4443984"/>
            <a:ext cx="8247888" cy="566928"/>
          </a:xfrm>
          <a:prstGeom prst="roundRect">
            <a:avLst>
              <a:gd name="adj" fmla="val 12903"/>
            </a:avLst>
          </a:prstGeom>
          <a:solidFill>
            <a:srgbClr val="FFFFFF"/>
          </a:solidFill>
          <a:ln w="12700">
            <a:solidFill>
              <a:srgbClr val="CBD5E1"/>
            </a:solidFill>
            <a:prstDash val="solid"/>
          </a:ln>
        </p:spPr>
      </p:sp>
      <p:sp>
        <p:nvSpPr>
          <p:cNvPr id="25" name="Text 22"/>
          <p:cNvSpPr txBox="1"/>
          <p:nvPr/>
        </p:nvSpPr>
        <p:spPr>
          <a:xfrm>
            <a:off x="3328416" y="4507992"/>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Review trigger, date, and compensating control</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CYBER LAB</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Rocky Linux lab: preserve a before and after trail</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Use OpenSCAP Level 1 Server assessment as the baseline.</a:t>
            </a:r>
            <a:endParaRPr lang="en-US" sz="1300" dirty="0"/>
          </a:p>
        </p:txBody>
      </p:sp>
      <p:sp>
        <p:nvSpPr>
          <p:cNvPr id="6" name="Shape 3"/>
          <p:cNvSpPr/>
          <p:nvPr/>
        </p:nvSpPr>
        <p:spPr>
          <a:xfrm>
            <a:off x="640080" y="1965960"/>
            <a:ext cx="1779971" cy="1874520"/>
          </a:xfrm>
          <a:prstGeom prst="roundRect">
            <a:avLst>
              <a:gd name="adj" fmla="val 4110"/>
            </a:avLst>
          </a:prstGeom>
          <a:solidFill>
            <a:srgbClr val="FFFFFF"/>
          </a:solidFill>
          <a:ln w="12700">
            <a:solidFill>
              <a:srgbClr val="CBD5E1"/>
            </a:solidFill>
            <a:prstDash val="solid"/>
          </a:ln>
        </p:spPr>
      </p:sp>
      <p:sp>
        <p:nvSpPr>
          <p:cNvPr id="7" name="Shape 4"/>
          <p:cNvSpPr/>
          <p:nvPr/>
        </p:nvSpPr>
        <p:spPr>
          <a:xfrm>
            <a:off x="640080" y="1965960"/>
            <a:ext cx="1779971"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SCAN</a:t>
            </a:r>
            <a:endParaRPr lang="en-US" sz="1150" dirty="0"/>
          </a:p>
        </p:txBody>
      </p:sp>
      <p:sp>
        <p:nvSpPr>
          <p:cNvPr id="9" name="Text 6"/>
          <p:cNvSpPr txBox="1"/>
          <p:nvPr/>
        </p:nvSpPr>
        <p:spPr>
          <a:xfrm>
            <a:off x="777240"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Baseline XML + HTML</a:t>
            </a:r>
            <a:endParaRPr lang="en-US" sz="1400" dirty="0"/>
          </a:p>
        </p:txBody>
      </p:sp>
      <p:sp>
        <p:nvSpPr>
          <p:cNvPr id="10" name="Shape 7"/>
          <p:cNvSpPr/>
          <p:nvPr/>
        </p:nvSpPr>
        <p:spPr>
          <a:xfrm>
            <a:off x="2474915" y="2903220"/>
            <a:ext cx="393192" cy="0"/>
          </a:xfrm>
          <a:prstGeom prst="line">
            <a:avLst/>
          </a:prstGeom>
          <a:noFill/>
          <a:ln w="25400">
            <a:solidFill>
              <a:srgbClr val="94A3B8"/>
            </a:solidFill>
            <a:prstDash val="solid"/>
            <a:tailEnd type="triangle"/>
          </a:ln>
        </p:spPr>
      </p:sp>
      <p:sp>
        <p:nvSpPr>
          <p:cNvPr id="11" name="Shape 8"/>
          <p:cNvSpPr/>
          <p:nvPr/>
        </p:nvSpPr>
        <p:spPr>
          <a:xfrm>
            <a:off x="2922971" y="1965960"/>
            <a:ext cx="1779971" cy="1874520"/>
          </a:xfrm>
          <a:prstGeom prst="roundRect">
            <a:avLst>
              <a:gd name="adj" fmla="val 4110"/>
            </a:avLst>
          </a:prstGeom>
          <a:solidFill>
            <a:srgbClr val="FFFFFF"/>
          </a:solidFill>
          <a:ln w="12700">
            <a:solidFill>
              <a:srgbClr val="CBD5E1"/>
            </a:solidFill>
            <a:prstDash val="solid"/>
          </a:ln>
        </p:spPr>
      </p:sp>
      <p:sp>
        <p:nvSpPr>
          <p:cNvPr id="12" name="Shape 9"/>
          <p:cNvSpPr/>
          <p:nvPr/>
        </p:nvSpPr>
        <p:spPr>
          <a:xfrm>
            <a:off x="2922971" y="1965960"/>
            <a:ext cx="1779971"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3014411"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SELECT</a:t>
            </a:r>
            <a:endParaRPr lang="en-US" sz="1150" dirty="0"/>
          </a:p>
        </p:txBody>
      </p:sp>
      <p:sp>
        <p:nvSpPr>
          <p:cNvPr id="14" name="Text 11"/>
          <p:cNvSpPr txBox="1"/>
          <p:nvPr/>
        </p:nvSpPr>
        <p:spPr>
          <a:xfrm>
            <a:off x="3060131"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10 high-impact failures</a:t>
            </a:r>
            <a:endParaRPr lang="en-US" sz="1400" dirty="0"/>
          </a:p>
        </p:txBody>
      </p:sp>
      <p:sp>
        <p:nvSpPr>
          <p:cNvPr id="15" name="Shape 12"/>
          <p:cNvSpPr/>
          <p:nvPr/>
        </p:nvSpPr>
        <p:spPr>
          <a:xfrm>
            <a:off x="4757806" y="2903220"/>
            <a:ext cx="393192" cy="0"/>
          </a:xfrm>
          <a:prstGeom prst="line">
            <a:avLst/>
          </a:prstGeom>
          <a:noFill/>
          <a:ln w="25400">
            <a:solidFill>
              <a:srgbClr val="94A3B8"/>
            </a:solidFill>
            <a:prstDash val="solid"/>
            <a:tailEnd type="triangle"/>
          </a:ln>
        </p:spPr>
      </p:sp>
      <p:sp>
        <p:nvSpPr>
          <p:cNvPr id="16" name="Shape 13"/>
          <p:cNvSpPr/>
          <p:nvPr/>
        </p:nvSpPr>
        <p:spPr>
          <a:xfrm>
            <a:off x="5205862" y="1965960"/>
            <a:ext cx="1779971" cy="1874520"/>
          </a:xfrm>
          <a:prstGeom prst="roundRect">
            <a:avLst>
              <a:gd name="adj" fmla="val 4110"/>
            </a:avLst>
          </a:prstGeom>
          <a:solidFill>
            <a:srgbClr val="FFFFFF"/>
          </a:solidFill>
          <a:ln w="12700">
            <a:solidFill>
              <a:srgbClr val="CBD5E1"/>
            </a:solidFill>
            <a:prstDash val="solid"/>
          </a:ln>
        </p:spPr>
      </p:sp>
      <p:sp>
        <p:nvSpPr>
          <p:cNvPr id="17" name="Shape 14"/>
          <p:cNvSpPr/>
          <p:nvPr/>
        </p:nvSpPr>
        <p:spPr>
          <a:xfrm>
            <a:off x="5205862" y="1965960"/>
            <a:ext cx="1779971"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5297302"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p>
        </p:txBody>
      </p:sp>
      <p:sp>
        <p:nvSpPr>
          <p:cNvPr id="19" name="Text 16"/>
          <p:cNvSpPr txBox="1"/>
          <p:nvPr/>
        </p:nvSpPr>
        <p:spPr>
          <a:xfrm>
            <a:off x="5343022"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Five controls by hand</a:t>
            </a:r>
            <a:endParaRPr lang="en-US" sz="1400" dirty="0"/>
          </a:p>
        </p:txBody>
      </p:sp>
      <p:sp>
        <p:nvSpPr>
          <p:cNvPr id="20" name="Shape 17"/>
          <p:cNvSpPr/>
          <p:nvPr/>
        </p:nvSpPr>
        <p:spPr>
          <a:xfrm>
            <a:off x="7040697" y="2903220"/>
            <a:ext cx="393192" cy="0"/>
          </a:xfrm>
          <a:prstGeom prst="line">
            <a:avLst/>
          </a:prstGeom>
          <a:noFill/>
          <a:ln w="25400">
            <a:solidFill>
              <a:srgbClr val="94A3B8"/>
            </a:solidFill>
            <a:prstDash val="solid"/>
            <a:tailEnd type="triangle"/>
          </a:ln>
        </p:spPr>
      </p:sp>
      <p:sp>
        <p:nvSpPr>
          <p:cNvPr id="21" name="Shape 18"/>
          <p:cNvSpPr/>
          <p:nvPr/>
        </p:nvSpPr>
        <p:spPr>
          <a:xfrm>
            <a:off x="7488753" y="1965960"/>
            <a:ext cx="1779971" cy="1874520"/>
          </a:xfrm>
          <a:prstGeom prst="roundRect">
            <a:avLst>
              <a:gd name="adj" fmla="val 4110"/>
            </a:avLst>
          </a:prstGeom>
          <a:solidFill>
            <a:srgbClr val="FFFFFF"/>
          </a:solidFill>
          <a:ln w="12700">
            <a:solidFill>
              <a:srgbClr val="CBD5E1"/>
            </a:solidFill>
            <a:prstDash val="solid"/>
          </a:ln>
        </p:spPr>
      </p:sp>
      <p:sp>
        <p:nvSpPr>
          <p:cNvPr id="22" name="Shape 19"/>
          <p:cNvSpPr/>
          <p:nvPr/>
        </p:nvSpPr>
        <p:spPr>
          <a:xfrm>
            <a:off x="7488753" y="1965960"/>
            <a:ext cx="1779971" cy="329184"/>
          </a:xfrm>
          <a:prstGeom prst="roundRect">
            <a:avLst>
              <a:gd name="adj" fmla="val 22222"/>
            </a:avLst>
          </a:prstGeom>
          <a:solidFill>
            <a:srgbClr val="8064A2"/>
          </a:solidFill>
          <a:ln w="12700">
            <a:solidFill>
              <a:srgbClr val="8064A2"/>
            </a:solidFill>
            <a:prstDash val="solid"/>
          </a:ln>
        </p:spPr>
      </p:sp>
      <p:sp>
        <p:nvSpPr>
          <p:cNvPr id="23" name="Text 20"/>
          <p:cNvSpPr txBox="1"/>
          <p:nvPr/>
        </p:nvSpPr>
        <p:spPr>
          <a:xfrm>
            <a:off x="7580193"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RESCAN</a:t>
            </a:r>
            <a:endParaRPr lang="en-US" sz="1150" dirty="0"/>
          </a:p>
        </p:txBody>
      </p:sp>
      <p:sp>
        <p:nvSpPr>
          <p:cNvPr id="24" name="Text 21"/>
          <p:cNvSpPr txBox="1"/>
          <p:nvPr/>
        </p:nvSpPr>
        <p:spPr>
          <a:xfrm>
            <a:off x="7625913"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Compare the same rules</a:t>
            </a:r>
            <a:endParaRPr lang="en-US" sz="1400" dirty="0"/>
          </a:p>
        </p:txBody>
      </p:sp>
      <p:sp>
        <p:nvSpPr>
          <p:cNvPr id="25" name="Shape 22"/>
          <p:cNvSpPr/>
          <p:nvPr/>
        </p:nvSpPr>
        <p:spPr>
          <a:xfrm>
            <a:off x="9323588" y="2903220"/>
            <a:ext cx="393192" cy="0"/>
          </a:xfrm>
          <a:prstGeom prst="line">
            <a:avLst/>
          </a:prstGeom>
          <a:noFill/>
          <a:ln w="25400">
            <a:solidFill>
              <a:srgbClr val="94A3B8"/>
            </a:solidFill>
            <a:prstDash val="solid"/>
            <a:tailEnd type="triangle"/>
          </a:ln>
        </p:spPr>
      </p:sp>
      <p:sp>
        <p:nvSpPr>
          <p:cNvPr id="26" name="Shape 23"/>
          <p:cNvSpPr/>
          <p:nvPr/>
        </p:nvSpPr>
        <p:spPr>
          <a:xfrm>
            <a:off x="9771644" y="1965960"/>
            <a:ext cx="1779971" cy="1874520"/>
          </a:xfrm>
          <a:prstGeom prst="roundRect">
            <a:avLst>
              <a:gd name="adj" fmla="val 4110"/>
            </a:avLst>
          </a:prstGeom>
          <a:solidFill>
            <a:srgbClr val="FFFFFF"/>
          </a:solidFill>
          <a:ln w="12700">
            <a:solidFill>
              <a:srgbClr val="CBD5E1"/>
            </a:solidFill>
            <a:prstDash val="solid"/>
          </a:ln>
        </p:spPr>
      </p:sp>
      <p:sp>
        <p:nvSpPr>
          <p:cNvPr id="27" name="Shape 24"/>
          <p:cNvSpPr/>
          <p:nvPr/>
        </p:nvSpPr>
        <p:spPr>
          <a:xfrm>
            <a:off x="9771644" y="1965960"/>
            <a:ext cx="1779971" cy="329184"/>
          </a:xfrm>
          <a:prstGeom prst="roundRect">
            <a:avLst>
              <a:gd name="adj" fmla="val 22222"/>
            </a:avLst>
          </a:prstGeom>
          <a:solidFill>
            <a:srgbClr val="70AD47"/>
          </a:solidFill>
          <a:ln w="12700">
            <a:solidFill>
              <a:srgbClr val="70AD47"/>
            </a:solidFill>
            <a:prstDash val="solid"/>
          </a:ln>
        </p:spPr>
      </p:sp>
      <p:sp>
        <p:nvSpPr>
          <p:cNvPr id="28" name="Text 25"/>
          <p:cNvSpPr txBox="1"/>
          <p:nvPr/>
        </p:nvSpPr>
        <p:spPr>
          <a:xfrm>
            <a:off x="9863084" y="2020824"/>
            <a:ext cx="1597091"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DETECT</a:t>
            </a:r>
            <a:endParaRPr lang="en-US" sz="1150" dirty="0"/>
          </a:p>
        </p:txBody>
      </p:sp>
      <p:sp>
        <p:nvSpPr>
          <p:cNvPr id="29" name="Text 26"/>
          <p:cNvSpPr txBox="1"/>
          <p:nvPr/>
        </p:nvSpPr>
        <p:spPr>
          <a:xfrm>
            <a:off x="9908804" y="2450592"/>
            <a:ext cx="1505651"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AIDE simulated change</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REMEDIATION</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Every fix needs a rollback and proof</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junior admin should be able to repeat the runbook.</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Current</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Exact failing value or configuration</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Target</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Required setting and reason</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Change</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Commands, checks, and service impact</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Verify</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Live-state command plus expected output</a:t>
            </a:r>
            <a:endParaRPr lang="en-US" sz="1350" dirty="0"/>
          </a:p>
        </p:txBody>
      </p:sp>
      <p:sp>
        <p:nvSpPr>
          <p:cNvPr id="22" name="Shape 19"/>
          <p:cNvSpPr/>
          <p:nvPr/>
        </p:nvSpPr>
        <p:spPr>
          <a:xfrm>
            <a:off x="749808" y="4443984"/>
            <a:ext cx="2231136" cy="566928"/>
          </a:xfrm>
          <a:prstGeom prst="roundRect">
            <a:avLst>
              <a:gd name="adj" fmla="val 12903"/>
            </a:avLst>
          </a:prstGeom>
          <a:solidFill>
            <a:srgbClr val="70AD47"/>
          </a:solidFill>
          <a:ln w="12700">
            <a:solidFill>
              <a:srgbClr val="70AD47"/>
            </a:solidFill>
            <a:prstDash val="solid"/>
          </a:ln>
        </p:spPr>
      </p:sp>
      <p:sp>
        <p:nvSpPr>
          <p:cNvPr id="23" name="Text 20"/>
          <p:cNvSpPr txBox="1"/>
          <p:nvPr/>
        </p:nvSpPr>
        <p:spPr>
          <a:xfrm>
            <a:off x="841248" y="4507992"/>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Recover</a:t>
            </a:r>
            <a:endParaRPr lang="en-US" sz="1300" dirty="0"/>
          </a:p>
        </p:txBody>
      </p:sp>
      <p:sp>
        <p:nvSpPr>
          <p:cNvPr id="24" name="Shape 21"/>
          <p:cNvSpPr/>
          <p:nvPr/>
        </p:nvSpPr>
        <p:spPr>
          <a:xfrm>
            <a:off x="3182112" y="4443984"/>
            <a:ext cx="8247888" cy="566928"/>
          </a:xfrm>
          <a:prstGeom prst="roundRect">
            <a:avLst>
              <a:gd name="adj" fmla="val 12903"/>
            </a:avLst>
          </a:prstGeom>
          <a:solidFill>
            <a:srgbClr val="FFFFFF"/>
          </a:solidFill>
          <a:ln w="12700">
            <a:solidFill>
              <a:srgbClr val="CBD5E1"/>
            </a:solidFill>
            <a:prstDash val="solid"/>
          </a:ln>
        </p:spPr>
      </p:sp>
      <p:sp>
        <p:nvSpPr>
          <p:cNvPr id="25" name="Text 22"/>
          <p:cNvSpPr txBox="1"/>
          <p:nvPr/>
        </p:nvSpPr>
        <p:spPr>
          <a:xfrm>
            <a:off x="3328416" y="4507992"/>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Rollback and workflow test</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LIVE STATE</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Check what the service is using</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Validate syntax, reload, inspect effective state, and test access.</a:t>
            </a:r>
            <a:endParaRPr lang="en-US" sz="1300" dirty="0"/>
          </a:p>
        </p:txBody>
      </p:sp>
      <p:sp>
        <p:nvSpPr>
          <p:cNvPr id="6" name="Shape 3"/>
          <p:cNvSpPr/>
          <p:nvPr/>
        </p:nvSpPr>
        <p:spPr>
          <a:xfrm>
            <a:off x="960120" y="1828800"/>
            <a:ext cx="10149840" cy="2331720"/>
          </a:xfrm>
          <a:prstGeom prst="roundRect">
            <a:avLst>
              <a:gd name="adj" fmla="val 3137"/>
            </a:avLst>
          </a:prstGeom>
          <a:solidFill>
            <a:srgbClr val="16202C"/>
          </a:solidFill>
          <a:ln w="12700">
            <a:solidFill>
              <a:srgbClr val="16202C"/>
            </a:solidFill>
            <a:prstDash val="solid"/>
          </a:ln>
        </p:spPr>
      </p:sp>
      <p:sp>
        <p:nvSpPr>
          <p:cNvPr id="7" name="Shape 4"/>
          <p:cNvSpPr/>
          <p:nvPr/>
        </p:nvSpPr>
        <p:spPr>
          <a:xfrm>
            <a:off x="960120" y="1828800"/>
            <a:ext cx="91440" cy="2331720"/>
          </a:xfrm>
          <a:prstGeom prst="rect">
            <a:avLst>
              <a:gd name="adj" fmla="val 80000"/>
            </a:avLst>
          </a:prstGeom>
          <a:solidFill>
            <a:srgbClr val="4BACC6"/>
          </a:solidFill>
          <a:ln w="12700">
            <a:solidFill>
              <a:srgbClr val="4BACC6"/>
            </a:solidFill>
            <a:prstDash val="solid"/>
          </a:ln>
        </p:spPr>
      </p:sp>
      <p:sp>
        <p:nvSpPr>
          <p:cNvPr id="8" name="Text 5"/>
          <p:cNvSpPr txBox="1"/>
          <p:nvPr/>
        </p:nvSpPr>
        <p:spPr>
          <a:xfrm>
            <a:off x="1188720" y="1984248"/>
            <a:ext cx="9738360" cy="2057400"/>
          </a:xfrm>
          <a:prstGeom prst="rect">
            <a:avLst/>
          </a:prstGeom>
          <a:noFill/>
          <a:ln/>
        </p:spPr>
        <p:txBody>
          <a:bodyPr wrap="square" lIns="508" tIns="508" rIns="508" bIns="508" rtlCol="0" anchor="t">
            <a:normAutofit/>
          </a:bodyPr>
          <a:lstStyle/>
          <a:p>
            <a:pPr algn="l" indent="0" marL="0">
              <a:buNone/>
            </a:pPr>
            <a:r>
              <a:rPr lang="en-US" sz="1600" dirty="0">
                <a:solidFill>
                  <a:srgbClr val="E8F0F7"/>
                </a:solidFill>
                <a:latin typeface="Courier New" pitchFamily="34" charset="0"/>
                <a:ea typeface="Courier New" pitchFamily="34" charset="-122"/>
                <a:cs typeface="Courier New" pitchFamily="34" charset="-120"/>
              </a:rPr>
              <a:t>sudo sshd -t</a:t>
            </a:r>
            <a:endParaRPr lang="en-US" sz="1600" dirty="0"/>
          </a:p>
          <a:p>
            <a:pPr algn="l" indent="0" marL="0">
              <a:buNone/>
            </a:pPr>
            <a:r>
              <a:rPr lang="en-US" sz="1600" dirty="0">
                <a:solidFill>
                  <a:srgbClr val="E8F0F7"/>
                </a:solidFill>
                <a:latin typeface="Courier New" pitchFamily="34" charset="0"/>
                <a:ea typeface="Courier New" pitchFamily="34" charset="-122"/>
                <a:cs typeface="Courier New" pitchFamily="34" charset="-120"/>
              </a:rPr>
              <a:t>sudo systemctl reload sshd</a:t>
            </a:r>
            <a:endParaRPr lang="en-US" sz="1600" dirty="0"/>
          </a:p>
          <a:p>
            <a:pPr algn="l" indent="0" marL="0">
              <a:buNone/>
            </a:pPr>
            <a:r>
              <a:rPr lang="en-US" sz="1600" dirty="0">
                <a:solidFill>
                  <a:srgbClr val="E8F0F7"/>
                </a:solidFill>
                <a:latin typeface="Courier New" pitchFamily="34" charset="0"/>
                <a:ea typeface="Courier New" pitchFamily="34" charset="-122"/>
                <a:cs typeface="Courier New" pitchFamily="34" charset="-120"/>
              </a:rPr>
              <a:t>sudo sshd -T | grep -i maxauthtries</a:t>
            </a:r>
            <a:endParaRPr lang="en-US" sz="1600" dirty="0"/>
          </a:p>
          <a:p>
            <a:pPr algn="l" indent="0" marL="0">
              <a:buNone/>
            </a:pPr>
            <a:r>
              <a:rPr lang="en-US" sz="1600" dirty="0">
                <a:solidFill>
                  <a:srgbClr val="E8F0F7"/>
                </a:solidFill>
                <a:latin typeface="Courier New" pitchFamily="34" charset="0"/>
                <a:ea typeface="Courier New" pitchFamily="34" charset="-122"/>
                <a:cs typeface="Courier New" pitchFamily="34" charset="-120"/>
              </a:rPr>
              <a:t># Then confirm a second SSH session can log in</a:t>
            </a:r>
            <a:endParaRPr lang="en-US" sz="1600" dirty="0"/>
          </a:p>
        </p:txBody>
      </p:sp>
      <p:sp>
        <p:nvSpPr>
          <p:cNvPr id="9" name="Shape 6"/>
          <p:cNvSpPr/>
          <p:nvPr/>
        </p:nvSpPr>
        <p:spPr>
          <a:xfrm>
            <a:off x="960120" y="4736592"/>
            <a:ext cx="10195560" cy="758952"/>
          </a:xfrm>
          <a:prstGeom prst="roundRect">
            <a:avLst>
              <a:gd name="adj" fmla="val 9639"/>
            </a:avLst>
          </a:prstGeom>
          <a:solidFill>
            <a:srgbClr val="FFFFFF"/>
          </a:solidFill>
          <a:ln w="12700">
            <a:solidFill>
              <a:srgbClr val="C0504D"/>
            </a:solidFill>
            <a:prstDash val="solid"/>
          </a:ln>
        </p:spPr>
      </p:sp>
      <p:sp>
        <p:nvSpPr>
          <p:cNvPr id="10" name="Shape 7"/>
          <p:cNvSpPr/>
          <p:nvPr/>
        </p:nvSpPr>
        <p:spPr>
          <a:xfrm>
            <a:off x="960120" y="4736592"/>
            <a:ext cx="91440" cy="758952"/>
          </a:xfrm>
          <a:prstGeom prst="rect">
            <a:avLst>
              <a:gd name="adj" fmla="val 80000"/>
            </a:avLst>
          </a:prstGeom>
          <a:solidFill>
            <a:srgbClr val="C0504D"/>
          </a:solidFill>
          <a:ln w="12700">
            <a:solidFill>
              <a:srgbClr val="C0504D"/>
            </a:solidFill>
            <a:prstDash val="solid"/>
          </a:ln>
        </p:spPr>
      </p:sp>
      <p:sp>
        <p:nvSpPr>
          <p:cNvPr id="11" name="Text 8"/>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C0504D"/>
                </a:solidFill>
                <a:latin typeface="Calibri" pitchFamily="34" charset="0"/>
                <a:ea typeface="Calibri" pitchFamily="34" charset="-122"/>
                <a:cs typeface="Calibri" pitchFamily="34" charset="-120"/>
              </a:rPr>
              <a:t>Safety gate</a:t>
            </a:r>
            <a:endParaRPr lang="en-US" sz="1320" dirty="0"/>
          </a:p>
        </p:txBody>
      </p:sp>
      <p:sp>
        <p:nvSpPr>
          <p:cNvPr id="12" name="Text 9"/>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Keep the first session open until the second login succeeds.</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FIM</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AIDE compares live files to a trusted baseline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Tripwire is another FIM tool; the lab uses AIDE to detect later changes.</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BASELINE</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Initialize after approved changes</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3493694" y="1965960"/>
            <a:ext cx="2350694" cy="329184"/>
          </a:xfrm>
          <a:prstGeom prst="roundRect">
            <a:avLst>
              <a:gd name="adj" fmla="val 22222"/>
            </a:avLst>
          </a:prstGeom>
          <a:solidFill>
            <a:srgbClr val="F79646"/>
          </a:solidFill>
          <a:ln w="12700">
            <a:solidFill>
              <a:srgbClr val="F79646"/>
            </a:solidFill>
            <a:prstDash val="solid"/>
          </a:ln>
        </p:spPr>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CHANGE</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Simulated unauthorized file</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6347308" y="1965960"/>
            <a:ext cx="2350694" cy="329184"/>
          </a:xfrm>
          <a:prstGeom prst="roundRect">
            <a:avLst>
              <a:gd name="adj" fmla="val 22222"/>
            </a:avLst>
          </a:prstGeom>
          <a:solidFill>
            <a:srgbClr val="C0504D"/>
          </a:solidFill>
          <a:ln w="12700">
            <a:solidFill>
              <a:srgbClr val="C0504D"/>
            </a:solidFill>
            <a:prstDash val="solid"/>
          </a:ln>
        </p:spPr>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CHECK</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AIDE reports added / changed</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sp>
      <p:sp>
        <p:nvSpPr>
          <p:cNvPr id="22" name="Shape 19"/>
          <p:cNvSpPr/>
          <p:nvPr/>
        </p:nvSpPr>
        <p:spPr>
          <a:xfrm>
            <a:off x="9200921" y="1965960"/>
            <a:ext cx="2350694" cy="329184"/>
          </a:xfrm>
          <a:prstGeom prst="roundRect">
            <a:avLst>
              <a:gd name="adj" fmla="val 22222"/>
            </a:avLst>
          </a:prstGeom>
          <a:solidFill>
            <a:srgbClr val="70AD47"/>
          </a:solidFill>
          <a:ln w="12700">
            <a:solidFill>
              <a:srgbClr val="70AD47"/>
            </a:solidFill>
            <a:prstDash val="solid"/>
          </a:ln>
        </p:spPr>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CLEAN UP</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Remove file; inspect residual alerts</a:t>
            </a:r>
            <a:endParaRPr lang="en-US" sz="1400" dirty="0"/>
          </a:p>
        </p:txBody>
      </p:sp>
      <p:sp>
        <p:nvSpPr>
          <p:cNvPr id="25" name="Shape 22"/>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26" name="Shape 23"/>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7" name="Text 24"/>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Lab evidence</a:t>
            </a:r>
            <a:endParaRPr lang="en-US" sz="1320" dirty="0"/>
          </a:p>
        </p:txBody>
      </p:sp>
      <p:sp>
        <p:nvSpPr>
          <p:cNvPr id="28" name="Text 25"/>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Capture the check that detects the simulated SUID binary.</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CYBER DISCUSSION</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 compliance result does not decide the change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critical production service fails one hardening rule after a planned upgrade.</a:t>
            </a:r>
            <a:endParaRPr lang="en-US" sz="1300" dirty="0"/>
          </a:p>
        </p:txBody>
      </p:sp>
      <p:sp>
        <p:nvSpPr>
          <p:cNvPr id="6" name="Text 3"/>
          <p:cNvSpPr txBox="1"/>
          <p:nvPr/>
        </p:nvSpPr>
        <p:spPr>
          <a:xfrm>
            <a:off x="822960" y="1746504"/>
            <a:ext cx="10561320" cy="658368"/>
          </a:xfrm>
          <a:prstGeom prst="rect">
            <a:avLst/>
          </a:prstGeom>
          <a:noFill/>
          <a:ln/>
        </p:spPr>
        <p:txBody>
          <a:bodyPr wrap="square" lIns="508" tIns="508" rIns="508" bIns="508" rtlCol="0" anchor="ctr">
            <a:normAutofit/>
          </a:bodyPr>
          <a:lstStyle/>
          <a:p>
            <a:pPr algn="ctr" indent="0" marL="0">
              <a:buNone/>
            </a:pPr>
            <a:r>
              <a:rPr lang="en-US" sz="2000" b="1" dirty="0">
                <a:solidFill>
                  <a:srgbClr val="1F497D"/>
                </a:solidFill>
                <a:latin typeface="Calibri" pitchFamily="34" charset="0"/>
                <a:ea typeface="Calibri" pitchFamily="34" charset="-122"/>
                <a:cs typeface="Calibri" pitchFamily="34" charset="-120"/>
              </a:rPr>
              <a:t>The fix could interrupt authentication. What do you do before accepting or applying it?</a:t>
            </a:r>
            <a:endParaRPr lang="en-US" sz="2000" dirty="0"/>
          </a:p>
        </p:txBody>
      </p:sp>
      <p:sp>
        <p:nvSpPr>
          <p:cNvPr id="7" name="Shape 4"/>
          <p:cNvSpPr/>
          <p:nvPr/>
        </p:nvSpPr>
        <p:spPr>
          <a:xfrm>
            <a:off x="914400" y="2606040"/>
            <a:ext cx="10378440" cy="475488"/>
          </a:xfrm>
          <a:prstGeom prst="roundRect">
            <a:avLst>
              <a:gd name="adj" fmla="val 15385"/>
            </a:avLst>
          </a:prstGeom>
          <a:solidFill>
            <a:srgbClr val="FFFFFF"/>
          </a:solidFill>
          <a:ln w="12700">
            <a:solidFill>
              <a:srgbClr val="CBD5E1"/>
            </a:solidFill>
            <a:prstDash val="solid"/>
          </a:ln>
        </p:spPr>
      </p:sp>
      <p:sp>
        <p:nvSpPr>
          <p:cNvPr id="8" name="Shape 5"/>
          <p:cNvSpPr/>
          <p:nvPr/>
        </p:nvSpPr>
        <p:spPr>
          <a:xfrm>
            <a:off x="1078992" y="2734056"/>
            <a:ext cx="210312" cy="210312"/>
          </a:xfrm>
          <a:prstGeom prst="ellipse">
            <a:avLst/>
          </a:prstGeom>
          <a:solidFill>
            <a:srgbClr val="4BACC6"/>
          </a:solidFill>
          <a:ln w="12700">
            <a:solidFill>
              <a:srgbClr val="4BACC6"/>
            </a:solidFill>
            <a:prstDash val="solid"/>
          </a:ln>
        </p:spPr>
      </p:sp>
      <p:sp>
        <p:nvSpPr>
          <p:cNvPr id="9" name="Text 6"/>
          <p:cNvSpPr txBox="1"/>
          <p:nvPr/>
        </p:nvSpPr>
        <p:spPr>
          <a:xfrm>
            <a:off x="1481328" y="2679192"/>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What exact evidence would confirm applicability and exposure?</a:t>
            </a:r>
            <a:endParaRPr lang="en-US" sz="1500" dirty="0"/>
          </a:p>
        </p:txBody>
      </p:sp>
      <p:sp>
        <p:nvSpPr>
          <p:cNvPr id="10" name="Shape 7"/>
          <p:cNvSpPr/>
          <p:nvPr/>
        </p:nvSpPr>
        <p:spPr>
          <a:xfrm>
            <a:off x="914400" y="3218688"/>
            <a:ext cx="10378440" cy="475488"/>
          </a:xfrm>
          <a:prstGeom prst="roundRect">
            <a:avLst>
              <a:gd name="adj" fmla="val 15385"/>
            </a:avLst>
          </a:prstGeom>
          <a:solidFill>
            <a:srgbClr val="FFFFFF"/>
          </a:solidFill>
          <a:ln w="12700">
            <a:solidFill>
              <a:srgbClr val="CBD5E1"/>
            </a:solidFill>
            <a:prstDash val="solid"/>
          </a:ln>
        </p:spPr>
      </p:sp>
      <p:sp>
        <p:nvSpPr>
          <p:cNvPr id="11" name="Shape 8"/>
          <p:cNvSpPr/>
          <p:nvPr/>
        </p:nvSpPr>
        <p:spPr>
          <a:xfrm>
            <a:off x="1078992" y="3346704"/>
            <a:ext cx="210312" cy="210312"/>
          </a:xfrm>
          <a:prstGeom prst="ellipse">
            <a:avLst/>
          </a:prstGeom>
          <a:solidFill>
            <a:srgbClr val="F79646"/>
          </a:solidFill>
          <a:ln w="12700">
            <a:solidFill>
              <a:srgbClr val="F79646"/>
            </a:solidFill>
            <a:prstDash val="solid"/>
          </a:ln>
        </p:spPr>
      </p:sp>
      <p:sp>
        <p:nvSpPr>
          <p:cNvPr id="12" name="Text 9"/>
          <p:cNvSpPr txBox="1"/>
          <p:nvPr/>
        </p:nvSpPr>
        <p:spPr>
          <a:xfrm>
            <a:off x="1481328" y="3291840"/>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How would you test the fix and a rollback?</a:t>
            </a:r>
            <a:endParaRPr lang="en-US" sz="1500" dirty="0"/>
          </a:p>
        </p:txBody>
      </p:sp>
      <p:sp>
        <p:nvSpPr>
          <p:cNvPr id="13" name="Shape 10"/>
          <p:cNvSpPr/>
          <p:nvPr/>
        </p:nvSpPr>
        <p:spPr>
          <a:xfrm>
            <a:off x="914400" y="3831336"/>
            <a:ext cx="10378440" cy="475488"/>
          </a:xfrm>
          <a:prstGeom prst="roundRect">
            <a:avLst>
              <a:gd name="adj" fmla="val 15385"/>
            </a:avLst>
          </a:prstGeom>
          <a:solidFill>
            <a:srgbClr val="FFFFFF"/>
          </a:solidFill>
          <a:ln w="12700">
            <a:solidFill>
              <a:srgbClr val="CBD5E1"/>
            </a:solidFill>
            <a:prstDash val="solid"/>
          </a:ln>
        </p:spPr>
      </p:sp>
      <p:sp>
        <p:nvSpPr>
          <p:cNvPr id="14" name="Shape 11"/>
          <p:cNvSpPr/>
          <p:nvPr/>
        </p:nvSpPr>
        <p:spPr>
          <a:xfrm>
            <a:off x="1078992" y="3959352"/>
            <a:ext cx="210312" cy="210312"/>
          </a:xfrm>
          <a:prstGeom prst="ellipse">
            <a:avLst/>
          </a:prstGeom>
          <a:solidFill>
            <a:srgbClr val="8064A2"/>
          </a:solidFill>
          <a:ln w="12700">
            <a:solidFill>
              <a:srgbClr val="8064A2"/>
            </a:solidFill>
            <a:prstDash val="solid"/>
          </a:ln>
        </p:spPr>
      </p:sp>
      <p:sp>
        <p:nvSpPr>
          <p:cNvPr id="15" name="Text 12"/>
          <p:cNvSpPr txBox="1"/>
          <p:nvPr/>
        </p:nvSpPr>
        <p:spPr>
          <a:xfrm>
            <a:off x="1481328" y="3904488"/>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Who owns a bounded exception if the fix cannot ship now?</a:t>
            </a:r>
            <a:endParaRPr lang="en-US" sz="1500" dirty="0"/>
          </a:p>
        </p:txBody>
      </p:sp>
      <p:sp>
        <p:nvSpPr>
          <p:cNvPr id="16" name="Shape 13"/>
          <p:cNvSpPr/>
          <p:nvPr/>
        </p:nvSpPr>
        <p:spPr>
          <a:xfrm>
            <a:off x="4270248" y="5120640"/>
            <a:ext cx="3657600" cy="292608"/>
          </a:xfrm>
          <a:prstGeom prst="roundRect">
            <a:avLst>
              <a:gd name="adj" fmla="val 25000"/>
            </a:avLst>
          </a:prstGeom>
          <a:solidFill>
            <a:srgbClr val="F79646"/>
          </a:solidFill>
          <a:ln w="12700">
            <a:solidFill>
              <a:srgbClr val="F79646"/>
            </a:solidFill>
            <a:prstDash val="solid"/>
          </a:ln>
        </p:spPr>
      </p:sp>
      <p:sp>
        <p:nvSpPr>
          <p:cNvPr id="17" name="Text 14"/>
          <p:cNvSpPr txBox="1"/>
          <p:nvPr/>
        </p:nvSpPr>
        <p:spPr>
          <a:xfrm>
            <a:off x="4325112" y="5157216"/>
            <a:ext cx="3547872" cy="201168"/>
          </a:xfrm>
          <a:prstGeom prst="rect">
            <a:avLst/>
          </a:prstGeom>
          <a:noFill/>
          <a:ln/>
        </p:spPr>
        <p:txBody>
          <a:bodyPr wrap="square" lIns="508" tIns="508" rIns="508" bIns="508"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GROUP DISCUSSION</a:t>
            </a:r>
            <a:endParaRPr lang="en-US" sz="10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DATA CENTER</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Facility design is a chain of failure paths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resilient server cannot outlast a failed common power, cooling, or access path.</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CAPACITY</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Can systems carry the required load?</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PATHS</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Can one path be removed safely?</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OPERATIONS</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Can staff detect and respond?</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Framing question</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Where does a single point of failure hide when a diagram shows duplicate components?</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TIER TOPOLOGY</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Uptime Tiers describe infrastructure behavior</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service SLA is a separate promise; Tier alone has no fixed availability percentage.</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 I</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Basic capacity; maintenance requires shutdown</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 II</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Redundant capacity components; distribution remains vulnerable</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 III</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Concurrently maintainable without affecting IT operation</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 IV</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Fault tolerant against one equipment or path interruption</a:t>
            </a:r>
            <a:endParaRPr lang="en-US" sz="1350" dirty="0"/>
          </a:p>
        </p:txBody>
      </p:sp>
      <p:sp>
        <p:nvSpPr>
          <p:cNvPr id="22" name="Shape 19"/>
          <p:cNvSpPr/>
          <p:nvPr/>
        </p:nvSpPr>
        <p:spPr>
          <a:xfrm>
            <a:off x="960120" y="4983480"/>
            <a:ext cx="10195560" cy="740664"/>
          </a:xfrm>
          <a:prstGeom prst="roundRect">
            <a:avLst>
              <a:gd name="adj" fmla="val 9877"/>
            </a:avLst>
          </a:prstGeom>
          <a:solidFill>
            <a:srgbClr val="FFFFFF"/>
          </a:solidFill>
          <a:ln w="12700">
            <a:solidFill>
              <a:srgbClr val="C0504D"/>
            </a:solidFill>
            <a:prstDash val="solid"/>
          </a:ln>
        </p:spPr>
      </p:sp>
      <p:sp>
        <p:nvSpPr>
          <p:cNvPr id="23" name="Shape 20"/>
          <p:cNvSpPr/>
          <p:nvPr/>
        </p:nvSpPr>
        <p:spPr>
          <a:xfrm>
            <a:off x="960120" y="4983480"/>
            <a:ext cx="91440" cy="740664"/>
          </a:xfrm>
          <a:prstGeom prst="rect">
            <a:avLst>
              <a:gd name="adj" fmla="val 80000"/>
            </a:avLst>
          </a:prstGeom>
          <a:solidFill>
            <a:srgbClr val="C0504D"/>
          </a:solidFill>
          <a:ln w="12700">
            <a:solidFill>
              <a:srgbClr val="C0504D"/>
            </a:solidFill>
            <a:prstDash val="solid"/>
          </a:ln>
        </p:spPr>
      </p:sp>
      <p:sp>
        <p:nvSpPr>
          <p:cNvPr id="24" name="Text 21"/>
          <p:cNvSpPr txBox="1"/>
          <p:nvPr/>
        </p:nvSpPr>
        <p:spPr>
          <a:xfrm>
            <a:off x="1188720" y="5065776"/>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C0504D"/>
                </a:solidFill>
                <a:latin typeface="Calibri" pitchFamily="34" charset="0"/>
                <a:ea typeface="Calibri" pitchFamily="34" charset="-122"/>
                <a:cs typeface="Calibri" pitchFamily="34" charset="-120"/>
              </a:rPr>
              <a:t>Precision</a:t>
            </a:r>
            <a:endParaRPr lang="en-US" sz="1320" dirty="0"/>
          </a:p>
        </p:txBody>
      </p:sp>
      <p:sp>
        <p:nvSpPr>
          <p:cNvPr id="25" name="Text 22"/>
          <p:cNvSpPr txBox="1"/>
          <p:nvPr/>
        </p:nvSpPr>
        <p:spPr>
          <a:xfrm>
            <a:off x="1188720" y="5330952"/>
            <a:ext cx="9784080" cy="338328"/>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A classroom assessment is not an Uptime Institute certification.</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MERIDIAN</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Meridian: inspect the whole site before naming a Tier</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The supplied survey describes a regional financial-services data center.</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C0504D"/>
          </a:solidFill>
          <a:ln w="12700">
            <a:solidFill>
              <a:srgbClr val="C0504D"/>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POWER</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2 × 80 kVA UPS; one 200 kW generator; single-cord servers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BACC6"/>
          </a:solidFill>
          <a:ln w="12700">
            <a:solidFill>
              <a:srgbClr val="4BACC6"/>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COOLING</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6 × 30-ton CRAC; partial cold-aisle containment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4F81BD"/>
          </a:solidFill>
          <a:ln w="12700">
            <a:solidFill>
              <a:srgbClr val="4F81BD"/>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NETWORK</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One ISP and one edge firewall; two core switches</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Task</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Which component count looks redundant until you trace its distribution path?</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FAILURE DOMAINS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Redundancy must survive a component or path outage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Trace supply through conversion, distribution, and the server power cord.</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2350694" cy="329184"/>
          </a:xfrm>
          <a:prstGeom prst="roundRect">
            <a:avLst>
              <a:gd name="adj" fmla="val 22222"/>
            </a:avLst>
          </a:prstGeom>
          <a:solidFill>
            <a:srgbClr val="C0504D"/>
          </a:solidFill>
          <a:ln w="12700">
            <a:solidFill>
              <a:srgbClr val="C0504D"/>
            </a:solidFill>
            <a:prstDash val="solid"/>
          </a:ln>
        </p:spPr>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UTILITY</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Single feed</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3493694" y="1965960"/>
            <a:ext cx="2350694" cy="329184"/>
          </a:xfrm>
          <a:prstGeom prst="roundRect">
            <a:avLst>
              <a:gd name="adj" fmla="val 22222"/>
            </a:avLst>
          </a:prstGeom>
          <a:solidFill>
            <a:srgbClr val="4BACC6"/>
          </a:solidFill>
          <a:ln w="12700">
            <a:solidFill>
              <a:srgbClr val="4BACC6"/>
            </a:solidFill>
            <a:prstDash val="solid"/>
          </a:ln>
        </p:spPr>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UPS</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Two modules</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6347308" y="1965960"/>
            <a:ext cx="2350694" cy="329184"/>
          </a:xfrm>
          <a:prstGeom prst="roundRect">
            <a:avLst>
              <a:gd name="adj" fmla="val 22222"/>
            </a:avLst>
          </a:prstGeom>
          <a:solidFill>
            <a:srgbClr val="4F81BD"/>
          </a:solidFill>
          <a:ln w="12700">
            <a:solidFill>
              <a:srgbClr val="4F81BD"/>
            </a:solidFill>
            <a:prstDash val="solid"/>
          </a:ln>
        </p:spPr>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PDU</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A/B distribution</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sp>
      <p:sp>
        <p:nvSpPr>
          <p:cNvPr id="22" name="Shape 19"/>
          <p:cNvSpPr/>
          <p:nvPr/>
        </p:nvSpPr>
        <p:spPr>
          <a:xfrm>
            <a:off x="9200921" y="1965960"/>
            <a:ext cx="2350694" cy="329184"/>
          </a:xfrm>
          <a:prstGeom prst="roundRect">
            <a:avLst>
              <a:gd name="adj" fmla="val 22222"/>
            </a:avLst>
          </a:prstGeom>
          <a:solidFill>
            <a:srgbClr val="F79646"/>
          </a:solidFill>
          <a:ln w="12700">
            <a:solidFill>
              <a:srgbClr val="F79646"/>
            </a:solidFill>
            <a:prstDash val="solid"/>
          </a:ln>
        </p:spPr>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SERVER</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Single-corded load</a:t>
            </a:r>
            <a:endParaRPr lang="en-US" sz="1400" dirty="0"/>
          </a:p>
        </p:txBody>
      </p:sp>
      <p:sp>
        <p:nvSpPr>
          <p:cNvPr id="25" name="Shape 22"/>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26" name="Shape 23"/>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7" name="Text 24"/>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Discussion</a:t>
            </a:r>
            <a:endParaRPr lang="en-US" sz="1320" dirty="0"/>
          </a:p>
        </p:txBody>
      </p:sp>
      <p:sp>
        <p:nvSpPr>
          <p:cNvPr id="28" name="Text 25"/>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If one PDU is removed for maintenance, which servers remain powered?</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UPS CAPACITY</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UPS nameplate capacity must be converted to load</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Compare standby, line-interactive, and double-conversion UPS designs.</a:t>
            </a:r>
            <a:endParaRPr lang="en-US" sz="1300" dirty="0"/>
          </a:p>
        </p:txBody>
      </p:sp>
      <p:sp>
        <p:nvSpPr>
          <p:cNvPr id="6" name="Shape 3"/>
          <p:cNvSpPr/>
          <p:nvPr/>
        </p:nvSpPr>
        <p:spPr>
          <a:xfrm>
            <a:off x="960120" y="1828800"/>
            <a:ext cx="10149840" cy="2468880"/>
          </a:xfrm>
          <a:prstGeom prst="roundRect">
            <a:avLst>
              <a:gd name="adj" fmla="val 2963"/>
            </a:avLst>
          </a:prstGeom>
          <a:solidFill>
            <a:srgbClr val="16202C"/>
          </a:solidFill>
          <a:ln w="12700">
            <a:solidFill>
              <a:srgbClr val="16202C"/>
            </a:solidFill>
            <a:prstDash val="solid"/>
          </a:ln>
        </p:spPr>
      </p:sp>
      <p:sp>
        <p:nvSpPr>
          <p:cNvPr id="7" name="Shape 4"/>
          <p:cNvSpPr/>
          <p:nvPr/>
        </p:nvSpPr>
        <p:spPr>
          <a:xfrm>
            <a:off x="960120" y="1828800"/>
            <a:ext cx="91440" cy="2468880"/>
          </a:xfrm>
          <a:prstGeom prst="rect">
            <a:avLst>
              <a:gd name="adj" fmla="val 80000"/>
            </a:avLst>
          </a:prstGeom>
          <a:solidFill>
            <a:srgbClr val="4BACC6"/>
          </a:solidFill>
          <a:ln w="12700">
            <a:solidFill>
              <a:srgbClr val="4BACC6"/>
            </a:solidFill>
            <a:prstDash val="solid"/>
          </a:ln>
        </p:spPr>
      </p:sp>
      <p:sp>
        <p:nvSpPr>
          <p:cNvPr id="8" name="Text 5"/>
          <p:cNvSpPr txBox="1"/>
          <p:nvPr/>
        </p:nvSpPr>
        <p:spPr>
          <a:xfrm>
            <a:off x="1188720" y="1984248"/>
            <a:ext cx="9738360" cy="2194560"/>
          </a:xfrm>
          <a:prstGeom prst="rect">
            <a:avLst/>
          </a:prstGeom>
          <a:noFill/>
          <a:ln/>
        </p:spPr>
        <p:txBody>
          <a:bodyPr wrap="square" lIns="508" tIns="508" rIns="508" bIns="508" rtlCol="0" anchor="t">
            <a:normAutofit/>
          </a:bodyPr>
          <a:lstStyle/>
          <a:p>
            <a:pPr algn="l" indent="0" marL="0">
              <a:buNone/>
            </a:pPr>
            <a:r>
              <a:rPr lang="en-US" sz="1650" dirty="0">
                <a:solidFill>
                  <a:srgbClr val="E8F0F7"/>
                </a:solidFill>
                <a:latin typeface="Courier New" pitchFamily="34" charset="0"/>
                <a:ea typeface="Courier New" pitchFamily="34" charset="-122"/>
                <a:cs typeface="Courier New" pitchFamily="34" charset="-120"/>
              </a:rPr>
              <a:t>Meridian: 2 × 80 kVA at 0.9 power factor</a:t>
            </a:r>
            <a:endParaRPr lang="en-US" sz="1650" dirty="0"/>
          </a:p>
          <a:p>
            <a:pPr algn="l" indent="0" marL="0">
              <a:buNone/>
            </a:pPr>
            <a:r>
              <a:rPr lang="en-US" sz="1650" dirty="0">
                <a:solidFill>
                  <a:srgbClr val="E8F0F7"/>
                </a:solidFill>
                <a:latin typeface="Courier New" pitchFamily="34" charset="0"/>
                <a:ea typeface="Courier New" pitchFamily="34" charset="-122"/>
                <a:cs typeface="Courier New" pitchFamily="34" charset="-120"/>
              </a:rPr>
              <a:t>IT load: 180 kW</a:t>
            </a:r>
            <a:endParaRPr lang="en-US" sz="1650" dirty="0"/>
          </a:p>
          <a:p>
            <a:pPr algn="l" indent="0" marL="0">
              <a:buNone/>
            </a:pPr>
            <a:endParaRPr lang="en-US" sz="1650" dirty="0"/>
          </a:p>
          <a:p>
            <a:pPr algn="l" indent="0" marL="0">
              <a:buNone/>
            </a:pPr>
            <a:r>
              <a:rPr lang="en-US" sz="1650" dirty="0">
                <a:solidFill>
                  <a:srgbClr val="E8F0F7"/>
                </a:solidFill>
                <a:latin typeface="Courier New" pitchFamily="34" charset="0"/>
                <a:ea typeface="Courier New" pitchFamily="34" charset="-122"/>
                <a:cs typeface="Courier New" pitchFamily="34" charset="-120"/>
              </a:rPr>
              <a:t>What is combined UPS capacity?</a:t>
            </a:r>
            <a:endParaRPr lang="en-US" sz="1650" dirty="0"/>
          </a:p>
          <a:p>
            <a:pPr algn="l" indent="0" marL="0">
              <a:buNone/>
            </a:pPr>
            <a:r>
              <a:rPr lang="en-US" sz="1650" dirty="0">
                <a:solidFill>
                  <a:srgbClr val="E8F0F7"/>
                </a:solidFill>
                <a:latin typeface="Courier New" pitchFamily="34" charset="0"/>
                <a:ea typeface="Courier New" pitchFamily="34" charset="-122"/>
                <a:cs typeface="Courier New" pitchFamily="34" charset="-120"/>
              </a:rPr>
              <a:t>What remains after one UPS fails?</a:t>
            </a:r>
            <a:endParaRPr lang="en-US" sz="1650" dirty="0"/>
          </a:p>
          <a:p>
            <a:pPr algn="l" indent="0" marL="0">
              <a:buNone/>
            </a:pPr>
            <a:r>
              <a:rPr lang="en-US" sz="1650" dirty="0">
                <a:solidFill>
                  <a:srgbClr val="E8F0F7"/>
                </a:solidFill>
                <a:latin typeface="Courier New" pitchFamily="34" charset="0"/>
                <a:ea typeface="Courier New" pitchFamily="34" charset="-122"/>
                <a:cs typeface="Courier New" pitchFamily="34" charset="-120"/>
              </a:rPr>
              <a:t>What can each carry at 80% loading?</a:t>
            </a:r>
            <a:endParaRPr lang="en-US" sz="1650" dirty="0"/>
          </a:p>
        </p:txBody>
      </p:sp>
      <p:sp>
        <p:nvSpPr>
          <p:cNvPr id="9" name="Shape 6"/>
          <p:cNvSpPr/>
          <p:nvPr/>
        </p:nvSpPr>
        <p:spPr>
          <a:xfrm>
            <a:off x="960120" y="4736592"/>
            <a:ext cx="10195560" cy="758952"/>
          </a:xfrm>
          <a:prstGeom prst="roundRect">
            <a:avLst>
              <a:gd name="adj" fmla="val 9639"/>
            </a:avLst>
          </a:prstGeom>
          <a:solidFill>
            <a:srgbClr val="FFFFFF"/>
          </a:solidFill>
          <a:ln w="12700">
            <a:solidFill>
              <a:srgbClr val="F79646"/>
            </a:solidFill>
            <a:prstDash val="solid"/>
          </a:ln>
        </p:spPr>
      </p:sp>
      <p:sp>
        <p:nvSpPr>
          <p:cNvPr id="10" name="Shape 7"/>
          <p:cNvSpPr/>
          <p:nvPr/>
        </p:nvSpPr>
        <p:spPr>
          <a:xfrm>
            <a:off x="960120" y="4736592"/>
            <a:ext cx="91440" cy="758952"/>
          </a:xfrm>
          <a:prstGeom prst="rect">
            <a:avLst>
              <a:gd name="adj" fmla="val 80000"/>
            </a:avLst>
          </a:prstGeom>
          <a:solidFill>
            <a:srgbClr val="F79646"/>
          </a:solidFill>
          <a:ln w="12700">
            <a:solidFill>
              <a:srgbClr val="F79646"/>
            </a:solidFill>
            <a:prstDash val="solid"/>
          </a:ln>
        </p:spPr>
      </p:sp>
      <p:sp>
        <p:nvSpPr>
          <p:cNvPr id="11" name="Text 8"/>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F79646"/>
                </a:solidFill>
                <a:latin typeface="Calibri" pitchFamily="34" charset="0"/>
                <a:ea typeface="Calibri" pitchFamily="34" charset="-122"/>
                <a:cs typeface="Calibri" pitchFamily="34" charset="-120"/>
              </a:rPr>
              <a:t>Pair calculation</a:t>
            </a:r>
            <a:endParaRPr lang="en-US" sz="1320" dirty="0"/>
          </a:p>
        </p:txBody>
      </p:sp>
      <p:sp>
        <p:nvSpPr>
          <p:cNvPr id="12" name="Text 9"/>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State the deficit or margin for normal and one-unit-down operation.</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POWER PATHS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A/B distribution needs dual-powered loads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Duplicate PDUs do little for a server attached to one cord.</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 FEED</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One power path</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 FEED</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Independent alternate path</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LOAD</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Dual PSUs or transfer design needed</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Question</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What else would you inspect before declaring the paths independent?</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GENERATOR</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Backup runtime starts with a feasible load</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Meridian’s 200 kW generator faces a measured 306 kW facility draw.</a:t>
            </a:r>
            <a:endParaRPr lang="en-US" sz="1300" dirty="0"/>
          </a:p>
        </p:txBody>
      </p:sp>
      <p:sp>
        <p:nvSpPr>
          <p:cNvPr id="6" name="Shape 3"/>
          <p:cNvSpPr/>
          <p:nvPr/>
        </p:nvSpPr>
        <p:spPr>
          <a:xfrm>
            <a:off x="960120" y="1828800"/>
            <a:ext cx="10149840" cy="2377440"/>
          </a:xfrm>
          <a:prstGeom prst="roundRect">
            <a:avLst>
              <a:gd name="adj" fmla="val 3077"/>
            </a:avLst>
          </a:prstGeom>
          <a:solidFill>
            <a:srgbClr val="16202C"/>
          </a:solidFill>
          <a:ln w="12700">
            <a:solidFill>
              <a:srgbClr val="16202C"/>
            </a:solidFill>
            <a:prstDash val="solid"/>
          </a:ln>
        </p:spPr>
      </p:sp>
      <p:sp>
        <p:nvSpPr>
          <p:cNvPr id="7" name="Shape 4"/>
          <p:cNvSpPr/>
          <p:nvPr/>
        </p:nvSpPr>
        <p:spPr>
          <a:xfrm>
            <a:off x="960120" y="1828800"/>
            <a:ext cx="91440" cy="2377440"/>
          </a:xfrm>
          <a:prstGeom prst="rect">
            <a:avLst>
              <a:gd name="adj" fmla="val 80000"/>
            </a:avLst>
          </a:prstGeom>
          <a:solidFill>
            <a:srgbClr val="4BACC6"/>
          </a:solidFill>
          <a:ln w="12700">
            <a:solidFill>
              <a:srgbClr val="4BACC6"/>
            </a:solidFill>
            <a:prstDash val="solid"/>
          </a:ln>
        </p:spPr>
      </p:sp>
      <p:sp>
        <p:nvSpPr>
          <p:cNvPr id="8" name="Text 5"/>
          <p:cNvSpPr txBox="1"/>
          <p:nvPr/>
        </p:nvSpPr>
        <p:spPr>
          <a:xfrm>
            <a:off x="1188720" y="1984248"/>
            <a:ext cx="9738360" cy="2103120"/>
          </a:xfrm>
          <a:prstGeom prst="rect">
            <a:avLst/>
          </a:prstGeom>
          <a:noFill/>
          <a:ln/>
        </p:spPr>
        <p:txBody>
          <a:bodyPr wrap="square" lIns="508" tIns="508" rIns="508" bIns="508" rtlCol="0" anchor="t">
            <a:normAutofit/>
          </a:bodyPr>
          <a:lstStyle/>
          <a:p>
            <a:pPr algn="l" indent="0" marL="0">
              <a:buNone/>
            </a:pPr>
            <a:r>
              <a:rPr lang="en-US" sz="1700" dirty="0">
                <a:solidFill>
                  <a:srgbClr val="E8F0F7"/>
                </a:solidFill>
                <a:latin typeface="Courier New" pitchFamily="34" charset="0"/>
                <a:ea typeface="Courier New" pitchFamily="34" charset="-122"/>
                <a:cs typeface="Courier New" pitchFamily="34" charset="-120"/>
              </a:rPr>
              <a:t>Facility draw: 306 kW</a:t>
            </a:r>
            <a:endParaRPr lang="en-US" sz="1700" dirty="0"/>
          </a:p>
          <a:p>
            <a:pPr algn="l" indent="0" marL="0">
              <a:buNone/>
            </a:pPr>
            <a:r>
              <a:rPr lang="en-US" sz="1700" dirty="0">
                <a:solidFill>
                  <a:srgbClr val="E8F0F7"/>
                </a:solidFill>
                <a:latin typeface="Courier New" pitchFamily="34" charset="0"/>
                <a:ea typeface="Courier New" pitchFamily="34" charset="-122"/>
                <a:cs typeface="Courier New" pitchFamily="34" charset="-120"/>
              </a:rPr>
              <a:t>Generator output: 200 kW</a:t>
            </a:r>
            <a:endParaRPr lang="en-US" sz="1700" dirty="0"/>
          </a:p>
          <a:p>
            <a:pPr algn="l" indent="0" marL="0">
              <a:buNone/>
            </a:pPr>
            <a:endParaRPr lang="en-US" sz="1700" dirty="0"/>
          </a:p>
          <a:p>
            <a:pPr algn="l" indent="0" marL="0">
              <a:buNone/>
            </a:pPr>
            <a:r>
              <a:rPr lang="en-US" sz="1700" dirty="0">
                <a:solidFill>
                  <a:srgbClr val="E8F0F7"/>
                </a:solidFill>
                <a:latin typeface="Courier New" pitchFamily="34" charset="0"/>
                <a:ea typeface="Courier New" pitchFamily="34" charset="-122"/>
                <a:cs typeface="Courier New" pitchFamily="34" charset="-120"/>
              </a:rPr>
              <a:t>Compute the shortfall.</a:t>
            </a:r>
            <a:endParaRPr lang="en-US" sz="1700" dirty="0"/>
          </a:p>
          <a:p>
            <a:pPr algn="l" indent="0" marL="0">
              <a:buNone/>
            </a:pPr>
            <a:r>
              <a:rPr lang="en-US" sz="1700" dirty="0">
                <a:solidFill>
                  <a:srgbClr val="E8F0F7"/>
                </a:solidFill>
                <a:latin typeface="Courier New" pitchFamily="34" charset="0"/>
                <a:ea typeface="Courier New" pitchFamily="34" charset="-122"/>
                <a:cs typeface="Courier New" pitchFamily="34" charset="-120"/>
              </a:rPr>
              <a:t>Which loads can be shed while protecting critical IT?</a:t>
            </a:r>
            <a:endParaRPr lang="en-US" sz="1700" dirty="0"/>
          </a:p>
        </p:txBody>
      </p:sp>
      <p:sp>
        <p:nvSpPr>
          <p:cNvPr id="9" name="Shape 6"/>
          <p:cNvSpPr/>
          <p:nvPr/>
        </p:nvSpPr>
        <p:spPr>
          <a:xfrm>
            <a:off x="960120" y="4736592"/>
            <a:ext cx="10195560" cy="758952"/>
          </a:xfrm>
          <a:prstGeom prst="roundRect">
            <a:avLst>
              <a:gd name="adj" fmla="val 9639"/>
            </a:avLst>
          </a:prstGeom>
          <a:solidFill>
            <a:srgbClr val="FFFFFF"/>
          </a:solidFill>
          <a:ln w="12700">
            <a:solidFill>
              <a:srgbClr val="F79646"/>
            </a:solidFill>
            <a:prstDash val="solid"/>
          </a:ln>
        </p:spPr>
      </p:sp>
      <p:sp>
        <p:nvSpPr>
          <p:cNvPr id="10" name="Shape 7"/>
          <p:cNvSpPr/>
          <p:nvPr/>
        </p:nvSpPr>
        <p:spPr>
          <a:xfrm>
            <a:off x="960120" y="4736592"/>
            <a:ext cx="91440" cy="758952"/>
          </a:xfrm>
          <a:prstGeom prst="rect">
            <a:avLst>
              <a:gd name="adj" fmla="val 80000"/>
            </a:avLst>
          </a:prstGeom>
          <a:solidFill>
            <a:srgbClr val="F79646"/>
          </a:solidFill>
          <a:ln w="12700">
            <a:solidFill>
              <a:srgbClr val="F79646"/>
            </a:solidFill>
            <a:prstDash val="solid"/>
          </a:ln>
        </p:spPr>
      </p:sp>
      <p:sp>
        <p:nvSpPr>
          <p:cNvPr id="11" name="Text 8"/>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F79646"/>
                </a:solidFill>
                <a:latin typeface="Calibri" pitchFamily="34" charset="0"/>
                <a:ea typeface="Calibri" pitchFamily="34" charset="-122"/>
                <a:cs typeface="Calibri" pitchFamily="34" charset="-120"/>
              </a:rPr>
              <a:t>Decision</a:t>
            </a:r>
            <a:endParaRPr lang="en-US" sz="1320" dirty="0"/>
          </a:p>
        </p:txBody>
      </p:sp>
      <p:sp>
        <p:nvSpPr>
          <p:cNvPr id="12" name="Text 9"/>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Write a five-item load-shedding order, then test the assumptions.</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REDUNDANCY</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N+1 and 2N+1 describe capacity, not a Tier by themselves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Design must also account for distribution paths and maintainability.</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Capacity needed for the critical load</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N+1</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One extra unit can fail or be maintained</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8064A2"/>
          </a:solidFill>
          <a:ln w="12700">
            <a:solidFill>
              <a:srgbClr val="8064A2"/>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2N+1</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Two full sets plus one spare unit</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Check</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Can every component be isolated without interrupting IT?</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COOLING</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Airflow design protects inlet conditions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Containment, sensors, and maintenance paths matter alongside CRAC count.</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CAPACITY</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Six CRAC units, five operating</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F79646"/>
          </a:solidFill>
          <a:ln w="12700">
            <a:solidFill>
              <a:srgbClr val="F79646"/>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AIRFLOW</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Rows 1–4 contained; rows 5–8 open</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4F81BD"/>
          </a:solidFill>
          <a:ln w="12700">
            <a:solidFill>
              <a:srgbClr val="4F81BD"/>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SENSING</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Measure inlet temperature and humidity</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Meridian prompt</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Where could a rack overheat even if the room average is acceptable?</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PUE</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PUE quantifies facility power overhead</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Use the measured 306 kW facility draw and 180 kW IT load.</a:t>
            </a:r>
            <a:endParaRPr lang="en-US" sz="1300" dirty="0"/>
          </a:p>
        </p:txBody>
      </p:sp>
      <p:sp>
        <p:nvSpPr>
          <p:cNvPr id="6" name="Shape 3"/>
          <p:cNvSpPr/>
          <p:nvPr/>
        </p:nvSpPr>
        <p:spPr>
          <a:xfrm>
            <a:off x="960120" y="1828800"/>
            <a:ext cx="10149840" cy="2423160"/>
          </a:xfrm>
          <a:prstGeom prst="roundRect">
            <a:avLst>
              <a:gd name="adj" fmla="val 3019"/>
            </a:avLst>
          </a:prstGeom>
          <a:solidFill>
            <a:srgbClr val="16202C"/>
          </a:solidFill>
          <a:ln w="12700">
            <a:solidFill>
              <a:srgbClr val="16202C"/>
            </a:solidFill>
            <a:prstDash val="solid"/>
          </a:ln>
        </p:spPr>
      </p:sp>
      <p:sp>
        <p:nvSpPr>
          <p:cNvPr id="7" name="Shape 4"/>
          <p:cNvSpPr/>
          <p:nvPr/>
        </p:nvSpPr>
        <p:spPr>
          <a:xfrm>
            <a:off x="960120" y="1828800"/>
            <a:ext cx="91440" cy="2423160"/>
          </a:xfrm>
          <a:prstGeom prst="rect">
            <a:avLst>
              <a:gd name="adj" fmla="val 80000"/>
            </a:avLst>
          </a:prstGeom>
          <a:solidFill>
            <a:srgbClr val="4BACC6"/>
          </a:solidFill>
          <a:ln w="12700">
            <a:solidFill>
              <a:srgbClr val="4BACC6"/>
            </a:solidFill>
            <a:prstDash val="solid"/>
          </a:ln>
        </p:spPr>
      </p:sp>
      <p:sp>
        <p:nvSpPr>
          <p:cNvPr id="8" name="Text 5"/>
          <p:cNvSpPr txBox="1"/>
          <p:nvPr/>
        </p:nvSpPr>
        <p:spPr>
          <a:xfrm>
            <a:off x="1188720" y="1984248"/>
            <a:ext cx="9738360" cy="2148840"/>
          </a:xfrm>
          <a:prstGeom prst="rect">
            <a:avLst/>
          </a:prstGeom>
          <a:noFill/>
          <a:ln/>
        </p:spPr>
        <p:txBody>
          <a:bodyPr wrap="square" lIns="508" tIns="508" rIns="508" bIns="508" rtlCol="0" anchor="t">
            <a:normAutofit/>
          </a:bodyPr>
          <a:lstStyle/>
          <a:p>
            <a:pPr algn="l" indent="0" marL="0">
              <a:buNone/>
            </a:pPr>
            <a:r>
              <a:rPr lang="en-US" sz="1620" dirty="0">
                <a:solidFill>
                  <a:srgbClr val="E8F0F7"/>
                </a:solidFill>
                <a:latin typeface="Courier New" pitchFamily="34" charset="0"/>
                <a:ea typeface="Courier New" pitchFamily="34" charset="-122"/>
                <a:cs typeface="Courier New" pitchFamily="34" charset="-120"/>
              </a:rPr>
              <a:t>PUE = total facility power / IT power</a:t>
            </a:r>
            <a:endParaRPr lang="en-US" sz="1620" dirty="0"/>
          </a:p>
          <a:p>
            <a:pPr algn="l" indent="0" marL="0">
              <a:buNone/>
            </a:pPr>
            <a:endParaRPr lang="en-US" sz="1620" dirty="0"/>
          </a:p>
          <a:p>
            <a:pPr algn="l" indent="0" marL="0">
              <a:buNone/>
            </a:pPr>
            <a:r>
              <a:rPr lang="en-US" sz="1620" dirty="0">
                <a:solidFill>
                  <a:srgbClr val="E8F0F7"/>
                </a:solidFill>
                <a:latin typeface="Courier New" pitchFamily="34" charset="0"/>
                <a:ea typeface="Courier New" pitchFamily="34" charset="-122"/>
                <a:cs typeface="Courier New" pitchFamily="34" charset="-120"/>
              </a:rPr>
              <a:t>Meridian PUE = 306 / 180 = ?</a:t>
            </a:r>
            <a:endParaRPr lang="en-US" sz="1620" dirty="0"/>
          </a:p>
          <a:p>
            <a:pPr algn="l" indent="0" marL="0">
              <a:buNone/>
            </a:pPr>
            <a:r>
              <a:rPr lang="en-US" sz="1620" dirty="0">
                <a:solidFill>
                  <a:srgbClr val="E8F0F7"/>
                </a:solidFill>
                <a:latin typeface="Courier New" pitchFamily="34" charset="0"/>
                <a:ea typeface="Courier New" pitchFamily="34" charset="-122"/>
                <a:cs typeface="Courier New" pitchFamily="34" charset="-120"/>
              </a:rPr>
              <a:t>At PUE 1.4, what annual power-cost difference</a:t>
            </a:r>
            <a:endParaRPr lang="en-US" sz="1620" dirty="0"/>
          </a:p>
          <a:p>
            <a:pPr algn="l" indent="0" marL="0">
              <a:buNone/>
            </a:pPr>
            <a:r>
              <a:rPr lang="en-US" sz="1620" dirty="0">
                <a:solidFill>
                  <a:srgbClr val="E8F0F7"/>
                </a:solidFill>
                <a:latin typeface="Courier New" pitchFamily="34" charset="0"/>
                <a:ea typeface="Courier New" pitchFamily="34" charset="-122"/>
                <a:cs typeface="Courier New" pitchFamily="34" charset="-120"/>
              </a:rPr>
              <a:t>results at $0.12/kWh?</a:t>
            </a:r>
            <a:endParaRPr lang="en-US" sz="1620" dirty="0"/>
          </a:p>
        </p:txBody>
      </p:sp>
      <p:sp>
        <p:nvSpPr>
          <p:cNvPr id="9" name="Shape 6"/>
          <p:cNvSpPr/>
          <p:nvPr/>
        </p:nvSpPr>
        <p:spPr>
          <a:xfrm>
            <a:off x="960120" y="4736592"/>
            <a:ext cx="10195560" cy="758952"/>
          </a:xfrm>
          <a:prstGeom prst="roundRect">
            <a:avLst>
              <a:gd name="adj" fmla="val 9639"/>
            </a:avLst>
          </a:prstGeom>
          <a:solidFill>
            <a:srgbClr val="FFFFFF"/>
          </a:solidFill>
          <a:ln w="12700">
            <a:solidFill>
              <a:srgbClr val="F79646"/>
            </a:solidFill>
            <a:prstDash val="solid"/>
          </a:ln>
        </p:spPr>
      </p:sp>
      <p:sp>
        <p:nvSpPr>
          <p:cNvPr id="10" name="Shape 7"/>
          <p:cNvSpPr/>
          <p:nvPr/>
        </p:nvSpPr>
        <p:spPr>
          <a:xfrm>
            <a:off x="960120" y="4736592"/>
            <a:ext cx="91440" cy="758952"/>
          </a:xfrm>
          <a:prstGeom prst="rect">
            <a:avLst>
              <a:gd name="adj" fmla="val 80000"/>
            </a:avLst>
          </a:prstGeom>
          <a:solidFill>
            <a:srgbClr val="F79646"/>
          </a:solidFill>
          <a:ln w="12700">
            <a:solidFill>
              <a:srgbClr val="F79646"/>
            </a:solidFill>
            <a:prstDash val="solid"/>
          </a:ln>
        </p:spPr>
      </p:sp>
      <p:sp>
        <p:nvSpPr>
          <p:cNvPr id="11" name="Text 8"/>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F79646"/>
                </a:solidFill>
                <a:latin typeface="Calibri" pitchFamily="34" charset="0"/>
                <a:ea typeface="Calibri" pitchFamily="34" charset="-122"/>
                <a:cs typeface="Calibri" pitchFamily="34" charset="-120"/>
              </a:rPr>
              <a:t>Calculate</a:t>
            </a:r>
            <a:endParaRPr lang="en-US" sz="1320" dirty="0"/>
          </a:p>
        </p:txBody>
      </p:sp>
      <p:sp>
        <p:nvSpPr>
          <p:cNvPr id="12" name="Text 9"/>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Assume the 180 kW IT load is constant for 8,760 hours.</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ENVIRONMENT</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DCIM turns conditions into response triggers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Observe temperature, humidity, power, alarms, and device state by location.</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SENSE</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Rack inlet + humidity</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sp>
      <p:sp>
        <p:nvSpPr>
          <p:cNvPr id="12" name="Shape 9"/>
          <p:cNvSpPr/>
          <p:nvPr/>
        </p:nvSpPr>
        <p:spPr>
          <a:xfrm>
            <a:off x="3493694" y="1965960"/>
            <a:ext cx="2350694" cy="329184"/>
          </a:xfrm>
          <a:prstGeom prst="roundRect">
            <a:avLst>
              <a:gd name="adj" fmla="val 22222"/>
            </a:avLst>
          </a:prstGeom>
          <a:solidFill>
            <a:srgbClr val="4F81BD"/>
          </a:solidFill>
          <a:ln w="12700">
            <a:solidFill>
              <a:srgbClr val="4F81BD"/>
            </a:solidFill>
            <a:prstDash val="solid"/>
          </a:ln>
        </p:spPr>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ALERT</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Location + threshold + trend</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sp>
      <p:sp>
        <p:nvSpPr>
          <p:cNvPr id="17" name="Shape 14"/>
          <p:cNvSpPr/>
          <p:nvPr/>
        </p:nvSpPr>
        <p:spPr>
          <a:xfrm>
            <a:off x="6347308" y="1965960"/>
            <a:ext cx="2350694" cy="329184"/>
          </a:xfrm>
          <a:prstGeom prst="roundRect">
            <a:avLst>
              <a:gd name="adj" fmla="val 22222"/>
            </a:avLst>
          </a:prstGeom>
          <a:solidFill>
            <a:srgbClr val="F79646"/>
          </a:solidFill>
          <a:ln w="12700">
            <a:solidFill>
              <a:srgbClr val="F79646"/>
            </a:solidFill>
            <a:prstDash val="solid"/>
          </a:ln>
        </p:spPr>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RESPOND</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Owner + escalation path</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sp>
      <p:sp>
        <p:nvSpPr>
          <p:cNvPr id="22" name="Shape 19"/>
          <p:cNvSpPr/>
          <p:nvPr/>
        </p:nvSpPr>
        <p:spPr>
          <a:xfrm>
            <a:off x="9200921" y="1965960"/>
            <a:ext cx="2350694" cy="329184"/>
          </a:xfrm>
          <a:prstGeom prst="roundRect">
            <a:avLst>
              <a:gd name="adj" fmla="val 22222"/>
            </a:avLst>
          </a:prstGeom>
          <a:solidFill>
            <a:srgbClr val="70AD47"/>
          </a:solidFill>
          <a:ln w="12700">
            <a:solidFill>
              <a:srgbClr val="70AD47"/>
            </a:solidFill>
            <a:prstDash val="solid"/>
          </a:ln>
        </p:spPr>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REVIEW</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Incident and maintenance record</a:t>
            </a:r>
            <a:endParaRPr lang="en-US" sz="1400" dirty="0"/>
          </a:p>
        </p:txBody>
      </p:sp>
      <p:sp>
        <p:nvSpPr>
          <p:cNvPr id="25" name="Shape 22"/>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26" name="Shape 23"/>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7" name="Text 24"/>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Design prompt</a:t>
            </a:r>
            <a:endParaRPr lang="en-US" sz="1320" dirty="0"/>
          </a:p>
        </p:txBody>
      </p:sp>
      <p:sp>
        <p:nvSpPr>
          <p:cNvPr id="28" name="Text 25"/>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Which alert would detect a failing cooling zone before a server shuts down?</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PHYSICAL SECURITY</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Physical controls need coverage and accountability</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Mantraps, badges, cameras, visitor logs, and rack controls serve different purposes.</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PREVENT</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Access authorization and anti-tailgating</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DETECT</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CCTV coverage and alert review</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ACCOUNT</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Visitor escort and media custody</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sp>
      <p:sp>
        <p:nvSpPr>
          <p:cNvPr id="19" name="Shape 16"/>
          <p:cNvSpPr/>
          <p:nvPr/>
        </p:nvSpPr>
        <p:spPr>
          <a:xfrm>
            <a:off x="960120" y="4736592"/>
            <a:ext cx="91440" cy="758952"/>
          </a:xfrm>
          <a:prstGeom prst="rect">
            <a:avLst>
              <a:gd name="adj" fmla="val 80000"/>
            </a:avLst>
          </a:prstGeom>
          <a:solidFill>
            <a:srgbClr val="1F497D"/>
          </a:solidFill>
          <a:ln w="12700">
            <a:solidFill>
              <a:srgbClr val="1F497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1F497D"/>
                </a:solidFill>
                <a:latin typeface="Calibri" pitchFamily="34" charset="0"/>
                <a:ea typeface="Calibri" pitchFamily="34" charset="-122"/>
                <a:cs typeface="Calibri" pitchFamily="34" charset="-120"/>
              </a:rPr>
              <a:t>Question</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Where would Meridian lack evidence after an incident inside the server room?</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SITE WALK</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Spot a control gap from a facility observation</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Turn a finding into risk, remediation, cost, and timeline.</a:t>
            </a:r>
            <a:endParaRPr lang="en-US" sz="1300" dirty="0"/>
          </a:p>
        </p:txBody>
      </p:sp>
      <p:sp>
        <p:nvSpPr>
          <p:cNvPr id="6" name="Text 3"/>
          <p:cNvSpPr txBox="1"/>
          <p:nvPr/>
        </p:nvSpPr>
        <p:spPr>
          <a:xfrm>
            <a:off x="822960" y="1746504"/>
            <a:ext cx="10561320" cy="658368"/>
          </a:xfrm>
          <a:prstGeom prst="rect">
            <a:avLst/>
          </a:prstGeom>
          <a:noFill/>
          <a:ln/>
        </p:spPr>
        <p:txBody>
          <a:bodyPr wrap="square" lIns="508" tIns="508" rIns="508" bIns="508" rtlCol="0" anchor="ctr">
            <a:normAutofit/>
          </a:bodyPr>
          <a:lstStyle/>
          <a:p>
            <a:pPr algn="ctr" indent="0" marL="0">
              <a:buNone/>
            </a:pPr>
            <a:r>
              <a:rPr lang="en-US" sz="2000" b="1" dirty="0">
                <a:solidFill>
                  <a:srgbClr val="1F497D"/>
                </a:solidFill>
                <a:latin typeface="Calibri" pitchFamily="34" charset="0"/>
                <a:ea typeface="Calibri" pitchFamily="34" charset="-122"/>
                <a:cs typeface="Calibri" pitchFamily="34" charset="-120"/>
              </a:rPr>
              <a:t>A visitor passes the mantrap with an employee and later enters an open rack aisle. What would you investigate?</a:t>
            </a:r>
            <a:endParaRPr lang="en-US" sz="2000" dirty="0"/>
          </a:p>
        </p:txBody>
      </p:sp>
      <p:sp>
        <p:nvSpPr>
          <p:cNvPr id="7" name="Shape 4"/>
          <p:cNvSpPr/>
          <p:nvPr/>
        </p:nvSpPr>
        <p:spPr>
          <a:xfrm>
            <a:off x="914400" y="2606040"/>
            <a:ext cx="10378440" cy="475488"/>
          </a:xfrm>
          <a:prstGeom prst="roundRect">
            <a:avLst>
              <a:gd name="adj" fmla="val 15385"/>
            </a:avLst>
          </a:prstGeom>
          <a:solidFill>
            <a:srgbClr val="FFFFFF"/>
          </a:solidFill>
          <a:ln w="12700">
            <a:solidFill>
              <a:srgbClr val="CBD5E1"/>
            </a:solidFill>
            <a:prstDash val="solid"/>
          </a:ln>
        </p:spPr>
      </p:sp>
      <p:sp>
        <p:nvSpPr>
          <p:cNvPr id="8" name="Shape 5"/>
          <p:cNvSpPr/>
          <p:nvPr/>
        </p:nvSpPr>
        <p:spPr>
          <a:xfrm>
            <a:off x="1078992" y="2734056"/>
            <a:ext cx="210312" cy="210312"/>
          </a:xfrm>
          <a:prstGeom prst="ellipse">
            <a:avLst/>
          </a:prstGeom>
          <a:solidFill>
            <a:srgbClr val="4BACC6"/>
          </a:solidFill>
          <a:ln w="12700">
            <a:solidFill>
              <a:srgbClr val="4BACC6"/>
            </a:solidFill>
            <a:prstDash val="solid"/>
          </a:ln>
        </p:spPr>
      </p:sp>
      <p:sp>
        <p:nvSpPr>
          <p:cNvPr id="9" name="Text 6"/>
          <p:cNvSpPr txBox="1"/>
          <p:nvPr/>
        </p:nvSpPr>
        <p:spPr>
          <a:xfrm>
            <a:off x="1481328" y="2679192"/>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Which access and camera records can reconstruct the path?</a:t>
            </a:r>
            <a:endParaRPr lang="en-US" sz="1500" dirty="0"/>
          </a:p>
        </p:txBody>
      </p:sp>
      <p:sp>
        <p:nvSpPr>
          <p:cNvPr id="10" name="Shape 7"/>
          <p:cNvSpPr/>
          <p:nvPr/>
        </p:nvSpPr>
        <p:spPr>
          <a:xfrm>
            <a:off x="914400" y="3218688"/>
            <a:ext cx="10378440" cy="475488"/>
          </a:xfrm>
          <a:prstGeom prst="roundRect">
            <a:avLst>
              <a:gd name="adj" fmla="val 15385"/>
            </a:avLst>
          </a:prstGeom>
          <a:solidFill>
            <a:srgbClr val="FFFFFF"/>
          </a:solidFill>
          <a:ln w="12700">
            <a:solidFill>
              <a:srgbClr val="CBD5E1"/>
            </a:solidFill>
            <a:prstDash val="solid"/>
          </a:ln>
        </p:spPr>
      </p:sp>
      <p:sp>
        <p:nvSpPr>
          <p:cNvPr id="11" name="Shape 8"/>
          <p:cNvSpPr/>
          <p:nvPr/>
        </p:nvSpPr>
        <p:spPr>
          <a:xfrm>
            <a:off x="1078992" y="3346704"/>
            <a:ext cx="210312" cy="210312"/>
          </a:xfrm>
          <a:prstGeom prst="ellipse">
            <a:avLst/>
          </a:prstGeom>
          <a:solidFill>
            <a:srgbClr val="F79646"/>
          </a:solidFill>
          <a:ln w="12700">
            <a:solidFill>
              <a:srgbClr val="F79646"/>
            </a:solidFill>
            <a:prstDash val="solid"/>
          </a:ln>
        </p:spPr>
      </p:sp>
      <p:sp>
        <p:nvSpPr>
          <p:cNvPr id="12" name="Text 9"/>
          <p:cNvSpPr txBox="1"/>
          <p:nvPr/>
        </p:nvSpPr>
        <p:spPr>
          <a:xfrm>
            <a:off x="1481328" y="3291840"/>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What immediate control would reduce repeat risk?</a:t>
            </a:r>
            <a:endParaRPr lang="en-US" sz="1500" dirty="0"/>
          </a:p>
        </p:txBody>
      </p:sp>
      <p:sp>
        <p:nvSpPr>
          <p:cNvPr id="13" name="Shape 10"/>
          <p:cNvSpPr/>
          <p:nvPr/>
        </p:nvSpPr>
        <p:spPr>
          <a:xfrm>
            <a:off x="914400" y="3831336"/>
            <a:ext cx="10378440" cy="475488"/>
          </a:xfrm>
          <a:prstGeom prst="roundRect">
            <a:avLst>
              <a:gd name="adj" fmla="val 15385"/>
            </a:avLst>
          </a:prstGeom>
          <a:solidFill>
            <a:srgbClr val="FFFFFF"/>
          </a:solidFill>
          <a:ln w="12700">
            <a:solidFill>
              <a:srgbClr val="CBD5E1"/>
            </a:solidFill>
            <a:prstDash val="solid"/>
          </a:ln>
        </p:spPr>
      </p:sp>
      <p:sp>
        <p:nvSpPr>
          <p:cNvPr id="14" name="Shape 11"/>
          <p:cNvSpPr/>
          <p:nvPr/>
        </p:nvSpPr>
        <p:spPr>
          <a:xfrm>
            <a:off x="1078992" y="3959352"/>
            <a:ext cx="210312" cy="210312"/>
          </a:xfrm>
          <a:prstGeom prst="ellipse">
            <a:avLst/>
          </a:prstGeom>
          <a:solidFill>
            <a:srgbClr val="8064A2"/>
          </a:solidFill>
          <a:ln w="12700">
            <a:solidFill>
              <a:srgbClr val="8064A2"/>
            </a:solidFill>
            <a:prstDash val="solid"/>
          </a:ln>
        </p:spPr>
      </p:sp>
      <p:sp>
        <p:nvSpPr>
          <p:cNvPr id="15" name="Text 12"/>
          <p:cNvSpPr txBox="1"/>
          <p:nvPr/>
        </p:nvSpPr>
        <p:spPr>
          <a:xfrm>
            <a:off x="1481328" y="3904488"/>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What longer-term rack or escort change is justified?</a:t>
            </a:r>
            <a:endParaRPr lang="en-US" sz="1500" dirty="0"/>
          </a:p>
        </p:txBody>
      </p:sp>
      <p:sp>
        <p:nvSpPr>
          <p:cNvPr id="16" name="Shape 13"/>
          <p:cNvSpPr/>
          <p:nvPr/>
        </p:nvSpPr>
        <p:spPr>
          <a:xfrm>
            <a:off x="4270248" y="5120640"/>
            <a:ext cx="3657600" cy="292608"/>
          </a:xfrm>
          <a:prstGeom prst="roundRect">
            <a:avLst>
              <a:gd name="adj" fmla="val 25000"/>
            </a:avLst>
          </a:prstGeom>
          <a:solidFill>
            <a:srgbClr val="F79646"/>
          </a:solidFill>
          <a:ln w="12700">
            <a:solidFill>
              <a:srgbClr val="F79646"/>
            </a:solidFill>
            <a:prstDash val="solid"/>
          </a:ln>
        </p:spPr>
      </p:sp>
      <p:sp>
        <p:nvSpPr>
          <p:cNvPr id="17" name="Text 14"/>
          <p:cNvSpPr txBox="1"/>
          <p:nvPr/>
        </p:nvSpPr>
        <p:spPr>
          <a:xfrm>
            <a:off x="4325112" y="5157216"/>
            <a:ext cx="3547872" cy="201168"/>
          </a:xfrm>
          <a:prstGeom prst="rect">
            <a:avLst/>
          </a:prstGeom>
          <a:noFill/>
          <a:ln/>
        </p:spPr>
        <p:txBody>
          <a:bodyPr wrap="square" lIns="508" tIns="508" rIns="508" bIns="508"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GROUP DISCUSSION</a:t>
            </a:r>
            <a:endParaRPr lang="en-US" sz="10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RACKS + COLO</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The rack is part of the operational design</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Cabling, labels, airflow, power budgets, and contracts shape recovery.</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Rack</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Space, doors, weight, airflow, and service access</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Cabling</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Structured runs and labels; TIA-568 terminology</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Power</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Circuit/PDU mapping and metered capacity</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Colocation</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Access, cross-connect, remote-hands, and SLA terms</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OUT-OF-BAND</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The management plane can bypass the OS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IPMI, iDRAC, and iLO need isolation, identity controls, and maintenance.</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NETWORK</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Dedicated management VLAN or network</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ACCESS</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Unique credentials, MFA path, logging</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LIFECYCLE</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algn="ctr" indent="0" marL="0">
              <a:buNone/>
            </a:pPr>
            <a:r>
              <a:rPr lang="en-US" sz="1400" dirty="0">
                <a:solidFill>
                  <a:srgbClr val="203040"/>
                </a:solidFill>
                <a:latin typeface="Calibri" pitchFamily="34" charset="0"/>
                <a:ea typeface="Calibri" pitchFamily="34" charset="-122"/>
                <a:cs typeface="Calibri" pitchFamily="34" charset="-120"/>
              </a:rPr>
              <a:t>Firmware and certificate review</a:t>
            </a:r>
            <a:endParaRPr lang="en-US" sz="1400" dirty="0"/>
          </a:p>
        </p:txBody>
      </p:sp>
      <p:sp>
        <p:nvSpPr>
          <p:cNvPr id="18" name="Shape 15"/>
          <p:cNvSpPr/>
          <p:nvPr/>
        </p:nvSpPr>
        <p:spPr>
          <a:xfrm>
            <a:off x="960120" y="4736592"/>
            <a:ext cx="10195560" cy="758952"/>
          </a:xfrm>
          <a:prstGeom prst="roundRect">
            <a:avLst>
              <a:gd name="adj" fmla="val 9639"/>
            </a:avLst>
          </a:prstGeom>
          <a:solidFill>
            <a:srgbClr val="FFFFFF"/>
          </a:solidFill>
          <a:ln w="12700">
            <a:solidFill>
              <a:srgbClr val="C0504D"/>
            </a:solidFill>
            <a:prstDash val="solid"/>
          </a:ln>
        </p:spPr>
      </p:sp>
      <p:sp>
        <p:nvSpPr>
          <p:cNvPr id="19" name="Shape 16"/>
          <p:cNvSpPr/>
          <p:nvPr/>
        </p:nvSpPr>
        <p:spPr>
          <a:xfrm>
            <a:off x="960120" y="4736592"/>
            <a:ext cx="91440" cy="758952"/>
          </a:xfrm>
          <a:prstGeom prst="rect">
            <a:avLst>
              <a:gd name="adj" fmla="val 80000"/>
            </a:avLst>
          </a:prstGeom>
          <a:solidFill>
            <a:srgbClr val="C0504D"/>
          </a:solidFill>
          <a:ln w="12700">
            <a:solidFill>
              <a:srgbClr val="C0504D"/>
            </a:solidFill>
            <a:prstDash val="solid"/>
          </a:ln>
        </p:spPr>
      </p:sp>
      <p:sp>
        <p:nvSpPr>
          <p:cNvPr id="20" name="Text 17"/>
          <p:cNvSpPr txBox="1"/>
          <p:nvPr/>
        </p:nvSpPr>
        <p:spPr>
          <a:xfrm>
            <a:off x="1188720" y="4818888"/>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C0504D"/>
                </a:solidFill>
                <a:latin typeface="Calibri" pitchFamily="34" charset="0"/>
                <a:ea typeface="Calibri" pitchFamily="34" charset="-122"/>
                <a:cs typeface="Calibri" pitchFamily="34" charset="-120"/>
              </a:rPr>
              <a:t>Meridian finding</a:t>
            </a:r>
            <a:endParaRPr lang="en-US" sz="1320" dirty="0"/>
          </a:p>
        </p:txBody>
      </p:sp>
      <p:sp>
        <p:nvSpPr>
          <p:cNvPr id="21" name="Text 18"/>
          <p:cNvSpPr txBox="1"/>
          <p:nvPr/>
        </p:nvSpPr>
        <p:spPr>
          <a:xfrm>
            <a:off x="1188720" y="5084064"/>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The supplied iDRAC is on the production VLAN with factory credentials and legacy SNMP.</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RISK ROADMAP</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Prioritize the failures that threaten service first</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A credible roadmap ties each action to a named risk and success measure.</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Immediate</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Low-cost controls and exposure reduction</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Short-term</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Budgeted medium-cost changes</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Long-term</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Capital redesign and resilience upgrades</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Owner, cost, score change, and measurable result</a:t>
            </a:r>
            <a:endParaRPr lang="en-US" sz="1350" dirty="0"/>
          </a:p>
        </p:txBody>
      </p:sp>
      <p:sp>
        <p:nvSpPr>
          <p:cNvPr id="22" name="Shape 19"/>
          <p:cNvSpPr/>
          <p:nvPr/>
        </p:nvSpPr>
        <p:spPr>
          <a:xfrm>
            <a:off x="960120" y="4983480"/>
            <a:ext cx="10195560" cy="758952"/>
          </a:xfrm>
          <a:prstGeom prst="roundRect">
            <a:avLst>
              <a:gd name="adj" fmla="val 9639"/>
            </a:avLst>
          </a:prstGeom>
          <a:solidFill>
            <a:srgbClr val="FFFFFF"/>
          </a:solidFill>
          <a:ln w="12700">
            <a:solidFill>
              <a:srgbClr val="C0504D"/>
            </a:solidFill>
            <a:prstDash val="solid"/>
          </a:ln>
        </p:spPr>
      </p:sp>
      <p:sp>
        <p:nvSpPr>
          <p:cNvPr id="23" name="Shape 20"/>
          <p:cNvSpPr/>
          <p:nvPr/>
        </p:nvSpPr>
        <p:spPr>
          <a:xfrm>
            <a:off x="960120" y="4983480"/>
            <a:ext cx="91440" cy="758952"/>
          </a:xfrm>
          <a:prstGeom prst="rect">
            <a:avLst>
              <a:gd name="adj" fmla="val 80000"/>
            </a:avLst>
          </a:prstGeom>
          <a:solidFill>
            <a:srgbClr val="C0504D"/>
          </a:solidFill>
          <a:ln w="12700">
            <a:solidFill>
              <a:srgbClr val="C0504D"/>
            </a:solidFill>
            <a:prstDash val="solid"/>
          </a:ln>
        </p:spPr>
      </p:sp>
      <p:sp>
        <p:nvSpPr>
          <p:cNvPr id="24" name="Text 21"/>
          <p:cNvSpPr txBox="1"/>
          <p:nvPr/>
        </p:nvSpPr>
        <p:spPr>
          <a:xfrm>
            <a:off x="1188720" y="5065776"/>
            <a:ext cx="9784080" cy="219456"/>
          </a:xfrm>
          <a:prstGeom prst="rect">
            <a:avLst/>
          </a:prstGeom>
          <a:noFill/>
          <a:ln/>
        </p:spPr>
        <p:txBody>
          <a:bodyPr wrap="square" lIns="508" tIns="508" rIns="508" bIns="508" rtlCol="0" anchor="ctr">
            <a:normAutofit/>
          </a:bodyPr>
          <a:lstStyle/>
          <a:p>
            <a:pPr algn="l" indent="0" marL="0">
              <a:buNone/>
            </a:pPr>
            <a:r>
              <a:rPr lang="en-US" sz="1320" b="1" dirty="0">
                <a:solidFill>
                  <a:srgbClr val="C0504D"/>
                </a:solidFill>
                <a:latin typeface="Calibri" pitchFamily="34" charset="0"/>
                <a:ea typeface="Calibri" pitchFamily="34" charset="-122"/>
                <a:cs typeface="Calibri" pitchFamily="34" charset="-120"/>
              </a:rPr>
              <a:t>Tier language</a:t>
            </a:r>
            <a:endParaRPr lang="en-US" sz="1320" dirty="0"/>
          </a:p>
        </p:txBody>
      </p:sp>
      <p:sp>
        <p:nvSpPr>
          <p:cNvPr id="25" name="Text 22"/>
          <p:cNvSpPr txBox="1"/>
          <p:nvPr/>
        </p:nvSpPr>
        <p:spPr>
          <a:xfrm>
            <a:off x="1188720" y="5330952"/>
            <a:ext cx="9784080" cy="356616"/>
          </a:xfrm>
          <a:prstGeom prst="rect">
            <a:avLst/>
          </a:prstGeom>
          <a:noFill/>
          <a:ln/>
        </p:spPr>
        <p:txBody>
          <a:bodyPr wrap="square" lIns="508" tIns="508" rIns="508" bIns="508" rtlCol="0" anchor="ctr">
            <a:normAutofit/>
          </a:bodyPr>
          <a:lstStyle/>
          <a:p>
            <a:pPr algn="l" indent="0" marL="0">
              <a:buNone/>
            </a:pPr>
            <a:r>
              <a:rPr lang="en-US" sz="1220" dirty="0">
                <a:solidFill>
                  <a:srgbClr val="203040"/>
                </a:solidFill>
                <a:latin typeface="Calibri" pitchFamily="34" charset="0"/>
                <a:ea typeface="Calibri" pitchFamily="34" charset="-122"/>
                <a:cs typeface="Calibri" pitchFamily="34" charset="-120"/>
              </a:rPr>
              <a:t>Say “assessed against Tier criteria” unless Uptime Institute certifies the site.</a:t>
            </a:r>
            <a:endParaRPr lang="en-US" sz="122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CYBER LAB BRIEF</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Lab 8: assess, fix five controls, then detect drift</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Rocky Linux 9 VM · OpenSCAP · manual remediation · AIDE.</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Baseline</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HTML/XML assessment and 10 high-impact failures</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Map</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ATT&amp;CK techniques for those 10 controls</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Remediate</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Five manual fixes with live-state verification</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Compare</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Post-scan results and score delta</a:t>
            </a:r>
            <a:endParaRPr lang="en-US" sz="1350" dirty="0"/>
          </a:p>
        </p:txBody>
      </p:sp>
      <p:sp>
        <p:nvSpPr>
          <p:cNvPr id="22" name="Shape 19"/>
          <p:cNvSpPr/>
          <p:nvPr/>
        </p:nvSpPr>
        <p:spPr>
          <a:xfrm>
            <a:off x="749808" y="4443984"/>
            <a:ext cx="2231136" cy="566928"/>
          </a:xfrm>
          <a:prstGeom prst="roundRect">
            <a:avLst>
              <a:gd name="adj" fmla="val 12903"/>
            </a:avLst>
          </a:prstGeom>
          <a:solidFill>
            <a:srgbClr val="70AD47"/>
          </a:solidFill>
          <a:ln w="12700">
            <a:solidFill>
              <a:srgbClr val="70AD47"/>
            </a:solidFill>
            <a:prstDash val="solid"/>
          </a:ln>
        </p:spPr>
      </p:sp>
      <p:sp>
        <p:nvSpPr>
          <p:cNvPr id="23" name="Text 20"/>
          <p:cNvSpPr txBox="1"/>
          <p:nvPr/>
        </p:nvSpPr>
        <p:spPr>
          <a:xfrm>
            <a:off x="841248" y="4507992"/>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Detect</a:t>
            </a:r>
            <a:endParaRPr lang="en-US" sz="1300" dirty="0"/>
          </a:p>
        </p:txBody>
      </p:sp>
      <p:sp>
        <p:nvSpPr>
          <p:cNvPr id="24" name="Shape 21"/>
          <p:cNvSpPr/>
          <p:nvPr/>
        </p:nvSpPr>
        <p:spPr>
          <a:xfrm>
            <a:off x="3182112" y="4443984"/>
            <a:ext cx="8247888" cy="566928"/>
          </a:xfrm>
          <a:prstGeom prst="roundRect">
            <a:avLst>
              <a:gd name="adj" fmla="val 12903"/>
            </a:avLst>
          </a:prstGeom>
          <a:solidFill>
            <a:srgbClr val="FFFFFF"/>
          </a:solidFill>
          <a:ln w="12700">
            <a:solidFill>
              <a:srgbClr val="CBD5E1"/>
            </a:solidFill>
            <a:prstDash val="solid"/>
          </a:ln>
        </p:spPr>
      </p:sp>
      <p:sp>
        <p:nvSpPr>
          <p:cNvPr id="25" name="Text 22"/>
          <p:cNvSpPr txBox="1"/>
          <p:nvPr/>
        </p:nvSpPr>
        <p:spPr>
          <a:xfrm>
            <a:off x="3328416" y="4507992"/>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AIDE output showing simulated SUID file</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CYBER HW BRIEF</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HW 8: turn the supplied report into a runbook</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Ubuntu 22.04 sample report · 48 controls · 21 FAIL.</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Rank</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All 21 failures; document the top 15</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Immediate, 30-day, and 90-day groups with rationale</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Current, target, command, verification, side effects</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Prove</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Before/after evidence for at least five controls</a:t>
            </a:r>
            <a:endParaRPr lang="en-US" sz="1350" dirty="0"/>
          </a:p>
        </p:txBody>
      </p:sp>
      <p:sp>
        <p:nvSpPr>
          <p:cNvPr id="22" name="Shape 19"/>
          <p:cNvSpPr/>
          <p:nvPr/>
        </p:nvSpPr>
        <p:spPr>
          <a:xfrm>
            <a:off x="749808" y="4443984"/>
            <a:ext cx="2231136" cy="566928"/>
          </a:xfrm>
          <a:prstGeom prst="roundRect">
            <a:avLst>
              <a:gd name="adj" fmla="val 12903"/>
            </a:avLst>
          </a:prstGeom>
          <a:solidFill>
            <a:srgbClr val="70AD47"/>
          </a:solidFill>
          <a:ln w="12700">
            <a:solidFill>
              <a:srgbClr val="70AD47"/>
            </a:solidFill>
            <a:prstDash val="solid"/>
          </a:ln>
        </p:spPr>
      </p:sp>
      <p:sp>
        <p:nvSpPr>
          <p:cNvPr id="23" name="Text 20"/>
          <p:cNvSpPr txBox="1"/>
          <p:nvPr/>
        </p:nvSpPr>
        <p:spPr>
          <a:xfrm>
            <a:off x="841248" y="4507992"/>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Submit</a:t>
            </a:r>
            <a:endParaRPr lang="en-US" sz="1300" dirty="0"/>
          </a:p>
        </p:txBody>
      </p:sp>
      <p:sp>
        <p:nvSpPr>
          <p:cNvPr id="24" name="Shape 21"/>
          <p:cNvSpPr/>
          <p:nvPr/>
        </p:nvSpPr>
        <p:spPr>
          <a:xfrm>
            <a:off x="3182112" y="4443984"/>
            <a:ext cx="8247888" cy="566928"/>
          </a:xfrm>
          <a:prstGeom prst="roundRect">
            <a:avLst>
              <a:gd name="adj" fmla="val 12903"/>
            </a:avLst>
          </a:prstGeom>
          <a:solidFill>
            <a:srgbClr val="FFFFFF"/>
          </a:solidFill>
          <a:ln w="12700">
            <a:solidFill>
              <a:srgbClr val="CBD5E1"/>
            </a:solidFill>
            <a:prstDash val="solid"/>
          </a:ln>
        </p:spPr>
      </p:sp>
      <p:sp>
        <p:nvSpPr>
          <p:cNvPr id="25" name="Text 22"/>
          <p:cNvSpPr txBox="1"/>
          <p:nvPr/>
        </p:nvSpPr>
        <p:spPr>
          <a:xfrm>
            <a:off x="3328416" y="4507992"/>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Markdown report and a PR with the required title</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IT LAB BRIEF</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Lab 8: assess Meridian’s site from the provided design</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Tier topology, capacity, cooling, physical security, and out-of-band access.</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Classify</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Assess Tier criteria and major failure paths</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Calculate</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UPS, generator, and PUE from given values</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Inspect</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Five physical findings and management-plane risks</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Report</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Site assessment with prioritized upgrade roadmap</a:t>
            </a:r>
            <a:endParaRPr lang="en-US" sz="1350" dirty="0"/>
          </a:p>
        </p:txBody>
      </p:sp>
      <p:sp>
        <p:nvSpPr>
          <p:cNvPr id="22" name="Shape 19"/>
          <p:cNvSpPr/>
          <p:nvPr/>
        </p:nvSpPr>
        <p:spPr>
          <a:xfrm>
            <a:off x="749808" y="4443984"/>
            <a:ext cx="2231136" cy="566928"/>
          </a:xfrm>
          <a:prstGeom prst="roundRect">
            <a:avLst>
              <a:gd name="adj" fmla="val 12903"/>
            </a:avLst>
          </a:prstGeom>
          <a:solidFill>
            <a:srgbClr val="70AD47"/>
          </a:solidFill>
          <a:ln w="12700">
            <a:solidFill>
              <a:srgbClr val="70AD47"/>
            </a:solidFill>
            <a:prstDash val="solid"/>
          </a:ln>
        </p:spPr>
      </p:sp>
      <p:sp>
        <p:nvSpPr>
          <p:cNvPr id="23" name="Text 20"/>
          <p:cNvSpPr txBox="1"/>
          <p:nvPr/>
        </p:nvSpPr>
        <p:spPr>
          <a:xfrm>
            <a:off x="841248" y="4507992"/>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Optional</a:t>
            </a:r>
            <a:endParaRPr lang="en-US" sz="1300" dirty="0"/>
          </a:p>
        </p:txBody>
      </p:sp>
      <p:sp>
        <p:nvSpPr>
          <p:cNvPr id="24" name="Shape 21"/>
          <p:cNvSpPr/>
          <p:nvPr/>
        </p:nvSpPr>
        <p:spPr>
          <a:xfrm>
            <a:off x="3182112" y="4443984"/>
            <a:ext cx="8247888" cy="566928"/>
          </a:xfrm>
          <a:prstGeom prst="roundRect">
            <a:avLst>
              <a:gd name="adj" fmla="val 12903"/>
            </a:avLst>
          </a:prstGeom>
          <a:solidFill>
            <a:srgbClr val="FFFFFF"/>
          </a:solidFill>
          <a:ln w="12700">
            <a:solidFill>
              <a:srgbClr val="CBD5E1"/>
            </a:solidFill>
            <a:prstDash val="solid"/>
          </a:ln>
        </p:spPr>
      </p:sp>
      <p:sp>
        <p:nvSpPr>
          <p:cNvPr id="25" name="Text 22"/>
          <p:cNvSpPr txBox="1"/>
          <p:nvPr/>
        </p:nvSpPr>
        <p:spPr>
          <a:xfrm>
            <a:off x="3328416" y="4507992"/>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Operate a simulated BMC if desired</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IT HW BRIEF</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HW 8: make a financial case from survey evidence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Write for Meridian’s CTO and facilities team.</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Summary</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Nontechnical financial exposure and top action</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Register</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At least 12 risks with scored rationale</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Tier</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Criteria, three gaps, and cost-benefit judgment</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Roadmap</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Three horizons with owner, cost, and success measure</a:t>
            </a:r>
            <a:endParaRPr lang="en-US" sz="1350" dirty="0"/>
          </a:p>
        </p:txBody>
      </p:sp>
      <p:sp>
        <p:nvSpPr>
          <p:cNvPr id="22" name="Shape 19"/>
          <p:cNvSpPr/>
          <p:nvPr/>
        </p:nvSpPr>
        <p:spPr>
          <a:xfrm>
            <a:off x="749808" y="4443984"/>
            <a:ext cx="2231136" cy="566928"/>
          </a:xfrm>
          <a:prstGeom prst="roundRect">
            <a:avLst>
              <a:gd name="adj" fmla="val 12903"/>
            </a:avLst>
          </a:prstGeom>
          <a:solidFill>
            <a:srgbClr val="70AD47"/>
          </a:solidFill>
          <a:ln w="12700">
            <a:solidFill>
              <a:srgbClr val="70AD47"/>
            </a:solidFill>
            <a:prstDash val="solid"/>
          </a:ln>
        </p:spPr>
      </p:sp>
      <p:sp>
        <p:nvSpPr>
          <p:cNvPr id="23" name="Text 20"/>
          <p:cNvSpPr txBox="1"/>
          <p:nvPr/>
        </p:nvSpPr>
        <p:spPr>
          <a:xfrm>
            <a:off x="841248" y="4507992"/>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Reliability</a:t>
            </a:r>
            <a:endParaRPr lang="en-US" sz="1300" dirty="0"/>
          </a:p>
        </p:txBody>
      </p:sp>
      <p:sp>
        <p:nvSpPr>
          <p:cNvPr id="24" name="Shape 21"/>
          <p:cNvSpPr/>
          <p:nvPr/>
        </p:nvSpPr>
        <p:spPr>
          <a:xfrm>
            <a:off x="3182112" y="4443984"/>
            <a:ext cx="8247888" cy="566928"/>
          </a:xfrm>
          <a:prstGeom prst="roundRect">
            <a:avLst>
              <a:gd name="adj" fmla="val 12903"/>
            </a:avLst>
          </a:prstGeom>
          <a:solidFill>
            <a:srgbClr val="FFFFFF"/>
          </a:solidFill>
          <a:ln w="12700">
            <a:solidFill>
              <a:srgbClr val="CBD5E1"/>
            </a:solidFill>
            <a:prstDash val="solid"/>
          </a:ln>
        </p:spPr>
      </p:sp>
      <p:sp>
        <p:nvSpPr>
          <p:cNvPr id="25" name="Text 22"/>
          <p:cNvSpPr txBox="1"/>
          <p:nvPr/>
        </p:nvSpPr>
        <p:spPr>
          <a:xfrm>
            <a:off x="3328416" y="4507992"/>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Sourced MTBF/MTTR calculations for selected risks</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EXIT DECISION</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What evidence turns an assessment into action?</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Choose one finding from either track and defend a next step.</a:t>
            </a:r>
            <a:endParaRPr lang="en-US" sz="1300" dirty="0"/>
          </a:p>
        </p:txBody>
      </p:sp>
      <p:sp>
        <p:nvSpPr>
          <p:cNvPr id="6" name="Text 3"/>
          <p:cNvSpPr txBox="1"/>
          <p:nvPr/>
        </p:nvSpPr>
        <p:spPr>
          <a:xfrm>
            <a:off x="822960" y="1746504"/>
            <a:ext cx="10561320" cy="658368"/>
          </a:xfrm>
          <a:prstGeom prst="rect">
            <a:avLst/>
          </a:prstGeom>
          <a:noFill/>
          <a:ln/>
        </p:spPr>
        <p:txBody>
          <a:bodyPr wrap="square" lIns="508" tIns="508" rIns="508" bIns="508" rtlCol="0" anchor="ctr">
            <a:normAutofit/>
          </a:bodyPr>
          <a:lstStyle/>
          <a:p>
            <a:pPr algn="ctr" indent="0" marL="0">
              <a:buNone/>
            </a:pPr>
            <a:r>
              <a:rPr lang="en-US" sz="2000" b="1" dirty="0">
                <a:solidFill>
                  <a:srgbClr val="1F497D"/>
                </a:solidFill>
                <a:latin typeface="Calibri" pitchFamily="34" charset="0"/>
                <a:ea typeface="Calibri" pitchFamily="34" charset="-122"/>
                <a:cs typeface="Calibri" pitchFamily="34" charset="-120"/>
              </a:rPr>
              <a:t>A scan failure or facility weakness is found. What should happen before anyone calls it “fixed”?</a:t>
            </a:r>
            <a:endParaRPr lang="en-US" sz="2000" dirty="0"/>
          </a:p>
        </p:txBody>
      </p:sp>
      <p:sp>
        <p:nvSpPr>
          <p:cNvPr id="7" name="Shape 4"/>
          <p:cNvSpPr/>
          <p:nvPr/>
        </p:nvSpPr>
        <p:spPr>
          <a:xfrm>
            <a:off x="914400" y="2606040"/>
            <a:ext cx="10378440" cy="475488"/>
          </a:xfrm>
          <a:prstGeom prst="roundRect">
            <a:avLst>
              <a:gd name="adj" fmla="val 15385"/>
            </a:avLst>
          </a:prstGeom>
          <a:solidFill>
            <a:srgbClr val="FFFFFF"/>
          </a:solidFill>
          <a:ln w="12700">
            <a:solidFill>
              <a:srgbClr val="CBD5E1"/>
            </a:solidFill>
            <a:prstDash val="solid"/>
          </a:ln>
        </p:spPr>
      </p:sp>
      <p:sp>
        <p:nvSpPr>
          <p:cNvPr id="8" name="Shape 5"/>
          <p:cNvSpPr/>
          <p:nvPr/>
        </p:nvSpPr>
        <p:spPr>
          <a:xfrm>
            <a:off x="1078992" y="2734056"/>
            <a:ext cx="210312" cy="210312"/>
          </a:xfrm>
          <a:prstGeom prst="ellipse">
            <a:avLst/>
          </a:prstGeom>
          <a:solidFill>
            <a:srgbClr val="4BACC6"/>
          </a:solidFill>
          <a:ln w="12700">
            <a:solidFill>
              <a:srgbClr val="4BACC6"/>
            </a:solidFill>
            <a:prstDash val="solid"/>
          </a:ln>
        </p:spPr>
      </p:sp>
      <p:sp>
        <p:nvSpPr>
          <p:cNvPr id="9" name="Text 6"/>
          <p:cNvSpPr txBox="1"/>
          <p:nvPr/>
        </p:nvSpPr>
        <p:spPr>
          <a:xfrm>
            <a:off x="1481328" y="2679192"/>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State the observed condition and credible failure path.</a:t>
            </a:r>
            <a:endParaRPr lang="en-US" sz="1500" dirty="0"/>
          </a:p>
        </p:txBody>
      </p:sp>
      <p:sp>
        <p:nvSpPr>
          <p:cNvPr id="10" name="Shape 7"/>
          <p:cNvSpPr/>
          <p:nvPr/>
        </p:nvSpPr>
        <p:spPr>
          <a:xfrm>
            <a:off x="914400" y="3218688"/>
            <a:ext cx="10378440" cy="475488"/>
          </a:xfrm>
          <a:prstGeom prst="roundRect">
            <a:avLst>
              <a:gd name="adj" fmla="val 15385"/>
            </a:avLst>
          </a:prstGeom>
          <a:solidFill>
            <a:srgbClr val="FFFFFF"/>
          </a:solidFill>
          <a:ln w="12700">
            <a:solidFill>
              <a:srgbClr val="CBD5E1"/>
            </a:solidFill>
            <a:prstDash val="solid"/>
          </a:ln>
        </p:spPr>
      </p:sp>
      <p:sp>
        <p:nvSpPr>
          <p:cNvPr id="11" name="Shape 8"/>
          <p:cNvSpPr/>
          <p:nvPr/>
        </p:nvSpPr>
        <p:spPr>
          <a:xfrm>
            <a:off x="1078992" y="3346704"/>
            <a:ext cx="210312" cy="210312"/>
          </a:xfrm>
          <a:prstGeom prst="ellipse">
            <a:avLst/>
          </a:prstGeom>
          <a:solidFill>
            <a:srgbClr val="F79646"/>
          </a:solidFill>
          <a:ln w="12700">
            <a:solidFill>
              <a:srgbClr val="F79646"/>
            </a:solidFill>
            <a:prstDash val="solid"/>
          </a:ln>
        </p:spPr>
      </p:sp>
      <p:sp>
        <p:nvSpPr>
          <p:cNvPr id="12" name="Text 9"/>
          <p:cNvSpPr txBox="1"/>
          <p:nvPr/>
        </p:nvSpPr>
        <p:spPr>
          <a:xfrm>
            <a:off x="1481328" y="3291840"/>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Name the owner, action, risk of change, and verification.</a:t>
            </a:r>
            <a:endParaRPr lang="en-US" sz="1500" dirty="0"/>
          </a:p>
        </p:txBody>
      </p:sp>
      <p:sp>
        <p:nvSpPr>
          <p:cNvPr id="13" name="Shape 10"/>
          <p:cNvSpPr/>
          <p:nvPr/>
        </p:nvSpPr>
        <p:spPr>
          <a:xfrm>
            <a:off x="914400" y="3831336"/>
            <a:ext cx="10378440" cy="475488"/>
          </a:xfrm>
          <a:prstGeom prst="roundRect">
            <a:avLst>
              <a:gd name="adj" fmla="val 15385"/>
            </a:avLst>
          </a:prstGeom>
          <a:solidFill>
            <a:srgbClr val="FFFFFF"/>
          </a:solidFill>
          <a:ln w="12700">
            <a:solidFill>
              <a:srgbClr val="CBD5E1"/>
            </a:solidFill>
            <a:prstDash val="solid"/>
          </a:ln>
        </p:spPr>
      </p:sp>
      <p:sp>
        <p:nvSpPr>
          <p:cNvPr id="14" name="Shape 11"/>
          <p:cNvSpPr/>
          <p:nvPr/>
        </p:nvSpPr>
        <p:spPr>
          <a:xfrm>
            <a:off x="1078992" y="3959352"/>
            <a:ext cx="210312" cy="210312"/>
          </a:xfrm>
          <a:prstGeom prst="ellipse">
            <a:avLst/>
          </a:prstGeom>
          <a:solidFill>
            <a:srgbClr val="8064A2"/>
          </a:solidFill>
          <a:ln w="12700">
            <a:solidFill>
              <a:srgbClr val="8064A2"/>
            </a:solidFill>
            <a:prstDash val="solid"/>
          </a:ln>
        </p:spPr>
      </p:sp>
      <p:sp>
        <p:nvSpPr>
          <p:cNvPr id="15" name="Text 12"/>
          <p:cNvSpPr txBox="1"/>
          <p:nvPr/>
        </p:nvSpPr>
        <p:spPr>
          <a:xfrm>
            <a:off x="1481328" y="3904488"/>
            <a:ext cx="9464040" cy="329184"/>
          </a:xfrm>
          <a:prstGeom prst="rect">
            <a:avLst/>
          </a:prstGeom>
          <a:noFill/>
          <a:ln/>
        </p:spPr>
        <p:txBody>
          <a:bodyPr wrap="square" lIns="508" tIns="508" rIns="508" bIns="508" rtlCol="0" anchor="ctr">
            <a:normAutofit/>
          </a:bodyPr>
          <a:lstStyle/>
          <a:p>
            <a:pPr algn="l" indent="0" marL="0">
              <a:buNone/>
            </a:pPr>
            <a:r>
              <a:rPr lang="en-US" sz="1500" dirty="0">
                <a:solidFill>
                  <a:srgbClr val="203040"/>
                </a:solidFill>
                <a:latin typeface="Calibri" pitchFamily="34" charset="0"/>
                <a:ea typeface="Calibri" pitchFamily="34" charset="-122"/>
                <a:cs typeface="Calibri" pitchFamily="34" charset="-120"/>
              </a:rPr>
              <a:t>Record any residual risk and when it will be revisited.</a:t>
            </a:r>
            <a:endParaRPr lang="en-US" sz="1500" dirty="0"/>
          </a:p>
        </p:txBody>
      </p:sp>
      <p:sp>
        <p:nvSpPr>
          <p:cNvPr id="16" name="Shape 13"/>
          <p:cNvSpPr/>
          <p:nvPr/>
        </p:nvSpPr>
        <p:spPr>
          <a:xfrm>
            <a:off x="4270248" y="5120640"/>
            <a:ext cx="3657600" cy="292608"/>
          </a:xfrm>
          <a:prstGeom prst="roundRect">
            <a:avLst>
              <a:gd name="adj" fmla="val 25000"/>
            </a:avLst>
          </a:prstGeom>
          <a:solidFill>
            <a:srgbClr val="F79646"/>
          </a:solidFill>
          <a:ln w="12700">
            <a:solidFill>
              <a:srgbClr val="F79646"/>
            </a:solidFill>
            <a:prstDash val="solid"/>
          </a:ln>
        </p:spPr>
      </p:sp>
      <p:sp>
        <p:nvSpPr>
          <p:cNvPr id="17" name="Text 14"/>
          <p:cNvSpPr txBox="1"/>
          <p:nvPr/>
        </p:nvSpPr>
        <p:spPr>
          <a:xfrm>
            <a:off x="4325112" y="5157216"/>
            <a:ext cx="3547872" cy="201168"/>
          </a:xfrm>
          <a:prstGeom prst="rect">
            <a:avLst/>
          </a:prstGeom>
          <a:noFill/>
          <a:ln/>
        </p:spPr>
        <p:txBody>
          <a:bodyPr wrap="square" lIns="508" tIns="508" rIns="508" bIns="508"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GROUP DISCUSSION</a:t>
            </a:r>
            <a:endParaRPr lang="en-US" sz="10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algn="l" indent="0" marL="0">
              <a:buNone/>
            </a:pPr>
            <a:r>
              <a:rPr lang="en-US" sz="1050" b="1" spc="120" kern="0" dirty="0">
                <a:solidFill>
                  <a:srgbClr val="4BACC6"/>
                </a:solidFill>
                <a:latin typeface="Calibri" pitchFamily="34" charset="0"/>
                <a:ea typeface="Calibri" pitchFamily="34" charset="-122"/>
                <a:cs typeface="Calibri" pitchFamily="34" charset="-120"/>
              </a:rPr>
              <a:t>REFERENCES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algn="l" indent="0" marL="0">
              <a:buNone/>
            </a:pPr>
            <a:r>
              <a:rPr lang="en-US" sz="2700" b="1" dirty="0">
                <a:solidFill>
                  <a:srgbClr val="1F497D"/>
                </a:solidFill>
                <a:latin typeface="Calibri" pitchFamily="34" charset="0"/>
                <a:ea typeface="Calibri" pitchFamily="34" charset="-122"/>
                <a:cs typeface="Calibri" pitchFamily="34" charset="-120"/>
              </a:rPr>
              <a:t>Primary sources and course cases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algn="l" indent="0" marL="0">
              <a:buNone/>
            </a:pPr>
            <a:r>
              <a:rPr lang="en-US" sz="1300" dirty="0">
                <a:solidFill>
                  <a:srgbClr val="64748B"/>
                </a:solidFill>
                <a:latin typeface="Calibri" pitchFamily="34" charset="0"/>
                <a:ea typeface="Calibri" pitchFamily="34" charset="-122"/>
                <a:cs typeface="Calibri" pitchFamily="34" charset="-120"/>
              </a:rPr>
              <a:t>Slide-specific source links are in speaker notes.</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Course</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Week 8 schedule; both labs; both homework briefs</a:t>
            </a:r>
            <a:endParaRPr lang="en-US" sz="1350" dirty="0"/>
          </a:p>
        </p:txBody>
      </p:sp>
      <p:sp>
        <p:nvSpPr>
          <p:cNvPr id="10" name="Shape 7"/>
          <p:cNvSpPr/>
          <p:nvPr/>
        </p:nvSpPr>
        <p:spPr>
          <a:xfrm>
            <a:off x="749808" y="2423160"/>
            <a:ext cx="2231136" cy="566928"/>
          </a:xfrm>
          <a:prstGeom prst="roundRect">
            <a:avLst>
              <a:gd name="adj" fmla="val 12903"/>
            </a:avLst>
          </a:prstGeom>
          <a:solidFill>
            <a:srgbClr val="4F81BD"/>
          </a:solidFill>
          <a:ln w="12700">
            <a:solidFill>
              <a:srgbClr val="4F81BD"/>
            </a:solidFill>
            <a:prstDash val="solid"/>
          </a:ln>
        </p:spPr>
      </p:sp>
      <p:sp>
        <p:nvSpPr>
          <p:cNvPr id="11" name="Text 8"/>
          <p:cNvSpPr txBox="1"/>
          <p:nvPr/>
        </p:nvSpPr>
        <p:spPr>
          <a:xfrm>
            <a:off x="841248" y="24871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Projects</a:t>
            </a:r>
            <a:endParaRPr lang="en-US" sz="1300" dirty="0"/>
          </a:p>
        </p:txBody>
      </p:sp>
      <p:sp>
        <p:nvSpPr>
          <p:cNvPr id="12" name="Shape 9"/>
          <p:cNvSpPr/>
          <p:nvPr/>
        </p:nvSpPr>
        <p:spPr>
          <a:xfrm>
            <a:off x="3182112" y="2423160"/>
            <a:ext cx="8247888" cy="566928"/>
          </a:xfrm>
          <a:prstGeom prst="roundRect">
            <a:avLst>
              <a:gd name="adj" fmla="val 12903"/>
            </a:avLst>
          </a:prstGeom>
          <a:solidFill>
            <a:srgbClr val="FFFFFF"/>
          </a:solidFill>
          <a:ln w="12700">
            <a:solidFill>
              <a:srgbClr val="CBD5E1"/>
            </a:solidFill>
            <a:prstDash val="solid"/>
          </a:ln>
        </p:spPr>
      </p:sp>
      <p:sp>
        <p:nvSpPr>
          <p:cNvPr id="13" name="Text 10"/>
          <p:cNvSpPr txBox="1"/>
          <p:nvPr/>
        </p:nvSpPr>
        <p:spPr>
          <a:xfrm>
            <a:off x="3328416" y="24871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Cyber and IT overviews and proposal pages</a:t>
            </a:r>
            <a:endParaRPr lang="en-US" sz="1350" dirty="0"/>
          </a:p>
        </p:txBody>
      </p:sp>
      <p:sp>
        <p:nvSpPr>
          <p:cNvPr id="14" name="Shape 11"/>
          <p:cNvSpPr/>
          <p:nvPr/>
        </p:nvSpPr>
        <p:spPr>
          <a:xfrm>
            <a:off x="749808" y="3108960"/>
            <a:ext cx="2231136" cy="566928"/>
          </a:xfrm>
          <a:prstGeom prst="roundRect">
            <a:avLst>
              <a:gd name="adj" fmla="val 12903"/>
            </a:avLst>
          </a:prstGeom>
          <a:solidFill>
            <a:srgbClr val="F79646"/>
          </a:solidFill>
          <a:ln w="12700">
            <a:solidFill>
              <a:srgbClr val="F79646"/>
            </a:solidFill>
            <a:prstDash val="solid"/>
          </a:ln>
        </p:spPr>
      </p:sp>
      <p:sp>
        <p:nvSpPr>
          <p:cNvPr id="15" name="Text 12"/>
          <p:cNvSpPr txBox="1"/>
          <p:nvPr/>
        </p:nvSpPr>
        <p:spPr>
          <a:xfrm>
            <a:off x="841248" y="31729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Benchmarks</a:t>
            </a:r>
            <a:endParaRPr lang="en-US" sz="1300" dirty="0"/>
          </a:p>
        </p:txBody>
      </p:sp>
      <p:sp>
        <p:nvSpPr>
          <p:cNvPr id="16" name="Shape 13"/>
          <p:cNvSpPr/>
          <p:nvPr/>
        </p:nvSpPr>
        <p:spPr>
          <a:xfrm>
            <a:off x="3182112" y="3108960"/>
            <a:ext cx="8247888" cy="566928"/>
          </a:xfrm>
          <a:prstGeom prst="roundRect">
            <a:avLst>
              <a:gd name="adj" fmla="val 12903"/>
            </a:avLst>
          </a:prstGeom>
          <a:solidFill>
            <a:srgbClr val="FFFFFF"/>
          </a:solidFill>
          <a:ln w="12700">
            <a:solidFill>
              <a:srgbClr val="CBD5E1"/>
            </a:solidFill>
            <a:prstDash val="solid"/>
          </a:ln>
        </p:spPr>
      </p:sp>
      <p:sp>
        <p:nvSpPr>
          <p:cNvPr id="17" name="Text 14"/>
          <p:cNvSpPr txBox="1"/>
          <p:nvPr/>
        </p:nvSpPr>
        <p:spPr>
          <a:xfrm>
            <a:off x="3328416" y="31729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CIS FAQ, NIST checklist guidance, DoD STIG library</a:t>
            </a:r>
            <a:endParaRPr lang="en-US" sz="1350" dirty="0"/>
          </a:p>
        </p:txBody>
      </p:sp>
      <p:sp>
        <p:nvSpPr>
          <p:cNvPr id="18" name="Shape 15"/>
          <p:cNvSpPr/>
          <p:nvPr/>
        </p:nvSpPr>
        <p:spPr>
          <a:xfrm>
            <a:off x="749808" y="3794760"/>
            <a:ext cx="2231136" cy="566928"/>
          </a:xfrm>
          <a:prstGeom prst="roundRect">
            <a:avLst>
              <a:gd name="adj" fmla="val 12903"/>
            </a:avLst>
          </a:prstGeom>
          <a:solidFill>
            <a:srgbClr val="8064A2"/>
          </a:solidFill>
          <a:ln w="12700">
            <a:solidFill>
              <a:srgbClr val="8064A2"/>
            </a:solidFill>
            <a:prstDash val="solid"/>
          </a:ln>
        </p:spPr>
      </p:sp>
      <p:sp>
        <p:nvSpPr>
          <p:cNvPr id="19" name="Text 16"/>
          <p:cNvSpPr txBox="1"/>
          <p:nvPr/>
        </p:nvSpPr>
        <p:spPr>
          <a:xfrm>
            <a:off x="841248" y="38587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Facility</a:t>
            </a:r>
            <a:endParaRPr lang="en-US" sz="1300" dirty="0"/>
          </a:p>
        </p:txBody>
      </p:sp>
      <p:sp>
        <p:nvSpPr>
          <p:cNvPr id="20" name="Shape 17"/>
          <p:cNvSpPr/>
          <p:nvPr/>
        </p:nvSpPr>
        <p:spPr>
          <a:xfrm>
            <a:off x="3182112" y="3794760"/>
            <a:ext cx="8247888" cy="566928"/>
          </a:xfrm>
          <a:prstGeom prst="roundRect">
            <a:avLst>
              <a:gd name="adj" fmla="val 12903"/>
            </a:avLst>
          </a:prstGeom>
          <a:solidFill>
            <a:srgbClr val="FFFFFF"/>
          </a:solidFill>
          <a:ln w="12700">
            <a:solidFill>
              <a:srgbClr val="CBD5E1"/>
            </a:solidFill>
            <a:prstDash val="solid"/>
          </a:ln>
        </p:spPr>
      </p:sp>
      <p:sp>
        <p:nvSpPr>
          <p:cNvPr id="21" name="Text 18"/>
          <p:cNvSpPr txBox="1"/>
          <p:nvPr/>
        </p:nvSpPr>
        <p:spPr>
          <a:xfrm>
            <a:off x="3328416" y="38587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Uptime Institute Tier definitions and caveat</a:t>
            </a:r>
            <a:endParaRPr lang="en-US" sz="1350" dirty="0"/>
          </a:p>
        </p:txBody>
      </p:sp>
      <p:sp>
        <p:nvSpPr>
          <p:cNvPr id="22" name="Shape 19"/>
          <p:cNvSpPr/>
          <p:nvPr/>
        </p:nvSpPr>
        <p:spPr>
          <a:xfrm>
            <a:off x="749808" y="4480560"/>
            <a:ext cx="2231136" cy="566928"/>
          </a:xfrm>
          <a:prstGeom prst="roundRect">
            <a:avLst>
              <a:gd name="adj" fmla="val 12903"/>
            </a:avLst>
          </a:prstGeom>
          <a:solidFill>
            <a:srgbClr val="70AD47"/>
          </a:solidFill>
          <a:ln w="12700">
            <a:solidFill>
              <a:srgbClr val="70AD47"/>
            </a:solidFill>
            <a:prstDash val="solid"/>
          </a:ln>
        </p:spPr>
      </p:sp>
      <p:sp>
        <p:nvSpPr>
          <p:cNvPr id="23" name="Text 20"/>
          <p:cNvSpPr txBox="1"/>
          <p:nvPr/>
        </p:nvSpPr>
        <p:spPr>
          <a:xfrm>
            <a:off x="841248" y="4544568"/>
            <a:ext cx="2048256" cy="438912"/>
          </a:xfrm>
          <a:prstGeom prst="rect">
            <a:avLst/>
          </a:prstGeom>
          <a:noFill/>
          <a:ln/>
        </p:spPr>
        <p:txBody>
          <a:bodyPr wrap="square" lIns="508" tIns="508" rIns="508" bIns="508"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Cases</a:t>
            </a:r>
            <a:endParaRPr lang="en-US" sz="1300" dirty="0"/>
          </a:p>
        </p:txBody>
      </p:sp>
      <p:sp>
        <p:nvSpPr>
          <p:cNvPr id="24" name="Shape 21"/>
          <p:cNvSpPr/>
          <p:nvPr/>
        </p:nvSpPr>
        <p:spPr>
          <a:xfrm>
            <a:off x="3182112" y="4480560"/>
            <a:ext cx="8247888" cy="566928"/>
          </a:xfrm>
          <a:prstGeom prst="roundRect">
            <a:avLst>
              <a:gd name="adj" fmla="val 12903"/>
            </a:avLst>
          </a:prstGeom>
          <a:solidFill>
            <a:srgbClr val="FFFFFF"/>
          </a:solidFill>
          <a:ln w="12700">
            <a:solidFill>
              <a:srgbClr val="CBD5E1"/>
            </a:solidFill>
            <a:prstDash val="solid"/>
          </a:ln>
        </p:spPr>
      </p:sp>
      <p:sp>
        <p:nvSpPr>
          <p:cNvPr id="25" name="Text 22"/>
          <p:cNvSpPr txBox="1"/>
          <p:nvPr/>
        </p:nvSpPr>
        <p:spPr>
          <a:xfrm>
            <a:off x="3328416" y="4544568"/>
            <a:ext cx="7955280" cy="438912"/>
          </a:xfrm>
          <a:prstGeom prst="rect">
            <a:avLst/>
          </a:prstGeom>
          <a:noFill/>
          <a:ln/>
        </p:spPr>
        <p:txBody>
          <a:bodyPr wrap="square" lIns="508" tIns="508" rIns="508" bIns="508" rtlCol="0" anchor="ctr">
            <a:normAutofit/>
          </a:bodyPr>
          <a:lstStyle/>
          <a:p>
            <a:pPr algn="l" indent="0" marL="0">
              <a:buNone/>
            </a:pPr>
            <a:r>
              <a:rPr lang="en-US" sz="1350" dirty="0">
                <a:solidFill>
                  <a:srgbClr val="203040"/>
                </a:solidFill>
                <a:latin typeface="Calibri" pitchFamily="34" charset="0"/>
                <a:ea typeface="Calibri" pitchFamily="34" charset="-122"/>
                <a:cs typeface="Calibri" pitchFamily="34" charset="-120"/>
              </a:rPr>
              <a:t>Synthetic Ubuntu report; Meridian site survey</a:t>
            </a:r>
            <a:endParaRPr lang="en-US" sz="13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Calibri"/>
                <a:ea typeface="Calibri"/>
                <a:cs typeface="Calibri"/>
              </a:defRPr>
            </a:lvl1pPr>
          </a:lstStyle>
          <a:p>
            <a:pPr algn="l"/>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CYBER 444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444 - Week 8 CIS, STIG, and Data Center Fundamentals</dc:title>
  <dc:subject>CIS and STIG Benchmarks and Data Center Fundamentals</dc:subject>
  <dc:creator>CYBER 444</dc:creator>
  <cp:lastModifiedBy>CYBER 444</cp:lastModifiedBy>
  <cp:revision>1</cp:revision>
  <dcterms:created xsi:type="dcterms:W3CDTF">2026-10-19T22:14:34Z</dcterms:created>
  <dcterms:modified xsi:type="dcterms:W3CDTF">2026-10-19T22:14:34Z</dcterms:modified>
</cp:coreProperties>
</file>