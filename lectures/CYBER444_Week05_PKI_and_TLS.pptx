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33"/>
  </p:notesMasterIdLst>
  <p:sldIdLst>
    <p:sldId id="256" r:id="rId3"/>
    <p:sldId id="259" r:id="rId4"/>
    <p:sldId id="260" r:id="rId5"/>
    <p:sldId id="261" r:id="rId6"/>
    <p:sldId id="262" r:id="rId7"/>
    <p:sldId id="263" r:id="rId8"/>
    <p:sldId id="264" r:id="rId9"/>
    <p:sldId id="265" r:id="rId10"/>
    <p:sldId id="266" r:id="rId11"/>
    <p:sldId id="268" r:id="rId12"/>
    <p:sldId id="269" r:id="rId13"/>
    <p:sldId id="271" r:id="rId14"/>
    <p:sldId id="272" r:id="rId15"/>
    <p:sldId id="273" r:id="rId16"/>
    <p:sldId id="274" r:id="rId17"/>
    <p:sldId id="276" r:id="rId18"/>
    <p:sldId id="277" r:id="rId19"/>
    <p:sldId id="278" r:id="rId20"/>
    <p:sldId id="279" r:id="rId21"/>
    <p:sldId id="290" r:id="rId22"/>
    <p:sldId id="291" r:id="rId23"/>
    <p:sldId id="292" r:id="rId24"/>
    <p:sldId id="294" r:id="rId25"/>
    <p:sldId id="295" r:id="rId26"/>
    <p:sldId id="298" r:id="rId27"/>
    <p:sldId id="304" r:id="rId28"/>
    <p:sldId id="306" r:id="rId29"/>
    <p:sldId id="308" r:id="rId30"/>
    <p:sldId id="311" r:id="rId31"/>
    <p:sldId id="316" r:id="rId3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070" autoAdjust="0"/>
  </p:normalViewPr>
  <p:slideViewPr>
    <p:cSldViewPr snapToGrid="0">
      <p:cViewPr varScale="1">
        <p:scale>
          <a:sx n="100" d="100"/>
          <a:sy n="100" d="100"/>
        </p:scale>
        <p:origin x="9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10"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1"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2"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3"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BFB17E5B-C2D8-4B3B-83C7-BF29138A46A2}"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ccadb.my.salesforce-sites.com/mozilla/IncludedCACertificateReport"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letsencrypt.org/2026/02/24/rate-limits-45-day-certs" TargetMode="External"/><Relationship Id="rId5" Type="http://schemas.openxmlformats.org/officeDocument/2006/relationships/hyperlink" Target="https://cabforum.org/working-groups/server/baseline-requirements/documents/CA-Browser-Forum-TLS-BR-2.1.6.pdf" TargetMode="External"/><Relationship Id="rId4" Type="http://schemas.openxmlformats.org/officeDocument/2006/relationships/hyperlink" Target="https://chromium.googlesource.com/chromium/src/+/main/net/data/ssl/chrome_root_store/root_store.md"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sp>
      <p:sp>
        <p:nvSpPr>
          <p:cNvPr id="1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establish the central question-how can a browser trust a key it has never seen before?</a:t>
            </a:r>
          </a:p>
          <a:p>
            <a:pPr marL="216000" indent="-216000">
              <a:buNone/>
            </a:pPr>
            <a:r>
              <a:rPr lang="en-US" sz="2000" b="0" strike="noStrike" spc="-1">
                <a:solidFill>
                  <a:srgbClr val="000000"/>
                </a:solidFill>
                <a:latin typeface="Arial"/>
              </a:rPr>
              <a:t>Talk track: This module is the bridge between cryptography concepts and the operational certificate work students will do in Lab 5.</a:t>
            </a:r>
          </a:p>
          <a:p>
            <a:pPr marL="216000" indent="-216000">
              <a:buNone/>
            </a:pPr>
            <a:r>
              <a:rPr lang="en-US" sz="2000" b="0" strike="noStrike" spc="-1">
                <a:solidFill>
                  <a:srgbClr val="000000"/>
                </a:solidFill>
                <a:latin typeface="Arial"/>
              </a:rPr>
              <a:t>Visual cue: the chain is a certificate chain, but also a metaphor for trust, configuration, and operations.</a:t>
            </a:r>
          </a:p>
        </p:txBody>
      </p:sp>
      <p:sp>
        <p:nvSpPr>
          <p:cNvPr id="1500"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6250A17-AA62-4112-9976-8032995B7D47}"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7" name="PlaceHolder 1"/>
          <p:cNvSpPr>
            <a:spLocks noGrp="1" noRot="1" noChangeAspect="1"/>
          </p:cNvSpPr>
          <p:nvPr>
            <p:ph type="sldImg"/>
          </p:nvPr>
        </p:nvSpPr>
        <p:spPr>
          <a:xfrm>
            <a:off x="685800" y="1143000"/>
            <a:ext cx="5486400" cy="3086100"/>
          </a:xfrm>
          <a:prstGeom prst="rect">
            <a:avLst/>
          </a:prstGeom>
          <a:ln w="0">
            <a:noFill/>
          </a:ln>
        </p:spPr>
      </p:sp>
      <p:sp>
        <p:nvSpPr>
          <p:cNvPr id="1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Ask for a one-sentence answer before revealing the three-part model.</a:t>
            </a:r>
          </a:p>
          <a:p>
            <a:pPr marL="216000" indent="-216000">
              <a:buNone/>
            </a:pPr>
            <a:r>
              <a:rPr lang="en-US" sz="2000" b="0" strike="noStrike" spc="-1">
                <a:solidFill>
                  <a:srgbClr val="000000"/>
                </a:solidFill>
                <a:latin typeface="Arial"/>
              </a:rPr>
              <a:t>Model answer: HTTPS normally provides confidentiality and integrity for the channel, plus authentication of the server name when certificate validation succeeds. It does not prove the site is honest, safe, or free of application vulnerabilities.</a:t>
            </a:r>
          </a:p>
          <a:p>
            <a:pPr marL="216000" indent="-216000">
              <a:buNone/>
            </a:pPr>
            <a:r>
              <a:rPr lang="en-US" sz="2000" b="0" strike="noStrike" spc="-1">
                <a:solidFill>
                  <a:srgbClr val="000000"/>
                </a:solidFill>
                <a:latin typeface="Arial"/>
              </a:rPr>
              <a:t>Use as the first discussion prompt.</a:t>
            </a:r>
          </a:p>
          <a:p>
            <a:pPr marL="216000" indent="0">
              <a:lnSpc>
                <a:spcPct val="100000"/>
              </a:lnSpc>
              <a:buNone/>
            </a:pPr>
            <a:r>
              <a:rPr lang="en-US" sz="2000" b="0" strike="noStrike" spc="-1">
                <a:solidFill>
                  <a:srgbClr val="000000"/>
                </a:solidFill>
                <a:latin typeface="Arial"/>
              </a:rPr>
              <a:t>Sources: RFC 6797 · Nginx HTTPS documentation</a:t>
            </a:r>
          </a:p>
        </p:txBody>
      </p:sp>
      <p:sp>
        <p:nvSpPr>
          <p:cNvPr id="1509"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B483051-70DC-4AEB-845D-C208B96D5CBA}"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0" name="PlaceHolder 1"/>
          <p:cNvSpPr>
            <a:spLocks noGrp="1" noRot="1" noChangeAspect="1"/>
          </p:cNvSpPr>
          <p:nvPr>
            <p:ph type="sldImg"/>
          </p:nvPr>
        </p:nvSpPr>
        <p:spPr>
          <a:xfrm>
            <a:off x="685800" y="1143000"/>
            <a:ext cx="5486400" cy="3086100"/>
          </a:xfrm>
          <a:prstGeom prst="rect">
            <a:avLst/>
          </a:prstGeom>
          <a:ln w="0">
            <a:noFill/>
          </a:ln>
        </p:spPr>
      </p:sp>
      <p:sp>
        <p:nvSpPr>
          <p:cNvPr id="1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prevent the common misconception that asymmetric cryptography encrypts all web traffic.</a:t>
            </a:r>
          </a:p>
          <a:p>
            <a:pPr marL="216000" indent="-216000">
              <a:buNone/>
            </a:pPr>
            <a:r>
              <a:rPr lang="en-US" sz="2000" b="0" strike="noStrike" spc="-1">
                <a:solidFill>
                  <a:srgbClr val="000000"/>
                </a:solidFill>
                <a:latin typeface="Arial"/>
              </a:rPr>
              <a:t>Talk track: asymmetric cryptography bootstraps authentication and key agreement; symmetric cryptography protects the bulk data because it is faster.</a:t>
            </a:r>
          </a:p>
          <a:p>
            <a:pPr marL="216000" indent="-216000">
              <a:buNone/>
            </a:pPr>
            <a:r>
              <a:rPr lang="en-US" sz="2000" b="0" strike="noStrike" spc="-1">
                <a:solidFill>
                  <a:srgbClr val="000000"/>
                </a:solidFill>
                <a:latin typeface="Arial"/>
              </a:rPr>
              <a:t>Ask: Which key should never leave the server? Private key.</a:t>
            </a:r>
          </a:p>
          <a:p>
            <a:pPr marL="216000" indent="0">
              <a:lnSpc>
                <a:spcPct val="100000"/>
              </a:lnSpc>
              <a:buNone/>
            </a:pPr>
            <a:r>
              <a:rPr lang="en-US" sz="2000" b="0" strike="noStrike" spc="-1">
                <a:solidFill>
                  <a:srgbClr val="000000"/>
                </a:solidFill>
                <a:latin typeface="Arial"/>
              </a:rPr>
              <a:t>Sources: RFC 8446</a:t>
            </a:r>
          </a:p>
        </p:txBody>
      </p:sp>
      <p:sp>
        <p:nvSpPr>
          <p:cNvPr id="1512"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1882857-AB82-43C2-8AED-6F61358CC5A4}"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 name="PlaceHolder 1"/>
          <p:cNvSpPr>
            <a:spLocks noGrp="1" noRot="1" noChangeAspect="1"/>
          </p:cNvSpPr>
          <p:nvPr>
            <p:ph type="sldImg"/>
          </p:nvPr>
        </p:nvSpPr>
        <p:spPr>
          <a:xfrm>
            <a:off x="685800" y="1143000"/>
            <a:ext cx="5486400" cy="3086100"/>
          </a:xfrm>
          <a:prstGeom prst="rect">
            <a:avLst/>
          </a:prstGeom>
          <a:ln w="0">
            <a:noFill/>
          </a:ln>
        </p:spPr>
      </p:sp>
      <p:sp>
        <p:nvSpPr>
          <p:cNvPr id="1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Demo idea: show a generated key pair and ask students which file permissions they would expect.</a:t>
            </a:r>
          </a:p>
          <a:p>
            <a:pPr marL="216000" indent="-216000">
              <a:buNone/>
            </a:pPr>
            <a:r>
              <a:rPr lang="en-US" sz="2000" b="0" strike="noStrike" spc="-1">
                <a:solidFill>
                  <a:srgbClr val="000000"/>
                </a:solidFill>
                <a:latin typeface="Arial"/>
              </a:rPr>
              <a:t>Teaching note: a public key does not “decrypt” a signature in the colloquial sense; the verifier uses public-key operations to validate that the signature corresponds to the signed digest and public key.</a:t>
            </a:r>
          </a:p>
          <a:p>
            <a:pPr marL="216000" indent="0">
              <a:lnSpc>
                <a:spcPct val="100000"/>
              </a:lnSpc>
              <a:buNone/>
            </a:pPr>
            <a:r>
              <a:rPr lang="en-US" sz="2000" b="0" strike="noStrike" spc="-1">
                <a:solidFill>
                  <a:srgbClr val="000000"/>
                </a:solidFill>
                <a:latin typeface="Arial"/>
              </a:rPr>
              <a:t>Sources: RFC 5280</a:t>
            </a:r>
          </a:p>
        </p:txBody>
      </p:sp>
      <p:sp>
        <p:nvSpPr>
          <p:cNvPr id="1515"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899E133-99B6-43B9-A908-82303E54FB06}"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PlaceHolder 1"/>
          <p:cNvSpPr>
            <a:spLocks noGrp="1" noRot="1" noChangeAspect="1"/>
          </p:cNvSpPr>
          <p:nvPr>
            <p:ph type="sldImg"/>
          </p:nvPr>
        </p:nvSpPr>
        <p:spPr>
          <a:xfrm>
            <a:off x="0" y="1282700"/>
            <a:ext cx="6858000" cy="3857625"/>
          </a:xfrm>
          <a:prstGeom prst="rect">
            <a:avLst/>
          </a:prstGeom>
          <a:ln w="0">
            <a:noFill/>
          </a:ln>
        </p:spPr>
      </p:sp>
      <p:sp>
        <p:nvSpPr>
          <p:cNvPr id="151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Teaching intent: give students a reusable classification model.</a:t>
            </a:r>
          </a:p>
          <a:p>
            <a:pPr marL="216000" indent="-216000">
              <a:buNone/>
            </a:pPr>
            <a:r>
              <a:rPr lang="en-US" sz="2000" b="0" strike="noStrike" spc="-1">
                <a:solidFill>
                  <a:srgbClr val="000000"/>
                </a:solidFill>
                <a:latin typeface="Arial"/>
              </a:rPr>
              <a:t>Talk track: RSA and ECDSA are commonly used for signatures; ECDHE is for key agreement; AES-GCM and ChaCha20-Poly1305 protect records; SHA-2 functions are hashes used inside signatures and transcript processing.</a:t>
            </a:r>
          </a:p>
          <a:p>
            <a:pPr marL="216000" indent="-216000">
              <a:buNone/>
            </a:pPr>
            <a:r>
              <a:rPr lang="en-US" sz="2000" b="0" strike="noStrike" spc="-1">
                <a:solidFill>
                  <a:srgbClr val="000000"/>
                </a:solidFill>
                <a:latin typeface="Arial"/>
              </a:rPr>
              <a:t>Ask: Which item gives forward secrecy? ECDHE, when implemented with ephemeral keys. Which items encrypt the bulk data? AES-GCM and ChaCha20-Poly1305.</a:t>
            </a:r>
          </a:p>
          <a:p>
            <a:pPr marL="216000" indent="-216000">
              <a:buNone/>
            </a:pPr>
            <a:r>
              <a:rPr lang="en-US" sz="2000" b="0" strike="noStrike" spc="-1">
                <a:solidFill>
                  <a:srgbClr val="000000"/>
                </a:solidFill>
                <a:latin typeface="Arial"/>
              </a:rPr>
              <a:t>Instructor caution: algorithm support depends on protocol version, implementation, and policy.</a:t>
            </a:r>
          </a:p>
          <a:p>
            <a:pPr marL="216000" indent="-216000">
              <a:buNone/>
            </a:pPr>
            <a:r>
              <a:rPr lang="en-US" sz="2000" b="0" strike="noStrike" spc="-1">
                <a:solidFill>
                  <a:srgbClr val="000000"/>
                </a:solidFill>
                <a:latin typeface="Arial"/>
              </a:rPr>
              <a:t>Sources: RFC 8446; RFC 9325.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8" name="PlaceHolder 1"/>
          <p:cNvSpPr>
            <a:spLocks noGrp="1" noRot="1" noChangeAspect="1"/>
          </p:cNvSpPr>
          <p:nvPr>
            <p:ph type="sldImg"/>
          </p:nvPr>
        </p:nvSpPr>
        <p:spPr>
          <a:xfrm>
            <a:off x="685800" y="1143000"/>
            <a:ext cx="5486400" cy="3086100"/>
          </a:xfrm>
          <a:prstGeom prst="rect">
            <a:avLst/>
          </a:prstGeom>
          <a:ln w="0">
            <a:noFill/>
          </a:ln>
        </p:spPr>
      </p:sp>
      <p:sp>
        <p:nvSpPr>
          <p:cNvPr id="15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Talk track: signatures establish authenticity and integrity, not confidentiality. The certificate layer later answers “whose public key is this?”</a:t>
            </a:r>
          </a:p>
          <a:p>
            <a:pPr marL="216000" indent="-216000">
              <a:buNone/>
            </a:pPr>
            <a:r>
              <a:rPr lang="en-US" sz="2000" b="0" strike="noStrike" spc="-1">
                <a:solidFill>
                  <a:srgbClr val="000000"/>
                </a:solidFill>
                <a:latin typeface="Arial"/>
              </a:rPr>
              <a:t>Ask: what changes if the message changes after signing? The digest changes and verification fails.</a:t>
            </a:r>
          </a:p>
          <a:p>
            <a:pPr marL="216000" indent="-216000">
              <a:buNone/>
            </a:pPr>
            <a:r>
              <a:rPr lang="en-US" sz="2000" b="0" strike="noStrike" spc="-1">
                <a:solidFill>
                  <a:srgbClr val="000000"/>
                </a:solidFill>
                <a:latin typeface="Arial"/>
              </a:rPr>
              <a:t>This is the core trust primitive behind CA signatures.</a:t>
            </a:r>
          </a:p>
          <a:p>
            <a:pPr marL="216000" indent="0">
              <a:lnSpc>
                <a:spcPct val="100000"/>
              </a:lnSpc>
              <a:buNone/>
            </a:pPr>
            <a:r>
              <a:rPr lang="en-US" sz="2000" b="0" strike="noStrike" spc="-1">
                <a:solidFill>
                  <a:srgbClr val="000000"/>
                </a:solidFill>
                <a:latin typeface="Arial"/>
              </a:rPr>
              <a:t>Sources: RFC 5280</a:t>
            </a:r>
          </a:p>
        </p:txBody>
      </p:sp>
      <p:sp>
        <p:nvSpPr>
          <p:cNvPr id="1520"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780AAE2-FFED-484F-AA85-74BE960080D5}"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 name="PlaceHolder 1"/>
          <p:cNvSpPr>
            <a:spLocks noGrp="1" noRot="1" noChangeAspect="1"/>
          </p:cNvSpPr>
          <p:nvPr>
            <p:ph type="sldImg"/>
          </p:nvPr>
        </p:nvSpPr>
        <p:spPr>
          <a:xfrm>
            <a:off x="0" y="1282700"/>
            <a:ext cx="6858000" cy="3857625"/>
          </a:xfrm>
          <a:prstGeom prst="rect">
            <a:avLst/>
          </a:prstGeom>
          <a:ln w="0">
            <a:noFill/>
          </a:ln>
        </p:spPr>
      </p:sp>
      <p:sp>
        <p:nvSpPr>
          <p:cNvPr id="152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Teaching intent: bridge algorithm vocabulary to the lab cipher string.</a:t>
            </a:r>
          </a:p>
          <a:p>
            <a:pPr marL="216000" indent="-216000">
              <a:buNone/>
            </a:pPr>
            <a:r>
              <a:rPr lang="en-US" sz="2000" b="0" strike="noStrike" spc="-1">
                <a:solidFill>
                  <a:srgbClr val="000000"/>
                </a:solidFill>
                <a:latin typeface="Arial"/>
              </a:rPr>
              <a:t>Model answer: ECDHE is the key agreement, RSA is the authentication/signature algorithm, AES-256-GCM is record protection, and SHA-384 is the hash component.</a:t>
            </a:r>
          </a:p>
          <a:p>
            <a:pPr marL="216000" indent="-216000">
              <a:buNone/>
            </a:pPr>
            <a:r>
              <a:rPr lang="en-US" sz="2000" b="0" strike="noStrike" spc="-1">
                <a:solidFill>
                  <a:srgbClr val="000000"/>
                </a:solidFill>
                <a:latin typeface="Arial"/>
              </a:rPr>
              <a:t>Ask: why is RSA not the same as forward secrecy? Because a long-term RSA key can authenticate but does not create a fresh ephemeral secret by itself.</a:t>
            </a:r>
          </a:p>
          <a:p>
            <a:pPr marL="216000" indent="-216000">
              <a:buNone/>
            </a:pPr>
            <a:r>
              <a:rPr lang="en-US" sz="2000" b="0" strike="noStrike" spc="-1">
                <a:solidFill>
                  <a:srgbClr val="000000"/>
                </a:solidFill>
                <a:latin typeface="Arial"/>
              </a:rPr>
              <a:t>Sources: RFC 8446; RFC 9325.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3" name="PlaceHolder 1"/>
          <p:cNvSpPr>
            <a:spLocks noGrp="1" noRot="1" noChangeAspect="1"/>
          </p:cNvSpPr>
          <p:nvPr>
            <p:ph type="sldImg"/>
          </p:nvPr>
        </p:nvSpPr>
        <p:spPr>
          <a:xfrm>
            <a:off x="685800" y="1143000"/>
            <a:ext cx="5486400" cy="3086100"/>
          </a:xfrm>
          <a:prstGeom prst="rect">
            <a:avLst/>
          </a:prstGeom>
          <a:ln w="0">
            <a:noFill/>
          </a:ln>
        </p:spPr>
      </p:sp>
      <p:sp>
        <p:nvSpPr>
          <p:cNvPr id="15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separate cryptographic validity from trust policy.</a:t>
            </a:r>
          </a:p>
          <a:p>
            <a:pPr marL="216000" indent="-216000">
              <a:buNone/>
            </a:pPr>
            <a:r>
              <a:rPr lang="en-US" sz="2000" b="0" strike="noStrike" spc="-1">
                <a:solidFill>
                  <a:srgbClr val="000000"/>
                </a:solidFill>
                <a:latin typeface="Arial"/>
              </a:rPr>
              <a:t>Ask students to distinguish “the signature verifies” from “the browser accepts the certificate.”</a:t>
            </a:r>
          </a:p>
          <a:p>
            <a:pPr marL="216000" indent="-216000">
              <a:buNone/>
            </a:pPr>
            <a:r>
              <a:rPr lang="en-US" sz="2000" b="0" strike="noStrike" spc="-1">
                <a:solidFill>
                  <a:srgbClr val="000000"/>
                </a:solidFill>
                <a:latin typeface="Arial"/>
              </a:rPr>
              <a:t>Model answer: browsers accept a path to a locally trusted trust anchor, subject to validity, name, usage, policy, and revocation checks.</a:t>
            </a:r>
          </a:p>
          <a:p>
            <a:pPr marL="216000" indent="0">
              <a:lnSpc>
                <a:spcPct val="100000"/>
              </a:lnSpc>
              <a:buNone/>
            </a:pPr>
            <a:r>
              <a:rPr lang="en-US" sz="2000" b="0" strike="noStrike" spc="-1">
                <a:solidFill>
                  <a:srgbClr val="000000"/>
                </a:solidFill>
                <a:latin typeface="Arial"/>
              </a:rPr>
              <a:t>Sources: RFC 5280</a:t>
            </a:r>
          </a:p>
        </p:txBody>
      </p:sp>
      <p:sp>
        <p:nvSpPr>
          <p:cNvPr id="1525"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5D60CB6-5B76-421D-8469-82E8784C3019}"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6" name="PlaceHolder 1"/>
          <p:cNvSpPr>
            <a:spLocks noGrp="1" noRot="1" noChangeAspect="1"/>
          </p:cNvSpPr>
          <p:nvPr>
            <p:ph type="sldImg"/>
          </p:nvPr>
        </p:nvSpPr>
        <p:spPr>
          <a:xfrm>
            <a:off x="685800" y="1143000"/>
            <a:ext cx="5486400" cy="3086100"/>
          </a:xfrm>
          <a:prstGeom prst="rect">
            <a:avLst/>
          </a:prstGeom>
          <a:ln w="0">
            <a:noFill/>
          </a:ln>
        </p:spPr>
      </p:sp>
      <p:sp>
        <p:nvSpPr>
          <p:cNvPr id="15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introduce certificates as structured data, not magical files.</a:t>
            </a:r>
          </a:p>
          <a:p>
            <a:pPr marL="216000" indent="-216000">
              <a:buNone/>
            </a:pPr>
            <a:r>
              <a:rPr lang="en-US" sz="2000" b="0" strike="noStrike" spc="-1">
                <a:solidFill>
                  <a:srgbClr val="000000"/>
                </a:solidFill>
                <a:latin typeface="Arial"/>
              </a:rPr>
              <a:t>Talk track: the CA signs the certificate body; the signature covers the claims, including the subject public key and extensions.</a:t>
            </a:r>
          </a:p>
          <a:p>
            <a:pPr marL="216000" indent="-216000">
              <a:buNone/>
            </a:pPr>
            <a:r>
              <a:rPr lang="en-US" sz="2000" b="0" strike="noStrike" spc="-1">
                <a:solidFill>
                  <a:srgbClr val="000000"/>
                </a:solidFill>
                <a:latin typeface="Arial"/>
              </a:rPr>
              <a:t>Ask: which field tells the browser who issued it? Issuer; which field tells it what names are valid? SAN.</a:t>
            </a:r>
          </a:p>
          <a:p>
            <a:pPr marL="216000" indent="0">
              <a:lnSpc>
                <a:spcPct val="100000"/>
              </a:lnSpc>
              <a:buNone/>
            </a:pPr>
            <a:r>
              <a:rPr lang="en-US" sz="2000" b="0" strike="noStrike" spc="-1">
                <a:solidFill>
                  <a:srgbClr val="000000"/>
                </a:solidFill>
                <a:latin typeface="Arial"/>
              </a:rPr>
              <a:t>Sources: RFC 5280</a:t>
            </a:r>
          </a:p>
        </p:txBody>
      </p:sp>
      <p:sp>
        <p:nvSpPr>
          <p:cNvPr id="1528"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E7FFBCF-D178-45AB-858F-B4A598ABDD0E}"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 name="PlaceHolder 1"/>
          <p:cNvSpPr>
            <a:spLocks noGrp="1" noRot="1" noChangeAspect="1"/>
          </p:cNvSpPr>
          <p:nvPr>
            <p:ph type="sldImg"/>
          </p:nvPr>
        </p:nvSpPr>
        <p:spPr>
          <a:xfrm>
            <a:off x="685800" y="1143000"/>
            <a:ext cx="5486400" cy="3086100"/>
          </a:xfrm>
          <a:prstGeom prst="rect">
            <a:avLst/>
          </a:prstGeom>
          <a:ln w="0">
            <a:noFill/>
          </a:ln>
        </p:spPr>
      </p:sp>
      <p:sp>
        <p:nvSpPr>
          <p:cNvPr id="15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Demo: compare `CA:TRUE` on the Root/Intermediate with `CA:FALSE` on the server cert.</a:t>
            </a:r>
          </a:p>
          <a:p>
            <a:pPr marL="216000" indent="-216000">
              <a:buNone/>
            </a:pPr>
            <a:r>
              <a:rPr lang="en-US" sz="2000" b="0" strike="noStrike" spc="-1">
                <a:solidFill>
                  <a:srgbClr val="000000"/>
                </a:solidFill>
                <a:latin typeface="Arial"/>
              </a:rPr>
              <a:t>Teaching note: `pathlen:0` on the Intermediate allows it to issue end-entity certificates but not another subordinate CA.</a:t>
            </a:r>
          </a:p>
          <a:p>
            <a:pPr marL="216000" indent="-216000">
              <a:buNone/>
            </a:pPr>
            <a:r>
              <a:rPr lang="en-US" sz="2000" b="0" strike="noStrike" spc="-1">
                <a:solidFill>
                  <a:srgbClr val="000000"/>
                </a:solidFill>
                <a:latin typeface="Arial"/>
              </a:rPr>
              <a:t>Ask: which key usage must accompany keyCertSign? The certificate is intended for signing certificates.</a:t>
            </a:r>
          </a:p>
          <a:p>
            <a:pPr marL="216000" indent="0">
              <a:lnSpc>
                <a:spcPct val="100000"/>
              </a:lnSpc>
              <a:buNone/>
            </a:pPr>
            <a:r>
              <a:rPr lang="en-US" sz="2000" b="0" strike="noStrike" spc="-1">
                <a:solidFill>
                  <a:srgbClr val="000000"/>
                </a:solidFill>
                <a:latin typeface="Arial"/>
              </a:rPr>
              <a:t>Sources: RFC 5280</a:t>
            </a:r>
          </a:p>
        </p:txBody>
      </p:sp>
      <p:sp>
        <p:nvSpPr>
          <p:cNvPr id="1534"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BA5B5A21-0A33-4099-BBD2-C16A1F565456}"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5" name="PlaceHolder 1"/>
          <p:cNvSpPr>
            <a:spLocks noGrp="1" noRot="1" noChangeAspect="1"/>
          </p:cNvSpPr>
          <p:nvPr>
            <p:ph type="sldImg"/>
          </p:nvPr>
        </p:nvSpPr>
        <p:spPr>
          <a:xfrm>
            <a:off x="685800" y="1143000"/>
            <a:ext cx="5486400" cy="3086100"/>
          </a:xfrm>
          <a:prstGeom prst="rect">
            <a:avLst/>
          </a:prstGeom>
          <a:ln w="0">
            <a:noFill/>
          </a:ln>
        </p:spPr>
      </p:sp>
      <p:sp>
        <p:nvSpPr>
          <p:cNvPr id="15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avoid treating keyUsage and EKU as synonyms.</a:t>
            </a:r>
          </a:p>
          <a:p>
            <a:pPr marL="216000" indent="-216000">
              <a:buNone/>
            </a:pPr>
            <a:r>
              <a:rPr lang="en-US" sz="2000" b="0" strike="noStrike" spc="-1">
                <a:solidFill>
                  <a:srgbClr val="000000"/>
                </a:solidFill>
                <a:latin typeface="Arial"/>
              </a:rPr>
              <a:t>Talk track: keyUsage constrains operations such as signing; EKU constrains purposes such as server authentication. Validators can require both to line up.</a:t>
            </a:r>
          </a:p>
          <a:p>
            <a:pPr marL="216000" indent="-216000">
              <a:buNone/>
            </a:pPr>
            <a:r>
              <a:rPr lang="en-US" sz="2000" b="0" strike="noStrike" spc="-1">
                <a:solidFill>
                  <a:srgbClr val="000000"/>
                </a:solidFill>
                <a:latin typeface="Arial"/>
              </a:rPr>
              <a:t>Lab mapping: server_cert uses `digitalSignature, keyEncipherment` plus `serverAuth`.</a:t>
            </a:r>
          </a:p>
          <a:p>
            <a:pPr marL="216000" indent="0">
              <a:lnSpc>
                <a:spcPct val="100000"/>
              </a:lnSpc>
              <a:buNone/>
            </a:pPr>
            <a:r>
              <a:rPr lang="en-US" sz="2000" b="0" strike="noStrike" spc="-1">
                <a:solidFill>
                  <a:srgbClr val="000000"/>
                </a:solidFill>
                <a:latin typeface="Arial"/>
              </a:rPr>
              <a:t>Sources: RFC 5280</a:t>
            </a:r>
          </a:p>
        </p:txBody>
      </p:sp>
      <p:sp>
        <p:nvSpPr>
          <p:cNvPr id="1537"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B17B89E-142D-48FA-8C8B-6B10C93148AF}"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1" name="PlaceHolder 1"/>
          <p:cNvSpPr>
            <a:spLocks noGrp="1" noRot="1" noChangeAspect="1"/>
          </p:cNvSpPr>
          <p:nvPr>
            <p:ph type="sldImg"/>
          </p:nvPr>
        </p:nvSpPr>
        <p:spPr>
          <a:xfrm>
            <a:off x="685800" y="1143000"/>
            <a:ext cx="5486400" cy="3086100"/>
          </a:xfrm>
          <a:prstGeom prst="rect">
            <a:avLst/>
          </a:prstGeom>
          <a:ln w="0">
            <a:noFill/>
          </a:ln>
        </p:spPr>
      </p:sp>
      <p:sp>
        <p:nvSpPr>
          <p:cNvPr id="15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show why the Root CA is not sent by the server in normal deployments.</a:t>
            </a:r>
          </a:p>
          <a:p>
            <a:pPr marL="216000" indent="-216000">
              <a:buNone/>
            </a:pPr>
            <a:r>
              <a:rPr lang="en-US" sz="2000" b="0" strike="noStrike" spc="-1">
                <a:solidFill>
                  <a:srgbClr val="000000"/>
                </a:solidFill>
                <a:latin typeface="Arial"/>
              </a:rPr>
              <a:t>Ask: what does the server need to send? Leaf plus the intermediate(s) needed to build the path.</a:t>
            </a:r>
          </a:p>
          <a:p>
            <a:pPr marL="216000" indent="-216000">
              <a:buNone/>
            </a:pPr>
            <a:r>
              <a:rPr lang="en-US" sz="2000" b="0" strike="noStrike" spc="-1">
                <a:solidFill>
                  <a:srgbClr val="000000"/>
                </a:solidFill>
                <a:latin typeface="Arial"/>
              </a:rPr>
              <a:t>Lab command: `openssl verify -CAfile ... ca-chain.cert.pem server.cert.pem`.</a:t>
            </a:r>
          </a:p>
          <a:p>
            <a:pPr marL="216000" indent="0">
              <a:lnSpc>
                <a:spcPct val="100000"/>
              </a:lnSpc>
              <a:buNone/>
            </a:pPr>
            <a:r>
              <a:rPr lang="en-US" sz="2000" b="0" strike="noStrike" spc="-1">
                <a:solidFill>
                  <a:srgbClr val="000000"/>
                </a:solidFill>
                <a:latin typeface="Arial"/>
              </a:rPr>
              <a:t>Sources: RFC 5280 · Nginx HTTPS documentation</a:t>
            </a:r>
          </a:p>
        </p:txBody>
      </p:sp>
      <p:sp>
        <p:nvSpPr>
          <p:cNvPr id="1543"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76B1A25-AB39-4E54-AEFC-4F3AFCB38F07}"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4" name="PlaceHolder 1"/>
          <p:cNvSpPr>
            <a:spLocks noGrp="1" noRot="1" noChangeAspect="1"/>
          </p:cNvSpPr>
          <p:nvPr>
            <p:ph type="sldImg"/>
          </p:nvPr>
        </p:nvSpPr>
        <p:spPr>
          <a:xfrm>
            <a:off x="685800" y="1143000"/>
            <a:ext cx="5486400" cy="3086100"/>
          </a:xfrm>
          <a:prstGeom prst="rect">
            <a:avLst/>
          </a:prstGeom>
          <a:ln w="0">
            <a:noFill/>
          </a:ln>
        </p:spPr>
      </p:sp>
      <p:sp>
        <p:nvSpPr>
          <p:cNvPr id="15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make browser validation concrete.</a:t>
            </a:r>
          </a:p>
          <a:p>
            <a:pPr marL="216000" indent="-216000">
              <a:buNone/>
            </a:pPr>
            <a:r>
              <a:rPr lang="en-US" sz="2000" b="0" strike="noStrike" spc="-1">
                <a:solidFill>
                  <a:srgbClr val="000000"/>
                </a:solidFill>
                <a:latin typeface="Arial"/>
              </a:rPr>
              <a:t>Walk through the order: find a path, verify signatures, check time, name, constraints, usage, and revocation/policy as applicable.</a:t>
            </a:r>
          </a:p>
          <a:p>
            <a:pPr marL="216000" indent="-216000">
              <a:buNone/>
            </a:pPr>
            <a:r>
              <a:rPr lang="en-US" sz="2000" b="0" strike="noStrike" spc="-1">
                <a:solidFill>
                  <a:srgbClr val="000000"/>
                </a:solidFill>
                <a:latin typeface="Arial"/>
              </a:rPr>
              <a:t>Use this as a diagnostic rubric when students troubleshoot the lab.</a:t>
            </a:r>
          </a:p>
          <a:p>
            <a:pPr marL="216000" indent="0">
              <a:lnSpc>
                <a:spcPct val="100000"/>
              </a:lnSpc>
              <a:buNone/>
            </a:pPr>
            <a:r>
              <a:rPr lang="en-US" sz="2000" b="0" strike="noStrike" spc="-1">
                <a:solidFill>
                  <a:srgbClr val="000000"/>
                </a:solidFill>
                <a:latin typeface="Arial"/>
              </a:rPr>
              <a:t>Sources: RFC 5280</a:t>
            </a:r>
          </a:p>
        </p:txBody>
      </p:sp>
      <p:sp>
        <p:nvSpPr>
          <p:cNvPr id="1546"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9688C93-078C-443A-BCD0-A28831D67EE2}"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7" name="PlaceHolder 1"/>
          <p:cNvSpPr>
            <a:spLocks noGrp="1" noRot="1" noChangeAspect="1"/>
          </p:cNvSpPr>
          <p:nvPr>
            <p:ph type="sldImg"/>
          </p:nvPr>
        </p:nvSpPr>
        <p:spPr>
          <a:xfrm>
            <a:off x="685800" y="1143000"/>
            <a:ext cx="5486400" cy="3086100"/>
          </a:xfrm>
          <a:prstGeom prst="rect">
            <a:avLst/>
          </a:prstGeom>
          <a:ln w="0">
            <a:noFill/>
          </a:ln>
        </p:spPr>
      </p:sp>
      <p:sp>
        <p:nvSpPr>
          <p:cNvPr id="15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make the two-tier recommendation visual.</a:t>
            </a:r>
          </a:p>
          <a:p>
            <a:pPr marL="216000" indent="-216000">
              <a:buNone/>
            </a:pPr>
            <a:r>
              <a:rPr lang="en-US" sz="2000" b="0" strike="noStrike" spc="-1">
                <a:solidFill>
                  <a:srgbClr val="000000"/>
                </a:solidFill>
                <a:latin typeface="Arial"/>
              </a:rPr>
              <a:t>Ask groups to identify which component they would put on the network and which they would lock away.</a:t>
            </a:r>
          </a:p>
          <a:p>
            <a:pPr marL="216000" indent="-216000">
              <a:buNone/>
            </a:pPr>
            <a:r>
              <a:rPr lang="en-US" sz="2000" b="0" strike="noStrike" spc="-1">
                <a:solidFill>
                  <a:srgbClr val="000000"/>
                </a:solidFill>
                <a:latin typeface="Arial"/>
              </a:rPr>
              <a:t>Model answer: Root CA offline; Intermediate CA online and operationally replaceable.</a:t>
            </a:r>
          </a:p>
          <a:p>
            <a:pPr marL="216000" indent="0">
              <a:lnSpc>
                <a:spcPct val="100000"/>
              </a:lnSpc>
              <a:buNone/>
            </a:pPr>
            <a:r>
              <a:rPr lang="en-US" sz="2000" b="0" strike="noStrike" spc="-1">
                <a:solidFill>
                  <a:srgbClr val="000000"/>
                </a:solidFill>
                <a:latin typeface="Arial"/>
              </a:rPr>
              <a:t>Sources: RFC 5280 · Certificate Transparency documentation</a:t>
            </a:r>
          </a:p>
        </p:txBody>
      </p:sp>
      <p:sp>
        <p:nvSpPr>
          <p:cNvPr id="1549"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9C3AD88-B567-4541-B424-E390E8634254}"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0" name="PlaceHolder 1"/>
          <p:cNvSpPr>
            <a:spLocks noGrp="1" noRot="1" noChangeAspect="1"/>
          </p:cNvSpPr>
          <p:nvPr>
            <p:ph type="sldImg"/>
          </p:nvPr>
        </p:nvSpPr>
        <p:spPr>
          <a:xfrm>
            <a:off x="685800" y="1143000"/>
            <a:ext cx="5486400" cy="3086100"/>
          </a:xfrm>
          <a:prstGeom prst="rect">
            <a:avLst/>
          </a:prstGeom>
          <a:ln w="0">
            <a:noFill/>
          </a:ln>
        </p:spPr>
      </p:sp>
      <p:sp>
        <p:nvSpPr>
          <p:cNvPr id="15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use the blast-radius diagram for risk reasoning, not as a guarantee.</a:t>
            </a:r>
          </a:p>
          <a:p>
            <a:pPr marL="216000" indent="-216000">
              <a:buNone/>
            </a:pPr>
            <a:r>
              <a:rPr lang="en-US" sz="2000" b="0" strike="noStrike" spc="-1">
                <a:solidFill>
                  <a:srgbClr val="000000"/>
                </a:solidFill>
                <a:latin typeface="Arial"/>
              </a:rPr>
              <a:t>Talk track: an Intermediate compromise is still serious-it can issue fraudulent leaf certificates within its permitted scope. But the organization can revoke/replace the Intermediate without replacing every trust anchor.</a:t>
            </a:r>
          </a:p>
          <a:p>
            <a:pPr marL="216000" indent="-216000">
              <a:buNone/>
            </a:pPr>
            <a:r>
              <a:rPr lang="en-US" sz="2000" b="0" strike="noStrike" spc="-1">
                <a:solidFill>
                  <a:srgbClr val="000000"/>
                </a:solidFill>
                <a:latin typeface="Arial"/>
              </a:rPr>
              <a:t>Ask: what is the recovery action if the Root private key is compromised? Root rollover and trust-store migration.</a:t>
            </a:r>
          </a:p>
          <a:p>
            <a:pPr marL="216000" indent="-216000">
              <a:buNone/>
            </a:pPr>
            <a:r>
              <a:rPr lang="en-US" sz="2000" b="0" strike="noStrike" spc="-1">
                <a:solidFill>
                  <a:srgbClr val="000000"/>
                </a:solidFill>
                <a:latin typeface="Arial"/>
              </a:rPr>
              <a:t>Sources: Certificate Transparency documentation · RFC 5280</a:t>
            </a:r>
          </a:p>
        </p:txBody>
      </p:sp>
      <p:sp>
        <p:nvSpPr>
          <p:cNvPr id="1552"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254EEF7-AE33-43F4-8DBD-64508410945C}"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 name="PlaceHolder 1"/>
          <p:cNvSpPr>
            <a:spLocks noGrp="1" noRot="1" noChangeAspect="1"/>
          </p:cNvSpPr>
          <p:nvPr>
            <p:ph type="sldImg"/>
          </p:nvPr>
        </p:nvSpPr>
        <p:spPr>
          <a:xfrm>
            <a:off x="685800" y="1143000"/>
            <a:ext cx="5486400" cy="3086100"/>
          </a:xfrm>
          <a:prstGeom prst="rect">
            <a:avLst/>
          </a:prstGeom>
          <a:ln w="0">
            <a:noFill/>
          </a:ln>
        </p:spPr>
      </p:sp>
      <p:sp>
        <p:nvSpPr>
          <p:cNvPr id="15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distinguish a CSR from a certificate.</a:t>
            </a:r>
          </a:p>
          <a:p>
            <a:pPr marL="216000" indent="-216000">
              <a:buNone/>
            </a:pPr>
            <a:r>
              <a:rPr lang="en-US" sz="2000" b="0" strike="noStrike" spc="-1">
                <a:solidFill>
                  <a:srgbClr val="000000"/>
                </a:solidFill>
                <a:latin typeface="Arial"/>
              </a:rPr>
              <a:t>Talk track: a CSR contains the public key, subject/requested names, and a proof-of-possession signature. The CA validates policy and issues a certificate with its own extensions.</a:t>
            </a:r>
          </a:p>
          <a:p>
            <a:pPr marL="216000" indent="-216000">
              <a:buNone/>
            </a:pPr>
            <a:r>
              <a:rPr lang="en-US" sz="2000" b="0" strike="noStrike" spc="-1">
                <a:solidFill>
                  <a:srgbClr val="000000"/>
                </a:solidFill>
                <a:latin typeface="Arial"/>
              </a:rPr>
              <a:t>Lab anchor: the Intermediate CSR is signed by the Root; the server CSR is signed by the Intermediate.</a:t>
            </a:r>
          </a:p>
          <a:p>
            <a:pPr marL="216000" indent="0">
              <a:lnSpc>
                <a:spcPct val="100000"/>
              </a:lnSpc>
              <a:buNone/>
            </a:pPr>
            <a:r>
              <a:rPr lang="en-US" sz="2000" b="0" strike="noStrike" spc="-1">
                <a:solidFill>
                  <a:srgbClr val="000000"/>
                </a:solidFill>
                <a:latin typeface="Arial"/>
              </a:rPr>
              <a:t>Sources: RFC 5280</a:t>
            </a:r>
          </a:p>
        </p:txBody>
      </p:sp>
      <p:sp>
        <p:nvSpPr>
          <p:cNvPr id="1558"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11D0D32-3076-4D36-B5DA-A08FCCF2F404}" type="slidenum">
              <a:rPr lang="en-US" sz="1200" b="0" strike="noStrike" spc="-1">
                <a:solidFill>
                  <a:schemeClr val="dk1"/>
                </a:solidFill>
                <a:latin typeface="+mn-lt"/>
                <a:ea typeface="+mn-ea"/>
              </a:rPr>
              <a:t>16</a:t>
            </a:fld>
            <a:endParaRPr lang="en-US"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 name="PlaceHolder 1"/>
          <p:cNvSpPr>
            <a:spLocks noGrp="1" noRot="1" noChangeAspect="1"/>
          </p:cNvSpPr>
          <p:nvPr>
            <p:ph type="sldImg"/>
          </p:nvPr>
        </p:nvSpPr>
        <p:spPr>
          <a:xfrm>
            <a:off x="685800" y="1143000"/>
            <a:ext cx="5486400" cy="3086100"/>
          </a:xfrm>
          <a:prstGeom prst="rect">
            <a:avLst/>
          </a:prstGeom>
          <a:ln w="0">
            <a:noFill/>
          </a:ln>
        </p:spPr>
      </p:sp>
      <p:sp>
        <p:nvSpPr>
          <p:cNvPr id="15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make lifecycle operations visible before the lab commands appear.</a:t>
            </a:r>
          </a:p>
          <a:p>
            <a:pPr marL="216000" indent="-216000">
              <a:buNone/>
            </a:pPr>
            <a:r>
              <a:rPr lang="en-US" sz="2000" b="0" strike="noStrike" spc="-1">
                <a:solidFill>
                  <a:srgbClr val="000000"/>
                </a:solidFill>
                <a:latin typeface="Arial"/>
              </a:rPr>
              <a:t>Ask: what is the most common failure in real organizations? Expiration and unmanaged inventory are common answers.</a:t>
            </a:r>
          </a:p>
          <a:p>
            <a:pPr marL="216000" indent="-216000">
              <a:buNone/>
            </a:pPr>
            <a:r>
              <a:rPr lang="en-US" sz="2000" b="0" strike="noStrike" spc="-1">
                <a:solidFill>
                  <a:srgbClr val="000000"/>
                </a:solidFill>
                <a:latin typeface="Arial"/>
              </a:rPr>
              <a:t>Emphasize that renewal is not the same as revocation; rekey when compromise is possible.</a:t>
            </a:r>
          </a:p>
          <a:p>
            <a:pPr marL="216000" indent="0">
              <a:lnSpc>
                <a:spcPct val="100000"/>
              </a:lnSpc>
              <a:buNone/>
            </a:pPr>
            <a:r>
              <a:rPr lang="en-US" sz="2000" b="0" strike="noStrike" spc="-1">
                <a:solidFill>
                  <a:srgbClr val="000000"/>
                </a:solidFill>
                <a:latin typeface="Arial"/>
              </a:rPr>
              <a:t>Sources: Let’s Encrypt documentation · RFC 5280</a:t>
            </a:r>
          </a:p>
        </p:txBody>
      </p:sp>
      <p:sp>
        <p:nvSpPr>
          <p:cNvPr id="1561"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5C977381-8900-42B7-BEE5-4F06677385AD}"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 name="PlaceHolder 1"/>
          <p:cNvSpPr>
            <a:spLocks noGrp="1" noRot="1" noChangeAspect="1"/>
          </p:cNvSpPr>
          <p:nvPr>
            <p:ph type="sldImg"/>
          </p:nvPr>
        </p:nvSpPr>
        <p:spPr>
          <a:xfrm>
            <a:off x="685800" y="1143000"/>
            <a:ext cx="5486400" cy="3086100"/>
          </a:xfrm>
          <a:prstGeom prst="rect">
            <a:avLst/>
          </a:prstGeom>
          <a:ln w="0">
            <a:noFill/>
          </a:ln>
        </p:spPr>
      </p:sp>
      <p:sp>
        <p:nvSpPr>
          <p:cNvPr id="15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sz="2000" dirty="0"/>
              <a:t>There is no single number for all browsers. Each browser or operating system maintains its own trusted root store, and enterprise-installed roots can add more.</a:t>
            </a:r>
          </a:p>
          <a:p>
            <a:pPr lvl="0"/>
            <a:r>
              <a:rPr lang="en-US" sz="2000" dirty="0"/>
              <a:t>Mozilla Firefox’s included CA report recently showed about </a:t>
            </a:r>
            <a:r>
              <a:rPr lang="en-US" sz="2000" b="1" dirty="0"/>
              <a:t>172 certificate records</a:t>
            </a:r>
            <a:r>
              <a:rPr lang="en-US" sz="2000" dirty="0"/>
              <a:t>. This is not 172 companies, and the list changes over time. </a:t>
            </a:r>
            <a:r>
              <a:rPr lang="en-US" sz="2000" dirty="0">
                <a:hlinkClick r:id="rId3"/>
              </a:rPr>
              <a:t>Mozilla Included CA Certificate List</a:t>
            </a:r>
            <a:endParaRPr lang="en-US" sz="2000" dirty="0"/>
          </a:p>
          <a:p>
            <a:pPr lvl="0"/>
            <a:r>
              <a:rPr lang="en-US" sz="2000" dirty="0"/>
              <a:t>Chrome, Windows, macOS/iOS, and Firefox use different root-store policies and contents. </a:t>
            </a:r>
            <a:r>
              <a:rPr lang="en-US" sz="2000" dirty="0">
                <a:hlinkClick r:id="rId4"/>
              </a:rPr>
              <a:t>Chrome Root Store</a:t>
            </a:r>
            <a:endParaRPr lang="en-US" sz="2000" dirty="0"/>
          </a:p>
          <a:p>
            <a:pPr lvl="0"/>
            <a:r>
              <a:rPr lang="en-US" sz="2000" dirty="0"/>
              <a:t>A good lecture simplification is: </a:t>
            </a:r>
            <a:r>
              <a:rPr lang="en-US" sz="2000" b="1" dirty="0"/>
              <a:t>browsers trust hundreds of public root certificates, not one universal list of CAs.</a:t>
            </a:r>
            <a:endParaRPr lang="en-US" sz="2000" dirty="0"/>
          </a:p>
          <a:p>
            <a:r>
              <a:rPr lang="en-US" sz="2000" b="1" dirty="0"/>
              <a:t>Certificate expiration recommendations</a:t>
            </a:r>
          </a:p>
          <a:p>
            <a:r>
              <a:rPr lang="en-US" sz="2000" dirty="0"/>
              <a:t>Certificate type</a:t>
            </a:r>
          </a:p>
          <a:p>
            <a:r>
              <a:rPr lang="en-US" sz="2000" dirty="0"/>
              <a:t>Practical recommendation</a:t>
            </a:r>
          </a:p>
          <a:p>
            <a:r>
              <a:rPr lang="en-US" sz="2000" dirty="0"/>
              <a:t>Public TLS leaf </a:t>
            </a:r>
            <a:r>
              <a:rPr lang="en-US" sz="2000" dirty="0" err="1"/>
              <a:t>certificateAutomate</a:t>
            </a:r>
            <a:r>
              <a:rPr lang="en-US" sz="2000" dirty="0"/>
              <a:t> renewal; current maximum is </a:t>
            </a:r>
            <a:r>
              <a:rPr lang="en-US" sz="2000" b="1" dirty="0"/>
              <a:t>200 days</a:t>
            </a:r>
            <a:r>
              <a:rPr lang="en-US" sz="2000" dirty="0"/>
              <a:t> for certificates issued from March 15, 2026 through March 14, 2027</a:t>
            </a:r>
          </a:p>
          <a:p>
            <a:r>
              <a:rPr lang="en-US" sz="2000" dirty="0"/>
              <a:t>Public TLS certificates after March 15, 2027: maximum becomes </a:t>
            </a:r>
            <a:r>
              <a:rPr lang="en-US" sz="2000" b="1" dirty="0"/>
              <a:t>100 days</a:t>
            </a:r>
            <a:endParaRPr lang="en-US" sz="2000" dirty="0"/>
          </a:p>
          <a:p>
            <a:r>
              <a:rPr lang="en-US" sz="2000" dirty="0"/>
              <a:t>Public TLS certificates after March 15, 2029: maximum becomes </a:t>
            </a:r>
            <a:r>
              <a:rPr lang="en-US" sz="2000" b="1" dirty="0"/>
              <a:t>47 days</a:t>
            </a:r>
            <a:endParaRPr lang="en-US" sz="2000" dirty="0"/>
          </a:p>
          <a:p>
            <a:r>
              <a:rPr lang="en-US" sz="2000" dirty="0"/>
              <a:t>Internal server certificates </a:t>
            </a:r>
            <a:r>
              <a:rPr lang="en-US" sz="2000" b="1" dirty="0"/>
              <a:t>30–90 days</a:t>
            </a:r>
            <a:r>
              <a:rPr lang="en-US" sz="2000" dirty="0"/>
              <a:t> with automation; 90 days is a good lab default</a:t>
            </a:r>
          </a:p>
          <a:p>
            <a:r>
              <a:rPr lang="en-US" sz="2000" dirty="0"/>
              <a:t>Intermediate CA: Commonly </a:t>
            </a:r>
            <a:r>
              <a:rPr lang="en-US" sz="2000" b="1" dirty="0"/>
              <a:t>3–5 years</a:t>
            </a:r>
            <a:r>
              <a:rPr lang="en-US" sz="2000" dirty="0"/>
              <a:t>, with rollover planning</a:t>
            </a:r>
          </a:p>
          <a:p>
            <a:r>
              <a:rPr lang="en-US" sz="2000" dirty="0"/>
              <a:t>Offline Root CA: Commonly </a:t>
            </a:r>
            <a:r>
              <a:rPr lang="en-US" sz="2000" b="1" dirty="0"/>
              <a:t>10–20 years</a:t>
            </a:r>
            <a:r>
              <a:rPr lang="en-US" sz="2000" dirty="0"/>
              <a:t>, protected offline and replaced through planned rollover</a:t>
            </a:r>
          </a:p>
          <a:p>
            <a:r>
              <a:rPr lang="en-US" sz="2000" dirty="0"/>
              <a:t>These public certificate limits come from the </a:t>
            </a:r>
            <a:r>
              <a:rPr lang="en-US" sz="2000" dirty="0">
                <a:hlinkClick r:id="rId5"/>
              </a:rPr>
              <a:t>CA/B Forum TLS Baseline Requirements</a:t>
            </a:r>
            <a:r>
              <a:rPr lang="en-US" sz="2000" dirty="0"/>
              <a:t>. Let’s Encrypt issues 90-day certificates currently and plans shorter 64-day and 45-day lifetimes over time. </a:t>
            </a:r>
            <a:r>
              <a:rPr lang="en-US" sz="2000" dirty="0">
                <a:hlinkClick r:id="rId6"/>
              </a:rPr>
              <a:t>Let’s Encrypt lifetime announcement</a:t>
            </a:r>
            <a:endParaRPr lang="en-US" sz="2000" dirty="0"/>
          </a:p>
          <a:p>
            <a:r>
              <a:rPr lang="en-US" sz="2000" dirty="0"/>
              <a:t>For your CYBER 444 lab, I recommend:</a:t>
            </a:r>
          </a:p>
          <a:p>
            <a:pPr lvl="0"/>
            <a:r>
              <a:rPr lang="en-US" sz="2000" dirty="0"/>
              <a:t>Root CA: 10 years</a:t>
            </a:r>
          </a:p>
          <a:p>
            <a:pPr lvl="0"/>
            <a:r>
              <a:rPr lang="en-US" sz="2000" dirty="0"/>
              <a:t>Intermediate CA: 5 years</a:t>
            </a:r>
          </a:p>
          <a:p>
            <a:pPr lvl="0"/>
            <a:r>
              <a:rPr lang="en-US" sz="2000" dirty="0"/>
              <a:t>Internal leaf certificate: 90 days</a:t>
            </a:r>
          </a:p>
          <a:p>
            <a:pPr lvl="0"/>
            <a:r>
              <a:rPr lang="en-US" sz="2000" dirty="0"/>
              <a:t>Renew when 30 days remain</a:t>
            </a:r>
          </a:p>
          <a:p>
            <a:pPr lvl="0"/>
            <a:r>
              <a:rPr lang="en-US" sz="2000" dirty="0"/>
              <a:t>Revoke and replace immediately if compromise is suspected</a:t>
            </a:r>
          </a:p>
          <a:p>
            <a:r>
              <a:rPr lang="en-US" sz="2000" dirty="0"/>
              <a:t>Shorter validity limits the exposure window of an undetected compromise, but only works well when renewal is automated and monitored.</a:t>
            </a:r>
          </a:p>
        </p:txBody>
      </p:sp>
      <p:sp>
        <p:nvSpPr>
          <p:cNvPr id="1564"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13AA2A0-3BBC-410F-8420-5A91FC9ECB3B}" type="slidenum">
              <a:rPr lang="en-US" sz="1200" b="0" strike="noStrike" spc="-1">
                <a:solidFill>
                  <a:schemeClr val="dk1"/>
                </a:solidFill>
                <a:latin typeface="+mn-lt"/>
                <a:ea typeface="+mn-ea"/>
              </a:rPr>
              <a:t>18</a:t>
            </a:fld>
            <a:endParaRPr lang="en-US" sz="12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5" name="PlaceHolder 1"/>
          <p:cNvSpPr>
            <a:spLocks noGrp="1" noRot="1" noChangeAspect="1"/>
          </p:cNvSpPr>
          <p:nvPr>
            <p:ph type="sldImg"/>
          </p:nvPr>
        </p:nvSpPr>
        <p:spPr>
          <a:xfrm>
            <a:off x="685800" y="1143000"/>
            <a:ext cx="5486400" cy="3086100"/>
          </a:xfrm>
          <a:prstGeom prst="rect">
            <a:avLst/>
          </a:prstGeom>
          <a:ln w="0">
            <a:noFill/>
          </a:ln>
        </p:spPr>
      </p:sp>
      <p:sp>
        <p:nvSpPr>
          <p:cNvPr id="15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connect file permissions to security architecture.</a:t>
            </a:r>
          </a:p>
          <a:p>
            <a:pPr marL="216000" indent="-216000">
              <a:buNone/>
            </a:pPr>
            <a:r>
              <a:rPr lang="en-US" sz="2000" b="0" strike="noStrike" spc="-1">
                <a:solidFill>
                  <a:srgbClr val="000000"/>
                </a:solidFill>
                <a:latin typeface="Arial"/>
              </a:rPr>
              <a:t>Lab mapping: private directories are mode 700, private keys are mode 400/600, and CA keys are passphrase-protected.</a:t>
            </a:r>
          </a:p>
          <a:p>
            <a:pPr marL="216000" indent="-216000">
              <a:buNone/>
            </a:pPr>
            <a:r>
              <a:rPr lang="en-US" sz="2000" b="0" strike="noStrike" spc="-1">
                <a:solidFill>
                  <a:srgbClr val="000000"/>
                </a:solidFill>
                <a:latin typeface="Arial"/>
              </a:rPr>
              <a:t>Ask: why does a certificate have 444-ish permissions while the key does not? The certificate is public; the key authorizes impersonation/signing.</a:t>
            </a:r>
          </a:p>
          <a:p>
            <a:pPr marL="216000" indent="0">
              <a:lnSpc>
                <a:spcPct val="100000"/>
              </a:lnSpc>
              <a:buNone/>
            </a:pPr>
            <a:r>
              <a:rPr lang="en-US" sz="2000" b="0" strike="noStrike" spc="-1">
                <a:solidFill>
                  <a:srgbClr val="000000"/>
                </a:solidFill>
                <a:latin typeface="Arial"/>
              </a:rPr>
              <a:t>Sources: Nginx HTTPS documentation · NIST SP 800-57 concepts</a:t>
            </a:r>
          </a:p>
        </p:txBody>
      </p:sp>
      <p:sp>
        <p:nvSpPr>
          <p:cNvPr id="1567"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32B5774-FA20-4CD9-B5ED-5B51F8791880}" type="slidenum">
              <a:rPr lang="en-US" sz="1200" b="0" strike="noStrike" spc="-1">
                <a:solidFill>
                  <a:schemeClr val="dk1"/>
                </a:solidFill>
                <a:latin typeface="+mn-lt"/>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 name="PlaceHolder 1"/>
          <p:cNvSpPr>
            <a:spLocks noGrp="1" noRot="1" noChangeAspect="1"/>
          </p:cNvSpPr>
          <p:nvPr>
            <p:ph type="sldImg"/>
          </p:nvPr>
        </p:nvSpPr>
        <p:spPr>
          <a:xfrm>
            <a:off x="685800" y="1143000"/>
            <a:ext cx="5486400" cy="3086100"/>
          </a:xfrm>
          <a:prstGeom prst="rect">
            <a:avLst/>
          </a:prstGeom>
          <a:ln w="0">
            <a:noFill/>
          </a:ln>
        </p:spPr>
      </p:sp>
      <p:sp>
        <p:nvSpPr>
          <p:cNvPr id="15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name the security properties before showing packet flows.</a:t>
            </a:r>
          </a:p>
          <a:p>
            <a:pPr marL="216000" indent="-216000">
              <a:buNone/>
            </a:pPr>
            <a:r>
              <a:rPr lang="en-US" sz="2000" b="0" strike="noStrike" spc="-1">
                <a:solidFill>
                  <a:srgbClr val="000000"/>
                </a:solidFill>
                <a:latin typeface="Arial"/>
              </a:rPr>
              <a:t>Talk track: confidentiality and integrity come from the record protection keys; authentication comes from certificate validation and the CertificateVerify signature; forward secrecy comes from ephemeral key exchange.</a:t>
            </a:r>
          </a:p>
          <a:p>
            <a:pPr marL="216000" indent="0">
              <a:lnSpc>
                <a:spcPct val="100000"/>
              </a:lnSpc>
              <a:buNone/>
            </a:pPr>
            <a:r>
              <a:rPr lang="en-US" sz="2000" b="0" strike="noStrike" spc="-1">
                <a:solidFill>
                  <a:srgbClr val="000000"/>
                </a:solidFill>
                <a:latin typeface="Arial"/>
              </a:rPr>
              <a:t>Sources: RFC 8446 · RFC 9325</a:t>
            </a:r>
          </a:p>
        </p:txBody>
      </p:sp>
      <p:sp>
        <p:nvSpPr>
          <p:cNvPr id="1599" name="PlaceHolder 3"/>
          <p:cNvSpPr>
            <a:spLocks noGrp="1"/>
          </p:cNvSpPr>
          <p:nvPr>
            <p:ph type="sldNum" idx="9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34BC877-B43D-44FE-A03E-FC463C8C11DF}" type="slidenum">
              <a:rPr lang="en-US" sz="1200" b="0" strike="noStrike" spc="-1">
                <a:solidFill>
                  <a:schemeClr val="dk1"/>
                </a:solidFill>
                <a:latin typeface="+mn-lt"/>
                <a:ea typeface="+mn-ea"/>
              </a:rPr>
              <a:t>20</a:t>
            </a:fld>
            <a:endParaRPr lang="en-US" sz="12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 name="PlaceHolder 1"/>
          <p:cNvSpPr>
            <a:spLocks noGrp="1" noRot="1" noChangeAspect="1"/>
          </p:cNvSpPr>
          <p:nvPr>
            <p:ph type="sldImg"/>
          </p:nvPr>
        </p:nvSpPr>
        <p:spPr>
          <a:xfrm>
            <a:off x="685800" y="1143000"/>
            <a:ext cx="5486400" cy="3086100"/>
          </a:xfrm>
          <a:prstGeom prst="rect">
            <a:avLst/>
          </a:prstGeom>
          <a:ln w="0">
            <a:noFill/>
          </a:ln>
        </p:spPr>
      </p:sp>
      <p:sp>
        <p:nvSpPr>
          <p:cNvPr id="16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use a simplified flow; do not drown students in every optional message.</a:t>
            </a:r>
          </a:p>
          <a:p>
            <a:pPr marL="216000" indent="-216000">
              <a:buNone/>
            </a:pPr>
            <a:r>
              <a:rPr lang="en-US" sz="2000" b="0" strike="noStrike" spc="-1">
                <a:solidFill>
                  <a:srgbClr val="000000"/>
                </a:solidFill>
                <a:latin typeface="Arial"/>
              </a:rPr>
              <a:t>Talk track: ClientHello/ServerHello negotiate; the server certificate provides identity; the key exchange establishes a shared secret; Finished messages prove both sides derived the same keys.</a:t>
            </a:r>
          </a:p>
          <a:p>
            <a:pPr marL="216000" indent="-216000">
              <a:buNone/>
            </a:pPr>
            <a:r>
              <a:rPr lang="en-US" sz="2000" b="0" strike="noStrike" spc="-1">
                <a:solidFill>
                  <a:srgbClr val="000000"/>
                </a:solidFill>
                <a:latin typeface="Arial"/>
              </a:rPr>
              <a:t>Connect `ECDHE-RSA-AES256-GCM-SHA384` to an RSA certificate + ephemeral ECDHE key exchange.</a:t>
            </a:r>
          </a:p>
          <a:p>
            <a:pPr marL="216000" indent="0">
              <a:lnSpc>
                <a:spcPct val="100000"/>
              </a:lnSpc>
              <a:buNone/>
            </a:pPr>
            <a:r>
              <a:rPr lang="en-US" sz="2000" b="0" strike="noStrike" spc="-1">
                <a:solidFill>
                  <a:srgbClr val="000000"/>
                </a:solidFill>
                <a:latin typeface="Arial"/>
              </a:rPr>
              <a:t>Sources: RFC 8446 · RFC 9325</a:t>
            </a:r>
          </a:p>
        </p:txBody>
      </p:sp>
      <p:sp>
        <p:nvSpPr>
          <p:cNvPr id="1602" name="PlaceHolder 3"/>
          <p:cNvSpPr>
            <a:spLocks noGrp="1"/>
          </p:cNvSpPr>
          <p:nvPr>
            <p:ph type="sldNum" idx="9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3D4E412-F64C-4A9F-9FC5-BB57B90B61A4}" type="slidenum">
              <a:rPr lang="en-US" sz="1200" b="0" strike="noStrike" spc="-1">
                <a:solidFill>
                  <a:schemeClr val="dk1"/>
                </a:solidFill>
                <a:latin typeface="+mn-lt"/>
                <a:ea typeface="+mn-ea"/>
              </a:rPr>
              <a:t>21</a:t>
            </a:fld>
            <a:endParaRPr lang="en-US" sz="12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 name="PlaceHolder 1"/>
          <p:cNvSpPr>
            <a:spLocks noGrp="1" noRot="1" noChangeAspect="1"/>
          </p:cNvSpPr>
          <p:nvPr>
            <p:ph type="sldImg"/>
          </p:nvPr>
        </p:nvSpPr>
        <p:spPr>
          <a:xfrm>
            <a:off x="685800" y="1143000"/>
            <a:ext cx="5486400" cy="3086100"/>
          </a:xfrm>
          <a:prstGeom prst="rect">
            <a:avLst/>
          </a:prstGeom>
          <a:ln w="0">
            <a:noFill/>
          </a:ln>
        </p:spPr>
      </p:sp>
      <p:sp>
        <p:nvSpPr>
          <p:cNvPr id="16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contrast the shape, not every wire detail.</a:t>
            </a:r>
          </a:p>
          <a:p>
            <a:pPr marL="216000" indent="-216000">
              <a:buNone/>
            </a:pPr>
            <a:r>
              <a:rPr lang="en-US" sz="2000" b="0" strike="noStrike" spc="-1">
                <a:solidFill>
                  <a:srgbClr val="000000"/>
                </a:solidFill>
                <a:latin typeface="Arial"/>
              </a:rPr>
              <a:t>Call out that TLS 1.3 cipher suite names no longer encode the certificate/key exchange algorithm. Certificate authentication and record protection are separated conceptually.</a:t>
            </a:r>
          </a:p>
          <a:p>
            <a:pPr marL="216000" indent="-216000">
              <a:buNone/>
            </a:pPr>
            <a:r>
              <a:rPr lang="en-US" sz="2000" b="0" strike="noStrike" spc="-1">
                <a:solidFill>
                  <a:srgbClr val="000000"/>
                </a:solidFill>
                <a:latin typeface="Arial"/>
              </a:rPr>
              <a:t>Hardening choice for the lab: allow TLS 1.2 and 1.3 only; prefer TLS 1.3 when available.</a:t>
            </a:r>
          </a:p>
          <a:p>
            <a:pPr marL="216000" indent="0">
              <a:lnSpc>
                <a:spcPct val="100000"/>
              </a:lnSpc>
              <a:buNone/>
            </a:pPr>
            <a:r>
              <a:rPr lang="en-US" sz="2000" b="0" strike="noStrike" spc="-1">
                <a:solidFill>
                  <a:srgbClr val="000000"/>
                </a:solidFill>
                <a:latin typeface="Arial"/>
              </a:rPr>
              <a:t>Sources: RFC 8446</a:t>
            </a:r>
          </a:p>
        </p:txBody>
      </p:sp>
      <p:sp>
        <p:nvSpPr>
          <p:cNvPr id="1605" name="PlaceHolder 3"/>
          <p:cNvSpPr>
            <a:spLocks noGrp="1"/>
          </p:cNvSpPr>
          <p:nvPr>
            <p:ph type="sldNum" idx="9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9B910EF-22F1-4C49-8AC2-0A88CA95E062}" type="slidenum">
              <a:rPr lang="en-US" sz="1200" b="0" strike="noStrike" spc="-1">
                <a:solidFill>
                  <a:schemeClr val="dk1"/>
                </a:solidFill>
                <a:latin typeface="+mn-lt"/>
                <a:ea typeface="+mn-ea"/>
              </a:rPr>
              <a:t>22</a:t>
            </a:fld>
            <a:endParaRPr lang="en-US" sz="12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 name="PlaceHolder 1"/>
          <p:cNvSpPr>
            <a:spLocks noGrp="1" noRot="1" noChangeAspect="1"/>
          </p:cNvSpPr>
          <p:nvPr>
            <p:ph type="sldImg"/>
          </p:nvPr>
        </p:nvSpPr>
        <p:spPr>
          <a:xfrm>
            <a:off x="0" y="1283400"/>
            <a:ext cx="6857640" cy="3857040"/>
          </a:xfrm>
          <a:prstGeom prst="rect">
            <a:avLst/>
          </a:prstGeom>
          <a:ln w="0">
            <a:noFill/>
          </a:ln>
        </p:spPr>
      </p:sp>
      <p:sp>
        <p:nvSpPr>
          <p:cNvPr id="161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Teaching intent: give students a direct comparison they can use while reading Nginx configuration and testssl.sh output.</a:t>
            </a:r>
          </a:p>
          <a:p>
            <a:pPr marL="216000" indent="-216000">
              <a:buNone/>
            </a:pPr>
            <a:r>
              <a:rPr lang="en-US" sz="2000" b="0" strike="noStrike" spc="-1">
                <a:solidFill>
                  <a:srgbClr val="000000"/>
                </a:solidFill>
                <a:latin typeface="Arial"/>
              </a:rPr>
              <a:t>Key differences: TLS 1.2 supports a wider range of legacy handshakes and cipher suites; forward secrecy is a configuration choice. TLS 1.3 removes static RSA key exchange, requires modern AEAD record protection, and uses ephemeral key exchange in the normal design.</a:t>
            </a:r>
          </a:p>
          <a:p>
            <a:pPr marL="216000" indent="-216000">
              <a:buNone/>
            </a:pPr>
            <a:r>
              <a:rPr lang="en-US" sz="2000" b="0" strike="noStrike" spc="-1">
                <a:solidFill>
                  <a:srgbClr val="000000"/>
                </a:solidFill>
                <a:latin typeface="Arial"/>
              </a:rPr>
              <a:t>Ask: why keep TLS 1.2 at all? Compatibility with clients and libraries that have not moved to TLS 1.3.</a:t>
            </a:r>
          </a:p>
          <a:p>
            <a:pPr marL="216000" indent="-216000">
              <a:buNone/>
            </a:pPr>
            <a:r>
              <a:rPr lang="en-US" sz="2000" b="0" strike="noStrike" spc="-1">
                <a:solidFill>
                  <a:srgbClr val="000000"/>
                </a:solidFill>
                <a:latin typeface="Arial"/>
              </a:rPr>
              <a:t>Ask: why not enable every protocol version? Legacy versions increase downgrade and cryptographic risk.</a:t>
            </a:r>
          </a:p>
          <a:p>
            <a:pPr marL="216000" indent="-216000">
              <a:buNone/>
            </a:pPr>
            <a:r>
              <a:rPr lang="en-US" sz="2000" b="0" strike="noStrike" spc="-1">
                <a:solidFill>
                  <a:srgbClr val="000000"/>
                </a:solidFill>
                <a:latin typeface="Arial"/>
              </a:rPr>
              <a:t>Sources: RFC 8446; RFC 9325.</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1" name="PlaceHolder 1"/>
          <p:cNvSpPr>
            <a:spLocks noGrp="1" noRot="1" noChangeAspect="1"/>
          </p:cNvSpPr>
          <p:nvPr>
            <p:ph type="sldImg"/>
          </p:nvPr>
        </p:nvSpPr>
        <p:spPr>
          <a:xfrm>
            <a:off x="685800" y="1143000"/>
            <a:ext cx="5486400" cy="3086100"/>
          </a:xfrm>
          <a:prstGeom prst="rect">
            <a:avLst/>
          </a:prstGeom>
          <a:ln w="0">
            <a:noFill/>
          </a:ln>
        </p:spPr>
      </p:sp>
      <p:sp>
        <p:nvSpPr>
          <p:cNvPr id="16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explain the intent behind the lab Nginx config rather than memorizing a string.</a:t>
            </a:r>
          </a:p>
          <a:p>
            <a:pPr marL="216000" indent="-216000">
              <a:buNone/>
            </a:pPr>
            <a:r>
              <a:rPr lang="en-US" sz="2000" b="0" strike="noStrike" spc="-1">
                <a:solidFill>
                  <a:srgbClr val="000000"/>
                </a:solidFill>
                <a:latin typeface="Arial"/>
              </a:rPr>
              <a:t>Talk track: disable obsolete protocol versions; use TLS 1.2/1.3; choose AEAD suites; prefer ECDHE in TLS 1.2; disable session tickets when the lab wants a simple operational story; validate with `testssl.sh`.</a:t>
            </a:r>
          </a:p>
          <a:p>
            <a:pPr marL="216000" indent="-216000">
              <a:buNone/>
            </a:pPr>
            <a:r>
              <a:rPr lang="en-US" sz="2000" b="0" strike="noStrike" spc="-1">
                <a:solidFill>
                  <a:srgbClr val="000000"/>
                </a:solidFill>
                <a:latin typeface="Arial"/>
              </a:rPr>
              <a:t>Avoid promising that a cipher list is forever-test and review it as libraries evolve.</a:t>
            </a:r>
          </a:p>
          <a:p>
            <a:pPr marL="216000" indent="-216000">
              <a:buNone/>
            </a:pPr>
            <a:r>
              <a:rPr lang="en-US" sz="2000" b="0" strike="noStrike" spc="-1">
                <a:solidFill>
                  <a:srgbClr val="000000"/>
                </a:solidFill>
                <a:latin typeface="Arial"/>
              </a:rPr>
              <a:t>Sources: RFC 9325 · Nginx HTTPS documentation</a:t>
            </a:r>
          </a:p>
        </p:txBody>
      </p:sp>
      <p:sp>
        <p:nvSpPr>
          <p:cNvPr id="1613" name="PlaceHolder 3"/>
          <p:cNvSpPr>
            <a:spLocks noGrp="1"/>
          </p:cNvSpPr>
          <p:nvPr>
            <p:ph type="sldNum" idx="9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84BEC32-AD36-45D9-974A-26774485C211}" type="slidenum">
              <a:rPr lang="en-US" sz="1200" b="0" strike="noStrike" spc="-1">
                <a:solidFill>
                  <a:schemeClr val="dk1"/>
                </a:solidFill>
                <a:latin typeface="+mn-lt"/>
                <a:ea typeface="+mn-ea"/>
              </a:rPr>
              <a:t>24</a:t>
            </a:fld>
            <a:endParaRPr lang="en-US" sz="12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0" name="PlaceHolder 1"/>
          <p:cNvSpPr>
            <a:spLocks noGrp="1" noRot="1" noChangeAspect="1"/>
          </p:cNvSpPr>
          <p:nvPr>
            <p:ph type="sldImg"/>
          </p:nvPr>
        </p:nvSpPr>
        <p:spPr>
          <a:xfrm>
            <a:off x="685800" y="1143000"/>
            <a:ext cx="5486400" cy="3086100"/>
          </a:xfrm>
          <a:prstGeom prst="rect">
            <a:avLst/>
          </a:prstGeom>
          <a:ln w="0">
            <a:noFill/>
          </a:ln>
        </p:spPr>
      </p:sp>
      <p:sp>
        <p:nvSpPr>
          <p:cNvPr id="16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turn the lab config into a checklist.</a:t>
            </a:r>
          </a:p>
          <a:p>
            <a:pPr marL="216000" indent="-216000">
              <a:buNone/>
            </a:pPr>
            <a:r>
              <a:rPr lang="en-US" sz="2000" b="0" strike="noStrike" spc="-1">
                <a:solidFill>
                  <a:srgbClr val="000000"/>
                </a:solidFill>
                <a:latin typeface="Arial"/>
              </a:rPr>
              <a:t>Demo: show the certificate/key paths, TLS protocol list, cipher list, session tickets, HSTS header, and port-80 redirect.</a:t>
            </a:r>
          </a:p>
          <a:p>
            <a:pPr marL="216000" indent="-216000">
              <a:buNone/>
            </a:pPr>
            <a:r>
              <a:rPr lang="en-US" sz="2000" b="0" strike="noStrike" spc="-1">
                <a:solidFill>
                  <a:srgbClr val="000000"/>
                </a:solidFill>
                <a:latin typeface="Arial"/>
              </a:rPr>
              <a:t>Instructor correction: ensure the file called `ssl_certificate` is a leaf-plus-intermediate chain file in production, while the root remains a trust anchor.</a:t>
            </a:r>
          </a:p>
          <a:p>
            <a:pPr marL="216000" indent="0">
              <a:lnSpc>
                <a:spcPct val="100000"/>
              </a:lnSpc>
              <a:buNone/>
            </a:pPr>
            <a:r>
              <a:rPr lang="en-US" sz="2000" b="0" strike="noStrike" spc="-1">
                <a:solidFill>
                  <a:srgbClr val="000000"/>
                </a:solidFill>
                <a:latin typeface="Arial"/>
              </a:rPr>
              <a:t>Sources: lab-05.md · Nginx HTTPS documentation · RFC 6797</a:t>
            </a:r>
          </a:p>
        </p:txBody>
      </p:sp>
      <p:sp>
        <p:nvSpPr>
          <p:cNvPr id="1622" name="PlaceHolder 3"/>
          <p:cNvSpPr>
            <a:spLocks noGrp="1"/>
          </p:cNvSpPr>
          <p:nvPr>
            <p:ph type="sldNum" idx="9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DFB8F6E-9B63-4A4F-B5F9-C8E3B0FD24BB}" type="slidenum">
              <a:rPr lang="en-US" sz="1200" b="0" strike="noStrike" spc="-1">
                <a:solidFill>
                  <a:schemeClr val="dk1"/>
                </a:solidFill>
                <a:latin typeface="+mn-lt"/>
                <a:ea typeface="+mn-ea"/>
              </a:rPr>
              <a:t>25</a:t>
            </a:fld>
            <a:endParaRPr lang="en-US" sz="1200" b="0" strike="noStrike" spc="-1">
              <a:solidFill>
                <a:srgbClr val="000000"/>
              </a:solidFill>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 name="PlaceHolder 1"/>
          <p:cNvSpPr>
            <a:spLocks noGrp="1" noRot="1" noChangeAspect="1"/>
          </p:cNvSpPr>
          <p:nvPr>
            <p:ph type="sldImg"/>
          </p:nvPr>
        </p:nvSpPr>
        <p:spPr>
          <a:xfrm>
            <a:off x="685800" y="1143000"/>
            <a:ext cx="5486400" cy="3086100"/>
          </a:xfrm>
          <a:prstGeom prst="rect">
            <a:avLst/>
          </a:prstGeom>
          <a:ln w="0">
            <a:noFill/>
          </a:ln>
        </p:spPr>
      </p:sp>
      <p:sp>
        <p:nvSpPr>
          <p:cNvPr id="16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make the blast radius emotionally and operationally concrete.</a:t>
            </a:r>
          </a:p>
          <a:p>
            <a:pPr marL="216000" indent="-216000">
              <a:buNone/>
            </a:pPr>
            <a:r>
              <a:rPr lang="en-US" sz="2000" b="0" strike="noStrike" spc="-1">
                <a:solidFill>
                  <a:srgbClr val="000000"/>
                </a:solidFill>
                <a:latin typeface="Arial"/>
              </a:rPr>
              <a:t>Talk track: fraudulent certificates for Google were used in MITM attempts; browser vendors moved to distrust DigiNotar roots.</a:t>
            </a:r>
          </a:p>
          <a:p>
            <a:pPr marL="216000" indent="-216000">
              <a:buNone/>
            </a:pPr>
            <a:r>
              <a:rPr lang="en-US" sz="2000" b="0" strike="noStrike" spc="-1">
                <a:solidFill>
                  <a:srgbClr val="000000"/>
                </a:solidFill>
                <a:latin typeface="Arial"/>
              </a:rPr>
              <a:t>Ask: why did browser vendors have to react at the trust-store level? Because a trusted CA could issue certificates for any domain in its scope.</a:t>
            </a:r>
          </a:p>
          <a:p>
            <a:pPr marL="216000" indent="0">
              <a:lnSpc>
                <a:spcPct val="100000"/>
              </a:lnSpc>
              <a:buNone/>
            </a:pPr>
            <a:r>
              <a:rPr lang="en-US" sz="2000" b="0" strike="noStrike" spc="-1">
                <a:solidFill>
                  <a:srgbClr val="000000"/>
                </a:solidFill>
                <a:latin typeface="Arial"/>
              </a:rPr>
              <a:t>Sources: Google Security Blog · DigiNotar (2011)</a:t>
            </a:r>
          </a:p>
        </p:txBody>
      </p:sp>
      <p:sp>
        <p:nvSpPr>
          <p:cNvPr id="1640" name="PlaceHolder 3"/>
          <p:cNvSpPr>
            <a:spLocks noGrp="1"/>
          </p:cNvSpPr>
          <p:nvPr>
            <p:ph type="sldNum" idx="10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086D06B-DF69-4D72-8AF8-80922222023C}" type="slidenum">
              <a:rPr lang="en-US" sz="1200" b="0" strike="noStrike" spc="-1">
                <a:solidFill>
                  <a:schemeClr val="dk1"/>
                </a:solidFill>
                <a:latin typeface="+mn-lt"/>
                <a:ea typeface="+mn-ea"/>
              </a:rPr>
              <a:t>26</a:t>
            </a:fld>
            <a:endParaRPr lang="en-US" sz="1200" b="0" strike="noStrike" spc="-1">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 name="PlaceHolder 1"/>
          <p:cNvSpPr>
            <a:spLocks noGrp="1" noRot="1" noChangeAspect="1"/>
          </p:cNvSpPr>
          <p:nvPr>
            <p:ph type="sldImg"/>
          </p:nvPr>
        </p:nvSpPr>
        <p:spPr>
          <a:xfrm>
            <a:off x="685800" y="1143000"/>
            <a:ext cx="5486400" cy="3086100"/>
          </a:xfrm>
          <a:prstGeom prst="rect">
            <a:avLst/>
          </a:prstGeom>
          <a:ln w="0">
            <a:noFill/>
          </a:ln>
        </p:spPr>
      </p:sp>
      <p:sp>
        <p:nvSpPr>
          <p:cNvPr id="16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help students choose instead of defaulting to Let’s Encrypt for everything.</a:t>
            </a:r>
          </a:p>
          <a:p>
            <a:pPr marL="216000" indent="-216000">
              <a:buNone/>
            </a:pPr>
            <a:r>
              <a:rPr lang="en-US" sz="2000" b="0" strike="noStrike" spc="-1">
                <a:solidFill>
                  <a:srgbClr val="000000"/>
                </a:solidFill>
                <a:latin typeface="Arial"/>
              </a:rPr>
              <a:t>Model answer: public CA for public names and internet clients; internal CA for internal service-to-service TLS, private DNS, mTLS fleets, and environments you control.</a:t>
            </a:r>
          </a:p>
          <a:p>
            <a:pPr marL="216000" indent="-216000">
              <a:buNone/>
            </a:pPr>
            <a:r>
              <a:rPr lang="en-US" sz="2000" b="0" strike="noStrike" spc="-1">
                <a:solidFill>
                  <a:srgbClr val="000000"/>
                </a:solidFill>
                <a:latin typeface="Arial"/>
              </a:rPr>
              <a:t>Discuss cost: public certificates shift trust distribution to the CA; internal certificates shift trust distribution and operations to you.</a:t>
            </a:r>
          </a:p>
          <a:p>
            <a:pPr marL="216000" indent="0">
              <a:lnSpc>
                <a:spcPct val="100000"/>
              </a:lnSpc>
              <a:buNone/>
            </a:pPr>
            <a:r>
              <a:rPr lang="en-US" sz="2000" b="0" strike="noStrike" spc="-1">
                <a:solidFill>
                  <a:srgbClr val="000000"/>
                </a:solidFill>
                <a:latin typeface="Arial"/>
              </a:rPr>
              <a:t>Sources: Let’s Encrypt documentation · RFC 5280</a:t>
            </a:r>
          </a:p>
        </p:txBody>
      </p:sp>
      <p:sp>
        <p:nvSpPr>
          <p:cNvPr id="1646" name="PlaceHolder 3"/>
          <p:cNvSpPr>
            <a:spLocks noGrp="1"/>
          </p:cNvSpPr>
          <p:nvPr>
            <p:ph type="sldNum" idx="10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F0B333F-B3FA-4D3C-993C-EF76D84D7E7E}" type="slidenum">
              <a:rPr lang="en-US" sz="1200" b="0" strike="noStrike" spc="-1">
                <a:solidFill>
                  <a:schemeClr val="dk1"/>
                </a:solidFill>
                <a:latin typeface="+mn-lt"/>
                <a:ea typeface="+mn-ea"/>
              </a:rPr>
              <a:t>27</a:t>
            </a:fld>
            <a:endParaRPr lang="en-US" sz="1200" b="0" strike="noStrike" spc="-1">
              <a:solidFill>
                <a:srgbClr val="000000"/>
              </a:solidFill>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0" name="PlaceHolder 1"/>
          <p:cNvSpPr>
            <a:spLocks noGrp="1" noRot="1" noChangeAspect="1"/>
          </p:cNvSpPr>
          <p:nvPr>
            <p:ph type="sldImg"/>
          </p:nvPr>
        </p:nvSpPr>
        <p:spPr>
          <a:xfrm>
            <a:off x="0" y="1283400"/>
            <a:ext cx="6857640" cy="3857040"/>
          </a:xfrm>
          <a:prstGeom prst="rect">
            <a:avLst/>
          </a:prstGeom>
          <a:ln w="0">
            <a:noFill/>
          </a:ln>
        </p:spPr>
      </p:sp>
      <p:sp>
        <p:nvSpPr>
          <p:cNvPr id="1651" name="PlaceHolder 2"/>
          <p:cNvSpPr>
            <a:spLocks noGrp="1"/>
          </p:cNvSpPr>
          <p:nvPr>
            <p:ph type="body"/>
          </p:nvPr>
        </p:nvSpPr>
        <p:spPr>
          <a:xfrm>
            <a:off x="777240" y="4777560"/>
            <a:ext cx="6217560" cy="53834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Teaching intent: answer the question without implying that every browser has the same fixed list.</a:t>
            </a:r>
          </a:p>
          <a:p>
            <a:pPr marL="216000" indent="-216000">
              <a:buNone/>
            </a:pPr>
            <a:r>
              <a:rPr lang="en-US" sz="2000" b="0" strike="noStrike" spc="-1">
                <a:solidFill>
                  <a:srgbClr val="000000"/>
                </a:solidFill>
                <a:latin typeface="Arial"/>
              </a:rPr>
              <a:t>Current reference point: Mozilla’s Included CA Certificate List displayed 172 records on September 29, 2026. Chrome maintains its own Chrome Root Store, while Windows and Apple maintain platform trust programs. Browser builds, OS versions, trust purposes, constraints, and enterprise policy change the effective set.</a:t>
            </a:r>
          </a:p>
          <a:p>
            <a:pPr marL="216000" indent="-216000">
              <a:buNone/>
            </a:pPr>
            <a:r>
              <a:rPr lang="en-US" sz="2000" b="0" strike="noStrike" spc="-1">
                <a:solidFill>
                  <a:srgbClr val="000000"/>
                </a:solidFill>
                <a:latin typeface="Arial"/>
              </a:rPr>
              <a:t>Demo idea: compare Firefox’s certificate manager, Chrome’s certificate manager, and the host OS trust store.</a:t>
            </a:r>
          </a:p>
          <a:p>
            <a:pPr marL="216000" indent="-216000">
              <a:buNone/>
            </a:pPr>
            <a:r>
              <a:rPr lang="en-US" sz="2000" b="0" strike="noStrike" spc="-1">
                <a:solidFill>
                  <a:srgbClr val="000000"/>
                </a:solidFill>
                <a:latin typeface="Arial"/>
              </a:rPr>
              <a:t>Discussion: why can two browsers on the same laptop disagree? They may use different stores or different policy layers.</a:t>
            </a:r>
          </a:p>
          <a:p>
            <a:pPr marL="216000" indent="-216000">
              <a:buNone/>
            </a:pPr>
            <a:r>
              <a:rPr lang="en-US" sz="2000" b="0" strike="noStrike" spc="-1">
                <a:solidFill>
                  <a:srgbClr val="000000"/>
                </a:solidFill>
                <a:latin typeface="Arial"/>
              </a:rPr>
              <a:t>Sources: Mozilla Included CA Certificate List; Mozilla Root Store Policy; Chrome Root Store; Microsoft Trusted Root Program; Apple Root Certificate Program.</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 name="PlaceHolder 1"/>
          <p:cNvSpPr>
            <a:spLocks noGrp="1" noRot="1" noChangeAspect="1"/>
          </p:cNvSpPr>
          <p:nvPr>
            <p:ph type="sldImg"/>
          </p:nvPr>
        </p:nvSpPr>
        <p:spPr>
          <a:xfrm>
            <a:off x="685800" y="1143000"/>
            <a:ext cx="5486400" cy="3086100"/>
          </a:xfrm>
          <a:prstGeom prst="rect">
            <a:avLst/>
          </a:prstGeom>
          <a:ln w="0">
            <a:noFill/>
          </a:ln>
        </p:spPr>
      </p:sp>
      <p:sp>
        <p:nvSpPr>
          <p:cNvPr id="16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Teaching intent: model the validation loop.</a:t>
            </a:r>
          </a:p>
          <a:p>
            <a:pPr marL="216000" indent="-216000">
              <a:buNone/>
            </a:pPr>
            <a:r>
              <a:rPr lang="en-US" sz="2000" b="0" strike="noStrike" spc="-1">
                <a:solidFill>
                  <a:srgbClr val="000000"/>
                </a:solidFill>
                <a:latin typeface="Arial"/>
              </a:rPr>
              <a:t>Demo command: `./testssl.sh --severity HIGH --html lab5-tls-report.html https://lab5.local`.</a:t>
            </a:r>
          </a:p>
          <a:p>
            <a:pPr marL="216000" indent="-216000">
              <a:buNone/>
            </a:pPr>
            <a:r>
              <a:rPr lang="en-US" sz="2000" b="0" strike="noStrike" spc="-1">
                <a:solidFill>
                  <a:srgbClr val="000000"/>
                </a:solidFill>
                <a:latin typeface="Arial"/>
              </a:rPr>
              <a:t>Ask students to categorize findings: protocol, cipher, certificate chain, header, or operational issue.</a:t>
            </a:r>
          </a:p>
          <a:p>
            <a:pPr marL="216000" indent="-216000">
              <a:buNone/>
            </a:pPr>
            <a:r>
              <a:rPr lang="en-US" sz="2000" b="0" strike="noStrike" spc="-1">
                <a:solidFill>
                  <a:srgbClr val="000000"/>
                </a:solidFill>
                <a:latin typeface="Arial"/>
              </a:rPr>
              <a:t>Do not equate “clean today” with permanent security; pin the test version and review regularly.</a:t>
            </a:r>
          </a:p>
          <a:p>
            <a:pPr marL="216000" indent="0">
              <a:lnSpc>
                <a:spcPct val="100000"/>
              </a:lnSpc>
              <a:buNone/>
            </a:pPr>
            <a:r>
              <a:rPr lang="en-US" sz="2000" b="0" strike="noStrike" spc="-1">
                <a:solidFill>
                  <a:srgbClr val="000000"/>
                </a:solidFill>
                <a:latin typeface="Arial"/>
              </a:rPr>
              <a:t>Sources: lab-05.md · testssl.sh · Nginx HTTPS documentation</a:t>
            </a:r>
          </a:p>
        </p:txBody>
      </p:sp>
      <p:sp>
        <p:nvSpPr>
          <p:cNvPr id="1660" name="PlaceHolder 3"/>
          <p:cNvSpPr>
            <a:spLocks noGrp="1"/>
          </p:cNvSpPr>
          <p:nvPr>
            <p:ph type="sldNum" idx="1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52D07A5-BA6B-4D81-A71C-A28B39EDA9EE}" type="slidenum">
              <a:rPr lang="en-US" sz="1200" b="0" strike="noStrike" spc="-1">
                <a:solidFill>
                  <a:schemeClr val="dk1"/>
                </a:solidFill>
                <a:latin typeface="+mn-lt"/>
                <a:ea typeface="+mn-ea"/>
              </a:rPr>
              <a:t>29</a:t>
            </a:fld>
            <a:endParaRPr lang="en-US" sz="1200" b="0" strike="noStrike" spc="-1">
              <a:solidFill>
                <a:srgbClr val="000000"/>
              </a:solidFill>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3" name="PlaceHolder 1"/>
          <p:cNvSpPr>
            <a:spLocks noGrp="1" noRot="1" noChangeAspect="1"/>
          </p:cNvSpPr>
          <p:nvPr>
            <p:ph type="sldImg"/>
          </p:nvPr>
        </p:nvSpPr>
        <p:spPr>
          <a:xfrm>
            <a:off x="685800" y="1143000"/>
            <a:ext cx="5486400" cy="3086100"/>
          </a:xfrm>
          <a:prstGeom prst="rect">
            <a:avLst/>
          </a:prstGeom>
          <a:ln w="0">
            <a:noFill/>
          </a:ln>
        </p:spPr>
      </p:sp>
      <p:sp>
        <p:nvSpPr>
          <p:cNvPr id="16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Collect answers or use as a final verbal check.</a:t>
            </a:r>
          </a:p>
          <a:p>
            <a:pPr marL="216000" indent="0">
              <a:lnSpc>
                <a:spcPct val="100000"/>
              </a:lnSpc>
              <a:buNone/>
            </a:pPr>
            <a:r>
              <a:rPr lang="en-US" sz="2000" b="0" strike="noStrike" spc="-1">
                <a:solidFill>
                  <a:srgbClr val="000000"/>
                </a:solidFill>
                <a:latin typeface="Arial"/>
              </a:rPr>
              <a:t>Expected answers: 1) signatures provide authenticity/integrity, not confidentiality; 2) SAN identifies valid names; 3) Root is offline trust anchor; 4) Intermediate is online issuer; 5) ECDHE provides forward secrecy; 6) short-lived certificates reduce exposure but demand automation.</a:t>
            </a:r>
          </a:p>
        </p:txBody>
      </p:sp>
      <p:sp>
        <p:nvSpPr>
          <p:cNvPr id="1675" name="PlaceHolder 3"/>
          <p:cNvSpPr>
            <a:spLocks noGrp="1"/>
          </p:cNvSpPr>
          <p:nvPr>
            <p:ph type="sldNum" idx="1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B45BDAB-FF74-4754-9F46-17A4352056DE}" type="slidenum">
              <a:rPr lang="en-US" sz="1200" b="0" strike="noStrike" spc="-1">
                <a:solidFill>
                  <a:schemeClr val="dk1"/>
                </a:solidFill>
                <a:latin typeface="+mn-lt"/>
                <a:ea typeface="+mn-ea"/>
              </a:rPr>
              <a:t>30</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YBER444">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4C7F95E9-2301-42D4-A7B5-569A34BBB1C0}"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400" cy="109440"/>
          </a:xfrm>
          <a:prstGeom prst="rect">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 name="Text 1"/>
          <p:cNvSpPr/>
          <p:nvPr/>
        </p:nvSpPr>
        <p:spPr>
          <a:xfrm>
            <a:off x="411480" y="6565320"/>
            <a:ext cx="51202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strike="noStrike" spc="-1">
                <a:solidFill>
                  <a:srgbClr val="64748B"/>
                </a:solidFill>
                <a:latin typeface="Calibri"/>
                <a:ea typeface="Calibri"/>
              </a:rPr>
              <a:t>CYBER 444  ·  PKI / X.509 / TLS</a:t>
            </a:r>
            <a:endParaRPr lang="en-US" sz="800" b="0" strike="noStrike" spc="-1">
              <a:solidFill>
                <a:srgbClr val="000000"/>
              </a:solidFill>
              <a:latin typeface="Arial"/>
            </a:endParaRPr>
          </a:p>
        </p:txBody>
      </p:sp>
      <p:sp>
        <p:nvSpPr>
          <p:cNvPr id="4" name="Text 2"/>
          <p:cNvSpPr/>
          <p:nvPr/>
        </p:nvSpPr>
        <p:spPr>
          <a:xfrm>
            <a:off x="10561320" y="6565320"/>
            <a:ext cx="1142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strike="noStrike" spc="-1">
                <a:solidFill>
                  <a:srgbClr val="64748B"/>
                </a:solidFill>
                <a:latin typeface="Calibri"/>
                <a:ea typeface="Calibri"/>
              </a:rPr>
              <a:t>Fall 2026</a:t>
            </a:r>
            <a:endParaRPr lang="en-US" sz="800" b="0" strike="noStrike" spc="-1">
              <a:solidFill>
                <a:srgbClr val="000000"/>
              </a:solidFill>
              <a:latin typeface="Arial"/>
            </a:endParaRPr>
          </a:p>
        </p:txBody>
      </p:sp>
      <p:sp>
        <p:nvSpPr>
          <p:cNvPr id="5" name="PlaceHolder 1"/>
          <p:cNvSpPr>
            <a:spLocks noGrp="1"/>
          </p:cNvSpPr>
          <p:nvPr>
            <p:ph type="sldNum" idx="1"/>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7CC46727-1A73-4946-8445-B0BAA3BF2475}" type="slidenum">
              <a:rPr lang="en-US" sz="800" b="0" strike="noStrike" spc="-1">
                <a:solidFill>
                  <a:srgbClr val="64748B"/>
                </a:solidFill>
                <a:latin typeface="Calibri"/>
                <a:ea typeface="Calibri"/>
              </a:rPr>
              <a:t>‹#›</a:t>
            </a:fld>
            <a:endParaRPr lang="en-US" sz="800" b="0" strike="noStrike" spc="-1">
              <a:solidFill>
                <a:srgbClr val="000000"/>
              </a:solidFill>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97D"/>
        </a:solidFill>
        <a:effectLst/>
      </p:bgPr>
    </p:bg>
    <p:spTree>
      <p:nvGrpSpPr>
        <p:cNvPr id="1" name=""/>
        <p:cNvGrpSpPr/>
        <p:nvPr/>
      </p:nvGrpSpPr>
      <p:grpSpPr>
        <a:xfrm>
          <a:off x="0" y="0"/>
          <a:ext cx="0" cy="0"/>
          <a:chOff x="0" y="0"/>
          <a:chExt cx="0" cy="0"/>
        </a:xfrm>
      </p:grpSpPr>
      <p:sp>
        <p:nvSpPr>
          <p:cNvPr id="14" name="Shape 0"/>
          <p:cNvSpPr/>
          <p:nvPr/>
        </p:nvSpPr>
        <p:spPr>
          <a:xfrm>
            <a:off x="0" y="0"/>
            <a:ext cx="12191400" cy="136800"/>
          </a:xfrm>
          <a:prstGeom prst="rect">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 name="Text 1"/>
          <p:cNvSpPr/>
          <p:nvPr/>
        </p:nvSpPr>
        <p:spPr>
          <a:xfrm>
            <a:off x="621720" y="567000"/>
            <a:ext cx="20113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99">
                <a:solidFill>
                  <a:srgbClr val="BFE4EE"/>
                </a:solidFill>
                <a:latin typeface="Calibri"/>
                <a:ea typeface="Calibri"/>
              </a:rPr>
              <a:t>WEEK 5</a:t>
            </a:r>
            <a:endParaRPr lang="en-US" sz="1400" b="0" strike="noStrike" spc="-1">
              <a:solidFill>
                <a:srgbClr val="FFFFFF"/>
              </a:solidFill>
              <a:latin typeface="Arial"/>
            </a:endParaRPr>
          </a:p>
        </p:txBody>
      </p:sp>
      <p:sp>
        <p:nvSpPr>
          <p:cNvPr id="16" name="Text 2"/>
          <p:cNvSpPr/>
          <p:nvPr/>
        </p:nvSpPr>
        <p:spPr>
          <a:xfrm>
            <a:off x="621720" y="1170360"/>
            <a:ext cx="1060668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3700" b="1" strike="noStrike" spc="-1">
                <a:solidFill>
                  <a:srgbClr val="FFFFFF"/>
                </a:solidFill>
                <a:latin typeface="Calibri"/>
                <a:ea typeface="Calibri"/>
              </a:rPr>
              <a:t>PKI, X.509, and TLS</a:t>
            </a:r>
            <a:endParaRPr lang="en-US" sz="3700" b="0" strike="noStrike" spc="-1">
              <a:solidFill>
                <a:srgbClr val="FFFFFF"/>
              </a:solidFill>
              <a:latin typeface="Arial"/>
            </a:endParaRPr>
          </a:p>
        </p:txBody>
      </p:sp>
      <p:sp>
        <p:nvSpPr>
          <p:cNvPr id="17" name="Text 3"/>
          <p:cNvSpPr/>
          <p:nvPr/>
        </p:nvSpPr>
        <p:spPr>
          <a:xfrm>
            <a:off x="658440" y="2011680"/>
            <a:ext cx="8869320" cy="365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800" b="0" strike="noStrike" spc="-1">
                <a:solidFill>
                  <a:srgbClr val="DCEAF5"/>
                </a:solidFill>
                <a:latin typeface="Calibri"/>
                <a:ea typeface="Calibri"/>
              </a:rPr>
              <a:t>Trust chains · certificate operations · hardened HTTPS</a:t>
            </a:r>
            <a:endParaRPr lang="en-US" sz="1800" b="0" strike="noStrike" spc="-1">
              <a:solidFill>
                <a:srgbClr val="FFFFFF"/>
              </a:solidFill>
              <a:latin typeface="Arial"/>
            </a:endParaRPr>
          </a:p>
        </p:txBody>
      </p:sp>
      <p:sp>
        <p:nvSpPr>
          <p:cNvPr id="18" name="Shape 4"/>
          <p:cNvSpPr/>
          <p:nvPr/>
        </p:nvSpPr>
        <p:spPr>
          <a:xfrm>
            <a:off x="658080" y="2743200"/>
            <a:ext cx="3639600" cy="360"/>
          </a:xfrm>
          <a:prstGeom prst="line">
            <a:avLst/>
          </a:prstGeom>
          <a:ln w="38100">
            <a:solidFill>
              <a:srgbClr val="4BACC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FFFFFF"/>
              </a:solidFill>
              <a:latin typeface="Arial"/>
            </a:endParaRPr>
          </a:p>
        </p:txBody>
      </p:sp>
      <p:sp>
        <p:nvSpPr>
          <p:cNvPr id="19" name="Text 5"/>
          <p:cNvSpPr/>
          <p:nvPr/>
        </p:nvSpPr>
        <p:spPr>
          <a:xfrm>
            <a:off x="658440" y="5349240"/>
            <a:ext cx="54860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strike="noStrike" spc="-1">
                <a:solidFill>
                  <a:srgbClr val="DCEAF5"/>
                </a:solidFill>
                <a:latin typeface="Calibri"/>
                <a:ea typeface="Calibri"/>
              </a:rPr>
              <a:t>CYBER 444  ·  Systems &amp; Network Administration</a:t>
            </a:r>
            <a:endParaRPr lang="en-US" sz="1300" b="0" strike="noStrike" spc="-1">
              <a:solidFill>
                <a:srgbClr val="FFFFFF"/>
              </a:solidFill>
              <a:latin typeface="Arial"/>
            </a:endParaRPr>
          </a:p>
        </p:txBody>
      </p:sp>
      <p:sp>
        <p:nvSpPr>
          <p:cNvPr id="20" name="Text 6"/>
          <p:cNvSpPr/>
          <p:nvPr/>
        </p:nvSpPr>
        <p:spPr>
          <a:xfrm>
            <a:off x="658440" y="5669280"/>
            <a:ext cx="457164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strike="noStrike" spc="-1" dirty="0">
                <a:solidFill>
                  <a:srgbClr val="BFE4EE"/>
                </a:solidFill>
                <a:latin typeface="Calibri"/>
                <a:ea typeface="Calibri"/>
              </a:rPr>
              <a:t>  Fall 2026</a:t>
            </a:r>
            <a:endParaRPr lang="en-US" sz="1200" b="0" strike="noStrike" spc="-1" dirty="0">
              <a:solidFill>
                <a:srgbClr val="FFFFFF"/>
              </a:solidFill>
              <a:latin typeface="Arial"/>
            </a:endParaRPr>
          </a:p>
        </p:txBody>
      </p:sp>
      <p:sp>
        <p:nvSpPr>
          <p:cNvPr id="21" name="Shape 7"/>
          <p:cNvSpPr/>
          <p:nvPr/>
        </p:nvSpPr>
        <p:spPr>
          <a:xfrm>
            <a:off x="7635240" y="3611880"/>
            <a:ext cx="475200" cy="47520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 name="Shape 8"/>
          <p:cNvSpPr/>
          <p:nvPr/>
        </p:nvSpPr>
        <p:spPr>
          <a:xfrm>
            <a:off x="8348400" y="3355920"/>
            <a:ext cx="475200" cy="47520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 name="Shape 9"/>
          <p:cNvSpPr/>
          <p:nvPr/>
        </p:nvSpPr>
        <p:spPr>
          <a:xfrm>
            <a:off x="9061560" y="3611880"/>
            <a:ext cx="475200" cy="47520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 name="Shape 10"/>
          <p:cNvSpPr/>
          <p:nvPr/>
        </p:nvSpPr>
        <p:spPr>
          <a:xfrm>
            <a:off x="9775080" y="3355920"/>
            <a:ext cx="475200" cy="47520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5" name="Shape 11"/>
          <p:cNvSpPr/>
          <p:nvPr/>
        </p:nvSpPr>
        <p:spPr>
          <a:xfrm>
            <a:off x="8092440" y="3840480"/>
            <a:ext cx="246600" cy="360"/>
          </a:xfrm>
          <a:prstGeom prst="line">
            <a:avLst/>
          </a:prstGeom>
          <a:ln w="38100">
            <a:solidFill>
              <a:srgbClr val="FFFF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FFFFFF"/>
              </a:solidFill>
              <a:latin typeface="Arial"/>
            </a:endParaRPr>
          </a:p>
        </p:txBody>
      </p:sp>
      <p:sp>
        <p:nvSpPr>
          <p:cNvPr id="26" name="Shape 12"/>
          <p:cNvSpPr/>
          <p:nvPr/>
        </p:nvSpPr>
        <p:spPr>
          <a:xfrm>
            <a:off x="8805600" y="3584160"/>
            <a:ext cx="246960" cy="360"/>
          </a:xfrm>
          <a:prstGeom prst="line">
            <a:avLst/>
          </a:prstGeom>
          <a:ln w="38100">
            <a:solidFill>
              <a:srgbClr val="FFFF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FFFFFF"/>
              </a:solidFill>
              <a:latin typeface="Arial"/>
            </a:endParaRPr>
          </a:p>
        </p:txBody>
      </p:sp>
      <p:sp>
        <p:nvSpPr>
          <p:cNvPr id="27" name="Shape 13"/>
          <p:cNvSpPr/>
          <p:nvPr/>
        </p:nvSpPr>
        <p:spPr>
          <a:xfrm>
            <a:off x="9518760" y="3840480"/>
            <a:ext cx="246960" cy="360"/>
          </a:xfrm>
          <a:prstGeom prst="line">
            <a:avLst/>
          </a:prstGeom>
          <a:ln w="38100">
            <a:solidFill>
              <a:srgbClr val="FFFF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What does the padlock actually prove?</a:t>
            </a:r>
            <a:endParaRPr lang="en-US" sz="2700" b="0" strike="noStrike" spc="-1">
              <a:solidFill>
                <a:srgbClr val="000000"/>
              </a:solidFill>
              <a:latin typeface="Arial"/>
            </a:endParaRPr>
          </a:p>
        </p:txBody>
      </p:sp>
      <p:sp>
        <p:nvSpPr>
          <p:cNvPr id="85" name="Shape 6"/>
          <p:cNvSpPr/>
          <p:nvPr/>
        </p:nvSpPr>
        <p:spPr>
          <a:xfrm>
            <a:off x="777240" y="1993320"/>
            <a:ext cx="3154320" cy="2029680"/>
          </a:xfrm>
          <a:prstGeom prst="roundRect">
            <a:avLst>
              <a:gd name="adj" fmla="val 3604"/>
            </a:avLst>
          </a:prstGeom>
          <a:solidFill>
            <a:srgbClr val="FFFFFF"/>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 name="Shape 7"/>
          <p:cNvSpPr/>
          <p:nvPr/>
        </p:nvSpPr>
        <p:spPr>
          <a:xfrm>
            <a:off x="2075760" y="2322720"/>
            <a:ext cx="511560" cy="51156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 name="Text 8"/>
          <p:cNvSpPr/>
          <p:nvPr/>
        </p:nvSpPr>
        <p:spPr>
          <a:xfrm>
            <a:off x="2075760" y="2450520"/>
            <a:ext cx="5115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7500" lnSpcReduction="20000"/>
          </a:bodyPr>
          <a:lstStyle/>
          <a:p>
            <a:pPr algn="ctr" defTabSz="914400">
              <a:lnSpc>
                <a:spcPct val="100000"/>
              </a:lnSpc>
              <a:tabLst>
                <a:tab pos="0" algn="l"/>
              </a:tabLst>
            </a:pPr>
            <a:r>
              <a:rPr lang="en-US" sz="1800" b="1" strike="noStrike" spc="-1">
                <a:solidFill>
                  <a:srgbClr val="FFFFFF"/>
                </a:solidFill>
                <a:latin typeface="Calibri"/>
                <a:ea typeface="Calibri"/>
              </a:rPr>
              <a:t>E</a:t>
            </a:r>
            <a:endParaRPr lang="en-US" sz="1800" b="0" strike="noStrike" spc="-1">
              <a:solidFill>
                <a:srgbClr val="000000"/>
              </a:solidFill>
              <a:latin typeface="Arial"/>
            </a:endParaRPr>
          </a:p>
        </p:txBody>
      </p:sp>
      <p:sp>
        <p:nvSpPr>
          <p:cNvPr id="88" name="Text 9"/>
          <p:cNvSpPr/>
          <p:nvPr/>
        </p:nvSpPr>
        <p:spPr>
          <a:xfrm>
            <a:off x="1033200" y="3063240"/>
            <a:ext cx="26514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2000" b="1" strike="noStrike" spc="-1">
                <a:solidFill>
                  <a:srgbClr val="1F497D"/>
                </a:solidFill>
                <a:latin typeface="Calibri"/>
                <a:ea typeface="Calibri"/>
              </a:rPr>
              <a:t>Encrypted</a:t>
            </a:r>
            <a:endParaRPr lang="en-US" sz="2000" b="0" strike="noStrike" spc="-1">
              <a:solidFill>
                <a:srgbClr val="000000"/>
              </a:solidFill>
              <a:latin typeface="Arial"/>
            </a:endParaRPr>
          </a:p>
        </p:txBody>
      </p:sp>
      <p:sp>
        <p:nvSpPr>
          <p:cNvPr id="89" name="Text 10"/>
          <p:cNvSpPr/>
          <p:nvPr/>
        </p:nvSpPr>
        <p:spPr>
          <a:xfrm>
            <a:off x="1097280" y="3456360"/>
            <a:ext cx="25142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strike="noStrike" spc="-1">
                <a:solidFill>
                  <a:srgbClr val="64748B"/>
                </a:solidFill>
                <a:latin typeface="Calibri"/>
                <a:ea typeface="Calibri"/>
              </a:rPr>
              <a:t>traffic is not readable in transit</a:t>
            </a:r>
            <a:endParaRPr lang="en-US" sz="1250" b="0" strike="noStrike" spc="-1">
              <a:solidFill>
                <a:srgbClr val="000000"/>
              </a:solidFill>
              <a:latin typeface="Arial"/>
            </a:endParaRPr>
          </a:p>
        </p:txBody>
      </p:sp>
      <p:sp>
        <p:nvSpPr>
          <p:cNvPr id="90" name="Shape 11"/>
          <p:cNvSpPr/>
          <p:nvPr/>
        </p:nvSpPr>
        <p:spPr>
          <a:xfrm>
            <a:off x="4507920" y="1993320"/>
            <a:ext cx="3154320" cy="2029680"/>
          </a:xfrm>
          <a:prstGeom prst="roundRect">
            <a:avLst>
              <a:gd name="adj" fmla="val 3604"/>
            </a:avLst>
          </a:prstGeom>
          <a:solidFill>
            <a:srgbClr val="FFFFFF"/>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1" name="Shape 12"/>
          <p:cNvSpPr/>
          <p:nvPr/>
        </p:nvSpPr>
        <p:spPr>
          <a:xfrm>
            <a:off x="5806440" y="2322720"/>
            <a:ext cx="511560" cy="51156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2" name="Text 13"/>
          <p:cNvSpPr/>
          <p:nvPr/>
        </p:nvSpPr>
        <p:spPr>
          <a:xfrm>
            <a:off x="5806440" y="2450520"/>
            <a:ext cx="5115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7500" lnSpcReduction="20000"/>
          </a:bodyPr>
          <a:lstStyle/>
          <a:p>
            <a:pPr algn="ctr" defTabSz="914400">
              <a:lnSpc>
                <a:spcPct val="100000"/>
              </a:lnSpc>
              <a:tabLst>
                <a:tab pos="0" algn="l"/>
              </a:tabLst>
            </a:pPr>
            <a:r>
              <a:rPr lang="en-US" sz="1800" b="1" strike="noStrike" spc="-1">
                <a:solidFill>
                  <a:srgbClr val="FFFFFF"/>
                </a:solidFill>
                <a:latin typeface="Calibri"/>
                <a:ea typeface="Calibri"/>
              </a:rPr>
              <a:t>✓</a:t>
            </a:r>
            <a:endParaRPr lang="en-US" sz="1800" b="0" strike="noStrike" spc="-1">
              <a:solidFill>
                <a:srgbClr val="000000"/>
              </a:solidFill>
              <a:latin typeface="Arial"/>
            </a:endParaRPr>
          </a:p>
        </p:txBody>
      </p:sp>
      <p:sp>
        <p:nvSpPr>
          <p:cNvPr id="93" name="Text 14"/>
          <p:cNvSpPr/>
          <p:nvPr/>
        </p:nvSpPr>
        <p:spPr>
          <a:xfrm>
            <a:off x="4763880" y="3063240"/>
            <a:ext cx="26514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2000" b="1" strike="noStrike" spc="-1">
                <a:solidFill>
                  <a:srgbClr val="1F497D"/>
                </a:solidFill>
                <a:latin typeface="Calibri"/>
                <a:ea typeface="Calibri"/>
              </a:rPr>
              <a:t>Authenticated</a:t>
            </a:r>
            <a:endParaRPr lang="en-US" sz="2000" b="0" strike="noStrike" spc="-1">
              <a:solidFill>
                <a:srgbClr val="000000"/>
              </a:solidFill>
              <a:latin typeface="Arial"/>
            </a:endParaRPr>
          </a:p>
        </p:txBody>
      </p:sp>
      <p:sp>
        <p:nvSpPr>
          <p:cNvPr id="94" name="Text 15"/>
          <p:cNvSpPr/>
          <p:nvPr/>
        </p:nvSpPr>
        <p:spPr>
          <a:xfrm>
            <a:off x="4827960" y="3456360"/>
            <a:ext cx="25142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strike="noStrike" spc="-1">
                <a:solidFill>
                  <a:srgbClr val="64748B"/>
                </a:solidFill>
                <a:latin typeface="Calibri"/>
                <a:ea typeface="Calibri"/>
              </a:rPr>
              <a:t>the name matches a trusted certificate chain</a:t>
            </a:r>
            <a:endParaRPr lang="en-US" sz="1250" b="0" strike="noStrike" spc="-1">
              <a:solidFill>
                <a:srgbClr val="000000"/>
              </a:solidFill>
              <a:latin typeface="Arial"/>
            </a:endParaRPr>
          </a:p>
        </p:txBody>
      </p:sp>
      <p:sp>
        <p:nvSpPr>
          <p:cNvPr id="95" name="Shape 16"/>
          <p:cNvSpPr/>
          <p:nvPr/>
        </p:nvSpPr>
        <p:spPr>
          <a:xfrm>
            <a:off x="8238600" y="1993320"/>
            <a:ext cx="3154320" cy="2029680"/>
          </a:xfrm>
          <a:prstGeom prst="roundRect">
            <a:avLst>
              <a:gd name="adj" fmla="val 3604"/>
            </a:avLst>
          </a:prstGeom>
          <a:solidFill>
            <a:srgbClr val="FFFFFF"/>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 name="Shape 17"/>
          <p:cNvSpPr/>
          <p:nvPr/>
        </p:nvSpPr>
        <p:spPr>
          <a:xfrm>
            <a:off x="9537120" y="2322720"/>
            <a:ext cx="511560" cy="511560"/>
          </a:xfrm>
          <a:prstGeom prst="ellipse">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7" name="Text 18"/>
          <p:cNvSpPr/>
          <p:nvPr/>
        </p:nvSpPr>
        <p:spPr>
          <a:xfrm>
            <a:off x="9537120" y="2450520"/>
            <a:ext cx="5115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7500" lnSpcReduction="20000"/>
          </a:bodyPr>
          <a:lstStyle/>
          <a:p>
            <a:pPr algn="ctr" defTabSz="914400">
              <a:lnSpc>
                <a:spcPct val="100000"/>
              </a:lnSpc>
              <a:tabLst>
                <a:tab pos="0" algn="l"/>
              </a:tabLst>
            </a:pPr>
            <a:r>
              <a:rPr lang="en-US" sz="1800" b="1" strike="noStrike" spc="-1">
                <a:solidFill>
                  <a:srgbClr val="FFFFFF"/>
                </a:solidFill>
                <a:latin typeface="Calibri"/>
                <a:ea typeface="Calibri"/>
              </a:rPr>
              <a:t>!</a:t>
            </a:r>
            <a:endParaRPr lang="en-US" sz="1800" b="0" strike="noStrike" spc="-1">
              <a:solidFill>
                <a:srgbClr val="000000"/>
              </a:solidFill>
              <a:latin typeface="Arial"/>
            </a:endParaRPr>
          </a:p>
        </p:txBody>
      </p:sp>
      <p:sp>
        <p:nvSpPr>
          <p:cNvPr id="98" name="Text 19"/>
          <p:cNvSpPr/>
          <p:nvPr/>
        </p:nvSpPr>
        <p:spPr>
          <a:xfrm>
            <a:off x="8494920" y="3063240"/>
            <a:ext cx="26514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2000" b="1" strike="noStrike" spc="-1">
                <a:solidFill>
                  <a:srgbClr val="1F497D"/>
                </a:solidFill>
                <a:latin typeface="Calibri"/>
                <a:ea typeface="Calibri"/>
              </a:rPr>
              <a:t>Not “safe”</a:t>
            </a:r>
            <a:endParaRPr lang="en-US" sz="2000" b="0" strike="noStrike" spc="-1">
              <a:solidFill>
                <a:srgbClr val="000000"/>
              </a:solidFill>
              <a:latin typeface="Arial"/>
            </a:endParaRPr>
          </a:p>
        </p:txBody>
      </p:sp>
      <p:sp>
        <p:nvSpPr>
          <p:cNvPr id="99" name="Text 20"/>
          <p:cNvSpPr/>
          <p:nvPr/>
        </p:nvSpPr>
        <p:spPr>
          <a:xfrm>
            <a:off x="8558640" y="3456360"/>
            <a:ext cx="25142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50" b="0" strike="noStrike" spc="-1">
                <a:solidFill>
                  <a:srgbClr val="64748B"/>
                </a:solidFill>
                <a:latin typeface="Calibri"/>
                <a:ea typeface="Calibri"/>
              </a:rPr>
              <a:t>the application can still be malicious or vulnerable</a:t>
            </a:r>
            <a:endParaRPr lang="en-US" sz="1250" b="0" strike="noStrike" spc="-1">
              <a:solidFill>
                <a:srgbClr val="000000"/>
              </a:solidFill>
              <a:latin typeface="Arial"/>
            </a:endParaRPr>
          </a:p>
        </p:txBody>
      </p:sp>
      <p:sp>
        <p:nvSpPr>
          <p:cNvPr id="102" name="PlaceHolder 1"/>
          <p:cNvSpPr>
            <a:spLocks noGrp="1"/>
          </p:cNvSpPr>
          <p:nvPr>
            <p:ph type="sldNum" idx="7"/>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40EF58B5-78E2-4A15-B707-5DCA2DDF62FA}" type="slidenum">
              <a:rPr lang="en-US" sz="800" b="0" strike="noStrike" spc="-1">
                <a:solidFill>
                  <a:srgbClr val="64748B"/>
                </a:solidFill>
                <a:latin typeface="Calibri"/>
                <a:ea typeface="Calibri"/>
              </a:rPr>
              <a:t>2</a:t>
            </a:fld>
            <a:endParaRPr lang="en-US" sz="800" b="0" strike="noStrike" spc="-1">
              <a:solidFill>
                <a:srgbClr val="000000"/>
              </a:solidFill>
              <a:latin typeface="Times New Roman"/>
            </a:endParaRPr>
          </a:p>
        </p:txBody>
      </p:sp>
      <p:pic>
        <p:nvPicPr>
          <p:cNvPr id="4" name="Picture 3">
            <a:extLst>
              <a:ext uri="{FF2B5EF4-FFF2-40B4-BE49-F238E27FC236}">
                <a16:creationId xmlns:a16="http://schemas.microsoft.com/office/drawing/2014/main" id="{26637773-6825-0C96-46AC-16C915C44654}"/>
              </a:ext>
            </a:extLst>
          </p:cNvPr>
          <p:cNvPicPr>
            <a:picLocks noChangeAspect="1"/>
          </p:cNvPicPr>
          <p:nvPr/>
        </p:nvPicPr>
        <p:blipFill>
          <a:blip r:embed="rId3"/>
          <a:stretch>
            <a:fillRect/>
          </a:stretch>
        </p:blipFill>
        <p:spPr>
          <a:xfrm>
            <a:off x="4029239" y="4251960"/>
            <a:ext cx="4111682" cy="2394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p:bldP spid="88" grpId="0"/>
      <p:bldP spid="89" grpId="0"/>
      <p:bldP spid="90" grpId="0" animBg="1"/>
      <p:bldP spid="91" grpId="0" animBg="1"/>
      <p:bldP spid="92" grpId="0"/>
      <p:bldP spid="93" grpId="0"/>
      <p:bldP spid="94" grpId="0"/>
      <p:bldP spid="95" grpId="0" animBg="1"/>
      <p:bldP spid="96" grpId="0" animBg="1"/>
      <p:bldP spid="97" grpId="0"/>
      <p:bldP spid="98" grpId="0"/>
      <p:bldP spid="9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CRYPTO RECAP</a:t>
            </a:r>
            <a:endParaRPr lang="en-US" sz="1000" b="0" strike="noStrike" spc="-1">
              <a:solidFill>
                <a:srgbClr val="000000"/>
              </a:solidFill>
              <a:latin typeface="Arial"/>
            </a:endParaRPr>
          </a:p>
        </p:txBody>
      </p:sp>
      <p:sp>
        <p:nvSpPr>
          <p:cNvPr id="104"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Symmetric vs. asymmetric cryptography</a:t>
            </a:r>
            <a:endParaRPr lang="en-US" sz="2700" b="0" strike="noStrike" spc="-1">
              <a:solidFill>
                <a:srgbClr val="000000"/>
              </a:solidFill>
              <a:latin typeface="Arial"/>
            </a:endParaRPr>
          </a:p>
        </p:txBody>
      </p:sp>
      <p:sp>
        <p:nvSpPr>
          <p:cNvPr id="105"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PKI uses both-but for different jobs.</a:t>
            </a:r>
            <a:endParaRPr lang="en-US" sz="1250" b="0" strike="noStrike" spc="-1">
              <a:solidFill>
                <a:srgbClr val="000000"/>
              </a:solidFill>
              <a:latin typeface="Arial"/>
            </a:endParaRPr>
          </a:p>
        </p:txBody>
      </p:sp>
      <p:sp>
        <p:nvSpPr>
          <p:cNvPr id="107" name="Shape 6"/>
          <p:cNvSpPr/>
          <p:nvPr/>
        </p:nvSpPr>
        <p:spPr>
          <a:xfrm>
            <a:off x="777240" y="1828800"/>
            <a:ext cx="3245760" cy="2194200"/>
          </a:xfrm>
          <a:prstGeom prst="roundRect">
            <a:avLst>
              <a:gd name="adj" fmla="val 3333"/>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8" name="Shape 7"/>
          <p:cNvSpPr/>
          <p:nvPr/>
        </p:nvSpPr>
        <p:spPr>
          <a:xfrm>
            <a:off x="777240" y="1828800"/>
            <a:ext cx="3245760" cy="292320"/>
          </a:xfrm>
          <a:prstGeom prst="roundRect">
            <a:avLst>
              <a:gd name="adj" fmla="val 25000"/>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9" name="Text 8"/>
          <p:cNvSpPr/>
          <p:nvPr/>
        </p:nvSpPr>
        <p:spPr>
          <a:xfrm>
            <a:off x="887040" y="1865520"/>
            <a:ext cx="3026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SYMMETRIC</a:t>
            </a:r>
            <a:endParaRPr lang="en-US" sz="1100" b="0" strike="noStrike" spc="-1">
              <a:solidFill>
                <a:srgbClr val="000000"/>
              </a:solidFill>
              <a:latin typeface="Arial"/>
            </a:endParaRPr>
          </a:p>
        </p:txBody>
      </p:sp>
      <p:sp>
        <p:nvSpPr>
          <p:cNvPr id="110" name="Text 9"/>
          <p:cNvSpPr/>
          <p:nvPr/>
        </p:nvSpPr>
        <p:spPr>
          <a:xfrm>
            <a:off x="887040" y="2240280"/>
            <a:ext cx="3026160" cy="1691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One shared secret</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Fast bulk encryption</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Example: AES-GCM</a:t>
            </a:r>
            <a:endParaRPr lang="en-US" sz="1300" b="0" strike="noStrike" spc="-1">
              <a:solidFill>
                <a:srgbClr val="000000"/>
              </a:solidFill>
              <a:latin typeface="Arial"/>
            </a:endParaRPr>
          </a:p>
        </p:txBody>
      </p:sp>
      <p:sp>
        <p:nvSpPr>
          <p:cNvPr id="111" name="Shape 10"/>
          <p:cNvSpPr/>
          <p:nvPr/>
        </p:nvSpPr>
        <p:spPr>
          <a:xfrm>
            <a:off x="4480560" y="1828800"/>
            <a:ext cx="3245760" cy="2194200"/>
          </a:xfrm>
          <a:prstGeom prst="roundRect">
            <a:avLst>
              <a:gd name="adj" fmla="val 3333"/>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2" name="Shape 11"/>
          <p:cNvSpPr/>
          <p:nvPr/>
        </p:nvSpPr>
        <p:spPr>
          <a:xfrm>
            <a:off x="4480560" y="1828800"/>
            <a:ext cx="3245760" cy="292320"/>
          </a:xfrm>
          <a:prstGeom prst="roundRect">
            <a:avLst>
              <a:gd name="adj" fmla="val 25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3" name="Text 12"/>
          <p:cNvSpPr/>
          <p:nvPr/>
        </p:nvSpPr>
        <p:spPr>
          <a:xfrm>
            <a:off x="4590360" y="1865520"/>
            <a:ext cx="3026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ASYMMETRIC</a:t>
            </a:r>
            <a:endParaRPr lang="en-US" sz="1100" b="0" strike="noStrike" spc="-1">
              <a:solidFill>
                <a:srgbClr val="000000"/>
              </a:solidFill>
              <a:latin typeface="Arial"/>
            </a:endParaRPr>
          </a:p>
        </p:txBody>
      </p:sp>
      <p:sp>
        <p:nvSpPr>
          <p:cNvPr id="114" name="Text 13"/>
          <p:cNvSpPr/>
          <p:nvPr/>
        </p:nvSpPr>
        <p:spPr>
          <a:xfrm>
            <a:off x="4590360" y="2240280"/>
            <a:ext cx="3026160" cy="1691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Public/private pair</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Identity + signatures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Example: RSA / ECDSA</a:t>
            </a:r>
            <a:endParaRPr lang="en-US" sz="1300" b="0" strike="noStrike" spc="-1">
              <a:solidFill>
                <a:srgbClr val="000000"/>
              </a:solidFill>
              <a:latin typeface="Arial"/>
            </a:endParaRPr>
          </a:p>
        </p:txBody>
      </p:sp>
      <p:sp>
        <p:nvSpPr>
          <p:cNvPr id="115" name="Shape 14"/>
          <p:cNvSpPr/>
          <p:nvPr/>
        </p:nvSpPr>
        <p:spPr>
          <a:xfrm>
            <a:off x="8183880" y="1828800"/>
            <a:ext cx="3245760" cy="2194200"/>
          </a:xfrm>
          <a:prstGeom prst="roundRect">
            <a:avLst>
              <a:gd name="adj" fmla="val 3333"/>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6" name="Shape 15"/>
          <p:cNvSpPr/>
          <p:nvPr/>
        </p:nvSpPr>
        <p:spPr>
          <a:xfrm>
            <a:off x="8183880" y="1828800"/>
            <a:ext cx="3245760" cy="292320"/>
          </a:xfrm>
          <a:prstGeom prst="roundRect">
            <a:avLst>
              <a:gd name="adj" fmla="val 25000"/>
            </a:avLst>
          </a:prstGeom>
          <a:solidFill>
            <a:srgbClr val="8064A2"/>
          </a:solidFill>
          <a:ln w="1270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7" name="Text 16"/>
          <p:cNvSpPr/>
          <p:nvPr/>
        </p:nvSpPr>
        <p:spPr>
          <a:xfrm>
            <a:off x="8293680" y="1865520"/>
            <a:ext cx="3026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TLS IN PRACTICE</a:t>
            </a:r>
            <a:endParaRPr lang="en-US" sz="1100" b="0" strike="noStrike" spc="-1">
              <a:solidFill>
                <a:srgbClr val="000000"/>
              </a:solidFill>
              <a:latin typeface="Arial"/>
            </a:endParaRPr>
          </a:p>
        </p:txBody>
      </p:sp>
      <p:sp>
        <p:nvSpPr>
          <p:cNvPr id="118" name="Text 17"/>
          <p:cNvSpPr/>
          <p:nvPr/>
        </p:nvSpPr>
        <p:spPr>
          <a:xfrm>
            <a:off x="8293680" y="2240280"/>
            <a:ext cx="3026160" cy="1691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Asymmetric setup</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Symmetric session</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Forward-secret key exchange</a:t>
            </a:r>
            <a:endParaRPr lang="en-US" sz="1300" b="0" strike="noStrike" spc="-1">
              <a:solidFill>
                <a:srgbClr val="000000"/>
              </a:solidFill>
              <a:latin typeface="Arial"/>
            </a:endParaRPr>
          </a:p>
        </p:txBody>
      </p:sp>
      <p:sp>
        <p:nvSpPr>
          <p:cNvPr id="119" name="Shape 18"/>
          <p:cNvSpPr/>
          <p:nvPr/>
        </p:nvSpPr>
        <p:spPr>
          <a:xfrm>
            <a:off x="4041360" y="2907720"/>
            <a:ext cx="3657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20" name="Shape 19"/>
          <p:cNvSpPr/>
          <p:nvPr/>
        </p:nvSpPr>
        <p:spPr>
          <a:xfrm>
            <a:off x="7744680" y="2907720"/>
            <a:ext cx="3657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21" name="Shape 20"/>
          <p:cNvSpPr/>
          <p:nvPr/>
        </p:nvSpPr>
        <p:spPr>
          <a:xfrm>
            <a:off x="914400" y="4572000"/>
            <a:ext cx="10240920" cy="776880"/>
          </a:xfrm>
          <a:prstGeom prst="roundRect">
            <a:avLst>
              <a:gd name="adj" fmla="val 9412"/>
            </a:avLst>
          </a:prstGeom>
          <a:solidFill>
            <a:srgbClr val="FFFFFF"/>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 name="Shape 21"/>
          <p:cNvSpPr/>
          <p:nvPr/>
        </p:nvSpPr>
        <p:spPr>
          <a:xfrm>
            <a:off x="914400" y="4572000"/>
            <a:ext cx="100080" cy="776880"/>
          </a:xfrm>
          <a:prstGeom prst="rect">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3" name="Text 22"/>
          <p:cNvSpPr/>
          <p:nvPr/>
        </p:nvSpPr>
        <p:spPr>
          <a:xfrm>
            <a:off x="1152000" y="4681800"/>
            <a:ext cx="989352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
                <a:solidFill>
                  <a:srgbClr val="70AD47"/>
                </a:solidFill>
                <a:latin typeface="Calibri"/>
                <a:ea typeface="Calibri"/>
              </a:rPr>
              <a:t>Mental model</a:t>
            </a:r>
            <a:endParaRPr lang="en-US" sz="1400" b="0" strike="noStrike" spc="-1">
              <a:solidFill>
                <a:srgbClr val="000000"/>
              </a:solidFill>
              <a:latin typeface="Arial"/>
            </a:endParaRPr>
          </a:p>
        </p:txBody>
      </p:sp>
      <p:sp>
        <p:nvSpPr>
          <p:cNvPr id="124" name="Text 23"/>
          <p:cNvSpPr/>
          <p:nvPr/>
        </p:nvSpPr>
        <p:spPr>
          <a:xfrm>
            <a:off x="1152000" y="4983480"/>
            <a:ext cx="98935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50" b="0" strike="noStrike" spc="-1">
                <a:solidFill>
                  <a:srgbClr val="203040"/>
                </a:solidFill>
                <a:latin typeface="Calibri"/>
                <a:ea typeface="Calibri"/>
              </a:rPr>
              <a:t>Public-key crypto helps strangers agree who they are and how to share a secret; symmetric crypto carries the conversation.</a:t>
            </a:r>
            <a:endParaRPr lang="en-US" sz="1250" b="0" strike="noStrike" spc="-1">
              <a:solidFill>
                <a:srgbClr val="000000"/>
              </a:solidFill>
              <a:latin typeface="Arial"/>
            </a:endParaRPr>
          </a:p>
        </p:txBody>
      </p:sp>
      <p:sp>
        <p:nvSpPr>
          <p:cNvPr id="125" name="PlaceHolder 1"/>
          <p:cNvSpPr>
            <a:spLocks noGrp="1"/>
          </p:cNvSpPr>
          <p:nvPr>
            <p:ph type="sldNum" idx="8"/>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8AC3CC05-CACC-4B2E-B83A-256F19903269}" type="slidenum">
              <a:rPr lang="en-US" sz="800" b="0" strike="noStrike" spc="-1">
                <a:solidFill>
                  <a:srgbClr val="64748B"/>
                </a:solidFill>
                <a:latin typeface="Calibri"/>
                <a:ea typeface="Calibri"/>
              </a:rPr>
              <a:t>3</a:t>
            </a:fld>
            <a:endParaRPr lang="en-US" sz="800" b="0" strike="noStrike" spc="-1">
              <a:solidFill>
                <a:srgbClr val="000000"/>
              </a:solidFill>
              <a:latin typeface="Times New Roman"/>
            </a:endParaRPr>
          </a:p>
        </p:txBody>
      </p:sp>
      <p:pic>
        <p:nvPicPr>
          <p:cNvPr id="3" name="Picture 2">
            <a:extLst>
              <a:ext uri="{FF2B5EF4-FFF2-40B4-BE49-F238E27FC236}">
                <a16:creationId xmlns:a16="http://schemas.microsoft.com/office/drawing/2014/main" id="{81030EDB-B641-4210-0572-571D318665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80" y="2204919"/>
            <a:ext cx="3007096" cy="1691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KEY PAIRS</a:t>
            </a:r>
            <a:endParaRPr lang="en-US" sz="1000" b="0" strike="noStrike" spc="-1">
              <a:solidFill>
                <a:srgbClr val="000000"/>
              </a:solidFill>
              <a:latin typeface="Arial"/>
            </a:endParaRPr>
          </a:p>
        </p:txBody>
      </p:sp>
      <p:sp>
        <p:nvSpPr>
          <p:cNvPr id="127"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Public key / private key: two halves, different handling</a:t>
            </a:r>
            <a:endParaRPr lang="en-US" sz="2700" b="0" strike="noStrike" spc="-1">
              <a:solidFill>
                <a:srgbClr val="000000"/>
              </a:solidFill>
              <a:latin typeface="Arial"/>
            </a:endParaRPr>
          </a:p>
        </p:txBody>
      </p:sp>
      <p:sp>
        <p:nvSpPr>
          <p:cNvPr id="128"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The public key can travel. The private key is the credential.</a:t>
            </a:r>
            <a:endParaRPr lang="en-US" sz="1250" b="0" strike="noStrike" spc="-1">
              <a:solidFill>
                <a:srgbClr val="000000"/>
              </a:solidFill>
              <a:latin typeface="Arial"/>
            </a:endParaRPr>
          </a:p>
        </p:txBody>
      </p:sp>
      <p:sp>
        <p:nvSpPr>
          <p:cNvPr id="130" name="Shape 6"/>
          <p:cNvSpPr/>
          <p:nvPr/>
        </p:nvSpPr>
        <p:spPr>
          <a:xfrm>
            <a:off x="914400" y="1920240"/>
            <a:ext cx="3840120" cy="2559960"/>
          </a:xfrm>
          <a:prstGeom prst="roundRect">
            <a:avLst>
              <a:gd name="adj" fmla="val 2857"/>
            </a:avLst>
          </a:prstGeom>
          <a:solidFill>
            <a:srgbClr val="EAF7F9"/>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 name="Shape 7"/>
          <p:cNvSpPr/>
          <p:nvPr/>
        </p:nvSpPr>
        <p:spPr>
          <a:xfrm>
            <a:off x="2176200" y="2176200"/>
            <a:ext cx="1325520" cy="273960"/>
          </a:xfrm>
          <a:prstGeom prst="roundRect">
            <a:avLst>
              <a:gd name="adj" fmla="val 26667"/>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2" name="Text 8"/>
          <p:cNvSpPr/>
          <p:nvPr/>
        </p:nvSpPr>
        <p:spPr>
          <a:xfrm>
            <a:off x="2249280" y="2194560"/>
            <a:ext cx="11793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PUBLIC KEY</a:t>
            </a:r>
            <a:endParaRPr lang="en-US" sz="1000" b="0" strike="noStrike" spc="-1">
              <a:solidFill>
                <a:srgbClr val="000000"/>
              </a:solidFill>
              <a:latin typeface="Arial"/>
            </a:endParaRPr>
          </a:p>
        </p:txBody>
      </p:sp>
      <p:sp>
        <p:nvSpPr>
          <p:cNvPr id="133" name="Text 9"/>
          <p:cNvSpPr/>
          <p:nvPr/>
        </p:nvSpPr>
        <p:spPr>
          <a:xfrm>
            <a:off x="1298520" y="2834640"/>
            <a:ext cx="306288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2400" b="1" strike="noStrike" spc="-1">
                <a:solidFill>
                  <a:srgbClr val="1F497D"/>
                </a:solidFill>
                <a:latin typeface="Calibri"/>
                <a:ea typeface="Calibri"/>
              </a:rPr>
              <a:t>Share freely</a:t>
            </a:r>
            <a:endParaRPr lang="en-US" sz="2400" b="0" strike="noStrike" spc="-1">
              <a:solidFill>
                <a:srgbClr val="000000"/>
              </a:solidFill>
              <a:latin typeface="Arial"/>
            </a:endParaRPr>
          </a:p>
        </p:txBody>
      </p:sp>
      <p:sp>
        <p:nvSpPr>
          <p:cNvPr id="134" name="Text 10"/>
          <p:cNvSpPr/>
          <p:nvPr/>
        </p:nvSpPr>
        <p:spPr>
          <a:xfrm>
            <a:off x="1298520" y="3401640"/>
            <a:ext cx="3062880" cy="594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strike="noStrike" spc="-1">
                <a:solidFill>
                  <a:srgbClr val="64748B"/>
                </a:solidFill>
                <a:latin typeface="Calibri"/>
                <a:ea typeface="Calibri"/>
              </a:rPr>
              <a:t>embedded in certificate</a:t>
            </a:r>
            <a:endParaRPr lang="en-US" sz="1400" b="0" strike="noStrike" spc="-1">
              <a:solidFill>
                <a:srgbClr val="000000"/>
              </a:solidFill>
              <a:latin typeface="Arial"/>
            </a:endParaRPr>
          </a:p>
          <a:p>
            <a:pPr algn="ctr" defTabSz="914400">
              <a:lnSpc>
                <a:spcPct val="100000"/>
              </a:lnSpc>
              <a:tabLst>
                <a:tab pos="0" algn="l"/>
              </a:tabLst>
            </a:pPr>
            <a:r>
              <a:rPr lang="en-US" sz="1400" b="0" strike="noStrike" spc="-1">
                <a:solidFill>
                  <a:srgbClr val="64748B"/>
                </a:solidFill>
                <a:latin typeface="Calibri"/>
                <a:ea typeface="Calibri"/>
              </a:rPr>
              <a:t>used to verify signatures</a:t>
            </a:r>
            <a:endParaRPr lang="en-US" sz="1400" b="0" strike="noStrike" spc="-1">
              <a:solidFill>
                <a:srgbClr val="000000"/>
              </a:solidFill>
              <a:latin typeface="Arial"/>
            </a:endParaRPr>
          </a:p>
        </p:txBody>
      </p:sp>
      <p:sp>
        <p:nvSpPr>
          <p:cNvPr id="135" name="Shape 11"/>
          <p:cNvSpPr/>
          <p:nvPr/>
        </p:nvSpPr>
        <p:spPr>
          <a:xfrm>
            <a:off x="7360920" y="1920240"/>
            <a:ext cx="3840120" cy="2559960"/>
          </a:xfrm>
          <a:prstGeom prst="roundRect">
            <a:avLst>
              <a:gd name="adj" fmla="val 2857"/>
            </a:avLst>
          </a:prstGeom>
          <a:solidFill>
            <a:srgbClr val="FFF3E7"/>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6" name="Shape 12"/>
          <p:cNvSpPr/>
          <p:nvPr/>
        </p:nvSpPr>
        <p:spPr>
          <a:xfrm>
            <a:off x="8613720" y="2176200"/>
            <a:ext cx="1325520" cy="273960"/>
          </a:xfrm>
          <a:prstGeom prst="roundRect">
            <a:avLst>
              <a:gd name="adj" fmla="val 26667"/>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7" name="Text 13"/>
          <p:cNvSpPr/>
          <p:nvPr/>
        </p:nvSpPr>
        <p:spPr>
          <a:xfrm>
            <a:off x="8686800" y="2194560"/>
            <a:ext cx="11793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PRIVATE KEY</a:t>
            </a:r>
            <a:endParaRPr lang="en-US" sz="1000" b="0" strike="noStrike" spc="-1">
              <a:solidFill>
                <a:srgbClr val="000000"/>
              </a:solidFill>
              <a:latin typeface="Arial"/>
            </a:endParaRPr>
          </a:p>
        </p:txBody>
      </p:sp>
      <p:sp>
        <p:nvSpPr>
          <p:cNvPr id="138" name="Text 14"/>
          <p:cNvSpPr/>
          <p:nvPr/>
        </p:nvSpPr>
        <p:spPr>
          <a:xfrm>
            <a:off x="7726680" y="2834640"/>
            <a:ext cx="31086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2400" b="1" strike="noStrike" spc="-1">
                <a:solidFill>
                  <a:srgbClr val="1F497D"/>
                </a:solidFill>
                <a:latin typeface="Calibri"/>
                <a:ea typeface="Calibri"/>
              </a:rPr>
              <a:t>Protect intensely</a:t>
            </a:r>
            <a:endParaRPr lang="en-US" sz="2400" b="0" strike="noStrike" spc="-1">
              <a:solidFill>
                <a:srgbClr val="000000"/>
              </a:solidFill>
              <a:latin typeface="Arial"/>
            </a:endParaRPr>
          </a:p>
        </p:txBody>
      </p:sp>
      <p:sp>
        <p:nvSpPr>
          <p:cNvPr id="139" name="Text 15"/>
          <p:cNvSpPr/>
          <p:nvPr/>
        </p:nvSpPr>
        <p:spPr>
          <a:xfrm>
            <a:off x="7726680" y="3401640"/>
            <a:ext cx="3108600" cy="594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strike="noStrike" spc="-1">
                <a:solidFill>
                  <a:srgbClr val="64748B"/>
                </a:solidFill>
                <a:latin typeface="Calibri"/>
                <a:ea typeface="Calibri"/>
              </a:rPr>
              <a:t>signs certificates or handshakes</a:t>
            </a:r>
            <a:endParaRPr lang="en-US" sz="1400" b="0" strike="noStrike" spc="-1">
              <a:solidFill>
                <a:srgbClr val="000000"/>
              </a:solidFill>
              <a:latin typeface="Arial"/>
            </a:endParaRPr>
          </a:p>
          <a:p>
            <a:pPr algn="ctr" defTabSz="914400">
              <a:lnSpc>
                <a:spcPct val="100000"/>
              </a:lnSpc>
              <a:tabLst>
                <a:tab pos="0" algn="l"/>
              </a:tabLst>
            </a:pPr>
            <a:r>
              <a:rPr lang="en-US" sz="1400" b="0" strike="noStrike" spc="-1">
                <a:solidFill>
                  <a:srgbClr val="64748B"/>
                </a:solidFill>
                <a:latin typeface="Calibri"/>
                <a:ea typeface="Calibri"/>
              </a:rPr>
              <a:t>never sent to the client</a:t>
            </a:r>
            <a:endParaRPr lang="en-US" sz="1400" b="0" strike="noStrike" spc="-1">
              <a:solidFill>
                <a:srgbClr val="000000"/>
              </a:solidFill>
              <a:latin typeface="Arial"/>
            </a:endParaRPr>
          </a:p>
        </p:txBody>
      </p:sp>
      <p:sp>
        <p:nvSpPr>
          <p:cNvPr id="140" name="Shape 16"/>
          <p:cNvSpPr/>
          <p:nvPr/>
        </p:nvSpPr>
        <p:spPr>
          <a:xfrm>
            <a:off x="4937760" y="3200400"/>
            <a:ext cx="2212560" cy="360"/>
          </a:xfrm>
          <a:prstGeom prst="line">
            <a:avLst/>
          </a:prstGeom>
          <a:ln w="254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1" name="Text 17"/>
          <p:cNvSpPr/>
          <p:nvPr/>
        </p:nvSpPr>
        <p:spPr>
          <a:xfrm>
            <a:off x="4956120" y="2907720"/>
            <a:ext cx="21942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4722"/>
          </a:bodyPr>
          <a:lstStyle/>
          <a:p>
            <a:pPr algn="ctr" defTabSz="914400">
              <a:lnSpc>
                <a:spcPct val="100000"/>
              </a:lnSpc>
              <a:tabLst>
                <a:tab pos="0" algn="l"/>
              </a:tabLst>
            </a:pPr>
            <a:r>
              <a:rPr lang="en-US" sz="1100" b="0" strike="noStrike" spc="-1">
                <a:solidFill>
                  <a:srgbClr val="64748B"/>
                </a:solidFill>
                <a:latin typeface="Calibri"/>
                <a:ea typeface="Calibri"/>
              </a:rPr>
              <a:t>same mathematical relationship</a:t>
            </a:r>
            <a:endParaRPr lang="en-US" sz="1100" b="0" strike="noStrike" spc="-1">
              <a:solidFill>
                <a:srgbClr val="000000"/>
              </a:solidFill>
              <a:latin typeface="Arial"/>
            </a:endParaRPr>
          </a:p>
        </p:txBody>
      </p:sp>
      <p:sp>
        <p:nvSpPr>
          <p:cNvPr id="142" name="PlaceHolder 1"/>
          <p:cNvSpPr>
            <a:spLocks noGrp="1"/>
          </p:cNvSpPr>
          <p:nvPr>
            <p:ph type="sldNum" idx="9"/>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878A46DC-042E-4E79-A1F7-BE6052792591}" type="slidenum">
              <a:rPr lang="en-US" sz="800" b="0" strike="noStrike" spc="-1">
                <a:solidFill>
                  <a:srgbClr val="64748B"/>
                </a:solidFill>
                <a:latin typeface="Calibri"/>
                <a:ea typeface="Calibri"/>
              </a:rPr>
              <a:t>4</a:t>
            </a:fld>
            <a:endParaRPr lang="en-US" sz="800" b="0" strike="noStrike" spc="-1">
              <a:solidFill>
                <a:srgbClr val="000000"/>
              </a:solidFill>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ectangle 142"/>
          <p:cNvSpPr/>
          <p:nvPr/>
        </p:nvSpPr>
        <p:spPr>
          <a:xfrm>
            <a:off x="0" y="0"/>
            <a:ext cx="12191760" cy="109800"/>
          </a:xfrm>
          <a:prstGeom prst="rect">
            <a:avLst/>
          </a:prstGeom>
          <a:solidFill>
            <a:srgbClr val="4BACC6"/>
          </a:solidFill>
          <a:ln w="0">
            <a:solidFill>
              <a:srgbClr val="4BACC6"/>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44" name="TextBox 143"/>
          <p:cNvSpPr txBox="1"/>
          <p:nvPr/>
        </p:nvSpPr>
        <p:spPr>
          <a:xfrm>
            <a:off x="502920" y="320040"/>
            <a:ext cx="3657600" cy="201240"/>
          </a:xfrm>
          <a:prstGeom prst="rect">
            <a:avLst/>
          </a:prstGeom>
          <a:noFill/>
          <a:ln w="0">
            <a:noFill/>
          </a:ln>
        </p:spPr>
        <p:txBody>
          <a:bodyPr lIns="90000" tIns="45000" rIns="90000" bIns="45000" anchor="t">
            <a:noAutofit/>
          </a:bodyPr>
          <a:lstStyle/>
          <a:p>
            <a:r>
              <a:rPr lang="en-US" sz="1000" b="1" strike="noStrike" spc="-1">
                <a:solidFill>
                  <a:srgbClr val="4BACC6"/>
                </a:solidFill>
                <a:latin typeface="Calibri"/>
              </a:rPr>
              <a:t>ALGORITHMS</a:t>
            </a:r>
          </a:p>
        </p:txBody>
      </p:sp>
      <p:sp>
        <p:nvSpPr>
          <p:cNvPr id="145" name="TextBox 144"/>
          <p:cNvSpPr txBox="1"/>
          <p:nvPr/>
        </p:nvSpPr>
        <p:spPr>
          <a:xfrm>
            <a:off x="502920" y="567000"/>
            <a:ext cx="10972800" cy="511920"/>
          </a:xfrm>
          <a:prstGeom prst="rect">
            <a:avLst/>
          </a:prstGeom>
          <a:noFill/>
          <a:ln w="0">
            <a:noFill/>
          </a:ln>
        </p:spPr>
        <p:txBody>
          <a:bodyPr lIns="90000" tIns="45000" rIns="90000" bIns="45000" anchor="t">
            <a:noAutofit/>
          </a:bodyPr>
          <a:lstStyle/>
          <a:p>
            <a:r>
              <a:rPr lang="en-US" sz="2700" b="1" strike="noStrike" spc="-1">
                <a:solidFill>
                  <a:srgbClr val="1F497D"/>
                </a:solidFill>
                <a:latin typeface="Calibri"/>
              </a:rPr>
              <a:t>Algorithms have jobs, not vibes</a:t>
            </a:r>
          </a:p>
        </p:txBody>
      </p:sp>
      <p:sp>
        <p:nvSpPr>
          <p:cNvPr id="146" name="TextBox 145"/>
          <p:cNvSpPr txBox="1"/>
          <p:nvPr/>
        </p:nvSpPr>
        <p:spPr>
          <a:xfrm>
            <a:off x="530280" y="1115640"/>
            <a:ext cx="10698480" cy="311040"/>
          </a:xfrm>
          <a:prstGeom prst="rect">
            <a:avLst/>
          </a:prstGeom>
          <a:noFill/>
          <a:ln w="0">
            <a:noFill/>
          </a:ln>
        </p:spPr>
        <p:txBody>
          <a:bodyPr lIns="90000" tIns="45000" rIns="90000" bIns="45000" anchor="t">
            <a:noAutofit/>
          </a:bodyPr>
          <a:lstStyle/>
          <a:p>
            <a:r>
              <a:rPr lang="en-US" sz="1250" b="0" strike="noStrike" spc="-1">
                <a:solidFill>
                  <a:srgbClr val="64748B"/>
                </a:solidFill>
                <a:latin typeface="Calibri"/>
              </a:rPr>
              <a:t>Choose a primitive for the security job it solves.</a:t>
            </a:r>
          </a:p>
        </p:txBody>
      </p:sp>
      <p:sp>
        <p:nvSpPr>
          <p:cNvPr id="147" name="Rectangle: Rounded Corners 146"/>
          <p:cNvSpPr/>
          <p:nvPr/>
        </p:nvSpPr>
        <p:spPr>
          <a:xfrm>
            <a:off x="640080" y="1755720"/>
            <a:ext cx="3246120" cy="1234440"/>
          </a:xfrm>
          <a:prstGeom prst="roundRect">
            <a:avLst/>
          </a:prstGeom>
          <a:solidFill>
            <a:srgbClr val="EEF2FA"/>
          </a:solidFill>
          <a:ln w="0">
            <a:solidFill>
              <a:srgbClr val="4F81B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48" name="Rectangle: Rounded Corners 147"/>
          <p:cNvSpPr/>
          <p:nvPr/>
        </p:nvSpPr>
        <p:spPr>
          <a:xfrm>
            <a:off x="640080" y="1755720"/>
            <a:ext cx="3246120" cy="292680"/>
          </a:xfrm>
          <a:prstGeom prst="roundRect">
            <a:avLst/>
          </a:prstGeom>
          <a:solidFill>
            <a:srgbClr val="4F81BD"/>
          </a:solidFill>
          <a:ln w="0">
            <a:solidFill>
              <a:srgbClr val="4F81B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49" name="TextBox 148"/>
          <p:cNvSpPr txBox="1"/>
          <p:nvPr/>
        </p:nvSpPr>
        <p:spPr>
          <a:xfrm>
            <a:off x="713160" y="1810440"/>
            <a:ext cx="309996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RSA</a:t>
            </a:r>
          </a:p>
        </p:txBody>
      </p:sp>
      <p:sp>
        <p:nvSpPr>
          <p:cNvPr id="150" name="TextBox 149"/>
          <p:cNvSpPr txBox="1"/>
          <p:nvPr/>
        </p:nvSpPr>
        <p:spPr>
          <a:xfrm>
            <a:off x="749880" y="2194560"/>
            <a:ext cx="3026520" cy="704160"/>
          </a:xfrm>
          <a:prstGeom prst="rect">
            <a:avLst/>
          </a:prstGeom>
          <a:noFill/>
          <a:ln w="0">
            <a:noFill/>
          </a:ln>
        </p:spPr>
        <p:txBody>
          <a:bodyPr lIns="90000" tIns="45000" rIns="90000" bIns="45000" anchor="t">
            <a:noAutofit/>
          </a:bodyPr>
          <a:lstStyle/>
          <a:p>
            <a:pPr algn="ctr"/>
            <a:r>
              <a:rPr lang="en-US" sz="1300" b="0" strike="noStrike" spc="-1">
                <a:solidFill>
                  <a:srgbClr val="203040"/>
                </a:solidFill>
                <a:latin typeface="Calibri"/>
              </a:rPr>
              <a:t>signatures</a:t>
            </a:r>
          </a:p>
          <a:p>
            <a:pPr algn="ctr"/>
            <a:r>
              <a:rPr lang="en-US" sz="1300" b="0" strike="noStrike" spc="-1">
                <a:solidFill>
                  <a:srgbClr val="203040"/>
                </a:solidFill>
                <a:latin typeface="Calibri"/>
              </a:rPr>
              <a:t>legacy compatibility</a:t>
            </a:r>
          </a:p>
          <a:p>
            <a:pPr algn="ctr"/>
            <a:r>
              <a:rPr lang="en-US" sz="1300" b="0" strike="noStrike" spc="-1">
                <a:solidFill>
                  <a:srgbClr val="203040"/>
                </a:solidFill>
                <a:latin typeface="Calibri"/>
              </a:rPr>
              <a:t>not forward secrecy by itself</a:t>
            </a:r>
          </a:p>
        </p:txBody>
      </p:sp>
      <p:sp>
        <p:nvSpPr>
          <p:cNvPr id="151" name="Rectangle: Rounded Corners 150"/>
          <p:cNvSpPr/>
          <p:nvPr/>
        </p:nvSpPr>
        <p:spPr>
          <a:xfrm>
            <a:off x="4462200" y="1755720"/>
            <a:ext cx="3246120" cy="1234440"/>
          </a:xfrm>
          <a:prstGeom prst="roundRect">
            <a:avLst/>
          </a:prstGeom>
          <a:solidFill>
            <a:srgbClr val="F5EFFA"/>
          </a:solidFill>
          <a:ln w="0">
            <a:solidFill>
              <a:srgbClr val="8064A2"/>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52" name="Rectangle: Rounded Corners 151"/>
          <p:cNvSpPr/>
          <p:nvPr/>
        </p:nvSpPr>
        <p:spPr>
          <a:xfrm>
            <a:off x="4462200" y="1755720"/>
            <a:ext cx="3246120" cy="292680"/>
          </a:xfrm>
          <a:prstGeom prst="roundRect">
            <a:avLst/>
          </a:prstGeom>
          <a:solidFill>
            <a:srgbClr val="8064A2"/>
          </a:solidFill>
          <a:ln w="0">
            <a:solidFill>
              <a:srgbClr val="8064A2"/>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53" name="TextBox 152"/>
          <p:cNvSpPr txBox="1"/>
          <p:nvPr/>
        </p:nvSpPr>
        <p:spPr>
          <a:xfrm>
            <a:off x="4535280" y="1810440"/>
            <a:ext cx="309996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ECDSA</a:t>
            </a:r>
          </a:p>
        </p:txBody>
      </p:sp>
      <p:sp>
        <p:nvSpPr>
          <p:cNvPr id="154" name="TextBox 153"/>
          <p:cNvSpPr txBox="1"/>
          <p:nvPr/>
        </p:nvSpPr>
        <p:spPr>
          <a:xfrm>
            <a:off x="4572000" y="2194560"/>
            <a:ext cx="3026520" cy="704160"/>
          </a:xfrm>
          <a:prstGeom prst="rect">
            <a:avLst/>
          </a:prstGeom>
          <a:noFill/>
          <a:ln w="0">
            <a:noFill/>
          </a:ln>
        </p:spPr>
        <p:txBody>
          <a:bodyPr lIns="90000" tIns="45000" rIns="90000" bIns="45000" anchor="t">
            <a:noAutofit/>
          </a:bodyPr>
          <a:lstStyle/>
          <a:p>
            <a:pPr algn="ctr"/>
            <a:r>
              <a:rPr lang="en-US" sz="1300" b="0" strike="noStrike" spc="-1">
                <a:solidFill>
                  <a:srgbClr val="203040"/>
                </a:solidFill>
                <a:latin typeface="Calibri"/>
              </a:rPr>
              <a:t>compact signatures</a:t>
            </a:r>
          </a:p>
          <a:p>
            <a:pPr algn="ctr"/>
            <a:r>
              <a:rPr lang="en-US" sz="1300" b="0" strike="noStrike" spc="-1">
                <a:solidFill>
                  <a:srgbClr val="203040"/>
                </a:solidFill>
                <a:latin typeface="Calibri"/>
              </a:rPr>
              <a:t>certificate authentication</a:t>
            </a:r>
          </a:p>
          <a:p>
            <a:pPr algn="ctr"/>
            <a:r>
              <a:rPr lang="en-US" sz="1300" b="0" strike="noStrike" spc="-1">
                <a:solidFill>
                  <a:srgbClr val="203040"/>
                </a:solidFill>
                <a:latin typeface="Calibri"/>
              </a:rPr>
              <a:t>requires careful key generation</a:t>
            </a:r>
          </a:p>
        </p:txBody>
      </p:sp>
      <p:sp>
        <p:nvSpPr>
          <p:cNvPr id="155" name="Rectangle: Rounded Corners 154"/>
          <p:cNvSpPr/>
          <p:nvPr/>
        </p:nvSpPr>
        <p:spPr>
          <a:xfrm>
            <a:off x="8284320" y="1755720"/>
            <a:ext cx="3246120" cy="1234440"/>
          </a:xfrm>
          <a:prstGeom prst="roundRect">
            <a:avLst/>
          </a:prstGeom>
          <a:solidFill>
            <a:srgbClr val="EAF7F9"/>
          </a:solidFill>
          <a:ln w="0">
            <a:solidFill>
              <a:srgbClr val="70AD47"/>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56" name="Rectangle: Rounded Corners 155"/>
          <p:cNvSpPr/>
          <p:nvPr/>
        </p:nvSpPr>
        <p:spPr>
          <a:xfrm>
            <a:off x="8284320" y="1755720"/>
            <a:ext cx="3246120" cy="292680"/>
          </a:xfrm>
          <a:prstGeom prst="roundRect">
            <a:avLst/>
          </a:prstGeom>
          <a:solidFill>
            <a:srgbClr val="70AD47"/>
          </a:solidFill>
          <a:ln w="0">
            <a:solidFill>
              <a:srgbClr val="70AD47"/>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57" name="TextBox 156"/>
          <p:cNvSpPr txBox="1"/>
          <p:nvPr/>
        </p:nvSpPr>
        <p:spPr>
          <a:xfrm>
            <a:off x="8357760" y="1810440"/>
            <a:ext cx="309996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ECDHE</a:t>
            </a:r>
          </a:p>
        </p:txBody>
      </p:sp>
      <p:sp>
        <p:nvSpPr>
          <p:cNvPr id="158" name="TextBox 157"/>
          <p:cNvSpPr txBox="1"/>
          <p:nvPr/>
        </p:nvSpPr>
        <p:spPr>
          <a:xfrm>
            <a:off x="8394120" y="2194560"/>
            <a:ext cx="3026520" cy="704160"/>
          </a:xfrm>
          <a:prstGeom prst="rect">
            <a:avLst/>
          </a:prstGeom>
          <a:noFill/>
          <a:ln w="0">
            <a:noFill/>
          </a:ln>
        </p:spPr>
        <p:txBody>
          <a:bodyPr lIns="90000" tIns="45000" rIns="90000" bIns="45000" anchor="t">
            <a:noAutofit/>
          </a:bodyPr>
          <a:lstStyle/>
          <a:p>
            <a:pPr algn="ctr"/>
            <a:r>
              <a:rPr lang="en-US" sz="1300" b="0" strike="noStrike" spc="-1" dirty="0">
                <a:solidFill>
                  <a:srgbClr val="203040"/>
                </a:solidFill>
                <a:latin typeface="Calibri"/>
              </a:rPr>
              <a:t>ephemeral key agreement</a:t>
            </a:r>
          </a:p>
          <a:p>
            <a:pPr algn="ctr"/>
            <a:r>
              <a:rPr lang="en-US" sz="1300" b="0" strike="noStrike" spc="-1" dirty="0">
                <a:solidFill>
                  <a:srgbClr val="203040"/>
                </a:solidFill>
                <a:latin typeface="Calibri"/>
              </a:rPr>
              <a:t>shared secret</a:t>
            </a:r>
          </a:p>
          <a:p>
            <a:pPr algn="ctr"/>
            <a:r>
              <a:rPr lang="en-US" sz="1300" b="0" strike="noStrike" spc="-1" dirty="0">
                <a:solidFill>
                  <a:srgbClr val="203040"/>
                </a:solidFill>
                <a:latin typeface="Calibri"/>
              </a:rPr>
              <a:t>forward secrecy</a:t>
            </a:r>
          </a:p>
        </p:txBody>
      </p:sp>
      <p:sp>
        <p:nvSpPr>
          <p:cNvPr id="159" name="Rectangle: Rounded Corners 158"/>
          <p:cNvSpPr/>
          <p:nvPr/>
        </p:nvSpPr>
        <p:spPr>
          <a:xfrm>
            <a:off x="640080" y="3355920"/>
            <a:ext cx="3246120" cy="1234440"/>
          </a:xfrm>
          <a:prstGeom prst="roundRect">
            <a:avLst/>
          </a:prstGeom>
          <a:solidFill>
            <a:srgbClr val="EAF7F9"/>
          </a:solidFill>
          <a:ln w="0">
            <a:solidFill>
              <a:srgbClr val="4BACC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60" name="Rectangle: Rounded Corners 159"/>
          <p:cNvSpPr/>
          <p:nvPr/>
        </p:nvSpPr>
        <p:spPr>
          <a:xfrm>
            <a:off x="640080" y="3355920"/>
            <a:ext cx="3246120" cy="292680"/>
          </a:xfrm>
          <a:prstGeom prst="roundRect">
            <a:avLst/>
          </a:prstGeom>
          <a:solidFill>
            <a:srgbClr val="4BACC6"/>
          </a:solidFill>
          <a:ln w="0">
            <a:solidFill>
              <a:srgbClr val="4BACC6"/>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61" name="TextBox 160"/>
          <p:cNvSpPr txBox="1"/>
          <p:nvPr/>
        </p:nvSpPr>
        <p:spPr>
          <a:xfrm>
            <a:off x="713160" y="3410640"/>
            <a:ext cx="309996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AES-GCM</a:t>
            </a:r>
          </a:p>
        </p:txBody>
      </p:sp>
      <p:sp>
        <p:nvSpPr>
          <p:cNvPr id="162" name="TextBox 161"/>
          <p:cNvSpPr txBox="1"/>
          <p:nvPr/>
        </p:nvSpPr>
        <p:spPr>
          <a:xfrm>
            <a:off x="749880" y="3794760"/>
            <a:ext cx="3026520" cy="704160"/>
          </a:xfrm>
          <a:prstGeom prst="rect">
            <a:avLst/>
          </a:prstGeom>
          <a:noFill/>
          <a:ln w="0">
            <a:noFill/>
          </a:ln>
        </p:spPr>
        <p:txBody>
          <a:bodyPr lIns="90000" tIns="45000" rIns="90000" bIns="45000" anchor="t">
            <a:noAutofit/>
          </a:bodyPr>
          <a:lstStyle/>
          <a:p>
            <a:pPr algn="ctr"/>
            <a:r>
              <a:rPr lang="en-US" sz="1300" b="0" strike="noStrike" spc="-1">
                <a:solidFill>
                  <a:srgbClr val="203040"/>
                </a:solidFill>
                <a:latin typeface="Calibri"/>
              </a:rPr>
              <a:t>symmetric AEAD</a:t>
            </a:r>
          </a:p>
          <a:p>
            <a:pPr algn="ctr"/>
            <a:r>
              <a:rPr lang="en-US" sz="1300" b="0" strike="noStrike" spc="-1">
                <a:solidFill>
                  <a:srgbClr val="203040"/>
                </a:solidFill>
                <a:latin typeface="Calibri"/>
              </a:rPr>
              <a:t>fast record protection</a:t>
            </a:r>
          </a:p>
          <a:p>
            <a:pPr algn="ctr"/>
            <a:r>
              <a:rPr lang="en-US" sz="1300" b="0" strike="noStrike" spc="-1">
                <a:solidFill>
                  <a:srgbClr val="203040"/>
                </a:solidFill>
                <a:latin typeface="Calibri"/>
              </a:rPr>
              <a:t>integrity + confidentiality</a:t>
            </a:r>
          </a:p>
        </p:txBody>
      </p:sp>
      <p:sp>
        <p:nvSpPr>
          <p:cNvPr id="163" name="Rectangle: Rounded Corners 162"/>
          <p:cNvSpPr/>
          <p:nvPr/>
        </p:nvSpPr>
        <p:spPr>
          <a:xfrm>
            <a:off x="4462200" y="3355920"/>
            <a:ext cx="3246120" cy="1234440"/>
          </a:xfrm>
          <a:prstGeom prst="roundRect">
            <a:avLst/>
          </a:prstGeom>
          <a:solidFill>
            <a:srgbClr val="FFF3E7"/>
          </a:solidFill>
          <a:ln w="0">
            <a:solidFill>
              <a:srgbClr val="F7964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64" name="Rectangle: Rounded Corners 163"/>
          <p:cNvSpPr/>
          <p:nvPr/>
        </p:nvSpPr>
        <p:spPr>
          <a:xfrm>
            <a:off x="4462200" y="3355920"/>
            <a:ext cx="3246120" cy="292680"/>
          </a:xfrm>
          <a:prstGeom prst="roundRect">
            <a:avLst/>
          </a:prstGeom>
          <a:solidFill>
            <a:srgbClr val="F79646"/>
          </a:solidFill>
          <a:ln w="0">
            <a:solidFill>
              <a:srgbClr val="F7964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65" name="TextBox 164"/>
          <p:cNvSpPr txBox="1"/>
          <p:nvPr/>
        </p:nvSpPr>
        <p:spPr>
          <a:xfrm>
            <a:off x="4535280" y="3410640"/>
            <a:ext cx="309996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ChaCha20-Poly1305</a:t>
            </a:r>
          </a:p>
        </p:txBody>
      </p:sp>
      <p:sp>
        <p:nvSpPr>
          <p:cNvPr id="166" name="TextBox 165"/>
          <p:cNvSpPr txBox="1"/>
          <p:nvPr/>
        </p:nvSpPr>
        <p:spPr>
          <a:xfrm>
            <a:off x="4572000" y="3794760"/>
            <a:ext cx="3026520" cy="704160"/>
          </a:xfrm>
          <a:prstGeom prst="rect">
            <a:avLst/>
          </a:prstGeom>
          <a:noFill/>
          <a:ln w="0">
            <a:noFill/>
          </a:ln>
        </p:spPr>
        <p:txBody>
          <a:bodyPr lIns="90000" tIns="45000" rIns="90000" bIns="45000" anchor="t">
            <a:noAutofit/>
          </a:bodyPr>
          <a:lstStyle/>
          <a:p>
            <a:pPr algn="ctr"/>
            <a:r>
              <a:rPr lang="en-US" sz="1300" b="0" strike="noStrike" spc="-1" dirty="0">
                <a:solidFill>
                  <a:srgbClr val="203040"/>
                </a:solidFill>
                <a:latin typeface="Calibri"/>
              </a:rPr>
              <a:t>symmetric AEAD</a:t>
            </a:r>
          </a:p>
          <a:p>
            <a:pPr algn="ctr"/>
            <a:r>
              <a:rPr lang="en-US" sz="1300" b="0" strike="noStrike" spc="-1" dirty="0">
                <a:solidFill>
                  <a:srgbClr val="203040"/>
                </a:solidFill>
                <a:latin typeface="Calibri"/>
              </a:rPr>
              <a:t>strong software performance</a:t>
            </a:r>
          </a:p>
          <a:p>
            <a:pPr algn="ctr"/>
            <a:r>
              <a:rPr lang="en-US" sz="1300" b="0" strike="noStrike" spc="-1" dirty="0">
                <a:solidFill>
                  <a:srgbClr val="203040"/>
                </a:solidFill>
                <a:latin typeface="Calibri"/>
              </a:rPr>
              <a:t>common TLS 1.3 option</a:t>
            </a:r>
          </a:p>
        </p:txBody>
      </p:sp>
      <p:sp>
        <p:nvSpPr>
          <p:cNvPr id="167" name="Rectangle: Rounded Corners 166"/>
          <p:cNvSpPr/>
          <p:nvPr/>
        </p:nvSpPr>
        <p:spPr>
          <a:xfrm>
            <a:off x="8284320" y="3355920"/>
            <a:ext cx="3246120" cy="1234440"/>
          </a:xfrm>
          <a:prstGeom prst="roundRect">
            <a:avLst/>
          </a:prstGeom>
          <a:solidFill>
            <a:srgbClr val="FFF3E7"/>
          </a:solidFill>
          <a:ln w="0">
            <a:solidFill>
              <a:srgbClr val="C0504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68" name="Rectangle: Rounded Corners 167"/>
          <p:cNvSpPr/>
          <p:nvPr/>
        </p:nvSpPr>
        <p:spPr>
          <a:xfrm>
            <a:off x="8284320" y="3355920"/>
            <a:ext cx="3246120" cy="292680"/>
          </a:xfrm>
          <a:prstGeom prst="roundRect">
            <a:avLst/>
          </a:prstGeom>
          <a:solidFill>
            <a:srgbClr val="C0504D"/>
          </a:solidFill>
          <a:ln w="0">
            <a:solidFill>
              <a:srgbClr val="C0504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69" name="TextBox 168"/>
          <p:cNvSpPr txBox="1"/>
          <p:nvPr/>
        </p:nvSpPr>
        <p:spPr>
          <a:xfrm>
            <a:off x="8357760" y="3410640"/>
            <a:ext cx="309996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SHA-256 / SHA-384</a:t>
            </a:r>
          </a:p>
        </p:txBody>
      </p:sp>
      <p:sp>
        <p:nvSpPr>
          <p:cNvPr id="170" name="TextBox 169"/>
          <p:cNvSpPr txBox="1"/>
          <p:nvPr/>
        </p:nvSpPr>
        <p:spPr>
          <a:xfrm>
            <a:off x="8394120" y="3794760"/>
            <a:ext cx="3026520" cy="704160"/>
          </a:xfrm>
          <a:prstGeom prst="rect">
            <a:avLst/>
          </a:prstGeom>
          <a:noFill/>
          <a:ln w="0">
            <a:noFill/>
          </a:ln>
        </p:spPr>
        <p:txBody>
          <a:bodyPr lIns="90000" tIns="45000" rIns="90000" bIns="45000" anchor="t">
            <a:noAutofit/>
          </a:bodyPr>
          <a:lstStyle/>
          <a:p>
            <a:pPr algn="ctr"/>
            <a:r>
              <a:rPr lang="en-US" sz="1300" b="0" strike="noStrike" spc="-1" dirty="0">
                <a:solidFill>
                  <a:srgbClr val="203040"/>
                </a:solidFill>
                <a:latin typeface="Calibri"/>
              </a:rPr>
              <a:t>hashes and digests</a:t>
            </a:r>
          </a:p>
          <a:p>
            <a:pPr algn="ctr"/>
            <a:r>
              <a:rPr lang="en-US" sz="1300" b="0" strike="noStrike" spc="-1" dirty="0">
                <a:solidFill>
                  <a:srgbClr val="203040"/>
                </a:solidFill>
                <a:latin typeface="Calibri"/>
              </a:rPr>
              <a:t>certificate signatures</a:t>
            </a:r>
          </a:p>
          <a:p>
            <a:pPr algn="ctr"/>
            <a:r>
              <a:rPr lang="en-US" sz="1300" b="0" strike="noStrike" spc="-1" dirty="0">
                <a:solidFill>
                  <a:srgbClr val="203040"/>
                </a:solidFill>
                <a:latin typeface="Calibri"/>
              </a:rPr>
              <a:t>transcript and integrity inputs</a:t>
            </a:r>
          </a:p>
        </p:txBody>
      </p:sp>
      <p:sp>
        <p:nvSpPr>
          <p:cNvPr id="171" name="Rectangle: Rounded Corners 170"/>
          <p:cNvSpPr/>
          <p:nvPr/>
        </p:nvSpPr>
        <p:spPr>
          <a:xfrm>
            <a:off x="914400" y="5102280"/>
            <a:ext cx="10149840" cy="658440"/>
          </a:xfrm>
          <a:prstGeom prst="roundRect">
            <a:avLst/>
          </a:prstGeom>
          <a:solidFill>
            <a:srgbClr val="FFFFFF"/>
          </a:solidFill>
          <a:ln w="0">
            <a:solidFill>
              <a:srgbClr val="1F497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72" name="Rectangle 171"/>
          <p:cNvSpPr/>
          <p:nvPr/>
        </p:nvSpPr>
        <p:spPr>
          <a:xfrm>
            <a:off x="914400" y="5102280"/>
            <a:ext cx="91440" cy="658440"/>
          </a:xfrm>
          <a:prstGeom prst="rect">
            <a:avLst/>
          </a:prstGeom>
          <a:solidFill>
            <a:srgbClr val="1F497D"/>
          </a:solidFill>
          <a:ln w="0">
            <a:solidFill>
              <a:srgbClr val="1F497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73" name="TextBox 172"/>
          <p:cNvSpPr txBox="1"/>
          <p:nvPr/>
        </p:nvSpPr>
        <p:spPr>
          <a:xfrm>
            <a:off x="1134000" y="5212080"/>
            <a:ext cx="9829800" cy="201240"/>
          </a:xfrm>
          <a:prstGeom prst="rect">
            <a:avLst/>
          </a:prstGeom>
          <a:noFill/>
          <a:ln w="0">
            <a:noFill/>
          </a:ln>
        </p:spPr>
        <p:txBody>
          <a:bodyPr lIns="90000" tIns="45000" rIns="90000" bIns="45000" anchor="t">
            <a:noAutofit/>
          </a:bodyPr>
          <a:lstStyle/>
          <a:p>
            <a:r>
              <a:rPr lang="en-US" sz="1400" b="1" strike="noStrike" spc="-1">
                <a:solidFill>
                  <a:srgbClr val="1F497D"/>
                </a:solidFill>
                <a:latin typeface="Calibri"/>
              </a:rPr>
              <a:t>Not algorithms</a:t>
            </a:r>
          </a:p>
        </p:txBody>
      </p:sp>
      <p:sp>
        <p:nvSpPr>
          <p:cNvPr id="174" name="TextBox 173"/>
          <p:cNvSpPr txBox="1"/>
          <p:nvPr/>
        </p:nvSpPr>
        <p:spPr>
          <a:xfrm>
            <a:off x="1134000" y="5449680"/>
            <a:ext cx="9829800" cy="255960"/>
          </a:xfrm>
          <a:prstGeom prst="rect">
            <a:avLst/>
          </a:prstGeom>
          <a:noFill/>
          <a:ln w="0">
            <a:noFill/>
          </a:ln>
        </p:spPr>
        <p:txBody>
          <a:bodyPr lIns="90000" tIns="45000" rIns="90000" bIns="45000" anchor="t">
            <a:noAutofit/>
          </a:bodyPr>
          <a:lstStyle/>
          <a:p>
            <a:r>
              <a:rPr lang="en-US" sz="1250" b="0" strike="noStrike" spc="-1" dirty="0">
                <a:solidFill>
                  <a:srgbClr val="203040"/>
                </a:solidFill>
                <a:latin typeface="Calibri"/>
              </a:rPr>
              <a:t>TLS 1.3 is a protocol version. X.509 is a certificate format.. A CA is a trust role.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DIGITAL SIGNATURES</a:t>
            </a:r>
            <a:endParaRPr lang="en-US" sz="1000" b="0" strike="noStrike" spc="-1">
              <a:solidFill>
                <a:srgbClr val="000000"/>
              </a:solidFill>
              <a:latin typeface="Arial"/>
            </a:endParaRPr>
          </a:p>
        </p:txBody>
      </p:sp>
      <p:sp>
        <p:nvSpPr>
          <p:cNvPr id="176"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6666"/>
          </a:bodyPr>
          <a:lstStyle/>
          <a:p>
            <a:pPr defTabSz="914400">
              <a:lnSpc>
                <a:spcPct val="100000"/>
              </a:lnSpc>
              <a:tabLst>
                <a:tab pos="0" algn="l"/>
              </a:tabLst>
            </a:pPr>
            <a:r>
              <a:rPr lang="en-US" sz="2700" b="1" strike="noStrike" spc="-1">
                <a:solidFill>
                  <a:srgbClr val="1F497D"/>
                </a:solidFill>
                <a:latin typeface="Calibri"/>
                <a:ea typeface="Calibri"/>
              </a:rPr>
              <a:t>How a signature establishes trust without a shared secret</a:t>
            </a:r>
            <a:endParaRPr lang="en-US" sz="2700" b="0" strike="noStrike" spc="-1">
              <a:solidFill>
                <a:srgbClr val="000000"/>
              </a:solidFill>
              <a:latin typeface="Arial"/>
            </a:endParaRPr>
          </a:p>
        </p:txBody>
      </p:sp>
      <p:sp>
        <p:nvSpPr>
          <p:cNvPr id="177"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Sign the digest; verify with the public key.</a:t>
            </a:r>
            <a:endParaRPr lang="en-US" sz="1250" b="0" strike="noStrike" spc="-1">
              <a:solidFill>
                <a:srgbClr val="000000"/>
              </a:solidFill>
              <a:latin typeface="Arial"/>
            </a:endParaRPr>
          </a:p>
        </p:txBody>
      </p:sp>
      <p:sp>
        <p:nvSpPr>
          <p:cNvPr id="179" name="Shape 6"/>
          <p:cNvSpPr/>
          <p:nvPr/>
        </p:nvSpPr>
        <p:spPr>
          <a:xfrm>
            <a:off x="731520" y="2240280"/>
            <a:ext cx="1828440" cy="1416960"/>
          </a:xfrm>
          <a:prstGeom prst="roundRect">
            <a:avLst>
              <a:gd name="adj" fmla="val 516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0" name="Shape 7"/>
          <p:cNvSpPr/>
          <p:nvPr/>
        </p:nvSpPr>
        <p:spPr>
          <a:xfrm>
            <a:off x="731520" y="2240280"/>
            <a:ext cx="1828440" cy="292320"/>
          </a:xfrm>
          <a:prstGeom prst="roundRect">
            <a:avLst>
              <a:gd name="adj" fmla="val 25000"/>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1" name="Text 8"/>
          <p:cNvSpPr/>
          <p:nvPr/>
        </p:nvSpPr>
        <p:spPr>
          <a:xfrm>
            <a:off x="841320" y="2277000"/>
            <a:ext cx="16088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Message</a:t>
            </a:r>
            <a:endParaRPr lang="en-US" sz="1100" b="0" strike="noStrike" spc="-1">
              <a:solidFill>
                <a:srgbClr val="000000"/>
              </a:solidFill>
              <a:latin typeface="Arial"/>
            </a:endParaRPr>
          </a:p>
        </p:txBody>
      </p:sp>
      <p:sp>
        <p:nvSpPr>
          <p:cNvPr id="182" name="Text 9"/>
          <p:cNvSpPr/>
          <p:nvPr/>
        </p:nvSpPr>
        <p:spPr>
          <a:xfrm>
            <a:off x="841320" y="2651760"/>
            <a:ext cx="1608840" cy="914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“I am lab5.local”</a:t>
            </a:r>
            <a:endParaRPr lang="en-US" sz="1300" b="0" strike="noStrike" spc="-1">
              <a:solidFill>
                <a:srgbClr val="000000"/>
              </a:solidFill>
              <a:latin typeface="Arial"/>
            </a:endParaRPr>
          </a:p>
        </p:txBody>
      </p:sp>
      <p:sp>
        <p:nvSpPr>
          <p:cNvPr id="183" name="Shape 10"/>
          <p:cNvSpPr/>
          <p:nvPr/>
        </p:nvSpPr>
        <p:spPr>
          <a:xfrm>
            <a:off x="2633400" y="2944080"/>
            <a:ext cx="3106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84" name="Shape 11"/>
          <p:cNvSpPr/>
          <p:nvPr/>
        </p:nvSpPr>
        <p:spPr>
          <a:xfrm>
            <a:off x="3063240" y="2240280"/>
            <a:ext cx="1828440" cy="1416960"/>
          </a:xfrm>
          <a:prstGeom prst="roundRect">
            <a:avLst>
              <a:gd name="adj" fmla="val 516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5" name="Shape 12"/>
          <p:cNvSpPr/>
          <p:nvPr/>
        </p:nvSpPr>
        <p:spPr>
          <a:xfrm>
            <a:off x="3063240" y="2240280"/>
            <a:ext cx="1828440" cy="292320"/>
          </a:xfrm>
          <a:prstGeom prst="roundRect">
            <a:avLst>
              <a:gd name="adj" fmla="val 25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6" name="Text 13"/>
          <p:cNvSpPr/>
          <p:nvPr/>
        </p:nvSpPr>
        <p:spPr>
          <a:xfrm>
            <a:off x="3173040" y="2277000"/>
            <a:ext cx="16088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Hash</a:t>
            </a:r>
            <a:endParaRPr lang="en-US" sz="1100" b="0" strike="noStrike" spc="-1">
              <a:solidFill>
                <a:srgbClr val="000000"/>
              </a:solidFill>
              <a:latin typeface="Arial"/>
            </a:endParaRPr>
          </a:p>
        </p:txBody>
      </p:sp>
      <p:sp>
        <p:nvSpPr>
          <p:cNvPr id="187" name="Text 14"/>
          <p:cNvSpPr/>
          <p:nvPr/>
        </p:nvSpPr>
        <p:spPr>
          <a:xfrm>
            <a:off x="3173040" y="2651760"/>
            <a:ext cx="1608840" cy="914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SHA-256 digest</a:t>
            </a:r>
            <a:endParaRPr lang="en-US" sz="1300" b="0" strike="noStrike" spc="-1">
              <a:solidFill>
                <a:srgbClr val="000000"/>
              </a:solidFill>
              <a:latin typeface="Arial"/>
            </a:endParaRPr>
          </a:p>
        </p:txBody>
      </p:sp>
      <p:sp>
        <p:nvSpPr>
          <p:cNvPr id="188" name="Shape 15"/>
          <p:cNvSpPr/>
          <p:nvPr/>
        </p:nvSpPr>
        <p:spPr>
          <a:xfrm>
            <a:off x="4965120" y="2944080"/>
            <a:ext cx="4478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89" name="Shape 16"/>
          <p:cNvSpPr/>
          <p:nvPr/>
        </p:nvSpPr>
        <p:spPr>
          <a:xfrm>
            <a:off x="5532120" y="2240280"/>
            <a:ext cx="1828440" cy="1416960"/>
          </a:xfrm>
          <a:prstGeom prst="roundRect">
            <a:avLst>
              <a:gd name="adj" fmla="val 516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0" name="Shape 17"/>
          <p:cNvSpPr/>
          <p:nvPr/>
        </p:nvSpPr>
        <p:spPr>
          <a:xfrm>
            <a:off x="5532120" y="2240280"/>
            <a:ext cx="1828440" cy="292320"/>
          </a:xfrm>
          <a:prstGeom prst="roundRect">
            <a:avLst>
              <a:gd name="adj" fmla="val 25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1" name="Text 18"/>
          <p:cNvSpPr/>
          <p:nvPr/>
        </p:nvSpPr>
        <p:spPr>
          <a:xfrm>
            <a:off x="5641920" y="2277000"/>
            <a:ext cx="16088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Sign</a:t>
            </a:r>
            <a:endParaRPr lang="en-US" sz="1100" b="0" strike="noStrike" spc="-1">
              <a:solidFill>
                <a:srgbClr val="000000"/>
              </a:solidFill>
              <a:latin typeface="Arial"/>
            </a:endParaRPr>
          </a:p>
        </p:txBody>
      </p:sp>
      <p:sp>
        <p:nvSpPr>
          <p:cNvPr id="192" name="Text 19"/>
          <p:cNvSpPr/>
          <p:nvPr/>
        </p:nvSpPr>
        <p:spPr>
          <a:xfrm>
            <a:off x="5641920" y="2651760"/>
            <a:ext cx="1608840" cy="914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private key</a:t>
            </a:r>
            <a:endParaRPr lang="en-US" sz="1300" b="0" strike="noStrike" spc="-1">
              <a:solidFill>
                <a:srgbClr val="000000"/>
              </a:solidFill>
              <a:latin typeface="Arial"/>
            </a:endParaRPr>
          </a:p>
        </p:txBody>
      </p:sp>
      <p:sp>
        <p:nvSpPr>
          <p:cNvPr id="193" name="Shape 20"/>
          <p:cNvSpPr/>
          <p:nvPr/>
        </p:nvSpPr>
        <p:spPr>
          <a:xfrm>
            <a:off x="7434000" y="2944080"/>
            <a:ext cx="6764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94" name="Shape 21"/>
          <p:cNvSpPr/>
          <p:nvPr/>
        </p:nvSpPr>
        <p:spPr>
          <a:xfrm>
            <a:off x="8229600" y="2240280"/>
            <a:ext cx="1828440" cy="1416960"/>
          </a:xfrm>
          <a:prstGeom prst="roundRect">
            <a:avLst>
              <a:gd name="adj" fmla="val 516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5" name="Shape 22"/>
          <p:cNvSpPr/>
          <p:nvPr/>
        </p:nvSpPr>
        <p:spPr>
          <a:xfrm>
            <a:off x="8229600" y="2240280"/>
            <a:ext cx="1828440" cy="292320"/>
          </a:xfrm>
          <a:prstGeom prst="roundRect">
            <a:avLst>
              <a:gd name="adj" fmla="val 25000"/>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6" name="Text 23"/>
          <p:cNvSpPr/>
          <p:nvPr/>
        </p:nvSpPr>
        <p:spPr>
          <a:xfrm>
            <a:off x="8339400" y="2277000"/>
            <a:ext cx="16088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Verify</a:t>
            </a:r>
            <a:endParaRPr lang="en-US" sz="1100" b="0" strike="noStrike" spc="-1">
              <a:solidFill>
                <a:srgbClr val="000000"/>
              </a:solidFill>
              <a:latin typeface="Arial"/>
            </a:endParaRPr>
          </a:p>
        </p:txBody>
      </p:sp>
      <p:sp>
        <p:nvSpPr>
          <p:cNvPr id="197" name="Text 24"/>
          <p:cNvSpPr/>
          <p:nvPr/>
        </p:nvSpPr>
        <p:spPr>
          <a:xfrm>
            <a:off x="8339400" y="2651760"/>
            <a:ext cx="1608840" cy="9140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public key</a:t>
            </a:r>
            <a:endParaRPr lang="en-US" sz="1300" b="0" strike="noStrike" spc="-1">
              <a:solidFill>
                <a:srgbClr val="000000"/>
              </a:solidFill>
              <a:latin typeface="Arial"/>
            </a:endParaRPr>
          </a:p>
        </p:txBody>
      </p:sp>
      <p:sp>
        <p:nvSpPr>
          <p:cNvPr id="198" name="Shape 25"/>
          <p:cNvSpPr/>
          <p:nvPr/>
        </p:nvSpPr>
        <p:spPr>
          <a:xfrm>
            <a:off x="960120" y="4343400"/>
            <a:ext cx="10195200" cy="822600"/>
          </a:xfrm>
          <a:prstGeom prst="roundRect">
            <a:avLst>
              <a:gd name="adj" fmla="val 8889"/>
            </a:avLst>
          </a:prstGeom>
          <a:solidFill>
            <a:srgbClr val="FFFFFF"/>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99" name="Shape 26"/>
          <p:cNvSpPr/>
          <p:nvPr/>
        </p:nvSpPr>
        <p:spPr>
          <a:xfrm>
            <a:off x="960120" y="4343400"/>
            <a:ext cx="100080" cy="822600"/>
          </a:xfrm>
          <a:prstGeom prst="rect">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0" name="Text 27"/>
          <p:cNvSpPr/>
          <p:nvPr/>
        </p:nvSpPr>
        <p:spPr>
          <a:xfrm>
            <a:off x="1197720" y="4453200"/>
            <a:ext cx="984780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
                <a:solidFill>
                  <a:srgbClr val="1F497D"/>
                </a:solidFill>
                <a:latin typeface="Calibri"/>
                <a:ea typeface="Calibri"/>
              </a:rPr>
              <a:t>What the verifier learns</a:t>
            </a:r>
            <a:endParaRPr lang="en-US" sz="1400" b="0" strike="noStrike" spc="-1">
              <a:solidFill>
                <a:srgbClr val="000000"/>
              </a:solidFill>
              <a:latin typeface="Arial"/>
            </a:endParaRPr>
          </a:p>
        </p:txBody>
      </p:sp>
      <p:sp>
        <p:nvSpPr>
          <p:cNvPr id="201" name="Text 28"/>
          <p:cNvSpPr/>
          <p:nvPr/>
        </p:nvSpPr>
        <p:spPr>
          <a:xfrm>
            <a:off x="1197720" y="4754880"/>
            <a:ext cx="98478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fontScale="93333"/>
          </a:bodyPr>
          <a:lstStyle/>
          <a:p>
            <a:pPr defTabSz="914400">
              <a:lnSpc>
                <a:spcPct val="100000"/>
              </a:lnSpc>
              <a:tabLst>
                <a:tab pos="0" algn="l"/>
              </a:tabLst>
            </a:pPr>
            <a:r>
              <a:rPr lang="en-US" sz="1250" b="0" strike="noStrike" spc="-1">
                <a:solidFill>
                  <a:srgbClr val="203040"/>
                </a:solidFill>
                <a:latin typeface="Calibri"/>
                <a:ea typeface="Calibri"/>
              </a:rPr>
              <a:t>The holder of the matching private key signed this exact content. It still needs a trusted path to decide whether that public key belongs to the right subject.</a:t>
            </a:r>
            <a:endParaRPr lang="en-US" sz="1250" b="0" strike="noStrike" spc="-1">
              <a:solidFill>
                <a:srgbClr val="000000"/>
              </a:solidFill>
              <a:latin typeface="Arial"/>
            </a:endParaRPr>
          </a:p>
        </p:txBody>
      </p:sp>
      <p:sp>
        <p:nvSpPr>
          <p:cNvPr id="202" name="PlaceHolder 1"/>
          <p:cNvSpPr>
            <a:spLocks noGrp="1"/>
          </p:cNvSpPr>
          <p:nvPr>
            <p:ph type="sldNum" idx="10"/>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BC0C94BD-6929-45FC-B4D2-A8FC2F879262}" type="slidenum">
              <a:rPr lang="en-US" sz="800" b="0" strike="noStrike" spc="-1">
                <a:solidFill>
                  <a:srgbClr val="64748B"/>
                </a:solidFill>
                <a:latin typeface="Calibri"/>
                <a:ea typeface="Calibri"/>
              </a:rPr>
              <a:t>6</a:t>
            </a:fld>
            <a:endParaRPr lang="en-US" sz="800" b="0" strike="noStrike" spc="-1">
              <a:solidFill>
                <a:srgbClr val="000000"/>
              </a:solidFill>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Rectangle 202"/>
          <p:cNvSpPr/>
          <p:nvPr/>
        </p:nvSpPr>
        <p:spPr>
          <a:xfrm>
            <a:off x="0" y="0"/>
            <a:ext cx="12191760" cy="109800"/>
          </a:xfrm>
          <a:prstGeom prst="rect">
            <a:avLst/>
          </a:prstGeom>
          <a:solidFill>
            <a:srgbClr val="4BACC6"/>
          </a:solidFill>
          <a:ln w="0">
            <a:solidFill>
              <a:srgbClr val="4BACC6"/>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204" name="TextBox 203"/>
          <p:cNvSpPr txBox="1"/>
          <p:nvPr/>
        </p:nvSpPr>
        <p:spPr>
          <a:xfrm>
            <a:off x="502920" y="320040"/>
            <a:ext cx="3657600" cy="201240"/>
          </a:xfrm>
          <a:prstGeom prst="rect">
            <a:avLst/>
          </a:prstGeom>
          <a:noFill/>
          <a:ln w="0">
            <a:noFill/>
          </a:ln>
        </p:spPr>
        <p:txBody>
          <a:bodyPr lIns="90000" tIns="45000" rIns="90000" bIns="45000" anchor="t">
            <a:noAutofit/>
          </a:bodyPr>
          <a:lstStyle/>
          <a:p>
            <a:r>
              <a:rPr lang="en-US" sz="1000" b="1" strike="noStrike" spc="-1">
                <a:solidFill>
                  <a:srgbClr val="4BACC6"/>
                </a:solidFill>
                <a:latin typeface="Calibri"/>
              </a:rPr>
              <a:t>ALGORITHMS</a:t>
            </a:r>
          </a:p>
        </p:txBody>
      </p:sp>
      <p:sp>
        <p:nvSpPr>
          <p:cNvPr id="205" name="TextBox 204"/>
          <p:cNvSpPr txBox="1"/>
          <p:nvPr/>
        </p:nvSpPr>
        <p:spPr>
          <a:xfrm>
            <a:off x="502920" y="567000"/>
            <a:ext cx="10972800" cy="511920"/>
          </a:xfrm>
          <a:prstGeom prst="rect">
            <a:avLst/>
          </a:prstGeom>
          <a:noFill/>
          <a:ln w="0">
            <a:noFill/>
          </a:ln>
        </p:spPr>
        <p:txBody>
          <a:bodyPr lIns="90000" tIns="45000" rIns="90000" bIns="45000" anchor="t">
            <a:noAutofit/>
          </a:bodyPr>
          <a:lstStyle/>
          <a:p>
            <a:r>
              <a:rPr lang="en-US" sz="2700" b="1" strike="noStrike" spc="-1">
                <a:solidFill>
                  <a:srgbClr val="1F497D"/>
                </a:solidFill>
                <a:latin typeface="Calibri"/>
              </a:rPr>
              <a:t>Map the algorithm to the TLS job</a:t>
            </a:r>
          </a:p>
        </p:txBody>
      </p:sp>
      <p:sp>
        <p:nvSpPr>
          <p:cNvPr id="206" name="TextBox 205"/>
          <p:cNvSpPr txBox="1"/>
          <p:nvPr/>
        </p:nvSpPr>
        <p:spPr>
          <a:xfrm>
            <a:off x="530280" y="1115640"/>
            <a:ext cx="10698480" cy="311040"/>
          </a:xfrm>
          <a:prstGeom prst="rect">
            <a:avLst/>
          </a:prstGeom>
          <a:noFill/>
          <a:ln w="0">
            <a:noFill/>
          </a:ln>
        </p:spPr>
        <p:txBody>
          <a:bodyPr lIns="90000" tIns="45000" rIns="90000" bIns="45000" anchor="t">
            <a:noAutofit/>
          </a:bodyPr>
          <a:lstStyle/>
          <a:p>
            <a:r>
              <a:rPr lang="en-US" sz="1250" b="0" strike="noStrike" spc="-1">
                <a:solidFill>
                  <a:srgbClr val="64748B"/>
                </a:solidFill>
                <a:latin typeface="Calibri"/>
              </a:rPr>
              <a:t>A cipher-suite name is a bundle of separate decisions.</a:t>
            </a:r>
          </a:p>
        </p:txBody>
      </p:sp>
      <p:sp>
        <p:nvSpPr>
          <p:cNvPr id="207" name="Rectangle: Rounded Corners 206"/>
          <p:cNvSpPr/>
          <p:nvPr/>
        </p:nvSpPr>
        <p:spPr>
          <a:xfrm>
            <a:off x="731520" y="1719000"/>
            <a:ext cx="1965960" cy="420480"/>
          </a:xfrm>
          <a:prstGeom prst="roundRect">
            <a:avLst/>
          </a:prstGeom>
          <a:solidFill>
            <a:srgbClr val="1F497D"/>
          </a:solidFill>
          <a:ln w="0">
            <a:solidFill>
              <a:srgbClr val="1F497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208" name="TextBox 207"/>
          <p:cNvSpPr txBox="1"/>
          <p:nvPr/>
        </p:nvSpPr>
        <p:spPr>
          <a:xfrm>
            <a:off x="822960" y="1847160"/>
            <a:ext cx="1783080" cy="164520"/>
          </a:xfrm>
          <a:prstGeom prst="rect">
            <a:avLst/>
          </a:prstGeom>
          <a:noFill/>
          <a:ln w="0">
            <a:noFill/>
          </a:ln>
        </p:spPr>
        <p:txBody>
          <a:bodyPr lIns="90000" tIns="45000" rIns="90000" bIns="45000" anchor="t">
            <a:noAutofit/>
          </a:bodyPr>
          <a:lstStyle/>
          <a:p>
            <a:pPr algn="ctr"/>
            <a:r>
              <a:rPr lang="en-US" sz="1200" b="1" strike="noStrike" spc="-1">
                <a:solidFill>
                  <a:srgbClr val="FFFFFF"/>
                </a:solidFill>
                <a:latin typeface="Calibri"/>
              </a:rPr>
              <a:t>Job</a:t>
            </a:r>
          </a:p>
        </p:txBody>
      </p:sp>
      <p:sp>
        <p:nvSpPr>
          <p:cNvPr id="209" name="Rectangle: Rounded Corners 208"/>
          <p:cNvSpPr/>
          <p:nvPr/>
        </p:nvSpPr>
        <p:spPr>
          <a:xfrm>
            <a:off x="2926080" y="1719000"/>
            <a:ext cx="3154680" cy="420480"/>
          </a:xfrm>
          <a:prstGeom prst="roundRect">
            <a:avLst/>
          </a:prstGeom>
          <a:solidFill>
            <a:srgbClr val="1F497D"/>
          </a:solidFill>
          <a:ln w="0">
            <a:solidFill>
              <a:srgbClr val="1F497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210" name="TextBox 209"/>
          <p:cNvSpPr txBox="1"/>
          <p:nvPr/>
        </p:nvSpPr>
        <p:spPr>
          <a:xfrm>
            <a:off x="3017520" y="1847160"/>
            <a:ext cx="2971800" cy="164520"/>
          </a:xfrm>
          <a:prstGeom prst="rect">
            <a:avLst/>
          </a:prstGeom>
          <a:noFill/>
          <a:ln w="0">
            <a:noFill/>
          </a:ln>
        </p:spPr>
        <p:txBody>
          <a:bodyPr lIns="90000" tIns="45000" rIns="90000" bIns="45000" anchor="t">
            <a:noAutofit/>
          </a:bodyPr>
          <a:lstStyle/>
          <a:p>
            <a:pPr algn="ctr"/>
            <a:r>
              <a:rPr lang="en-US" sz="1200" b="1" strike="noStrike" spc="-1">
                <a:solidFill>
                  <a:srgbClr val="FFFFFF"/>
                </a:solidFill>
                <a:latin typeface="Calibri"/>
              </a:rPr>
              <a:t>Typical choices</a:t>
            </a:r>
          </a:p>
        </p:txBody>
      </p:sp>
      <p:sp>
        <p:nvSpPr>
          <p:cNvPr id="211" name="Rectangle: Rounded Corners 210"/>
          <p:cNvSpPr/>
          <p:nvPr/>
        </p:nvSpPr>
        <p:spPr>
          <a:xfrm>
            <a:off x="6309360" y="1719000"/>
            <a:ext cx="4846320" cy="420480"/>
          </a:xfrm>
          <a:prstGeom prst="roundRect">
            <a:avLst/>
          </a:prstGeom>
          <a:solidFill>
            <a:srgbClr val="1F497D"/>
          </a:solidFill>
          <a:ln w="0">
            <a:solidFill>
              <a:srgbClr val="1F497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212" name="TextBox 211"/>
          <p:cNvSpPr txBox="1"/>
          <p:nvPr/>
        </p:nvSpPr>
        <p:spPr>
          <a:xfrm>
            <a:off x="6400800" y="1847160"/>
            <a:ext cx="4663440" cy="164520"/>
          </a:xfrm>
          <a:prstGeom prst="rect">
            <a:avLst/>
          </a:prstGeom>
          <a:noFill/>
          <a:ln w="0">
            <a:noFill/>
          </a:ln>
        </p:spPr>
        <p:txBody>
          <a:bodyPr lIns="90000" tIns="45000" rIns="90000" bIns="45000" anchor="t">
            <a:noAutofit/>
          </a:bodyPr>
          <a:lstStyle/>
          <a:p>
            <a:pPr algn="ctr"/>
            <a:r>
              <a:rPr lang="en-US" sz="1200" b="1" strike="noStrike" spc="-1">
                <a:solidFill>
                  <a:srgbClr val="FFFFFF"/>
                </a:solidFill>
                <a:latin typeface="Calibri"/>
              </a:rPr>
              <a:t>What it gives you</a:t>
            </a:r>
          </a:p>
        </p:txBody>
      </p:sp>
      <p:sp>
        <p:nvSpPr>
          <p:cNvPr id="213" name="Rectangle: Rounded Corners 212"/>
          <p:cNvSpPr/>
          <p:nvPr/>
        </p:nvSpPr>
        <p:spPr>
          <a:xfrm>
            <a:off x="731520" y="2267640"/>
            <a:ext cx="1965960" cy="411480"/>
          </a:xfrm>
          <a:prstGeom prst="roundRect">
            <a:avLst/>
          </a:prstGeom>
          <a:solidFill>
            <a:srgbClr val="EEF2FA"/>
          </a:solidFill>
          <a:ln w="0">
            <a:solidFill>
              <a:srgbClr val="4F81B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14" name="Rectangle: Rounded Corners 213"/>
          <p:cNvSpPr/>
          <p:nvPr/>
        </p:nvSpPr>
        <p:spPr>
          <a:xfrm>
            <a:off x="2926080" y="2267640"/>
            <a:ext cx="3154680" cy="411480"/>
          </a:xfrm>
          <a:prstGeom prst="roundRect">
            <a:avLst/>
          </a:prstGeom>
          <a:solidFill>
            <a:srgbClr val="FFFFFF"/>
          </a:solidFill>
          <a:ln w="0">
            <a:solidFill>
              <a:srgbClr val="4F81B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15" name="Rectangle: Rounded Corners 214"/>
          <p:cNvSpPr/>
          <p:nvPr/>
        </p:nvSpPr>
        <p:spPr>
          <a:xfrm>
            <a:off x="6309360" y="2267640"/>
            <a:ext cx="4846320" cy="411480"/>
          </a:xfrm>
          <a:prstGeom prst="roundRect">
            <a:avLst/>
          </a:prstGeom>
          <a:solidFill>
            <a:srgbClr val="FFFFFF"/>
          </a:solidFill>
          <a:ln w="0">
            <a:solidFill>
              <a:srgbClr val="4F81B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16" name="TextBox 215"/>
          <p:cNvSpPr txBox="1"/>
          <p:nvPr/>
        </p:nvSpPr>
        <p:spPr>
          <a:xfrm>
            <a:off x="868680" y="2386440"/>
            <a:ext cx="1691640" cy="164520"/>
          </a:xfrm>
          <a:prstGeom prst="rect">
            <a:avLst/>
          </a:prstGeom>
          <a:noFill/>
          <a:ln w="0">
            <a:noFill/>
          </a:ln>
        </p:spPr>
        <p:txBody>
          <a:bodyPr lIns="90000" tIns="45000" rIns="90000" bIns="45000" anchor="t">
            <a:noAutofit/>
          </a:bodyPr>
          <a:lstStyle/>
          <a:p>
            <a:pPr algn="ctr"/>
            <a:r>
              <a:rPr lang="en-US" sz="1150" b="1" strike="noStrike" spc="-1">
                <a:solidFill>
                  <a:srgbClr val="1F497D"/>
                </a:solidFill>
                <a:latin typeface="Calibri"/>
              </a:rPr>
              <a:t>Identity signature</a:t>
            </a:r>
          </a:p>
        </p:txBody>
      </p:sp>
      <p:sp>
        <p:nvSpPr>
          <p:cNvPr id="217" name="TextBox 216"/>
          <p:cNvSpPr txBox="1"/>
          <p:nvPr/>
        </p:nvSpPr>
        <p:spPr>
          <a:xfrm>
            <a:off x="3063240" y="2386440"/>
            <a:ext cx="288036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RSA-PSS / ECDSA</a:t>
            </a:r>
          </a:p>
        </p:txBody>
      </p:sp>
      <p:sp>
        <p:nvSpPr>
          <p:cNvPr id="218" name="TextBox 217"/>
          <p:cNvSpPr txBox="1"/>
          <p:nvPr/>
        </p:nvSpPr>
        <p:spPr>
          <a:xfrm>
            <a:off x="6446520" y="2386440"/>
            <a:ext cx="457200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The certificate holder proves possession of the private key</a:t>
            </a:r>
          </a:p>
        </p:txBody>
      </p:sp>
      <p:sp>
        <p:nvSpPr>
          <p:cNvPr id="219" name="Rectangle: Rounded Corners 218"/>
          <p:cNvSpPr/>
          <p:nvPr/>
        </p:nvSpPr>
        <p:spPr>
          <a:xfrm>
            <a:off x="731520" y="2880360"/>
            <a:ext cx="1965960" cy="411480"/>
          </a:xfrm>
          <a:prstGeom prst="roundRect">
            <a:avLst/>
          </a:prstGeom>
          <a:solidFill>
            <a:srgbClr val="EEF2FA"/>
          </a:solidFill>
          <a:ln w="0">
            <a:solidFill>
              <a:srgbClr val="70AD47"/>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20" name="Rectangle: Rounded Corners 219"/>
          <p:cNvSpPr/>
          <p:nvPr/>
        </p:nvSpPr>
        <p:spPr>
          <a:xfrm>
            <a:off x="2926080" y="2880360"/>
            <a:ext cx="3154680" cy="411480"/>
          </a:xfrm>
          <a:prstGeom prst="roundRect">
            <a:avLst/>
          </a:prstGeom>
          <a:solidFill>
            <a:srgbClr val="FFFFFF"/>
          </a:solidFill>
          <a:ln w="0">
            <a:solidFill>
              <a:srgbClr val="70AD47"/>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21" name="Rectangle: Rounded Corners 220"/>
          <p:cNvSpPr/>
          <p:nvPr/>
        </p:nvSpPr>
        <p:spPr>
          <a:xfrm>
            <a:off x="6309360" y="2880360"/>
            <a:ext cx="4846320" cy="411480"/>
          </a:xfrm>
          <a:prstGeom prst="roundRect">
            <a:avLst/>
          </a:prstGeom>
          <a:solidFill>
            <a:srgbClr val="FFFFFF"/>
          </a:solidFill>
          <a:ln w="0">
            <a:solidFill>
              <a:srgbClr val="70AD47"/>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22" name="TextBox 221"/>
          <p:cNvSpPr txBox="1"/>
          <p:nvPr/>
        </p:nvSpPr>
        <p:spPr>
          <a:xfrm>
            <a:off x="868680" y="2999160"/>
            <a:ext cx="1691640" cy="164520"/>
          </a:xfrm>
          <a:prstGeom prst="rect">
            <a:avLst/>
          </a:prstGeom>
          <a:noFill/>
          <a:ln w="0">
            <a:noFill/>
          </a:ln>
        </p:spPr>
        <p:txBody>
          <a:bodyPr lIns="90000" tIns="45000" rIns="90000" bIns="45000" anchor="t">
            <a:noAutofit/>
          </a:bodyPr>
          <a:lstStyle/>
          <a:p>
            <a:pPr algn="ctr"/>
            <a:r>
              <a:rPr lang="en-US" sz="1150" b="1" strike="noStrike" spc="-1">
                <a:solidFill>
                  <a:srgbClr val="1F497D"/>
                </a:solidFill>
                <a:latin typeface="Calibri"/>
              </a:rPr>
              <a:t>Key agreement</a:t>
            </a:r>
          </a:p>
        </p:txBody>
      </p:sp>
      <p:sp>
        <p:nvSpPr>
          <p:cNvPr id="223" name="TextBox 222"/>
          <p:cNvSpPr txBox="1"/>
          <p:nvPr/>
        </p:nvSpPr>
        <p:spPr>
          <a:xfrm>
            <a:off x="3063240" y="2999160"/>
            <a:ext cx="288036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ECDHE</a:t>
            </a:r>
          </a:p>
        </p:txBody>
      </p:sp>
      <p:sp>
        <p:nvSpPr>
          <p:cNvPr id="224" name="TextBox 223"/>
          <p:cNvSpPr txBox="1"/>
          <p:nvPr/>
        </p:nvSpPr>
        <p:spPr>
          <a:xfrm>
            <a:off x="6446520" y="2999160"/>
            <a:ext cx="457200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A fresh shared secret and forward secrecy</a:t>
            </a:r>
          </a:p>
        </p:txBody>
      </p:sp>
      <p:sp>
        <p:nvSpPr>
          <p:cNvPr id="225" name="Rectangle: Rounded Corners 224"/>
          <p:cNvSpPr/>
          <p:nvPr/>
        </p:nvSpPr>
        <p:spPr>
          <a:xfrm>
            <a:off x="731520" y="3493080"/>
            <a:ext cx="1965960" cy="411480"/>
          </a:xfrm>
          <a:prstGeom prst="roundRect">
            <a:avLst/>
          </a:prstGeom>
          <a:solidFill>
            <a:srgbClr val="EEF2FA"/>
          </a:solidFill>
          <a:ln w="0">
            <a:solidFill>
              <a:srgbClr val="4BACC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26" name="Rectangle: Rounded Corners 225"/>
          <p:cNvSpPr/>
          <p:nvPr/>
        </p:nvSpPr>
        <p:spPr>
          <a:xfrm>
            <a:off x="2926080" y="3493080"/>
            <a:ext cx="3154680" cy="411480"/>
          </a:xfrm>
          <a:prstGeom prst="roundRect">
            <a:avLst/>
          </a:prstGeom>
          <a:solidFill>
            <a:srgbClr val="FFFFFF"/>
          </a:solidFill>
          <a:ln w="0">
            <a:solidFill>
              <a:srgbClr val="4BACC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27" name="Rectangle: Rounded Corners 226"/>
          <p:cNvSpPr/>
          <p:nvPr/>
        </p:nvSpPr>
        <p:spPr>
          <a:xfrm>
            <a:off x="6309360" y="3493080"/>
            <a:ext cx="4846320" cy="411480"/>
          </a:xfrm>
          <a:prstGeom prst="roundRect">
            <a:avLst/>
          </a:prstGeom>
          <a:solidFill>
            <a:srgbClr val="FFFFFF"/>
          </a:solidFill>
          <a:ln w="0">
            <a:solidFill>
              <a:srgbClr val="4BACC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28" name="TextBox 227"/>
          <p:cNvSpPr txBox="1"/>
          <p:nvPr/>
        </p:nvSpPr>
        <p:spPr>
          <a:xfrm>
            <a:off x="868680" y="3611880"/>
            <a:ext cx="1691640" cy="164520"/>
          </a:xfrm>
          <a:prstGeom prst="rect">
            <a:avLst/>
          </a:prstGeom>
          <a:noFill/>
          <a:ln w="0">
            <a:noFill/>
          </a:ln>
        </p:spPr>
        <p:txBody>
          <a:bodyPr lIns="90000" tIns="45000" rIns="90000" bIns="45000" anchor="t">
            <a:noAutofit/>
          </a:bodyPr>
          <a:lstStyle/>
          <a:p>
            <a:pPr algn="ctr"/>
            <a:r>
              <a:rPr lang="en-US" sz="1150" b="1" strike="noStrike" spc="-1">
                <a:solidFill>
                  <a:srgbClr val="1F497D"/>
                </a:solidFill>
                <a:latin typeface="Calibri"/>
              </a:rPr>
              <a:t>Record protection</a:t>
            </a:r>
          </a:p>
        </p:txBody>
      </p:sp>
      <p:sp>
        <p:nvSpPr>
          <p:cNvPr id="229" name="TextBox 228"/>
          <p:cNvSpPr txBox="1"/>
          <p:nvPr/>
        </p:nvSpPr>
        <p:spPr>
          <a:xfrm>
            <a:off x="3063240" y="3611880"/>
            <a:ext cx="288036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AES-GCM / ChaCha20-Poly1305</a:t>
            </a:r>
          </a:p>
        </p:txBody>
      </p:sp>
      <p:sp>
        <p:nvSpPr>
          <p:cNvPr id="230" name="TextBox 229"/>
          <p:cNvSpPr txBox="1"/>
          <p:nvPr/>
        </p:nvSpPr>
        <p:spPr>
          <a:xfrm>
            <a:off x="6446520" y="3611880"/>
            <a:ext cx="457200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Fast authenticated encryption for application data</a:t>
            </a:r>
          </a:p>
        </p:txBody>
      </p:sp>
      <p:sp>
        <p:nvSpPr>
          <p:cNvPr id="231" name="Rectangle: Rounded Corners 230"/>
          <p:cNvSpPr/>
          <p:nvPr/>
        </p:nvSpPr>
        <p:spPr>
          <a:xfrm>
            <a:off x="731520" y="4105800"/>
            <a:ext cx="1965960" cy="411480"/>
          </a:xfrm>
          <a:prstGeom prst="roundRect">
            <a:avLst/>
          </a:prstGeom>
          <a:solidFill>
            <a:srgbClr val="EEF2FA"/>
          </a:solidFill>
          <a:ln w="0">
            <a:solidFill>
              <a:srgbClr val="F7964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32" name="Rectangle: Rounded Corners 231"/>
          <p:cNvSpPr/>
          <p:nvPr/>
        </p:nvSpPr>
        <p:spPr>
          <a:xfrm>
            <a:off x="2926080" y="4105800"/>
            <a:ext cx="3154680" cy="411480"/>
          </a:xfrm>
          <a:prstGeom prst="roundRect">
            <a:avLst/>
          </a:prstGeom>
          <a:solidFill>
            <a:srgbClr val="FFFFFF"/>
          </a:solidFill>
          <a:ln w="0">
            <a:solidFill>
              <a:srgbClr val="F7964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33" name="Rectangle: Rounded Corners 232"/>
          <p:cNvSpPr/>
          <p:nvPr/>
        </p:nvSpPr>
        <p:spPr>
          <a:xfrm>
            <a:off x="6309360" y="4105800"/>
            <a:ext cx="4846320" cy="411480"/>
          </a:xfrm>
          <a:prstGeom prst="roundRect">
            <a:avLst/>
          </a:prstGeom>
          <a:solidFill>
            <a:srgbClr val="FFFFFF"/>
          </a:solidFill>
          <a:ln w="0">
            <a:solidFill>
              <a:srgbClr val="F7964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34" name="TextBox 233"/>
          <p:cNvSpPr txBox="1"/>
          <p:nvPr/>
        </p:nvSpPr>
        <p:spPr>
          <a:xfrm>
            <a:off x="868680" y="4224600"/>
            <a:ext cx="1691640" cy="164520"/>
          </a:xfrm>
          <a:prstGeom prst="rect">
            <a:avLst/>
          </a:prstGeom>
          <a:noFill/>
          <a:ln w="0">
            <a:noFill/>
          </a:ln>
        </p:spPr>
        <p:txBody>
          <a:bodyPr lIns="90000" tIns="45000" rIns="90000" bIns="45000" anchor="t">
            <a:noAutofit/>
          </a:bodyPr>
          <a:lstStyle/>
          <a:p>
            <a:pPr algn="ctr"/>
            <a:r>
              <a:rPr lang="en-US" sz="1150" b="1" strike="noStrike" spc="-1">
                <a:solidFill>
                  <a:srgbClr val="1F497D"/>
                </a:solidFill>
                <a:latin typeface="Calibri"/>
              </a:rPr>
              <a:t>Hash / digest</a:t>
            </a:r>
          </a:p>
        </p:txBody>
      </p:sp>
      <p:sp>
        <p:nvSpPr>
          <p:cNvPr id="235" name="TextBox 234"/>
          <p:cNvSpPr txBox="1"/>
          <p:nvPr/>
        </p:nvSpPr>
        <p:spPr>
          <a:xfrm>
            <a:off x="3063240" y="4224600"/>
            <a:ext cx="288036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SHA-256 / SHA-384</a:t>
            </a:r>
          </a:p>
        </p:txBody>
      </p:sp>
      <p:sp>
        <p:nvSpPr>
          <p:cNvPr id="236" name="TextBox 235"/>
          <p:cNvSpPr txBox="1"/>
          <p:nvPr/>
        </p:nvSpPr>
        <p:spPr>
          <a:xfrm>
            <a:off x="6446520" y="4224600"/>
            <a:ext cx="457200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Compact fingerprints and inputs to signatures</a:t>
            </a:r>
          </a:p>
        </p:txBody>
      </p:sp>
      <p:sp>
        <p:nvSpPr>
          <p:cNvPr id="237" name="Rectangle: Rounded Corners 236"/>
          <p:cNvSpPr/>
          <p:nvPr/>
        </p:nvSpPr>
        <p:spPr>
          <a:xfrm>
            <a:off x="731520" y="4718160"/>
            <a:ext cx="1965960" cy="411480"/>
          </a:xfrm>
          <a:prstGeom prst="roundRect">
            <a:avLst/>
          </a:prstGeom>
          <a:solidFill>
            <a:srgbClr val="EEF2FA"/>
          </a:solidFill>
          <a:ln w="0">
            <a:solidFill>
              <a:srgbClr val="8064A2"/>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38" name="Rectangle: Rounded Corners 237"/>
          <p:cNvSpPr/>
          <p:nvPr/>
        </p:nvSpPr>
        <p:spPr>
          <a:xfrm>
            <a:off x="2926080" y="4718160"/>
            <a:ext cx="3154680" cy="411480"/>
          </a:xfrm>
          <a:prstGeom prst="roundRect">
            <a:avLst/>
          </a:prstGeom>
          <a:solidFill>
            <a:srgbClr val="FFFFFF"/>
          </a:solidFill>
          <a:ln w="0">
            <a:solidFill>
              <a:srgbClr val="8064A2"/>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39" name="Rectangle: Rounded Corners 238"/>
          <p:cNvSpPr/>
          <p:nvPr/>
        </p:nvSpPr>
        <p:spPr>
          <a:xfrm>
            <a:off x="6309360" y="4718160"/>
            <a:ext cx="4846320" cy="411480"/>
          </a:xfrm>
          <a:prstGeom prst="roundRect">
            <a:avLst/>
          </a:prstGeom>
          <a:solidFill>
            <a:srgbClr val="FFFFFF"/>
          </a:solidFill>
          <a:ln w="0">
            <a:solidFill>
              <a:srgbClr val="8064A2"/>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240" name="TextBox 239"/>
          <p:cNvSpPr txBox="1"/>
          <p:nvPr/>
        </p:nvSpPr>
        <p:spPr>
          <a:xfrm>
            <a:off x="868680" y="4837320"/>
            <a:ext cx="1691640" cy="164520"/>
          </a:xfrm>
          <a:prstGeom prst="rect">
            <a:avLst/>
          </a:prstGeom>
          <a:noFill/>
          <a:ln w="0">
            <a:noFill/>
          </a:ln>
        </p:spPr>
        <p:txBody>
          <a:bodyPr lIns="90000" tIns="45000" rIns="90000" bIns="45000" anchor="t">
            <a:noAutofit/>
          </a:bodyPr>
          <a:lstStyle/>
          <a:p>
            <a:pPr algn="ctr"/>
            <a:r>
              <a:rPr lang="en-US" sz="1150" b="1" strike="noStrike" spc="-1">
                <a:solidFill>
                  <a:srgbClr val="1F497D"/>
                </a:solidFill>
                <a:latin typeface="Calibri"/>
              </a:rPr>
              <a:t>Protocol policy</a:t>
            </a:r>
          </a:p>
        </p:txBody>
      </p:sp>
      <p:sp>
        <p:nvSpPr>
          <p:cNvPr id="241" name="TextBox 240"/>
          <p:cNvSpPr txBox="1"/>
          <p:nvPr/>
        </p:nvSpPr>
        <p:spPr>
          <a:xfrm>
            <a:off x="3063240" y="4837320"/>
            <a:ext cx="288036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TLS 1.2 / TLS 1.3</a:t>
            </a:r>
          </a:p>
        </p:txBody>
      </p:sp>
      <p:sp>
        <p:nvSpPr>
          <p:cNvPr id="242" name="TextBox 241"/>
          <p:cNvSpPr txBox="1"/>
          <p:nvPr/>
        </p:nvSpPr>
        <p:spPr>
          <a:xfrm>
            <a:off x="6446520" y="4837320"/>
            <a:ext cx="4572000" cy="164520"/>
          </a:xfrm>
          <a:prstGeom prst="rect">
            <a:avLst/>
          </a:prstGeom>
          <a:noFill/>
          <a:ln w="0">
            <a:noFill/>
          </a:ln>
        </p:spPr>
        <p:txBody>
          <a:bodyPr lIns="90000" tIns="45000" rIns="90000" bIns="45000" anchor="t">
            <a:noAutofit/>
          </a:bodyPr>
          <a:lstStyle/>
          <a:p>
            <a:pPr algn="ctr"/>
            <a:r>
              <a:rPr lang="en-US" sz="1150" b="0" strike="noStrike" spc="-1">
                <a:solidFill>
                  <a:srgbClr val="203040"/>
                </a:solidFill>
                <a:latin typeface="Calibri"/>
              </a:rPr>
              <a:t>Rules for how the pieces negotiate and operate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TRUST MODEL</a:t>
            </a:r>
            <a:endParaRPr lang="en-US" sz="1000" b="0" strike="noStrike" spc="-1">
              <a:solidFill>
                <a:srgbClr val="000000"/>
              </a:solidFill>
              <a:latin typeface="Arial"/>
            </a:endParaRPr>
          </a:p>
        </p:txBody>
      </p:sp>
      <p:sp>
        <p:nvSpPr>
          <p:cNvPr id="248"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The missing piece: who vouches for the public key?</a:t>
            </a:r>
            <a:endParaRPr lang="en-US" sz="2700" b="0" strike="noStrike" spc="-1">
              <a:solidFill>
                <a:srgbClr val="000000"/>
              </a:solidFill>
              <a:latin typeface="Arial"/>
            </a:endParaRPr>
          </a:p>
        </p:txBody>
      </p:sp>
      <p:sp>
        <p:nvSpPr>
          <p:cNvPr id="249"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A self-signed key can be authentic and still be untrusted.</a:t>
            </a:r>
            <a:endParaRPr lang="en-US" sz="1250" b="0" strike="noStrike" spc="-1">
              <a:solidFill>
                <a:srgbClr val="000000"/>
              </a:solidFill>
              <a:latin typeface="Arial"/>
            </a:endParaRPr>
          </a:p>
        </p:txBody>
      </p:sp>
      <p:sp>
        <p:nvSpPr>
          <p:cNvPr id="251" name="Shape 6"/>
          <p:cNvSpPr/>
          <p:nvPr/>
        </p:nvSpPr>
        <p:spPr>
          <a:xfrm>
            <a:off x="777240" y="1828800"/>
            <a:ext cx="3017160" cy="2377080"/>
          </a:xfrm>
          <a:prstGeom prst="roundRect">
            <a:avLst>
              <a:gd name="adj" fmla="val 3077"/>
            </a:avLst>
          </a:prstGeom>
          <a:solidFill>
            <a:srgbClr val="FFF3E7"/>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2" name="Text 7"/>
          <p:cNvSpPr/>
          <p:nvPr/>
        </p:nvSpPr>
        <p:spPr>
          <a:xfrm>
            <a:off x="1078920" y="2148840"/>
            <a:ext cx="24228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2100" b="1" strike="noStrike" spc="-1">
                <a:solidFill>
                  <a:srgbClr val="C0504D"/>
                </a:solidFill>
                <a:latin typeface="Calibri"/>
                <a:ea typeface="Calibri"/>
              </a:rPr>
              <a:t>Self-signed</a:t>
            </a:r>
            <a:endParaRPr lang="en-US" sz="2100" b="0" strike="noStrike" spc="-1">
              <a:solidFill>
                <a:srgbClr val="000000"/>
              </a:solidFill>
              <a:latin typeface="Arial"/>
            </a:endParaRPr>
          </a:p>
        </p:txBody>
      </p:sp>
      <p:sp>
        <p:nvSpPr>
          <p:cNvPr id="253" name="Text 8"/>
          <p:cNvSpPr/>
          <p:nvPr/>
        </p:nvSpPr>
        <p:spPr>
          <a:xfrm>
            <a:off x="1078920" y="2797920"/>
            <a:ext cx="2422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strike="noStrike" spc="-1">
                <a:solidFill>
                  <a:srgbClr val="64748B"/>
                </a:solidFill>
                <a:latin typeface="Calibri"/>
                <a:ea typeface="Calibri"/>
              </a:rPr>
              <a:t>cryptographically valid</a:t>
            </a:r>
            <a:endParaRPr lang="en-US" sz="1400" b="0" strike="noStrike" spc="-1">
              <a:solidFill>
                <a:srgbClr val="000000"/>
              </a:solidFill>
              <a:latin typeface="Arial"/>
            </a:endParaRPr>
          </a:p>
          <a:p>
            <a:pPr algn="ctr" defTabSz="914400">
              <a:lnSpc>
                <a:spcPct val="100000"/>
              </a:lnSpc>
              <a:tabLst>
                <a:tab pos="0" algn="l"/>
              </a:tabLst>
            </a:pPr>
            <a:r>
              <a:rPr lang="en-US" sz="1400" b="0" strike="noStrike" spc="-1">
                <a:solidFill>
                  <a:srgbClr val="64748B"/>
                </a:solidFill>
                <a:latin typeface="Calibri"/>
                <a:ea typeface="Calibri"/>
              </a:rPr>
              <a:t>no independent vouching</a:t>
            </a:r>
            <a:endParaRPr lang="en-US" sz="1400" b="0" strike="noStrike" spc="-1">
              <a:solidFill>
                <a:srgbClr val="000000"/>
              </a:solidFill>
              <a:latin typeface="Arial"/>
            </a:endParaRPr>
          </a:p>
        </p:txBody>
      </p:sp>
      <p:sp>
        <p:nvSpPr>
          <p:cNvPr id="254" name="Shape 9"/>
          <p:cNvSpPr/>
          <p:nvPr/>
        </p:nvSpPr>
        <p:spPr>
          <a:xfrm>
            <a:off x="1344240" y="3675960"/>
            <a:ext cx="1883160" cy="273960"/>
          </a:xfrm>
          <a:prstGeom prst="roundRect">
            <a:avLst>
              <a:gd name="adj" fmla="val 26667"/>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55" name="Text 10"/>
          <p:cNvSpPr/>
          <p:nvPr/>
        </p:nvSpPr>
        <p:spPr>
          <a:xfrm>
            <a:off x="1417320" y="3694320"/>
            <a:ext cx="173700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TRUST? MAYBE</a:t>
            </a:r>
            <a:endParaRPr lang="en-US" sz="1000" b="0" strike="noStrike" spc="-1">
              <a:solidFill>
                <a:srgbClr val="000000"/>
              </a:solidFill>
              <a:latin typeface="Arial"/>
            </a:endParaRPr>
          </a:p>
        </p:txBody>
      </p:sp>
      <p:sp>
        <p:nvSpPr>
          <p:cNvPr id="256" name="Shape 11"/>
          <p:cNvSpPr/>
          <p:nvPr/>
        </p:nvSpPr>
        <p:spPr>
          <a:xfrm>
            <a:off x="4572000" y="1828800"/>
            <a:ext cx="3017160" cy="2377080"/>
          </a:xfrm>
          <a:prstGeom prst="roundRect">
            <a:avLst>
              <a:gd name="adj" fmla="val 3077"/>
            </a:avLst>
          </a:prstGeom>
          <a:solidFill>
            <a:srgbClr val="EAF7F9"/>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7" name="Text 12"/>
          <p:cNvSpPr/>
          <p:nvPr/>
        </p:nvSpPr>
        <p:spPr>
          <a:xfrm>
            <a:off x="4864680" y="2148840"/>
            <a:ext cx="24228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2100" b="1" strike="noStrike" spc="-1">
                <a:solidFill>
                  <a:srgbClr val="4BACC6"/>
                </a:solidFill>
                <a:latin typeface="Calibri"/>
                <a:ea typeface="Calibri"/>
              </a:rPr>
              <a:t>CA-signed</a:t>
            </a:r>
            <a:endParaRPr lang="en-US" sz="2100" b="0" strike="noStrike" spc="-1">
              <a:solidFill>
                <a:srgbClr val="000000"/>
              </a:solidFill>
              <a:latin typeface="Arial"/>
            </a:endParaRPr>
          </a:p>
        </p:txBody>
      </p:sp>
      <p:sp>
        <p:nvSpPr>
          <p:cNvPr id="258" name="Text 13"/>
          <p:cNvSpPr/>
          <p:nvPr/>
        </p:nvSpPr>
        <p:spPr>
          <a:xfrm>
            <a:off x="4864680" y="2797920"/>
            <a:ext cx="2422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0" strike="noStrike" spc="-1">
                <a:solidFill>
                  <a:srgbClr val="64748B"/>
                </a:solidFill>
                <a:latin typeface="Calibri"/>
                <a:ea typeface="Calibri"/>
              </a:rPr>
              <a:t>signature + identity claim</a:t>
            </a:r>
            <a:endParaRPr lang="en-US" sz="1400" b="0" strike="noStrike" spc="-1">
              <a:solidFill>
                <a:srgbClr val="000000"/>
              </a:solidFill>
              <a:latin typeface="Arial"/>
            </a:endParaRPr>
          </a:p>
          <a:p>
            <a:pPr algn="ctr" defTabSz="914400">
              <a:lnSpc>
                <a:spcPct val="100000"/>
              </a:lnSpc>
              <a:tabLst>
                <a:tab pos="0" algn="l"/>
              </a:tabLst>
            </a:pPr>
            <a:r>
              <a:rPr lang="en-US" sz="1400" b="0" strike="noStrike" spc="-1">
                <a:solidFill>
                  <a:srgbClr val="64748B"/>
                </a:solidFill>
                <a:latin typeface="Calibri"/>
                <a:ea typeface="Calibri"/>
              </a:rPr>
              <a:t>path to a trust anchor</a:t>
            </a:r>
            <a:endParaRPr lang="en-US" sz="1400" b="0" strike="noStrike" spc="-1">
              <a:solidFill>
                <a:srgbClr val="000000"/>
              </a:solidFill>
              <a:latin typeface="Arial"/>
            </a:endParaRPr>
          </a:p>
        </p:txBody>
      </p:sp>
      <p:sp>
        <p:nvSpPr>
          <p:cNvPr id="259" name="Shape 14"/>
          <p:cNvSpPr/>
          <p:nvPr/>
        </p:nvSpPr>
        <p:spPr>
          <a:xfrm>
            <a:off x="5010840" y="3675960"/>
            <a:ext cx="2139480" cy="273960"/>
          </a:xfrm>
          <a:prstGeom prst="roundRect">
            <a:avLst>
              <a:gd name="adj" fmla="val 26667"/>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0" name="Text 15"/>
          <p:cNvSpPr/>
          <p:nvPr/>
        </p:nvSpPr>
        <p:spPr>
          <a:xfrm>
            <a:off x="5083920" y="3694320"/>
            <a:ext cx="19929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TRUST IF VALIDATED</a:t>
            </a:r>
            <a:endParaRPr lang="en-US" sz="1000" b="0" strike="noStrike" spc="-1">
              <a:solidFill>
                <a:srgbClr val="000000"/>
              </a:solidFill>
              <a:latin typeface="Arial"/>
            </a:endParaRPr>
          </a:p>
        </p:txBody>
      </p:sp>
      <p:sp>
        <p:nvSpPr>
          <p:cNvPr id="261" name="Shape 16"/>
          <p:cNvSpPr/>
          <p:nvPr/>
        </p:nvSpPr>
        <p:spPr>
          <a:xfrm>
            <a:off x="8366760" y="1828800"/>
            <a:ext cx="3017160" cy="2377080"/>
          </a:xfrm>
          <a:prstGeom prst="roundRect">
            <a:avLst>
              <a:gd name="adj" fmla="val 3077"/>
            </a:avLst>
          </a:prstGeom>
          <a:solidFill>
            <a:srgbClr val="EEF2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2" name="Text 17"/>
          <p:cNvSpPr/>
          <p:nvPr/>
        </p:nvSpPr>
        <p:spPr>
          <a:xfrm>
            <a:off x="8659440" y="2148840"/>
            <a:ext cx="2422800" cy="292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7499" lnSpcReduction="10000"/>
          </a:bodyPr>
          <a:lstStyle/>
          <a:p>
            <a:pPr algn="ctr" defTabSz="914400">
              <a:lnSpc>
                <a:spcPct val="100000"/>
              </a:lnSpc>
              <a:tabLst>
                <a:tab pos="0" algn="l"/>
              </a:tabLst>
            </a:pPr>
            <a:r>
              <a:rPr lang="en-US" sz="2100" b="1" strike="noStrike" spc="-1">
                <a:solidFill>
                  <a:srgbClr val="4F81BD"/>
                </a:solidFill>
                <a:latin typeface="Calibri"/>
                <a:ea typeface="Calibri"/>
              </a:rPr>
              <a:t>Browser decision</a:t>
            </a:r>
            <a:endParaRPr lang="en-US" sz="2100" b="0" strike="noStrike" spc="-1">
              <a:solidFill>
                <a:srgbClr val="000000"/>
              </a:solidFill>
              <a:latin typeface="Arial"/>
            </a:endParaRPr>
          </a:p>
        </p:txBody>
      </p:sp>
      <p:sp>
        <p:nvSpPr>
          <p:cNvPr id="263" name="Text 18"/>
          <p:cNvSpPr/>
          <p:nvPr/>
        </p:nvSpPr>
        <p:spPr>
          <a:xfrm>
            <a:off x="8659440" y="2797920"/>
            <a:ext cx="2422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a:bodyPr>
          <a:lstStyle/>
          <a:p>
            <a:pPr algn="ctr" defTabSz="914400">
              <a:lnSpc>
                <a:spcPct val="100000"/>
              </a:lnSpc>
              <a:tabLst>
                <a:tab pos="0" algn="l"/>
              </a:tabLst>
            </a:pPr>
            <a:r>
              <a:rPr lang="en-US" sz="1400" b="0" strike="noStrike" spc="-1">
                <a:solidFill>
                  <a:srgbClr val="64748B"/>
                </a:solidFill>
                <a:latin typeface="Calibri"/>
                <a:ea typeface="Calibri"/>
              </a:rPr>
              <a:t>path + name + time + usage</a:t>
            </a:r>
            <a:endParaRPr lang="en-US" sz="1400" b="0" strike="noStrike" spc="-1">
              <a:solidFill>
                <a:srgbClr val="000000"/>
              </a:solidFill>
              <a:latin typeface="Arial"/>
            </a:endParaRPr>
          </a:p>
          <a:p>
            <a:pPr algn="ctr" defTabSz="914400">
              <a:lnSpc>
                <a:spcPct val="100000"/>
              </a:lnSpc>
              <a:tabLst>
                <a:tab pos="0" algn="l"/>
              </a:tabLst>
            </a:pPr>
            <a:r>
              <a:rPr lang="en-US" sz="1400" b="0" strike="noStrike" spc="-1">
                <a:solidFill>
                  <a:srgbClr val="64748B"/>
                </a:solidFill>
                <a:latin typeface="Calibri"/>
                <a:ea typeface="Calibri"/>
              </a:rPr>
              <a:t>+ local policy</a:t>
            </a:r>
            <a:endParaRPr lang="en-US" sz="1400" b="0" strike="noStrike" spc="-1">
              <a:solidFill>
                <a:srgbClr val="000000"/>
              </a:solidFill>
              <a:latin typeface="Arial"/>
            </a:endParaRPr>
          </a:p>
        </p:txBody>
      </p:sp>
      <p:sp>
        <p:nvSpPr>
          <p:cNvPr id="264" name="Shape 19"/>
          <p:cNvSpPr/>
          <p:nvPr/>
        </p:nvSpPr>
        <p:spPr>
          <a:xfrm>
            <a:off x="8888040" y="3675960"/>
            <a:ext cx="1901520" cy="273960"/>
          </a:xfrm>
          <a:prstGeom prst="roundRect">
            <a:avLst>
              <a:gd name="adj" fmla="val 26667"/>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5" name="Text 20"/>
          <p:cNvSpPr/>
          <p:nvPr/>
        </p:nvSpPr>
        <p:spPr>
          <a:xfrm>
            <a:off x="8961120" y="3694320"/>
            <a:ext cx="17553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ACCEPT / REJECT</a:t>
            </a:r>
            <a:endParaRPr lang="en-US" sz="1000" b="0" strike="noStrike" spc="-1">
              <a:solidFill>
                <a:srgbClr val="000000"/>
              </a:solidFill>
              <a:latin typeface="Arial"/>
            </a:endParaRPr>
          </a:p>
        </p:txBody>
      </p:sp>
      <p:sp>
        <p:nvSpPr>
          <p:cNvPr id="268" name="PlaceHolder 1"/>
          <p:cNvSpPr>
            <a:spLocks noGrp="1"/>
          </p:cNvSpPr>
          <p:nvPr>
            <p:ph type="sldNum" idx="11"/>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00EEA2CB-DEFA-45E9-ABBF-FB286E00B6A7}" type="slidenum">
              <a:rPr lang="en-US" sz="800" b="0" strike="noStrike" spc="-1">
                <a:solidFill>
                  <a:srgbClr val="64748B"/>
                </a:solidFill>
                <a:latin typeface="Calibri"/>
                <a:ea typeface="Calibri"/>
              </a:rPr>
              <a:t>8</a:t>
            </a:fld>
            <a:endParaRPr lang="en-US" sz="800" b="0" strike="noStrike" spc="-1">
              <a:solidFill>
                <a:srgbClr val="000000"/>
              </a:solidFill>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X.509</a:t>
            </a:r>
            <a:endParaRPr lang="en-US" sz="1000" b="0" strike="noStrike" spc="-1">
              <a:solidFill>
                <a:srgbClr val="000000"/>
              </a:solidFill>
              <a:latin typeface="Arial"/>
            </a:endParaRPr>
          </a:p>
        </p:txBody>
      </p:sp>
      <p:sp>
        <p:nvSpPr>
          <p:cNvPr id="270"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A certificate is a signed binding</a:t>
            </a:r>
            <a:endParaRPr lang="en-US" sz="2700" b="0" strike="noStrike" spc="-1">
              <a:solidFill>
                <a:srgbClr val="000000"/>
              </a:solidFill>
              <a:latin typeface="Arial"/>
            </a:endParaRPr>
          </a:p>
        </p:txBody>
      </p:sp>
      <p:sp>
        <p:nvSpPr>
          <p:cNvPr id="271"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Subject identity + public key + constraints + issuer signature.</a:t>
            </a:r>
            <a:endParaRPr lang="en-US" sz="1250" b="0" strike="noStrike" spc="-1">
              <a:solidFill>
                <a:srgbClr val="000000"/>
              </a:solidFill>
              <a:latin typeface="Arial"/>
            </a:endParaRPr>
          </a:p>
        </p:txBody>
      </p:sp>
      <p:sp>
        <p:nvSpPr>
          <p:cNvPr id="273" name="Shape 6"/>
          <p:cNvSpPr/>
          <p:nvPr/>
        </p:nvSpPr>
        <p:spPr>
          <a:xfrm>
            <a:off x="914400" y="1783080"/>
            <a:ext cx="10240920" cy="3977280"/>
          </a:xfrm>
          <a:prstGeom prst="roundRect">
            <a:avLst>
              <a:gd name="adj" fmla="val 1839"/>
            </a:avLst>
          </a:prstGeom>
          <a:solidFill>
            <a:srgbClr val="FFFFFF"/>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4" name="Shape 7"/>
          <p:cNvSpPr/>
          <p:nvPr/>
        </p:nvSpPr>
        <p:spPr>
          <a:xfrm>
            <a:off x="914400" y="1783080"/>
            <a:ext cx="10240920" cy="456840"/>
          </a:xfrm>
          <a:prstGeom prst="roundRect">
            <a:avLst>
              <a:gd name="adj" fmla="val 16000"/>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75" name="Text 8"/>
          <p:cNvSpPr/>
          <p:nvPr/>
        </p:nvSpPr>
        <p:spPr>
          <a:xfrm>
            <a:off x="1170360" y="1901880"/>
            <a:ext cx="45716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
                <a:solidFill>
                  <a:srgbClr val="FFFFFF"/>
                </a:solidFill>
                <a:latin typeface="Calibri"/>
                <a:ea typeface="Calibri"/>
              </a:rPr>
              <a:t>TBSCertificate (the signed body)</a:t>
            </a:r>
            <a:endParaRPr lang="en-US" sz="1400" b="0" strike="noStrike" spc="-1">
              <a:solidFill>
                <a:srgbClr val="000000"/>
              </a:solidFill>
              <a:latin typeface="Arial"/>
            </a:endParaRPr>
          </a:p>
        </p:txBody>
      </p:sp>
      <p:sp>
        <p:nvSpPr>
          <p:cNvPr id="276" name="Shape 9"/>
          <p:cNvSpPr/>
          <p:nvPr/>
        </p:nvSpPr>
        <p:spPr>
          <a:xfrm>
            <a:off x="1234440" y="2468880"/>
            <a:ext cx="2880000" cy="310680"/>
          </a:xfrm>
          <a:prstGeom prst="roundRect">
            <a:avLst>
              <a:gd name="adj" fmla="val 23529"/>
            </a:avLst>
          </a:prstGeom>
          <a:solidFill>
            <a:srgbClr val="EAF7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7" name="Text 10"/>
          <p:cNvSpPr/>
          <p:nvPr/>
        </p:nvSpPr>
        <p:spPr>
          <a:xfrm>
            <a:off x="1344240" y="2523600"/>
            <a:ext cx="26514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1" strike="noStrike" spc="-1">
                <a:solidFill>
                  <a:srgbClr val="1F497D"/>
                </a:solidFill>
                <a:latin typeface="Calibri"/>
                <a:ea typeface="Calibri"/>
              </a:rPr>
              <a:t>Version / Serial</a:t>
            </a:r>
            <a:endParaRPr lang="en-US" sz="1100" b="0" strike="noStrike" spc="-1">
              <a:solidFill>
                <a:srgbClr val="000000"/>
              </a:solidFill>
              <a:latin typeface="Arial"/>
            </a:endParaRPr>
          </a:p>
        </p:txBody>
      </p:sp>
      <p:sp>
        <p:nvSpPr>
          <p:cNvPr id="278" name="Text 11"/>
          <p:cNvSpPr/>
          <p:nvPr/>
        </p:nvSpPr>
        <p:spPr>
          <a:xfrm>
            <a:off x="4407480" y="2523600"/>
            <a:ext cx="33829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0" strike="noStrike" spc="-1">
                <a:solidFill>
                  <a:srgbClr val="64748B"/>
                </a:solidFill>
                <a:latin typeface="Calibri"/>
                <a:ea typeface="Calibri"/>
              </a:rPr>
              <a:t>which certificate?</a:t>
            </a:r>
            <a:endParaRPr lang="en-US" sz="1100" b="0" strike="noStrike" spc="-1">
              <a:solidFill>
                <a:srgbClr val="000000"/>
              </a:solidFill>
              <a:latin typeface="Arial"/>
            </a:endParaRPr>
          </a:p>
        </p:txBody>
      </p:sp>
      <p:sp>
        <p:nvSpPr>
          <p:cNvPr id="279" name="Shape 12"/>
          <p:cNvSpPr/>
          <p:nvPr/>
        </p:nvSpPr>
        <p:spPr>
          <a:xfrm>
            <a:off x="4160520" y="2624040"/>
            <a:ext cx="155160" cy="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80" name="Shape 13"/>
          <p:cNvSpPr/>
          <p:nvPr/>
        </p:nvSpPr>
        <p:spPr>
          <a:xfrm>
            <a:off x="1234440" y="2907720"/>
            <a:ext cx="2880000" cy="310680"/>
          </a:xfrm>
          <a:prstGeom prst="roundRect">
            <a:avLst>
              <a:gd name="adj" fmla="val 23529"/>
            </a:avLst>
          </a:prstGeom>
          <a:solidFill>
            <a:srgbClr val="EEF2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1" name="Text 14"/>
          <p:cNvSpPr/>
          <p:nvPr/>
        </p:nvSpPr>
        <p:spPr>
          <a:xfrm>
            <a:off x="1344240" y="2962800"/>
            <a:ext cx="26514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1" strike="noStrike" spc="-1">
                <a:solidFill>
                  <a:srgbClr val="1F497D"/>
                </a:solidFill>
                <a:latin typeface="Calibri"/>
                <a:ea typeface="Calibri"/>
              </a:rPr>
              <a:t>Issuer</a:t>
            </a:r>
            <a:endParaRPr lang="en-US" sz="1100" b="0" strike="noStrike" spc="-1">
              <a:solidFill>
                <a:srgbClr val="000000"/>
              </a:solidFill>
              <a:latin typeface="Arial"/>
            </a:endParaRPr>
          </a:p>
        </p:txBody>
      </p:sp>
      <p:sp>
        <p:nvSpPr>
          <p:cNvPr id="282" name="Text 15"/>
          <p:cNvSpPr/>
          <p:nvPr/>
        </p:nvSpPr>
        <p:spPr>
          <a:xfrm>
            <a:off x="4407480" y="2962800"/>
            <a:ext cx="33829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0" strike="noStrike" spc="-1">
                <a:solidFill>
                  <a:srgbClr val="64748B"/>
                </a:solidFill>
                <a:latin typeface="Calibri"/>
                <a:ea typeface="Calibri"/>
              </a:rPr>
              <a:t>who signed it?</a:t>
            </a:r>
            <a:endParaRPr lang="en-US" sz="1100" b="0" strike="noStrike" spc="-1">
              <a:solidFill>
                <a:srgbClr val="000000"/>
              </a:solidFill>
              <a:latin typeface="Arial"/>
            </a:endParaRPr>
          </a:p>
        </p:txBody>
      </p:sp>
      <p:sp>
        <p:nvSpPr>
          <p:cNvPr id="283" name="Shape 16"/>
          <p:cNvSpPr/>
          <p:nvPr/>
        </p:nvSpPr>
        <p:spPr>
          <a:xfrm>
            <a:off x="4160520" y="3063240"/>
            <a:ext cx="155160" cy="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84" name="Shape 17"/>
          <p:cNvSpPr/>
          <p:nvPr/>
        </p:nvSpPr>
        <p:spPr>
          <a:xfrm>
            <a:off x="1234440" y="3346560"/>
            <a:ext cx="2880000" cy="310680"/>
          </a:xfrm>
          <a:prstGeom prst="roundRect">
            <a:avLst>
              <a:gd name="adj" fmla="val 23529"/>
            </a:avLst>
          </a:prstGeom>
          <a:solidFill>
            <a:srgbClr val="FFF3E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5" name="Text 18"/>
          <p:cNvSpPr/>
          <p:nvPr/>
        </p:nvSpPr>
        <p:spPr>
          <a:xfrm>
            <a:off x="1344240" y="3401640"/>
            <a:ext cx="26514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1" strike="noStrike" spc="-1">
                <a:solidFill>
                  <a:srgbClr val="1F497D"/>
                </a:solidFill>
                <a:latin typeface="Calibri"/>
                <a:ea typeface="Calibri"/>
              </a:rPr>
              <a:t>Validity</a:t>
            </a:r>
            <a:endParaRPr lang="en-US" sz="1100" b="0" strike="noStrike" spc="-1">
              <a:solidFill>
                <a:srgbClr val="000000"/>
              </a:solidFill>
              <a:latin typeface="Arial"/>
            </a:endParaRPr>
          </a:p>
        </p:txBody>
      </p:sp>
      <p:sp>
        <p:nvSpPr>
          <p:cNvPr id="286" name="Text 19"/>
          <p:cNvSpPr/>
          <p:nvPr/>
        </p:nvSpPr>
        <p:spPr>
          <a:xfrm>
            <a:off x="4407480" y="3401640"/>
            <a:ext cx="33829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0" strike="noStrike" spc="-1">
                <a:solidFill>
                  <a:srgbClr val="64748B"/>
                </a:solidFill>
                <a:latin typeface="Calibri"/>
                <a:ea typeface="Calibri"/>
              </a:rPr>
              <a:t>when is it usable?</a:t>
            </a:r>
            <a:endParaRPr lang="en-US" sz="1100" b="0" strike="noStrike" spc="-1">
              <a:solidFill>
                <a:srgbClr val="000000"/>
              </a:solidFill>
              <a:latin typeface="Arial"/>
            </a:endParaRPr>
          </a:p>
        </p:txBody>
      </p:sp>
      <p:sp>
        <p:nvSpPr>
          <p:cNvPr id="287" name="Shape 20"/>
          <p:cNvSpPr/>
          <p:nvPr/>
        </p:nvSpPr>
        <p:spPr>
          <a:xfrm>
            <a:off x="4160520" y="3502080"/>
            <a:ext cx="155160" cy="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88" name="Shape 21"/>
          <p:cNvSpPr/>
          <p:nvPr/>
        </p:nvSpPr>
        <p:spPr>
          <a:xfrm>
            <a:off x="1234440" y="3785760"/>
            <a:ext cx="2880000" cy="310680"/>
          </a:xfrm>
          <a:prstGeom prst="roundRect">
            <a:avLst>
              <a:gd name="adj" fmla="val 23529"/>
            </a:avLst>
          </a:prstGeom>
          <a:solidFill>
            <a:srgbClr val="EAF7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9" name="Text 22"/>
          <p:cNvSpPr/>
          <p:nvPr/>
        </p:nvSpPr>
        <p:spPr>
          <a:xfrm>
            <a:off x="1344240" y="3840480"/>
            <a:ext cx="26514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1" strike="noStrike" spc="-1">
                <a:solidFill>
                  <a:srgbClr val="1F497D"/>
                </a:solidFill>
                <a:latin typeface="Calibri"/>
                <a:ea typeface="Calibri"/>
              </a:rPr>
              <a:t>Subject + SANs</a:t>
            </a:r>
            <a:endParaRPr lang="en-US" sz="1100" b="0" strike="noStrike" spc="-1">
              <a:solidFill>
                <a:srgbClr val="000000"/>
              </a:solidFill>
              <a:latin typeface="Arial"/>
            </a:endParaRPr>
          </a:p>
        </p:txBody>
      </p:sp>
      <p:sp>
        <p:nvSpPr>
          <p:cNvPr id="290" name="Text 23"/>
          <p:cNvSpPr/>
          <p:nvPr/>
        </p:nvSpPr>
        <p:spPr>
          <a:xfrm>
            <a:off x="4407480" y="3840480"/>
            <a:ext cx="33829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0" strike="noStrike" spc="-1">
                <a:solidFill>
                  <a:srgbClr val="64748B"/>
                </a:solidFill>
                <a:latin typeface="Calibri"/>
                <a:ea typeface="Calibri"/>
              </a:rPr>
              <a:t>which identity/names?</a:t>
            </a:r>
            <a:endParaRPr lang="en-US" sz="1100" b="0" strike="noStrike" spc="-1">
              <a:solidFill>
                <a:srgbClr val="000000"/>
              </a:solidFill>
              <a:latin typeface="Arial"/>
            </a:endParaRPr>
          </a:p>
        </p:txBody>
      </p:sp>
      <p:sp>
        <p:nvSpPr>
          <p:cNvPr id="291" name="Shape 24"/>
          <p:cNvSpPr/>
          <p:nvPr/>
        </p:nvSpPr>
        <p:spPr>
          <a:xfrm>
            <a:off x="4160520" y="3940920"/>
            <a:ext cx="155160" cy="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92" name="Shape 25"/>
          <p:cNvSpPr/>
          <p:nvPr/>
        </p:nvSpPr>
        <p:spPr>
          <a:xfrm>
            <a:off x="1234440" y="4224600"/>
            <a:ext cx="2880000" cy="310680"/>
          </a:xfrm>
          <a:prstGeom prst="roundRect">
            <a:avLst>
              <a:gd name="adj" fmla="val 23529"/>
            </a:avLst>
          </a:prstGeom>
          <a:solidFill>
            <a:srgbClr val="EEF2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3" name="Text 26"/>
          <p:cNvSpPr/>
          <p:nvPr/>
        </p:nvSpPr>
        <p:spPr>
          <a:xfrm>
            <a:off x="1344240" y="4279320"/>
            <a:ext cx="26514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1" strike="noStrike" spc="-1">
                <a:solidFill>
                  <a:srgbClr val="1F497D"/>
                </a:solidFill>
                <a:latin typeface="Calibri"/>
                <a:ea typeface="Calibri"/>
              </a:rPr>
              <a:t>Subject Public Key</a:t>
            </a:r>
            <a:endParaRPr lang="en-US" sz="1100" b="0" strike="noStrike" spc="-1">
              <a:solidFill>
                <a:srgbClr val="000000"/>
              </a:solidFill>
              <a:latin typeface="Arial"/>
            </a:endParaRPr>
          </a:p>
        </p:txBody>
      </p:sp>
      <p:sp>
        <p:nvSpPr>
          <p:cNvPr id="294" name="Text 27"/>
          <p:cNvSpPr/>
          <p:nvPr/>
        </p:nvSpPr>
        <p:spPr>
          <a:xfrm>
            <a:off x="4407480" y="4279320"/>
            <a:ext cx="33829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0" strike="noStrike" spc="-1">
                <a:solidFill>
                  <a:srgbClr val="64748B"/>
                </a:solidFill>
                <a:latin typeface="Calibri"/>
                <a:ea typeface="Calibri"/>
              </a:rPr>
              <a:t>which key is bound?</a:t>
            </a:r>
            <a:endParaRPr lang="en-US" sz="1100" b="0" strike="noStrike" spc="-1">
              <a:solidFill>
                <a:srgbClr val="000000"/>
              </a:solidFill>
              <a:latin typeface="Arial"/>
            </a:endParaRPr>
          </a:p>
        </p:txBody>
      </p:sp>
      <p:sp>
        <p:nvSpPr>
          <p:cNvPr id="295" name="Shape 28"/>
          <p:cNvSpPr/>
          <p:nvPr/>
        </p:nvSpPr>
        <p:spPr>
          <a:xfrm>
            <a:off x="4160520" y="4379760"/>
            <a:ext cx="155160" cy="36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96" name="Shape 29"/>
          <p:cNvSpPr/>
          <p:nvPr/>
        </p:nvSpPr>
        <p:spPr>
          <a:xfrm>
            <a:off x="1234440" y="4663440"/>
            <a:ext cx="2880000" cy="310680"/>
          </a:xfrm>
          <a:prstGeom prst="roundRect">
            <a:avLst>
              <a:gd name="adj" fmla="val 23529"/>
            </a:avLst>
          </a:prstGeom>
          <a:solidFill>
            <a:srgbClr val="F5EF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7" name="Text 30"/>
          <p:cNvSpPr/>
          <p:nvPr/>
        </p:nvSpPr>
        <p:spPr>
          <a:xfrm>
            <a:off x="1344240" y="4718160"/>
            <a:ext cx="26514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1" strike="noStrike" spc="-1">
                <a:solidFill>
                  <a:srgbClr val="1F497D"/>
                </a:solidFill>
                <a:latin typeface="Calibri"/>
                <a:ea typeface="Calibri"/>
              </a:rPr>
              <a:t>Extensions</a:t>
            </a:r>
            <a:endParaRPr lang="en-US" sz="1100" b="0" strike="noStrike" spc="-1">
              <a:solidFill>
                <a:srgbClr val="000000"/>
              </a:solidFill>
              <a:latin typeface="Arial"/>
            </a:endParaRPr>
          </a:p>
        </p:txBody>
      </p:sp>
      <p:sp>
        <p:nvSpPr>
          <p:cNvPr id="298" name="Text 31"/>
          <p:cNvSpPr/>
          <p:nvPr/>
        </p:nvSpPr>
        <p:spPr>
          <a:xfrm>
            <a:off x="4407480" y="4718160"/>
            <a:ext cx="33829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00" b="0" strike="noStrike" spc="-1">
                <a:solidFill>
                  <a:srgbClr val="64748B"/>
                </a:solidFill>
                <a:latin typeface="Calibri"/>
                <a:ea typeface="Calibri"/>
              </a:rPr>
              <a:t>what can it do?</a:t>
            </a:r>
            <a:endParaRPr lang="en-US" sz="1100" b="0" strike="noStrike" spc="-1">
              <a:solidFill>
                <a:srgbClr val="000000"/>
              </a:solidFill>
              <a:latin typeface="Arial"/>
            </a:endParaRPr>
          </a:p>
        </p:txBody>
      </p:sp>
      <p:sp>
        <p:nvSpPr>
          <p:cNvPr id="299" name="Shape 32"/>
          <p:cNvSpPr/>
          <p:nvPr/>
        </p:nvSpPr>
        <p:spPr>
          <a:xfrm>
            <a:off x="8092440" y="2468880"/>
            <a:ext cx="2239920" cy="1416960"/>
          </a:xfrm>
          <a:prstGeom prst="roundRect">
            <a:avLst>
              <a:gd name="adj" fmla="val 5161"/>
            </a:avLst>
          </a:prstGeom>
          <a:solidFill>
            <a:srgbClr val="FFF6E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0" name="Text 33"/>
          <p:cNvSpPr/>
          <p:nvPr/>
        </p:nvSpPr>
        <p:spPr>
          <a:xfrm>
            <a:off x="8321040" y="2724840"/>
            <a:ext cx="17827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8611" lnSpcReduction="20000"/>
          </a:bodyPr>
          <a:lstStyle/>
          <a:p>
            <a:pPr algn="ctr" defTabSz="914400">
              <a:lnSpc>
                <a:spcPct val="100000"/>
              </a:lnSpc>
              <a:tabLst>
                <a:tab pos="0" algn="l"/>
              </a:tabLst>
            </a:pPr>
            <a:r>
              <a:rPr lang="en-US" sz="1800" b="1" strike="noStrike" spc="-1">
                <a:solidFill>
                  <a:srgbClr val="F79646"/>
                </a:solidFill>
                <a:latin typeface="Calibri"/>
                <a:ea typeface="Calibri"/>
              </a:rPr>
              <a:t>CA Signature</a:t>
            </a:r>
            <a:endParaRPr lang="en-US" sz="1800" b="0" strike="noStrike" spc="-1">
              <a:solidFill>
                <a:srgbClr val="000000"/>
              </a:solidFill>
              <a:latin typeface="Arial"/>
            </a:endParaRPr>
          </a:p>
        </p:txBody>
      </p:sp>
      <p:sp>
        <p:nvSpPr>
          <p:cNvPr id="301" name="Text 34"/>
          <p:cNvSpPr/>
          <p:nvPr/>
        </p:nvSpPr>
        <p:spPr>
          <a:xfrm>
            <a:off x="8321040" y="3136320"/>
            <a:ext cx="1782720" cy="411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a:bodyPr>
          <a:lstStyle/>
          <a:p>
            <a:pPr algn="ctr" defTabSz="914400">
              <a:lnSpc>
                <a:spcPct val="100000"/>
              </a:lnSpc>
              <a:tabLst>
                <a:tab pos="0" algn="l"/>
              </a:tabLst>
            </a:pPr>
            <a:r>
              <a:rPr lang="en-US" sz="1200" b="0" strike="noStrike" spc="-1">
                <a:solidFill>
                  <a:srgbClr val="64748B"/>
                </a:solidFill>
                <a:latin typeface="Calibri"/>
                <a:ea typeface="Calibri"/>
              </a:rPr>
              <a:t>proves the issuer signed</a:t>
            </a:r>
            <a:endParaRPr lang="en-US" sz="1200" b="0" strike="noStrike" spc="-1">
              <a:solidFill>
                <a:srgbClr val="000000"/>
              </a:solidFill>
              <a:latin typeface="Arial"/>
            </a:endParaRPr>
          </a:p>
          <a:p>
            <a:pPr algn="ctr" defTabSz="914400">
              <a:lnSpc>
                <a:spcPct val="100000"/>
              </a:lnSpc>
              <a:tabLst>
                <a:tab pos="0" algn="l"/>
              </a:tabLst>
            </a:pPr>
            <a:r>
              <a:rPr lang="en-US" sz="1200" b="0" strike="noStrike" spc="-1">
                <a:solidFill>
                  <a:srgbClr val="64748B"/>
                </a:solidFill>
                <a:latin typeface="Calibri"/>
                <a:ea typeface="Calibri"/>
              </a:rPr>
              <a:t>this exact body</a:t>
            </a:r>
            <a:endParaRPr lang="en-US" sz="1200" b="0" strike="noStrike" spc="-1">
              <a:solidFill>
                <a:srgbClr val="000000"/>
              </a:solidFill>
              <a:latin typeface="Arial"/>
            </a:endParaRPr>
          </a:p>
        </p:txBody>
      </p:sp>
      <p:sp>
        <p:nvSpPr>
          <p:cNvPr id="302" name="Shape 35"/>
          <p:cNvSpPr/>
          <p:nvPr/>
        </p:nvSpPr>
        <p:spPr>
          <a:xfrm>
            <a:off x="7818120" y="4325040"/>
            <a:ext cx="2779560" cy="273960"/>
          </a:xfrm>
          <a:prstGeom prst="roundRect">
            <a:avLst>
              <a:gd name="adj" fmla="val 26667"/>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3" name="Text 36"/>
          <p:cNvSpPr/>
          <p:nvPr/>
        </p:nvSpPr>
        <p:spPr>
          <a:xfrm>
            <a:off x="7891200" y="4343400"/>
            <a:ext cx="26330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VERIFY WITH ISSUER PUBLIC KEY</a:t>
            </a:r>
            <a:endParaRPr lang="en-US" sz="1000" b="0" strike="noStrike" spc="-1">
              <a:solidFill>
                <a:srgbClr val="000000"/>
              </a:solidFill>
              <a:latin typeface="Arial"/>
            </a:endParaRPr>
          </a:p>
        </p:txBody>
      </p:sp>
      <p:sp>
        <p:nvSpPr>
          <p:cNvPr id="304" name="PlaceHolder 1"/>
          <p:cNvSpPr>
            <a:spLocks noGrp="1"/>
          </p:cNvSpPr>
          <p:nvPr>
            <p:ph type="sldNum" idx="12"/>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E624AEDB-DD0F-47DA-9C58-8E17D3D4CD0B}" type="slidenum">
              <a:rPr lang="en-US" sz="800" b="0" strike="noStrike" spc="-1">
                <a:solidFill>
                  <a:srgbClr val="64748B"/>
                </a:solidFill>
                <a:latin typeface="Calibri"/>
                <a:ea typeface="Calibri"/>
              </a:rPr>
              <a:t>9</a:t>
            </a:fld>
            <a:endParaRPr lang="en-US" sz="8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BASIC CONSTRAINTS</a:t>
            </a:r>
            <a:endParaRPr lang="en-US" sz="1000" b="0" strike="noStrike" spc="-1">
              <a:solidFill>
                <a:srgbClr val="000000"/>
              </a:solidFill>
              <a:latin typeface="Arial"/>
            </a:endParaRPr>
          </a:p>
        </p:txBody>
      </p:sp>
      <p:sp>
        <p:nvSpPr>
          <p:cNvPr id="335"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CA:TRUE is a dangerous capability</a:t>
            </a:r>
            <a:endParaRPr lang="en-US" sz="2700" b="0" strike="noStrike" spc="-1">
              <a:solidFill>
                <a:srgbClr val="000000"/>
              </a:solidFill>
              <a:latin typeface="Arial"/>
            </a:endParaRPr>
          </a:p>
        </p:txBody>
      </p:sp>
      <p:sp>
        <p:nvSpPr>
          <p:cNvPr id="336"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If the leaf can issue, your “server certificate” can become a CA.</a:t>
            </a:r>
            <a:endParaRPr lang="en-US" sz="1250" b="0" strike="noStrike" spc="-1">
              <a:solidFill>
                <a:srgbClr val="000000"/>
              </a:solidFill>
              <a:latin typeface="Arial"/>
            </a:endParaRPr>
          </a:p>
        </p:txBody>
      </p:sp>
      <p:sp>
        <p:nvSpPr>
          <p:cNvPr id="338" name="Shape 6"/>
          <p:cNvSpPr/>
          <p:nvPr/>
        </p:nvSpPr>
        <p:spPr>
          <a:xfrm>
            <a:off x="868680" y="1920240"/>
            <a:ext cx="3245760" cy="2102760"/>
          </a:xfrm>
          <a:prstGeom prst="roundRect">
            <a:avLst>
              <a:gd name="adj" fmla="val 3478"/>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9" name="Shape 7"/>
          <p:cNvSpPr/>
          <p:nvPr/>
        </p:nvSpPr>
        <p:spPr>
          <a:xfrm>
            <a:off x="868680" y="1920240"/>
            <a:ext cx="3245760" cy="292320"/>
          </a:xfrm>
          <a:prstGeom prst="roundRect">
            <a:avLst>
              <a:gd name="adj" fmla="val 25000"/>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0" name="Text 8"/>
          <p:cNvSpPr/>
          <p:nvPr/>
        </p:nvSpPr>
        <p:spPr>
          <a:xfrm>
            <a:off x="978480" y="1956960"/>
            <a:ext cx="3026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ROOT CA</a:t>
            </a:r>
            <a:endParaRPr lang="en-US" sz="1100" b="0" strike="noStrike" spc="-1">
              <a:solidFill>
                <a:srgbClr val="000000"/>
              </a:solidFill>
              <a:latin typeface="Arial"/>
            </a:endParaRPr>
          </a:p>
        </p:txBody>
      </p:sp>
      <p:sp>
        <p:nvSpPr>
          <p:cNvPr id="341" name="Text 9"/>
          <p:cNvSpPr/>
          <p:nvPr/>
        </p:nvSpPr>
        <p:spPr>
          <a:xfrm>
            <a:off x="978480" y="2331720"/>
            <a:ext cx="302616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CA:TRUE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keyCertSign + cRLSign</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long-lived trust anchor</a:t>
            </a:r>
            <a:endParaRPr lang="en-US" sz="1300" b="0" strike="noStrike" spc="-1">
              <a:solidFill>
                <a:srgbClr val="000000"/>
              </a:solidFill>
              <a:latin typeface="Arial"/>
            </a:endParaRPr>
          </a:p>
        </p:txBody>
      </p:sp>
      <p:sp>
        <p:nvSpPr>
          <p:cNvPr id="342" name="Shape 10"/>
          <p:cNvSpPr/>
          <p:nvPr/>
        </p:nvSpPr>
        <p:spPr>
          <a:xfrm>
            <a:off x="4480560" y="1920240"/>
            <a:ext cx="3245760" cy="2102760"/>
          </a:xfrm>
          <a:prstGeom prst="roundRect">
            <a:avLst>
              <a:gd name="adj" fmla="val 3478"/>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3" name="Shape 11"/>
          <p:cNvSpPr/>
          <p:nvPr/>
        </p:nvSpPr>
        <p:spPr>
          <a:xfrm>
            <a:off x="4480560" y="1920240"/>
            <a:ext cx="3245760" cy="292320"/>
          </a:xfrm>
          <a:prstGeom prst="roundRect">
            <a:avLst>
              <a:gd name="adj" fmla="val 25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4" name="Text 12"/>
          <p:cNvSpPr/>
          <p:nvPr/>
        </p:nvSpPr>
        <p:spPr>
          <a:xfrm>
            <a:off x="4590360" y="1956960"/>
            <a:ext cx="3026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INTERMEDIATE CA</a:t>
            </a:r>
            <a:endParaRPr lang="en-US" sz="1100" b="0" strike="noStrike" spc="-1">
              <a:solidFill>
                <a:srgbClr val="000000"/>
              </a:solidFill>
              <a:latin typeface="Arial"/>
            </a:endParaRPr>
          </a:p>
        </p:txBody>
      </p:sp>
      <p:sp>
        <p:nvSpPr>
          <p:cNvPr id="345" name="Text 13"/>
          <p:cNvSpPr/>
          <p:nvPr/>
        </p:nvSpPr>
        <p:spPr>
          <a:xfrm>
            <a:off x="4590360" y="2331720"/>
            <a:ext cx="302616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CA:TRUE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pathLen:0</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shorter operational tier</a:t>
            </a:r>
            <a:endParaRPr lang="en-US" sz="1300" b="0" strike="noStrike" spc="-1">
              <a:solidFill>
                <a:srgbClr val="000000"/>
              </a:solidFill>
              <a:latin typeface="Arial"/>
            </a:endParaRPr>
          </a:p>
        </p:txBody>
      </p:sp>
      <p:sp>
        <p:nvSpPr>
          <p:cNvPr id="346" name="Shape 14"/>
          <p:cNvSpPr/>
          <p:nvPr/>
        </p:nvSpPr>
        <p:spPr>
          <a:xfrm>
            <a:off x="8092440" y="1920240"/>
            <a:ext cx="3245760" cy="2102760"/>
          </a:xfrm>
          <a:prstGeom prst="roundRect">
            <a:avLst>
              <a:gd name="adj" fmla="val 3478"/>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7" name="Shape 15"/>
          <p:cNvSpPr/>
          <p:nvPr/>
        </p:nvSpPr>
        <p:spPr>
          <a:xfrm>
            <a:off x="8092440" y="1920240"/>
            <a:ext cx="3245760" cy="292320"/>
          </a:xfrm>
          <a:prstGeom prst="roundRect">
            <a:avLst>
              <a:gd name="adj" fmla="val 25000"/>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8" name="Text 16"/>
          <p:cNvSpPr/>
          <p:nvPr/>
        </p:nvSpPr>
        <p:spPr>
          <a:xfrm>
            <a:off x="8202240" y="1956960"/>
            <a:ext cx="3026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SERVER / LEAF</a:t>
            </a:r>
            <a:endParaRPr lang="en-US" sz="1100" b="0" strike="noStrike" spc="-1">
              <a:solidFill>
                <a:srgbClr val="000000"/>
              </a:solidFill>
              <a:latin typeface="Arial"/>
            </a:endParaRPr>
          </a:p>
        </p:txBody>
      </p:sp>
      <p:sp>
        <p:nvSpPr>
          <p:cNvPr id="349" name="Text 17"/>
          <p:cNvSpPr/>
          <p:nvPr/>
        </p:nvSpPr>
        <p:spPr>
          <a:xfrm>
            <a:off x="8202240" y="2331720"/>
            <a:ext cx="302616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CA:FALSE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serverAuth</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SANs for names</a:t>
            </a:r>
            <a:endParaRPr lang="en-US" sz="1300" b="0" strike="noStrike" spc="-1">
              <a:solidFill>
                <a:srgbClr val="000000"/>
              </a:solidFill>
              <a:latin typeface="Arial"/>
            </a:endParaRPr>
          </a:p>
        </p:txBody>
      </p:sp>
      <p:sp>
        <p:nvSpPr>
          <p:cNvPr id="350" name="Shape 18"/>
          <p:cNvSpPr/>
          <p:nvPr/>
        </p:nvSpPr>
        <p:spPr>
          <a:xfrm>
            <a:off x="4160520" y="2953440"/>
            <a:ext cx="246600" cy="360"/>
          </a:xfrm>
          <a:prstGeom prst="line">
            <a:avLst/>
          </a:prstGeom>
          <a:ln w="25400">
            <a:solidFill>
              <a:srgbClr val="C0504D"/>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351" name="Shape 19"/>
          <p:cNvSpPr/>
          <p:nvPr/>
        </p:nvSpPr>
        <p:spPr>
          <a:xfrm>
            <a:off x="7772400" y="2953440"/>
            <a:ext cx="246600" cy="360"/>
          </a:xfrm>
          <a:prstGeom prst="line">
            <a:avLst/>
          </a:prstGeom>
          <a:ln w="25400">
            <a:solidFill>
              <a:srgbClr val="F7964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352" name="Shape 20"/>
          <p:cNvSpPr/>
          <p:nvPr/>
        </p:nvSpPr>
        <p:spPr>
          <a:xfrm>
            <a:off x="1143000" y="4617720"/>
            <a:ext cx="9829440" cy="712800"/>
          </a:xfrm>
          <a:prstGeom prst="roundRect">
            <a:avLst>
              <a:gd name="adj" fmla="val 10256"/>
            </a:avLst>
          </a:prstGeom>
          <a:solidFill>
            <a:srgbClr val="FFFFFF"/>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3" name="Shape 21"/>
          <p:cNvSpPr/>
          <p:nvPr/>
        </p:nvSpPr>
        <p:spPr>
          <a:xfrm>
            <a:off x="1143000" y="4617720"/>
            <a:ext cx="100080" cy="712800"/>
          </a:xfrm>
          <a:prstGeom prst="rect">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54" name="Text 22"/>
          <p:cNvSpPr/>
          <p:nvPr/>
        </p:nvSpPr>
        <p:spPr>
          <a:xfrm>
            <a:off x="1380600" y="4727520"/>
            <a:ext cx="948204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
                <a:solidFill>
                  <a:srgbClr val="C0504D"/>
                </a:solidFill>
                <a:latin typeface="Calibri"/>
                <a:ea typeface="Calibri"/>
              </a:rPr>
              <a:t>Red flag</a:t>
            </a:r>
            <a:endParaRPr lang="en-US" sz="1400" b="0" strike="noStrike" spc="-1">
              <a:solidFill>
                <a:srgbClr val="000000"/>
              </a:solidFill>
              <a:latin typeface="Arial"/>
            </a:endParaRPr>
          </a:p>
        </p:txBody>
      </p:sp>
      <p:sp>
        <p:nvSpPr>
          <p:cNvPr id="355" name="Text 23"/>
          <p:cNvSpPr/>
          <p:nvPr/>
        </p:nvSpPr>
        <p:spPr>
          <a:xfrm>
            <a:off x="1380600" y="5029200"/>
            <a:ext cx="9482040" cy="209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50" b="0" strike="noStrike" spc="-1">
                <a:solidFill>
                  <a:srgbClr val="203040"/>
                </a:solidFill>
                <a:latin typeface="Calibri"/>
                <a:ea typeface="Calibri"/>
              </a:rPr>
              <a:t>A leaf with CA:TRUE is not “more secure”; it is more powerful and harder to contain.</a:t>
            </a:r>
            <a:endParaRPr lang="en-US" sz="1250" b="0" strike="noStrike" spc="-1">
              <a:solidFill>
                <a:srgbClr val="000000"/>
              </a:solidFill>
              <a:latin typeface="Arial"/>
            </a:endParaRPr>
          </a:p>
        </p:txBody>
      </p:sp>
      <p:sp>
        <p:nvSpPr>
          <p:cNvPr id="356" name="PlaceHolder 1"/>
          <p:cNvSpPr>
            <a:spLocks noGrp="1"/>
          </p:cNvSpPr>
          <p:nvPr>
            <p:ph type="sldNum" idx="14"/>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09545E73-3214-451F-A886-F3841F066F34}" type="slidenum">
              <a:rPr lang="en-US" sz="800" b="0" strike="noStrike" spc="-1">
                <a:solidFill>
                  <a:srgbClr val="64748B"/>
                </a:solidFill>
                <a:latin typeface="Calibri"/>
                <a:ea typeface="Calibri"/>
              </a:rPr>
              <a:t>10</a:t>
            </a:fld>
            <a:endParaRPr lang="en-US" sz="800" b="0" strike="noStrike" spc="-1">
              <a:solidFill>
                <a:srgbClr val="000000"/>
              </a:solidFill>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KEY USAGE + EKU</a:t>
            </a:r>
            <a:endParaRPr lang="en-US" sz="1000" b="0" strike="noStrike" spc="-1">
              <a:solidFill>
                <a:srgbClr val="000000"/>
              </a:solidFill>
              <a:latin typeface="Arial"/>
            </a:endParaRPr>
          </a:p>
        </p:txBody>
      </p:sp>
      <p:sp>
        <p:nvSpPr>
          <p:cNvPr id="358"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Two layers of “what may this key do?”</a:t>
            </a:r>
            <a:endParaRPr lang="en-US" sz="2700" b="0" strike="noStrike" spc="-1">
              <a:solidFill>
                <a:srgbClr val="000000"/>
              </a:solidFill>
              <a:latin typeface="Arial"/>
            </a:endParaRPr>
          </a:p>
        </p:txBody>
      </p:sp>
      <p:sp>
        <p:nvSpPr>
          <p:cNvPr id="359"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Basic operations are not the same as application purpose.</a:t>
            </a:r>
            <a:endParaRPr lang="en-US" sz="1250" b="0" strike="noStrike" spc="-1">
              <a:solidFill>
                <a:srgbClr val="000000"/>
              </a:solidFill>
              <a:latin typeface="Arial"/>
            </a:endParaRPr>
          </a:p>
        </p:txBody>
      </p:sp>
      <p:sp>
        <p:nvSpPr>
          <p:cNvPr id="361" name="Shape 6"/>
          <p:cNvSpPr/>
          <p:nvPr/>
        </p:nvSpPr>
        <p:spPr>
          <a:xfrm>
            <a:off x="868680" y="1828800"/>
            <a:ext cx="4754520" cy="2605680"/>
          </a:xfrm>
          <a:prstGeom prst="roundRect">
            <a:avLst>
              <a:gd name="adj" fmla="val 2807"/>
            </a:avLst>
          </a:prstGeom>
          <a:solidFill>
            <a:srgbClr val="EEF2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2" name="Text 7"/>
          <p:cNvSpPr/>
          <p:nvPr/>
        </p:nvSpPr>
        <p:spPr>
          <a:xfrm>
            <a:off x="1143000" y="2084760"/>
            <a:ext cx="42058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2200" b="1" strike="noStrike" spc="-1">
                <a:solidFill>
                  <a:srgbClr val="4F81BD"/>
                </a:solidFill>
                <a:latin typeface="Calibri"/>
                <a:ea typeface="Calibri"/>
              </a:rPr>
              <a:t>KEY USAGE</a:t>
            </a:r>
            <a:endParaRPr lang="en-US" sz="2200" b="0" strike="noStrike" spc="-1">
              <a:solidFill>
                <a:srgbClr val="000000"/>
              </a:solidFill>
              <a:latin typeface="Arial"/>
            </a:endParaRPr>
          </a:p>
        </p:txBody>
      </p:sp>
      <p:sp>
        <p:nvSpPr>
          <p:cNvPr id="363" name="Text 8"/>
          <p:cNvSpPr/>
          <p:nvPr/>
        </p:nvSpPr>
        <p:spPr>
          <a:xfrm>
            <a:off x="1143000" y="2761560"/>
            <a:ext cx="42058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700" b="0" strike="noStrike" spc="-1">
                <a:solidFill>
                  <a:srgbClr val="203040"/>
                </a:solidFill>
                <a:latin typeface="Calibri"/>
                <a:ea typeface="Calibri"/>
              </a:rPr>
              <a:t>digitalSignature</a:t>
            </a:r>
            <a:endParaRPr lang="en-US" sz="1700" b="0" strike="noStrike" spc="-1">
              <a:solidFill>
                <a:srgbClr val="000000"/>
              </a:solidFill>
              <a:latin typeface="Arial"/>
            </a:endParaRPr>
          </a:p>
          <a:p>
            <a:pPr algn="ctr" defTabSz="914400">
              <a:lnSpc>
                <a:spcPct val="100000"/>
              </a:lnSpc>
              <a:tabLst>
                <a:tab pos="0" algn="l"/>
              </a:tabLst>
            </a:pPr>
            <a:r>
              <a:rPr lang="en-US" sz="1700" b="0" strike="noStrike" spc="-1">
                <a:solidFill>
                  <a:srgbClr val="203040"/>
                </a:solidFill>
                <a:latin typeface="Calibri"/>
                <a:ea typeface="Calibri"/>
              </a:rPr>
              <a:t>keyEncipherment</a:t>
            </a:r>
            <a:endParaRPr lang="en-US" sz="1700" b="0" strike="noStrike" spc="-1">
              <a:solidFill>
                <a:srgbClr val="000000"/>
              </a:solidFill>
              <a:latin typeface="Arial"/>
            </a:endParaRPr>
          </a:p>
          <a:p>
            <a:pPr algn="ctr" defTabSz="914400">
              <a:lnSpc>
                <a:spcPct val="100000"/>
              </a:lnSpc>
              <a:tabLst>
                <a:tab pos="0" algn="l"/>
              </a:tabLst>
            </a:pPr>
            <a:r>
              <a:rPr lang="en-US" sz="1700" b="0" strike="noStrike" spc="-1">
                <a:solidFill>
                  <a:srgbClr val="203040"/>
                </a:solidFill>
                <a:latin typeface="Calibri"/>
                <a:ea typeface="Calibri"/>
              </a:rPr>
              <a:t>keyCertSign · cRLSign</a:t>
            </a:r>
            <a:endParaRPr lang="en-US" sz="1700" b="0" strike="noStrike" spc="-1">
              <a:solidFill>
                <a:srgbClr val="000000"/>
              </a:solidFill>
              <a:latin typeface="Arial"/>
            </a:endParaRPr>
          </a:p>
        </p:txBody>
      </p:sp>
      <p:sp>
        <p:nvSpPr>
          <p:cNvPr id="364" name="Text 9"/>
          <p:cNvSpPr/>
          <p:nvPr/>
        </p:nvSpPr>
        <p:spPr>
          <a:xfrm>
            <a:off x="1143000" y="3858840"/>
            <a:ext cx="420588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0" i="1" strike="noStrike" spc="-1">
                <a:solidFill>
                  <a:srgbClr val="64748B"/>
                </a:solidFill>
                <a:latin typeface="Calibri"/>
                <a:ea typeface="Calibri"/>
              </a:rPr>
              <a:t>primitive cryptographic operation</a:t>
            </a:r>
            <a:endParaRPr lang="en-US" sz="1100" b="0" strike="noStrike" spc="-1">
              <a:solidFill>
                <a:srgbClr val="000000"/>
              </a:solidFill>
              <a:latin typeface="Arial"/>
            </a:endParaRPr>
          </a:p>
        </p:txBody>
      </p:sp>
      <p:sp>
        <p:nvSpPr>
          <p:cNvPr id="365" name="Shape 10"/>
          <p:cNvSpPr/>
          <p:nvPr/>
        </p:nvSpPr>
        <p:spPr>
          <a:xfrm>
            <a:off x="6537960" y="1828800"/>
            <a:ext cx="4754520" cy="2605680"/>
          </a:xfrm>
          <a:prstGeom prst="roundRect">
            <a:avLst>
              <a:gd name="adj" fmla="val 2807"/>
            </a:avLst>
          </a:prstGeom>
          <a:solidFill>
            <a:srgbClr val="F5EFFA"/>
          </a:solidFill>
          <a:ln w="1270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6" name="Text 11"/>
          <p:cNvSpPr/>
          <p:nvPr/>
        </p:nvSpPr>
        <p:spPr>
          <a:xfrm>
            <a:off x="6812280" y="2084760"/>
            <a:ext cx="42058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2200" b="1" strike="noStrike" spc="-1">
                <a:solidFill>
                  <a:srgbClr val="8064A2"/>
                </a:solidFill>
                <a:latin typeface="Calibri"/>
                <a:ea typeface="Calibri"/>
              </a:rPr>
              <a:t>EXTENDED KEY USAGE</a:t>
            </a:r>
            <a:endParaRPr lang="en-US" sz="2200" b="0" strike="noStrike" spc="-1">
              <a:solidFill>
                <a:srgbClr val="000000"/>
              </a:solidFill>
              <a:latin typeface="Arial"/>
            </a:endParaRPr>
          </a:p>
        </p:txBody>
      </p:sp>
      <p:sp>
        <p:nvSpPr>
          <p:cNvPr id="367" name="Text 12"/>
          <p:cNvSpPr/>
          <p:nvPr/>
        </p:nvSpPr>
        <p:spPr>
          <a:xfrm>
            <a:off x="6812280" y="2761560"/>
            <a:ext cx="42058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700" b="0" strike="noStrike" spc="-1">
                <a:solidFill>
                  <a:srgbClr val="203040"/>
                </a:solidFill>
                <a:latin typeface="Calibri"/>
                <a:ea typeface="Calibri"/>
              </a:rPr>
              <a:t>serverAuth</a:t>
            </a:r>
            <a:endParaRPr lang="en-US" sz="1700" b="0" strike="noStrike" spc="-1">
              <a:solidFill>
                <a:srgbClr val="000000"/>
              </a:solidFill>
              <a:latin typeface="Arial"/>
            </a:endParaRPr>
          </a:p>
          <a:p>
            <a:pPr algn="ctr" defTabSz="914400">
              <a:lnSpc>
                <a:spcPct val="100000"/>
              </a:lnSpc>
              <a:tabLst>
                <a:tab pos="0" algn="l"/>
              </a:tabLst>
            </a:pPr>
            <a:r>
              <a:rPr lang="en-US" sz="1700" b="0" strike="noStrike" spc="-1">
                <a:solidFill>
                  <a:srgbClr val="203040"/>
                </a:solidFill>
                <a:latin typeface="Calibri"/>
                <a:ea typeface="Calibri"/>
              </a:rPr>
              <a:t>clientAuth</a:t>
            </a:r>
            <a:endParaRPr lang="en-US" sz="1700" b="0" strike="noStrike" spc="-1">
              <a:solidFill>
                <a:srgbClr val="000000"/>
              </a:solidFill>
              <a:latin typeface="Arial"/>
            </a:endParaRPr>
          </a:p>
          <a:p>
            <a:pPr algn="ctr" defTabSz="914400">
              <a:lnSpc>
                <a:spcPct val="100000"/>
              </a:lnSpc>
              <a:tabLst>
                <a:tab pos="0" algn="l"/>
              </a:tabLst>
            </a:pPr>
            <a:r>
              <a:rPr lang="en-US" sz="1700" b="0" strike="noStrike" spc="-1">
                <a:solidFill>
                  <a:srgbClr val="203040"/>
                </a:solidFill>
                <a:latin typeface="Calibri"/>
                <a:ea typeface="Calibri"/>
              </a:rPr>
              <a:t>codeSigning · emailProtection</a:t>
            </a:r>
            <a:endParaRPr lang="en-US" sz="1700" b="0" strike="noStrike" spc="-1">
              <a:solidFill>
                <a:srgbClr val="000000"/>
              </a:solidFill>
              <a:latin typeface="Arial"/>
            </a:endParaRPr>
          </a:p>
        </p:txBody>
      </p:sp>
      <p:sp>
        <p:nvSpPr>
          <p:cNvPr id="368" name="Text 13"/>
          <p:cNvSpPr/>
          <p:nvPr/>
        </p:nvSpPr>
        <p:spPr>
          <a:xfrm>
            <a:off x="6812280" y="3858840"/>
            <a:ext cx="420588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0" i="1" strike="noStrike" spc="-1">
                <a:solidFill>
                  <a:srgbClr val="64748B"/>
                </a:solidFill>
                <a:latin typeface="Calibri"/>
                <a:ea typeface="Calibri"/>
              </a:rPr>
              <a:t>application-level purpose</a:t>
            </a:r>
            <a:endParaRPr lang="en-US" sz="1100" b="0" strike="noStrike" spc="-1">
              <a:solidFill>
                <a:srgbClr val="000000"/>
              </a:solidFill>
              <a:latin typeface="Arial"/>
            </a:endParaRPr>
          </a:p>
        </p:txBody>
      </p:sp>
      <p:sp>
        <p:nvSpPr>
          <p:cNvPr id="369" name="Shape 14"/>
          <p:cNvSpPr/>
          <p:nvPr/>
        </p:nvSpPr>
        <p:spPr>
          <a:xfrm>
            <a:off x="5806440" y="3154680"/>
            <a:ext cx="5486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370" name="PlaceHolder 1"/>
          <p:cNvSpPr>
            <a:spLocks noGrp="1"/>
          </p:cNvSpPr>
          <p:nvPr>
            <p:ph type="sldNum" idx="15"/>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F970E613-C196-4384-A72F-DCA426994741}" type="slidenum">
              <a:rPr lang="en-US" sz="800" b="0" strike="noStrike" spc="-1">
                <a:solidFill>
                  <a:srgbClr val="64748B"/>
                </a:solidFill>
                <a:latin typeface="Calibri"/>
                <a:ea typeface="Calibri"/>
              </a:rPr>
              <a:t>11</a:t>
            </a:fld>
            <a:endParaRPr lang="en-US" sz="800" b="0" strike="noStrike" spc="-1">
              <a:solidFill>
                <a:srgbClr val="000000"/>
              </a:solidFill>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CERTIFICATE PATH</a:t>
            </a:r>
            <a:endParaRPr lang="en-US" sz="1000" b="0" strike="noStrike" spc="-1">
              <a:solidFill>
                <a:srgbClr val="000000"/>
              </a:solidFill>
              <a:latin typeface="Arial"/>
            </a:endParaRPr>
          </a:p>
        </p:txBody>
      </p:sp>
      <p:sp>
        <p:nvSpPr>
          <p:cNvPr id="387"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Chain validation: leaf → intermediate → root</a:t>
            </a:r>
            <a:endParaRPr lang="en-US" sz="2700" b="0" strike="noStrike" spc="-1">
              <a:solidFill>
                <a:srgbClr val="000000"/>
              </a:solidFill>
              <a:latin typeface="Arial"/>
            </a:endParaRPr>
          </a:p>
        </p:txBody>
      </p:sp>
      <p:sp>
        <p:nvSpPr>
          <p:cNvPr id="388"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The root is trusted because the client already has it as a trust anchor.</a:t>
            </a:r>
            <a:endParaRPr lang="en-US" sz="1250" b="0" strike="noStrike" spc="-1">
              <a:solidFill>
                <a:srgbClr val="000000"/>
              </a:solidFill>
              <a:latin typeface="Arial"/>
            </a:endParaRPr>
          </a:p>
        </p:txBody>
      </p:sp>
      <p:sp>
        <p:nvSpPr>
          <p:cNvPr id="390" name="Shape 6"/>
          <p:cNvSpPr/>
          <p:nvPr/>
        </p:nvSpPr>
        <p:spPr>
          <a:xfrm>
            <a:off x="685800" y="2121480"/>
            <a:ext cx="2331360" cy="1828440"/>
          </a:xfrm>
          <a:prstGeom prst="roundRect">
            <a:avLst>
              <a:gd name="adj" fmla="val 4000"/>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1" name="Shape 7"/>
          <p:cNvSpPr/>
          <p:nvPr/>
        </p:nvSpPr>
        <p:spPr>
          <a:xfrm>
            <a:off x="685800" y="2121480"/>
            <a:ext cx="2331360" cy="292320"/>
          </a:xfrm>
          <a:prstGeom prst="roundRect">
            <a:avLst>
              <a:gd name="adj" fmla="val 25000"/>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92" name="Text 8"/>
          <p:cNvSpPr/>
          <p:nvPr/>
        </p:nvSpPr>
        <p:spPr>
          <a:xfrm>
            <a:off x="795600" y="2157840"/>
            <a:ext cx="21117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ROOT CA</a:t>
            </a:r>
            <a:endParaRPr lang="en-US" sz="1100" b="0" strike="noStrike" spc="-1">
              <a:solidFill>
                <a:srgbClr val="000000"/>
              </a:solidFill>
              <a:latin typeface="Arial"/>
            </a:endParaRPr>
          </a:p>
        </p:txBody>
      </p:sp>
      <p:sp>
        <p:nvSpPr>
          <p:cNvPr id="393" name="Text 9"/>
          <p:cNvSpPr/>
          <p:nvPr/>
        </p:nvSpPr>
        <p:spPr>
          <a:xfrm>
            <a:off x="795600" y="2532960"/>
            <a:ext cx="211176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trusted locally</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self-signed</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rarely used</a:t>
            </a:r>
            <a:endParaRPr lang="en-US" sz="1300" b="0" strike="noStrike" spc="-1">
              <a:solidFill>
                <a:srgbClr val="000000"/>
              </a:solidFill>
              <a:latin typeface="Arial"/>
            </a:endParaRPr>
          </a:p>
        </p:txBody>
      </p:sp>
      <p:sp>
        <p:nvSpPr>
          <p:cNvPr id="394" name="Shape 10"/>
          <p:cNvSpPr/>
          <p:nvPr/>
        </p:nvSpPr>
        <p:spPr>
          <a:xfrm>
            <a:off x="3794760" y="2121480"/>
            <a:ext cx="2331360" cy="1828440"/>
          </a:xfrm>
          <a:prstGeom prst="roundRect">
            <a:avLst>
              <a:gd name="adj" fmla="val 4000"/>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5" name="Shape 11"/>
          <p:cNvSpPr/>
          <p:nvPr/>
        </p:nvSpPr>
        <p:spPr>
          <a:xfrm>
            <a:off x="3794760" y="2121480"/>
            <a:ext cx="2331360" cy="292320"/>
          </a:xfrm>
          <a:prstGeom prst="roundRect">
            <a:avLst>
              <a:gd name="adj" fmla="val 25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6" name="Text 12"/>
          <p:cNvSpPr/>
          <p:nvPr/>
        </p:nvSpPr>
        <p:spPr>
          <a:xfrm>
            <a:off x="3904560" y="2157840"/>
            <a:ext cx="21117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INTERMEDIATE</a:t>
            </a:r>
            <a:endParaRPr lang="en-US" sz="1100" b="0" strike="noStrike" spc="-1">
              <a:solidFill>
                <a:srgbClr val="000000"/>
              </a:solidFill>
              <a:latin typeface="Arial"/>
            </a:endParaRPr>
          </a:p>
        </p:txBody>
      </p:sp>
      <p:sp>
        <p:nvSpPr>
          <p:cNvPr id="397" name="Text 13"/>
          <p:cNvSpPr/>
          <p:nvPr/>
        </p:nvSpPr>
        <p:spPr>
          <a:xfrm>
            <a:off x="3904560" y="2532960"/>
            <a:ext cx="211176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signed by Root</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issues leaf certs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online tier</a:t>
            </a:r>
            <a:endParaRPr lang="en-US" sz="1300" b="0" strike="noStrike" spc="-1">
              <a:solidFill>
                <a:srgbClr val="000000"/>
              </a:solidFill>
              <a:latin typeface="Arial"/>
            </a:endParaRPr>
          </a:p>
        </p:txBody>
      </p:sp>
      <p:sp>
        <p:nvSpPr>
          <p:cNvPr id="398" name="Shape 14"/>
          <p:cNvSpPr/>
          <p:nvPr/>
        </p:nvSpPr>
        <p:spPr>
          <a:xfrm>
            <a:off x="6903720" y="2121480"/>
            <a:ext cx="2331360" cy="1828440"/>
          </a:xfrm>
          <a:prstGeom prst="roundRect">
            <a:avLst>
              <a:gd name="adj" fmla="val 4000"/>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9" name="Shape 15"/>
          <p:cNvSpPr/>
          <p:nvPr/>
        </p:nvSpPr>
        <p:spPr>
          <a:xfrm>
            <a:off x="6903720" y="2121480"/>
            <a:ext cx="2331360" cy="292320"/>
          </a:xfrm>
          <a:prstGeom prst="roundRect">
            <a:avLst>
              <a:gd name="adj" fmla="val 25000"/>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00" name="Text 16"/>
          <p:cNvSpPr/>
          <p:nvPr/>
        </p:nvSpPr>
        <p:spPr>
          <a:xfrm>
            <a:off x="7013520" y="2157840"/>
            <a:ext cx="21117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SERVER LEAF</a:t>
            </a:r>
            <a:endParaRPr lang="en-US" sz="1100" b="0" strike="noStrike" spc="-1">
              <a:solidFill>
                <a:srgbClr val="000000"/>
              </a:solidFill>
              <a:latin typeface="Arial"/>
            </a:endParaRPr>
          </a:p>
        </p:txBody>
      </p:sp>
      <p:sp>
        <p:nvSpPr>
          <p:cNvPr id="401" name="Text 17"/>
          <p:cNvSpPr/>
          <p:nvPr/>
        </p:nvSpPr>
        <p:spPr>
          <a:xfrm>
            <a:off x="7013520" y="2532960"/>
            <a:ext cx="211176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signed by Intermediate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SAN + serverAuth</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short-lived</a:t>
            </a:r>
            <a:endParaRPr lang="en-US" sz="1300" b="0" strike="noStrike" spc="-1">
              <a:solidFill>
                <a:srgbClr val="000000"/>
              </a:solidFill>
              <a:latin typeface="Arial"/>
            </a:endParaRPr>
          </a:p>
        </p:txBody>
      </p:sp>
      <p:sp>
        <p:nvSpPr>
          <p:cNvPr id="402" name="Shape 18"/>
          <p:cNvSpPr/>
          <p:nvPr/>
        </p:nvSpPr>
        <p:spPr>
          <a:xfrm>
            <a:off x="9464040" y="2121480"/>
            <a:ext cx="1919880" cy="1828440"/>
          </a:xfrm>
          <a:prstGeom prst="roundRect">
            <a:avLst>
              <a:gd name="adj" fmla="val 4000"/>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3" name="Shape 19"/>
          <p:cNvSpPr/>
          <p:nvPr/>
        </p:nvSpPr>
        <p:spPr>
          <a:xfrm>
            <a:off x="9464040" y="2121480"/>
            <a:ext cx="1919880" cy="292320"/>
          </a:xfrm>
          <a:prstGeom prst="roundRect">
            <a:avLst>
              <a:gd name="adj" fmla="val 25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04" name="Text 20"/>
          <p:cNvSpPr/>
          <p:nvPr/>
        </p:nvSpPr>
        <p:spPr>
          <a:xfrm>
            <a:off x="9573840" y="2157840"/>
            <a:ext cx="17002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CLIENT</a:t>
            </a:r>
            <a:endParaRPr lang="en-US" sz="1100" b="0" strike="noStrike" spc="-1">
              <a:solidFill>
                <a:srgbClr val="000000"/>
              </a:solidFill>
              <a:latin typeface="Arial"/>
            </a:endParaRPr>
          </a:p>
        </p:txBody>
      </p:sp>
      <p:sp>
        <p:nvSpPr>
          <p:cNvPr id="405" name="Text 21"/>
          <p:cNvSpPr/>
          <p:nvPr/>
        </p:nvSpPr>
        <p:spPr>
          <a:xfrm>
            <a:off x="9573840" y="2532960"/>
            <a:ext cx="170028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builds path</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checks constraints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accepts / rejects</a:t>
            </a:r>
            <a:endParaRPr lang="en-US" sz="1300" b="0" strike="noStrike" spc="-1">
              <a:solidFill>
                <a:srgbClr val="000000"/>
              </a:solidFill>
              <a:latin typeface="Arial"/>
            </a:endParaRPr>
          </a:p>
        </p:txBody>
      </p:sp>
      <p:sp>
        <p:nvSpPr>
          <p:cNvPr id="406" name="Shape 22"/>
          <p:cNvSpPr/>
          <p:nvPr/>
        </p:nvSpPr>
        <p:spPr>
          <a:xfrm>
            <a:off x="3090600" y="3035520"/>
            <a:ext cx="56700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407" name="Shape 23"/>
          <p:cNvSpPr/>
          <p:nvPr/>
        </p:nvSpPr>
        <p:spPr>
          <a:xfrm>
            <a:off x="6199560" y="3035520"/>
            <a:ext cx="56700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408" name="Shape 24"/>
          <p:cNvSpPr/>
          <p:nvPr/>
        </p:nvSpPr>
        <p:spPr>
          <a:xfrm>
            <a:off x="9308520" y="3035520"/>
            <a:ext cx="363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409" name="Text 25"/>
          <p:cNvSpPr/>
          <p:nvPr/>
        </p:nvSpPr>
        <p:spPr>
          <a:xfrm>
            <a:off x="1024200" y="4251960"/>
            <a:ext cx="16912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0" strike="noStrike" spc="-1">
                <a:solidFill>
                  <a:srgbClr val="C0504D"/>
                </a:solidFill>
                <a:latin typeface="Calibri"/>
                <a:ea typeface="Calibri"/>
              </a:rPr>
              <a:t>Trust anchor</a:t>
            </a:r>
            <a:endParaRPr lang="en-US" sz="1100" b="0" strike="noStrike" spc="-1">
              <a:solidFill>
                <a:srgbClr val="000000"/>
              </a:solidFill>
              <a:latin typeface="Arial"/>
            </a:endParaRPr>
          </a:p>
        </p:txBody>
      </p:sp>
      <p:sp>
        <p:nvSpPr>
          <p:cNvPr id="410" name="Text 26"/>
          <p:cNvSpPr/>
          <p:nvPr/>
        </p:nvSpPr>
        <p:spPr>
          <a:xfrm>
            <a:off x="4069080" y="4251960"/>
            <a:ext cx="17827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0" strike="noStrike" spc="-1">
                <a:solidFill>
                  <a:srgbClr val="F79646"/>
                </a:solidFill>
                <a:latin typeface="Calibri"/>
                <a:ea typeface="Calibri"/>
              </a:rPr>
              <a:t>delegated trust</a:t>
            </a:r>
            <a:endParaRPr lang="en-US" sz="1100" b="0" strike="noStrike" spc="-1">
              <a:solidFill>
                <a:srgbClr val="000000"/>
              </a:solidFill>
              <a:latin typeface="Arial"/>
            </a:endParaRPr>
          </a:p>
        </p:txBody>
      </p:sp>
      <p:sp>
        <p:nvSpPr>
          <p:cNvPr id="411" name="Text 27"/>
          <p:cNvSpPr/>
          <p:nvPr/>
        </p:nvSpPr>
        <p:spPr>
          <a:xfrm>
            <a:off x="7132320" y="4251960"/>
            <a:ext cx="18284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0" strike="noStrike" spc="-1">
                <a:solidFill>
                  <a:srgbClr val="70AD47"/>
                </a:solidFill>
                <a:latin typeface="Calibri"/>
                <a:ea typeface="Calibri"/>
              </a:rPr>
              <a:t>presented by server</a:t>
            </a:r>
            <a:endParaRPr lang="en-US" sz="1100" b="0" strike="noStrike" spc="-1">
              <a:solidFill>
                <a:srgbClr val="000000"/>
              </a:solidFill>
              <a:latin typeface="Arial"/>
            </a:endParaRPr>
          </a:p>
        </p:txBody>
      </p:sp>
      <p:sp>
        <p:nvSpPr>
          <p:cNvPr id="412" name="PlaceHolder 1"/>
          <p:cNvSpPr>
            <a:spLocks noGrp="1"/>
          </p:cNvSpPr>
          <p:nvPr>
            <p:ph type="sldNum" idx="17"/>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08B537F9-8F48-4100-9A5F-35FEA1386F8E}" type="slidenum">
              <a:rPr lang="en-US" sz="800" b="0" strike="noStrike" spc="-1">
                <a:solidFill>
                  <a:srgbClr val="64748B"/>
                </a:solidFill>
                <a:latin typeface="Calibri"/>
                <a:ea typeface="Calibri"/>
              </a:rPr>
              <a:t>12</a:t>
            </a:fld>
            <a:endParaRPr lang="en-US" sz="800" b="0" strike="noStrike" spc="-1">
              <a:solidFill>
                <a:srgbClr val="000000"/>
              </a:solidFill>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CHAIN CHECK</a:t>
            </a:r>
            <a:endParaRPr lang="en-US" sz="1000" b="0" strike="noStrike" spc="-1">
              <a:solidFill>
                <a:srgbClr val="000000"/>
              </a:solidFill>
              <a:latin typeface="Arial"/>
            </a:endParaRPr>
          </a:p>
        </p:txBody>
      </p:sp>
      <p:sp>
        <p:nvSpPr>
          <p:cNvPr id="414"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A valid signature is necessary-but not sufficient</a:t>
            </a:r>
            <a:endParaRPr lang="en-US" sz="2700" b="0" strike="noStrike" spc="-1">
              <a:solidFill>
                <a:srgbClr val="000000"/>
              </a:solidFill>
              <a:latin typeface="Arial"/>
            </a:endParaRPr>
          </a:p>
        </p:txBody>
      </p:sp>
      <p:sp>
        <p:nvSpPr>
          <p:cNvPr id="415"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Validation is a bundle of checks.</a:t>
            </a:r>
            <a:endParaRPr lang="en-US" sz="1250" b="0" strike="noStrike" spc="-1">
              <a:solidFill>
                <a:srgbClr val="000000"/>
              </a:solidFill>
              <a:latin typeface="Arial"/>
            </a:endParaRPr>
          </a:p>
        </p:txBody>
      </p:sp>
      <p:sp>
        <p:nvSpPr>
          <p:cNvPr id="417" name="Shape 6"/>
          <p:cNvSpPr/>
          <p:nvPr/>
        </p:nvSpPr>
        <p:spPr>
          <a:xfrm>
            <a:off x="841320" y="1783080"/>
            <a:ext cx="338040" cy="338040"/>
          </a:xfrm>
          <a:prstGeom prst="ellipse">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18" name="Text 7"/>
          <p:cNvSpPr/>
          <p:nvPr/>
        </p:nvSpPr>
        <p:spPr>
          <a:xfrm>
            <a:off x="841320" y="1874520"/>
            <a:ext cx="338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1</a:t>
            </a:r>
            <a:endParaRPr lang="en-US" sz="1100" b="0" strike="noStrike" spc="-1">
              <a:solidFill>
                <a:srgbClr val="000000"/>
              </a:solidFill>
              <a:latin typeface="Arial"/>
            </a:endParaRPr>
          </a:p>
        </p:txBody>
      </p:sp>
      <p:sp>
        <p:nvSpPr>
          <p:cNvPr id="419" name="Text 8"/>
          <p:cNvSpPr/>
          <p:nvPr/>
        </p:nvSpPr>
        <p:spPr>
          <a:xfrm>
            <a:off x="1389960" y="1819800"/>
            <a:ext cx="13255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defTabSz="914400">
              <a:lnSpc>
                <a:spcPct val="100000"/>
              </a:lnSpc>
              <a:tabLst>
                <a:tab pos="0" algn="l"/>
              </a:tabLst>
            </a:pPr>
            <a:r>
              <a:rPr lang="en-US" sz="1500" b="1" strike="noStrike" spc="-1">
                <a:solidFill>
                  <a:srgbClr val="1F497D"/>
                </a:solidFill>
                <a:latin typeface="Calibri"/>
                <a:ea typeface="Calibri"/>
              </a:rPr>
              <a:t>Path</a:t>
            </a:r>
            <a:endParaRPr lang="en-US" sz="1500" b="0" strike="noStrike" spc="-1">
              <a:solidFill>
                <a:srgbClr val="000000"/>
              </a:solidFill>
              <a:latin typeface="Arial"/>
            </a:endParaRPr>
          </a:p>
        </p:txBody>
      </p:sp>
      <p:sp>
        <p:nvSpPr>
          <p:cNvPr id="420" name="Text 9"/>
          <p:cNvSpPr/>
          <p:nvPr/>
        </p:nvSpPr>
        <p:spPr>
          <a:xfrm>
            <a:off x="2743200" y="1819800"/>
            <a:ext cx="4571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400" b="0" strike="noStrike" spc="-1">
                <a:solidFill>
                  <a:srgbClr val="203040"/>
                </a:solidFill>
                <a:latin typeface="Calibri"/>
                <a:ea typeface="Calibri"/>
              </a:rPr>
              <a:t>Can I reach a trusted root?</a:t>
            </a:r>
            <a:endParaRPr lang="en-US" sz="1400" b="0" strike="noStrike" spc="-1">
              <a:solidFill>
                <a:srgbClr val="000000"/>
              </a:solidFill>
              <a:latin typeface="Arial"/>
            </a:endParaRPr>
          </a:p>
        </p:txBody>
      </p:sp>
      <p:sp>
        <p:nvSpPr>
          <p:cNvPr id="422" name="Shape 11"/>
          <p:cNvSpPr/>
          <p:nvPr/>
        </p:nvSpPr>
        <p:spPr>
          <a:xfrm>
            <a:off x="841320" y="2395800"/>
            <a:ext cx="338040" cy="33804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23" name="Text 12"/>
          <p:cNvSpPr/>
          <p:nvPr/>
        </p:nvSpPr>
        <p:spPr>
          <a:xfrm>
            <a:off x="841320" y="2487240"/>
            <a:ext cx="338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2</a:t>
            </a:r>
            <a:endParaRPr lang="en-US" sz="1100" b="0" strike="noStrike" spc="-1">
              <a:solidFill>
                <a:srgbClr val="000000"/>
              </a:solidFill>
              <a:latin typeface="Arial"/>
            </a:endParaRPr>
          </a:p>
        </p:txBody>
      </p:sp>
      <p:sp>
        <p:nvSpPr>
          <p:cNvPr id="424" name="Text 13"/>
          <p:cNvSpPr/>
          <p:nvPr/>
        </p:nvSpPr>
        <p:spPr>
          <a:xfrm>
            <a:off x="1389960" y="2432160"/>
            <a:ext cx="13255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defTabSz="914400">
              <a:lnSpc>
                <a:spcPct val="100000"/>
              </a:lnSpc>
              <a:tabLst>
                <a:tab pos="0" algn="l"/>
              </a:tabLst>
            </a:pPr>
            <a:r>
              <a:rPr lang="en-US" sz="1500" b="1" strike="noStrike" spc="-1">
                <a:solidFill>
                  <a:srgbClr val="1F497D"/>
                </a:solidFill>
                <a:latin typeface="Calibri"/>
                <a:ea typeface="Calibri"/>
              </a:rPr>
              <a:t>Signature</a:t>
            </a:r>
            <a:endParaRPr lang="en-US" sz="1500" b="0" strike="noStrike" spc="-1">
              <a:solidFill>
                <a:srgbClr val="000000"/>
              </a:solidFill>
              <a:latin typeface="Arial"/>
            </a:endParaRPr>
          </a:p>
        </p:txBody>
      </p:sp>
      <p:sp>
        <p:nvSpPr>
          <p:cNvPr id="425" name="Text 14"/>
          <p:cNvSpPr/>
          <p:nvPr/>
        </p:nvSpPr>
        <p:spPr>
          <a:xfrm>
            <a:off x="2743200" y="2432160"/>
            <a:ext cx="4571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400" b="0" strike="noStrike" spc="-1">
                <a:solidFill>
                  <a:srgbClr val="203040"/>
                </a:solidFill>
                <a:latin typeface="Calibri"/>
                <a:ea typeface="Calibri"/>
              </a:rPr>
              <a:t>Does each issuer sign the child?</a:t>
            </a:r>
            <a:endParaRPr lang="en-US" sz="1400" b="0" strike="noStrike" spc="-1">
              <a:solidFill>
                <a:srgbClr val="000000"/>
              </a:solidFill>
              <a:latin typeface="Arial"/>
            </a:endParaRPr>
          </a:p>
        </p:txBody>
      </p:sp>
      <p:sp>
        <p:nvSpPr>
          <p:cNvPr id="427" name="Shape 16"/>
          <p:cNvSpPr/>
          <p:nvPr/>
        </p:nvSpPr>
        <p:spPr>
          <a:xfrm>
            <a:off x="841320" y="3008520"/>
            <a:ext cx="338040" cy="3380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28" name="Text 17"/>
          <p:cNvSpPr/>
          <p:nvPr/>
        </p:nvSpPr>
        <p:spPr>
          <a:xfrm>
            <a:off x="841320" y="3099960"/>
            <a:ext cx="338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3</a:t>
            </a:r>
            <a:endParaRPr lang="en-US" sz="1100" b="0" strike="noStrike" spc="-1">
              <a:solidFill>
                <a:srgbClr val="000000"/>
              </a:solidFill>
              <a:latin typeface="Arial"/>
            </a:endParaRPr>
          </a:p>
        </p:txBody>
      </p:sp>
      <p:sp>
        <p:nvSpPr>
          <p:cNvPr id="429" name="Text 18"/>
          <p:cNvSpPr/>
          <p:nvPr/>
        </p:nvSpPr>
        <p:spPr>
          <a:xfrm>
            <a:off x="1389960" y="3044880"/>
            <a:ext cx="13255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defTabSz="914400">
              <a:lnSpc>
                <a:spcPct val="100000"/>
              </a:lnSpc>
              <a:tabLst>
                <a:tab pos="0" algn="l"/>
              </a:tabLst>
            </a:pPr>
            <a:r>
              <a:rPr lang="en-US" sz="1500" b="1" strike="noStrike" spc="-1">
                <a:solidFill>
                  <a:srgbClr val="1F497D"/>
                </a:solidFill>
                <a:latin typeface="Calibri"/>
                <a:ea typeface="Calibri"/>
              </a:rPr>
              <a:t>Time</a:t>
            </a:r>
            <a:endParaRPr lang="en-US" sz="1500" b="0" strike="noStrike" spc="-1">
              <a:solidFill>
                <a:srgbClr val="000000"/>
              </a:solidFill>
              <a:latin typeface="Arial"/>
            </a:endParaRPr>
          </a:p>
        </p:txBody>
      </p:sp>
      <p:sp>
        <p:nvSpPr>
          <p:cNvPr id="430" name="Text 19"/>
          <p:cNvSpPr/>
          <p:nvPr/>
        </p:nvSpPr>
        <p:spPr>
          <a:xfrm>
            <a:off x="2743200" y="3044880"/>
            <a:ext cx="4571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400" b="0" strike="noStrike" spc="-1">
                <a:solidFill>
                  <a:srgbClr val="203040"/>
                </a:solidFill>
                <a:latin typeface="Calibri"/>
                <a:ea typeface="Calibri"/>
              </a:rPr>
              <a:t>Is NotBefore/NotAfter valid?</a:t>
            </a:r>
            <a:endParaRPr lang="en-US" sz="1400" b="0" strike="noStrike" spc="-1">
              <a:solidFill>
                <a:srgbClr val="000000"/>
              </a:solidFill>
              <a:latin typeface="Arial"/>
            </a:endParaRPr>
          </a:p>
        </p:txBody>
      </p:sp>
      <p:sp>
        <p:nvSpPr>
          <p:cNvPr id="432" name="Shape 21"/>
          <p:cNvSpPr/>
          <p:nvPr/>
        </p:nvSpPr>
        <p:spPr>
          <a:xfrm>
            <a:off x="841320" y="3620880"/>
            <a:ext cx="338040" cy="3380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33" name="Text 22"/>
          <p:cNvSpPr/>
          <p:nvPr/>
        </p:nvSpPr>
        <p:spPr>
          <a:xfrm>
            <a:off x="841320" y="3712320"/>
            <a:ext cx="338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4</a:t>
            </a:r>
            <a:endParaRPr lang="en-US" sz="1100" b="0" strike="noStrike" spc="-1">
              <a:solidFill>
                <a:srgbClr val="000000"/>
              </a:solidFill>
              <a:latin typeface="Arial"/>
            </a:endParaRPr>
          </a:p>
        </p:txBody>
      </p:sp>
      <p:sp>
        <p:nvSpPr>
          <p:cNvPr id="434" name="Text 23"/>
          <p:cNvSpPr/>
          <p:nvPr/>
        </p:nvSpPr>
        <p:spPr>
          <a:xfrm>
            <a:off x="1389960" y="3657600"/>
            <a:ext cx="13255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defTabSz="914400">
              <a:lnSpc>
                <a:spcPct val="100000"/>
              </a:lnSpc>
              <a:tabLst>
                <a:tab pos="0" algn="l"/>
              </a:tabLst>
            </a:pPr>
            <a:r>
              <a:rPr lang="en-US" sz="1500" b="1" strike="noStrike" spc="-1">
                <a:solidFill>
                  <a:srgbClr val="1F497D"/>
                </a:solidFill>
                <a:latin typeface="Calibri"/>
                <a:ea typeface="Calibri"/>
              </a:rPr>
              <a:t>Name</a:t>
            </a:r>
            <a:endParaRPr lang="en-US" sz="1500" b="0" strike="noStrike" spc="-1">
              <a:solidFill>
                <a:srgbClr val="000000"/>
              </a:solidFill>
              <a:latin typeface="Arial"/>
            </a:endParaRPr>
          </a:p>
        </p:txBody>
      </p:sp>
      <p:sp>
        <p:nvSpPr>
          <p:cNvPr id="435" name="Text 24"/>
          <p:cNvSpPr/>
          <p:nvPr/>
        </p:nvSpPr>
        <p:spPr>
          <a:xfrm>
            <a:off x="2743200" y="3657600"/>
            <a:ext cx="4571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400" b="0" strike="noStrike" spc="-1">
                <a:solidFill>
                  <a:srgbClr val="203040"/>
                </a:solidFill>
                <a:latin typeface="Calibri"/>
                <a:ea typeface="Calibri"/>
              </a:rPr>
              <a:t>Does SAN match the requested host?</a:t>
            </a:r>
            <a:endParaRPr lang="en-US" sz="1400" b="0" strike="noStrike" spc="-1">
              <a:solidFill>
                <a:srgbClr val="000000"/>
              </a:solidFill>
              <a:latin typeface="Arial"/>
            </a:endParaRPr>
          </a:p>
        </p:txBody>
      </p:sp>
      <p:sp>
        <p:nvSpPr>
          <p:cNvPr id="437" name="Shape 26"/>
          <p:cNvSpPr/>
          <p:nvPr/>
        </p:nvSpPr>
        <p:spPr>
          <a:xfrm>
            <a:off x="841320" y="4233600"/>
            <a:ext cx="338040" cy="338040"/>
          </a:xfrm>
          <a:prstGeom prst="ellipse">
            <a:avLst/>
          </a:prstGeom>
          <a:solidFill>
            <a:srgbClr val="8064A2"/>
          </a:solidFill>
          <a:ln w="1270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38" name="Text 27"/>
          <p:cNvSpPr/>
          <p:nvPr/>
        </p:nvSpPr>
        <p:spPr>
          <a:xfrm>
            <a:off x="841320" y="4325040"/>
            <a:ext cx="338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5</a:t>
            </a:r>
            <a:endParaRPr lang="en-US" sz="1100" b="0" strike="noStrike" spc="-1">
              <a:solidFill>
                <a:srgbClr val="000000"/>
              </a:solidFill>
              <a:latin typeface="Arial"/>
            </a:endParaRPr>
          </a:p>
        </p:txBody>
      </p:sp>
      <p:sp>
        <p:nvSpPr>
          <p:cNvPr id="439" name="Text 28"/>
          <p:cNvSpPr/>
          <p:nvPr/>
        </p:nvSpPr>
        <p:spPr>
          <a:xfrm>
            <a:off x="1389960" y="4270320"/>
            <a:ext cx="13255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defTabSz="914400">
              <a:lnSpc>
                <a:spcPct val="100000"/>
              </a:lnSpc>
              <a:tabLst>
                <a:tab pos="0" algn="l"/>
              </a:tabLst>
            </a:pPr>
            <a:r>
              <a:rPr lang="en-US" sz="1500" b="1" strike="noStrike" spc="-1">
                <a:solidFill>
                  <a:srgbClr val="1F497D"/>
                </a:solidFill>
                <a:latin typeface="Calibri"/>
                <a:ea typeface="Calibri"/>
              </a:rPr>
              <a:t>Usage</a:t>
            </a:r>
            <a:endParaRPr lang="en-US" sz="1500" b="0" strike="noStrike" spc="-1">
              <a:solidFill>
                <a:srgbClr val="000000"/>
              </a:solidFill>
              <a:latin typeface="Arial"/>
            </a:endParaRPr>
          </a:p>
        </p:txBody>
      </p:sp>
      <p:sp>
        <p:nvSpPr>
          <p:cNvPr id="440" name="Text 29"/>
          <p:cNvSpPr/>
          <p:nvPr/>
        </p:nvSpPr>
        <p:spPr>
          <a:xfrm>
            <a:off x="2743200" y="4270320"/>
            <a:ext cx="4571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400" b="0" strike="noStrike" spc="-1">
                <a:solidFill>
                  <a:srgbClr val="203040"/>
                </a:solidFill>
                <a:latin typeface="Calibri"/>
                <a:ea typeface="Calibri"/>
              </a:rPr>
              <a:t>Do CA/KeyUsage/EKU allow this role?</a:t>
            </a:r>
            <a:endParaRPr lang="en-US" sz="1400" b="0" strike="noStrike" spc="-1">
              <a:solidFill>
                <a:srgbClr val="000000"/>
              </a:solidFill>
              <a:latin typeface="Arial"/>
            </a:endParaRPr>
          </a:p>
        </p:txBody>
      </p:sp>
      <p:sp>
        <p:nvSpPr>
          <p:cNvPr id="442" name="Shape 31"/>
          <p:cNvSpPr/>
          <p:nvPr/>
        </p:nvSpPr>
        <p:spPr>
          <a:xfrm>
            <a:off x="841320" y="4846320"/>
            <a:ext cx="338040" cy="33804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43" name="Text 32"/>
          <p:cNvSpPr/>
          <p:nvPr/>
        </p:nvSpPr>
        <p:spPr>
          <a:xfrm>
            <a:off x="841320" y="4937760"/>
            <a:ext cx="338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6</a:t>
            </a:r>
            <a:endParaRPr lang="en-US" sz="1100" b="0" strike="noStrike" spc="-1">
              <a:solidFill>
                <a:srgbClr val="000000"/>
              </a:solidFill>
              <a:latin typeface="Arial"/>
            </a:endParaRPr>
          </a:p>
        </p:txBody>
      </p:sp>
      <p:sp>
        <p:nvSpPr>
          <p:cNvPr id="444" name="Text 33"/>
          <p:cNvSpPr/>
          <p:nvPr/>
        </p:nvSpPr>
        <p:spPr>
          <a:xfrm>
            <a:off x="1389960" y="4883040"/>
            <a:ext cx="132552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defTabSz="914400">
              <a:lnSpc>
                <a:spcPct val="100000"/>
              </a:lnSpc>
              <a:tabLst>
                <a:tab pos="0" algn="l"/>
              </a:tabLst>
            </a:pPr>
            <a:r>
              <a:rPr lang="en-US" sz="1500" b="1" strike="noStrike" spc="-1">
                <a:solidFill>
                  <a:srgbClr val="1F497D"/>
                </a:solidFill>
                <a:latin typeface="Calibri"/>
                <a:ea typeface="Calibri"/>
              </a:rPr>
              <a:t>Status</a:t>
            </a:r>
            <a:endParaRPr lang="en-US" sz="1500" b="0" strike="noStrike" spc="-1">
              <a:solidFill>
                <a:srgbClr val="000000"/>
              </a:solidFill>
              <a:latin typeface="Arial"/>
            </a:endParaRPr>
          </a:p>
        </p:txBody>
      </p:sp>
      <p:sp>
        <p:nvSpPr>
          <p:cNvPr id="445" name="Text 34"/>
          <p:cNvSpPr/>
          <p:nvPr/>
        </p:nvSpPr>
        <p:spPr>
          <a:xfrm>
            <a:off x="2743200" y="4883040"/>
            <a:ext cx="4571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400" b="0" strike="noStrike" spc="-1">
                <a:solidFill>
                  <a:srgbClr val="203040"/>
                </a:solidFill>
                <a:latin typeface="Calibri"/>
                <a:ea typeface="Calibri"/>
              </a:rPr>
              <a:t>Is it revoked or otherwise distrusted?</a:t>
            </a:r>
            <a:endParaRPr lang="en-US" sz="1400" b="0" strike="noStrike" spc="-1">
              <a:solidFill>
                <a:srgbClr val="000000"/>
              </a:solidFill>
              <a:latin typeface="Arial"/>
            </a:endParaRPr>
          </a:p>
        </p:txBody>
      </p:sp>
      <p:sp>
        <p:nvSpPr>
          <p:cNvPr id="451" name="PlaceHolder 1"/>
          <p:cNvSpPr>
            <a:spLocks noGrp="1"/>
          </p:cNvSpPr>
          <p:nvPr>
            <p:ph type="sldNum" idx="18"/>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753A945A-3217-453A-A5D5-3CBE6851B748}" type="slidenum">
              <a:rPr lang="en-US" sz="800" b="0" strike="noStrike" spc="-1">
                <a:solidFill>
                  <a:srgbClr val="64748B"/>
                </a:solidFill>
                <a:latin typeface="Calibri"/>
                <a:ea typeface="Calibri"/>
              </a:rPr>
              <a:t>13</a:t>
            </a:fld>
            <a:endParaRPr lang="en-US" sz="800" b="0" strike="noStrike" spc="-1">
              <a:solidFill>
                <a:srgbClr val="000000"/>
              </a:solidFill>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CA HIERARCHY</a:t>
            </a:r>
            <a:endParaRPr lang="en-US" sz="1000" b="0" strike="noStrike" spc="-1">
              <a:solidFill>
                <a:srgbClr val="000000"/>
              </a:solidFill>
              <a:latin typeface="Arial"/>
            </a:endParaRPr>
          </a:p>
        </p:txBody>
      </p:sp>
      <p:sp>
        <p:nvSpPr>
          <p:cNvPr id="453"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Single-tier vs. two-tier CA</a:t>
            </a:r>
            <a:endParaRPr lang="en-US" sz="2700" b="0" strike="noStrike" spc="-1">
              <a:solidFill>
                <a:srgbClr val="000000"/>
              </a:solidFill>
              <a:latin typeface="Arial"/>
            </a:endParaRPr>
          </a:p>
        </p:txBody>
      </p:sp>
      <p:sp>
        <p:nvSpPr>
          <p:cNvPr id="454"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Separate the trust anchor from the busy signing machine.</a:t>
            </a:r>
            <a:endParaRPr lang="en-US" sz="1250" b="0" strike="noStrike" spc="-1">
              <a:solidFill>
                <a:srgbClr val="000000"/>
              </a:solidFill>
              <a:latin typeface="Arial"/>
            </a:endParaRPr>
          </a:p>
        </p:txBody>
      </p:sp>
      <p:sp>
        <p:nvSpPr>
          <p:cNvPr id="456" name="Shape 6"/>
          <p:cNvSpPr/>
          <p:nvPr/>
        </p:nvSpPr>
        <p:spPr>
          <a:xfrm>
            <a:off x="685800" y="1828800"/>
            <a:ext cx="5257440" cy="3245760"/>
          </a:xfrm>
          <a:prstGeom prst="roundRect">
            <a:avLst>
              <a:gd name="adj" fmla="val 2254"/>
            </a:avLst>
          </a:prstGeom>
          <a:solidFill>
            <a:srgbClr val="FFF3E7"/>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57" name="Text 7"/>
          <p:cNvSpPr/>
          <p:nvPr/>
        </p:nvSpPr>
        <p:spPr>
          <a:xfrm>
            <a:off x="960120" y="2103120"/>
            <a:ext cx="470880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2200" b="1" strike="noStrike" spc="-1">
                <a:solidFill>
                  <a:srgbClr val="C0504D"/>
                </a:solidFill>
                <a:latin typeface="Calibri"/>
                <a:ea typeface="Calibri"/>
              </a:rPr>
              <a:t>SINGLE-TIER</a:t>
            </a:r>
            <a:endParaRPr lang="en-US" sz="2200" b="0" strike="noStrike" spc="-1">
              <a:solidFill>
                <a:srgbClr val="000000"/>
              </a:solidFill>
              <a:latin typeface="Arial"/>
            </a:endParaRPr>
          </a:p>
        </p:txBody>
      </p:sp>
      <p:sp>
        <p:nvSpPr>
          <p:cNvPr id="458" name="Shape 8"/>
          <p:cNvSpPr/>
          <p:nvPr/>
        </p:nvSpPr>
        <p:spPr>
          <a:xfrm>
            <a:off x="2148840" y="2834640"/>
            <a:ext cx="2285640" cy="1096920"/>
          </a:xfrm>
          <a:prstGeom prst="roundRect">
            <a:avLst>
              <a:gd name="adj" fmla="val 6667"/>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59" name="Shape 9"/>
          <p:cNvSpPr/>
          <p:nvPr/>
        </p:nvSpPr>
        <p:spPr>
          <a:xfrm>
            <a:off x="2148840" y="2834640"/>
            <a:ext cx="2285640" cy="292320"/>
          </a:xfrm>
          <a:prstGeom prst="roundRect">
            <a:avLst>
              <a:gd name="adj" fmla="val 25000"/>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0" name="Text 10"/>
          <p:cNvSpPr/>
          <p:nvPr/>
        </p:nvSpPr>
        <p:spPr>
          <a:xfrm>
            <a:off x="2258640" y="2871360"/>
            <a:ext cx="206604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ONE CA</a:t>
            </a:r>
            <a:endParaRPr lang="en-US" sz="1100" b="0" strike="noStrike" spc="-1">
              <a:solidFill>
                <a:srgbClr val="000000"/>
              </a:solidFill>
              <a:latin typeface="Arial"/>
            </a:endParaRPr>
          </a:p>
        </p:txBody>
      </p:sp>
      <p:sp>
        <p:nvSpPr>
          <p:cNvPr id="461" name="Text 11"/>
          <p:cNvSpPr/>
          <p:nvPr/>
        </p:nvSpPr>
        <p:spPr>
          <a:xfrm>
            <a:off x="2258640" y="3246120"/>
            <a:ext cx="2066040" cy="594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trust + issuance</a:t>
            </a:r>
            <a:endParaRPr lang="en-US" sz="1300" b="0" strike="noStrike" spc="-1">
              <a:solidFill>
                <a:srgbClr val="000000"/>
              </a:solidFill>
              <a:latin typeface="Arial"/>
            </a:endParaRPr>
          </a:p>
        </p:txBody>
      </p:sp>
      <p:sp>
        <p:nvSpPr>
          <p:cNvPr id="462" name="Text 12"/>
          <p:cNvSpPr/>
          <p:nvPr/>
        </p:nvSpPr>
        <p:spPr>
          <a:xfrm>
            <a:off x="1078920" y="4370760"/>
            <a:ext cx="448020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3333" lnSpcReduction="20000"/>
          </a:bodyPr>
          <a:lstStyle/>
          <a:p>
            <a:pPr algn="ctr" defTabSz="914400">
              <a:lnSpc>
                <a:spcPct val="100000"/>
              </a:lnSpc>
              <a:tabLst>
                <a:tab pos="0" algn="l"/>
              </a:tabLst>
            </a:pPr>
            <a:r>
              <a:rPr lang="en-US" sz="1500" b="0" strike="noStrike" spc="-1">
                <a:solidFill>
                  <a:srgbClr val="64748B"/>
                </a:solidFill>
                <a:latin typeface="Calibri"/>
                <a:ea typeface="Calibri"/>
              </a:rPr>
              <a:t>simple to deploy</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large blast radius</a:t>
            </a:r>
            <a:endParaRPr lang="en-US" sz="1500" b="0" strike="noStrike" spc="-1">
              <a:solidFill>
                <a:srgbClr val="000000"/>
              </a:solidFill>
              <a:latin typeface="Arial"/>
            </a:endParaRPr>
          </a:p>
        </p:txBody>
      </p:sp>
      <p:sp>
        <p:nvSpPr>
          <p:cNvPr id="463" name="Shape 13"/>
          <p:cNvSpPr/>
          <p:nvPr/>
        </p:nvSpPr>
        <p:spPr>
          <a:xfrm>
            <a:off x="6263640" y="1828800"/>
            <a:ext cx="5257440" cy="3245760"/>
          </a:xfrm>
          <a:prstGeom prst="roundRect">
            <a:avLst>
              <a:gd name="adj" fmla="val 2254"/>
            </a:avLst>
          </a:prstGeom>
          <a:solidFill>
            <a:srgbClr val="EAF7F9"/>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64" name="Text 14"/>
          <p:cNvSpPr/>
          <p:nvPr/>
        </p:nvSpPr>
        <p:spPr>
          <a:xfrm>
            <a:off x="6537960" y="2103120"/>
            <a:ext cx="470880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2200" b="1" strike="noStrike" spc="-1">
                <a:solidFill>
                  <a:srgbClr val="4BACC6"/>
                </a:solidFill>
                <a:latin typeface="Calibri"/>
                <a:ea typeface="Calibri"/>
              </a:rPr>
              <a:t>TWO-TIER</a:t>
            </a:r>
            <a:endParaRPr lang="en-US" sz="2200" b="0" strike="noStrike" spc="-1">
              <a:solidFill>
                <a:srgbClr val="000000"/>
              </a:solidFill>
              <a:latin typeface="Arial"/>
            </a:endParaRPr>
          </a:p>
        </p:txBody>
      </p:sp>
      <p:sp>
        <p:nvSpPr>
          <p:cNvPr id="465" name="Shape 15"/>
          <p:cNvSpPr/>
          <p:nvPr/>
        </p:nvSpPr>
        <p:spPr>
          <a:xfrm>
            <a:off x="6720840" y="2761560"/>
            <a:ext cx="1919880" cy="1142640"/>
          </a:xfrm>
          <a:prstGeom prst="roundRect">
            <a:avLst>
              <a:gd name="adj" fmla="val 6400"/>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66" name="Shape 16"/>
          <p:cNvSpPr/>
          <p:nvPr/>
        </p:nvSpPr>
        <p:spPr>
          <a:xfrm>
            <a:off x="6720840" y="2761560"/>
            <a:ext cx="1919880" cy="292320"/>
          </a:xfrm>
          <a:prstGeom prst="roundRect">
            <a:avLst>
              <a:gd name="adj" fmla="val 25000"/>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7" name="Text 17"/>
          <p:cNvSpPr/>
          <p:nvPr/>
        </p:nvSpPr>
        <p:spPr>
          <a:xfrm>
            <a:off x="6830640" y="2797920"/>
            <a:ext cx="17002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ROOT</a:t>
            </a:r>
            <a:endParaRPr lang="en-US" sz="1100" b="0" strike="noStrike" spc="-1">
              <a:solidFill>
                <a:srgbClr val="000000"/>
              </a:solidFill>
              <a:latin typeface="Arial"/>
            </a:endParaRPr>
          </a:p>
        </p:txBody>
      </p:sp>
      <p:sp>
        <p:nvSpPr>
          <p:cNvPr id="468" name="Text 18"/>
          <p:cNvSpPr/>
          <p:nvPr/>
        </p:nvSpPr>
        <p:spPr>
          <a:xfrm>
            <a:off x="6830640" y="3173040"/>
            <a:ext cx="1700280" cy="639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offline trust anchor</a:t>
            </a:r>
            <a:endParaRPr lang="en-US" sz="1300" b="0" strike="noStrike" spc="-1">
              <a:solidFill>
                <a:srgbClr val="000000"/>
              </a:solidFill>
              <a:latin typeface="Arial"/>
            </a:endParaRPr>
          </a:p>
        </p:txBody>
      </p:sp>
      <p:sp>
        <p:nvSpPr>
          <p:cNvPr id="469" name="Shape 19"/>
          <p:cNvSpPr/>
          <p:nvPr/>
        </p:nvSpPr>
        <p:spPr>
          <a:xfrm>
            <a:off x="9144000" y="2761560"/>
            <a:ext cx="1919880" cy="1142640"/>
          </a:xfrm>
          <a:prstGeom prst="roundRect">
            <a:avLst>
              <a:gd name="adj" fmla="val 6400"/>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0" name="Shape 20"/>
          <p:cNvSpPr/>
          <p:nvPr/>
        </p:nvSpPr>
        <p:spPr>
          <a:xfrm>
            <a:off x="9144000" y="2761560"/>
            <a:ext cx="1919880" cy="292320"/>
          </a:xfrm>
          <a:prstGeom prst="roundRect">
            <a:avLst>
              <a:gd name="adj" fmla="val 25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71" name="Text 21"/>
          <p:cNvSpPr/>
          <p:nvPr/>
        </p:nvSpPr>
        <p:spPr>
          <a:xfrm>
            <a:off x="9253800" y="2797920"/>
            <a:ext cx="17002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INTERMEDIATE</a:t>
            </a:r>
            <a:endParaRPr lang="en-US" sz="1100" b="0" strike="noStrike" spc="-1">
              <a:solidFill>
                <a:srgbClr val="000000"/>
              </a:solidFill>
              <a:latin typeface="Arial"/>
            </a:endParaRPr>
          </a:p>
        </p:txBody>
      </p:sp>
      <p:sp>
        <p:nvSpPr>
          <p:cNvPr id="472" name="Text 22"/>
          <p:cNvSpPr/>
          <p:nvPr/>
        </p:nvSpPr>
        <p:spPr>
          <a:xfrm>
            <a:off x="9253800" y="3173040"/>
            <a:ext cx="1700280" cy="639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online issuer</a:t>
            </a:r>
            <a:endParaRPr lang="en-US" sz="1300" b="0" strike="noStrike" spc="-1">
              <a:solidFill>
                <a:srgbClr val="000000"/>
              </a:solidFill>
              <a:latin typeface="Arial"/>
            </a:endParaRPr>
          </a:p>
        </p:txBody>
      </p:sp>
      <p:sp>
        <p:nvSpPr>
          <p:cNvPr id="473" name="Shape 23"/>
          <p:cNvSpPr/>
          <p:nvPr/>
        </p:nvSpPr>
        <p:spPr>
          <a:xfrm>
            <a:off x="8732520" y="3337560"/>
            <a:ext cx="3200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474" name="Text 24"/>
          <p:cNvSpPr/>
          <p:nvPr/>
        </p:nvSpPr>
        <p:spPr>
          <a:xfrm>
            <a:off x="6537960" y="4370760"/>
            <a:ext cx="470880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3333" lnSpcReduction="20000"/>
          </a:bodyPr>
          <a:lstStyle/>
          <a:p>
            <a:pPr algn="ctr" defTabSz="914400">
              <a:lnSpc>
                <a:spcPct val="100000"/>
              </a:lnSpc>
              <a:tabLst>
                <a:tab pos="0" algn="l"/>
              </a:tabLst>
            </a:pPr>
            <a:r>
              <a:rPr lang="en-US" sz="1500" b="0" strike="noStrike" spc="-1">
                <a:solidFill>
                  <a:srgbClr val="64748B"/>
                </a:solidFill>
                <a:latin typeface="Calibri"/>
                <a:ea typeface="Calibri"/>
              </a:rPr>
              <a:t>more ceremony</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smaller compromise radius</a:t>
            </a:r>
            <a:endParaRPr lang="en-US" sz="1500" b="0" strike="noStrike" spc="-1">
              <a:solidFill>
                <a:srgbClr val="000000"/>
              </a:solidFill>
              <a:latin typeface="Arial"/>
            </a:endParaRPr>
          </a:p>
        </p:txBody>
      </p:sp>
      <p:sp>
        <p:nvSpPr>
          <p:cNvPr id="475" name="PlaceHolder 1"/>
          <p:cNvSpPr>
            <a:spLocks noGrp="1"/>
          </p:cNvSpPr>
          <p:nvPr>
            <p:ph type="sldNum" idx="19"/>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C8656565-6F7F-42A0-9D45-435E08CA0CD8}" type="slidenum">
              <a:rPr lang="en-US" sz="800" b="0" strike="noStrike" spc="-1">
                <a:solidFill>
                  <a:srgbClr val="64748B"/>
                </a:solidFill>
                <a:latin typeface="Calibri"/>
                <a:ea typeface="Calibri"/>
              </a:rPr>
              <a:t>14</a:t>
            </a:fld>
            <a:endParaRPr lang="en-US" sz="800" b="0" strike="noStrike" spc="-1">
              <a:solidFill>
                <a:srgbClr val="000000"/>
              </a:solidFill>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BLAST RADIUS</a:t>
            </a:r>
            <a:endParaRPr lang="en-US" sz="1000" b="0" strike="noStrike" spc="-1">
              <a:solidFill>
                <a:srgbClr val="000000"/>
              </a:solidFill>
              <a:latin typeface="Arial"/>
            </a:endParaRPr>
          </a:p>
        </p:txBody>
      </p:sp>
      <p:sp>
        <p:nvSpPr>
          <p:cNvPr id="477"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Why keeping the Root CA offline matters</a:t>
            </a:r>
            <a:endParaRPr lang="en-US" sz="2700" b="0" strike="noStrike" spc="-1">
              <a:solidFill>
                <a:srgbClr val="000000"/>
              </a:solidFill>
              <a:latin typeface="Arial"/>
            </a:endParaRPr>
          </a:p>
        </p:txBody>
      </p:sp>
      <p:sp>
        <p:nvSpPr>
          <p:cNvPr id="478"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Compromise the online tier; preserve the trust anchor.</a:t>
            </a:r>
            <a:endParaRPr lang="en-US" sz="1250" b="0" strike="noStrike" spc="-1">
              <a:solidFill>
                <a:srgbClr val="000000"/>
              </a:solidFill>
              <a:latin typeface="Arial"/>
            </a:endParaRPr>
          </a:p>
        </p:txBody>
      </p:sp>
      <p:sp>
        <p:nvSpPr>
          <p:cNvPr id="480" name="Shape 6"/>
          <p:cNvSpPr/>
          <p:nvPr/>
        </p:nvSpPr>
        <p:spPr>
          <a:xfrm>
            <a:off x="822960" y="1874520"/>
            <a:ext cx="2880000" cy="2285640"/>
          </a:xfrm>
          <a:prstGeom prst="roundRect">
            <a:avLst>
              <a:gd name="adj" fmla="val 3200"/>
            </a:avLst>
          </a:prstGeom>
          <a:solidFill>
            <a:srgbClr val="FFF3E7"/>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1" name="Text 7"/>
          <p:cNvSpPr/>
          <p:nvPr/>
        </p:nvSpPr>
        <p:spPr>
          <a:xfrm>
            <a:off x="1097280" y="2176200"/>
            <a:ext cx="233136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9999" lnSpcReduction="10000"/>
          </a:bodyPr>
          <a:lstStyle/>
          <a:p>
            <a:pPr algn="ctr" defTabSz="914400">
              <a:lnSpc>
                <a:spcPct val="100000"/>
              </a:lnSpc>
              <a:tabLst>
                <a:tab pos="0" algn="l"/>
              </a:tabLst>
            </a:pPr>
            <a:r>
              <a:rPr lang="en-US" sz="2100" b="1" strike="noStrike" spc="-1">
                <a:solidFill>
                  <a:srgbClr val="C0504D"/>
                </a:solidFill>
                <a:latin typeface="Calibri"/>
                <a:ea typeface="Calibri"/>
              </a:rPr>
              <a:t>Root private key</a:t>
            </a:r>
            <a:endParaRPr lang="en-US" sz="2100" b="0" strike="noStrike" spc="-1">
              <a:solidFill>
                <a:srgbClr val="000000"/>
              </a:solidFill>
              <a:latin typeface="Arial"/>
            </a:endParaRPr>
          </a:p>
        </p:txBody>
      </p:sp>
      <p:sp>
        <p:nvSpPr>
          <p:cNvPr id="482" name="Text 8"/>
          <p:cNvSpPr/>
          <p:nvPr/>
        </p:nvSpPr>
        <p:spPr>
          <a:xfrm>
            <a:off x="1097280" y="2834640"/>
            <a:ext cx="2331360" cy="529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500" b="0" strike="noStrike" spc="-1">
                <a:solidFill>
                  <a:srgbClr val="64748B"/>
                </a:solidFill>
                <a:latin typeface="Calibri"/>
                <a:ea typeface="Calibri"/>
              </a:rPr>
              <a:t>offline vault</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ceremony-controlled</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rarely used</a:t>
            </a:r>
            <a:endParaRPr lang="en-US" sz="1500" b="0" strike="noStrike" spc="-1">
              <a:solidFill>
                <a:srgbClr val="000000"/>
              </a:solidFill>
              <a:latin typeface="Arial"/>
            </a:endParaRPr>
          </a:p>
        </p:txBody>
      </p:sp>
      <p:sp>
        <p:nvSpPr>
          <p:cNvPr id="483" name="Shape 9"/>
          <p:cNvSpPr/>
          <p:nvPr/>
        </p:nvSpPr>
        <p:spPr>
          <a:xfrm>
            <a:off x="1216080" y="3730680"/>
            <a:ext cx="2075400" cy="273960"/>
          </a:xfrm>
          <a:prstGeom prst="roundRect">
            <a:avLst>
              <a:gd name="adj" fmla="val 26667"/>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84" name="Text 10"/>
          <p:cNvSpPr/>
          <p:nvPr/>
        </p:nvSpPr>
        <p:spPr>
          <a:xfrm>
            <a:off x="1289160" y="3749040"/>
            <a:ext cx="19288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COMPROMISE → GLOBAL</a:t>
            </a:r>
            <a:endParaRPr lang="en-US" sz="1000" b="0" strike="noStrike" spc="-1">
              <a:solidFill>
                <a:srgbClr val="000000"/>
              </a:solidFill>
              <a:latin typeface="Arial"/>
            </a:endParaRPr>
          </a:p>
        </p:txBody>
      </p:sp>
      <p:sp>
        <p:nvSpPr>
          <p:cNvPr id="485" name="Shape 11"/>
          <p:cNvSpPr/>
          <p:nvPr/>
        </p:nvSpPr>
        <p:spPr>
          <a:xfrm>
            <a:off x="4663440" y="1874520"/>
            <a:ext cx="2880000" cy="2285640"/>
          </a:xfrm>
          <a:prstGeom prst="roundRect">
            <a:avLst>
              <a:gd name="adj" fmla="val 3200"/>
            </a:avLst>
          </a:prstGeom>
          <a:solidFill>
            <a:srgbClr val="FFF6E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6" name="Text 12"/>
          <p:cNvSpPr/>
          <p:nvPr/>
        </p:nvSpPr>
        <p:spPr>
          <a:xfrm>
            <a:off x="4937760" y="2176200"/>
            <a:ext cx="233136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9999" lnSpcReduction="10000"/>
          </a:bodyPr>
          <a:lstStyle/>
          <a:p>
            <a:pPr algn="ctr" defTabSz="914400">
              <a:lnSpc>
                <a:spcPct val="100000"/>
              </a:lnSpc>
              <a:tabLst>
                <a:tab pos="0" algn="l"/>
              </a:tabLst>
            </a:pPr>
            <a:r>
              <a:rPr lang="en-US" sz="2100" b="1" strike="noStrike" spc="-1">
                <a:solidFill>
                  <a:srgbClr val="F79646"/>
                </a:solidFill>
                <a:latin typeface="Calibri"/>
                <a:ea typeface="Calibri"/>
              </a:rPr>
              <a:t>Intermediate key</a:t>
            </a:r>
            <a:endParaRPr lang="en-US" sz="2100" b="0" strike="noStrike" spc="-1">
              <a:solidFill>
                <a:srgbClr val="000000"/>
              </a:solidFill>
              <a:latin typeface="Arial"/>
            </a:endParaRPr>
          </a:p>
        </p:txBody>
      </p:sp>
      <p:sp>
        <p:nvSpPr>
          <p:cNvPr id="487" name="Text 13"/>
          <p:cNvSpPr/>
          <p:nvPr/>
        </p:nvSpPr>
        <p:spPr>
          <a:xfrm>
            <a:off x="4937760" y="2834640"/>
            <a:ext cx="2331360" cy="529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500" b="0" strike="noStrike" spc="-1">
                <a:solidFill>
                  <a:srgbClr val="64748B"/>
                </a:solidFill>
                <a:latin typeface="Calibri"/>
                <a:ea typeface="Calibri"/>
              </a:rPr>
              <a:t>online issuer</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monitored + replaceable</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pathLen-limited</a:t>
            </a:r>
            <a:endParaRPr lang="en-US" sz="1500" b="0" strike="noStrike" spc="-1">
              <a:solidFill>
                <a:srgbClr val="000000"/>
              </a:solidFill>
              <a:latin typeface="Arial"/>
            </a:endParaRPr>
          </a:p>
        </p:txBody>
      </p:sp>
      <p:sp>
        <p:nvSpPr>
          <p:cNvPr id="488" name="Shape 14"/>
          <p:cNvSpPr/>
          <p:nvPr/>
        </p:nvSpPr>
        <p:spPr>
          <a:xfrm>
            <a:off x="5047560" y="3730680"/>
            <a:ext cx="2102760" cy="273960"/>
          </a:xfrm>
          <a:prstGeom prst="roundRect">
            <a:avLst>
              <a:gd name="adj" fmla="val 26667"/>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9" name="Text 15"/>
          <p:cNvSpPr/>
          <p:nvPr/>
        </p:nvSpPr>
        <p:spPr>
          <a:xfrm>
            <a:off x="5120640" y="3749040"/>
            <a:ext cx="195660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COMPROMISE → CONTAIN</a:t>
            </a:r>
            <a:endParaRPr lang="en-US" sz="1000" b="0" strike="noStrike" spc="-1">
              <a:solidFill>
                <a:srgbClr val="000000"/>
              </a:solidFill>
              <a:latin typeface="Arial"/>
            </a:endParaRPr>
          </a:p>
        </p:txBody>
      </p:sp>
      <p:sp>
        <p:nvSpPr>
          <p:cNvPr id="490" name="Shape 16"/>
          <p:cNvSpPr/>
          <p:nvPr/>
        </p:nvSpPr>
        <p:spPr>
          <a:xfrm>
            <a:off x="8503920" y="1874520"/>
            <a:ext cx="2880000" cy="2285640"/>
          </a:xfrm>
          <a:prstGeom prst="roundRect">
            <a:avLst>
              <a:gd name="adj" fmla="val 3200"/>
            </a:avLst>
          </a:prstGeom>
          <a:solidFill>
            <a:srgbClr val="EAF7F9"/>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91" name="Text 17"/>
          <p:cNvSpPr/>
          <p:nvPr/>
        </p:nvSpPr>
        <p:spPr>
          <a:xfrm>
            <a:off x="8778240" y="2176200"/>
            <a:ext cx="233136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9999" lnSpcReduction="10000"/>
          </a:bodyPr>
          <a:lstStyle/>
          <a:p>
            <a:pPr algn="ctr" defTabSz="914400">
              <a:lnSpc>
                <a:spcPct val="100000"/>
              </a:lnSpc>
              <a:tabLst>
                <a:tab pos="0" algn="l"/>
              </a:tabLst>
            </a:pPr>
            <a:r>
              <a:rPr lang="en-US" sz="2100" b="1" strike="noStrike" spc="-1">
                <a:solidFill>
                  <a:srgbClr val="70AD47"/>
                </a:solidFill>
                <a:latin typeface="Calibri"/>
                <a:ea typeface="Calibri"/>
              </a:rPr>
              <a:t>Leaf key</a:t>
            </a:r>
            <a:endParaRPr lang="en-US" sz="2100" b="0" strike="noStrike" spc="-1">
              <a:solidFill>
                <a:srgbClr val="000000"/>
              </a:solidFill>
              <a:latin typeface="Arial"/>
            </a:endParaRPr>
          </a:p>
        </p:txBody>
      </p:sp>
      <p:sp>
        <p:nvSpPr>
          <p:cNvPr id="492" name="Text 18"/>
          <p:cNvSpPr/>
          <p:nvPr/>
        </p:nvSpPr>
        <p:spPr>
          <a:xfrm>
            <a:off x="8778240" y="2834640"/>
            <a:ext cx="2331360" cy="529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500" b="0" strike="noStrike" spc="-1">
                <a:solidFill>
                  <a:srgbClr val="64748B"/>
                </a:solidFill>
                <a:latin typeface="Calibri"/>
                <a:ea typeface="Calibri"/>
              </a:rPr>
              <a:t>service-specific</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short-lived</a:t>
            </a:r>
            <a:endParaRPr lang="en-US" sz="1500" b="0" strike="noStrike" spc="-1">
              <a:solidFill>
                <a:srgbClr val="000000"/>
              </a:solidFill>
              <a:latin typeface="Arial"/>
            </a:endParaRPr>
          </a:p>
          <a:p>
            <a:pPr algn="ctr" defTabSz="914400">
              <a:lnSpc>
                <a:spcPct val="100000"/>
              </a:lnSpc>
              <a:tabLst>
                <a:tab pos="0" algn="l"/>
              </a:tabLst>
            </a:pPr>
            <a:r>
              <a:rPr lang="en-US" sz="1500" b="0" strike="noStrike" spc="-1">
                <a:solidFill>
                  <a:srgbClr val="64748B"/>
                </a:solidFill>
                <a:latin typeface="Calibri"/>
                <a:ea typeface="Calibri"/>
              </a:rPr>
              <a:t>reissue + deploy</a:t>
            </a:r>
            <a:endParaRPr lang="en-US" sz="1500" b="0" strike="noStrike" spc="-1">
              <a:solidFill>
                <a:srgbClr val="000000"/>
              </a:solidFill>
              <a:latin typeface="Arial"/>
            </a:endParaRPr>
          </a:p>
        </p:txBody>
      </p:sp>
      <p:sp>
        <p:nvSpPr>
          <p:cNvPr id="493" name="Shape 19"/>
          <p:cNvSpPr/>
          <p:nvPr/>
        </p:nvSpPr>
        <p:spPr>
          <a:xfrm>
            <a:off x="8851320" y="3730680"/>
            <a:ext cx="2175840" cy="273960"/>
          </a:xfrm>
          <a:prstGeom prst="roundRect">
            <a:avLst>
              <a:gd name="adj" fmla="val 26667"/>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94" name="Text 20"/>
          <p:cNvSpPr/>
          <p:nvPr/>
        </p:nvSpPr>
        <p:spPr>
          <a:xfrm>
            <a:off x="8924400" y="3749040"/>
            <a:ext cx="20296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COMPROMISE → REISSUE</a:t>
            </a:r>
            <a:endParaRPr lang="en-US" sz="1000" b="0" strike="noStrike" spc="-1">
              <a:solidFill>
                <a:srgbClr val="000000"/>
              </a:solidFill>
              <a:latin typeface="Arial"/>
            </a:endParaRPr>
          </a:p>
        </p:txBody>
      </p:sp>
      <p:sp>
        <p:nvSpPr>
          <p:cNvPr id="495" name="PlaceHolder 1"/>
          <p:cNvSpPr>
            <a:spLocks noGrp="1"/>
          </p:cNvSpPr>
          <p:nvPr>
            <p:ph type="sldNum" idx="20"/>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20CF5A67-5090-437B-97E5-0A146E41B537}" type="slidenum">
              <a:rPr lang="en-US" sz="800" b="0" strike="noStrike" spc="-1">
                <a:solidFill>
                  <a:srgbClr val="64748B"/>
                </a:solidFill>
                <a:latin typeface="Calibri"/>
                <a:ea typeface="Calibri"/>
              </a:rPr>
              <a:t>15</a:t>
            </a:fld>
            <a:endParaRPr lang="en-US" sz="800" b="0" strike="noStrike" spc="-1">
              <a:solidFill>
                <a:srgbClr val="000000"/>
              </a:solidFill>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CSR</a:t>
            </a:r>
            <a:endParaRPr lang="en-US" sz="1000" b="0" strike="noStrike" spc="-1">
              <a:solidFill>
                <a:srgbClr val="000000"/>
              </a:solidFill>
              <a:latin typeface="Arial"/>
            </a:endParaRPr>
          </a:p>
        </p:txBody>
      </p:sp>
      <p:sp>
        <p:nvSpPr>
          <p:cNvPr id="526"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Certificate requests: ask, don’t self-approve</a:t>
            </a:r>
            <a:endParaRPr lang="en-US" sz="2700" b="0" strike="noStrike" spc="-1">
              <a:solidFill>
                <a:srgbClr val="000000"/>
              </a:solidFill>
              <a:latin typeface="Arial"/>
            </a:endParaRPr>
          </a:p>
        </p:txBody>
      </p:sp>
      <p:sp>
        <p:nvSpPr>
          <p:cNvPr id="527"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The requester generates the key; the CA decides what to certify.</a:t>
            </a:r>
            <a:endParaRPr lang="en-US" sz="1250" b="0" strike="noStrike" spc="-1">
              <a:solidFill>
                <a:srgbClr val="000000"/>
              </a:solidFill>
              <a:latin typeface="Arial"/>
            </a:endParaRPr>
          </a:p>
        </p:txBody>
      </p:sp>
      <p:sp>
        <p:nvSpPr>
          <p:cNvPr id="529" name="Shape 6"/>
          <p:cNvSpPr/>
          <p:nvPr/>
        </p:nvSpPr>
        <p:spPr>
          <a:xfrm>
            <a:off x="685800" y="2103120"/>
            <a:ext cx="2239920" cy="1645560"/>
          </a:xfrm>
          <a:prstGeom prst="roundRect">
            <a:avLst>
              <a:gd name="adj" fmla="val 4444"/>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0" name="Shape 7"/>
          <p:cNvSpPr/>
          <p:nvPr/>
        </p:nvSpPr>
        <p:spPr>
          <a:xfrm>
            <a:off x="685800" y="2103120"/>
            <a:ext cx="2239920" cy="292320"/>
          </a:xfrm>
          <a:prstGeom prst="roundRect">
            <a:avLst>
              <a:gd name="adj" fmla="val 25000"/>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31" name="Text 8"/>
          <p:cNvSpPr/>
          <p:nvPr/>
        </p:nvSpPr>
        <p:spPr>
          <a:xfrm>
            <a:off x="795600" y="213984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Requester</a:t>
            </a:r>
            <a:endParaRPr lang="en-US" sz="1100" b="0" strike="noStrike" spc="-1">
              <a:solidFill>
                <a:srgbClr val="000000"/>
              </a:solidFill>
              <a:latin typeface="Arial"/>
            </a:endParaRPr>
          </a:p>
        </p:txBody>
      </p:sp>
      <p:sp>
        <p:nvSpPr>
          <p:cNvPr id="532" name="Text 9"/>
          <p:cNvSpPr/>
          <p:nvPr/>
        </p:nvSpPr>
        <p:spPr>
          <a:xfrm>
            <a:off x="795600" y="2514600"/>
            <a:ext cx="2020320" cy="1142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generate key pair</a:t>
            </a:r>
            <a:endParaRPr lang="en-US" sz="1300" b="0" strike="noStrike" spc="-1">
              <a:solidFill>
                <a:srgbClr val="000000"/>
              </a:solidFill>
              <a:latin typeface="Arial"/>
            </a:endParaRPr>
          </a:p>
        </p:txBody>
      </p:sp>
      <p:sp>
        <p:nvSpPr>
          <p:cNvPr id="533" name="Shape 10"/>
          <p:cNvSpPr/>
          <p:nvPr/>
        </p:nvSpPr>
        <p:spPr>
          <a:xfrm>
            <a:off x="3017520" y="292608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34" name="Shape 11"/>
          <p:cNvSpPr/>
          <p:nvPr/>
        </p:nvSpPr>
        <p:spPr>
          <a:xfrm>
            <a:off x="3538800" y="2103120"/>
            <a:ext cx="2239920" cy="1645560"/>
          </a:xfrm>
          <a:prstGeom prst="roundRect">
            <a:avLst>
              <a:gd name="adj" fmla="val 4444"/>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35" name="Shape 12"/>
          <p:cNvSpPr/>
          <p:nvPr/>
        </p:nvSpPr>
        <p:spPr>
          <a:xfrm>
            <a:off x="3538800" y="2103120"/>
            <a:ext cx="2239920" cy="292320"/>
          </a:xfrm>
          <a:prstGeom prst="roundRect">
            <a:avLst>
              <a:gd name="adj" fmla="val 25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36" name="Text 13"/>
          <p:cNvSpPr/>
          <p:nvPr/>
        </p:nvSpPr>
        <p:spPr>
          <a:xfrm>
            <a:off x="3648600" y="213984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CSR</a:t>
            </a:r>
            <a:endParaRPr lang="en-US" sz="1100" b="0" strike="noStrike" spc="-1">
              <a:solidFill>
                <a:srgbClr val="000000"/>
              </a:solidFill>
              <a:latin typeface="Arial"/>
            </a:endParaRPr>
          </a:p>
        </p:txBody>
      </p:sp>
      <p:sp>
        <p:nvSpPr>
          <p:cNvPr id="537" name="Text 14"/>
          <p:cNvSpPr/>
          <p:nvPr/>
        </p:nvSpPr>
        <p:spPr>
          <a:xfrm>
            <a:off x="3648600" y="2514600"/>
            <a:ext cx="2020320" cy="1142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public key + names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proof of possession</a:t>
            </a:r>
            <a:endParaRPr lang="en-US" sz="1300" b="0" strike="noStrike" spc="-1">
              <a:solidFill>
                <a:srgbClr val="000000"/>
              </a:solidFill>
              <a:latin typeface="Arial"/>
            </a:endParaRPr>
          </a:p>
        </p:txBody>
      </p:sp>
      <p:sp>
        <p:nvSpPr>
          <p:cNvPr id="538" name="Shape 15"/>
          <p:cNvSpPr/>
          <p:nvPr/>
        </p:nvSpPr>
        <p:spPr>
          <a:xfrm>
            <a:off x="5870160" y="292608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39" name="Shape 16"/>
          <p:cNvSpPr/>
          <p:nvPr/>
        </p:nvSpPr>
        <p:spPr>
          <a:xfrm>
            <a:off x="6391800" y="2103120"/>
            <a:ext cx="2239920" cy="1645560"/>
          </a:xfrm>
          <a:prstGeom prst="roundRect">
            <a:avLst>
              <a:gd name="adj" fmla="val 4444"/>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0" name="Shape 17"/>
          <p:cNvSpPr/>
          <p:nvPr/>
        </p:nvSpPr>
        <p:spPr>
          <a:xfrm>
            <a:off x="6391800" y="2103120"/>
            <a:ext cx="2239920" cy="292320"/>
          </a:xfrm>
          <a:prstGeom prst="roundRect">
            <a:avLst>
              <a:gd name="adj" fmla="val 25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1" name="Text 18"/>
          <p:cNvSpPr/>
          <p:nvPr/>
        </p:nvSpPr>
        <p:spPr>
          <a:xfrm>
            <a:off x="6501240" y="213984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CA policy</a:t>
            </a:r>
            <a:endParaRPr lang="en-US" sz="1100" b="0" strike="noStrike" spc="-1">
              <a:solidFill>
                <a:srgbClr val="000000"/>
              </a:solidFill>
              <a:latin typeface="Arial"/>
            </a:endParaRPr>
          </a:p>
        </p:txBody>
      </p:sp>
      <p:sp>
        <p:nvSpPr>
          <p:cNvPr id="542" name="Text 19"/>
          <p:cNvSpPr/>
          <p:nvPr/>
        </p:nvSpPr>
        <p:spPr>
          <a:xfrm>
            <a:off x="6501240" y="2514600"/>
            <a:ext cx="2020320" cy="1142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approve names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add extensions</a:t>
            </a:r>
            <a:endParaRPr lang="en-US" sz="1300" b="0" strike="noStrike" spc="-1">
              <a:solidFill>
                <a:srgbClr val="000000"/>
              </a:solidFill>
              <a:latin typeface="Arial"/>
            </a:endParaRPr>
          </a:p>
        </p:txBody>
      </p:sp>
      <p:sp>
        <p:nvSpPr>
          <p:cNvPr id="543" name="Shape 20"/>
          <p:cNvSpPr/>
          <p:nvPr/>
        </p:nvSpPr>
        <p:spPr>
          <a:xfrm>
            <a:off x="8723160" y="292608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44" name="Shape 21"/>
          <p:cNvSpPr/>
          <p:nvPr/>
        </p:nvSpPr>
        <p:spPr>
          <a:xfrm>
            <a:off x="9244440" y="2103120"/>
            <a:ext cx="2239920" cy="1645560"/>
          </a:xfrm>
          <a:prstGeom prst="roundRect">
            <a:avLst>
              <a:gd name="adj" fmla="val 4444"/>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45" name="Shape 22"/>
          <p:cNvSpPr/>
          <p:nvPr/>
        </p:nvSpPr>
        <p:spPr>
          <a:xfrm>
            <a:off x="9244440" y="2103120"/>
            <a:ext cx="2239920" cy="292320"/>
          </a:xfrm>
          <a:prstGeom prst="roundRect">
            <a:avLst>
              <a:gd name="adj" fmla="val 25000"/>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46" name="Text 23"/>
          <p:cNvSpPr/>
          <p:nvPr/>
        </p:nvSpPr>
        <p:spPr>
          <a:xfrm>
            <a:off x="9354240" y="213984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Certificate</a:t>
            </a:r>
            <a:endParaRPr lang="en-US" sz="1100" b="0" strike="noStrike" spc="-1">
              <a:solidFill>
                <a:srgbClr val="000000"/>
              </a:solidFill>
              <a:latin typeface="Arial"/>
            </a:endParaRPr>
          </a:p>
        </p:txBody>
      </p:sp>
      <p:sp>
        <p:nvSpPr>
          <p:cNvPr id="547" name="Text 24"/>
          <p:cNvSpPr/>
          <p:nvPr/>
        </p:nvSpPr>
        <p:spPr>
          <a:xfrm>
            <a:off x="9354240" y="2514600"/>
            <a:ext cx="2020320" cy="1142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CA signature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validity + serial</a:t>
            </a:r>
            <a:endParaRPr lang="en-US" sz="1300" b="0" strike="noStrike" spc="-1">
              <a:solidFill>
                <a:srgbClr val="000000"/>
              </a:solidFill>
              <a:latin typeface="Arial"/>
            </a:endParaRPr>
          </a:p>
        </p:txBody>
      </p:sp>
      <p:sp>
        <p:nvSpPr>
          <p:cNvPr id="548" name="Shape 25"/>
          <p:cNvSpPr/>
          <p:nvPr/>
        </p:nvSpPr>
        <p:spPr>
          <a:xfrm>
            <a:off x="1828800" y="4389120"/>
            <a:ext cx="3748680" cy="895680"/>
          </a:xfrm>
          <a:prstGeom prst="roundRect">
            <a:avLst>
              <a:gd name="adj" fmla="val 8163"/>
            </a:avLst>
          </a:prstGeom>
          <a:solidFill>
            <a:srgbClr val="16202C"/>
          </a:solidFill>
          <a:ln w="12700">
            <a:solidFill>
              <a:srgbClr val="16202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49" name="Shape 26"/>
          <p:cNvSpPr/>
          <p:nvPr/>
        </p:nvSpPr>
        <p:spPr>
          <a:xfrm>
            <a:off x="1828800" y="4389120"/>
            <a:ext cx="91080" cy="895680"/>
          </a:xfrm>
          <a:prstGeom prst="rect">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50" name="Text 27"/>
          <p:cNvSpPr/>
          <p:nvPr/>
        </p:nvSpPr>
        <p:spPr>
          <a:xfrm>
            <a:off x="2030040" y="4498920"/>
            <a:ext cx="3437640" cy="694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00" b="0" strike="noStrike" spc="-1">
                <a:solidFill>
                  <a:srgbClr val="E8F0F7"/>
                </a:solidFill>
                <a:latin typeface="Courier New"/>
                <a:ea typeface="Courier New"/>
              </a:rPr>
              <a:t>openssl req -new -key server.key.pem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  -out server.csr.pem</a:t>
            </a:r>
            <a:endParaRPr lang="en-US" sz="1100" b="0" strike="noStrike" spc="-1">
              <a:solidFill>
                <a:srgbClr val="000000"/>
              </a:solidFill>
              <a:latin typeface="Arial"/>
            </a:endParaRPr>
          </a:p>
        </p:txBody>
      </p:sp>
      <p:sp>
        <p:nvSpPr>
          <p:cNvPr id="551" name="Shape 28"/>
          <p:cNvSpPr/>
          <p:nvPr/>
        </p:nvSpPr>
        <p:spPr>
          <a:xfrm>
            <a:off x="6446520" y="4389120"/>
            <a:ext cx="3931560" cy="895680"/>
          </a:xfrm>
          <a:prstGeom prst="roundRect">
            <a:avLst>
              <a:gd name="adj" fmla="val 8163"/>
            </a:avLst>
          </a:prstGeom>
          <a:solidFill>
            <a:srgbClr val="16202C"/>
          </a:solidFill>
          <a:ln w="12700">
            <a:solidFill>
              <a:srgbClr val="16202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52" name="Shape 29"/>
          <p:cNvSpPr/>
          <p:nvPr/>
        </p:nvSpPr>
        <p:spPr>
          <a:xfrm>
            <a:off x="6446520" y="4389120"/>
            <a:ext cx="91080" cy="895680"/>
          </a:xfrm>
          <a:prstGeom prst="rect">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53" name="Text 30"/>
          <p:cNvSpPr/>
          <p:nvPr/>
        </p:nvSpPr>
        <p:spPr>
          <a:xfrm>
            <a:off x="6647760" y="4498920"/>
            <a:ext cx="3620520" cy="694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00" b="0" strike="noStrike" spc="-1">
                <a:solidFill>
                  <a:srgbClr val="E8F0F7"/>
                </a:solidFill>
                <a:latin typeface="Courier New"/>
                <a:ea typeface="Courier New"/>
              </a:rPr>
              <a:t>openssl ca -extensions server_cert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  -in server.csr.pem -out server.cert.pem</a:t>
            </a:r>
            <a:endParaRPr lang="en-US" sz="1100" b="0" strike="noStrike" spc="-1">
              <a:solidFill>
                <a:srgbClr val="000000"/>
              </a:solidFill>
              <a:latin typeface="Arial"/>
            </a:endParaRPr>
          </a:p>
        </p:txBody>
      </p:sp>
      <p:sp>
        <p:nvSpPr>
          <p:cNvPr id="554" name="PlaceHolder 1"/>
          <p:cNvSpPr>
            <a:spLocks noGrp="1"/>
          </p:cNvSpPr>
          <p:nvPr>
            <p:ph type="sldNum" idx="22"/>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5E9C0963-CA31-4C6E-8740-8B569D0C997E}" type="slidenum">
              <a:rPr lang="en-US" sz="800" b="0" strike="noStrike" spc="-1">
                <a:solidFill>
                  <a:srgbClr val="64748B"/>
                </a:solidFill>
                <a:latin typeface="Calibri"/>
                <a:ea typeface="Calibri"/>
              </a:rPr>
              <a:t>16</a:t>
            </a:fld>
            <a:endParaRPr lang="en-US" sz="800" b="0" strike="noStrike" spc="-1">
              <a:solidFill>
                <a:srgbClr val="000000"/>
              </a:solidFill>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CERTIFICATE LIFECYCLE</a:t>
            </a:r>
            <a:endParaRPr lang="en-US" sz="1000" b="0" strike="noStrike" spc="-1">
              <a:solidFill>
                <a:srgbClr val="000000"/>
              </a:solidFill>
              <a:latin typeface="Arial"/>
            </a:endParaRPr>
          </a:p>
        </p:txBody>
      </p:sp>
      <p:sp>
        <p:nvSpPr>
          <p:cNvPr id="556"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Issuance is one moment in a longer lifecycle</a:t>
            </a:r>
            <a:endParaRPr lang="en-US" sz="2700" b="0" strike="noStrike" spc="-1">
              <a:solidFill>
                <a:srgbClr val="000000"/>
              </a:solidFill>
              <a:latin typeface="Arial"/>
            </a:endParaRPr>
          </a:p>
        </p:txBody>
      </p:sp>
      <p:sp>
        <p:nvSpPr>
          <p:cNvPr id="557"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Inventory, renew, revoke, replace.</a:t>
            </a:r>
            <a:endParaRPr lang="en-US" sz="1250" b="0" strike="noStrike" spc="-1">
              <a:solidFill>
                <a:srgbClr val="000000"/>
              </a:solidFill>
              <a:latin typeface="Arial"/>
            </a:endParaRPr>
          </a:p>
        </p:txBody>
      </p:sp>
      <p:sp>
        <p:nvSpPr>
          <p:cNvPr id="559" name="Shape 6"/>
          <p:cNvSpPr/>
          <p:nvPr/>
        </p:nvSpPr>
        <p:spPr>
          <a:xfrm>
            <a:off x="621720" y="2377440"/>
            <a:ext cx="529920" cy="52992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60" name="Text 7"/>
          <p:cNvSpPr/>
          <p:nvPr/>
        </p:nvSpPr>
        <p:spPr>
          <a:xfrm>
            <a:off x="621720" y="256032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2500" lnSpcReduction="20000"/>
          </a:bodyPr>
          <a:lstStyle/>
          <a:p>
            <a:pPr algn="ctr" defTabSz="914400">
              <a:lnSpc>
                <a:spcPct val="100000"/>
              </a:lnSpc>
              <a:tabLst>
                <a:tab pos="0" algn="l"/>
              </a:tabLst>
            </a:pPr>
            <a:r>
              <a:rPr lang="en-US" sz="1200" b="1" strike="noStrike" spc="-1">
                <a:solidFill>
                  <a:srgbClr val="FFFFFF"/>
                </a:solidFill>
                <a:latin typeface="Calibri"/>
                <a:ea typeface="Calibri"/>
              </a:rPr>
              <a:t>1</a:t>
            </a:r>
            <a:endParaRPr lang="en-US" sz="1200" b="0" strike="noStrike" spc="-1">
              <a:solidFill>
                <a:srgbClr val="000000"/>
              </a:solidFill>
              <a:latin typeface="Arial"/>
            </a:endParaRPr>
          </a:p>
        </p:txBody>
      </p:sp>
      <p:sp>
        <p:nvSpPr>
          <p:cNvPr id="561" name="Text 8"/>
          <p:cNvSpPr/>
          <p:nvPr/>
        </p:nvSpPr>
        <p:spPr>
          <a:xfrm>
            <a:off x="274320" y="3127320"/>
            <a:ext cx="12250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strike="noStrike" spc="-1">
                <a:solidFill>
                  <a:srgbClr val="1F497D"/>
                </a:solidFill>
                <a:latin typeface="Calibri"/>
                <a:ea typeface="Calibri"/>
              </a:rPr>
              <a:t>Discover</a:t>
            </a:r>
            <a:endParaRPr lang="en-US" sz="1300" b="0" strike="noStrike" spc="-1">
              <a:solidFill>
                <a:srgbClr val="000000"/>
              </a:solidFill>
              <a:latin typeface="Arial"/>
            </a:endParaRPr>
          </a:p>
        </p:txBody>
      </p:sp>
      <p:sp>
        <p:nvSpPr>
          <p:cNvPr id="562" name="Text 9"/>
          <p:cNvSpPr/>
          <p:nvPr/>
        </p:nvSpPr>
        <p:spPr>
          <a:xfrm>
            <a:off x="0" y="3456360"/>
            <a:ext cx="1773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50" b="0" strike="noStrike" spc="-1">
                <a:solidFill>
                  <a:srgbClr val="64748B"/>
                </a:solidFill>
                <a:latin typeface="Calibri"/>
                <a:ea typeface="Calibri"/>
              </a:rPr>
              <a:t>inventory names + owners</a:t>
            </a:r>
            <a:endParaRPr lang="en-US" sz="1050" b="0" strike="noStrike" spc="-1">
              <a:solidFill>
                <a:srgbClr val="000000"/>
              </a:solidFill>
              <a:latin typeface="Arial"/>
            </a:endParaRPr>
          </a:p>
        </p:txBody>
      </p:sp>
      <p:sp>
        <p:nvSpPr>
          <p:cNvPr id="563" name="Shape 10"/>
          <p:cNvSpPr/>
          <p:nvPr/>
        </p:nvSpPr>
        <p:spPr>
          <a:xfrm>
            <a:off x="1216080" y="2642400"/>
            <a:ext cx="978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64" name="Shape 11"/>
          <p:cNvSpPr/>
          <p:nvPr/>
        </p:nvSpPr>
        <p:spPr>
          <a:xfrm>
            <a:off x="2505600" y="2377440"/>
            <a:ext cx="529920" cy="52992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65" name="Text 12"/>
          <p:cNvSpPr/>
          <p:nvPr/>
        </p:nvSpPr>
        <p:spPr>
          <a:xfrm>
            <a:off x="2505600" y="256032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2500" lnSpcReduction="20000"/>
          </a:bodyPr>
          <a:lstStyle/>
          <a:p>
            <a:pPr algn="ctr" defTabSz="914400">
              <a:lnSpc>
                <a:spcPct val="100000"/>
              </a:lnSpc>
              <a:tabLst>
                <a:tab pos="0" algn="l"/>
              </a:tabLst>
            </a:pPr>
            <a:r>
              <a:rPr lang="en-US" sz="1200" b="1" strike="noStrike" spc="-1">
                <a:solidFill>
                  <a:srgbClr val="FFFFFF"/>
                </a:solidFill>
                <a:latin typeface="Calibri"/>
                <a:ea typeface="Calibri"/>
              </a:rPr>
              <a:t>2</a:t>
            </a:r>
            <a:endParaRPr lang="en-US" sz="1200" b="0" strike="noStrike" spc="-1">
              <a:solidFill>
                <a:srgbClr val="000000"/>
              </a:solidFill>
              <a:latin typeface="Arial"/>
            </a:endParaRPr>
          </a:p>
        </p:txBody>
      </p:sp>
      <p:sp>
        <p:nvSpPr>
          <p:cNvPr id="566" name="Text 13"/>
          <p:cNvSpPr/>
          <p:nvPr/>
        </p:nvSpPr>
        <p:spPr>
          <a:xfrm>
            <a:off x="2157840" y="3127320"/>
            <a:ext cx="12250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strike="noStrike" spc="-1">
                <a:solidFill>
                  <a:srgbClr val="1F497D"/>
                </a:solidFill>
                <a:latin typeface="Calibri"/>
                <a:ea typeface="Calibri"/>
              </a:rPr>
              <a:t>Request</a:t>
            </a:r>
            <a:endParaRPr lang="en-US" sz="1300" b="0" strike="noStrike" spc="-1">
              <a:solidFill>
                <a:srgbClr val="000000"/>
              </a:solidFill>
              <a:latin typeface="Arial"/>
            </a:endParaRPr>
          </a:p>
        </p:txBody>
      </p:sp>
      <p:sp>
        <p:nvSpPr>
          <p:cNvPr id="567" name="Text 14"/>
          <p:cNvSpPr/>
          <p:nvPr/>
        </p:nvSpPr>
        <p:spPr>
          <a:xfrm>
            <a:off x="1883520" y="3456360"/>
            <a:ext cx="1773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50" b="0" strike="noStrike" spc="-1">
                <a:solidFill>
                  <a:srgbClr val="64748B"/>
                </a:solidFill>
                <a:latin typeface="Calibri"/>
                <a:ea typeface="Calibri"/>
              </a:rPr>
              <a:t>key + CSR</a:t>
            </a:r>
            <a:endParaRPr lang="en-US" sz="1050" b="0" strike="noStrike" spc="-1">
              <a:solidFill>
                <a:srgbClr val="000000"/>
              </a:solidFill>
              <a:latin typeface="Arial"/>
            </a:endParaRPr>
          </a:p>
        </p:txBody>
      </p:sp>
      <p:sp>
        <p:nvSpPr>
          <p:cNvPr id="568" name="Shape 15"/>
          <p:cNvSpPr/>
          <p:nvPr/>
        </p:nvSpPr>
        <p:spPr>
          <a:xfrm>
            <a:off x="3099600" y="2642400"/>
            <a:ext cx="978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69" name="Shape 16"/>
          <p:cNvSpPr/>
          <p:nvPr/>
        </p:nvSpPr>
        <p:spPr>
          <a:xfrm>
            <a:off x="4389120" y="2377440"/>
            <a:ext cx="529920" cy="52992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70" name="Text 17"/>
          <p:cNvSpPr/>
          <p:nvPr/>
        </p:nvSpPr>
        <p:spPr>
          <a:xfrm>
            <a:off x="4389120" y="256032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2500" lnSpcReduction="20000"/>
          </a:bodyPr>
          <a:lstStyle/>
          <a:p>
            <a:pPr algn="ctr" defTabSz="914400">
              <a:lnSpc>
                <a:spcPct val="100000"/>
              </a:lnSpc>
              <a:tabLst>
                <a:tab pos="0" algn="l"/>
              </a:tabLst>
            </a:pPr>
            <a:r>
              <a:rPr lang="en-US" sz="1200" b="1" strike="noStrike" spc="-1">
                <a:solidFill>
                  <a:srgbClr val="FFFFFF"/>
                </a:solidFill>
                <a:latin typeface="Calibri"/>
                <a:ea typeface="Calibri"/>
              </a:rPr>
              <a:t>3</a:t>
            </a:r>
            <a:endParaRPr lang="en-US" sz="1200" b="0" strike="noStrike" spc="-1">
              <a:solidFill>
                <a:srgbClr val="000000"/>
              </a:solidFill>
              <a:latin typeface="Arial"/>
            </a:endParaRPr>
          </a:p>
        </p:txBody>
      </p:sp>
      <p:sp>
        <p:nvSpPr>
          <p:cNvPr id="571" name="Text 18"/>
          <p:cNvSpPr/>
          <p:nvPr/>
        </p:nvSpPr>
        <p:spPr>
          <a:xfrm>
            <a:off x="4041720" y="3127320"/>
            <a:ext cx="12250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strike="noStrike" spc="-1">
                <a:solidFill>
                  <a:srgbClr val="1F497D"/>
                </a:solidFill>
                <a:latin typeface="Calibri"/>
                <a:ea typeface="Calibri"/>
              </a:rPr>
              <a:t>Issue</a:t>
            </a:r>
            <a:endParaRPr lang="en-US" sz="1300" b="0" strike="noStrike" spc="-1">
              <a:solidFill>
                <a:srgbClr val="000000"/>
              </a:solidFill>
              <a:latin typeface="Arial"/>
            </a:endParaRPr>
          </a:p>
        </p:txBody>
      </p:sp>
      <p:sp>
        <p:nvSpPr>
          <p:cNvPr id="572" name="Text 19"/>
          <p:cNvSpPr/>
          <p:nvPr/>
        </p:nvSpPr>
        <p:spPr>
          <a:xfrm>
            <a:off x="3767400" y="3456360"/>
            <a:ext cx="1773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50" b="0" strike="noStrike" spc="-1">
                <a:solidFill>
                  <a:srgbClr val="64748B"/>
                </a:solidFill>
                <a:latin typeface="Calibri"/>
                <a:ea typeface="Calibri"/>
              </a:rPr>
              <a:t>policy + CA signature</a:t>
            </a:r>
            <a:endParaRPr lang="en-US" sz="1050" b="0" strike="noStrike" spc="-1">
              <a:solidFill>
                <a:srgbClr val="000000"/>
              </a:solidFill>
              <a:latin typeface="Arial"/>
            </a:endParaRPr>
          </a:p>
        </p:txBody>
      </p:sp>
      <p:sp>
        <p:nvSpPr>
          <p:cNvPr id="573" name="Shape 20"/>
          <p:cNvSpPr/>
          <p:nvPr/>
        </p:nvSpPr>
        <p:spPr>
          <a:xfrm>
            <a:off x="4983480" y="2642400"/>
            <a:ext cx="9781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74" name="Shape 21"/>
          <p:cNvSpPr/>
          <p:nvPr/>
        </p:nvSpPr>
        <p:spPr>
          <a:xfrm>
            <a:off x="6272640" y="2377440"/>
            <a:ext cx="529920" cy="52992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75" name="Text 22"/>
          <p:cNvSpPr/>
          <p:nvPr/>
        </p:nvSpPr>
        <p:spPr>
          <a:xfrm>
            <a:off x="6272640" y="256032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2500" lnSpcReduction="20000"/>
          </a:bodyPr>
          <a:lstStyle/>
          <a:p>
            <a:pPr algn="ctr" defTabSz="914400">
              <a:lnSpc>
                <a:spcPct val="100000"/>
              </a:lnSpc>
              <a:tabLst>
                <a:tab pos="0" algn="l"/>
              </a:tabLst>
            </a:pPr>
            <a:r>
              <a:rPr lang="en-US" sz="1200" b="1" strike="noStrike" spc="-1">
                <a:solidFill>
                  <a:srgbClr val="FFFFFF"/>
                </a:solidFill>
                <a:latin typeface="Calibri"/>
                <a:ea typeface="Calibri"/>
              </a:rPr>
              <a:t>4</a:t>
            </a:r>
            <a:endParaRPr lang="en-US" sz="1200" b="0" strike="noStrike" spc="-1">
              <a:solidFill>
                <a:srgbClr val="000000"/>
              </a:solidFill>
              <a:latin typeface="Arial"/>
            </a:endParaRPr>
          </a:p>
        </p:txBody>
      </p:sp>
      <p:sp>
        <p:nvSpPr>
          <p:cNvPr id="576" name="Text 23"/>
          <p:cNvSpPr/>
          <p:nvPr/>
        </p:nvSpPr>
        <p:spPr>
          <a:xfrm>
            <a:off x="5925240" y="3127320"/>
            <a:ext cx="12250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strike="noStrike" spc="-1">
                <a:solidFill>
                  <a:srgbClr val="1F497D"/>
                </a:solidFill>
                <a:latin typeface="Calibri"/>
                <a:ea typeface="Calibri"/>
              </a:rPr>
              <a:t>Deploy</a:t>
            </a:r>
            <a:endParaRPr lang="en-US" sz="1300" b="0" strike="noStrike" spc="-1">
              <a:solidFill>
                <a:srgbClr val="000000"/>
              </a:solidFill>
              <a:latin typeface="Arial"/>
            </a:endParaRPr>
          </a:p>
        </p:txBody>
      </p:sp>
      <p:sp>
        <p:nvSpPr>
          <p:cNvPr id="577" name="Text 24"/>
          <p:cNvSpPr/>
          <p:nvPr/>
        </p:nvSpPr>
        <p:spPr>
          <a:xfrm>
            <a:off x="5650920" y="3456360"/>
            <a:ext cx="1773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50" b="0" strike="noStrike" spc="-1">
                <a:solidFill>
                  <a:srgbClr val="64748B"/>
                </a:solidFill>
                <a:latin typeface="Calibri"/>
                <a:ea typeface="Calibri"/>
              </a:rPr>
              <a:t>server + trust stores</a:t>
            </a:r>
            <a:endParaRPr lang="en-US" sz="1050" b="0" strike="noStrike" spc="-1">
              <a:solidFill>
                <a:srgbClr val="000000"/>
              </a:solidFill>
              <a:latin typeface="Arial"/>
            </a:endParaRPr>
          </a:p>
        </p:txBody>
      </p:sp>
      <p:sp>
        <p:nvSpPr>
          <p:cNvPr id="578" name="Shape 25"/>
          <p:cNvSpPr/>
          <p:nvPr/>
        </p:nvSpPr>
        <p:spPr>
          <a:xfrm>
            <a:off x="6867000" y="2642400"/>
            <a:ext cx="978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79" name="Shape 26"/>
          <p:cNvSpPr/>
          <p:nvPr/>
        </p:nvSpPr>
        <p:spPr>
          <a:xfrm>
            <a:off x="8156520" y="2377440"/>
            <a:ext cx="529920" cy="529920"/>
          </a:xfrm>
          <a:prstGeom prst="ellipse">
            <a:avLst/>
          </a:prstGeom>
          <a:solidFill>
            <a:srgbClr val="8064A2"/>
          </a:solidFill>
          <a:ln w="1270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80" name="Text 27"/>
          <p:cNvSpPr/>
          <p:nvPr/>
        </p:nvSpPr>
        <p:spPr>
          <a:xfrm>
            <a:off x="8156520" y="256032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2500" lnSpcReduction="20000"/>
          </a:bodyPr>
          <a:lstStyle/>
          <a:p>
            <a:pPr algn="ctr" defTabSz="914400">
              <a:lnSpc>
                <a:spcPct val="100000"/>
              </a:lnSpc>
              <a:tabLst>
                <a:tab pos="0" algn="l"/>
              </a:tabLst>
            </a:pPr>
            <a:r>
              <a:rPr lang="en-US" sz="1200" b="1" strike="noStrike" spc="-1">
                <a:solidFill>
                  <a:srgbClr val="FFFFFF"/>
                </a:solidFill>
                <a:latin typeface="Calibri"/>
                <a:ea typeface="Calibri"/>
              </a:rPr>
              <a:t>5</a:t>
            </a:r>
            <a:endParaRPr lang="en-US" sz="1200" b="0" strike="noStrike" spc="-1">
              <a:solidFill>
                <a:srgbClr val="000000"/>
              </a:solidFill>
              <a:latin typeface="Arial"/>
            </a:endParaRPr>
          </a:p>
        </p:txBody>
      </p:sp>
      <p:sp>
        <p:nvSpPr>
          <p:cNvPr id="581" name="Text 28"/>
          <p:cNvSpPr/>
          <p:nvPr/>
        </p:nvSpPr>
        <p:spPr>
          <a:xfrm>
            <a:off x="7809120" y="3127320"/>
            <a:ext cx="12250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1" strike="noStrike" spc="-1">
                <a:solidFill>
                  <a:srgbClr val="1F497D"/>
                </a:solidFill>
                <a:latin typeface="Calibri"/>
                <a:ea typeface="Calibri"/>
              </a:rPr>
              <a:t>Observe</a:t>
            </a:r>
            <a:endParaRPr lang="en-US" sz="1300" b="0" strike="noStrike" spc="-1">
              <a:solidFill>
                <a:srgbClr val="000000"/>
              </a:solidFill>
              <a:latin typeface="Arial"/>
            </a:endParaRPr>
          </a:p>
        </p:txBody>
      </p:sp>
      <p:sp>
        <p:nvSpPr>
          <p:cNvPr id="582" name="Text 29"/>
          <p:cNvSpPr/>
          <p:nvPr/>
        </p:nvSpPr>
        <p:spPr>
          <a:xfrm>
            <a:off x="7534800" y="3456360"/>
            <a:ext cx="1773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50" b="0" strike="noStrike" spc="-1">
                <a:solidFill>
                  <a:srgbClr val="64748B"/>
                </a:solidFill>
                <a:latin typeface="Calibri"/>
                <a:ea typeface="Calibri"/>
              </a:rPr>
              <a:t>expiry + usage + status</a:t>
            </a:r>
            <a:endParaRPr lang="en-US" sz="1050" b="0" strike="noStrike" spc="-1">
              <a:solidFill>
                <a:srgbClr val="000000"/>
              </a:solidFill>
              <a:latin typeface="Arial"/>
            </a:endParaRPr>
          </a:p>
        </p:txBody>
      </p:sp>
      <p:sp>
        <p:nvSpPr>
          <p:cNvPr id="583" name="Shape 30"/>
          <p:cNvSpPr/>
          <p:nvPr/>
        </p:nvSpPr>
        <p:spPr>
          <a:xfrm>
            <a:off x="8750520" y="2642400"/>
            <a:ext cx="978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84" name="Shape 31"/>
          <p:cNvSpPr/>
          <p:nvPr/>
        </p:nvSpPr>
        <p:spPr>
          <a:xfrm>
            <a:off x="10040040" y="2377440"/>
            <a:ext cx="529920" cy="529920"/>
          </a:xfrm>
          <a:prstGeom prst="ellipse">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85" name="Text 32"/>
          <p:cNvSpPr/>
          <p:nvPr/>
        </p:nvSpPr>
        <p:spPr>
          <a:xfrm>
            <a:off x="10040040" y="256032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2500" lnSpcReduction="20000"/>
          </a:bodyPr>
          <a:lstStyle/>
          <a:p>
            <a:pPr algn="ctr" defTabSz="914400">
              <a:lnSpc>
                <a:spcPct val="100000"/>
              </a:lnSpc>
              <a:tabLst>
                <a:tab pos="0" algn="l"/>
              </a:tabLst>
            </a:pPr>
            <a:r>
              <a:rPr lang="en-US" sz="1200" b="1" strike="noStrike" spc="-1">
                <a:solidFill>
                  <a:srgbClr val="FFFFFF"/>
                </a:solidFill>
                <a:latin typeface="Calibri"/>
                <a:ea typeface="Calibri"/>
              </a:rPr>
              <a:t>6</a:t>
            </a:r>
            <a:endParaRPr lang="en-US" sz="1200" b="0" strike="noStrike" spc="-1">
              <a:solidFill>
                <a:srgbClr val="000000"/>
              </a:solidFill>
              <a:latin typeface="Arial"/>
            </a:endParaRPr>
          </a:p>
        </p:txBody>
      </p:sp>
      <p:sp>
        <p:nvSpPr>
          <p:cNvPr id="586" name="Text 33"/>
          <p:cNvSpPr/>
          <p:nvPr/>
        </p:nvSpPr>
        <p:spPr>
          <a:xfrm>
            <a:off x="9692640" y="3127320"/>
            <a:ext cx="122508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7500"/>
          </a:bodyPr>
          <a:lstStyle/>
          <a:p>
            <a:pPr algn="ctr" defTabSz="914400">
              <a:lnSpc>
                <a:spcPct val="100000"/>
              </a:lnSpc>
              <a:tabLst>
                <a:tab pos="0" algn="l"/>
              </a:tabLst>
            </a:pPr>
            <a:r>
              <a:rPr lang="en-US" sz="1300" b="1" strike="noStrike" spc="-1">
                <a:solidFill>
                  <a:srgbClr val="1F497D"/>
                </a:solidFill>
                <a:latin typeface="Calibri"/>
                <a:ea typeface="Calibri"/>
              </a:rPr>
              <a:t>Renew / Revoke</a:t>
            </a:r>
            <a:endParaRPr lang="en-US" sz="1300" b="0" strike="noStrike" spc="-1">
              <a:solidFill>
                <a:srgbClr val="000000"/>
              </a:solidFill>
              <a:latin typeface="Arial"/>
            </a:endParaRPr>
          </a:p>
        </p:txBody>
      </p:sp>
      <p:sp>
        <p:nvSpPr>
          <p:cNvPr id="587" name="Text 34"/>
          <p:cNvSpPr/>
          <p:nvPr/>
        </p:nvSpPr>
        <p:spPr>
          <a:xfrm>
            <a:off x="9418320" y="3456360"/>
            <a:ext cx="1773720" cy="383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50" b="0" strike="noStrike" spc="-1">
                <a:solidFill>
                  <a:srgbClr val="64748B"/>
                </a:solidFill>
                <a:latin typeface="Calibri"/>
                <a:ea typeface="Calibri"/>
              </a:rPr>
              <a:t>replace or invalidate</a:t>
            </a:r>
            <a:endParaRPr lang="en-US" sz="1050" b="0" strike="noStrike" spc="-1">
              <a:solidFill>
                <a:srgbClr val="000000"/>
              </a:solidFill>
              <a:latin typeface="Arial"/>
            </a:endParaRPr>
          </a:p>
        </p:txBody>
      </p:sp>
      <p:sp>
        <p:nvSpPr>
          <p:cNvPr id="588" name="Shape 35"/>
          <p:cNvSpPr/>
          <p:nvPr/>
        </p:nvSpPr>
        <p:spPr>
          <a:xfrm>
            <a:off x="3017520" y="4681800"/>
            <a:ext cx="6126120" cy="273960"/>
          </a:xfrm>
          <a:prstGeom prst="roundRect">
            <a:avLst>
              <a:gd name="adj" fmla="val 26667"/>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89" name="Text 36"/>
          <p:cNvSpPr/>
          <p:nvPr/>
        </p:nvSpPr>
        <p:spPr>
          <a:xfrm>
            <a:off x="3090600" y="4700160"/>
            <a:ext cx="59799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SHORTER VALIDITY SHRINKS THE UNDETECTED-COMPROMISE WINDOW</a:t>
            </a:r>
            <a:endParaRPr lang="en-US" sz="1000" b="0" strike="noStrike" spc="-1">
              <a:solidFill>
                <a:srgbClr val="000000"/>
              </a:solidFill>
              <a:latin typeface="Arial"/>
            </a:endParaRPr>
          </a:p>
        </p:txBody>
      </p:sp>
      <p:sp>
        <p:nvSpPr>
          <p:cNvPr id="590" name="PlaceHolder 1"/>
          <p:cNvSpPr>
            <a:spLocks noGrp="1"/>
          </p:cNvSpPr>
          <p:nvPr>
            <p:ph type="sldNum" idx="23"/>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72E2BBB7-A225-4DD1-8129-1D2E2787CCB2}" type="slidenum">
              <a:rPr lang="en-US" sz="800" b="0" strike="noStrike" spc="-1">
                <a:solidFill>
                  <a:srgbClr val="64748B"/>
                </a:solidFill>
                <a:latin typeface="Calibri"/>
                <a:ea typeface="Calibri"/>
              </a:rPr>
              <a:t>17</a:t>
            </a:fld>
            <a:endParaRPr lang="en-US" sz="800" b="0" strike="noStrike" spc="-1">
              <a:solidFill>
                <a:srgbClr val="000000"/>
              </a:solidFill>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VALIDITY</a:t>
            </a:r>
            <a:endParaRPr lang="en-US" sz="1000" b="0" strike="noStrike" spc="-1">
              <a:solidFill>
                <a:srgbClr val="000000"/>
              </a:solidFill>
              <a:latin typeface="Arial"/>
            </a:endParaRPr>
          </a:p>
        </p:txBody>
      </p:sp>
      <p:sp>
        <p:nvSpPr>
          <p:cNvPr id="592"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777"/>
          </a:bodyPr>
          <a:lstStyle/>
          <a:p>
            <a:pPr defTabSz="914400">
              <a:lnSpc>
                <a:spcPct val="100000"/>
              </a:lnSpc>
              <a:tabLst>
                <a:tab pos="0" algn="l"/>
              </a:tabLst>
            </a:pPr>
            <a:r>
              <a:rPr lang="en-US" sz="2700" b="1" strike="noStrike" spc="-1">
                <a:solidFill>
                  <a:srgbClr val="1F497D"/>
                </a:solidFill>
                <a:latin typeface="Calibri"/>
                <a:ea typeface="Calibri"/>
              </a:rPr>
              <a:t>Shorter validity reduces exposure-but increases automation pressure</a:t>
            </a:r>
            <a:endParaRPr lang="en-US" sz="2700" b="0" strike="noStrike" spc="-1">
              <a:solidFill>
                <a:srgbClr val="000000"/>
              </a:solidFill>
              <a:latin typeface="Arial"/>
            </a:endParaRPr>
          </a:p>
        </p:txBody>
      </p:sp>
      <p:sp>
        <p:nvSpPr>
          <p:cNvPr id="593"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A certificate can be valid and still be a liability.</a:t>
            </a:r>
            <a:endParaRPr lang="en-US" sz="1250" b="0" strike="noStrike" spc="-1">
              <a:solidFill>
                <a:srgbClr val="000000"/>
              </a:solidFill>
              <a:latin typeface="Arial"/>
            </a:endParaRPr>
          </a:p>
        </p:txBody>
      </p:sp>
      <p:sp>
        <p:nvSpPr>
          <p:cNvPr id="595" name="Shape 6"/>
          <p:cNvSpPr/>
          <p:nvPr/>
        </p:nvSpPr>
        <p:spPr>
          <a:xfrm>
            <a:off x="1097280" y="2743200"/>
            <a:ext cx="9692640" cy="360"/>
          </a:xfrm>
          <a:prstGeom prst="line">
            <a:avLst/>
          </a:prstGeom>
          <a:ln w="25400">
            <a:solidFill>
              <a:srgbClr val="94A3B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596" name="Shape 7"/>
          <p:cNvSpPr/>
          <p:nvPr/>
        </p:nvSpPr>
        <p:spPr>
          <a:xfrm>
            <a:off x="1097280" y="2633400"/>
            <a:ext cx="360" cy="21924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97" name="Text 8"/>
          <p:cNvSpPr/>
          <p:nvPr/>
        </p:nvSpPr>
        <p:spPr>
          <a:xfrm>
            <a:off x="804600" y="2926080"/>
            <a:ext cx="58500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0" strike="noStrike" spc="-1">
                <a:solidFill>
                  <a:srgbClr val="64748B"/>
                </a:solidFill>
                <a:latin typeface="Calibri"/>
                <a:ea typeface="Calibri"/>
              </a:rPr>
              <a:t>Issue</a:t>
            </a:r>
            <a:endParaRPr lang="en-US" sz="1000" b="0" strike="noStrike" spc="-1">
              <a:solidFill>
                <a:srgbClr val="000000"/>
              </a:solidFill>
              <a:latin typeface="Arial"/>
            </a:endParaRPr>
          </a:p>
        </p:txBody>
      </p:sp>
      <p:sp>
        <p:nvSpPr>
          <p:cNvPr id="598" name="Shape 9"/>
          <p:cNvSpPr/>
          <p:nvPr/>
        </p:nvSpPr>
        <p:spPr>
          <a:xfrm>
            <a:off x="3520440" y="2633400"/>
            <a:ext cx="360" cy="21924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599" name="Text 10"/>
          <p:cNvSpPr/>
          <p:nvPr/>
        </p:nvSpPr>
        <p:spPr>
          <a:xfrm>
            <a:off x="3227760" y="2926080"/>
            <a:ext cx="58500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0" strike="noStrike" spc="-1">
                <a:solidFill>
                  <a:srgbClr val="64748B"/>
                </a:solidFill>
                <a:latin typeface="Calibri"/>
                <a:ea typeface="Calibri"/>
              </a:rPr>
              <a:t>30d</a:t>
            </a:r>
            <a:endParaRPr lang="en-US" sz="1000" b="0" strike="noStrike" spc="-1">
              <a:solidFill>
                <a:srgbClr val="000000"/>
              </a:solidFill>
              <a:latin typeface="Arial"/>
            </a:endParaRPr>
          </a:p>
        </p:txBody>
      </p:sp>
      <p:sp>
        <p:nvSpPr>
          <p:cNvPr id="600" name="Shape 11"/>
          <p:cNvSpPr/>
          <p:nvPr/>
        </p:nvSpPr>
        <p:spPr>
          <a:xfrm>
            <a:off x="5943600" y="2633400"/>
            <a:ext cx="360" cy="21924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601" name="Text 12"/>
          <p:cNvSpPr/>
          <p:nvPr/>
        </p:nvSpPr>
        <p:spPr>
          <a:xfrm>
            <a:off x="5650920" y="2926080"/>
            <a:ext cx="58500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0" strike="noStrike" spc="-1">
                <a:solidFill>
                  <a:srgbClr val="64748B"/>
                </a:solidFill>
                <a:latin typeface="Calibri"/>
                <a:ea typeface="Calibri"/>
              </a:rPr>
              <a:t>60d</a:t>
            </a:r>
            <a:endParaRPr lang="en-US" sz="1000" b="0" strike="noStrike" spc="-1">
              <a:solidFill>
                <a:srgbClr val="000000"/>
              </a:solidFill>
              <a:latin typeface="Arial"/>
            </a:endParaRPr>
          </a:p>
        </p:txBody>
      </p:sp>
      <p:sp>
        <p:nvSpPr>
          <p:cNvPr id="602" name="Shape 13"/>
          <p:cNvSpPr/>
          <p:nvPr/>
        </p:nvSpPr>
        <p:spPr>
          <a:xfrm>
            <a:off x="8366760" y="2633400"/>
            <a:ext cx="360" cy="21924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603" name="Text 14"/>
          <p:cNvSpPr/>
          <p:nvPr/>
        </p:nvSpPr>
        <p:spPr>
          <a:xfrm>
            <a:off x="8074080" y="2926080"/>
            <a:ext cx="58500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0" strike="noStrike" spc="-1">
                <a:solidFill>
                  <a:srgbClr val="64748B"/>
                </a:solidFill>
                <a:latin typeface="Calibri"/>
                <a:ea typeface="Calibri"/>
              </a:rPr>
              <a:t>90d</a:t>
            </a:r>
            <a:endParaRPr lang="en-US" sz="1000" b="0" strike="noStrike" spc="-1">
              <a:solidFill>
                <a:srgbClr val="000000"/>
              </a:solidFill>
              <a:latin typeface="Arial"/>
            </a:endParaRPr>
          </a:p>
        </p:txBody>
      </p:sp>
      <p:sp>
        <p:nvSpPr>
          <p:cNvPr id="604" name="Shape 15"/>
          <p:cNvSpPr/>
          <p:nvPr/>
        </p:nvSpPr>
        <p:spPr>
          <a:xfrm>
            <a:off x="10789920" y="2633400"/>
            <a:ext cx="360" cy="219240"/>
          </a:xfrm>
          <a:prstGeom prst="line">
            <a:avLst/>
          </a:prstGeom>
          <a:ln w="12700">
            <a:solidFill>
              <a:srgbClr val="94A3B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605" name="Text 16"/>
          <p:cNvSpPr/>
          <p:nvPr/>
        </p:nvSpPr>
        <p:spPr>
          <a:xfrm>
            <a:off x="10497240" y="2926080"/>
            <a:ext cx="58500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0" strike="noStrike" spc="-1">
                <a:solidFill>
                  <a:srgbClr val="64748B"/>
                </a:solidFill>
                <a:latin typeface="Calibri"/>
                <a:ea typeface="Calibri"/>
              </a:rPr>
              <a:t>Expire</a:t>
            </a:r>
            <a:endParaRPr lang="en-US" sz="1000" b="0" strike="noStrike" spc="-1">
              <a:solidFill>
                <a:srgbClr val="000000"/>
              </a:solidFill>
              <a:latin typeface="Arial"/>
            </a:endParaRPr>
          </a:p>
        </p:txBody>
      </p:sp>
      <p:sp>
        <p:nvSpPr>
          <p:cNvPr id="606" name="Shape 17"/>
          <p:cNvSpPr/>
          <p:nvPr/>
        </p:nvSpPr>
        <p:spPr>
          <a:xfrm>
            <a:off x="1097280" y="2304360"/>
            <a:ext cx="1828440" cy="200880"/>
          </a:xfrm>
          <a:prstGeom prst="roundRect">
            <a:avLst>
              <a:gd name="adj" fmla="val 36364"/>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7" name="Shape 18"/>
          <p:cNvSpPr/>
          <p:nvPr/>
        </p:nvSpPr>
        <p:spPr>
          <a:xfrm>
            <a:off x="2926080" y="2304360"/>
            <a:ext cx="4571640" cy="200880"/>
          </a:xfrm>
          <a:prstGeom prst="roundRect">
            <a:avLst>
              <a:gd name="adj" fmla="val 36364"/>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08" name="Shape 19"/>
          <p:cNvSpPr/>
          <p:nvPr/>
        </p:nvSpPr>
        <p:spPr>
          <a:xfrm>
            <a:off x="7498080" y="2304360"/>
            <a:ext cx="3291480" cy="200880"/>
          </a:xfrm>
          <a:prstGeom prst="roundRect">
            <a:avLst>
              <a:gd name="adj" fmla="val 36364"/>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09" name="Text 20"/>
          <p:cNvSpPr/>
          <p:nvPr/>
        </p:nvSpPr>
        <p:spPr>
          <a:xfrm>
            <a:off x="1143000" y="1828800"/>
            <a:ext cx="16455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strike="noStrike" spc="-1">
                <a:solidFill>
                  <a:srgbClr val="C0504D"/>
                </a:solidFill>
                <a:latin typeface="Calibri"/>
                <a:ea typeface="Calibri"/>
              </a:rPr>
              <a:t>risk window</a:t>
            </a:r>
            <a:endParaRPr lang="en-US" sz="1200" b="0" strike="noStrike" spc="-1">
              <a:solidFill>
                <a:srgbClr val="000000"/>
              </a:solidFill>
              <a:latin typeface="Arial"/>
            </a:endParaRPr>
          </a:p>
        </p:txBody>
      </p:sp>
      <p:sp>
        <p:nvSpPr>
          <p:cNvPr id="610" name="Text 21"/>
          <p:cNvSpPr/>
          <p:nvPr/>
        </p:nvSpPr>
        <p:spPr>
          <a:xfrm>
            <a:off x="4023360" y="1828800"/>
            <a:ext cx="18284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strike="noStrike" spc="-1">
                <a:solidFill>
                  <a:srgbClr val="F79646"/>
                </a:solidFill>
                <a:latin typeface="Calibri"/>
                <a:ea typeface="Calibri"/>
              </a:rPr>
              <a:t>renewal window</a:t>
            </a:r>
            <a:endParaRPr lang="en-US" sz="1200" b="0" strike="noStrike" spc="-1">
              <a:solidFill>
                <a:srgbClr val="000000"/>
              </a:solidFill>
              <a:latin typeface="Arial"/>
            </a:endParaRPr>
          </a:p>
        </p:txBody>
      </p:sp>
      <p:sp>
        <p:nvSpPr>
          <p:cNvPr id="611" name="Text 22"/>
          <p:cNvSpPr/>
          <p:nvPr/>
        </p:nvSpPr>
        <p:spPr>
          <a:xfrm>
            <a:off x="7955280" y="1828800"/>
            <a:ext cx="228564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strike="noStrike" spc="-1">
                <a:solidFill>
                  <a:srgbClr val="70AD47"/>
                </a:solidFill>
                <a:latin typeface="Calibri"/>
                <a:ea typeface="Calibri"/>
              </a:rPr>
              <a:t>automation / monitoring</a:t>
            </a:r>
            <a:endParaRPr lang="en-US" sz="1200" b="0" strike="noStrike" spc="-1">
              <a:solidFill>
                <a:srgbClr val="000000"/>
              </a:solidFill>
              <a:latin typeface="Arial"/>
            </a:endParaRPr>
          </a:p>
        </p:txBody>
      </p:sp>
      <p:sp>
        <p:nvSpPr>
          <p:cNvPr id="612" name="Shape 23"/>
          <p:cNvSpPr/>
          <p:nvPr/>
        </p:nvSpPr>
        <p:spPr>
          <a:xfrm>
            <a:off x="1143000" y="3886200"/>
            <a:ext cx="9966600" cy="804240"/>
          </a:xfrm>
          <a:prstGeom prst="roundRect">
            <a:avLst>
              <a:gd name="adj" fmla="val 9091"/>
            </a:avLst>
          </a:prstGeom>
          <a:solidFill>
            <a:srgbClr val="FFFFFF"/>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13" name="Shape 24"/>
          <p:cNvSpPr/>
          <p:nvPr/>
        </p:nvSpPr>
        <p:spPr>
          <a:xfrm>
            <a:off x="1143000" y="3886200"/>
            <a:ext cx="100080" cy="804240"/>
          </a:xfrm>
          <a:prstGeom prst="rect">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14" name="Text 25"/>
          <p:cNvSpPr/>
          <p:nvPr/>
        </p:nvSpPr>
        <p:spPr>
          <a:xfrm>
            <a:off x="1380600" y="3996000"/>
            <a:ext cx="961920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
                <a:solidFill>
                  <a:srgbClr val="1F497D"/>
                </a:solidFill>
                <a:latin typeface="Calibri"/>
                <a:ea typeface="Calibri"/>
              </a:rPr>
              <a:t>Operational rule</a:t>
            </a:r>
            <a:endParaRPr lang="en-US" sz="1400" b="0" strike="noStrike" spc="-1">
              <a:solidFill>
                <a:srgbClr val="000000"/>
              </a:solidFill>
              <a:latin typeface="Arial"/>
            </a:endParaRPr>
          </a:p>
        </p:txBody>
      </p:sp>
      <p:sp>
        <p:nvSpPr>
          <p:cNvPr id="615" name="Text 26"/>
          <p:cNvSpPr/>
          <p:nvPr/>
        </p:nvSpPr>
        <p:spPr>
          <a:xfrm>
            <a:off x="1380600" y="4297680"/>
            <a:ext cx="9619200" cy="301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50" b="0" strike="noStrike" spc="-1">
                <a:solidFill>
                  <a:srgbClr val="203040"/>
                </a:solidFill>
                <a:latin typeface="Calibri"/>
                <a:ea typeface="Calibri"/>
              </a:rPr>
              <a:t>Renew early enough to survive a failed deployment, but rotate keys when compromise is plausible.</a:t>
            </a:r>
            <a:endParaRPr lang="en-US" sz="1250" b="0" strike="noStrike" spc="-1">
              <a:solidFill>
                <a:srgbClr val="000000"/>
              </a:solidFill>
              <a:latin typeface="Arial"/>
            </a:endParaRPr>
          </a:p>
        </p:txBody>
      </p:sp>
      <p:sp>
        <p:nvSpPr>
          <p:cNvPr id="616" name="PlaceHolder 1"/>
          <p:cNvSpPr>
            <a:spLocks noGrp="1"/>
          </p:cNvSpPr>
          <p:nvPr>
            <p:ph type="sldNum" idx="24"/>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F6C7C10D-C3AE-4A3F-A483-799A51C8719C}" type="slidenum">
              <a:rPr lang="en-US" sz="800" b="0" strike="noStrike" spc="-1">
                <a:solidFill>
                  <a:srgbClr val="64748B"/>
                </a:solidFill>
                <a:latin typeface="Calibri"/>
                <a:ea typeface="Calibri"/>
              </a:rPr>
              <a:t>18</a:t>
            </a:fld>
            <a:endParaRPr lang="en-US" sz="800" b="0" strike="noStrike" spc="-1">
              <a:solidFill>
                <a:srgbClr val="000000"/>
              </a:solidFill>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KEY MANAGEMENT</a:t>
            </a:r>
            <a:endParaRPr lang="en-US" sz="1000" b="0" strike="noStrike" spc="-1">
              <a:solidFill>
                <a:srgbClr val="000000"/>
              </a:solidFill>
              <a:latin typeface="Arial"/>
            </a:endParaRPr>
          </a:p>
        </p:txBody>
      </p:sp>
      <p:sp>
        <p:nvSpPr>
          <p:cNvPr id="618"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Private keys are the real crown jewels</a:t>
            </a:r>
            <a:endParaRPr lang="en-US" sz="2700" b="0" strike="noStrike" spc="-1">
              <a:solidFill>
                <a:srgbClr val="000000"/>
              </a:solidFill>
              <a:latin typeface="Arial"/>
            </a:endParaRPr>
          </a:p>
        </p:txBody>
      </p:sp>
      <p:sp>
        <p:nvSpPr>
          <p:cNvPr id="619"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Permissions, encryption, custody, recovery.</a:t>
            </a:r>
            <a:endParaRPr lang="en-US" sz="1250" b="0" strike="noStrike" spc="-1">
              <a:solidFill>
                <a:srgbClr val="000000"/>
              </a:solidFill>
              <a:latin typeface="Arial"/>
            </a:endParaRPr>
          </a:p>
        </p:txBody>
      </p:sp>
      <p:sp>
        <p:nvSpPr>
          <p:cNvPr id="621" name="Shape 6"/>
          <p:cNvSpPr/>
          <p:nvPr/>
        </p:nvSpPr>
        <p:spPr>
          <a:xfrm>
            <a:off x="685800" y="1938600"/>
            <a:ext cx="2331360" cy="2194200"/>
          </a:xfrm>
          <a:prstGeom prst="roundRect">
            <a:avLst>
              <a:gd name="adj" fmla="val 3333"/>
            </a:avLst>
          </a:prstGeom>
          <a:solidFill>
            <a:srgbClr val="FFFFFF"/>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22" name="Shape 7"/>
          <p:cNvSpPr/>
          <p:nvPr/>
        </p:nvSpPr>
        <p:spPr>
          <a:xfrm>
            <a:off x="1554480" y="2267640"/>
            <a:ext cx="585000" cy="58500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23" name="Text 8"/>
          <p:cNvSpPr/>
          <p:nvPr/>
        </p:nvSpPr>
        <p:spPr>
          <a:xfrm>
            <a:off x="1554480" y="2450520"/>
            <a:ext cx="58500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9722" lnSpcReduction="20000"/>
          </a:bodyPr>
          <a:lstStyle/>
          <a:p>
            <a:pPr algn="ctr" defTabSz="914400">
              <a:lnSpc>
                <a:spcPct val="100000"/>
              </a:lnSpc>
              <a:tabLst>
                <a:tab pos="0" algn="l"/>
              </a:tabLst>
            </a:pPr>
            <a:r>
              <a:rPr lang="en-US" sz="1600" b="1" strike="noStrike" spc="-1">
                <a:solidFill>
                  <a:srgbClr val="FFFFFF"/>
                </a:solidFill>
                <a:latin typeface="Calibri"/>
                <a:ea typeface="Calibri"/>
              </a:rPr>
              <a:t>1</a:t>
            </a:r>
            <a:endParaRPr lang="en-US" sz="1600" b="0" strike="noStrike" spc="-1">
              <a:solidFill>
                <a:srgbClr val="000000"/>
              </a:solidFill>
              <a:latin typeface="Arial"/>
            </a:endParaRPr>
          </a:p>
        </p:txBody>
      </p:sp>
      <p:sp>
        <p:nvSpPr>
          <p:cNvPr id="624" name="Text 9"/>
          <p:cNvSpPr/>
          <p:nvPr/>
        </p:nvSpPr>
        <p:spPr>
          <a:xfrm>
            <a:off x="868680" y="3054240"/>
            <a:ext cx="19656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1800" b="1" strike="noStrike" spc="-1">
                <a:solidFill>
                  <a:srgbClr val="1F497D"/>
                </a:solidFill>
                <a:latin typeface="Calibri"/>
                <a:ea typeface="Calibri"/>
              </a:rPr>
              <a:t>Store</a:t>
            </a:r>
            <a:endParaRPr lang="en-US" sz="1800" b="0" strike="noStrike" spc="-1">
              <a:solidFill>
                <a:srgbClr val="000000"/>
              </a:solidFill>
              <a:latin typeface="Arial"/>
            </a:endParaRPr>
          </a:p>
        </p:txBody>
      </p:sp>
      <p:sp>
        <p:nvSpPr>
          <p:cNvPr id="625" name="Text 10"/>
          <p:cNvSpPr/>
          <p:nvPr/>
        </p:nvSpPr>
        <p:spPr>
          <a:xfrm>
            <a:off x="868680" y="3456360"/>
            <a:ext cx="196560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64748B"/>
                </a:solidFill>
                <a:latin typeface="Calibri"/>
                <a:ea typeface="Calibri"/>
              </a:rPr>
              <a:t>restricted directory</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64748B"/>
                </a:solidFill>
                <a:latin typeface="Calibri"/>
                <a:ea typeface="Calibri"/>
              </a:rPr>
              <a:t>separate backups</a:t>
            </a:r>
            <a:endParaRPr lang="en-US" sz="1300" b="0" strike="noStrike" spc="-1">
              <a:solidFill>
                <a:srgbClr val="000000"/>
              </a:solidFill>
              <a:latin typeface="Arial"/>
            </a:endParaRPr>
          </a:p>
        </p:txBody>
      </p:sp>
      <p:sp>
        <p:nvSpPr>
          <p:cNvPr id="626" name="Shape 11"/>
          <p:cNvSpPr/>
          <p:nvPr/>
        </p:nvSpPr>
        <p:spPr>
          <a:xfrm>
            <a:off x="3502080" y="1938600"/>
            <a:ext cx="2331360" cy="2194200"/>
          </a:xfrm>
          <a:prstGeom prst="roundRect">
            <a:avLst>
              <a:gd name="adj" fmla="val 3333"/>
            </a:avLst>
          </a:prstGeom>
          <a:solidFill>
            <a:srgbClr val="FFFFFF"/>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27" name="Shape 12"/>
          <p:cNvSpPr/>
          <p:nvPr/>
        </p:nvSpPr>
        <p:spPr>
          <a:xfrm>
            <a:off x="4370760" y="2267640"/>
            <a:ext cx="585000" cy="58500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28" name="Text 13"/>
          <p:cNvSpPr/>
          <p:nvPr/>
        </p:nvSpPr>
        <p:spPr>
          <a:xfrm>
            <a:off x="4370760" y="2450520"/>
            <a:ext cx="58500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9722" lnSpcReduction="20000"/>
          </a:bodyPr>
          <a:lstStyle/>
          <a:p>
            <a:pPr algn="ctr" defTabSz="914400">
              <a:lnSpc>
                <a:spcPct val="100000"/>
              </a:lnSpc>
              <a:tabLst>
                <a:tab pos="0" algn="l"/>
              </a:tabLst>
            </a:pPr>
            <a:r>
              <a:rPr lang="en-US" sz="1600" b="1" strike="noStrike" spc="-1">
                <a:solidFill>
                  <a:srgbClr val="FFFFFF"/>
                </a:solidFill>
                <a:latin typeface="Calibri"/>
                <a:ea typeface="Calibri"/>
              </a:rPr>
              <a:t>2</a:t>
            </a:r>
            <a:endParaRPr lang="en-US" sz="1600" b="0" strike="noStrike" spc="-1">
              <a:solidFill>
                <a:srgbClr val="000000"/>
              </a:solidFill>
              <a:latin typeface="Arial"/>
            </a:endParaRPr>
          </a:p>
        </p:txBody>
      </p:sp>
      <p:sp>
        <p:nvSpPr>
          <p:cNvPr id="629" name="Text 14"/>
          <p:cNvSpPr/>
          <p:nvPr/>
        </p:nvSpPr>
        <p:spPr>
          <a:xfrm>
            <a:off x="3684960" y="3054240"/>
            <a:ext cx="19656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1800" b="1" strike="noStrike" spc="-1">
                <a:solidFill>
                  <a:srgbClr val="1F497D"/>
                </a:solidFill>
                <a:latin typeface="Calibri"/>
                <a:ea typeface="Calibri"/>
              </a:rPr>
              <a:t>Protect</a:t>
            </a:r>
            <a:endParaRPr lang="en-US" sz="1800" b="0" strike="noStrike" spc="-1">
              <a:solidFill>
                <a:srgbClr val="000000"/>
              </a:solidFill>
              <a:latin typeface="Arial"/>
            </a:endParaRPr>
          </a:p>
        </p:txBody>
      </p:sp>
      <p:sp>
        <p:nvSpPr>
          <p:cNvPr id="630" name="Text 15"/>
          <p:cNvSpPr/>
          <p:nvPr/>
        </p:nvSpPr>
        <p:spPr>
          <a:xfrm>
            <a:off x="3684960" y="3456360"/>
            <a:ext cx="196560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64748B"/>
                </a:solidFill>
                <a:latin typeface="Calibri"/>
                <a:ea typeface="Calibri"/>
              </a:rPr>
              <a:t>passphrase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64748B"/>
                </a:solidFill>
                <a:latin typeface="Calibri"/>
                <a:ea typeface="Calibri"/>
              </a:rPr>
              <a:t>least privilege</a:t>
            </a:r>
            <a:endParaRPr lang="en-US" sz="1300" b="0" strike="noStrike" spc="-1">
              <a:solidFill>
                <a:srgbClr val="000000"/>
              </a:solidFill>
              <a:latin typeface="Arial"/>
            </a:endParaRPr>
          </a:p>
        </p:txBody>
      </p:sp>
      <p:sp>
        <p:nvSpPr>
          <p:cNvPr id="631" name="Shape 16"/>
          <p:cNvSpPr/>
          <p:nvPr/>
        </p:nvSpPr>
        <p:spPr>
          <a:xfrm>
            <a:off x="6318360" y="1938600"/>
            <a:ext cx="2331360" cy="2194200"/>
          </a:xfrm>
          <a:prstGeom prst="roundRect">
            <a:avLst>
              <a:gd name="adj" fmla="val 3333"/>
            </a:avLst>
          </a:prstGeom>
          <a:solidFill>
            <a:srgbClr val="FFFFFF"/>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32" name="Shape 17"/>
          <p:cNvSpPr/>
          <p:nvPr/>
        </p:nvSpPr>
        <p:spPr>
          <a:xfrm>
            <a:off x="7187040" y="2267640"/>
            <a:ext cx="585000" cy="58500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33" name="Text 18"/>
          <p:cNvSpPr/>
          <p:nvPr/>
        </p:nvSpPr>
        <p:spPr>
          <a:xfrm>
            <a:off x="7187040" y="2450520"/>
            <a:ext cx="58500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9722" lnSpcReduction="20000"/>
          </a:bodyPr>
          <a:lstStyle/>
          <a:p>
            <a:pPr algn="ctr" defTabSz="914400">
              <a:lnSpc>
                <a:spcPct val="100000"/>
              </a:lnSpc>
              <a:tabLst>
                <a:tab pos="0" algn="l"/>
              </a:tabLst>
            </a:pPr>
            <a:r>
              <a:rPr lang="en-US" sz="1600" b="1" strike="noStrike" spc="-1">
                <a:solidFill>
                  <a:srgbClr val="FFFFFF"/>
                </a:solidFill>
                <a:latin typeface="Calibri"/>
                <a:ea typeface="Calibri"/>
              </a:rPr>
              <a:t>3</a:t>
            </a:r>
            <a:endParaRPr lang="en-US" sz="1600" b="0" strike="noStrike" spc="-1">
              <a:solidFill>
                <a:srgbClr val="000000"/>
              </a:solidFill>
              <a:latin typeface="Arial"/>
            </a:endParaRPr>
          </a:p>
        </p:txBody>
      </p:sp>
      <p:sp>
        <p:nvSpPr>
          <p:cNvPr id="634" name="Text 19"/>
          <p:cNvSpPr/>
          <p:nvPr/>
        </p:nvSpPr>
        <p:spPr>
          <a:xfrm>
            <a:off x="6501240" y="3054240"/>
            <a:ext cx="19656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1800" b="1" strike="noStrike" spc="-1">
                <a:solidFill>
                  <a:srgbClr val="1F497D"/>
                </a:solidFill>
                <a:latin typeface="Calibri"/>
                <a:ea typeface="Calibri"/>
              </a:rPr>
              <a:t>Use</a:t>
            </a:r>
            <a:endParaRPr lang="en-US" sz="1800" b="0" strike="noStrike" spc="-1">
              <a:solidFill>
                <a:srgbClr val="000000"/>
              </a:solidFill>
              <a:latin typeface="Arial"/>
            </a:endParaRPr>
          </a:p>
        </p:txBody>
      </p:sp>
      <p:sp>
        <p:nvSpPr>
          <p:cNvPr id="635" name="Text 20"/>
          <p:cNvSpPr/>
          <p:nvPr/>
        </p:nvSpPr>
        <p:spPr>
          <a:xfrm>
            <a:off x="6501240" y="3456360"/>
            <a:ext cx="196560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a:bodyPr>
          <a:lstStyle/>
          <a:p>
            <a:pPr algn="ctr" defTabSz="914400">
              <a:lnSpc>
                <a:spcPct val="100000"/>
              </a:lnSpc>
              <a:tabLst>
                <a:tab pos="0" algn="l"/>
              </a:tabLst>
            </a:pPr>
            <a:r>
              <a:rPr lang="en-US" sz="1300" b="0" strike="noStrike" spc="-1">
                <a:solidFill>
                  <a:srgbClr val="64748B"/>
                </a:solidFill>
                <a:latin typeface="Calibri"/>
                <a:ea typeface="Calibri"/>
              </a:rPr>
              <a:t>short-lived process access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64748B"/>
                </a:solidFill>
                <a:latin typeface="Calibri"/>
                <a:ea typeface="Calibri"/>
              </a:rPr>
              <a:t>controlled reloads</a:t>
            </a:r>
            <a:endParaRPr lang="en-US" sz="1300" b="0" strike="noStrike" spc="-1">
              <a:solidFill>
                <a:srgbClr val="000000"/>
              </a:solidFill>
              <a:latin typeface="Arial"/>
            </a:endParaRPr>
          </a:p>
        </p:txBody>
      </p:sp>
      <p:sp>
        <p:nvSpPr>
          <p:cNvPr id="636" name="Shape 21"/>
          <p:cNvSpPr/>
          <p:nvPr/>
        </p:nvSpPr>
        <p:spPr>
          <a:xfrm>
            <a:off x="9135000" y="1938600"/>
            <a:ext cx="2331360" cy="2194200"/>
          </a:xfrm>
          <a:prstGeom prst="roundRect">
            <a:avLst>
              <a:gd name="adj" fmla="val 3333"/>
            </a:avLst>
          </a:prstGeom>
          <a:solidFill>
            <a:srgbClr val="FFFFFF"/>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37" name="Shape 22"/>
          <p:cNvSpPr/>
          <p:nvPr/>
        </p:nvSpPr>
        <p:spPr>
          <a:xfrm>
            <a:off x="10003680" y="2267640"/>
            <a:ext cx="585000" cy="58500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38" name="Text 23"/>
          <p:cNvSpPr/>
          <p:nvPr/>
        </p:nvSpPr>
        <p:spPr>
          <a:xfrm>
            <a:off x="10003680" y="2450520"/>
            <a:ext cx="58500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9722" lnSpcReduction="20000"/>
          </a:bodyPr>
          <a:lstStyle/>
          <a:p>
            <a:pPr algn="ctr" defTabSz="914400">
              <a:lnSpc>
                <a:spcPct val="100000"/>
              </a:lnSpc>
              <a:tabLst>
                <a:tab pos="0" algn="l"/>
              </a:tabLst>
            </a:pPr>
            <a:r>
              <a:rPr lang="en-US" sz="1600" b="1" strike="noStrike" spc="-1">
                <a:solidFill>
                  <a:srgbClr val="FFFFFF"/>
                </a:solidFill>
                <a:latin typeface="Calibri"/>
                <a:ea typeface="Calibri"/>
              </a:rPr>
              <a:t>4</a:t>
            </a:r>
            <a:endParaRPr lang="en-US" sz="1600" b="0" strike="noStrike" spc="-1">
              <a:solidFill>
                <a:srgbClr val="000000"/>
              </a:solidFill>
              <a:latin typeface="Arial"/>
            </a:endParaRPr>
          </a:p>
        </p:txBody>
      </p:sp>
      <p:sp>
        <p:nvSpPr>
          <p:cNvPr id="639" name="Text 24"/>
          <p:cNvSpPr/>
          <p:nvPr/>
        </p:nvSpPr>
        <p:spPr>
          <a:xfrm>
            <a:off x="9317880" y="3054240"/>
            <a:ext cx="1965600" cy="228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1800" b="1" strike="noStrike" spc="-1">
                <a:solidFill>
                  <a:srgbClr val="1F497D"/>
                </a:solidFill>
                <a:latin typeface="Calibri"/>
                <a:ea typeface="Calibri"/>
              </a:rPr>
              <a:t>Recover</a:t>
            </a:r>
            <a:endParaRPr lang="en-US" sz="1800" b="0" strike="noStrike" spc="-1">
              <a:solidFill>
                <a:srgbClr val="000000"/>
              </a:solidFill>
              <a:latin typeface="Arial"/>
            </a:endParaRPr>
          </a:p>
        </p:txBody>
      </p:sp>
      <p:sp>
        <p:nvSpPr>
          <p:cNvPr id="640" name="Text 25"/>
          <p:cNvSpPr/>
          <p:nvPr/>
        </p:nvSpPr>
        <p:spPr>
          <a:xfrm>
            <a:off x="9317880" y="3456360"/>
            <a:ext cx="1965600" cy="438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64748B"/>
                </a:solidFill>
                <a:latin typeface="Calibri"/>
                <a:ea typeface="Calibri"/>
              </a:rPr>
              <a:t>tested restore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64748B"/>
                </a:solidFill>
                <a:latin typeface="Calibri"/>
                <a:ea typeface="Calibri"/>
              </a:rPr>
              <a:t>key ceremony records</a:t>
            </a:r>
            <a:endParaRPr lang="en-US" sz="1300" b="0" strike="noStrike" spc="-1">
              <a:solidFill>
                <a:srgbClr val="000000"/>
              </a:solidFill>
              <a:latin typeface="Arial"/>
            </a:endParaRPr>
          </a:p>
        </p:txBody>
      </p:sp>
      <p:sp>
        <p:nvSpPr>
          <p:cNvPr id="641" name="PlaceHolder 1"/>
          <p:cNvSpPr>
            <a:spLocks noGrp="1"/>
          </p:cNvSpPr>
          <p:nvPr>
            <p:ph type="sldNum" idx="25"/>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1BA10C7D-49C9-47EE-883F-22DF512C32D8}" type="slidenum">
              <a:rPr lang="en-US" sz="800" b="0" strike="noStrike" spc="-1">
                <a:solidFill>
                  <a:srgbClr val="64748B"/>
                </a:solidFill>
                <a:latin typeface="Calibri"/>
                <a:ea typeface="Calibri"/>
              </a:rPr>
              <a:t>19</a:t>
            </a:fld>
            <a:endParaRPr lang="en-US" sz="800" b="0" strike="noStrike" spc="-1">
              <a:solidFill>
                <a:srgbClr val="000000"/>
              </a:solidFill>
              <a:latin typeface="Times New Roman"/>
            </a:endParaRPr>
          </a:p>
        </p:txBody>
      </p:sp>
      <p:pic>
        <p:nvPicPr>
          <p:cNvPr id="6" name="Picture 5">
            <a:extLst>
              <a:ext uri="{FF2B5EF4-FFF2-40B4-BE49-F238E27FC236}">
                <a16:creationId xmlns:a16="http://schemas.microsoft.com/office/drawing/2014/main" id="{F4904670-EC62-4B6E-C30A-0BBD68CB7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4960" y="1982089"/>
            <a:ext cx="2093729" cy="21443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TLS GOALS</a:t>
            </a:r>
            <a:endParaRPr lang="en-US" sz="1000" b="0" strike="noStrike" spc="-1">
              <a:solidFill>
                <a:srgbClr val="000000"/>
              </a:solidFill>
              <a:latin typeface="Arial"/>
            </a:endParaRPr>
          </a:p>
        </p:txBody>
      </p:sp>
      <p:sp>
        <p:nvSpPr>
          <p:cNvPr id="836"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TLS is a protocol stack, not just “HTTPS”</a:t>
            </a:r>
            <a:endParaRPr lang="en-US" sz="2700" b="0" strike="noStrike" spc="-1">
              <a:solidFill>
                <a:srgbClr val="000000"/>
              </a:solidFill>
              <a:latin typeface="Arial"/>
            </a:endParaRPr>
          </a:p>
        </p:txBody>
      </p:sp>
      <p:sp>
        <p:nvSpPr>
          <p:cNvPr id="837"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Negotiate a secure channel and authenticate the peer.</a:t>
            </a:r>
            <a:endParaRPr lang="en-US" sz="1250" b="0" strike="noStrike" spc="-1">
              <a:solidFill>
                <a:srgbClr val="000000"/>
              </a:solidFill>
              <a:latin typeface="Arial"/>
            </a:endParaRPr>
          </a:p>
        </p:txBody>
      </p:sp>
      <p:sp>
        <p:nvSpPr>
          <p:cNvPr id="839" name="Shape 6"/>
          <p:cNvSpPr/>
          <p:nvPr/>
        </p:nvSpPr>
        <p:spPr>
          <a:xfrm>
            <a:off x="694800" y="1965960"/>
            <a:ext cx="2358720" cy="2102760"/>
          </a:xfrm>
          <a:prstGeom prst="roundRect">
            <a:avLst>
              <a:gd name="adj" fmla="val 3478"/>
            </a:avLst>
          </a:prstGeom>
          <a:solidFill>
            <a:srgbClr val="FFFFFF"/>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40" name="Shape 7"/>
          <p:cNvSpPr/>
          <p:nvPr/>
        </p:nvSpPr>
        <p:spPr>
          <a:xfrm>
            <a:off x="1572840" y="2286000"/>
            <a:ext cx="566640" cy="5666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41" name="Text 8"/>
          <p:cNvSpPr/>
          <p:nvPr/>
        </p:nvSpPr>
        <p:spPr>
          <a:xfrm>
            <a:off x="1572840" y="2468880"/>
            <a:ext cx="5666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500" b="1" strike="noStrike" spc="-1">
                <a:solidFill>
                  <a:srgbClr val="FFFFFF"/>
                </a:solidFill>
                <a:latin typeface="Calibri"/>
                <a:ea typeface="Calibri"/>
              </a:rPr>
              <a:t>1</a:t>
            </a:r>
            <a:endParaRPr lang="en-US" sz="1500" b="0" strike="noStrike" spc="-1">
              <a:solidFill>
                <a:srgbClr val="000000"/>
              </a:solidFill>
              <a:latin typeface="Arial"/>
            </a:endParaRPr>
          </a:p>
        </p:txBody>
      </p:sp>
      <p:sp>
        <p:nvSpPr>
          <p:cNvPr id="842" name="Text 9"/>
          <p:cNvSpPr/>
          <p:nvPr/>
        </p:nvSpPr>
        <p:spPr>
          <a:xfrm>
            <a:off x="859680" y="3090600"/>
            <a:ext cx="20296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strike="noStrike" spc="-1">
                <a:solidFill>
                  <a:srgbClr val="1F497D"/>
                </a:solidFill>
                <a:latin typeface="Calibri"/>
                <a:ea typeface="Calibri"/>
              </a:rPr>
              <a:t>Confidentiality</a:t>
            </a:r>
            <a:endParaRPr lang="en-US" sz="1600" b="0" strike="noStrike" spc="-1">
              <a:solidFill>
                <a:srgbClr val="000000"/>
              </a:solidFill>
              <a:latin typeface="Arial"/>
            </a:endParaRPr>
          </a:p>
        </p:txBody>
      </p:sp>
      <p:sp>
        <p:nvSpPr>
          <p:cNvPr id="843" name="Text 10"/>
          <p:cNvSpPr/>
          <p:nvPr/>
        </p:nvSpPr>
        <p:spPr>
          <a:xfrm>
            <a:off x="859680" y="3538800"/>
            <a:ext cx="202968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encrypt records</a:t>
            </a:r>
            <a:endParaRPr lang="en-US" sz="1200" b="0" strike="noStrike" spc="-1">
              <a:solidFill>
                <a:srgbClr val="000000"/>
              </a:solidFill>
              <a:latin typeface="Arial"/>
            </a:endParaRPr>
          </a:p>
        </p:txBody>
      </p:sp>
      <p:sp>
        <p:nvSpPr>
          <p:cNvPr id="844" name="Shape 11"/>
          <p:cNvSpPr/>
          <p:nvPr/>
        </p:nvSpPr>
        <p:spPr>
          <a:xfrm>
            <a:off x="3529440" y="1965960"/>
            <a:ext cx="2358720" cy="2102760"/>
          </a:xfrm>
          <a:prstGeom prst="roundRect">
            <a:avLst>
              <a:gd name="adj" fmla="val 3478"/>
            </a:avLst>
          </a:prstGeom>
          <a:solidFill>
            <a:srgbClr val="FFFFFF"/>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45" name="Shape 12"/>
          <p:cNvSpPr/>
          <p:nvPr/>
        </p:nvSpPr>
        <p:spPr>
          <a:xfrm>
            <a:off x="4407480" y="2286000"/>
            <a:ext cx="566640" cy="5666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46" name="Text 13"/>
          <p:cNvSpPr/>
          <p:nvPr/>
        </p:nvSpPr>
        <p:spPr>
          <a:xfrm>
            <a:off x="4407480" y="2468880"/>
            <a:ext cx="5666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500" b="1" strike="noStrike" spc="-1">
                <a:solidFill>
                  <a:srgbClr val="FFFFFF"/>
                </a:solidFill>
                <a:latin typeface="Calibri"/>
                <a:ea typeface="Calibri"/>
              </a:rPr>
              <a:t>2</a:t>
            </a:r>
            <a:endParaRPr lang="en-US" sz="1500" b="0" strike="noStrike" spc="-1">
              <a:solidFill>
                <a:srgbClr val="000000"/>
              </a:solidFill>
              <a:latin typeface="Arial"/>
            </a:endParaRPr>
          </a:p>
        </p:txBody>
      </p:sp>
      <p:sp>
        <p:nvSpPr>
          <p:cNvPr id="847" name="Text 14"/>
          <p:cNvSpPr/>
          <p:nvPr/>
        </p:nvSpPr>
        <p:spPr>
          <a:xfrm>
            <a:off x="3694320" y="3090600"/>
            <a:ext cx="20296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strike="noStrike" spc="-1">
                <a:solidFill>
                  <a:srgbClr val="1F497D"/>
                </a:solidFill>
                <a:latin typeface="Calibri"/>
                <a:ea typeface="Calibri"/>
              </a:rPr>
              <a:t>Integrity</a:t>
            </a:r>
            <a:endParaRPr lang="en-US" sz="1600" b="0" strike="noStrike" spc="-1">
              <a:solidFill>
                <a:srgbClr val="000000"/>
              </a:solidFill>
              <a:latin typeface="Arial"/>
            </a:endParaRPr>
          </a:p>
        </p:txBody>
      </p:sp>
      <p:sp>
        <p:nvSpPr>
          <p:cNvPr id="848" name="Text 15"/>
          <p:cNvSpPr/>
          <p:nvPr/>
        </p:nvSpPr>
        <p:spPr>
          <a:xfrm>
            <a:off x="3694320" y="3538800"/>
            <a:ext cx="202968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detect tampering</a:t>
            </a:r>
            <a:endParaRPr lang="en-US" sz="1200" b="0" strike="noStrike" spc="-1">
              <a:solidFill>
                <a:srgbClr val="000000"/>
              </a:solidFill>
              <a:latin typeface="Arial"/>
            </a:endParaRPr>
          </a:p>
        </p:txBody>
      </p:sp>
      <p:sp>
        <p:nvSpPr>
          <p:cNvPr id="849" name="Shape 16"/>
          <p:cNvSpPr/>
          <p:nvPr/>
        </p:nvSpPr>
        <p:spPr>
          <a:xfrm>
            <a:off x="6364080" y="1965960"/>
            <a:ext cx="2358720" cy="2102760"/>
          </a:xfrm>
          <a:prstGeom prst="roundRect">
            <a:avLst>
              <a:gd name="adj" fmla="val 3478"/>
            </a:avLst>
          </a:prstGeom>
          <a:solidFill>
            <a:srgbClr val="FFFFFF"/>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0" name="Shape 17"/>
          <p:cNvSpPr/>
          <p:nvPr/>
        </p:nvSpPr>
        <p:spPr>
          <a:xfrm>
            <a:off x="7242120" y="2286000"/>
            <a:ext cx="566640" cy="56664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1" name="Text 18"/>
          <p:cNvSpPr/>
          <p:nvPr/>
        </p:nvSpPr>
        <p:spPr>
          <a:xfrm>
            <a:off x="7242120" y="2468880"/>
            <a:ext cx="5666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500" b="1" strike="noStrike" spc="-1">
                <a:solidFill>
                  <a:srgbClr val="FFFFFF"/>
                </a:solidFill>
                <a:latin typeface="Calibri"/>
                <a:ea typeface="Calibri"/>
              </a:rPr>
              <a:t>3</a:t>
            </a:r>
            <a:endParaRPr lang="en-US" sz="1500" b="0" strike="noStrike" spc="-1">
              <a:solidFill>
                <a:srgbClr val="000000"/>
              </a:solidFill>
              <a:latin typeface="Arial"/>
            </a:endParaRPr>
          </a:p>
        </p:txBody>
      </p:sp>
      <p:sp>
        <p:nvSpPr>
          <p:cNvPr id="852" name="Text 19"/>
          <p:cNvSpPr/>
          <p:nvPr/>
        </p:nvSpPr>
        <p:spPr>
          <a:xfrm>
            <a:off x="6528960" y="3090600"/>
            <a:ext cx="20296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strike="noStrike" spc="-1">
                <a:solidFill>
                  <a:srgbClr val="1F497D"/>
                </a:solidFill>
                <a:latin typeface="Calibri"/>
                <a:ea typeface="Calibri"/>
              </a:rPr>
              <a:t>Authentication</a:t>
            </a:r>
            <a:endParaRPr lang="en-US" sz="1600" b="0" strike="noStrike" spc="-1">
              <a:solidFill>
                <a:srgbClr val="000000"/>
              </a:solidFill>
              <a:latin typeface="Arial"/>
            </a:endParaRPr>
          </a:p>
        </p:txBody>
      </p:sp>
      <p:sp>
        <p:nvSpPr>
          <p:cNvPr id="853" name="Text 20"/>
          <p:cNvSpPr/>
          <p:nvPr/>
        </p:nvSpPr>
        <p:spPr>
          <a:xfrm>
            <a:off x="6528960" y="3538800"/>
            <a:ext cx="202968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bind endpoint to name</a:t>
            </a:r>
            <a:endParaRPr lang="en-US" sz="1200" b="0" strike="noStrike" spc="-1">
              <a:solidFill>
                <a:srgbClr val="000000"/>
              </a:solidFill>
              <a:latin typeface="Arial"/>
            </a:endParaRPr>
          </a:p>
        </p:txBody>
      </p:sp>
      <p:sp>
        <p:nvSpPr>
          <p:cNvPr id="854" name="Shape 21"/>
          <p:cNvSpPr/>
          <p:nvPr/>
        </p:nvSpPr>
        <p:spPr>
          <a:xfrm>
            <a:off x="9198720" y="1965960"/>
            <a:ext cx="2358720" cy="2102760"/>
          </a:xfrm>
          <a:prstGeom prst="roundRect">
            <a:avLst>
              <a:gd name="adj" fmla="val 3478"/>
            </a:avLst>
          </a:prstGeom>
          <a:solidFill>
            <a:srgbClr val="FFFFFF"/>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55" name="Shape 22"/>
          <p:cNvSpPr/>
          <p:nvPr/>
        </p:nvSpPr>
        <p:spPr>
          <a:xfrm>
            <a:off x="10076760" y="2286000"/>
            <a:ext cx="566640" cy="56664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56" name="Text 23"/>
          <p:cNvSpPr/>
          <p:nvPr/>
        </p:nvSpPr>
        <p:spPr>
          <a:xfrm>
            <a:off x="10076760" y="2468880"/>
            <a:ext cx="5666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500" b="1" strike="noStrike" spc="-1">
                <a:solidFill>
                  <a:srgbClr val="FFFFFF"/>
                </a:solidFill>
                <a:latin typeface="Calibri"/>
                <a:ea typeface="Calibri"/>
              </a:rPr>
              <a:t>4</a:t>
            </a:r>
            <a:endParaRPr lang="en-US" sz="1500" b="0" strike="noStrike" spc="-1">
              <a:solidFill>
                <a:srgbClr val="000000"/>
              </a:solidFill>
              <a:latin typeface="Arial"/>
            </a:endParaRPr>
          </a:p>
        </p:txBody>
      </p:sp>
      <p:sp>
        <p:nvSpPr>
          <p:cNvPr id="857" name="Text 24"/>
          <p:cNvSpPr/>
          <p:nvPr/>
        </p:nvSpPr>
        <p:spPr>
          <a:xfrm>
            <a:off x="9363600" y="3090600"/>
            <a:ext cx="20296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strike="noStrike" spc="-1">
                <a:solidFill>
                  <a:srgbClr val="1F497D"/>
                </a:solidFill>
                <a:latin typeface="Calibri"/>
                <a:ea typeface="Calibri"/>
              </a:rPr>
              <a:t>Forward secrecy</a:t>
            </a:r>
            <a:endParaRPr lang="en-US" sz="1600" b="0" strike="noStrike" spc="-1">
              <a:solidFill>
                <a:srgbClr val="000000"/>
              </a:solidFill>
              <a:latin typeface="Arial"/>
            </a:endParaRPr>
          </a:p>
        </p:txBody>
      </p:sp>
      <p:sp>
        <p:nvSpPr>
          <p:cNvPr id="858" name="Text 25"/>
          <p:cNvSpPr/>
          <p:nvPr/>
        </p:nvSpPr>
        <p:spPr>
          <a:xfrm>
            <a:off x="9363600" y="3538800"/>
            <a:ext cx="202968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4722"/>
          </a:bodyPr>
          <a:lstStyle/>
          <a:p>
            <a:pPr algn="ctr" defTabSz="914400">
              <a:lnSpc>
                <a:spcPct val="100000"/>
              </a:lnSpc>
              <a:tabLst>
                <a:tab pos="0" algn="l"/>
              </a:tabLst>
            </a:pPr>
            <a:r>
              <a:rPr lang="en-US" sz="1200" b="0" strike="noStrike" spc="-1">
                <a:solidFill>
                  <a:srgbClr val="64748B"/>
                </a:solidFill>
                <a:latin typeface="Calibri"/>
                <a:ea typeface="Calibri"/>
              </a:rPr>
              <a:t>past sessions survive key exposure</a:t>
            </a:r>
            <a:endParaRPr lang="en-US" sz="1200" b="0" strike="noStrike" spc="-1">
              <a:solidFill>
                <a:srgbClr val="000000"/>
              </a:solidFill>
              <a:latin typeface="Arial"/>
            </a:endParaRPr>
          </a:p>
        </p:txBody>
      </p:sp>
      <p:sp>
        <p:nvSpPr>
          <p:cNvPr id="859" name="PlaceHolder 1"/>
          <p:cNvSpPr>
            <a:spLocks noGrp="1"/>
          </p:cNvSpPr>
          <p:nvPr>
            <p:ph type="sldNum" idx="35"/>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79184649-4B64-4364-83B8-89C28BB0D36F}" type="slidenum">
              <a:rPr lang="en-US" sz="800" b="0" strike="noStrike" spc="-1">
                <a:solidFill>
                  <a:srgbClr val="64748B"/>
                </a:solidFill>
                <a:latin typeface="Calibri"/>
                <a:ea typeface="Calibri"/>
              </a:rPr>
              <a:t>20</a:t>
            </a:fld>
            <a:endParaRPr lang="en-US" sz="800" b="0" strike="noStrike" spc="-1">
              <a:solidFill>
                <a:srgbClr val="000000"/>
              </a:solidFill>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TLS 1.2</a:t>
            </a:r>
            <a:endParaRPr lang="en-US" sz="1000" b="0" strike="noStrike" spc="-1">
              <a:solidFill>
                <a:srgbClr val="000000"/>
              </a:solidFill>
              <a:latin typeface="Arial"/>
            </a:endParaRPr>
          </a:p>
        </p:txBody>
      </p:sp>
      <p:sp>
        <p:nvSpPr>
          <p:cNvPr id="861"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TLS 1.2 handshake: negotiate, authenticate, derive</a:t>
            </a:r>
            <a:endParaRPr lang="en-US" sz="2700" b="0" strike="noStrike" spc="-1">
              <a:solidFill>
                <a:srgbClr val="000000"/>
              </a:solidFill>
              <a:latin typeface="Arial"/>
            </a:endParaRPr>
          </a:p>
        </p:txBody>
      </p:sp>
      <p:sp>
        <p:nvSpPr>
          <p:cNvPr id="862"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The certificate is one component in a longer exchange.</a:t>
            </a:r>
            <a:endParaRPr lang="en-US" sz="1250" b="0" strike="noStrike" spc="-1">
              <a:solidFill>
                <a:srgbClr val="000000"/>
              </a:solidFill>
              <a:latin typeface="Arial"/>
            </a:endParaRPr>
          </a:p>
        </p:txBody>
      </p:sp>
      <p:sp>
        <p:nvSpPr>
          <p:cNvPr id="864" name="Shape 6"/>
          <p:cNvSpPr/>
          <p:nvPr/>
        </p:nvSpPr>
        <p:spPr>
          <a:xfrm>
            <a:off x="731520" y="2011680"/>
            <a:ext cx="2239920" cy="1965600"/>
          </a:xfrm>
          <a:prstGeom prst="roundRect">
            <a:avLst>
              <a:gd name="adj" fmla="val 372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65" name="Shape 7"/>
          <p:cNvSpPr/>
          <p:nvPr/>
        </p:nvSpPr>
        <p:spPr>
          <a:xfrm>
            <a:off x="731520" y="2011680"/>
            <a:ext cx="2239920" cy="292320"/>
          </a:xfrm>
          <a:prstGeom prst="roundRect">
            <a:avLst>
              <a:gd name="adj" fmla="val 25000"/>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66" name="Text 8"/>
          <p:cNvSpPr/>
          <p:nvPr/>
        </p:nvSpPr>
        <p:spPr>
          <a:xfrm>
            <a:off x="841320" y="204840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Client</a:t>
            </a:r>
            <a:endParaRPr lang="en-US" sz="1100" b="0" strike="noStrike" spc="-1">
              <a:solidFill>
                <a:srgbClr val="000000"/>
              </a:solidFill>
              <a:latin typeface="Arial"/>
            </a:endParaRPr>
          </a:p>
        </p:txBody>
      </p:sp>
      <p:sp>
        <p:nvSpPr>
          <p:cNvPr id="867" name="Text 9"/>
          <p:cNvSpPr/>
          <p:nvPr/>
        </p:nvSpPr>
        <p:spPr>
          <a:xfrm>
            <a:off x="841320" y="2423160"/>
            <a:ext cx="2020320" cy="1462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ClientHello</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versions · suites · SNI</a:t>
            </a:r>
            <a:endParaRPr lang="en-US" sz="1300" b="0" strike="noStrike" spc="-1">
              <a:solidFill>
                <a:srgbClr val="000000"/>
              </a:solidFill>
              <a:latin typeface="Arial"/>
            </a:endParaRPr>
          </a:p>
        </p:txBody>
      </p:sp>
      <p:sp>
        <p:nvSpPr>
          <p:cNvPr id="868" name="Shape 10"/>
          <p:cNvSpPr/>
          <p:nvPr/>
        </p:nvSpPr>
        <p:spPr>
          <a:xfrm>
            <a:off x="3090600" y="2999160"/>
            <a:ext cx="3290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869" name="Shape 11"/>
          <p:cNvSpPr/>
          <p:nvPr/>
        </p:nvSpPr>
        <p:spPr>
          <a:xfrm>
            <a:off x="3520440" y="2011680"/>
            <a:ext cx="2239920" cy="1965600"/>
          </a:xfrm>
          <a:prstGeom prst="roundRect">
            <a:avLst>
              <a:gd name="adj" fmla="val 372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0" name="Shape 12"/>
          <p:cNvSpPr/>
          <p:nvPr/>
        </p:nvSpPr>
        <p:spPr>
          <a:xfrm>
            <a:off x="3520440" y="2011680"/>
            <a:ext cx="2239920" cy="292320"/>
          </a:xfrm>
          <a:prstGeom prst="roundRect">
            <a:avLst>
              <a:gd name="adj" fmla="val 25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1" name="Text 13"/>
          <p:cNvSpPr/>
          <p:nvPr/>
        </p:nvSpPr>
        <p:spPr>
          <a:xfrm>
            <a:off x="3630240" y="204840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Server</a:t>
            </a:r>
            <a:endParaRPr lang="en-US" sz="1100" b="0" strike="noStrike" spc="-1">
              <a:solidFill>
                <a:srgbClr val="000000"/>
              </a:solidFill>
              <a:latin typeface="Arial"/>
            </a:endParaRPr>
          </a:p>
        </p:txBody>
      </p:sp>
      <p:sp>
        <p:nvSpPr>
          <p:cNvPr id="872" name="Text 14"/>
          <p:cNvSpPr/>
          <p:nvPr/>
        </p:nvSpPr>
        <p:spPr>
          <a:xfrm>
            <a:off x="3630240" y="2423160"/>
            <a:ext cx="2020320" cy="1462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ServerHello</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Certificate</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Key exchange</a:t>
            </a:r>
            <a:endParaRPr lang="en-US" sz="1300" b="0" strike="noStrike" spc="-1">
              <a:solidFill>
                <a:srgbClr val="000000"/>
              </a:solidFill>
              <a:latin typeface="Arial"/>
            </a:endParaRPr>
          </a:p>
        </p:txBody>
      </p:sp>
      <p:sp>
        <p:nvSpPr>
          <p:cNvPr id="873" name="Shape 15"/>
          <p:cNvSpPr/>
          <p:nvPr/>
        </p:nvSpPr>
        <p:spPr>
          <a:xfrm>
            <a:off x="5879520" y="2999160"/>
            <a:ext cx="3290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874" name="Shape 16"/>
          <p:cNvSpPr/>
          <p:nvPr/>
        </p:nvSpPr>
        <p:spPr>
          <a:xfrm>
            <a:off x="6309360" y="2011680"/>
            <a:ext cx="2239920" cy="1965600"/>
          </a:xfrm>
          <a:prstGeom prst="roundRect">
            <a:avLst>
              <a:gd name="adj" fmla="val 372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5" name="Shape 17"/>
          <p:cNvSpPr/>
          <p:nvPr/>
        </p:nvSpPr>
        <p:spPr>
          <a:xfrm>
            <a:off x="6309360" y="2011680"/>
            <a:ext cx="2239920" cy="292320"/>
          </a:xfrm>
          <a:prstGeom prst="roundRect">
            <a:avLst>
              <a:gd name="adj" fmla="val 25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76" name="Text 18"/>
          <p:cNvSpPr/>
          <p:nvPr/>
        </p:nvSpPr>
        <p:spPr>
          <a:xfrm>
            <a:off x="6419160" y="204840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Client</a:t>
            </a:r>
            <a:endParaRPr lang="en-US" sz="1100" b="0" strike="noStrike" spc="-1">
              <a:solidFill>
                <a:srgbClr val="000000"/>
              </a:solidFill>
              <a:latin typeface="Arial"/>
            </a:endParaRPr>
          </a:p>
        </p:txBody>
      </p:sp>
      <p:sp>
        <p:nvSpPr>
          <p:cNvPr id="877" name="Text 19"/>
          <p:cNvSpPr/>
          <p:nvPr/>
        </p:nvSpPr>
        <p:spPr>
          <a:xfrm>
            <a:off x="6419160" y="2423160"/>
            <a:ext cx="2020320" cy="1462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verify chain + SAN</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key exchange</a:t>
            </a:r>
            <a:endParaRPr lang="en-US" sz="1300" b="0" strike="noStrike" spc="-1">
              <a:solidFill>
                <a:srgbClr val="000000"/>
              </a:solidFill>
              <a:latin typeface="Arial"/>
            </a:endParaRPr>
          </a:p>
        </p:txBody>
      </p:sp>
      <p:sp>
        <p:nvSpPr>
          <p:cNvPr id="878" name="Shape 20"/>
          <p:cNvSpPr/>
          <p:nvPr/>
        </p:nvSpPr>
        <p:spPr>
          <a:xfrm>
            <a:off x="8668440" y="2999160"/>
            <a:ext cx="3290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879" name="Shape 21"/>
          <p:cNvSpPr/>
          <p:nvPr/>
        </p:nvSpPr>
        <p:spPr>
          <a:xfrm>
            <a:off x="9098280" y="2011680"/>
            <a:ext cx="2239920" cy="1965600"/>
          </a:xfrm>
          <a:prstGeom prst="roundRect">
            <a:avLst>
              <a:gd name="adj" fmla="val 3721"/>
            </a:avLst>
          </a:prstGeom>
          <a:solidFill>
            <a:srgbClr val="FFFFFF"/>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80" name="Shape 22"/>
          <p:cNvSpPr/>
          <p:nvPr/>
        </p:nvSpPr>
        <p:spPr>
          <a:xfrm>
            <a:off x="9098280" y="2011680"/>
            <a:ext cx="2239920" cy="292320"/>
          </a:xfrm>
          <a:prstGeom prst="roundRect">
            <a:avLst>
              <a:gd name="adj" fmla="val 25000"/>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81" name="Text 23"/>
          <p:cNvSpPr/>
          <p:nvPr/>
        </p:nvSpPr>
        <p:spPr>
          <a:xfrm>
            <a:off x="9208080" y="2048400"/>
            <a:ext cx="2020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00" b="1" strike="noStrike" spc="-1">
                <a:solidFill>
                  <a:srgbClr val="FFFFFF"/>
                </a:solidFill>
                <a:latin typeface="Calibri"/>
                <a:ea typeface="Calibri"/>
              </a:rPr>
              <a:t>Both</a:t>
            </a:r>
            <a:endParaRPr lang="en-US" sz="1100" b="0" strike="noStrike" spc="-1">
              <a:solidFill>
                <a:srgbClr val="000000"/>
              </a:solidFill>
              <a:latin typeface="Arial"/>
            </a:endParaRPr>
          </a:p>
        </p:txBody>
      </p:sp>
      <p:sp>
        <p:nvSpPr>
          <p:cNvPr id="882" name="Text 24"/>
          <p:cNvSpPr/>
          <p:nvPr/>
        </p:nvSpPr>
        <p:spPr>
          <a:xfrm>
            <a:off x="9208080" y="2423160"/>
            <a:ext cx="2020320" cy="1462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300" b="0" strike="noStrike" spc="-1">
                <a:solidFill>
                  <a:srgbClr val="203040"/>
                </a:solidFill>
                <a:latin typeface="Calibri"/>
                <a:ea typeface="Calibri"/>
              </a:rPr>
              <a:t>derive keys</a:t>
            </a:r>
            <a:endParaRPr lang="en-US" sz="1300" b="0" strike="noStrike" spc="-1">
              <a:solidFill>
                <a:srgbClr val="000000"/>
              </a:solidFill>
              <a:latin typeface="Arial"/>
            </a:endParaRPr>
          </a:p>
          <a:p>
            <a:pPr algn="ctr" defTabSz="914400">
              <a:lnSpc>
                <a:spcPct val="100000"/>
              </a:lnSpc>
              <a:tabLst>
                <a:tab pos="0" algn="l"/>
              </a:tabLst>
            </a:pPr>
            <a:r>
              <a:rPr lang="en-US" sz="1300" b="0" strike="noStrike" spc="-1">
                <a:solidFill>
                  <a:srgbClr val="203040"/>
                </a:solidFill>
                <a:latin typeface="Calibri"/>
                <a:ea typeface="Calibri"/>
              </a:rPr>
              <a:t>Finished → application data</a:t>
            </a:r>
            <a:endParaRPr lang="en-US" sz="1300" b="0" strike="noStrike" spc="-1">
              <a:solidFill>
                <a:srgbClr val="000000"/>
              </a:solidFill>
              <a:latin typeface="Arial"/>
            </a:endParaRPr>
          </a:p>
        </p:txBody>
      </p:sp>
      <p:sp>
        <p:nvSpPr>
          <p:cNvPr id="883" name="Text 25"/>
          <p:cNvSpPr/>
          <p:nvPr/>
        </p:nvSpPr>
        <p:spPr>
          <a:xfrm>
            <a:off x="1005840" y="4736520"/>
            <a:ext cx="1005804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strike="noStrike" spc="-1">
                <a:solidFill>
                  <a:srgbClr val="1F497D"/>
                </a:solidFill>
                <a:latin typeface="Calibri"/>
                <a:ea typeface="Calibri"/>
              </a:rPr>
              <a:t>Certificate = identity proof   ·   ECDHE = key agreement   ·   AES-GCM = record protection</a:t>
            </a:r>
            <a:endParaRPr lang="en-US" sz="1500" b="0" strike="noStrike" spc="-1">
              <a:solidFill>
                <a:srgbClr val="000000"/>
              </a:solidFill>
              <a:latin typeface="Arial"/>
            </a:endParaRPr>
          </a:p>
        </p:txBody>
      </p:sp>
      <p:sp>
        <p:nvSpPr>
          <p:cNvPr id="884" name="PlaceHolder 1"/>
          <p:cNvSpPr>
            <a:spLocks noGrp="1"/>
          </p:cNvSpPr>
          <p:nvPr>
            <p:ph type="sldNum" idx="36"/>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63EC58DD-2B33-4E01-A562-3BD781E82AEB}" type="slidenum">
              <a:rPr lang="en-US" sz="800" b="0" strike="noStrike" spc="-1">
                <a:solidFill>
                  <a:srgbClr val="64748B"/>
                </a:solidFill>
                <a:latin typeface="Calibri"/>
                <a:ea typeface="Calibri"/>
              </a:rPr>
              <a:t>21</a:t>
            </a:fld>
            <a:endParaRPr lang="en-US" sz="800" b="0" strike="noStrike" spc="-1">
              <a:solidFill>
                <a:srgbClr val="000000"/>
              </a:solidFill>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TLS 1.3</a:t>
            </a:r>
            <a:endParaRPr lang="en-US" sz="1000" b="0" strike="noStrike" spc="-1">
              <a:solidFill>
                <a:srgbClr val="000000"/>
              </a:solidFill>
              <a:latin typeface="Arial"/>
            </a:endParaRPr>
          </a:p>
        </p:txBody>
      </p:sp>
      <p:sp>
        <p:nvSpPr>
          <p:cNvPr id="886"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6111"/>
          </a:bodyPr>
          <a:lstStyle/>
          <a:p>
            <a:pPr defTabSz="914400">
              <a:lnSpc>
                <a:spcPct val="100000"/>
              </a:lnSpc>
              <a:tabLst>
                <a:tab pos="0" algn="l"/>
              </a:tabLst>
            </a:pPr>
            <a:r>
              <a:rPr lang="en-US" sz="2700" b="1" strike="noStrike" spc="-1">
                <a:solidFill>
                  <a:srgbClr val="1F497D"/>
                </a:solidFill>
                <a:latin typeface="Calibri"/>
                <a:ea typeface="Calibri"/>
              </a:rPr>
              <a:t>TLS 1.3 compresses the handshake and requires modern primitives</a:t>
            </a:r>
            <a:endParaRPr lang="en-US" sz="2700" b="0" strike="noStrike" spc="-1">
              <a:solidFill>
                <a:srgbClr val="000000"/>
              </a:solidFill>
              <a:latin typeface="Arial"/>
            </a:endParaRPr>
          </a:p>
        </p:txBody>
      </p:sp>
      <p:sp>
        <p:nvSpPr>
          <p:cNvPr id="887"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Fewer round trips; forward-secret key exchange by design.</a:t>
            </a:r>
            <a:endParaRPr lang="en-US" sz="1250" b="0" strike="noStrike" spc="-1">
              <a:solidFill>
                <a:srgbClr val="000000"/>
              </a:solidFill>
              <a:latin typeface="Arial"/>
            </a:endParaRPr>
          </a:p>
        </p:txBody>
      </p:sp>
      <p:sp>
        <p:nvSpPr>
          <p:cNvPr id="889" name="Shape 6"/>
          <p:cNvSpPr/>
          <p:nvPr/>
        </p:nvSpPr>
        <p:spPr>
          <a:xfrm>
            <a:off x="914400" y="2423160"/>
            <a:ext cx="639720" cy="63972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0" name="Text 7"/>
          <p:cNvSpPr/>
          <p:nvPr/>
        </p:nvSpPr>
        <p:spPr>
          <a:xfrm>
            <a:off x="914400" y="2642760"/>
            <a:ext cx="63972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600" b="1" strike="noStrike" spc="-1">
                <a:solidFill>
                  <a:srgbClr val="FFFFFF"/>
                </a:solidFill>
                <a:latin typeface="Calibri"/>
                <a:ea typeface="Calibri"/>
              </a:rPr>
              <a:t>1</a:t>
            </a:r>
            <a:endParaRPr lang="en-US" sz="1600" b="0" strike="noStrike" spc="-1">
              <a:solidFill>
                <a:srgbClr val="000000"/>
              </a:solidFill>
              <a:latin typeface="Arial"/>
            </a:endParaRPr>
          </a:p>
        </p:txBody>
      </p:sp>
      <p:sp>
        <p:nvSpPr>
          <p:cNvPr id="891" name="Text 8"/>
          <p:cNvSpPr/>
          <p:nvPr/>
        </p:nvSpPr>
        <p:spPr>
          <a:xfrm>
            <a:off x="484560" y="3246120"/>
            <a:ext cx="15084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400" b="1" strike="noStrike" spc="-1">
                <a:solidFill>
                  <a:srgbClr val="1F497D"/>
                </a:solidFill>
                <a:latin typeface="Calibri"/>
                <a:ea typeface="Calibri"/>
              </a:rPr>
              <a:t>ClientHello</a:t>
            </a:r>
            <a:endParaRPr lang="en-US" sz="1400" b="0" strike="noStrike" spc="-1">
              <a:solidFill>
                <a:srgbClr val="000000"/>
              </a:solidFill>
              <a:latin typeface="Arial"/>
            </a:endParaRPr>
          </a:p>
        </p:txBody>
      </p:sp>
      <p:sp>
        <p:nvSpPr>
          <p:cNvPr id="892" name="Text 9"/>
          <p:cNvSpPr/>
          <p:nvPr/>
        </p:nvSpPr>
        <p:spPr>
          <a:xfrm>
            <a:off x="311040" y="3611880"/>
            <a:ext cx="18468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strike="noStrike" spc="-1">
                <a:solidFill>
                  <a:srgbClr val="64748B"/>
                </a:solidFill>
                <a:latin typeface="Calibri"/>
                <a:ea typeface="Calibri"/>
              </a:rPr>
              <a:t>key share + SNI</a:t>
            </a:r>
            <a:endParaRPr lang="en-US" sz="1150" b="0" strike="noStrike" spc="-1">
              <a:solidFill>
                <a:srgbClr val="000000"/>
              </a:solidFill>
              <a:latin typeface="Arial"/>
            </a:endParaRPr>
          </a:p>
        </p:txBody>
      </p:sp>
      <p:sp>
        <p:nvSpPr>
          <p:cNvPr id="893" name="Shape 10"/>
          <p:cNvSpPr/>
          <p:nvPr/>
        </p:nvSpPr>
        <p:spPr>
          <a:xfrm>
            <a:off x="1618200" y="2743200"/>
            <a:ext cx="19936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894" name="Shape 11"/>
          <p:cNvSpPr/>
          <p:nvPr/>
        </p:nvSpPr>
        <p:spPr>
          <a:xfrm>
            <a:off x="3703320" y="2423160"/>
            <a:ext cx="639720" cy="63972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5" name="Text 12"/>
          <p:cNvSpPr/>
          <p:nvPr/>
        </p:nvSpPr>
        <p:spPr>
          <a:xfrm>
            <a:off x="3703320" y="2642760"/>
            <a:ext cx="63972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600" b="1" strike="noStrike" spc="-1">
                <a:solidFill>
                  <a:srgbClr val="FFFFFF"/>
                </a:solidFill>
                <a:latin typeface="Calibri"/>
                <a:ea typeface="Calibri"/>
              </a:rPr>
              <a:t>2</a:t>
            </a:r>
            <a:endParaRPr lang="en-US" sz="1600" b="0" strike="noStrike" spc="-1">
              <a:solidFill>
                <a:srgbClr val="000000"/>
              </a:solidFill>
              <a:latin typeface="Arial"/>
            </a:endParaRPr>
          </a:p>
        </p:txBody>
      </p:sp>
      <p:sp>
        <p:nvSpPr>
          <p:cNvPr id="896" name="Text 13"/>
          <p:cNvSpPr/>
          <p:nvPr/>
        </p:nvSpPr>
        <p:spPr>
          <a:xfrm>
            <a:off x="3273480" y="3246120"/>
            <a:ext cx="15084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400" b="1" strike="noStrike" spc="-1">
                <a:solidFill>
                  <a:srgbClr val="1F497D"/>
                </a:solidFill>
                <a:latin typeface="Calibri"/>
                <a:ea typeface="Calibri"/>
              </a:rPr>
              <a:t>ServerHello</a:t>
            </a:r>
            <a:endParaRPr lang="en-US" sz="1400" b="0" strike="noStrike" spc="-1">
              <a:solidFill>
                <a:srgbClr val="000000"/>
              </a:solidFill>
              <a:latin typeface="Arial"/>
            </a:endParaRPr>
          </a:p>
        </p:txBody>
      </p:sp>
      <p:sp>
        <p:nvSpPr>
          <p:cNvPr id="897" name="Text 14"/>
          <p:cNvSpPr/>
          <p:nvPr/>
        </p:nvSpPr>
        <p:spPr>
          <a:xfrm>
            <a:off x="3099960" y="3611880"/>
            <a:ext cx="18468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strike="noStrike" spc="-1">
                <a:solidFill>
                  <a:srgbClr val="64748B"/>
                </a:solidFill>
                <a:latin typeface="Calibri"/>
                <a:ea typeface="Calibri"/>
              </a:rPr>
              <a:t>selected key share</a:t>
            </a:r>
            <a:endParaRPr lang="en-US" sz="1150" b="0" strike="noStrike" spc="-1">
              <a:solidFill>
                <a:srgbClr val="000000"/>
              </a:solidFill>
              <a:latin typeface="Arial"/>
            </a:endParaRPr>
          </a:p>
        </p:txBody>
      </p:sp>
      <p:sp>
        <p:nvSpPr>
          <p:cNvPr id="898" name="Shape 15"/>
          <p:cNvSpPr/>
          <p:nvPr/>
        </p:nvSpPr>
        <p:spPr>
          <a:xfrm>
            <a:off x="4407120" y="2743200"/>
            <a:ext cx="19936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899" name="Shape 16"/>
          <p:cNvSpPr/>
          <p:nvPr/>
        </p:nvSpPr>
        <p:spPr>
          <a:xfrm>
            <a:off x="6492240" y="2423160"/>
            <a:ext cx="639720" cy="63972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00" name="Text 17"/>
          <p:cNvSpPr/>
          <p:nvPr/>
        </p:nvSpPr>
        <p:spPr>
          <a:xfrm>
            <a:off x="6492240" y="2642760"/>
            <a:ext cx="63972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600" b="1" strike="noStrike" spc="-1">
                <a:solidFill>
                  <a:srgbClr val="FFFFFF"/>
                </a:solidFill>
                <a:latin typeface="Calibri"/>
                <a:ea typeface="Calibri"/>
              </a:rPr>
              <a:t>3</a:t>
            </a:r>
            <a:endParaRPr lang="en-US" sz="1600" b="0" strike="noStrike" spc="-1">
              <a:solidFill>
                <a:srgbClr val="000000"/>
              </a:solidFill>
              <a:latin typeface="Arial"/>
            </a:endParaRPr>
          </a:p>
        </p:txBody>
      </p:sp>
      <p:sp>
        <p:nvSpPr>
          <p:cNvPr id="901" name="Text 18"/>
          <p:cNvSpPr/>
          <p:nvPr/>
        </p:nvSpPr>
        <p:spPr>
          <a:xfrm>
            <a:off x="6062400" y="3246120"/>
            <a:ext cx="15084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400" b="1" strike="noStrike" spc="-1">
                <a:solidFill>
                  <a:srgbClr val="1F497D"/>
                </a:solidFill>
                <a:latin typeface="Calibri"/>
                <a:ea typeface="Calibri"/>
              </a:rPr>
              <a:t>Certificate</a:t>
            </a:r>
            <a:endParaRPr lang="en-US" sz="1400" b="0" strike="noStrike" spc="-1">
              <a:solidFill>
                <a:srgbClr val="000000"/>
              </a:solidFill>
              <a:latin typeface="Arial"/>
            </a:endParaRPr>
          </a:p>
        </p:txBody>
      </p:sp>
      <p:sp>
        <p:nvSpPr>
          <p:cNvPr id="902" name="Text 19"/>
          <p:cNvSpPr/>
          <p:nvPr/>
        </p:nvSpPr>
        <p:spPr>
          <a:xfrm>
            <a:off x="5888880" y="3611880"/>
            <a:ext cx="18468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strike="noStrike" spc="-1">
                <a:solidFill>
                  <a:srgbClr val="64748B"/>
                </a:solidFill>
                <a:latin typeface="Calibri"/>
                <a:ea typeface="Calibri"/>
              </a:rPr>
              <a:t>identity + signature</a:t>
            </a:r>
            <a:endParaRPr lang="en-US" sz="1150" b="0" strike="noStrike" spc="-1">
              <a:solidFill>
                <a:srgbClr val="000000"/>
              </a:solidFill>
              <a:latin typeface="Arial"/>
            </a:endParaRPr>
          </a:p>
        </p:txBody>
      </p:sp>
      <p:sp>
        <p:nvSpPr>
          <p:cNvPr id="903" name="Shape 20"/>
          <p:cNvSpPr/>
          <p:nvPr/>
        </p:nvSpPr>
        <p:spPr>
          <a:xfrm>
            <a:off x="7196040" y="2743200"/>
            <a:ext cx="19936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904" name="Shape 21"/>
          <p:cNvSpPr/>
          <p:nvPr/>
        </p:nvSpPr>
        <p:spPr>
          <a:xfrm>
            <a:off x="9281160" y="2423160"/>
            <a:ext cx="639720" cy="63972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05" name="Text 22"/>
          <p:cNvSpPr/>
          <p:nvPr/>
        </p:nvSpPr>
        <p:spPr>
          <a:xfrm>
            <a:off x="9281160" y="2642760"/>
            <a:ext cx="639720" cy="145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62222" lnSpcReduction="10000"/>
          </a:bodyPr>
          <a:lstStyle/>
          <a:p>
            <a:pPr algn="ctr" defTabSz="914400">
              <a:lnSpc>
                <a:spcPct val="100000"/>
              </a:lnSpc>
              <a:tabLst>
                <a:tab pos="0" algn="l"/>
              </a:tabLst>
            </a:pPr>
            <a:r>
              <a:rPr lang="en-US" sz="1600" b="1" strike="noStrike" spc="-1">
                <a:solidFill>
                  <a:srgbClr val="FFFFFF"/>
                </a:solidFill>
                <a:latin typeface="Calibri"/>
                <a:ea typeface="Calibri"/>
              </a:rPr>
              <a:t>4</a:t>
            </a:r>
            <a:endParaRPr lang="en-US" sz="1600" b="0" strike="noStrike" spc="-1">
              <a:solidFill>
                <a:srgbClr val="000000"/>
              </a:solidFill>
              <a:latin typeface="Arial"/>
            </a:endParaRPr>
          </a:p>
        </p:txBody>
      </p:sp>
      <p:sp>
        <p:nvSpPr>
          <p:cNvPr id="906" name="Text 23"/>
          <p:cNvSpPr/>
          <p:nvPr/>
        </p:nvSpPr>
        <p:spPr>
          <a:xfrm>
            <a:off x="8851320" y="3246120"/>
            <a:ext cx="15084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a:bodyPr>
          <a:lstStyle/>
          <a:p>
            <a:pPr algn="ctr" defTabSz="914400">
              <a:lnSpc>
                <a:spcPct val="100000"/>
              </a:lnSpc>
              <a:tabLst>
                <a:tab pos="0" algn="l"/>
              </a:tabLst>
            </a:pPr>
            <a:r>
              <a:rPr lang="en-US" sz="1400" b="1" strike="noStrike" spc="-1">
                <a:solidFill>
                  <a:srgbClr val="1F497D"/>
                </a:solidFill>
                <a:latin typeface="Calibri"/>
                <a:ea typeface="Calibri"/>
              </a:rPr>
              <a:t>Encrypted data</a:t>
            </a:r>
            <a:endParaRPr lang="en-US" sz="1400" b="0" strike="noStrike" spc="-1">
              <a:solidFill>
                <a:srgbClr val="000000"/>
              </a:solidFill>
              <a:latin typeface="Arial"/>
            </a:endParaRPr>
          </a:p>
        </p:txBody>
      </p:sp>
      <p:sp>
        <p:nvSpPr>
          <p:cNvPr id="907" name="Text 24"/>
          <p:cNvSpPr/>
          <p:nvPr/>
        </p:nvSpPr>
        <p:spPr>
          <a:xfrm>
            <a:off x="8677800" y="3611880"/>
            <a:ext cx="184680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150" b="0" strike="noStrike" spc="-1">
                <a:solidFill>
                  <a:srgbClr val="64748B"/>
                </a:solidFill>
                <a:latin typeface="Calibri"/>
                <a:ea typeface="Calibri"/>
              </a:rPr>
              <a:t>application traffic</a:t>
            </a:r>
            <a:endParaRPr lang="en-US" sz="1150" b="0" strike="noStrike" spc="-1">
              <a:solidFill>
                <a:srgbClr val="000000"/>
              </a:solidFill>
              <a:latin typeface="Arial"/>
            </a:endParaRPr>
          </a:p>
        </p:txBody>
      </p:sp>
      <p:sp>
        <p:nvSpPr>
          <p:cNvPr id="908" name="Shape 25"/>
          <p:cNvSpPr/>
          <p:nvPr/>
        </p:nvSpPr>
        <p:spPr>
          <a:xfrm>
            <a:off x="2999160" y="4572000"/>
            <a:ext cx="6171840" cy="273960"/>
          </a:xfrm>
          <a:prstGeom prst="roundRect">
            <a:avLst>
              <a:gd name="adj" fmla="val 26667"/>
            </a:avLst>
          </a:prstGeom>
          <a:solidFill>
            <a:srgbClr val="8064A2"/>
          </a:solidFill>
          <a:ln w="1270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09" name="Text 26"/>
          <p:cNvSpPr/>
          <p:nvPr/>
        </p:nvSpPr>
        <p:spPr>
          <a:xfrm>
            <a:off x="3072240" y="4590360"/>
            <a:ext cx="602568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TLS 1.3: AEAD + (EC)DHE + authenticated handshake</a:t>
            </a:r>
            <a:endParaRPr lang="en-US" sz="1000" b="0" strike="noStrike" spc="-1">
              <a:solidFill>
                <a:srgbClr val="000000"/>
              </a:solidFill>
              <a:latin typeface="Arial"/>
            </a:endParaRPr>
          </a:p>
        </p:txBody>
      </p:sp>
      <p:sp>
        <p:nvSpPr>
          <p:cNvPr id="910" name="PlaceHolder 1"/>
          <p:cNvSpPr>
            <a:spLocks noGrp="1"/>
          </p:cNvSpPr>
          <p:nvPr>
            <p:ph type="sldNum" idx="37"/>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A6AC574C-A517-4B6F-9E63-CD6C0466544B}" type="slidenum">
              <a:rPr lang="en-US" sz="800" b="0" strike="noStrike" spc="-1">
                <a:solidFill>
                  <a:srgbClr val="64748B"/>
                </a:solidFill>
                <a:latin typeface="Calibri"/>
                <a:ea typeface="Calibri"/>
              </a:rPr>
              <a:t>22</a:t>
            </a:fld>
            <a:endParaRPr lang="en-US" sz="800" b="0" strike="noStrike" spc="-1">
              <a:solidFill>
                <a:srgbClr val="000000"/>
              </a:solidFill>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 name="Rectangle 925"/>
          <p:cNvSpPr/>
          <p:nvPr/>
        </p:nvSpPr>
        <p:spPr>
          <a:xfrm>
            <a:off x="0" y="0"/>
            <a:ext cx="12191760" cy="109800"/>
          </a:xfrm>
          <a:prstGeom prst="rect">
            <a:avLst/>
          </a:prstGeom>
          <a:solidFill>
            <a:srgbClr val="4BACC6"/>
          </a:solidFill>
          <a:ln w="0">
            <a:solidFill>
              <a:srgbClr val="4BACC6"/>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927" name="TextBox 926"/>
          <p:cNvSpPr txBox="1"/>
          <p:nvPr/>
        </p:nvSpPr>
        <p:spPr>
          <a:xfrm>
            <a:off x="502920" y="320040"/>
            <a:ext cx="3657600" cy="201240"/>
          </a:xfrm>
          <a:prstGeom prst="rect">
            <a:avLst/>
          </a:prstGeom>
          <a:noFill/>
          <a:ln w="0">
            <a:noFill/>
          </a:ln>
        </p:spPr>
        <p:txBody>
          <a:bodyPr lIns="90000" tIns="45000" rIns="90000" bIns="45000" anchor="t">
            <a:noAutofit/>
          </a:bodyPr>
          <a:lstStyle/>
          <a:p>
            <a:r>
              <a:rPr lang="en-US" sz="1000" b="1" strike="noStrike" spc="-1">
                <a:solidFill>
                  <a:srgbClr val="4BACC6"/>
                </a:solidFill>
                <a:latin typeface="Calibri"/>
              </a:rPr>
              <a:t>TLS VERSIONS</a:t>
            </a:r>
          </a:p>
        </p:txBody>
      </p:sp>
      <p:sp>
        <p:nvSpPr>
          <p:cNvPr id="928" name="TextBox 927"/>
          <p:cNvSpPr txBox="1"/>
          <p:nvPr/>
        </p:nvSpPr>
        <p:spPr>
          <a:xfrm>
            <a:off x="502920" y="567000"/>
            <a:ext cx="10972800" cy="511920"/>
          </a:xfrm>
          <a:prstGeom prst="rect">
            <a:avLst/>
          </a:prstGeom>
          <a:noFill/>
          <a:ln w="0">
            <a:noFill/>
          </a:ln>
        </p:spPr>
        <p:txBody>
          <a:bodyPr lIns="90000" tIns="45000" rIns="90000" bIns="45000" anchor="t">
            <a:noAutofit/>
          </a:bodyPr>
          <a:lstStyle/>
          <a:p>
            <a:r>
              <a:rPr lang="en-US" sz="2700" b="1" strike="noStrike" spc="-1">
                <a:solidFill>
                  <a:srgbClr val="1F497D"/>
                </a:solidFill>
                <a:latin typeface="Calibri"/>
              </a:rPr>
              <a:t>TLS 1.2 vs. TLS 1.3</a:t>
            </a:r>
          </a:p>
        </p:txBody>
      </p:sp>
      <p:sp>
        <p:nvSpPr>
          <p:cNvPr id="929" name="TextBox 928"/>
          <p:cNvSpPr txBox="1"/>
          <p:nvPr/>
        </p:nvSpPr>
        <p:spPr>
          <a:xfrm>
            <a:off x="530280" y="1115640"/>
            <a:ext cx="10698480" cy="311040"/>
          </a:xfrm>
          <a:prstGeom prst="rect">
            <a:avLst/>
          </a:prstGeom>
          <a:noFill/>
          <a:ln w="0">
            <a:noFill/>
          </a:ln>
        </p:spPr>
        <p:txBody>
          <a:bodyPr lIns="90000" tIns="45000" rIns="90000" bIns="45000" anchor="t">
            <a:noAutofit/>
          </a:bodyPr>
          <a:lstStyle/>
          <a:p>
            <a:r>
              <a:rPr lang="en-US" sz="1250" b="0" strike="noStrike" spc="-1">
                <a:solidFill>
                  <a:srgbClr val="64748B"/>
                </a:solidFill>
                <a:latin typeface="Calibri"/>
              </a:rPr>
              <a:t>Both can be secure when configured well; TLS 1.3 removes legacy choices and simplifies the handshake.</a:t>
            </a:r>
          </a:p>
        </p:txBody>
      </p:sp>
      <p:sp>
        <p:nvSpPr>
          <p:cNvPr id="930" name="Rectangle: Rounded Corners 929"/>
          <p:cNvSpPr/>
          <p:nvPr/>
        </p:nvSpPr>
        <p:spPr>
          <a:xfrm>
            <a:off x="685800" y="1737360"/>
            <a:ext cx="5257800" cy="3429000"/>
          </a:xfrm>
          <a:prstGeom prst="roundRect">
            <a:avLst/>
          </a:prstGeom>
          <a:solidFill>
            <a:srgbClr val="EEF2FA"/>
          </a:solidFill>
          <a:ln w="0">
            <a:solidFill>
              <a:srgbClr val="4F81B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931" name="Rectangle: Rounded Corners 930"/>
          <p:cNvSpPr/>
          <p:nvPr/>
        </p:nvSpPr>
        <p:spPr>
          <a:xfrm>
            <a:off x="6263640" y="1737360"/>
            <a:ext cx="5257800" cy="3429000"/>
          </a:xfrm>
          <a:prstGeom prst="roundRect">
            <a:avLst/>
          </a:prstGeom>
          <a:solidFill>
            <a:srgbClr val="F5EFFA"/>
          </a:solidFill>
          <a:ln w="0">
            <a:solidFill>
              <a:srgbClr val="8064A2"/>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932" name="TextBox 931"/>
          <p:cNvSpPr txBox="1"/>
          <p:nvPr/>
        </p:nvSpPr>
        <p:spPr>
          <a:xfrm>
            <a:off x="1005840" y="1993320"/>
            <a:ext cx="4572000" cy="292680"/>
          </a:xfrm>
          <a:prstGeom prst="rect">
            <a:avLst/>
          </a:prstGeom>
          <a:noFill/>
          <a:ln w="0">
            <a:noFill/>
          </a:ln>
        </p:spPr>
        <p:txBody>
          <a:bodyPr lIns="90000" tIns="45000" rIns="90000" bIns="45000" anchor="t">
            <a:noAutofit/>
          </a:bodyPr>
          <a:lstStyle/>
          <a:p>
            <a:pPr algn="ctr"/>
            <a:r>
              <a:rPr lang="en-US" sz="2300" b="1" strike="noStrike" spc="-1">
                <a:solidFill>
                  <a:srgbClr val="4F81BD"/>
                </a:solidFill>
                <a:latin typeface="Calibri"/>
              </a:rPr>
              <a:t>TLS 1.2</a:t>
            </a:r>
          </a:p>
        </p:txBody>
      </p:sp>
      <p:sp>
        <p:nvSpPr>
          <p:cNvPr id="933" name="TextBox 932"/>
          <p:cNvSpPr txBox="1"/>
          <p:nvPr/>
        </p:nvSpPr>
        <p:spPr>
          <a:xfrm>
            <a:off x="6583680" y="1993320"/>
            <a:ext cx="4572000" cy="292680"/>
          </a:xfrm>
          <a:prstGeom prst="rect">
            <a:avLst/>
          </a:prstGeom>
          <a:noFill/>
          <a:ln w="0">
            <a:noFill/>
          </a:ln>
        </p:spPr>
        <p:txBody>
          <a:bodyPr lIns="90000" tIns="45000" rIns="90000" bIns="45000" anchor="t">
            <a:noAutofit/>
          </a:bodyPr>
          <a:lstStyle/>
          <a:p>
            <a:pPr algn="ctr"/>
            <a:r>
              <a:rPr lang="en-US" sz="2300" b="1" strike="noStrike" spc="-1">
                <a:solidFill>
                  <a:srgbClr val="8064A2"/>
                </a:solidFill>
                <a:latin typeface="Calibri"/>
              </a:rPr>
              <a:t>TLS 1.3</a:t>
            </a:r>
          </a:p>
        </p:txBody>
      </p:sp>
      <p:sp>
        <p:nvSpPr>
          <p:cNvPr id="934" name="TextBox 933"/>
          <p:cNvSpPr txBox="1"/>
          <p:nvPr/>
        </p:nvSpPr>
        <p:spPr>
          <a:xfrm>
            <a:off x="1024200" y="257868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More negotiation options</a:t>
            </a:r>
          </a:p>
        </p:txBody>
      </p:sp>
      <p:sp>
        <p:nvSpPr>
          <p:cNvPr id="935" name="TextBox 934"/>
          <p:cNvSpPr txBox="1"/>
          <p:nvPr/>
        </p:nvSpPr>
        <p:spPr>
          <a:xfrm>
            <a:off x="1024200" y="306324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Cipher names can include ECDHE, RSA, AES-GCM, SHA-2</a:t>
            </a:r>
          </a:p>
        </p:txBody>
      </p:sp>
      <p:sp>
        <p:nvSpPr>
          <p:cNvPr id="936" name="TextBox 935"/>
          <p:cNvSpPr txBox="1"/>
          <p:nvPr/>
        </p:nvSpPr>
        <p:spPr>
          <a:xfrm>
            <a:off x="1024200" y="354780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Forward secrecy depends on choosing ECDHE</a:t>
            </a:r>
          </a:p>
        </p:txBody>
      </p:sp>
      <p:sp>
        <p:nvSpPr>
          <p:cNvPr id="937" name="TextBox 936"/>
          <p:cNvSpPr txBox="1"/>
          <p:nvPr/>
        </p:nvSpPr>
        <p:spPr>
          <a:xfrm>
            <a:off x="1024200" y="403236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More legacy compatibility, more configuration surface</a:t>
            </a:r>
          </a:p>
        </p:txBody>
      </p:sp>
      <p:sp>
        <p:nvSpPr>
          <p:cNvPr id="938" name="TextBox 937"/>
          <p:cNvSpPr txBox="1"/>
          <p:nvPr/>
        </p:nvSpPr>
        <p:spPr>
          <a:xfrm>
            <a:off x="6602040" y="257868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Shorter, more opinionated handshake</a:t>
            </a:r>
          </a:p>
        </p:txBody>
      </p:sp>
      <p:sp>
        <p:nvSpPr>
          <p:cNvPr id="939" name="TextBox 938"/>
          <p:cNvSpPr txBox="1"/>
          <p:nvPr/>
        </p:nvSpPr>
        <p:spPr>
          <a:xfrm>
            <a:off x="6602040" y="306324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AEAD suites only: AES-GCM or ChaCha20-Poly1305</a:t>
            </a:r>
          </a:p>
        </p:txBody>
      </p:sp>
      <p:sp>
        <p:nvSpPr>
          <p:cNvPr id="940" name="TextBox 939"/>
          <p:cNvSpPr txBox="1"/>
          <p:nvPr/>
        </p:nvSpPr>
        <p:spPr>
          <a:xfrm>
            <a:off x="6602040" y="354780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Ephemeral key exchange is built into the design</a:t>
            </a:r>
          </a:p>
        </p:txBody>
      </p:sp>
      <p:sp>
        <p:nvSpPr>
          <p:cNvPr id="941" name="TextBox 940"/>
          <p:cNvSpPr txBox="1"/>
          <p:nvPr/>
        </p:nvSpPr>
        <p:spPr>
          <a:xfrm>
            <a:off x="6602040" y="4032360"/>
            <a:ext cx="4526280" cy="292680"/>
          </a:xfrm>
          <a:prstGeom prst="rect">
            <a:avLst/>
          </a:prstGeom>
          <a:noFill/>
          <a:ln w="0">
            <a:noFill/>
          </a:ln>
        </p:spPr>
        <p:txBody>
          <a:bodyPr lIns="90000" tIns="45000" rIns="90000" bIns="45000" anchor="t">
            <a:noAutofit/>
          </a:bodyPr>
          <a:lstStyle/>
          <a:p>
            <a:r>
              <a:rPr lang="en-US" sz="1400" b="0" strike="noStrike" spc="-1">
                <a:solidFill>
                  <a:srgbClr val="203040"/>
                </a:solidFill>
                <a:latin typeface="Calibri"/>
              </a:rPr>
              <a:t>• Removes obsolete algorithms and reduces downgrade surface</a:t>
            </a:r>
          </a:p>
        </p:txBody>
      </p:sp>
      <p:sp>
        <p:nvSpPr>
          <p:cNvPr id="942" name="Rectangle: Rounded Corners 941"/>
          <p:cNvSpPr/>
          <p:nvPr/>
        </p:nvSpPr>
        <p:spPr>
          <a:xfrm>
            <a:off x="914400" y="4956120"/>
            <a:ext cx="10195560" cy="786240"/>
          </a:xfrm>
          <a:prstGeom prst="roundRect">
            <a:avLst/>
          </a:prstGeom>
          <a:solidFill>
            <a:srgbClr val="FFFFFF"/>
          </a:solidFill>
          <a:ln w="0">
            <a:solidFill>
              <a:srgbClr val="1F497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943" name="Rectangle 942"/>
          <p:cNvSpPr/>
          <p:nvPr/>
        </p:nvSpPr>
        <p:spPr>
          <a:xfrm>
            <a:off x="914400" y="4956120"/>
            <a:ext cx="91440" cy="786240"/>
          </a:xfrm>
          <a:prstGeom prst="rect">
            <a:avLst/>
          </a:prstGeom>
          <a:solidFill>
            <a:srgbClr val="1F497D"/>
          </a:solidFill>
          <a:ln w="0">
            <a:solidFill>
              <a:srgbClr val="1F497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944" name="TextBox 943"/>
          <p:cNvSpPr txBox="1"/>
          <p:nvPr/>
        </p:nvSpPr>
        <p:spPr>
          <a:xfrm>
            <a:off x="1134000" y="5065920"/>
            <a:ext cx="9875520" cy="201240"/>
          </a:xfrm>
          <a:prstGeom prst="rect">
            <a:avLst/>
          </a:prstGeom>
          <a:noFill/>
          <a:ln w="0">
            <a:noFill/>
          </a:ln>
        </p:spPr>
        <p:txBody>
          <a:bodyPr lIns="90000" tIns="45000" rIns="90000" bIns="45000" anchor="t">
            <a:noAutofit/>
          </a:bodyPr>
          <a:lstStyle/>
          <a:p>
            <a:r>
              <a:rPr lang="en-US" sz="1400" b="1" strike="noStrike" spc="-1">
                <a:solidFill>
                  <a:srgbClr val="1F497D"/>
                </a:solidFill>
                <a:latin typeface="Calibri"/>
              </a:rPr>
              <a:t>Lab decision</a:t>
            </a:r>
          </a:p>
        </p:txBody>
      </p:sp>
      <p:sp>
        <p:nvSpPr>
          <p:cNvPr id="945" name="TextBox 944"/>
          <p:cNvSpPr txBox="1"/>
          <p:nvPr/>
        </p:nvSpPr>
        <p:spPr>
          <a:xfrm>
            <a:off x="1134000" y="5303520"/>
            <a:ext cx="9875520" cy="384120"/>
          </a:xfrm>
          <a:prstGeom prst="rect">
            <a:avLst/>
          </a:prstGeom>
          <a:noFill/>
          <a:ln w="0">
            <a:noFill/>
          </a:ln>
        </p:spPr>
        <p:txBody>
          <a:bodyPr lIns="90000" tIns="45000" rIns="90000" bIns="45000" anchor="t">
            <a:noAutofit/>
          </a:bodyPr>
          <a:lstStyle/>
          <a:p>
            <a:r>
              <a:rPr lang="en-US" sz="1250" b="0" strike="noStrike" spc="-1">
                <a:solidFill>
                  <a:srgbClr val="203040"/>
                </a:solidFill>
                <a:latin typeface="Calibri"/>
              </a:rPr>
              <a:t>Allow TLSv1.2 and TLSv1.3, prefer TLS 1.3, and use testssl.sh to prove what the server actually negotiates.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HARDENING</a:t>
            </a:r>
            <a:endParaRPr lang="en-US" sz="1000" b="0" strike="noStrike" spc="-1">
              <a:solidFill>
                <a:srgbClr val="000000"/>
              </a:solidFill>
              <a:latin typeface="Arial"/>
            </a:endParaRPr>
          </a:p>
        </p:txBody>
      </p:sp>
      <p:sp>
        <p:nvSpPr>
          <p:cNvPr id="947"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Protocol and cipher-suite decisions</a:t>
            </a:r>
            <a:endParaRPr lang="en-US" sz="2700" b="0" strike="noStrike" spc="-1">
              <a:solidFill>
                <a:srgbClr val="000000"/>
              </a:solidFill>
              <a:latin typeface="Arial"/>
            </a:endParaRPr>
          </a:p>
        </p:txBody>
      </p:sp>
      <p:sp>
        <p:nvSpPr>
          <p:cNvPr id="948"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Prefer modern versions, AEAD, and forward secrecy.</a:t>
            </a:r>
            <a:endParaRPr lang="en-US" sz="1250" b="0" strike="noStrike" spc="-1">
              <a:solidFill>
                <a:srgbClr val="000000"/>
              </a:solidFill>
              <a:latin typeface="Arial"/>
            </a:endParaRPr>
          </a:p>
        </p:txBody>
      </p:sp>
      <p:sp>
        <p:nvSpPr>
          <p:cNvPr id="950" name="Shape 6"/>
          <p:cNvSpPr/>
          <p:nvPr/>
        </p:nvSpPr>
        <p:spPr>
          <a:xfrm>
            <a:off x="960120" y="1828800"/>
            <a:ext cx="2742840" cy="456840"/>
          </a:xfrm>
          <a:prstGeom prst="roundRect">
            <a:avLst>
              <a:gd name="adj" fmla="val 16000"/>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1" name="Text 7"/>
          <p:cNvSpPr/>
          <p:nvPr/>
        </p:nvSpPr>
        <p:spPr>
          <a:xfrm>
            <a:off x="1097280" y="1956960"/>
            <a:ext cx="7311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defTabSz="914400">
              <a:lnSpc>
                <a:spcPct val="100000"/>
              </a:lnSpc>
              <a:tabLst>
                <a:tab pos="0" algn="l"/>
              </a:tabLst>
            </a:pPr>
            <a:r>
              <a:rPr lang="en-US" sz="1300" b="1" strike="noStrike" spc="-1">
                <a:solidFill>
                  <a:srgbClr val="FFFFFF"/>
                </a:solidFill>
                <a:latin typeface="Calibri"/>
                <a:ea typeface="Calibri"/>
              </a:rPr>
              <a:t>Allow</a:t>
            </a:r>
            <a:endParaRPr lang="en-US" sz="1300" b="0" strike="noStrike" spc="-1">
              <a:solidFill>
                <a:srgbClr val="000000"/>
              </a:solidFill>
              <a:latin typeface="Arial"/>
            </a:endParaRPr>
          </a:p>
        </p:txBody>
      </p:sp>
      <p:sp>
        <p:nvSpPr>
          <p:cNvPr id="952" name="Text 8"/>
          <p:cNvSpPr/>
          <p:nvPr/>
        </p:nvSpPr>
        <p:spPr>
          <a:xfrm>
            <a:off x="1828800" y="195696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833" lnSpcReduction="10000"/>
          </a:bodyPr>
          <a:lstStyle/>
          <a:p>
            <a:pPr defTabSz="914400">
              <a:lnSpc>
                <a:spcPct val="100000"/>
              </a:lnSpc>
              <a:tabLst>
                <a:tab pos="0" algn="l"/>
              </a:tabLst>
            </a:pPr>
            <a:r>
              <a:rPr lang="en-US" sz="1250" b="0" strike="noStrike" spc="-1">
                <a:solidFill>
                  <a:srgbClr val="FFFFFF"/>
                </a:solidFill>
                <a:latin typeface="Calibri"/>
                <a:ea typeface="Calibri"/>
              </a:rPr>
              <a:t>TLSv1.2 · TLSv1.3</a:t>
            </a:r>
            <a:endParaRPr lang="en-US" sz="1250" b="0" strike="noStrike" spc="-1">
              <a:solidFill>
                <a:srgbClr val="000000"/>
              </a:solidFill>
              <a:latin typeface="Arial"/>
            </a:endParaRPr>
          </a:p>
        </p:txBody>
      </p:sp>
      <p:sp>
        <p:nvSpPr>
          <p:cNvPr id="953" name="Shape 9"/>
          <p:cNvSpPr/>
          <p:nvPr/>
        </p:nvSpPr>
        <p:spPr>
          <a:xfrm>
            <a:off x="960120" y="2523600"/>
            <a:ext cx="2742840" cy="456840"/>
          </a:xfrm>
          <a:prstGeom prst="roundRect">
            <a:avLst>
              <a:gd name="adj" fmla="val 16000"/>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4" name="Text 10"/>
          <p:cNvSpPr/>
          <p:nvPr/>
        </p:nvSpPr>
        <p:spPr>
          <a:xfrm>
            <a:off x="1097280" y="2651760"/>
            <a:ext cx="7311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defTabSz="914400">
              <a:lnSpc>
                <a:spcPct val="100000"/>
              </a:lnSpc>
              <a:tabLst>
                <a:tab pos="0" algn="l"/>
              </a:tabLst>
            </a:pPr>
            <a:r>
              <a:rPr lang="en-US" sz="1300" b="1" strike="noStrike" spc="-1">
                <a:solidFill>
                  <a:srgbClr val="FFFFFF"/>
                </a:solidFill>
                <a:latin typeface="Calibri"/>
                <a:ea typeface="Calibri"/>
              </a:rPr>
              <a:t>Prefer</a:t>
            </a:r>
            <a:endParaRPr lang="en-US" sz="1300" b="0" strike="noStrike" spc="-1">
              <a:solidFill>
                <a:srgbClr val="000000"/>
              </a:solidFill>
              <a:latin typeface="Arial"/>
            </a:endParaRPr>
          </a:p>
        </p:txBody>
      </p:sp>
      <p:sp>
        <p:nvSpPr>
          <p:cNvPr id="955" name="Text 11"/>
          <p:cNvSpPr/>
          <p:nvPr/>
        </p:nvSpPr>
        <p:spPr>
          <a:xfrm>
            <a:off x="1828800" y="265176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0833" lnSpcReduction="20000"/>
          </a:bodyPr>
          <a:lstStyle/>
          <a:p>
            <a:pPr defTabSz="914400">
              <a:lnSpc>
                <a:spcPct val="100000"/>
              </a:lnSpc>
              <a:tabLst>
                <a:tab pos="0" algn="l"/>
              </a:tabLst>
            </a:pPr>
            <a:r>
              <a:rPr lang="en-US" sz="1250" b="0" strike="noStrike" spc="-1">
                <a:solidFill>
                  <a:srgbClr val="FFFFFF"/>
                </a:solidFill>
                <a:latin typeface="Calibri"/>
                <a:ea typeface="Calibri"/>
              </a:rPr>
              <a:t>ECDHE + AES-GCM / CHACHA20</a:t>
            </a:r>
            <a:endParaRPr lang="en-US" sz="1250" b="0" strike="noStrike" spc="-1">
              <a:solidFill>
                <a:srgbClr val="000000"/>
              </a:solidFill>
              <a:latin typeface="Arial"/>
            </a:endParaRPr>
          </a:p>
        </p:txBody>
      </p:sp>
      <p:sp>
        <p:nvSpPr>
          <p:cNvPr id="956" name="Shape 12"/>
          <p:cNvSpPr/>
          <p:nvPr/>
        </p:nvSpPr>
        <p:spPr>
          <a:xfrm>
            <a:off x="960120" y="3218760"/>
            <a:ext cx="2742840" cy="456840"/>
          </a:xfrm>
          <a:prstGeom prst="roundRect">
            <a:avLst>
              <a:gd name="adj" fmla="val 16000"/>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7" name="Text 13"/>
          <p:cNvSpPr/>
          <p:nvPr/>
        </p:nvSpPr>
        <p:spPr>
          <a:xfrm>
            <a:off x="1097280" y="3346560"/>
            <a:ext cx="7311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defTabSz="914400">
              <a:lnSpc>
                <a:spcPct val="100000"/>
              </a:lnSpc>
              <a:tabLst>
                <a:tab pos="0" algn="l"/>
              </a:tabLst>
            </a:pPr>
            <a:r>
              <a:rPr lang="en-US" sz="1300" b="1" strike="noStrike" spc="-1">
                <a:solidFill>
                  <a:srgbClr val="FFFFFF"/>
                </a:solidFill>
                <a:latin typeface="Calibri"/>
                <a:ea typeface="Calibri"/>
              </a:rPr>
              <a:t>Reject</a:t>
            </a:r>
            <a:endParaRPr lang="en-US" sz="1300" b="0" strike="noStrike" spc="-1">
              <a:solidFill>
                <a:srgbClr val="000000"/>
              </a:solidFill>
              <a:latin typeface="Arial"/>
            </a:endParaRPr>
          </a:p>
        </p:txBody>
      </p:sp>
      <p:sp>
        <p:nvSpPr>
          <p:cNvPr id="958" name="Text 14"/>
          <p:cNvSpPr/>
          <p:nvPr/>
        </p:nvSpPr>
        <p:spPr>
          <a:xfrm>
            <a:off x="1828800" y="334656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0833" lnSpcReduction="20000"/>
          </a:bodyPr>
          <a:lstStyle/>
          <a:p>
            <a:pPr defTabSz="914400">
              <a:lnSpc>
                <a:spcPct val="100000"/>
              </a:lnSpc>
              <a:tabLst>
                <a:tab pos="0" algn="l"/>
              </a:tabLst>
            </a:pPr>
            <a:r>
              <a:rPr lang="en-US" sz="1250" b="0" strike="noStrike" spc="-1">
                <a:solidFill>
                  <a:srgbClr val="FFFFFF"/>
                </a:solidFill>
                <a:latin typeface="Calibri"/>
                <a:ea typeface="Calibri"/>
              </a:rPr>
              <a:t>SSLv3 · TLS 1.0/1.1 · RC4 · 3DES</a:t>
            </a:r>
            <a:endParaRPr lang="en-US" sz="1250" b="0" strike="noStrike" spc="-1">
              <a:solidFill>
                <a:srgbClr val="000000"/>
              </a:solidFill>
              <a:latin typeface="Arial"/>
            </a:endParaRPr>
          </a:p>
        </p:txBody>
      </p:sp>
      <p:sp>
        <p:nvSpPr>
          <p:cNvPr id="959" name="Shape 15"/>
          <p:cNvSpPr/>
          <p:nvPr/>
        </p:nvSpPr>
        <p:spPr>
          <a:xfrm>
            <a:off x="960120" y="3913560"/>
            <a:ext cx="2742840" cy="456840"/>
          </a:xfrm>
          <a:prstGeom prst="roundRect">
            <a:avLst>
              <a:gd name="adj" fmla="val 16000"/>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0" name="Text 16"/>
          <p:cNvSpPr/>
          <p:nvPr/>
        </p:nvSpPr>
        <p:spPr>
          <a:xfrm>
            <a:off x="1097280" y="4041720"/>
            <a:ext cx="7311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defTabSz="914400">
              <a:lnSpc>
                <a:spcPct val="100000"/>
              </a:lnSpc>
              <a:tabLst>
                <a:tab pos="0" algn="l"/>
              </a:tabLst>
            </a:pPr>
            <a:r>
              <a:rPr lang="en-US" sz="1300" b="1" strike="noStrike" spc="-1">
                <a:solidFill>
                  <a:srgbClr val="FFFFFF"/>
                </a:solidFill>
                <a:latin typeface="Calibri"/>
                <a:ea typeface="Calibri"/>
              </a:rPr>
              <a:t>Verify</a:t>
            </a:r>
            <a:endParaRPr lang="en-US" sz="1300" b="0" strike="noStrike" spc="-1">
              <a:solidFill>
                <a:srgbClr val="000000"/>
              </a:solidFill>
              <a:latin typeface="Arial"/>
            </a:endParaRPr>
          </a:p>
        </p:txBody>
      </p:sp>
      <p:sp>
        <p:nvSpPr>
          <p:cNvPr id="961" name="Text 17"/>
          <p:cNvSpPr/>
          <p:nvPr/>
        </p:nvSpPr>
        <p:spPr>
          <a:xfrm>
            <a:off x="1828800" y="404172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defTabSz="914400">
              <a:lnSpc>
                <a:spcPct val="100000"/>
              </a:lnSpc>
              <a:tabLst>
                <a:tab pos="0" algn="l"/>
              </a:tabLst>
            </a:pPr>
            <a:r>
              <a:rPr lang="en-US" sz="1250" b="0" strike="noStrike" spc="-1">
                <a:solidFill>
                  <a:srgbClr val="FFFFFF"/>
                </a:solidFill>
                <a:latin typeface="Calibri"/>
                <a:ea typeface="Calibri"/>
              </a:rPr>
              <a:t>testssl.sh + config review</a:t>
            </a:r>
            <a:endParaRPr lang="en-US" sz="1250" b="0" strike="noStrike" spc="-1">
              <a:solidFill>
                <a:srgbClr val="000000"/>
              </a:solidFill>
              <a:latin typeface="Arial"/>
            </a:endParaRPr>
          </a:p>
        </p:txBody>
      </p:sp>
      <p:sp>
        <p:nvSpPr>
          <p:cNvPr id="962" name="Shape 18"/>
          <p:cNvSpPr/>
          <p:nvPr/>
        </p:nvSpPr>
        <p:spPr>
          <a:xfrm>
            <a:off x="4572000" y="1828800"/>
            <a:ext cx="6034680" cy="2422800"/>
          </a:xfrm>
          <a:prstGeom prst="roundRect">
            <a:avLst>
              <a:gd name="adj" fmla="val 3019"/>
            </a:avLst>
          </a:prstGeom>
          <a:solidFill>
            <a:srgbClr val="16202C"/>
          </a:solidFill>
          <a:ln w="12700">
            <a:solidFill>
              <a:srgbClr val="16202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63" name="Shape 19"/>
          <p:cNvSpPr/>
          <p:nvPr/>
        </p:nvSpPr>
        <p:spPr>
          <a:xfrm>
            <a:off x="4572000" y="1828800"/>
            <a:ext cx="91080" cy="2422800"/>
          </a:xfrm>
          <a:prstGeom prst="rect">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64" name="Text 20"/>
          <p:cNvSpPr/>
          <p:nvPr/>
        </p:nvSpPr>
        <p:spPr>
          <a:xfrm>
            <a:off x="4773240" y="1938600"/>
            <a:ext cx="5723640" cy="222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00" b="0" strike="noStrike" spc="-1">
                <a:solidFill>
                  <a:srgbClr val="E8F0F7"/>
                </a:solidFill>
                <a:latin typeface="Courier New"/>
                <a:ea typeface="Courier New"/>
              </a:rPr>
              <a:t>ssl_protocols TLSv1.2 TLSv1.3;</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ssl_ciphers 'ECDHE-RSA-AES256-GCM-SHA384:...';</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ssl_session_tickets off;</a:t>
            </a:r>
            <a:endParaRPr lang="en-US" sz="1100" b="0" strike="noStrike" spc="-1">
              <a:solidFill>
                <a:srgbClr val="000000"/>
              </a:solidFill>
              <a:latin typeface="Arial"/>
            </a:endParaRPr>
          </a:p>
        </p:txBody>
      </p:sp>
      <p:sp>
        <p:nvSpPr>
          <p:cNvPr id="965" name="Shape 21"/>
          <p:cNvSpPr/>
          <p:nvPr/>
        </p:nvSpPr>
        <p:spPr>
          <a:xfrm>
            <a:off x="4572000" y="4526280"/>
            <a:ext cx="6034680" cy="749520"/>
          </a:xfrm>
          <a:prstGeom prst="roundRect">
            <a:avLst>
              <a:gd name="adj" fmla="val 9756"/>
            </a:avLst>
          </a:prstGeom>
          <a:solidFill>
            <a:srgbClr val="FFFFFF"/>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6" name="Shape 22"/>
          <p:cNvSpPr/>
          <p:nvPr/>
        </p:nvSpPr>
        <p:spPr>
          <a:xfrm>
            <a:off x="4572000" y="4526280"/>
            <a:ext cx="100080" cy="749520"/>
          </a:xfrm>
          <a:prstGeom prst="rect">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67" name="Text 23"/>
          <p:cNvSpPr/>
          <p:nvPr/>
        </p:nvSpPr>
        <p:spPr>
          <a:xfrm>
            <a:off x="4809600" y="4636080"/>
            <a:ext cx="5687280" cy="237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1" strike="noStrike" spc="-1">
                <a:solidFill>
                  <a:srgbClr val="F79646"/>
                </a:solidFill>
                <a:latin typeface="Calibri"/>
                <a:ea typeface="Calibri"/>
              </a:rPr>
              <a:t>Validation habit</a:t>
            </a:r>
            <a:endParaRPr lang="en-US" sz="1400" b="0" strike="noStrike" spc="-1">
              <a:solidFill>
                <a:srgbClr val="000000"/>
              </a:solidFill>
              <a:latin typeface="Arial"/>
            </a:endParaRPr>
          </a:p>
        </p:txBody>
      </p:sp>
      <p:sp>
        <p:nvSpPr>
          <p:cNvPr id="968" name="Text 24"/>
          <p:cNvSpPr/>
          <p:nvPr/>
        </p:nvSpPr>
        <p:spPr>
          <a:xfrm>
            <a:off x="4809600" y="4937760"/>
            <a:ext cx="5687280" cy="246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50" b="0" strike="noStrike" spc="-1">
                <a:solidFill>
                  <a:srgbClr val="203040"/>
                </a:solidFill>
                <a:latin typeface="Calibri"/>
                <a:ea typeface="Calibri"/>
              </a:rPr>
              <a:t>Configuration is a hypothesis. `testssl.sh` is evidence.</a:t>
            </a:r>
            <a:endParaRPr lang="en-US" sz="1250" b="0" strike="noStrike" spc="-1">
              <a:solidFill>
                <a:srgbClr val="000000"/>
              </a:solidFill>
              <a:latin typeface="Arial"/>
            </a:endParaRPr>
          </a:p>
        </p:txBody>
      </p:sp>
      <p:sp>
        <p:nvSpPr>
          <p:cNvPr id="969" name="PlaceHolder 1"/>
          <p:cNvSpPr>
            <a:spLocks noGrp="1"/>
          </p:cNvSpPr>
          <p:nvPr>
            <p:ph type="sldNum" idx="39"/>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E54599CC-96FE-42B7-9B25-07D814383143}" type="slidenum">
              <a:rPr lang="en-US" sz="800" b="0" strike="noStrike" spc="-1">
                <a:solidFill>
                  <a:srgbClr val="64748B"/>
                </a:solidFill>
                <a:latin typeface="Calibri"/>
                <a:ea typeface="Calibri"/>
              </a:rPr>
              <a:t>24</a:t>
            </a:fld>
            <a:endParaRPr lang="en-US" sz="800" b="0" strike="noStrike" spc="-1">
              <a:solidFill>
                <a:srgbClr val="000000"/>
              </a:solidFill>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LAB PART 5</a:t>
            </a:r>
            <a:endParaRPr lang="en-US" sz="1000" b="0" strike="noStrike" spc="-1">
              <a:solidFill>
                <a:srgbClr val="000000"/>
              </a:solidFill>
              <a:latin typeface="Arial"/>
            </a:endParaRPr>
          </a:p>
        </p:txBody>
      </p:sp>
      <p:sp>
        <p:nvSpPr>
          <p:cNvPr id="1019"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Read the Nginx config as a security story</a:t>
            </a:r>
            <a:endParaRPr lang="en-US" sz="2700" b="0" strike="noStrike" spc="-1">
              <a:solidFill>
                <a:srgbClr val="000000"/>
              </a:solidFill>
              <a:latin typeface="Arial"/>
            </a:endParaRPr>
          </a:p>
        </p:txBody>
      </p:sp>
      <p:sp>
        <p:nvSpPr>
          <p:cNvPr id="1020"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Certificate, protocol, header, redirect, and file permissions.</a:t>
            </a:r>
            <a:endParaRPr lang="en-US" sz="1250" b="0" strike="noStrike" spc="-1">
              <a:solidFill>
                <a:srgbClr val="000000"/>
              </a:solidFill>
              <a:latin typeface="Arial"/>
            </a:endParaRPr>
          </a:p>
        </p:txBody>
      </p:sp>
      <p:sp>
        <p:nvSpPr>
          <p:cNvPr id="1022" name="Shape 6"/>
          <p:cNvSpPr/>
          <p:nvPr/>
        </p:nvSpPr>
        <p:spPr>
          <a:xfrm>
            <a:off x="640080" y="1755720"/>
            <a:ext cx="6583320" cy="3611520"/>
          </a:xfrm>
          <a:prstGeom prst="roundRect">
            <a:avLst>
              <a:gd name="adj" fmla="val 2025"/>
            </a:avLst>
          </a:prstGeom>
          <a:solidFill>
            <a:srgbClr val="16202C"/>
          </a:solidFill>
          <a:ln w="12700">
            <a:solidFill>
              <a:srgbClr val="16202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23" name="Shape 7"/>
          <p:cNvSpPr/>
          <p:nvPr/>
        </p:nvSpPr>
        <p:spPr>
          <a:xfrm>
            <a:off x="640080" y="1755720"/>
            <a:ext cx="91080" cy="3611520"/>
          </a:xfrm>
          <a:prstGeom prst="rect">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24" name="Text 8"/>
          <p:cNvSpPr/>
          <p:nvPr/>
        </p:nvSpPr>
        <p:spPr>
          <a:xfrm>
            <a:off x="841320" y="1865520"/>
            <a:ext cx="6272280" cy="3410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00" b="0" strike="noStrike" spc="-1">
                <a:solidFill>
                  <a:srgbClr val="E8F0F7"/>
                </a:solidFill>
                <a:latin typeface="Courier New"/>
                <a:ea typeface="Courier New"/>
              </a:rPr>
              <a:t>listen 443 ssl;</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ssl_certificate     /etc/nginx/ssl/fullchain.pem;</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ssl_certificate_key /etc/nginx/ssl/server.key;</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ssl_protocols       TLSv1.2 TLSv1.3;</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ssl_session_tickets off;</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rgbClr val="E8F0F7"/>
                </a:solidFill>
                <a:latin typeface="Courier New"/>
                <a:ea typeface="Courier New"/>
              </a:rPr>
              <a:t>add_header Strict-Transport-Security "max-age=31536000; includeSubDomains" always;</a:t>
            </a:r>
            <a:endParaRPr lang="en-US" sz="1100" b="0" strike="noStrike" spc="-1">
              <a:solidFill>
                <a:srgbClr val="000000"/>
              </a:solidFill>
              <a:latin typeface="Arial"/>
            </a:endParaRPr>
          </a:p>
        </p:txBody>
      </p:sp>
      <p:sp>
        <p:nvSpPr>
          <p:cNvPr id="1025" name="Shape 9"/>
          <p:cNvSpPr/>
          <p:nvPr/>
        </p:nvSpPr>
        <p:spPr>
          <a:xfrm>
            <a:off x="7635240" y="2066400"/>
            <a:ext cx="118440" cy="1184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strike="noStrike" spc="-1">
              <a:solidFill>
                <a:srgbClr val="FFFFFF"/>
              </a:solidFill>
              <a:latin typeface="Arial"/>
            </a:endParaRPr>
          </a:p>
        </p:txBody>
      </p:sp>
      <p:sp>
        <p:nvSpPr>
          <p:cNvPr id="1026" name="Text 10"/>
          <p:cNvSpPr/>
          <p:nvPr/>
        </p:nvSpPr>
        <p:spPr>
          <a:xfrm>
            <a:off x="7863840" y="1965960"/>
            <a:ext cx="3245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strike="noStrike" spc="-1">
                <a:solidFill>
                  <a:srgbClr val="203040"/>
                </a:solidFill>
                <a:latin typeface="Calibri"/>
                <a:ea typeface="Calibri"/>
              </a:rPr>
              <a:t>Key file: mode 600, restricted owner</a:t>
            </a:r>
            <a:endParaRPr lang="en-US" sz="1500" b="0" strike="noStrike" spc="-1">
              <a:solidFill>
                <a:srgbClr val="000000"/>
              </a:solidFill>
              <a:latin typeface="Arial"/>
            </a:endParaRPr>
          </a:p>
        </p:txBody>
      </p:sp>
      <p:sp>
        <p:nvSpPr>
          <p:cNvPr id="1027" name="Shape 11"/>
          <p:cNvSpPr/>
          <p:nvPr/>
        </p:nvSpPr>
        <p:spPr>
          <a:xfrm>
            <a:off x="7635240" y="2569320"/>
            <a:ext cx="118440" cy="1184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strike="noStrike" spc="-1">
              <a:solidFill>
                <a:srgbClr val="FFFFFF"/>
              </a:solidFill>
              <a:latin typeface="Arial"/>
            </a:endParaRPr>
          </a:p>
        </p:txBody>
      </p:sp>
      <p:sp>
        <p:nvSpPr>
          <p:cNvPr id="1028" name="Text 12"/>
          <p:cNvSpPr/>
          <p:nvPr/>
        </p:nvSpPr>
        <p:spPr>
          <a:xfrm>
            <a:off x="7863840" y="2468880"/>
            <a:ext cx="3245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strike="noStrike" spc="-1">
                <a:solidFill>
                  <a:srgbClr val="203040"/>
                </a:solidFill>
                <a:latin typeface="Calibri"/>
                <a:ea typeface="Calibri"/>
              </a:rPr>
              <a:t>TLS: only 1.2 / 1.3</a:t>
            </a:r>
            <a:endParaRPr lang="en-US" sz="1500" b="0" strike="noStrike" spc="-1">
              <a:solidFill>
                <a:srgbClr val="000000"/>
              </a:solidFill>
              <a:latin typeface="Arial"/>
            </a:endParaRPr>
          </a:p>
        </p:txBody>
      </p:sp>
      <p:sp>
        <p:nvSpPr>
          <p:cNvPr id="1029" name="Shape 13"/>
          <p:cNvSpPr/>
          <p:nvPr/>
        </p:nvSpPr>
        <p:spPr>
          <a:xfrm>
            <a:off x="7635240" y="3072240"/>
            <a:ext cx="118440" cy="1184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strike="noStrike" spc="-1">
              <a:solidFill>
                <a:srgbClr val="FFFFFF"/>
              </a:solidFill>
              <a:latin typeface="Arial"/>
            </a:endParaRPr>
          </a:p>
        </p:txBody>
      </p:sp>
      <p:sp>
        <p:nvSpPr>
          <p:cNvPr id="1030" name="Text 14"/>
          <p:cNvSpPr/>
          <p:nvPr/>
        </p:nvSpPr>
        <p:spPr>
          <a:xfrm>
            <a:off x="7863840" y="2971800"/>
            <a:ext cx="3245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strike="noStrike" spc="-1">
                <a:solidFill>
                  <a:srgbClr val="203040"/>
                </a:solidFill>
                <a:latin typeface="Calibri"/>
                <a:ea typeface="Calibri"/>
              </a:rPr>
              <a:t>HSTS: sent on HTTPS responses</a:t>
            </a:r>
            <a:endParaRPr lang="en-US" sz="1500" b="0" strike="noStrike" spc="-1">
              <a:solidFill>
                <a:srgbClr val="000000"/>
              </a:solidFill>
              <a:latin typeface="Arial"/>
            </a:endParaRPr>
          </a:p>
        </p:txBody>
      </p:sp>
      <p:sp>
        <p:nvSpPr>
          <p:cNvPr id="1031" name="Shape 15"/>
          <p:cNvSpPr/>
          <p:nvPr/>
        </p:nvSpPr>
        <p:spPr>
          <a:xfrm>
            <a:off x="7635240" y="3575160"/>
            <a:ext cx="118440" cy="1184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strike="noStrike" spc="-1">
              <a:solidFill>
                <a:srgbClr val="FFFFFF"/>
              </a:solidFill>
              <a:latin typeface="Arial"/>
            </a:endParaRPr>
          </a:p>
        </p:txBody>
      </p:sp>
      <p:sp>
        <p:nvSpPr>
          <p:cNvPr id="1032" name="Text 16"/>
          <p:cNvSpPr/>
          <p:nvPr/>
        </p:nvSpPr>
        <p:spPr>
          <a:xfrm>
            <a:off x="7863840" y="3474720"/>
            <a:ext cx="3245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strike="noStrike" spc="-1">
                <a:solidFill>
                  <a:srgbClr val="203040"/>
                </a:solidFill>
                <a:latin typeface="Calibri"/>
                <a:ea typeface="Calibri"/>
              </a:rPr>
              <a:t>HTTP: redirect or fail closed</a:t>
            </a:r>
            <a:endParaRPr lang="en-US" sz="1500" b="0" strike="noStrike" spc="-1">
              <a:solidFill>
                <a:srgbClr val="000000"/>
              </a:solidFill>
              <a:latin typeface="Arial"/>
            </a:endParaRPr>
          </a:p>
        </p:txBody>
      </p:sp>
      <p:sp>
        <p:nvSpPr>
          <p:cNvPr id="1033" name="Shape 17"/>
          <p:cNvSpPr/>
          <p:nvPr/>
        </p:nvSpPr>
        <p:spPr>
          <a:xfrm>
            <a:off x="7635240" y="4078080"/>
            <a:ext cx="118440" cy="1184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strike="noStrike" spc="-1">
              <a:solidFill>
                <a:srgbClr val="FFFFFF"/>
              </a:solidFill>
              <a:latin typeface="Arial"/>
            </a:endParaRPr>
          </a:p>
        </p:txBody>
      </p:sp>
      <p:sp>
        <p:nvSpPr>
          <p:cNvPr id="1034" name="Text 18"/>
          <p:cNvSpPr/>
          <p:nvPr/>
        </p:nvSpPr>
        <p:spPr>
          <a:xfrm>
            <a:off x="7863840" y="3977640"/>
            <a:ext cx="3245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strike="noStrike" spc="-1">
                <a:solidFill>
                  <a:srgbClr val="203040"/>
                </a:solidFill>
                <a:latin typeface="Calibri"/>
                <a:ea typeface="Calibri"/>
              </a:rPr>
              <a:t>Validate: `nginx -t` then reload</a:t>
            </a:r>
            <a:endParaRPr lang="en-US" sz="1500" b="0" strike="noStrike" spc="-1">
              <a:solidFill>
                <a:srgbClr val="000000"/>
              </a:solidFill>
              <a:latin typeface="Arial"/>
            </a:endParaRPr>
          </a:p>
        </p:txBody>
      </p:sp>
      <p:sp>
        <p:nvSpPr>
          <p:cNvPr id="1035" name="PlaceHolder 1"/>
          <p:cNvSpPr>
            <a:spLocks noGrp="1"/>
          </p:cNvSpPr>
          <p:nvPr>
            <p:ph type="sldNum" idx="42"/>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DEA8538C-0542-4071-B6F2-9951DF7E0BAD}" type="slidenum">
              <a:rPr lang="en-US" sz="800" b="0" strike="noStrike" spc="-1">
                <a:solidFill>
                  <a:srgbClr val="64748B"/>
                </a:solidFill>
                <a:latin typeface="Calibri"/>
                <a:ea typeface="Calibri"/>
              </a:rPr>
              <a:t>25</a:t>
            </a:fld>
            <a:endParaRPr lang="en-US" sz="800" b="0" strike="noStrike" spc="-1">
              <a:solidFill>
                <a:srgbClr val="000000"/>
              </a:solidFill>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3"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INCIDENT TIMELINE</a:t>
            </a:r>
            <a:endParaRPr lang="en-US" sz="1000" b="0" strike="noStrike" spc="-1">
              <a:solidFill>
                <a:srgbClr val="000000"/>
              </a:solidFill>
              <a:latin typeface="Arial"/>
            </a:endParaRPr>
          </a:p>
        </p:txBody>
      </p:sp>
      <p:sp>
        <p:nvSpPr>
          <p:cNvPr id="1154"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6666"/>
          </a:bodyPr>
          <a:lstStyle/>
          <a:p>
            <a:pPr defTabSz="914400">
              <a:lnSpc>
                <a:spcPct val="100000"/>
              </a:lnSpc>
              <a:tabLst>
                <a:tab pos="0" algn="l"/>
              </a:tabLst>
            </a:pPr>
            <a:r>
              <a:rPr lang="en-US" sz="2700" b="1" strike="noStrike" spc="-1">
                <a:solidFill>
                  <a:srgbClr val="1F497D"/>
                </a:solidFill>
                <a:latin typeface="Calibri"/>
                <a:ea typeface="Calibri"/>
              </a:rPr>
              <a:t>DigiNotar: one fraudulent certificate, global consequences</a:t>
            </a:r>
            <a:endParaRPr lang="en-US" sz="2700" b="0" strike="noStrike" spc="-1">
              <a:solidFill>
                <a:srgbClr val="000000"/>
              </a:solidFill>
              <a:latin typeface="Arial"/>
            </a:endParaRPr>
          </a:p>
        </p:txBody>
      </p:sp>
      <p:sp>
        <p:nvSpPr>
          <p:cNvPr id="1155"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A CA compromise can become a browser-wide trust event.</a:t>
            </a:r>
            <a:endParaRPr lang="en-US" sz="1250" b="0" strike="noStrike" spc="-1">
              <a:solidFill>
                <a:srgbClr val="000000"/>
              </a:solidFill>
              <a:latin typeface="Arial"/>
            </a:endParaRPr>
          </a:p>
        </p:txBody>
      </p:sp>
      <p:sp>
        <p:nvSpPr>
          <p:cNvPr id="1157" name="Shape 6"/>
          <p:cNvSpPr/>
          <p:nvPr/>
        </p:nvSpPr>
        <p:spPr>
          <a:xfrm>
            <a:off x="777240" y="2331720"/>
            <a:ext cx="529920" cy="529920"/>
          </a:xfrm>
          <a:prstGeom prst="ellipse">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58" name="Text 7"/>
          <p:cNvSpPr/>
          <p:nvPr/>
        </p:nvSpPr>
        <p:spPr>
          <a:xfrm>
            <a:off x="777240" y="251460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5000" lnSpcReduction="10000"/>
          </a:bodyPr>
          <a:lstStyle/>
          <a:p>
            <a:pPr algn="ctr" defTabSz="914400">
              <a:lnSpc>
                <a:spcPct val="100000"/>
              </a:lnSpc>
              <a:tabLst>
                <a:tab pos="0" algn="l"/>
              </a:tabLst>
            </a:pPr>
            <a:r>
              <a:rPr lang="en-US" sz="1200" b="1" strike="noStrike" spc="-1">
                <a:solidFill>
                  <a:srgbClr val="FFFFFF"/>
                </a:solidFill>
                <a:latin typeface="Calibri"/>
                <a:ea typeface="Calibri"/>
              </a:rPr>
              <a:t>1</a:t>
            </a:r>
            <a:endParaRPr lang="en-US" sz="1200" b="0" strike="noStrike" spc="-1">
              <a:solidFill>
                <a:srgbClr val="000000"/>
              </a:solidFill>
              <a:latin typeface="Arial"/>
            </a:endParaRPr>
          </a:p>
        </p:txBody>
      </p:sp>
      <p:sp>
        <p:nvSpPr>
          <p:cNvPr id="1159" name="Text 8"/>
          <p:cNvSpPr/>
          <p:nvPr/>
        </p:nvSpPr>
        <p:spPr>
          <a:xfrm>
            <a:off x="393120" y="3154680"/>
            <a:ext cx="1298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4722" lnSpcReduction="10000"/>
          </a:bodyPr>
          <a:lstStyle/>
          <a:p>
            <a:pPr algn="ctr" defTabSz="914400">
              <a:lnSpc>
                <a:spcPct val="100000"/>
              </a:lnSpc>
              <a:tabLst>
                <a:tab pos="0" algn="l"/>
              </a:tabLst>
            </a:pPr>
            <a:r>
              <a:rPr lang="en-US" sz="1600" b="1" strike="noStrike" spc="-1">
                <a:solidFill>
                  <a:srgbClr val="1F497D"/>
                </a:solidFill>
                <a:latin typeface="Calibri"/>
                <a:ea typeface="Calibri"/>
              </a:rPr>
              <a:t>Compromise</a:t>
            </a:r>
            <a:endParaRPr lang="en-US" sz="1600" b="0" strike="noStrike" spc="-1">
              <a:solidFill>
                <a:srgbClr val="000000"/>
              </a:solidFill>
              <a:latin typeface="Arial"/>
            </a:endParaRPr>
          </a:p>
        </p:txBody>
      </p:sp>
      <p:sp>
        <p:nvSpPr>
          <p:cNvPr id="1160" name="Text 9"/>
          <p:cNvSpPr/>
          <p:nvPr/>
        </p:nvSpPr>
        <p:spPr>
          <a:xfrm>
            <a:off x="246960" y="3584520"/>
            <a:ext cx="15998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CA infrastructure breached</a:t>
            </a:r>
            <a:endParaRPr lang="en-US" sz="1200" b="0" strike="noStrike" spc="-1">
              <a:solidFill>
                <a:srgbClr val="000000"/>
              </a:solidFill>
              <a:latin typeface="Arial"/>
            </a:endParaRPr>
          </a:p>
        </p:txBody>
      </p:sp>
      <p:sp>
        <p:nvSpPr>
          <p:cNvPr id="1161" name="Shape 10"/>
          <p:cNvSpPr/>
          <p:nvPr/>
        </p:nvSpPr>
        <p:spPr>
          <a:xfrm>
            <a:off x="1380600" y="2596680"/>
            <a:ext cx="1545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162" name="Shape 11"/>
          <p:cNvSpPr/>
          <p:nvPr/>
        </p:nvSpPr>
        <p:spPr>
          <a:xfrm>
            <a:off x="3566160" y="2331720"/>
            <a:ext cx="529920" cy="52992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63" name="Text 12"/>
          <p:cNvSpPr/>
          <p:nvPr/>
        </p:nvSpPr>
        <p:spPr>
          <a:xfrm>
            <a:off x="3566160" y="251460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5000" lnSpcReduction="10000"/>
          </a:bodyPr>
          <a:lstStyle/>
          <a:p>
            <a:pPr algn="ctr" defTabSz="914400">
              <a:lnSpc>
                <a:spcPct val="100000"/>
              </a:lnSpc>
              <a:tabLst>
                <a:tab pos="0" algn="l"/>
              </a:tabLst>
            </a:pPr>
            <a:r>
              <a:rPr lang="en-US" sz="1200" b="1" strike="noStrike" spc="-1">
                <a:solidFill>
                  <a:srgbClr val="FFFFFF"/>
                </a:solidFill>
                <a:latin typeface="Calibri"/>
                <a:ea typeface="Calibri"/>
              </a:rPr>
              <a:t>2</a:t>
            </a:r>
            <a:endParaRPr lang="en-US" sz="1200" b="0" strike="noStrike" spc="-1">
              <a:solidFill>
                <a:srgbClr val="000000"/>
              </a:solidFill>
              <a:latin typeface="Arial"/>
            </a:endParaRPr>
          </a:p>
        </p:txBody>
      </p:sp>
      <p:sp>
        <p:nvSpPr>
          <p:cNvPr id="1164" name="Text 13"/>
          <p:cNvSpPr/>
          <p:nvPr/>
        </p:nvSpPr>
        <p:spPr>
          <a:xfrm>
            <a:off x="3182040" y="3154680"/>
            <a:ext cx="1298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4722" lnSpcReduction="10000"/>
          </a:bodyPr>
          <a:lstStyle/>
          <a:p>
            <a:pPr algn="ctr" defTabSz="914400">
              <a:lnSpc>
                <a:spcPct val="100000"/>
              </a:lnSpc>
              <a:tabLst>
                <a:tab pos="0" algn="l"/>
              </a:tabLst>
            </a:pPr>
            <a:r>
              <a:rPr lang="en-US" sz="1600" b="1" strike="noStrike" spc="-1">
                <a:solidFill>
                  <a:srgbClr val="1F497D"/>
                </a:solidFill>
                <a:latin typeface="Calibri"/>
                <a:ea typeface="Calibri"/>
              </a:rPr>
              <a:t>Misissuance</a:t>
            </a:r>
            <a:endParaRPr lang="en-US" sz="1600" b="0" strike="noStrike" spc="-1">
              <a:solidFill>
                <a:srgbClr val="000000"/>
              </a:solidFill>
              <a:latin typeface="Arial"/>
            </a:endParaRPr>
          </a:p>
        </p:txBody>
      </p:sp>
      <p:sp>
        <p:nvSpPr>
          <p:cNvPr id="1165" name="Text 14"/>
          <p:cNvSpPr/>
          <p:nvPr/>
        </p:nvSpPr>
        <p:spPr>
          <a:xfrm>
            <a:off x="3035880" y="3584520"/>
            <a:ext cx="15998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fraudulent Google certificate</a:t>
            </a:r>
            <a:endParaRPr lang="en-US" sz="1200" b="0" strike="noStrike" spc="-1">
              <a:solidFill>
                <a:srgbClr val="000000"/>
              </a:solidFill>
              <a:latin typeface="Arial"/>
            </a:endParaRPr>
          </a:p>
        </p:txBody>
      </p:sp>
      <p:sp>
        <p:nvSpPr>
          <p:cNvPr id="1166" name="Shape 15"/>
          <p:cNvSpPr/>
          <p:nvPr/>
        </p:nvSpPr>
        <p:spPr>
          <a:xfrm>
            <a:off x="4169520" y="2596680"/>
            <a:ext cx="1545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167" name="Shape 16"/>
          <p:cNvSpPr/>
          <p:nvPr/>
        </p:nvSpPr>
        <p:spPr>
          <a:xfrm>
            <a:off x="6355080" y="2331720"/>
            <a:ext cx="529920" cy="52992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68" name="Text 17"/>
          <p:cNvSpPr/>
          <p:nvPr/>
        </p:nvSpPr>
        <p:spPr>
          <a:xfrm>
            <a:off x="6355080" y="251460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5000" lnSpcReduction="10000"/>
          </a:bodyPr>
          <a:lstStyle/>
          <a:p>
            <a:pPr algn="ctr" defTabSz="914400">
              <a:lnSpc>
                <a:spcPct val="100000"/>
              </a:lnSpc>
              <a:tabLst>
                <a:tab pos="0" algn="l"/>
              </a:tabLst>
            </a:pPr>
            <a:r>
              <a:rPr lang="en-US" sz="1200" b="1" strike="noStrike" spc="-1">
                <a:solidFill>
                  <a:srgbClr val="FFFFFF"/>
                </a:solidFill>
                <a:latin typeface="Calibri"/>
                <a:ea typeface="Calibri"/>
              </a:rPr>
              <a:t>3</a:t>
            </a:r>
            <a:endParaRPr lang="en-US" sz="1200" b="0" strike="noStrike" spc="-1">
              <a:solidFill>
                <a:srgbClr val="000000"/>
              </a:solidFill>
              <a:latin typeface="Arial"/>
            </a:endParaRPr>
          </a:p>
        </p:txBody>
      </p:sp>
      <p:sp>
        <p:nvSpPr>
          <p:cNvPr id="1169" name="Text 18"/>
          <p:cNvSpPr/>
          <p:nvPr/>
        </p:nvSpPr>
        <p:spPr>
          <a:xfrm>
            <a:off x="5970960" y="3154680"/>
            <a:ext cx="1298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1600" b="1" strike="noStrike" spc="-1">
                <a:solidFill>
                  <a:srgbClr val="1F497D"/>
                </a:solidFill>
                <a:latin typeface="Calibri"/>
                <a:ea typeface="Calibri"/>
              </a:rPr>
              <a:t>Detection</a:t>
            </a:r>
            <a:endParaRPr lang="en-US" sz="1600" b="0" strike="noStrike" spc="-1">
              <a:solidFill>
                <a:srgbClr val="000000"/>
              </a:solidFill>
              <a:latin typeface="Arial"/>
            </a:endParaRPr>
          </a:p>
        </p:txBody>
      </p:sp>
      <p:sp>
        <p:nvSpPr>
          <p:cNvPr id="1170" name="Text 19"/>
          <p:cNvSpPr/>
          <p:nvPr/>
        </p:nvSpPr>
        <p:spPr>
          <a:xfrm>
            <a:off x="5824800" y="3584520"/>
            <a:ext cx="15998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MITM attempt reported</a:t>
            </a:r>
            <a:endParaRPr lang="en-US" sz="1200" b="0" strike="noStrike" spc="-1">
              <a:solidFill>
                <a:srgbClr val="000000"/>
              </a:solidFill>
              <a:latin typeface="Arial"/>
            </a:endParaRPr>
          </a:p>
        </p:txBody>
      </p:sp>
      <p:sp>
        <p:nvSpPr>
          <p:cNvPr id="1171" name="Shape 20"/>
          <p:cNvSpPr/>
          <p:nvPr/>
        </p:nvSpPr>
        <p:spPr>
          <a:xfrm>
            <a:off x="6958440" y="2596680"/>
            <a:ext cx="1545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172" name="Shape 21"/>
          <p:cNvSpPr/>
          <p:nvPr/>
        </p:nvSpPr>
        <p:spPr>
          <a:xfrm>
            <a:off x="9144000" y="2331720"/>
            <a:ext cx="529920" cy="52992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73" name="Text 22"/>
          <p:cNvSpPr/>
          <p:nvPr/>
        </p:nvSpPr>
        <p:spPr>
          <a:xfrm>
            <a:off x="9144000" y="2514600"/>
            <a:ext cx="52992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5000" lnSpcReduction="10000"/>
          </a:bodyPr>
          <a:lstStyle/>
          <a:p>
            <a:pPr algn="ctr" defTabSz="914400">
              <a:lnSpc>
                <a:spcPct val="100000"/>
              </a:lnSpc>
              <a:tabLst>
                <a:tab pos="0" algn="l"/>
              </a:tabLst>
            </a:pPr>
            <a:r>
              <a:rPr lang="en-US" sz="1200" b="1" strike="noStrike" spc="-1">
                <a:solidFill>
                  <a:srgbClr val="FFFFFF"/>
                </a:solidFill>
                <a:latin typeface="Calibri"/>
                <a:ea typeface="Calibri"/>
              </a:rPr>
              <a:t>4</a:t>
            </a:r>
            <a:endParaRPr lang="en-US" sz="1200" b="0" strike="noStrike" spc="-1">
              <a:solidFill>
                <a:srgbClr val="000000"/>
              </a:solidFill>
              <a:latin typeface="Arial"/>
            </a:endParaRPr>
          </a:p>
        </p:txBody>
      </p:sp>
      <p:sp>
        <p:nvSpPr>
          <p:cNvPr id="1174" name="Text 23"/>
          <p:cNvSpPr/>
          <p:nvPr/>
        </p:nvSpPr>
        <p:spPr>
          <a:xfrm>
            <a:off x="8759880" y="3154680"/>
            <a:ext cx="129816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1600" b="1" strike="noStrike" spc="-1">
                <a:solidFill>
                  <a:srgbClr val="1F497D"/>
                </a:solidFill>
                <a:latin typeface="Calibri"/>
                <a:ea typeface="Calibri"/>
              </a:rPr>
              <a:t>Response</a:t>
            </a:r>
            <a:endParaRPr lang="en-US" sz="1600" b="0" strike="noStrike" spc="-1">
              <a:solidFill>
                <a:srgbClr val="000000"/>
              </a:solidFill>
              <a:latin typeface="Arial"/>
            </a:endParaRPr>
          </a:p>
        </p:txBody>
      </p:sp>
      <p:sp>
        <p:nvSpPr>
          <p:cNvPr id="1175" name="Text 24"/>
          <p:cNvSpPr/>
          <p:nvPr/>
        </p:nvSpPr>
        <p:spPr>
          <a:xfrm>
            <a:off x="8613720" y="3584520"/>
            <a:ext cx="1599840" cy="402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0" strike="noStrike" spc="-1">
                <a:solidFill>
                  <a:srgbClr val="64748B"/>
                </a:solidFill>
                <a:latin typeface="Calibri"/>
                <a:ea typeface="Calibri"/>
              </a:rPr>
              <a:t>browser vendors distrust root</a:t>
            </a:r>
            <a:endParaRPr lang="en-US" sz="1200" b="0" strike="noStrike" spc="-1">
              <a:solidFill>
                <a:srgbClr val="000000"/>
              </a:solidFill>
              <a:latin typeface="Arial"/>
            </a:endParaRPr>
          </a:p>
        </p:txBody>
      </p:sp>
      <p:sp>
        <p:nvSpPr>
          <p:cNvPr id="1176" name="Shape 25"/>
          <p:cNvSpPr/>
          <p:nvPr/>
        </p:nvSpPr>
        <p:spPr>
          <a:xfrm>
            <a:off x="3291840" y="4681800"/>
            <a:ext cx="5577480" cy="273960"/>
          </a:xfrm>
          <a:prstGeom prst="roundRect">
            <a:avLst>
              <a:gd name="adj" fmla="val 26667"/>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77" name="Text 26"/>
          <p:cNvSpPr/>
          <p:nvPr/>
        </p:nvSpPr>
        <p:spPr>
          <a:xfrm>
            <a:off x="3364920" y="4700160"/>
            <a:ext cx="5431320" cy="219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000" b="1" strike="noStrike" spc="-1">
                <a:solidFill>
                  <a:srgbClr val="FFFFFF"/>
                </a:solidFill>
                <a:latin typeface="Calibri"/>
                <a:ea typeface="Calibri"/>
              </a:rPr>
              <a:t>TRUST STORE CHANGES ARE INCIDENT RESPONSE</a:t>
            </a:r>
            <a:endParaRPr lang="en-US" sz="1000" b="0" strike="noStrike" spc="-1">
              <a:solidFill>
                <a:srgbClr val="000000"/>
              </a:solidFill>
              <a:latin typeface="Arial"/>
            </a:endParaRPr>
          </a:p>
        </p:txBody>
      </p:sp>
      <p:sp>
        <p:nvSpPr>
          <p:cNvPr id="1178" name="PlaceHolder 1"/>
          <p:cNvSpPr>
            <a:spLocks noGrp="1"/>
          </p:cNvSpPr>
          <p:nvPr>
            <p:ph type="sldNum" idx="48"/>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D5162692-083A-4D42-9057-21E92F00B737}" type="slidenum">
              <a:rPr lang="en-US" sz="800" b="0" strike="noStrike" spc="-1">
                <a:solidFill>
                  <a:srgbClr val="64748B"/>
                </a:solidFill>
                <a:latin typeface="Calibri"/>
                <a:ea typeface="Calibri"/>
              </a:rPr>
              <a:t>26</a:t>
            </a:fld>
            <a:endParaRPr lang="en-US" sz="800" b="0" strike="noStrike" spc="-1">
              <a:solidFill>
                <a:srgbClr val="000000"/>
              </a:solidFill>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PUBLIC VS. PRIVATE CA</a:t>
            </a:r>
            <a:endParaRPr lang="en-US" sz="1000" b="0" strike="noStrike" spc="-1">
              <a:solidFill>
                <a:srgbClr val="000000"/>
              </a:solidFill>
              <a:latin typeface="Arial"/>
            </a:endParaRPr>
          </a:p>
        </p:txBody>
      </p:sp>
      <p:sp>
        <p:nvSpPr>
          <p:cNvPr id="1202"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Trust scope determines the right CA</a:t>
            </a:r>
            <a:endParaRPr lang="en-US" sz="2700" b="0" strike="noStrike" spc="-1">
              <a:solidFill>
                <a:srgbClr val="000000"/>
              </a:solidFill>
              <a:latin typeface="Arial"/>
            </a:endParaRPr>
          </a:p>
        </p:txBody>
      </p:sp>
      <p:sp>
        <p:nvSpPr>
          <p:cNvPr id="1203"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Public trust is broad; internal trust is controlled.</a:t>
            </a:r>
            <a:endParaRPr lang="en-US" sz="1250" b="0" strike="noStrike" spc="-1">
              <a:solidFill>
                <a:srgbClr val="000000"/>
              </a:solidFill>
              <a:latin typeface="Arial"/>
            </a:endParaRPr>
          </a:p>
        </p:txBody>
      </p:sp>
      <p:sp>
        <p:nvSpPr>
          <p:cNvPr id="1205" name="Shape 6"/>
          <p:cNvSpPr/>
          <p:nvPr/>
        </p:nvSpPr>
        <p:spPr>
          <a:xfrm>
            <a:off x="731520" y="1764720"/>
            <a:ext cx="1919880" cy="438480"/>
          </a:xfrm>
          <a:prstGeom prst="roundRect">
            <a:avLst>
              <a:gd name="adj" fmla="val 16667"/>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06" name="Text 7"/>
          <p:cNvSpPr/>
          <p:nvPr/>
        </p:nvSpPr>
        <p:spPr>
          <a:xfrm>
            <a:off x="841320" y="190188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1200" b="1" strike="noStrike" spc="-1">
                <a:solidFill>
                  <a:srgbClr val="FFFFFF"/>
                </a:solidFill>
                <a:latin typeface="Calibri"/>
                <a:ea typeface="Calibri"/>
              </a:rPr>
              <a:t>Dimension</a:t>
            </a:r>
            <a:endParaRPr lang="en-US" sz="1200" b="0" strike="noStrike" spc="-1">
              <a:solidFill>
                <a:srgbClr val="000000"/>
              </a:solidFill>
              <a:latin typeface="Arial"/>
            </a:endParaRPr>
          </a:p>
        </p:txBody>
      </p:sp>
      <p:sp>
        <p:nvSpPr>
          <p:cNvPr id="1207" name="Shape 8"/>
          <p:cNvSpPr/>
          <p:nvPr/>
        </p:nvSpPr>
        <p:spPr>
          <a:xfrm>
            <a:off x="3017520" y="1764720"/>
            <a:ext cx="3931560" cy="438480"/>
          </a:xfrm>
          <a:prstGeom prst="roundRect">
            <a:avLst>
              <a:gd name="adj" fmla="val 16667"/>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08" name="Text 9"/>
          <p:cNvSpPr/>
          <p:nvPr/>
        </p:nvSpPr>
        <p:spPr>
          <a:xfrm>
            <a:off x="3127320" y="1901880"/>
            <a:ext cx="37029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1200" b="1" strike="noStrike" spc="-1">
                <a:solidFill>
                  <a:srgbClr val="FFFFFF"/>
                </a:solidFill>
                <a:latin typeface="Calibri"/>
                <a:ea typeface="Calibri"/>
              </a:rPr>
              <a:t>Public CA</a:t>
            </a:r>
            <a:endParaRPr lang="en-US" sz="1200" b="0" strike="noStrike" spc="-1">
              <a:solidFill>
                <a:srgbClr val="000000"/>
              </a:solidFill>
              <a:latin typeface="Arial"/>
            </a:endParaRPr>
          </a:p>
        </p:txBody>
      </p:sp>
      <p:sp>
        <p:nvSpPr>
          <p:cNvPr id="1209" name="Shape 10"/>
          <p:cNvSpPr/>
          <p:nvPr/>
        </p:nvSpPr>
        <p:spPr>
          <a:xfrm>
            <a:off x="7315200" y="1764720"/>
            <a:ext cx="3931560" cy="438480"/>
          </a:xfrm>
          <a:prstGeom prst="roundRect">
            <a:avLst>
              <a:gd name="adj" fmla="val 16667"/>
            </a:avLst>
          </a:prstGeom>
          <a:solidFill>
            <a:srgbClr val="1F497D"/>
          </a:solidFill>
          <a:ln w="12700">
            <a:solidFill>
              <a:srgbClr val="1F497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10" name="Text 11"/>
          <p:cNvSpPr/>
          <p:nvPr/>
        </p:nvSpPr>
        <p:spPr>
          <a:xfrm>
            <a:off x="7425000" y="1901880"/>
            <a:ext cx="37029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lnSpcReduction="10000"/>
          </a:bodyPr>
          <a:lstStyle/>
          <a:p>
            <a:pPr algn="ctr" defTabSz="914400">
              <a:lnSpc>
                <a:spcPct val="100000"/>
              </a:lnSpc>
              <a:tabLst>
                <a:tab pos="0" algn="l"/>
              </a:tabLst>
            </a:pPr>
            <a:r>
              <a:rPr lang="en-US" sz="1200" b="1" strike="noStrike" spc="-1">
                <a:solidFill>
                  <a:srgbClr val="FFFFFF"/>
                </a:solidFill>
                <a:latin typeface="Calibri"/>
                <a:ea typeface="Calibri"/>
              </a:rPr>
              <a:t>Internal CA</a:t>
            </a:r>
            <a:endParaRPr lang="en-US" sz="1200" b="0" strike="noStrike" spc="-1">
              <a:solidFill>
                <a:srgbClr val="000000"/>
              </a:solidFill>
              <a:latin typeface="Arial"/>
            </a:endParaRPr>
          </a:p>
        </p:txBody>
      </p:sp>
      <p:sp>
        <p:nvSpPr>
          <p:cNvPr id="1211" name="Shape 12"/>
          <p:cNvSpPr/>
          <p:nvPr/>
        </p:nvSpPr>
        <p:spPr>
          <a:xfrm>
            <a:off x="731520" y="2331720"/>
            <a:ext cx="1919880" cy="438480"/>
          </a:xfrm>
          <a:prstGeom prst="roundRect">
            <a:avLst>
              <a:gd name="adj" fmla="val 16667"/>
            </a:avLst>
          </a:prstGeom>
          <a:solidFill>
            <a:srgbClr val="EEF2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2" name="Shape 13"/>
          <p:cNvSpPr/>
          <p:nvPr/>
        </p:nvSpPr>
        <p:spPr>
          <a:xfrm>
            <a:off x="3017520" y="2331720"/>
            <a:ext cx="3931560" cy="438480"/>
          </a:xfrm>
          <a:prstGeom prst="roundRect">
            <a:avLst>
              <a:gd name="adj" fmla="val 16667"/>
            </a:avLst>
          </a:prstGeom>
          <a:solidFill>
            <a:srgbClr val="EAF7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3" name="Shape 14"/>
          <p:cNvSpPr/>
          <p:nvPr/>
        </p:nvSpPr>
        <p:spPr>
          <a:xfrm>
            <a:off x="7315200" y="2331720"/>
            <a:ext cx="3931560" cy="438480"/>
          </a:xfrm>
          <a:prstGeom prst="roundRect">
            <a:avLst>
              <a:gd name="adj" fmla="val 16667"/>
            </a:avLst>
          </a:prstGeom>
          <a:solidFill>
            <a:srgbClr val="FFF3E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4" name="Text 15"/>
          <p:cNvSpPr/>
          <p:nvPr/>
        </p:nvSpPr>
        <p:spPr>
          <a:xfrm>
            <a:off x="841320" y="245988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50" b="1" strike="noStrike" spc="-1">
                <a:solidFill>
                  <a:srgbClr val="1F497D"/>
                </a:solidFill>
                <a:latin typeface="Calibri"/>
                <a:ea typeface="Calibri"/>
              </a:rPr>
              <a:t>Default trust</a:t>
            </a:r>
            <a:endParaRPr lang="en-US" sz="1150" b="0" strike="noStrike" spc="-1">
              <a:solidFill>
                <a:srgbClr val="000000"/>
              </a:solidFill>
              <a:latin typeface="Arial"/>
            </a:endParaRPr>
          </a:p>
        </p:txBody>
      </p:sp>
      <p:sp>
        <p:nvSpPr>
          <p:cNvPr id="1215" name="Text 16"/>
          <p:cNvSpPr/>
          <p:nvPr/>
        </p:nvSpPr>
        <p:spPr>
          <a:xfrm>
            <a:off x="3154680" y="245988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broad browser/OS stores</a:t>
            </a:r>
            <a:endParaRPr lang="en-US" sz="1150" b="0" strike="noStrike" spc="-1">
              <a:solidFill>
                <a:srgbClr val="000000"/>
              </a:solidFill>
              <a:latin typeface="Arial"/>
            </a:endParaRPr>
          </a:p>
        </p:txBody>
      </p:sp>
      <p:sp>
        <p:nvSpPr>
          <p:cNvPr id="1216" name="Text 17"/>
          <p:cNvSpPr/>
          <p:nvPr/>
        </p:nvSpPr>
        <p:spPr>
          <a:xfrm>
            <a:off x="7452360" y="245988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only enrolled devices</a:t>
            </a:r>
            <a:endParaRPr lang="en-US" sz="1150" b="0" strike="noStrike" spc="-1">
              <a:solidFill>
                <a:srgbClr val="000000"/>
              </a:solidFill>
              <a:latin typeface="Arial"/>
            </a:endParaRPr>
          </a:p>
        </p:txBody>
      </p:sp>
      <p:sp>
        <p:nvSpPr>
          <p:cNvPr id="1217" name="Shape 18"/>
          <p:cNvSpPr/>
          <p:nvPr/>
        </p:nvSpPr>
        <p:spPr>
          <a:xfrm>
            <a:off x="731520" y="2990160"/>
            <a:ext cx="1919880" cy="438480"/>
          </a:xfrm>
          <a:prstGeom prst="roundRect">
            <a:avLst>
              <a:gd name="adj" fmla="val 16667"/>
            </a:avLst>
          </a:prstGeom>
          <a:solidFill>
            <a:srgbClr val="EEF2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8" name="Shape 19"/>
          <p:cNvSpPr/>
          <p:nvPr/>
        </p:nvSpPr>
        <p:spPr>
          <a:xfrm>
            <a:off x="3017520" y="2990160"/>
            <a:ext cx="3931560" cy="438480"/>
          </a:xfrm>
          <a:prstGeom prst="roundRect">
            <a:avLst>
              <a:gd name="adj" fmla="val 16667"/>
            </a:avLst>
          </a:prstGeom>
          <a:solidFill>
            <a:srgbClr val="EAF7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19" name="Shape 20"/>
          <p:cNvSpPr/>
          <p:nvPr/>
        </p:nvSpPr>
        <p:spPr>
          <a:xfrm>
            <a:off x="7315200" y="2990160"/>
            <a:ext cx="3931560" cy="438480"/>
          </a:xfrm>
          <a:prstGeom prst="roundRect">
            <a:avLst>
              <a:gd name="adj" fmla="val 16667"/>
            </a:avLst>
          </a:prstGeom>
          <a:solidFill>
            <a:srgbClr val="FFF3E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0" name="Text 21"/>
          <p:cNvSpPr/>
          <p:nvPr/>
        </p:nvSpPr>
        <p:spPr>
          <a:xfrm>
            <a:off x="841320" y="311796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50" b="1" strike="noStrike" spc="-1">
                <a:solidFill>
                  <a:srgbClr val="1F497D"/>
                </a:solidFill>
                <a:latin typeface="Calibri"/>
                <a:ea typeface="Calibri"/>
              </a:rPr>
              <a:t>Validation</a:t>
            </a:r>
            <a:endParaRPr lang="en-US" sz="1150" b="0" strike="noStrike" spc="-1">
              <a:solidFill>
                <a:srgbClr val="000000"/>
              </a:solidFill>
              <a:latin typeface="Arial"/>
            </a:endParaRPr>
          </a:p>
        </p:txBody>
      </p:sp>
      <p:sp>
        <p:nvSpPr>
          <p:cNvPr id="1221" name="Text 22"/>
          <p:cNvSpPr/>
          <p:nvPr/>
        </p:nvSpPr>
        <p:spPr>
          <a:xfrm>
            <a:off x="3154680" y="311796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domain control / CA policy</a:t>
            </a:r>
            <a:endParaRPr lang="en-US" sz="1150" b="0" strike="noStrike" spc="-1">
              <a:solidFill>
                <a:srgbClr val="000000"/>
              </a:solidFill>
              <a:latin typeface="Arial"/>
            </a:endParaRPr>
          </a:p>
        </p:txBody>
      </p:sp>
      <p:sp>
        <p:nvSpPr>
          <p:cNvPr id="1222" name="Text 23"/>
          <p:cNvSpPr/>
          <p:nvPr/>
        </p:nvSpPr>
        <p:spPr>
          <a:xfrm>
            <a:off x="7452360" y="311796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your own identity + policy</a:t>
            </a:r>
            <a:endParaRPr lang="en-US" sz="1150" b="0" strike="noStrike" spc="-1">
              <a:solidFill>
                <a:srgbClr val="000000"/>
              </a:solidFill>
              <a:latin typeface="Arial"/>
            </a:endParaRPr>
          </a:p>
        </p:txBody>
      </p:sp>
      <p:sp>
        <p:nvSpPr>
          <p:cNvPr id="1223" name="Shape 24"/>
          <p:cNvSpPr/>
          <p:nvPr/>
        </p:nvSpPr>
        <p:spPr>
          <a:xfrm>
            <a:off x="731520" y="3648600"/>
            <a:ext cx="1919880" cy="438480"/>
          </a:xfrm>
          <a:prstGeom prst="roundRect">
            <a:avLst>
              <a:gd name="adj" fmla="val 16667"/>
            </a:avLst>
          </a:prstGeom>
          <a:solidFill>
            <a:srgbClr val="EEF2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4" name="Shape 25"/>
          <p:cNvSpPr/>
          <p:nvPr/>
        </p:nvSpPr>
        <p:spPr>
          <a:xfrm>
            <a:off x="3017520" y="3648600"/>
            <a:ext cx="3931560" cy="438480"/>
          </a:xfrm>
          <a:prstGeom prst="roundRect">
            <a:avLst>
              <a:gd name="adj" fmla="val 16667"/>
            </a:avLst>
          </a:prstGeom>
          <a:solidFill>
            <a:srgbClr val="EAF7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5" name="Shape 26"/>
          <p:cNvSpPr/>
          <p:nvPr/>
        </p:nvSpPr>
        <p:spPr>
          <a:xfrm>
            <a:off x="7315200" y="3648600"/>
            <a:ext cx="3931560" cy="438480"/>
          </a:xfrm>
          <a:prstGeom prst="roundRect">
            <a:avLst>
              <a:gd name="adj" fmla="val 16667"/>
            </a:avLst>
          </a:prstGeom>
          <a:solidFill>
            <a:srgbClr val="FFF3E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26" name="Text 27"/>
          <p:cNvSpPr/>
          <p:nvPr/>
        </p:nvSpPr>
        <p:spPr>
          <a:xfrm>
            <a:off x="841320" y="377640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50" b="1" strike="noStrike" spc="-1">
                <a:solidFill>
                  <a:srgbClr val="1F497D"/>
                </a:solidFill>
                <a:latin typeface="Calibri"/>
                <a:ea typeface="Calibri"/>
              </a:rPr>
              <a:t>Automation</a:t>
            </a:r>
            <a:endParaRPr lang="en-US" sz="1150" b="0" strike="noStrike" spc="-1">
              <a:solidFill>
                <a:srgbClr val="000000"/>
              </a:solidFill>
              <a:latin typeface="Arial"/>
            </a:endParaRPr>
          </a:p>
        </p:txBody>
      </p:sp>
      <p:sp>
        <p:nvSpPr>
          <p:cNvPr id="1227" name="Text 28"/>
          <p:cNvSpPr/>
          <p:nvPr/>
        </p:nvSpPr>
        <p:spPr>
          <a:xfrm>
            <a:off x="3154680" y="377640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ACME expected</a:t>
            </a:r>
            <a:endParaRPr lang="en-US" sz="1150" b="0" strike="noStrike" spc="-1">
              <a:solidFill>
                <a:srgbClr val="000000"/>
              </a:solidFill>
              <a:latin typeface="Arial"/>
            </a:endParaRPr>
          </a:p>
        </p:txBody>
      </p:sp>
      <p:sp>
        <p:nvSpPr>
          <p:cNvPr id="1228" name="Text 29"/>
          <p:cNvSpPr/>
          <p:nvPr/>
        </p:nvSpPr>
        <p:spPr>
          <a:xfrm>
            <a:off x="7452360" y="377640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you build or integrate it</a:t>
            </a:r>
            <a:endParaRPr lang="en-US" sz="1150" b="0" strike="noStrike" spc="-1">
              <a:solidFill>
                <a:srgbClr val="000000"/>
              </a:solidFill>
              <a:latin typeface="Arial"/>
            </a:endParaRPr>
          </a:p>
        </p:txBody>
      </p:sp>
      <p:sp>
        <p:nvSpPr>
          <p:cNvPr id="1229" name="Shape 30"/>
          <p:cNvSpPr/>
          <p:nvPr/>
        </p:nvSpPr>
        <p:spPr>
          <a:xfrm>
            <a:off x="731520" y="4306680"/>
            <a:ext cx="1919880" cy="438480"/>
          </a:xfrm>
          <a:prstGeom prst="roundRect">
            <a:avLst>
              <a:gd name="adj" fmla="val 16667"/>
            </a:avLst>
          </a:prstGeom>
          <a:solidFill>
            <a:srgbClr val="EEF2FA"/>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30" name="Shape 31"/>
          <p:cNvSpPr/>
          <p:nvPr/>
        </p:nvSpPr>
        <p:spPr>
          <a:xfrm>
            <a:off x="3017520" y="4306680"/>
            <a:ext cx="3931560" cy="438480"/>
          </a:xfrm>
          <a:prstGeom prst="roundRect">
            <a:avLst>
              <a:gd name="adj" fmla="val 16667"/>
            </a:avLst>
          </a:prstGeom>
          <a:solidFill>
            <a:srgbClr val="EAF7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31" name="Shape 32"/>
          <p:cNvSpPr/>
          <p:nvPr/>
        </p:nvSpPr>
        <p:spPr>
          <a:xfrm>
            <a:off x="7315200" y="4306680"/>
            <a:ext cx="3931560" cy="438480"/>
          </a:xfrm>
          <a:prstGeom prst="roundRect">
            <a:avLst>
              <a:gd name="adj" fmla="val 16667"/>
            </a:avLst>
          </a:prstGeom>
          <a:solidFill>
            <a:srgbClr val="FFF3E7"/>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32" name="Text 33"/>
          <p:cNvSpPr/>
          <p:nvPr/>
        </p:nvSpPr>
        <p:spPr>
          <a:xfrm>
            <a:off x="841320" y="4434840"/>
            <a:ext cx="16912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150" b="1" strike="noStrike" spc="-1">
                <a:solidFill>
                  <a:srgbClr val="1F497D"/>
                </a:solidFill>
                <a:latin typeface="Calibri"/>
                <a:ea typeface="Calibri"/>
              </a:rPr>
              <a:t>Best fit</a:t>
            </a:r>
            <a:endParaRPr lang="en-US" sz="1150" b="0" strike="noStrike" spc="-1">
              <a:solidFill>
                <a:srgbClr val="000000"/>
              </a:solidFill>
              <a:latin typeface="Arial"/>
            </a:endParaRPr>
          </a:p>
        </p:txBody>
      </p:sp>
      <p:sp>
        <p:nvSpPr>
          <p:cNvPr id="1233" name="Text 34"/>
          <p:cNvSpPr/>
          <p:nvPr/>
        </p:nvSpPr>
        <p:spPr>
          <a:xfrm>
            <a:off x="3154680" y="443484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public web services</a:t>
            </a:r>
            <a:endParaRPr lang="en-US" sz="1150" b="0" strike="noStrike" spc="-1">
              <a:solidFill>
                <a:srgbClr val="000000"/>
              </a:solidFill>
              <a:latin typeface="Arial"/>
            </a:endParaRPr>
          </a:p>
        </p:txBody>
      </p:sp>
      <p:sp>
        <p:nvSpPr>
          <p:cNvPr id="1234" name="Text 35"/>
          <p:cNvSpPr/>
          <p:nvPr/>
        </p:nvSpPr>
        <p:spPr>
          <a:xfrm>
            <a:off x="7452360" y="4434840"/>
            <a:ext cx="3657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algn="ctr" defTabSz="914400">
              <a:lnSpc>
                <a:spcPct val="100000"/>
              </a:lnSpc>
              <a:tabLst>
                <a:tab pos="0" algn="l"/>
              </a:tabLst>
            </a:pPr>
            <a:r>
              <a:rPr lang="en-US" sz="1150" b="0" strike="noStrike" spc="-1">
                <a:solidFill>
                  <a:srgbClr val="203040"/>
                </a:solidFill>
                <a:latin typeface="Calibri"/>
                <a:ea typeface="Calibri"/>
              </a:rPr>
              <a:t>internal services / mTLS</a:t>
            </a:r>
            <a:endParaRPr lang="en-US" sz="1150" b="0" strike="noStrike" spc="-1">
              <a:solidFill>
                <a:srgbClr val="000000"/>
              </a:solidFill>
              <a:latin typeface="Arial"/>
            </a:endParaRPr>
          </a:p>
        </p:txBody>
      </p:sp>
      <p:sp>
        <p:nvSpPr>
          <p:cNvPr id="1235" name="PlaceHolder 1"/>
          <p:cNvSpPr>
            <a:spLocks noGrp="1"/>
          </p:cNvSpPr>
          <p:nvPr>
            <p:ph type="sldNum" idx="50"/>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EE857BDC-443C-458D-AB67-80C33E41B374}" type="slidenum">
              <a:rPr lang="en-US" sz="800" b="0" strike="noStrike" spc="-1">
                <a:solidFill>
                  <a:srgbClr val="64748B"/>
                </a:solidFill>
                <a:latin typeface="Calibri"/>
                <a:ea typeface="Calibri"/>
              </a:rPr>
              <a:t>27</a:t>
            </a:fld>
            <a:endParaRPr lang="en-US" sz="800" b="0" strike="noStrike" spc="-1">
              <a:solidFill>
                <a:srgbClr val="000000"/>
              </a:solidFill>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 name="Rectangle 1266"/>
          <p:cNvSpPr/>
          <p:nvPr/>
        </p:nvSpPr>
        <p:spPr>
          <a:xfrm>
            <a:off x="0" y="0"/>
            <a:ext cx="12191760" cy="109800"/>
          </a:xfrm>
          <a:prstGeom prst="rect">
            <a:avLst/>
          </a:prstGeom>
          <a:solidFill>
            <a:srgbClr val="4BACC6"/>
          </a:solidFill>
          <a:ln w="0">
            <a:solidFill>
              <a:srgbClr val="4BACC6"/>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268" name="TextBox 1267"/>
          <p:cNvSpPr txBox="1"/>
          <p:nvPr/>
        </p:nvSpPr>
        <p:spPr>
          <a:xfrm>
            <a:off x="502920" y="320040"/>
            <a:ext cx="3657600" cy="201240"/>
          </a:xfrm>
          <a:prstGeom prst="rect">
            <a:avLst/>
          </a:prstGeom>
          <a:noFill/>
          <a:ln w="0">
            <a:noFill/>
          </a:ln>
        </p:spPr>
        <p:txBody>
          <a:bodyPr lIns="90000" tIns="45000" rIns="90000" bIns="45000" anchor="t">
            <a:noAutofit/>
          </a:bodyPr>
          <a:lstStyle/>
          <a:p>
            <a:r>
              <a:rPr lang="en-US" sz="1000" b="1" strike="noStrike" spc="-1">
                <a:solidFill>
                  <a:srgbClr val="4BACC6"/>
                </a:solidFill>
                <a:latin typeface="Calibri"/>
              </a:rPr>
              <a:t>TRUST STORES</a:t>
            </a:r>
          </a:p>
        </p:txBody>
      </p:sp>
      <p:sp>
        <p:nvSpPr>
          <p:cNvPr id="1269" name="TextBox 1268"/>
          <p:cNvSpPr txBox="1"/>
          <p:nvPr/>
        </p:nvSpPr>
        <p:spPr>
          <a:xfrm>
            <a:off x="502920" y="567000"/>
            <a:ext cx="10972800" cy="511920"/>
          </a:xfrm>
          <a:prstGeom prst="rect">
            <a:avLst/>
          </a:prstGeom>
          <a:noFill/>
          <a:ln w="0">
            <a:noFill/>
          </a:ln>
        </p:spPr>
        <p:txBody>
          <a:bodyPr lIns="90000" tIns="45000" rIns="90000" bIns="45000" anchor="t">
            <a:noAutofit/>
          </a:bodyPr>
          <a:lstStyle/>
          <a:p>
            <a:r>
              <a:rPr lang="en-US" sz="2700" b="1" strike="noStrike" spc="-1">
                <a:solidFill>
                  <a:srgbClr val="1F497D"/>
                </a:solidFill>
                <a:latin typeface="Calibri"/>
              </a:rPr>
              <a:t>How many default trusted CAs do browsers have?</a:t>
            </a:r>
          </a:p>
        </p:txBody>
      </p:sp>
      <p:sp>
        <p:nvSpPr>
          <p:cNvPr id="1270" name="TextBox 1269"/>
          <p:cNvSpPr txBox="1"/>
          <p:nvPr/>
        </p:nvSpPr>
        <p:spPr>
          <a:xfrm>
            <a:off x="530280" y="1115640"/>
            <a:ext cx="10698480" cy="311040"/>
          </a:xfrm>
          <a:prstGeom prst="rect">
            <a:avLst/>
          </a:prstGeom>
          <a:noFill/>
          <a:ln w="0">
            <a:noFill/>
          </a:ln>
        </p:spPr>
        <p:txBody>
          <a:bodyPr lIns="90000" tIns="45000" rIns="90000" bIns="45000" anchor="t">
            <a:noAutofit/>
          </a:bodyPr>
          <a:lstStyle/>
          <a:p>
            <a:r>
              <a:rPr lang="en-US" sz="1250" b="0" strike="noStrike" spc="-1">
                <a:solidFill>
                  <a:srgbClr val="64748B"/>
                </a:solidFill>
                <a:latin typeface="Calibri"/>
              </a:rPr>
              <a:t>There is no single universal number. The answer depends on browser, operating system, version, trust purpose, and local policy.</a:t>
            </a:r>
          </a:p>
        </p:txBody>
      </p:sp>
      <p:sp>
        <p:nvSpPr>
          <p:cNvPr id="1271" name="Rectangle: Rounded Corners 1270"/>
          <p:cNvSpPr/>
          <p:nvPr/>
        </p:nvSpPr>
        <p:spPr>
          <a:xfrm>
            <a:off x="713160" y="1783080"/>
            <a:ext cx="3429000" cy="2331720"/>
          </a:xfrm>
          <a:prstGeom prst="roundRect">
            <a:avLst/>
          </a:prstGeom>
          <a:solidFill>
            <a:srgbClr val="FFF3E7"/>
          </a:solidFill>
          <a:ln w="0">
            <a:solidFill>
              <a:srgbClr val="C0504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72" name="Rectangle: Rounded Corners 1271"/>
          <p:cNvSpPr/>
          <p:nvPr/>
        </p:nvSpPr>
        <p:spPr>
          <a:xfrm>
            <a:off x="713160" y="1783080"/>
            <a:ext cx="3429000" cy="292680"/>
          </a:xfrm>
          <a:prstGeom prst="roundRect">
            <a:avLst/>
          </a:prstGeom>
          <a:solidFill>
            <a:srgbClr val="C0504D"/>
          </a:solidFill>
          <a:ln w="0">
            <a:solidFill>
              <a:srgbClr val="C0504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273" name="TextBox 1272"/>
          <p:cNvSpPr txBox="1"/>
          <p:nvPr/>
        </p:nvSpPr>
        <p:spPr>
          <a:xfrm>
            <a:off x="786240" y="1837800"/>
            <a:ext cx="328284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Firefox / Mozilla</a:t>
            </a:r>
          </a:p>
        </p:txBody>
      </p:sp>
      <p:sp>
        <p:nvSpPr>
          <p:cNvPr id="1274" name="TextBox 1273"/>
          <p:cNvSpPr txBox="1"/>
          <p:nvPr/>
        </p:nvSpPr>
        <p:spPr>
          <a:xfrm>
            <a:off x="822960" y="2221920"/>
            <a:ext cx="3209400" cy="1801440"/>
          </a:xfrm>
          <a:prstGeom prst="rect">
            <a:avLst/>
          </a:prstGeom>
          <a:noFill/>
          <a:ln w="0">
            <a:noFill/>
          </a:ln>
        </p:spPr>
        <p:txBody>
          <a:bodyPr lIns="90000" tIns="45000" rIns="90000" bIns="45000" anchor="t">
            <a:noAutofit/>
          </a:bodyPr>
          <a:lstStyle/>
          <a:p>
            <a:pPr algn="ctr"/>
            <a:r>
              <a:rPr lang="en-US" sz="1300" b="0" strike="noStrike" spc="-1">
                <a:solidFill>
                  <a:srgbClr val="203040"/>
                </a:solidFill>
                <a:latin typeface="Calibri"/>
              </a:rPr>
              <a:t>172 records displayed in the Mozilla Included CA Certificate List as of September 29, 2026.</a:t>
            </a:r>
          </a:p>
          <a:p>
            <a:pPr algn="ctr"/>
            <a:endParaRPr lang="en-US" sz="1300" b="0" strike="noStrike" spc="-1">
              <a:solidFill>
                <a:srgbClr val="203040"/>
              </a:solidFill>
              <a:latin typeface="Calibri"/>
            </a:endParaRPr>
          </a:p>
          <a:p>
            <a:pPr algn="ctr"/>
            <a:r>
              <a:rPr lang="en-US" sz="1300" b="0" strike="noStrike" spc="-1">
                <a:solidFill>
                  <a:srgbClr val="203040"/>
                </a:solidFill>
                <a:latin typeface="Calibri"/>
              </a:rPr>
              <a:t>Count roots, not every intermediate certificate.</a:t>
            </a:r>
          </a:p>
        </p:txBody>
      </p:sp>
      <p:sp>
        <p:nvSpPr>
          <p:cNvPr id="1275" name="Rectangle: Rounded Corners 1274"/>
          <p:cNvSpPr/>
          <p:nvPr/>
        </p:nvSpPr>
        <p:spPr>
          <a:xfrm>
            <a:off x="4389120" y="1783080"/>
            <a:ext cx="3429000" cy="2331720"/>
          </a:xfrm>
          <a:prstGeom prst="roundRect">
            <a:avLst/>
          </a:prstGeom>
          <a:solidFill>
            <a:srgbClr val="EEF2FA"/>
          </a:solidFill>
          <a:ln w="0">
            <a:solidFill>
              <a:srgbClr val="4F81B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76" name="Rectangle: Rounded Corners 1275"/>
          <p:cNvSpPr/>
          <p:nvPr/>
        </p:nvSpPr>
        <p:spPr>
          <a:xfrm>
            <a:off x="4389120" y="1783080"/>
            <a:ext cx="3429000" cy="292680"/>
          </a:xfrm>
          <a:prstGeom prst="roundRect">
            <a:avLst/>
          </a:prstGeom>
          <a:solidFill>
            <a:srgbClr val="4F81BD"/>
          </a:solidFill>
          <a:ln w="0">
            <a:solidFill>
              <a:srgbClr val="4F81B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277" name="TextBox 1276"/>
          <p:cNvSpPr txBox="1"/>
          <p:nvPr/>
        </p:nvSpPr>
        <p:spPr>
          <a:xfrm>
            <a:off x="4462200" y="1837800"/>
            <a:ext cx="328284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Chrome</a:t>
            </a:r>
          </a:p>
        </p:txBody>
      </p:sp>
      <p:sp>
        <p:nvSpPr>
          <p:cNvPr id="1278" name="TextBox 1277"/>
          <p:cNvSpPr txBox="1"/>
          <p:nvPr/>
        </p:nvSpPr>
        <p:spPr>
          <a:xfrm>
            <a:off x="4498920" y="2221920"/>
            <a:ext cx="3209400" cy="1801440"/>
          </a:xfrm>
          <a:prstGeom prst="rect">
            <a:avLst/>
          </a:prstGeom>
          <a:noFill/>
          <a:ln w="0">
            <a:noFill/>
          </a:ln>
        </p:spPr>
        <p:txBody>
          <a:bodyPr lIns="90000" tIns="45000" rIns="90000" bIns="45000" anchor="t">
            <a:noAutofit/>
          </a:bodyPr>
          <a:lstStyle/>
          <a:p>
            <a:pPr algn="ctr"/>
            <a:r>
              <a:rPr lang="en-US" sz="1300" b="0" strike="noStrike" spc="-1">
                <a:solidFill>
                  <a:srgbClr val="203040"/>
                </a:solidFill>
                <a:latin typeface="Calibri"/>
              </a:rPr>
              <a:t>Uses the Chrome Root Store on supported platforms, with local enterprise certificates also considered.</a:t>
            </a:r>
          </a:p>
          <a:p>
            <a:pPr algn="ctr"/>
            <a:endParaRPr lang="en-US" sz="1300" b="0" strike="noStrike" spc="-1">
              <a:solidFill>
                <a:srgbClr val="203040"/>
              </a:solidFill>
              <a:latin typeface="Calibri"/>
            </a:endParaRPr>
          </a:p>
          <a:p>
            <a:pPr algn="ctr"/>
            <a:r>
              <a:rPr lang="en-US" sz="1300" b="0" strike="noStrike" spc="-1">
                <a:solidFill>
                  <a:srgbClr val="203040"/>
                </a:solidFill>
                <a:latin typeface="Calibri"/>
              </a:rPr>
              <a:t>The root store is curated and changes over time.</a:t>
            </a:r>
          </a:p>
        </p:txBody>
      </p:sp>
      <p:sp>
        <p:nvSpPr>
          <p:cNvPr id="1279" name="Rectangle: Rounded Corners 1278"/>
          <p:cNvSpPr/>
          <p:nvPr/>
        </p:nvSpPr>
        <p:spPr>
          <a:xfrm>
            <a:off x="8065080" y="1783080"/>
            <a:ext cx="3429000" cy="2331720"/>
          </a:xfrm>
          <a:prstGeom prst="roundRect">
            <a:avLst/>
          </a:prstGeom>
          <a:solidFill>
            <a:srgbClr val="EAF7F9"/>
          </a:solidFill>
          <a:ln w="0">
            <a:solidFill>
              <a:srgbClr val="4BACC6"/>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80" name="Rectangle: Rounded Corners 1279"/>
          <p:cNvSpPr/>
          <p:nvPr/>
        </p:nvSpPr>
        <p:spPr>
          <a:xfrm>
            <a:off x="8065080" y="1783080"/>
            <a:ext cx="3429000" cy="292680"/>
          </a:xfrm>
          <a:prstGeom prst="roundRect">
            <a:avLst/>
          </a:prstGeom>
          <a:solidFill>
            <a:srgbClr val="4BACC6"/>
          </a:solidFill>
          <a:ln w="0">
            <a:solidFill>
              <a:srgbClr val="4BACC6"/>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281" name="TextBox 1280"/>
          <p:cNvSpPr txBox="1"/>
          <p:nvPr/>
        </p:nvSpPr>
        <p:spPr>
          <a:xfrm>
            <a:off x="8138160" y="1837800"/>
            <a:ext cx="3282840" cy="164520"/>
          </a:xfrm>
          <a:prstGeom prst="rect">
            <a:avLst/>
          </a:prstGeom>
          <a:noFill/>
          <a:ln w="0">
            <a:noFill/>
          </a:ln>
        </p:spPr>
        <p:txBody>
          <a:bodyPr lIns="90000" tIns="45000" rIns="90000" bIns="45000" anchor="t">
            <a:noAutofit/>
          </a:bodyPr>
          <a:lstStyle/>
          <a:p>
            <a:pPr algn="ctr"/>
            <a:r>
              <a:rPr lang="en-US" sz="1100" b="1" strike="noStrike" spc="-1">
                <a:solidFill>
                  <a:srgbClr val="FFFFFF"/>
                </a:solidFill>
                <a:latin typeface="Calibri"/>
              </a:rPr>
              <a:t>Windows / Apple</a:t>
            </a:r>
          </a:p>
        </p:txBody>
      </p:sp>
      <p:sp>
        <p:nvSpPr>
          <p:cNvPr id="1282" name="TextBox 1281"/>
          <p:cNvSpPr txBox="1"/>
          <p:nvPr/>
        </p:nvSpPr>
        <p:spPr>
          <a:xfrm>
            <a:off x="8174880" y="2221920"/>
            <a:ext cx="3209400" cy="1801440"/>
          </a:xfrm>
          <a:prstGeom prst="rect">
            <a:avLst/>
          </a:prstGeom>
          <a:noFill/>
          <a:ln w="0">
            <a:noFill/>
          </a:ln>
        </p:spPr>
        <p:txBody>
          <a:bodyPr lIns="90000" tIns="45000" rIns="90000" bIns="45000" anchor="t">
            <a:noAutofit/>
          </a:bodyPr>
          <a:lstStyle/>
          <a:p>
            <a:pPr algn="ctr"/>
            <a:r>
              <a:rPr lang="en-US" sz="1300" b="0" strike="noStrike" spc="-1">
                <a:solidFill>
                  <a:srgbClr val="203040"/>
                </a:solidFill>
                <a:latin typeface="Calibri"/>
              </a:rPr>
              <a:t>Platform root programs maintain their own stores and policies.</a:t>
            </a:r>
          </a:p>
          <a:p>
            <a:pPr algn="ctr"/>
            <a:endParaRPr lang="en-US" sz="1300" b="0" strike="noStrike" spc="-1">
              <a:solidFill>
                <a:srgbClr val="203040"/>
              </a:solidFill>
              <a:latin typeface="Calibri"/>
            </a:endParaRPr>
          </a:p>
          <a:p>
            <a:pPr algn="ctr"/>
            <a:r>
              <a:rPr lang="en-US" sz="1300" b="0" strike="noStrike" spc="-1">
                <a:solidFill>
                  <a:srgbClr val="203040"/>
                </a:solidFill>
                <a:latin typeface="Calibri"/>
              </a:rPr>
              <a:t>Applications may use the platform store, a bundled store, or both.</a:t>
            </a:r>
          </a:p>
        </p:txBody>
      </p:sp>
      <p:sp>
        <p:nvSpPr>
          <p:cNvPr id="1283" name="Rectangle: Rounded Corners 1282"/>
          <p:cNvSpPr/>
          <p:nvPr/>
        </p:nvSpPr>
        <p:spPr>
          <a:xfrm>
            <a:off x="914400" y="4526280"/>
            <a:ext cx="10195560" cy="804600"/>
          </a:xfrm>
          <a:prstGeom prst="roundRect">
            <a:avLst/>
          </a:prstGeom>
          <a:solidFill>
            <a:srgbClr val="FFFFFF"/>
          </a:solidFill>
          <a:ln w="0">
            <a:solidFill>
              <a:srgbClr val="1F497D"/>
            </a:solid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84" name="Rectangle 1283"/>
          <p:cNvSpPr/>
          <p:nvPr/>
        </p:nvSpPr>
        <p:spPr>
          <a:xfrm>
            <a:off x="914400" y="4526280"/>
            <a:ext cx="91440" cy="804600"/>
          </a:xfrm>
          <a:prstGeom prst="rect">
            <a:avLst/>
          </a:prstGeom>
          <a:solidFill>
            <a:srgbClr val="1F497D"/>
          </a:solidFill>
          <a:ln w="0">
            <a:solidFill>
              <a:srgbClr val="1F497D"/>
            </a:solidFill>
          </a:ln>
        </p:spPr>
        <p:txBody>
          <a:bodyPr lIns="90000" tIns="45000" rIns="90000" bIns="45000" anchor="ctr" anchorCtr="1">
            <a:noAutofit/>
          </a:bodyPr>
          <a:lstStyle/>
          <a:p>
            <a:endParaRPr lang="en-US" sz="1800" b="0" strike="noStrike" spc="-1">
              <a:solidFill>
                <a:srgbClr val="FFFFFF"/>
              </a:solidFill>
              <a:latin typeface="Arial"/>
            </a:endParaRPr>
          </a:p>
        </p:txBody>
      </p:sp>
      <p:sp>
        <p:nvSpPr>
          <p:cNvPr id="1285" name="TextBox 1284"/>
          <p:cNvSpPr txBox="1"/>
          <p:nvPr/>
        </p:nvSpPr>
        <p:spPr>
          <a:xfrm>
            <a:off x="1134000" y="4636080"/>
            <a:ext cx="9875520" cy="201240"/>
          </a:xfrm>
          <a:prstGeom prst="rect">
            <a:avLst/>
          </a:prstGeom>
          <a:noFill/>
          <a:ln w="0">
            <a:noFill/>
          </a:ln>
        </p:spPr>
        <p:txBody>
          <a:bodyPr lIns="90000" tIns="45000" rIns="90000" bIns="45000" anchor="t">
            <a:noAutofit/>
          </a:bodyPr>
          <a:lstStyle/>
          <a:p>
            <a:r>
              <a:rPr lang="en-US" sz="1400" b="1" strike="noStrike" spc="-1">
                <a:solidFill>
                  <a:srgbClr val="1F497D"/>
                </a:solidFill>
                <a:latin typeface="Calibri"/>
              </a:rPr>
              <a:t>Teaching point</a:t>
            </a:r>
          </a:p>
        </p:txBody>
      </p:sp>
      <p:sp>
        <p:nvSpPr>
          <p:cNvPr id="1286" name="TextBox 1285"/>
          <p:cNvSpPr txBox="1"/>
          <p:nvPr/>
        </p:nvSpPr>
        <p:spPr>
          <a:xfrm>
            <a:off x="1134000" y="4873680"/>
            <a:ext cx="9875520" cy="402480"/>
          </a:xfrm>
          <a:prstGeom prst="rect">
            <a:avLst/>
          </a:prstGeom>
          <a:noFill/>
          <a:ln w="0">
            <a:noFill/>
          </a:ln>
        </p:spPr>
        <p:txBody>
          <a:bodyPr lIns="90000" tIns="45000" rIns="90000" bIns="45000" anchor="t">
            <a:noAutofit/>
          </a:bodyPr>
          <a:lstStyle/>
          <a:p>
            <a:r>
              <a:rPr lang="en-US" sz="1250" b="0" strike="noStrike" spc="-1">
                <a:solidFill>
                  <a:srgbClr val="203040"/>
                </a:solidFill>
                <a:latin typeface="Calibri"/>
              </a:rPr>
              <a:t>“The browser trusts hundreds of public roots” is not a reason to add your internal Root CA to the public ecosystem. Internal PKI belongs in a managed private trust store.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3"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LAB PART 9</a:t>
            </a:r>
            <a:endParaRPr lang="en-US" sz="1000" b="0" strike="noStrike" spc="-1">
              <a:solidFill>
                <a:srgbClr val="000000"/>
              </a:solidFill>
              <a:latin typeface="Arial"/>
            </a:endParaRPr>
          </a:p>
        </p:txBody>
      </p:sp>
      <p:sp>
        <p:nvSpPr>
          <p:cNvPr id="1314"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testssl.sh: turn configuration into evidence</a:t>
            </a:r>
            <a:endParaRPr lang="en-US" sz="2700" b="0" strike="noStrike" spc="-1">
              <a:solidFill>
                <a:srgbClr val="000000"/>
              </a:solidFill>
              <a:latin typeface="Arial"/>
            </a:endParaRPr>
          </a:p>
        </p:txBody>
      </p:sp>
      <p:sp>
        <p:nvSpPr>
          <p:cNvPr id="1315"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Run, read, fix, rerun.</a:t>
            </a:r>
            <a:endParaRPr lang="en-US" sz="1250" b="0" strike="noStrike" spc="-1">
              <a:solidFill>
                <a:srgbClr val="000000"/>
              </a:solidFill>
              <a:latin typeface="Arial"/>
            </a:endParaRPr>
          </a:p>
        </p:txBody>
      </p:sp>
      <p:sp>
        <p:nvSpPr>
          <p:cNvPr id="1317" name="Shape 6"/>
          <p:cNvSpPr/>
          <p:nvPr/>
        </p:nvSpPr>
        <p:spPr>
          <a:xfrm>
            <a:off x="777240" y="1828800"/>
            <a:ext cx="2880000" cy="3062880"/>
          </a:xfrm>
          <a:prstGeom prst="roundRect">
            <a:avLst>
              <a:gd name="adj" fmla="val 2540"/>
            </a:avLst>
          </a:prstGeom>
          <a:solidFill>
            <a:srgbClr val="16202C"/>
          </a:solidFill>
          <a:ln w="12700">
            <a:solidFill>
              <a:srgbClr val="16202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18" name="Text 7"/>
          <p:cNvSpPr/>
          <p:nvPr/>
        </p:nvSpPr>
        <p:spPr>
          <a:xfrm>
            <a:off x="1097280" y="2221920"/>
            <a:ext cx="22399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2200" b="1" strike="noStrike" spc="-1">
                <a:solidFill>
                  <a:srgbClr val="4BACC6"/>
                </a:solidFill>
                <a:latin typeface="Calibri"/>
                <a:ea typeface="Calibri"/>
              </a:rPr>
              <a:t>RUN</a:t>
            </a:r>
            <a:endParaRPr lang="en-US" sz="2200" b="0" strike="noStrike" spc="-1">
              <a:solidFill>
                <a:srgbClr val="000000"/>
              </a:solidFill>
              <a:latin typeface="Arial"/>
            </a:endParaRPr>
          </a:p>
        </p:txBody>
      </p:sp>
      <p:sp>
        <p:nvSpPr>
          <p:cNvPr id="1319" name="Text 8"/>
          <p:cNvSpPr/>
          <p:nvPr/>
        </p:nvSpPr>
        <p:spPr>
          <a:xfrm>
            <a:off x="1097280" y="2907720"/>
            <a:ext cx="2239920" cy="804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a:bodyPr>
          <a:lstStyle/>
          <a:p>
            <a:pPr algn="ctr" defTabSz="914400">
              <a:lnSpc>
                <a:spcPct val="100000"/>
              </a:lnSpc>
              <a:tabLst>
                <a:tab pos="0" algn="l"/>
              </a:tabLst>
            </a:pPr>
            <a:r>
              <a:rPr lang="en-US" sz="1800" b="0" strike="noStrike" spc="-1">
                <a:solidFill>
                  <a:srgbClr val="FFFFFF"/>
                </a:solidFill>
                <a:latin typeface="Courier New"/>
                <a:ea typeface="Courier New"/>
              </a:rPr>
              <a:t>testssl.sh</a:t>
            </a:r>
            <a:endParaRPr lang="en-US" sz="1800" b="0" strike="noStrike" spc="-1">
              <a:solidFill>
                <a:srgbClr val="000000"/>
              </a:solidFill>
              <a:latin typeface="Arial"/>
            </a:endParaRPr>
          </a:p>
          <a:p>
            <a:pPr algn="ctr" defTabSz="914400">
              <a:lnSpc>
                <a:spcPct val="100000"/>
              </a:lnSpc>
              <a:tabLst>
                <a:tab pos="0" algn="l"/>
              </a:tabLst>
            </a:pPr>
            <a:r>
              <a:rPr lang="en-US" sz="1800" b="0" strike="noStrike" spc="-1">
                <a:solidFill>
                  <a:srgbClr val="FFFFFF"/>
                </a:solidFill>
                <a:latin typeface="Courier New"/>
                <a:ea typeface="Courier New"/>
              </a:rPr>
              <a:t>--severity HIGH</a:t>
            </a:r>
            <a:endParaRPr lang="en-US" sz="1800" b="0" strike="noStrike" spc="-1">
              <a:solidFill>
                <a:srgbClr val="000000"/>
              </a:solidFill>
              <a:latin typeface="Arial"/>
            </a:endParaRPr>
          </a:p>
          <a:p>
            <a:pPr algn="ctr" defTabSz="914400">
              <a:lnSpc>
                <a:spcPct val="100000"/>
              </a:lnSpc>
              <a:tabLst>
                <a:tab pos="0" algn="l"/>
              </a:tabLst>
            </a:pPr>
            <a:r>
              <a:rPr lang="en-US" sz="1800" b="0" strike="noStrike" spc="-1">
                <a:solidFill>
                  <a:srgbClr val="FFFFFF"/>
                </a:solidFill>
                <a:latin typeface="Courier New"/>
                <a:ea typeface="Courier New"/>
              </a:rPr>
              <a:t>--html report.html</a:t>
            </a:r>
            <a:endParaRPr lang="en-US" sz="1800" b="0" strike="noStrike" spc="-1">
              <a:solidFill>
                <a:srgbClr val="000000"/>
              </a:solidFill>
              <a:latin typeface="Arial"/>
            </a:endParaRPr>
          </a:p>
        </p:txBody>
      </p:sp>
      <p:sp>
        <p:nvSpPr>
          <p:cNvPr id="1320" name="Shape 9"/>
          <p:cNvSpPr/>
          <p:nvPr/>
        </p:nvSpPr>
        <p:spPr>
          <a:xfrm>
            <a:off x="3822120" y="3154680"/>
            <a:ext cx="7498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321" name="Shape 10"/>
          <p:cNvSpPr/>
          <p:nvPr/>
        </p:nvSpPr>
        <p:spPr>
          <a:xfrm>
            <a:off x="4800600" y="1828800"/>
            <a:ext cx="2880000" cy="3062880"/>
          </a:xfrm>
          <a:prstGeom prst="roundRect">
            <a:avLst>
              <a:gd name="adj" fmla="val 2540"/>
            </a:avLst>
          </a:prstGeom>
          <a:solidFill>
            <a:srgbClr val="EEF2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22" name="Text 11"/>
          <p:cNvSpPr/>
          <p:nvPr/>
        </p:nvSpPr>
        <p:spPr>
          <a:xfrm>
            <a:off x="5120640" y="2221920"/>
            <a:ext cx="223992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2200" b="1" strike="noStrike" spc="-1">
                <a:solidFill>
                  <a:srgbClr val="4F81BD"/>
                </a:solidFill>
                <a:latin typeface="Calibri"/>
                <a:ea typeface="Calibri"/>
              </a:rPr>
              <a:t>READ</a:t>
            </a:r>
            <a:endParaRPr lang="en-US" sz="2200" b="0" strike="noStrike" spc="-1">
              <a:solidFill>
                <a:srgbClr val="000000"/>
              </a:solidFill>
              <a:latin typeface="Arial"/>
            </a:endParaRPr>
          </a:p>
        </p:txBody>
      </p:sp>
      <p:sp>
        <p:nvSpPr>
          <p:cNvPr id="1323" name="Text 12"/>
          <p:cNvSpPr/>
          <p:nvPr/>
        </p:nvSpPr>
        <p:spPr>
          <a:xfrm>
            <a:off x="5120640" y="2907720"/>
            <a:ext cx="2239920" cy="804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a:bodyPr>
          <a:lstStyle/>
          <a:p>
            <a:pPr algn="ctr" defTabSz="914400">
              <a:lnSpc>
                <a:spcPct val="100000"/>
              </a:lnSpc>
              <a:tabLst>
                <a:tab pos="0" algn="l"/>
              </a:tabLst>
            </a:pPr>
            <a:r>
              <a:rPr lang="en-US" sz="1800" b="0" strike="noStrike" spc="-1">
                <a:solidFill>
                  <a:srgbClr val="203040"/>
                </a:solidFill>
                <a:latin typeface="Calibri"/>
                <a:ea typeface="Calibri"/>
              </a:rPr>
              <a:t>HIGH / CRITICAL</a:t>
            </a:r>
            <a:endParaRPr lang="en-US" sz="1800" b="0" strike="noStrike" spc="-1">
              <a:solidFill>
                <a:srgbClr val="000000"/>
              </a:solidFill>
              <a:latin typeface="Arial"/>
            </a:endParaRPr>
          </a:p>
          <a:p>
            <a:pPr algn="ctr" defTabSz="914400">
              <a:lnSpc>
                <a:spcPct val="100000"/>
              </a:lnSpc>
              <a:tabLst>
                <a:tab pos="0" algn="l"/>
              </a:tabLst>
            </a:pPr>
            <a:r>
              <a:rPr lang="en-US" sz="1800" b="0" strike="noStrike" spc="-1">
                <a:solidFill>
                  <a:srgbClr val="203040"/>
                </a:solidFill>
                <a:latin typeface="Calibri"/>
                <a:ea typeface="Calibri"/>
              </a:rPr>
              <a:t>chain / protocols</a:t>
            </a:r>
            <a:endParaRPr lang="en-US" sz="1800" b="0" strike="noStrike" spc="-1">
              <a:solidFill>
                <a:srgbClr val="000000"/>
              </a:solidFill>
              <a:latin typeface="Arial"/>
            </a:endParaRPr>
          </a:p>
          <a:p>
            <a:pPr algn="ctr" defTabSz="914400">
              <a:lnSpc>
                <a:spcPct val="100000"/>
              </a:lnSpc>
              <a:tabLst>
                <a:tab pos="0" algn="l"/>
              </a:tabLst>
            </a:pPr>
            <a:r>
              <a:rPr lang="en-US" sz="1800" b="0" strike="noStrike" spc="-1">
                <a:solidFill>
                  <a:srgbClr val="203040"/>
                </a:solidFill>
                <a:latin typeface="Calibri"/>
                <a:ea typeface="Calibri"/>
              </a:rPr>
              <a:t>headers / ciphers</a:t>
            </a:r>
            <a:endParaRPr lang="en-US" sz="1800" b="0" strike="noStrike" spc="-1">
              <a:solidFill>
                <a:srgbClr val="000000"/>
              </a:solidFill>
              <a:latin typeface="Arial"/>
            </a:endParaRPr>
          </a:p>
        </p:txBody>
      </p:sp>
      <p:sp>
        <p:nvSpPr>
          <p:cNvPr id="1324" name="Shape 13"/>
          <p:cNvSpPr/>
          <p:nvPr/>
        </p:nvSpPr>
        <p:spPr>
          <a:xfrm>
            <a:off x="7845480" y="3154680"/>
            <a:ext cx="7498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325" name="Shape 14"/>
          <p:cNvSpPr/>
          <p:nvPr/>
        </p:nvSpPr>
        <p:spPr>
          <a:xfrm>
            <a:off x="8823960" y="1828800"/>
            <a:ext cx="2880000" cy="3062880"/>
          </a:xfrm>
          <a:prstGeom prst="roundRect">
            <a:avLst>
              <a:gd name="adj" fmla="val 2540"/>
            </a:avLst>
          </a:prstGeom>
          <a:solidFill>
            <a:srgbClr val="EAF7F9"/>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26" name="Text 15"/>
          <p:cNvSpPr/>
          <p:nvPr/>
        </p:nvSpPr>
        <p:spPr>
          <a:xfrm>
            <a:off x="9098280" y="2221920"/>
            <a:ext cx="2331360" cy="273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10000"/>
          </a:bodyPr>
          <a:lstStyle/>
          <a:p>
            <a:pPr algn="ctr" defTabSz="914400">
              <a:lnSpc>
                <a:spcPct val="100000"/>
              </a:lnSpc>
              <a:tabLst>
                <a:tab pos="0" algn="l"/>
              </a:tabLst>
            </a:pPr>
            <a:r>
              <a:rPr lang="en-US" sz="2200" b="1" strike="noStrike" spc="-1">
                <a:solidFill>
                  <a:srgbClr val="70AD47"/>
                </a:solidFill>
                <a:latin typeface="Calibri"/>
                <a:ea typeface="Calibri"/>
              </a:rPr>
              <a:t>FIX + REPEAT</a:t>
            </a:r>
            <a:endParaRPr lang="en-US" sz="2200" b="0" strike="noStrike" spc="-1">
              <a:solidFill>
                <a:srgbClr val="000000"/>
              </a:solidFill>
              <a:latin typeface="Arial"/>
            </a:endParaRPr>
          </a:p>
        </p:txBody>
      </p:sp>
      <p:sp>
        <p:nvSpPr>
          <p:cNvPr id="1327" name="Text 16"/>
          <p:cNvSpPr/>
          <p:nvPr/>
        </p:nvSpPr>
        <p:spPr>
          <a:xfrm>
            <a:off x="9098280" y="2907720"/>
            <a:ext cx="2331360" cy="804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333"/>
          </a:bodyPr>
          <a:lstStyle/>
          <a:p>
            <a:pPr algn="ctr" defTabSz="914400">
              <a:lnSpc>
                <a:spcPct val="100000"/>
              </a:lnSpc>
              <a:tabLst>
                <a:tab pos="0" algn="l"/>
              </a:tabLst>
            </a:pPr>
            <a:r>
              <a:rPr lang="en-US" sz="1800" b="0" strike="noStrike" spc="-1">
                <a:solidFill>
                  <a:srgbClr val="203040"/>
                </a:solidFill>
                <a:latin typeface="Calibri"/>
                <a:ea typeface="Calibri"/>
              </a:rPr>
              <a:t>change config</a:t>
            </a:r>
            <a:endParaRPr lang="en-US" sz="1800" b="0" strike="noStrike" spc="-1">
              <a:solidFill>
                <a:srgbClr val="000000"/>
              </a:solidFill>
              <a:latin typeface="Arial"/>
            </a:endParaRPr>
          </a:p>
          <a:p>
            <a:pPr algn="ctr" defTabSz="914400">
              <a:lnSpc>
                <a:spcPct val="100000"/>
              </a:lnSpc>
              <a:tabLst>
                <a:tab pos="0" algn="l"/>
              </a:tabLst>
            </a:pPr>
            <a:r>
              <a:rPr lang="en-US" sz="1800" b="0" strike="noStrike" spc="-1">
                <a:solidFill>
                  <a:srgbClr val="203040"/>
                </a:solidFill>
                <a:latin typeface="Calibri"/>
                <a:ea typeface="Calibri"/>
              </a:rPr>
              <a:t>nginx -t</a:t>
            </a:r>
            <a:endParaRPr lang="en-US" sz="1800" b="0" strike="noStrike" spc="-1">
              <a:solidFill>
                <a:srgbClr val="000000"/>
              </a:solidFill>
              <a:latin typeface="Arial"/>
            </a:endParaRPr>
          </a:p>
          <a:p>
            <a:pPr algn="ctr" defTabSz="914400">
              <a:lnSpc>
                <a:spcPct val="100000"/>
              </a:lnSpc>
              <a:tabLst>
                <a:tab pos="0" algn="l"/>
              </a:tabLst>
            </a:pPr>
            <a:r>
              <a:rPr lang="en-US" sz="1800" b="0" strike="noStrike" spc="-1">
                <a:solidFill>
                  <a:srgbClr val="203040"/>
                </a:solidFill>
                <a:latin typeface="Calibri"/>
                <a:ea typeface="Calibri"/>
              </a:rPr>
              <a:t>reload → rerun</a:t>
            </a:r>
            <a:endParaRPr lang="en-US" sz="1800" b="0" strike="noStrike" spc="-1">
              <a:solidFill>
                <a:srgbClr val="000000"/>
              </a:solidFill>
              <a:latin typeface="Arial"/>
            </a:endParaRPr>
          </a:p>
        </p:txBody>
      </p:sp>
      <p:sp>
        <p:nvSpPr>
          <p:cNvPr id="1328" name="PlaceHolder 1"/>
          <p:cNvSpPr>
            <a:spLocks noGrp="1"/>
          </p:cNvSpPr>
          <p:nvPr>
            <p:ph type="sldNum" idx="54"/>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D43D44B8-7221-4BBE-97D2-F3D5280D1963}" type="slidenum">
              <a:rPr lang="en-US" sz="800" b="0" strike="noStrike" spc="-1">
                <a:solidFill>
                  <a:srgbClr val="64748B"/>
                </a:solidFill>
                <a:latin typeface="Calibri"/>
                <a:ea typeface="Calibri"/>
              </a:rPr>
              <a:t>29</a:t>
            </a:fld>
            <a:endParaRPr lang="en-US" sz="800" b="0" strike="noStrike" spc="-1">
              <a:solidFill>
                <a:srgbClr val="000000"/>
              </a:solidFill>
              <a:latin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5" name="Text 0"/>
          <p:cNvSpPr/>
          <p:nvPr/>
        </p:nvSpPr>
        <p:spPr>
          <a:xfrm>
            <a:off x="502920" y="320040"/>
            <a:ext cx="3474360" cy="200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00" b="1" strike="noStrike" spc="117">
                <a:solidFill>
                  <a:srgbClr val="4BACC6"/>
                </a:solidFill>
                <a:latin typeface="Calibri"/>
                <a:ea typeface="Calibri"/>
              </a:rPr>
              <a:t>EXIT TICKET</a:t>
            </a:r>
            <a:endParaRPr lang="en-US" sz="1000" b="0" strike="noStrike" spc="-1">
              <a:solidFill>
                <a:srgbClr val="000000"/>
              </a:solidFill>
              <a:latin typeface="Arial"/>
            </a:endParaRPr>
          </a:p>
        </p:txBody>
      </p:sp>
      <p:sp>
        <p:nvSpPr>
          <p:cNvPr id="1426" name="Text 1"/>
          <p:cNvSpPr/>
          <p:nvPr/>
        </p:nvSpPr>
        <p:spPr>
          <a:xfrm>
            <a:off x="502920" y="567000"/>
            <a:ext cx="1097244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2700" b="1" strike="noStrike" spc="-1">
                <a:solidFill>
                  <a:srgbClr val="1F497D"/>
                </a:solidFill>
                <a:latin typeface="Calibri"/>
                <a:ea typeface="Calibri"/>
              </a:rPr>
              <a:t>Six questions to take to the lab</a:t>
            </a:r>
            <a:endParaRPr lang="en-US" sz="2700" b="0" strike="noStrike" spc="-1">
              <a:solidFill>
                <a:srgbClr val="000000"/>
              </a:solidFill>
              <a:latin typeface="Arial"/>
            </a:endParaRPr>
          </a:p>
        </p:txBody>
      </p:sp>
      <p:sp>
        <p:nvSpPr>
          <p:cNvPr id="1427" name="Text 2"/>
          <p:cNvSpPr/>
          <p:nvPr/>
        </p:nvSpPr>
        <p:spPr>
          <a:xfrm>
            <a:off x="530280" y="111564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strike="noStrike" spc="-1">
                <a:solidFill>
                  <a:srgbClr val="64748B"/>
                </a:solidFill>
                <a:latin typeface="Calibri"/>
                <a:ea typeface="Calibri"/>
              </a:rPr>
              <a:t>Answer in one sentence each.</a:t>
            </a:r>
            <a:endParaRPr lang="en-US" sz="1250" b="0" strike="noStrike" spc="-1">
              <a:solidFill>
                <a:srgbClr val="000000"/>
              </a:solidFill>
              <a:latin typeface="Arial"/>
            </a:endParaRPr>
          </a:p>
        </p:txBody>
      </p:sp>
      <p:sp>
        <p:nvSpPr>
          <p:cNvPr id="1429" name="Shape 5"/>
          <p:cNvSpPr/>
          <p:nvPr/>
        </p:nvSpPr>
        <p:spPr>
          <a:xfrm>
            <a:off x="731520" y="1847160"/>
            <a:ext cx="347040" cy="347040"/>
          </a:xfrm>
          <a:prstGeom prst="ellipse">
            <a:avLst/>
          </a:prstGeom>
          <a:solidFill>
            <a:srgbClr val="4BACC6"/>
          </a:solidFill>
          <a:ln w="12700">
            <a:solidFill>
              <a:srgbClr val="4BAC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30" name="Text 6"/>
          <p:cNvSpPr/>
          <p:nvPr/>
        </p:nvSpPr>
        <p:spPr>
          <a:xfrm>
            <a:off x="731520" y="1947600"/>
            <a:ext cx="347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1</a:t>
            </a:r>
            <a:endParaRPr lang="en-US" sz="1100" b="0" strike="noStrike" spc="-1">
              <a:solidFill>
                <a:srgbClr val="000000"/>
              </a:solidFill>
              <a:latin typeface="Arial"/>
            </a:endParaRPr>
          </a:p>
        </p:txBody>
      </p:sp>
      <p:sp>
        <p:nvSpPr>
          <p:cNvPr id="1431" name="Text 7"/>
          <p:cNvSpPr/>
          <p:nvPr/>
        </p:nvSpPr>
        <p:spPr>
          <a:xfrm>
            <a:off x="1261800" y="1783080"/>
            <a:ext cx="45716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700" b="1" strike="noStrike" spc="-1">
                <a:solidFill>
                  <a:srgbClr val="1F497D"/>
                </a:solidFill>
                <a:latin typeface="Calibri"/>
                <a:ea typeface="Calibri"/>
              </a:rPr>
              <a:t>What does a CA signature prove?</a:t>
            </a:r>
            <a:endParaRPr lang="en-US" sz="1700" b="0" strike="noStrike" spc="-1">
              <a:solidFill>
                <a:srgbClr val="000000"/>
              </a:solidFill>
              <a:latin typeface="Arial"/>
            </a:endParaRPr>
          </a:p>
        </p:txBody>
      </p:sp>
      <p:sp>
        <p:nvSpPr>
          <p:cNvPr id="1432" name="Shape 8"/>
          <p:cNvSpPr/>
          <p:nvPr/>
        </p:nvSpPr>
        <p:spPr>
          <a:xfrm>
            <a:off x="1261800" y="2313360"/>
            <a:ext cx="45446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33" name="Shape 9"/>
          <p:cNvSpPr/>
          <p:nvPr/>
        </p:nvSpPr>
        <p:spPr>
          <a:xfrm>
            <a:off x="6217920" y="1847160"/>
            <a:ext cx="347040" cy="3470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34" name="Text 10"/>
          <p:cNvSpPr/>
          <p:nvPr/>
        </p:nvSpPr>
        <p:spPr>
          <a:xfrm>
            <a:off x="6217920" y="1947600"/>
            <a:ext cx="347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2</a:t>
            </a:r>
            <a:endParaRPr lang="en-US" sz="1100" b="0" strike="noStrike" spc="-1">
              <a:solidFill>
                <a:srgbClr val="000000"/>
              </a:solidFill>
              <a:latin typeface="Arial"/>
            </a:endParaRPr>
          </a:p>
        </p:txBody>
      </p:sp>
      <p:sp>
        <p:nvSpPr>
          <p:cNvPr id="1435" name="Text 11"/>
          <p:cNvSpPr/>
          <p:nvPr/>
        </p:nvSpPr>
        <p:spPr>
          <a:xfrm>
            <a:off x="6748200" y="1783080"/>
            <a:ext cx="45716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700" b="1" strike="noStrike" spc="-1">
                <a:solidFill>
                  <a:srgbClr val="1F497D"/>
                </a:solidFill>
                <a:latin typeface="Calibri"/>
                <a:ea typeface="Calibri"/>
              </a:rPr>
              <a:t>Where should a hostname appear?</a:t>
            </a:r>
            <a:endParaRPr lang="en-US" sz="1700" b="0" strike="noStrike" spc="-1">
              <a:solidFill>
                <a:srgbClr val="000000"/>
              </a:solidFill>
              <a:latin typeface="Arial"/>
            </a:endParaRPr>
          </a:p>
        </p:txBody>
      </p:sp>
      <p:sp>
        <p:nvSpPr>
          <p:cNvPr id="1436" name="Shape 12"/>
          <p:cNvSpPr/>
          <p:nvPr/>
        </p:nvSpPr>
        <p:spPr>
          <a:xfrm>
            <a:off x="6748200" y="2313360"/>
            <a:ext cx="45446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37" name="Shape 13"/>
          <p:cNvSpPr/>
          <p:nvPr/>
        </p:nvSpPr>
        <p:spPr>
          <a:xfrm>
            <a:off x="731520" y="2944440"/>
            <a:ext cx="347040" cy="347040"/>
          </a:xfrm>
          <a:prstGeom prst="ellipse">
            <a:avLst/>
          </a:prstGeom>
          <a:solidFill>
            <a:srgbClr val="C0504D"/>
          </a:solidFill>
          <a:ln w="12700">
            <a:solidFill>
              <a:srgbClr val="C0504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38" name="Text 14"/>
          <p:cNvSpPr/>
          <p:nvPr/>
        </p:nvSpPr>
        <p:spPr>
          <a:xfrm>
            <a:off x="731520" y="3044880"/>
            <a:ext cx="347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3</a:t>
            </a:r>
            <a:endParaRPr lang="en-US" sz="1100" b="0" strike="noStrike" spc="-1">
              <a:solidFill>
                <a:srgbClr val="000000"/>
              </a:solidFill>
              <a:latin typeface="Arial"/>
            </a:endParaRPr>
          </a:p>
        </p:txBody>
      </p:sp>
      <p:sp>
        <p:nvSpPr>
          <p:cNvPr id="1439" name="Text 15"/>
          <p:cNvSpPr/>
          <p:nvPr/>
        </p:nvSpPr>
        <p:spPr>
          <a:xfrm>
            <a:off x="1261800" y="2880360"/>
            <a:ext cx="45716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700" b="1" strike="noStrike" spc="-1">
                <a:solidFill>
                  <a:srgbClr val="1F497D"/>
                </a:solidFill>
                <a:latin typeface="Calibri"/>
                <a:ea typeface="Calibri"/>
              </a:rPr>
              <a:t>Why is the Root offline?</a:t>
            </a:r>
            <a:endParaRPr lang="en-US" sz="1700" b="0" strike="noStrike" spc="-1">
              <a:solidFill>
                <a:srgbClr val="000000"/>
              </a:solidFill>
              <a:latin typeface="Arial"/>
            </a:endParaRPr>
          </a:p>
        </p:txBody>
      </p:sp>
      <p:sp>
        <p:nvSpPr>
          <p:cNvPr id="1440" name="Shape 16"/>
          <p:cNvSpPr/>
          <p:nvPr/>
        </p:nvSpPr>
        <p:spPr>
          <a:xfrm>
            <a:off x="1261800" y="3410640"/>
            <a:ext cx="45446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41" name="Shape 17"/>
          <p:cNvSpPr/>
          <p:nvPr/>
        </p:nvSpPr>
        <p:spPr>
          <a:xfrm>
            <a:off x="6217920" y="2944440"/>
            <a:ext cx="347040" cy="347040"/>
          </a:xfrm>
          <a:prstGeom prst="ellipse">
            <a:avLst/>
          </a:prstGeom>
          <a:solidFill>
            <a:srgbClr val="F79646"/>
          </a:solidFill>
          <a:ln w="12700">
            <a:solidFill>
              <a:srgbClr val="F796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42" name="Text 18"/>
          <p:cNvSpPr/>
          <p:nvPr/>
        </p:nvSpPr>
        <p:spPr>
          <a:xfrm>
            <a:off x="6217920" y="3044880"/>
            <a:ext cx="347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4</a:t>
            </a:r>
            <a:endParaRPr lang="en-US" sz="1100" b="0" strike="noStrike" spc="-1">
              <a:solidFill>
                <a:srgbClr val="000000"/>
              </a:solidFill>
              <a:latin typeface="Arial"/>
            </a:endParaRPr>
          </a:p>
        </p:txBody>
      </p:sp>
      <p:sp>
        <p:nvSpPr>
          <p:cNvPr id="1443" name="Text 19"/>
          <p:cNvSpPr/>
          <p:nvPr/>
        </p:nvSpPr>
        <p:spPr>
          <a:xfrm>
            <a:off x="6748200" y="2880360"/>
            <a:ext cx="45716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700" b="1" strike="noStrike" spc="-1">
                <a:solidFill>
                  <a:srgbClr val="1F497D"/>
                </a:solidFill>
                <a:latin typeface="Calibri"/>
                <a:ea typeface="Calibri"/>
              </a:rPr>
              <a:t>What does the Intermediate do?</a:t>
            </a:r>
            <a:endParaRPr lang="en-US" sz="1700" b="0" strike="noStrike" spc="-1">
              <a:solidFill>
                <a:srgbClr val="000000"/>
              </a:solidFill>
              <a:latin typeface="Arial"/>
            </a:endParaRPr>
          </a:p>
        </p:txBody>
      </p:sp>
      <p:sp>
        <p:nvSpPr>
          <p:cNvPr id="1444" name="Shape 20"/>
          <p:cNvSpPr/>
          <p:nvPr/>
        </p:nvSpPr>
        <p:spPr>
          <a:xfrm>
            <a:off x="6748200" y="3410640"/>
            <a:ext cx="45446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45" name="Shape 21"/>
          <p:cNvSpPr/>
          <p:nvPr/>
        </p:nvSpPr>
        <p:spPr>
          <a:xfrm>
            <a:off x="731520" y="4041720"/>
            <a:ext cx="347040" cy="347040"/>
          </a:xfrm>
          <a:prstGeom prst="ellipse">
            <a:avLst/>
          </a:prstGeom>
          <a:solidFill>
            <a:srgbClr val="70AD47"/>
          </a:solidFill>
          <a:ln w="12700">
            <a:solidFill>
              <a:srgbClr val="70AD4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46" name="Text 22"/>
          <p:cNvSpPr/>
          <p:nvPr/>
        </p:nvSpPr>
        <p:spPr>
          <a:xfrm>
            <a:off x="731520" y="4142160"/>
            <a:ext cx="347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5</a:t>
            </a:r>
            <a:endParaRPr lang="en-US" sz="1100" b="0" strike="noStrike" spc="-1">
              <a:solidFill>
                <a:srgbClr val="000000"/>
              </a:solidFill>
              <a:latin typeface="Arial"/>
            </a:endParaRPr>
          </a:p>
        </p:txBody>
      </p:sp>
      <p:sp>
        <p:nvSpPr>
          <p:cNvPr id="1447" name="Text 23"/>
          <p:cNvSpPr/>
          <p:nvPr/>
        </p:nvSpPr>
        <p:spPr>
          <a:xfrm>
            <a:off x="1261800" y="3977640"/>
            <a:ext cx="45716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700" b="1" strike="noStrike" spc="-1">
                <a:solidFill>
                  <a:srgbClr val="1F497D"/>
                </a:solidFill>
                <a:latin typeface="Calibri"/>
                <a:ea typeface="Calibri"/>
              </a:rPr>
              <a:t>What gives TLS forward secrecy?</a:t>
            </a:r>
            <a:endParaRPr lang="en-US" sz="1700" b="0" strike="noStrike" spc="-1">
              <a:solidFill>
                <a:srgbClr val="000000"/>
              </a:solidFill>
              <a:latin typeface="Arial"/>
            </a:endParaRPr>
          </a:p>
        </p:txBody>
      </p:sp>
      <p:sp>
        <p:nvSpPr>
          <p:cNvPr id="1448" name="Shape 24"/>
          <p:cNvSpPr/>
          <p:nvPr/>
        </p:nvSpPr>
        <p:spPr>
          <a:xfrm>
            <a:off x="1261800" y="4507920"/>
            <a:ext cx="45446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49" name="Shape 25"/>
          <p:cNvSpPr/>
          <p:nvPr/>
        </p:nvSpPr>
        <p:spPr>
          <a:xfrm>
            <a:off x="6217920" y="4041720"/>
            <a:ext cx="347040" cy="347040"/>
          </a:xfrm>
          <a:prstGeom prst="ellipse">
            <a:avLst/>
          </a:prstGeom>
          <a:solidFill>
            <a:srgbClr val="8064A2"/>
          </a:solidFill>
          <a:ln w="12700">
            <a:solidFill>
              <a:srgbClr val="8064A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50" name="Text 26"/>
          <p:cNvSpPr/>
          <p:nvPr/>
        </p:nvSpPr>
        <p:spPr>
          <a:xfrm>
            <a:off x="6217920" y="4142160"/>
            <a:ext cx="34704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7222" lnSpcReduction="20000"/>
          </a:bodyPr>
          <a:lstStyle/>
          <a:p>
            <a:pPr algn="ctr" defTabSz="914400">
              <a:lnSpc>
                <a:spcPct val="100000"/>
              </a:lnSpc>
              <a:tabLst>
                <a:tab pos="0" algn="l"/>
              </a:tabLst>
            </a:pPr>
            <a:r>
              <a:rPr lang="en-US" sz="1100" b="1" strike="noStrike" spc="-1">
                <a:solidFill>
                  <a:srgbClr val="FFFFFF"/>
                </a:solidFill>
                <a:latin typeface="Calibri"/>
                <a:ea typeface="Calibri"/>
              </a:rPr>
              <a:t>6</a:t>
            </a:r>
            <a:endParaRPr lang="en-US" sz="1100" b="0" strike="noStrike" spc="-1">
              <a:solidFill>
                <a:srgbClr val="000000"/>
              </a:solidFill>
              <a:latin typeface="Arial"/>
            </a:endParaRPr>
          </a:p>
        </p:txBody>
      </p:sp>
      <p:sp>
        <p:nvSpPr>
          <p:cNvPr id="1451" name="Text 27"/>
          <p:cNvSpPr/>
          <p:nvPr/>
        </p:nvSpPr>
        <p:spPr>
          <a:xfrm>
            <a:off x="6748200" y="3977640"/>
            <a:ext cx="457164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700" b="1" strike="noStrike" spc="-1">
                <a:solidFill>
                  <a:srgbClr val="1F497D"/>
                </a:solidFill>
                <a:latin typeface="Calibri"/>
                <a:ea typeface="Calibri"/>
              </a:rPr>
              <a:t>Why automate renewal?</a:t>
            </a:r>
            <a:endParaRPr lang="en-US" sz="1700" b="0" strike="noStrike" spc="-1">
              <a:solidFill>
                <a:srgbClr val="000000"/>
              </a:solidFill>
              <a:latin typeface="Arial"/>
            </a:endParaRPr>
          </a:p>
        </p:txBody>
      </p:sp>
      <p:sp>
        <p:nvSpPr>
          <p:cNvPr id="1452" name="Shape 28"/>
          <p:cNvSpPr/>
          <p:nvPr/>
        </p:nvSpPr>
        <p:spPr>
          <a:xfrm>
            <a:off x="6748200" y="4507920"/>
            <a:ext cx="45446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453" name="PlaceHolder 1"/>
          <p:cNvSpPr>
            <a:spLocks noGrp="1"/>
          </p:cNvSpPr>
          <p:nvPr>
            <p:ph type="sldNum" idx="59"/>
          </p:nvPr>
        </p:nvSpPr>
        <p:spPr>
          <a:xfrm>
            <a:off x="11750040" y="6565320"/>
            <a:ext cx="799560" cy="299520"/>
          </a:xfrm>
          <a:prstGeom prst="rect">
            <a:avLst/>
          </a:prstGeom>
          <a:noFill/>
          <a:ln w="0">
            <a:noFill/>
          </a:ln>
        </p:spPr>
        <p:txBody>
          <a:bodyPr lIns="90000" tIns="45000" rIns="90000" bIns="45000" anchor="t">
            <a:noAutofit/>
          </a:bodyPr>
          <a:lstStyle>
            <a:lvl1pPr indent="0" defTabSz="914400">
              <a:lnSpc>
                <a:spcPct val="100000"/>
              </a:lnSpc>
              <a:buNone/>
              <a:defRPr lang="en-US" sz="800" b="0" strike="noStrike" spc="-1">
                <a:solidFill>
                  <a:srgbClr val="64748B"/>
                </a:solidFill>
                <a:latin typeface="Calibri"/>
                <a:ea typeface="Calibri"/>
              </a:defRPr>
            </a:lvl1pPr>
          </a:lstStyle>
          <a:p>
            <a:pPr indent="0" defTabSz="914400">
              <a:lnSpc>
                <a:spcPct val="100000"/>
              </a:lnSpc>
              <a:buNone/>
            </a:pPr>
            <a:fld id="{A5C923D2-77D0-4284-8276-37AFADF34925}" type="slidenum">
              <a:rPr lang="en-US" sz="800" b="0" strike="noStrike" spc="-1">
                <a:solidFill>
                  <a:srgbClr val="64748B"/>
                </a:solidFill>
                <a:latin typeface="Calibri"/>
                <a:ea typeface="Calibri"/>
              </a:rPr>
              <a:t>30</a:t>
            </a:fld>
            <a:endParaRPr lang="en-US" sz="800" b="0" strike="noStrike" spc="-1">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TotalTime>
  <Words>4411</Words>
  <Application>Microsoft Office PowerPoint</Application>
  <PresentationFormat>Widescreen</PresentationFormat>
  <Paragraphs>681</Paragraphs>
  <Slides>30</Slides>
  <Notes>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Arial</vt:lpstr>
      <vt:lpstr>Calibri</vt:lpstr>
      <vt:lpstr>Courier New</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PKI, X.509, and TLS</dc:title>
  <dc:subject>PKI, X.509, TLS, and Certificate Management</dc:subject>
  <dc:creator>CYBER 444</dc:creator>
  <dc:description/>
  <cp:lastModifiedBy>Sebastian Hayes</cp:lastModifiedBy>
  <cp:revision>7</cp:revision>
  <dcterms:created xsi:type="dcterms:W3CDTF">2026-09-27T01:38:13Z</dcterms:created>
  <dcterms:modified xsi:type="dcterms:W3CDTF">2026-09-30T21:48:14Z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58</vt:i4>
  </property>
  <property fmtid="{D5CDD505-2E9C-101B-9397-08002B2CF9AE}" pid="3" name="PresentationFormat">
    <vt:lpwstr>On-screen Show (16:9)</vt:lpwstr>
  </property>
  <property fmtid="{D5CDD505-2E9C-101B-9397-08002B2CF9AE}" pid="4" name="Slides">
    <vt:i4>58</vt:i4>
  </property>
</Properties>
</file>